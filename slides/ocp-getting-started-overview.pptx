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 field overview for the OpenShift Application Platform: Getting Started workshop. 26 modules, Parasol Insurance narrative, three renderings from one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learner goes from 'I have credentials to a cluster' to develop / deliver / operate — and understands why the platform works the way it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Narrative spine keeps 26 independent modules coherent: Parasol's claims platform is the running example across every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blocks, ascending. The catalog is elastic — modules split/combine when it serves attendees. Any module can be someone's first; entry states materialize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AsciiDoc source, three site configs. Attendee, presenter, and instructor never drift because they are the same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Showroom cockpit: instructions plus an embedded terminal and tool tabs. The SA-Demos cockpit is the presenter twin, without a per-user terminal.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platform-portfolio is a standalone, reusable GitOps installer. Stacks toggle per delivery; the workshop layer sits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Sessions are composed at delivery time. Roughly four hands-on modules make a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enforced, not aspirational: CI runs eight lint checks, and a false verify destroys attendee trust in every real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Designed to run on a customer's existing cluster and leave no trace. ogsr-uninstall.sh --dry-run prints the WIPE / PRESERVE plan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installer, no flags — all inputs live in the gitignored vars.yaml. Attendee links and the shared password come from provisioning, not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the workshop is deliverable end-to-end today; the platform portfolio is reusable beyond the workshop for SA PoC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4.png"/><Relationship Id="rId9" Type="http://schemas.openxmlformats.org/officeDocument/2006/relationships/image" Target="../media/image19.png"/><Relationship Id="rId10" Type="http://schemas.openxmlformats.org/officeDocument/2006/relationships/image" Target="../media/image8.png"/><Relationship Id="rId1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22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58368"/>
            <a:ext cx="1645920" cy="3893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237744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200">
                <a:solidFill>
                  <a:srgbClr val="EE0000"/>
                </a:solidFill>
                <a:latin typeface="Red Hat Display"/>
              </a:rPr>
              <a:t>SOLUTION ARCHITECT · FIELD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743200"/>
            <a:ext cx="10515600" cy="13716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1A1A1A"/>
                </a:solidFill>
                <a:latin typeface="Red Hat Display"/>
              </a:rPr>
              <a:t>OpenShift Application Platform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1A1A1A"/>
                </a:solidFill>
                <a:latin typeface="Red Hat Display"/>
              </a:rPr>
              <a:t>Getting Started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4261104"/>
            <a:ext cx="1463040" cy="0"/>
          </a:xfrm>
          <a:prstGeom prst="bentConnector3">
            <a:avLst/>
          </a:prstGeom>
          <a:ln w="3810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4443984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55960"/>
                </a:solidFill>
                <a:latin typeface="Red Hat Text"/>
              </a:rPr>
              <a:t>Built on </a:t>
            </a:r>
            <a:r>
              <a:rPr sz="1900" b="1">
                <a:solidFill>
                  <a:srgbClr val="EE0000"/>
                </a:solidFill>
                <a:latin typeface="Red Hat Display"/>
              </a:rPr>
              <a:t>Red Hat OpenShift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074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960"/>
                </a:solidFill>
                <a:latin typeface="Red Hat Text"/>
              </a:rPr>
              <a:t>26 self-contained modules · Parasol Insurance story · one source, three renderings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50047" y="5870448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0047" y="5870448"/>
            <a:ext cx="320040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● </a:t>
            </a:r>
            <a:r>
              <a:rPr sz="1150" b="1">
                <a:solidFill>
                  <a:srgbClr val="FFFFFF"/>
                </a:solidFill>
                <a:latin typeface="Red Hat Display"/>
              </a:rPr>
              <a:t>CONTENT-COMPLETE · 26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01 · WHAT THIS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From credentials to platform fluency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212848"/>
            <a:ext cx="3310128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212848"/>
            <a:ext cx="3310128" cy="7772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523744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u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953" y="2655417"/>
            <a:ext cx="285292" cy="2852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2487168"/>
            <a:ext cx="2212848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1A1A"/>
                </a:solidFill>
                <a:latin typeface="Red Hat Display"/>
              </a:rPr>
              <a:t>Develop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55960"/>
                </a:solidFill>
                <a:latin typeface="Red Hat Text"/>
              </a:rPr>
              <a:t>Inner loop, Dev Spaces, config, storage, batch.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2212848"/>
            <a:ext cx="3310128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5696" y="2212848"/>
            <a:ext cx="3310128" cy="7772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1728" y="2523744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ran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401" y="2655417"/>
            <a:ext cx="285292" cy="2852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40096" y="2487168"/>
            <a:ext cx="2212848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1A1A"/>
                </a:solidFill>
                <a:latin typeface="Red Hat Display"/>
              </a:rPr>
              <a:t>Deliver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55960"/>
                </a:solidFill>
                <a:latin typeface="Red Hat Text"/>
              </a:rPr>
              <a:t>Pipelines, supply-chain trust, GitOps at scale.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306824"/>
            <a:ext cx="3310128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4306824"/>
            <a:ext cx="3310128" cy="7772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461772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953" y="4749393"/>
            <a:ext cx="285292" cy="2852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55648" y="4581144"/>
            <a:ext cx="2212848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1A1A"/>
                </a:solidFill>
                <a:latin typeface="Red Hat Display"/>
              </a:rPr>
              <a:t>Operate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55960"/>
                </a:solidFill>
                <a:latin typeface="Red Hat Text"/>
              </a:rPr>
              <a:t>Observability, tenancy, networking, scheduling.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4306824"/>
            <a:ext cx="3310128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25696" y="4306824"/>
            <a:ext cx="3310128" cy="7772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81728" y="461772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targ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3401" y="4749393"/>
            <a:ext cx="285292" cy="2852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40096" y="4581144"/>
            <a:ext cx="2212848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1A1A"/>
                </a:solidFill>
                <a:latin typeface="Red Hat Display"/>
              </a:rPr>
              <a:t>Know why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55960"/>
                </a:solidFill>
                <a:latin typeface="Red Hat Text"/>
              </a:rPr>
              <a:t>Each module explains the platform, not just the clicks.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18704" y="2249424"/>
            <a:ext cx="0" cy="3913632"/>
          </a:xfrm>
          <a:prstGeom prst="bentConnector3">
            <a:avLst/>
          </a:prstGeom>
          <a:ln w="1524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38744" y="221284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00">
                <a:solidFill>
                  <a:srgbClr val="EE0000"/>
                </a:solidFill>
                <a:latin typeface="Red Hat Display"/>
              </a:rPr>
              <a:t>AT A GLANCE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2615184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B80000"/>
                </a:solidFill>
                <a:latin typeface="Red Hat Display"/>
              </a:rPr>
              <a:t>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744" y="31638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960"/>
                </a:solidFill>
                <a:latin typeface="Red Hat Text"/>
              </a:rPr>
              <a:t>modules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8744" y="3511296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B80000"/>
                </a:solidFill>
                <a:latin typeface="Red Hat Display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4059935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960"/>
                </a:solidFill>
                <a:latin typeface="Red Hat Text"/>
              </a:rPr>
              <a:t>teaching blocks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8744" y="4407408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B80000"/>
                </a:solidFill>
                <a:latin typeface="Red Hat Display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495604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960"/>
                </a:solidFill>
                <a:latin typeface="Red Hat Text"/>
              </a:rPr>
              <a:t>renderings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02 · 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Attendees join Parasol Insurance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2103120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55960"/>
                </a:solidFill>
                <a:latin typeface="Red Hat Text"/>
              </a:rPr>
              <a:t>Every module is set inside Parasol Insurance's engineering org. Attendees take its claims platform from a first deployment all the way to a governed, observable, AI-assisted application platform — the same arc a real team walks.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977639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0704" y="4215383"/>
            <a:ext cx="658368" cy="658368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ran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712" y="4373392"/>
            <a:ext cx="342351" cy="3423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0704" y="4946904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Red Hat Display"/>
              </a:rPr>
              <a:t>Deploy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45536" y="4663440"/>
            <a:ext cx="347472" cy="0"/>
          </a:xfrm>
          <a:prstGeom prst="bentConnector3">
            <a:avLst/>
          </a:prstGeom>
          <a:ln w="27940">
            <a:solidFill>
              <a:srgbClr val="EE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11296" y="3977639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30752" y="4215383"/>
            <a:ext cx="658368" cy="658368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8760" y="4373392"/>
            <a:ext cx="342351" cy="34235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730752" y="4946904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Red Hat Display"/>
              </a:rPr>
              <a:t>Deliver &amp; trust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15583" y="4663440"/>
            <a:ext cx="347473" cy="0"/>
          </a:xfrm>
          <a:prstGeom prst="bentConnector3">
            <a:avLst/>
          </a:prstGeom>
          <a:ln w="27940">
            <a:solidFill>
              <a:srgbClr val="EE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81344" y="3977639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4215383"/>
            <a:ext cx="658368" cy="658368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gri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808" y="4373392"/>
            <a:ext cx="342351" cy="34235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4946904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Red Hat Display"/>
              </a:rPr>
              <a:t>Govern &amp; scale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85632" y="4663440"/>
            <a:ext cx="347472" cy="0"/>
          </a:xfrm>
          <a:prstGeom prst="bentConnector3">
            <a:avLst/>
          </a:prstGeom>
          <a:ln w="27940">
            <a:solidFill>
              <a:srgbClr val="EE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851392" y="3977639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70848" y="4215383"/>
            <a:ext cx="658368" cy="658368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i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8856" y="4373392"/>
            <a:ext cx="342351" cy="34235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70848" y="4946904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Red Hat Display"/>
              </a:rPr>
              <a:t>AI-assist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03 · THE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26 modules in four blocks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157984"/>
            <a:ext cx="5138928" cy="1810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157984"/>
            <a:ext cx="5138928" cy="438912"/>
          </a:xfrm>
          <a:prstGeom prst="roundRect">
            <a:avLst>
              <a:gd name="adj" fmla="val 4000"/>
            </a:avLst>
          </a:prstGeom>
          <a:solidFill>
            <a:srgbClr val="2E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157984"/>
            <a:ext cx="404164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Red Hat Display"/>
              </a:rPr>
              <a:t>A ·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5736" y="2157984"/>
            <a:ext cx="1051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Red Hat Display"/>
              </a:rPr>
              <a:t>M01–M06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706624"/>
            <a:ext cx="473659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960"/>
                </a:solidFill>
                <a:latin typeface="Red Hat Text"/>
              </a:rPr>
              <a:t>Orientation · Build &amp; deliver · Dev Spaces · Config &amp; multi-env · Storage · Batch &amp; Kueue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157984"/>
            <a:ext cx="5138928" cy="1810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54496" y="2157984"/>
            <a:ext cx="5138928" cy="438912"/>
          </a:xfrm>
          <a:prstGeom prst="roundRect">
            <a:avLst>
              <a:gd name="adj" fmla="val 4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157984"/>
            <a:ext cx="404164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Red Hat Display"/>
              </a:rPr>
              <a:t>B · Delivery &amp;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58984" y="2157984"/>
            <a:ext cx="1051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Red Hat Display"/>
              </a:rPr>
              <a:t>M07–M13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706624"/>
            <a:ext cx="473659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960"/>
                </a:solidFill>
                <a:latin typeface="Red Hat Text"/>
              </a:rPr>
              <a:t>Pipelines · App security · Supply-chain trust · GitOps · GitOps at scale · Developer Hub · Observability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206240"/>
            <a:ext cx="5138928" cy="1810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206240"/>
            <a:ext cx="5138928" cy="438912"/>
          </a:xfrm>
          <a:prstGeom prst="roundRect">
            <a:avLst>
              <a:gd name="adj" fmla="val 4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206240"/>
            <a:ext cx="404164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Red Hat Display"/>
              </a:rPr>
              <a:t>C · Platform &amp; Tenancy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4206240"/>
            <a:ext cx="1051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Red Hat Display"/>
              </a:rPr>
              <a:t>M14–M17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" y="4754879"/>
            <a:ext cx="473659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960"/>
                </a:solidFill>
                <a:latin typeface="Red Hat Text"/>
              </a:rPr>
              <a:t>Keycloak SSO · Multi-tenancy · Networking · Deployment &amp; scheduling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4206240"/>
            <a:ext cx="5138928" cy="1810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54496" y="4206240"/>
            <a:ext cx="5138928" cy="438912"/>
          </a:xfrm>
          <a:prstGeom prst="roundRect">
            <a:avLst>
              <a:gd name="adj" fmla="val 4000"/>
            </a:avLst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4206240"/>
            <a:ext cx="404164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Red Hat Display"/>
              </a:rPr>
              <a:t>D · Advanced Electives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58984" y="4206240"/>
            <a:ext cx="1051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Red Hat Display"/>
              </a:rPr>
              <a:t>M18–M26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4754879"/>
            <a:ext cx="473659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960"/>
                </a:solidFill>
                <a:latin typeface="Red Hat Text"/>
              </a:rPr>
              <a:t>Registry &amp; catalog · Service Mesh · Serverless · Eventing · Multicluster DR · Modernization · Agentic AI · AI-assisted dev · Packaging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04 · ONE SOURCE, THREE RENDERINGS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Same content, three audiences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286000"/>
            <a:ext cx="3364992" cy="3520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286000"/>
            <a:ext cx="3364992" cy="493776"/>
          </a:xfrm>
          <a:prstGeom prst="roundRect">
            <a:avLst>
              <a:gd name="adj" fmla="val 6000"/>
            </a:avLst>
          </a:prstGeom>
          <a:solidFill>
            <a:srgbClr val="2E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2532888"/>
            <a:ext cx="3364992" cy="246888"/>
          </a:xfrm>
          <a:prstGeom prst="rect">
            <a:avLst/>
          </a:prstGeom>
          <a:solidFill>
            <a:srgbClr val="2E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395728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44752" y="2286000"/>
            <a:ext cx="290779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Red Hat Display"/>
              </a:rPr>
              <a:t>Workshop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944368"/>
            <a:ext cx="286207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4A62"/>
                </a:solidFill>
                <a:latin typeface="Red Hat Text"/>
              </a:rPr>
              <a:t>›  </a:t>
            </a:r>
            <a:r>
              <a:rPr sz="1200" b="0">
                <a:solidFill>
                  <a:srgbClr val="1A1A1A"/>
                </a:solidFill>
                <a:latin typeface="Red Hat Text"/>
              </a:rPr>
              <a:t>Attendee lab steps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4A62"/>
                </a:solidFill>
                <a:latin typeface="Red Hat Text"/>
              </a:rPr>
              <a:t>›  </a:t>
            </a:r>
            <a:r>
              <a:rPr sz="1200" b="0">
                <a:solidFill>
                  <a:srgbClr val="1A1A1A"/>
                </a:solidFill>
                <a:latin typeface="Red Hat Text"/>
              </a:rPr>
              <a:t>Dual-path CLI | Console tabs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4A62"/>
                </a:solidFill>
                <a:latin typeface="Red Hat Text"/>
              </a:rPr>
              <a:t>›  </a:t>
            </a:r>
            <a:r>
              <a:rPr sz="1200" b="0">
                <a:solidFill>
                  <a:srgbClr val="1A1A1A"/>
                </a:solidFill>
                <a:latin typeface="Red Hat Text"/>
              </a:rPr>
              <a:t>Click-to-run in the cockpit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286000"/>
            <a:ext cx="3364992" cy="3520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2286000"/>
            <a:ext cx="3364992" cy="493776"/>
          </a:xfrm>
          <a:prstGeom prst="roundRect">
            <a:avLst>
              <a:gd name="adj" fmla="val 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532888"/>
            <a:ext cx="3364992" cy="246888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l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2395728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92624" y="2286000"/>
            <a:ext cx="290779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Red Hat Display"/>
              </a:rPr>
              <a:t>SA demo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944368"/>
            <a:ext cx="286207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›  </a:t>
            </a:r>
            <a:r>
              <a:rPr sz="1200" b="0">
                <a:solidFill>
                  <a:srgbClr val="1A1A1A"/>
                </a:solidFill>
                <a:latin typeface="Red Hat Text"/>
              </a:rPr>
              <a:t>Say / Show / Do talk track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›  </a:t>
            </a:r>
            <a:r>
              <a:rPr sz="1200" b="0">
                <a:solidFill>
                  <a:srgbClr val="1A1A1A"/>
                </a:solidFill>
                <a:latin typeface="Red Hat Text"/>
              </a:rPr>
              <a:t>Presenter-led, no lab framing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›  </a:t>
            </a:r>
            <a:r>
              <a:rPr sz="1200" b="0">
                <a:solidFill>
                  <a:srgbClr val="1A1A1A"/>
                </a:solidFill>
                <a:latin typeface="Red Hat Text"/>
              </a:rPr>
              <a:t>Feeds the SA-Demos cockpit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992" y="2286000"/>
            <a:ext cx="3364992" cy="3520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36992" y="2286000"/>
            <a:ext cx="3364992" cy="493776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36992" y="2532888"/>
            <a:ext cx="3364992" cy="24688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8" y="2395728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540496" y="2286000"/>
            <a:ext cx="290779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Red Hat Display"/>
              </a:rPr>
              <a:t>Instructor runbook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944368"/>
            <a:ext cx="286207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Red Hat Text"/>
              </a:rPr>
              <a:t>›  </a:t>
            </a:r>
            <a:r>
              <a:rPr sz="1200" b="0">
                <a:solidFill>
                  <a:srgbClr val="1A1A1A"/>
                </a:solidFill>
                <a:latin typeface="Red Hat Text"/>
              </a:rPr>
              <a:t>Timings and pitfalls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Red Hat Text"/>
              </a:rPr>
              <a:t>›  </a:t>
            </a:r>
            <a:r>
              <a:rPr sz="1200" b="0">
                <a:solidFill>
                  <a:srgbClr val="1A1A1A"/>
                </a:solidFill>
                <a:latin typeface="Red Hat Text"/>
              </a:rPr>
              <a:t>Pre-flight checks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Red Hat Text"/>
              </a:rPr>
              <a:t>›  </a:t>
            </a:r>
            <a:r>
              <a:rPr sz="1200" b="0">
                <a:solidFill>
                  <a:srgbClr val="1A1A1A"/>
                </a:solidFill>
                <a:latin typeface="Red Hat Text"/>
              </a:rPr>
              <a:t>Teaching notes per exercise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053328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Red Hat Text"/>
              </a:rPr>
              <a:t>All three build from one AsciiDoc source — environment values only via attributes, never hardcoded.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05 · THE ATTENDEE COCKPIT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Guide, terminal, and tools in one tab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2148840"/>
            <a:ext cx="45720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Red Hat Text"/>
              </a:rPr>
              <a:t>Each attendee gets a browser cockpit (Showroom):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E0000"/>
                </a:solidFill>
                <a:latin typeface="Red Hat Text"/>
              </a:rPr>
              <a:t>• </a:t>
            </a:r>
            <a:r>
              <a:rPr sz="1300" b="0">
                <a:solidFill>
                  <a:srgbClr val="555960"/>
                </a:solidFill>
                <a:latin typeface="Red Hat Text"/>
              </a:rPr>
              <a:t>split-pane lab guide on the left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E0000"/>
                </a:solidFill>
                <a:latin typeface="Red Hat Text"/>
              </a:rPr>
              <a:t>• </a:t>
            </a:r>
            <a:r>
              <a:rPr sz="1300" b="0">
                <a:solidFill>
                  <a:srgbClr val="555960"/>
                </a:solidFill>
                <a:latin typeface="Red Hat Text"/>
              </a:rPr>
              <a:t>a click-to-run terminal, logged in as them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E0000"/>
                </a:solidFill>
                <a:latin typeface="Red Hat Text"/>
              </a:rPr>
              <a:t>• </a:t>
            </a:r>
            <a:r>
              <a:rPr sz="1300" b="0">
                <a:solidFill>
                  <a:srgbClr val="555960"/>
                </a:solidFill>
                <a:latin typeface="Red Hat Text"/>
              </a:rPr>
              <a:t>embedded tool tabs: Console, Gitea, Argo CD, Dev Hub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099"/>
                </a:solidFill>
                <a:latin typeface="Red Hat Text"/>
              </a:rPr>
              <a:t>No local setup — everything runs in the browser.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194560"/>
            <a:ext cx="5440680" cy="3703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2194560"/>
            <a:ext cx="5440680" cy="384048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2194560"/>
            <a:ext cx="5440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Red Hat Text"/>
              </a:rPr>
              <a:t>showroom-userN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9904" y="2706624"/>
            <a:ext cx="2514600" cy="3026663"/>
          </a:xfrm>
          <a:prstGeom prst="roundRect">
            <a:avLst>
              <a:gd name="adj" fmla="val 2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2871215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Red Hat Display"/>
              </a:rPr>
              <a:t>Lab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273552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55960"/>
                </a:solidFill>
                <a:latin typeface="Red Hat Text"/>
              </a:rPr>
              <a:t>1 · Prep the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3694176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55960"/>
                </a:solidFill>
                <a:latin typeface="Red Hat Text"/>
              </a:rPr>
              <a:t>2 · Do the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411480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55960"/>
                </a:solidFill>
                <a:latin typeface="Red Hat Text"/>
              </a:rPr>
              <a:t>3 ·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535424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80000"/>
                </a:solidFill>
                <a:latin typeface="Red Hat Text"/>
              </a:rPr>
              <a:t>▸ ws prep &lt;module&gt;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743200"/>
            <a:ext cx="2487168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erver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907792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72016" y="2743200"/>
            <a:ext cx="18288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Red Hat Text"/>
              </a:rPr>
              <a:t>Terminal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3493008"/>
            <a:ext cx="2487168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openshift_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3657600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72016" y="3493008"/>
            <a:ext cx="18288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Red Hat Text"/>
              </a:rPr>
              <a:t>Console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4242816"/>
            <a:ext cx="2487168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ranch_ste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4407407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72016" y="4242816"/>
            <a:ext cx="18288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Red Hat Text"/>
              </a:rPr>
              <a:t>Gitea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20" y="4992624"/>
            <a:ext cx="2487168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efresh_ste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5157216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72016" y="4992624"/>
            <a:ext cx="18288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Red Hat Text"/>
              </a:rPr>
              <a:t>Argo CD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06 · THE PLATFORM UNDERNEATH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GitOps portfolio — composable stacks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231136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ran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310" y="2367198"/>
            <a:ext cx="294802" cy="2948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91056" y="2157984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Red Hat Display"/>
              </a:rPr>
              <a:t>Pipelines &amp; GitOps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6" y="2505456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960"/>
                </a:solidFill>
                <a:latin typeface="Red Hat Text"/>
              </a:rPr>
              <a:t>Tekton, Argo CD, app-of-apps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231136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558" y="2367198"/>
            <a:ext cx="294802" cy="2948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04304" y="2157984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Red Hat Display"/>
              </a:rPr>
              <a:t>Supply-chain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4304" y="2505456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960"/>
                </a:solidFill>
                <a:latin typeface="Red Hat Text"/>
              </a:rPr>
              <a:t>SonarQube, RHACS, Trivy, signing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127248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310" y="3263310"/>
            <a:ext cx="294802" cy="2948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91056" y="3054096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Red Hat Display"/>
              </a:rP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1056" y="3401568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960"/>
                </a:solidFill>
                <a:latin typeface="Red Hat Text"/>
              </a:rPr>
              <a:t>Keycloak SSO, per-user tenancy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127248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networ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0558" y="3263310"/>
            <a:ext cx="294802" cy="29480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004304" y="3054096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Red Hat Display"/>
              </a:rPr>
              <a:t>Service Mesh &amp; gateways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304" y="3401568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960"/>
                </a:solidFill>
                <a:latin typeface="Red Hat Text"/>
              </a:rPr>
              <a:t>Istio 3, Gateway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023359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fres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310" y="4159422"/>
            <a:ext cx="294802" cy="29480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91056" y="3950207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Red Hat Display"/>
              </a:rPr>
              <a:t>Serverless &amp; eventing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91056" y="4297680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960"/>
                </a:solidFill>
                <a:latin typeface="Red Hat Text"/>
              </a:rPr>
              <a:t>Knative Serving + Eventing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4496" y="4023359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ey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0558" y="4159422"/>
            <a:ext cx="294802" cy="29480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004304" y="3950207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Red Hat Display"/>
              </a:rPr>
              <a:t>Observability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4304" y="4297680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960"/>
                </a:solidFill>
                <a:latin typeface="Red Hat Text"/>
              </a:rPr>
              <a:t>Metrics, logs, traces, alerts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" y="4919471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databas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310" y="5055534"/>
            <a:ext cx="294802" cy="2948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91056" y="4846319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Red Hat Display"/>
              </a:rPr>
              <a:t>Storage &amp; DR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91056" y="5193792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960"/>
                </a:solidFill>
                <a:latin typeface="Red Hat Text"/>
              </a:rPr>
              <a:t>ODF, OADP, RHSI failover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4496" y="4919471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chip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0558" y="5055534"/>
            <a:ext cx="294802" cy="29480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004304" y="4846319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Red Hat Display"/>
              </a:rPr>
              <a:t>AI / MaaS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04304" y="5193792"/>
            <a:ext cx="4315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960"/>
                </a:solidFill>
                <a:latin typeface="Red Hat Text"/>
              </a:rPr>
              <a:t>Dev Hub, agents, model endpoints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099"/>
                </a:solidFill>
                <a:latin typeface="Red Hat Text"/>
              </a:rPr>
              <a:t>One Argo app-of-apps. Installs are GitOps-only and non-invasive — nothing imperative touches the cluster.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07 · ENABLEMENT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Curated subsets for the time-box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286000"/>
            <a:ext cx="10509199" cy="78638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286000"/>
            <a:ext cx="2651760" cy="786384"/>
          </a:xfrm>
          <a:prstGeom prst="roundRect">
            <a:avLst>
              <a:gd name="adj" fmla="val 6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286000"/>
            <a:ext cx="2468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0000"/>
                </a:solidFill>
                <a:latin typeface="Red Hat Display"/>
              </a:rPr>
              <a:t>WS-FULL-3D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8" y="2377440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Red Hat Display"/>
              </a:rPr>
              <a:t>3-day full enablement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8" y="2688336"/>
            <a:ext cx="7491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960"/>
                </a:solidFill>
                <a:latin typeface="Red Hat Text"/>
              </a:rPr>
              <a:t>Foundations, the delivery story, then platform + the AI finale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218688"/>
            <a:ext cx="10509199" cy="78638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3218688"/>
            <a:ext cx="2651760" cy="786384"/>
          </a:xfrm>
          <a:prstGeom prst="roundRect">
            <a:avLst>
              <a:gd name="adj" fmla="val 6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18688"/>
            <a:ext cx="2468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0000"/>
                </a:solidFill>
                <a:latin typeface="Red Hat Display"/>
              </a:rPr>
              <a:t>WS-FULL-2D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3310128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Red Hat Display"/>
              </a:rPr>
              <a:t>2-day compressed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3621024"/>
            <a:ext cx="7491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960"/>
                </a:solidFill>
                <a:latin typeface="Red Hat Text"/>
              </a:rPr>
              <a:t>Foundations, then the delivery story end to 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151376"/>
            <a:ext cx="10509199" cy="78638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151376"/>
            <a:ext cx="2651760" cy="786384"/>
          </a:xfrm>
          <a:prstGeom prst="roundRect">
            <a:avLst>
              <a:gd name="adj" fmla="val 6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151376"/>
            <a:ext cx="2468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0000"/>
                </a:solidFill>
                <a:latin typeface="Red Hat Display"/>
              </a:rPr>
              <a:t>WS-DEV-1D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8" y="4242816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Red Hat Display"/>
              </a:rPr>
              <a:t>1-day developer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4553712"/>
            <a:ext cx="7491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960"/>
                </a:solidFill>
                <a:latin typeface="Red Hat Text"/>
              </a:rPr>
              <a:t>The foundations on-ramp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084064"/>
            <a:ext cx="10509199" cy="78638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" y="5084064"/>
            <a:ext cx="2651760" cy="786384"/>
          </a:xfrm>
          <a:prstGeom prst="roundRect">
            <a:avLst>
              <a:gd name="adj" fmla="val 6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5084064"/>
            <a:ext cx="2468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0000"/>
                </a:solidFill>
                <a:latin typeface="Red Hat Display"/>
              </a:rPr>
              <a:t>WS-OPS-1D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5888" y="5175504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Red Hat Display"/>
              </a:rPr>
              <a:t>1-day devops /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5888" y="5486400"/>
            <a:ext cx="7491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960"/>
                </a:solidFill>
                <a:latin typeface="Red Hat Text"/>
              </a:rPr>
              <a:t>Pipelines, supply chain, scale, and tenancy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6272784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099"/>
                </a:solidFill>
                <a:latin typeface="Red Hat Text"/>
              </a:rPr>
              <a:t>Any ascending selection works — every module is self-contained. Paths live in the SA guide, not on the attendee index.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08 · WHY IT HOLDS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The bar behind every module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212848"/>
            <a:ext cx="5138928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212848"/>
            <a:ext cx="5138928" cy="7772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523744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953" y="2655417"/>
            <a:ext cx="285292" cy="2852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2487168"/>
            <a:ext cx="4041648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1A1A"/>
                </a:solidFill>
                <a:latin typeface="Red Hat Display"/>
              </a:rPr>
              <a:t>Verify, never recall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55960"/>
                </a:solidFill>
                <a:latin typeface="Red Hat Text"/>
              </a:rPr>
              <a:t>Versions, UI paths, CR fields re-verified against docs or a live cluster.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212848"/>
            <a:ext cx="5138928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4496" y="2212848"/>
            <a:ext cx="5138928" cy="7772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10528" y="2523744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201" y="2655417"/>
            <a:ext cx="285292" cy="2852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68896" y="2487168"/>
            <a:ext cx="4041648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1A1A"/>
                </a:solidFill>
                <a:latin typeface="Red Hat Display"/>
              </a:rPr>
              <a:t>Perform first, write second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55960"/>
                </a:solidFill>
                <a:latin typeface="Red Hat Text"/>
              </a:rPr>
              <a:t>Every command block shows output captured on a real cluster; timings measured.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279392"/>
            <a:ext cx="5138928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4279392"/>
            <a:ext cx="5138928" cy="7772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4590288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ub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953" y="4721961"/>
            <a:ext cx="285292" cy="2852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55648" y="4553712"/>
            <a:ext cx="4041648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1A1A"/>
                </a:solidFill>
                <a:latin typeface="Red Hat Display"/>
              </a:rPr>
              <a:t>Module independence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55960"/>
                </a:solidFill>
                <a:latin typeface="Red Hat Text"/>
              </a:rPr>
              <a:t>No module assumes another ran — entry states materialize everything.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4279392"/>
            <a:ext cx="5138928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54496" y="4279392"/>
            <a:ext cx="5138928" cy="77724"/>
          </a:xfrm>
          <a:prstGeom prst="rect">
            <a:avLst/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10528" y="4590288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ri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2201" y="4721961"/>
            <a:ext cx="285292" cy="2852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68896" y="4553712"/>
            <a:ext cx="4041648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1A1A"/>
                </a:solidFill>
                <a:latin typeface="Red Hat Display"/>
              </a:rPr>
              <a:t>Dual-path CLI | Console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55960"/>
                </a:solidFill>
                <a:latin typeface="Red Hat Text"/>
              </a:rPr>
              <a:t>Every doable step shown in the terminal and the web console.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09 · SAFE ON A SHARED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Drops on, reverses clean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286000"/>
            <a:ext cx="5349240" cy="3520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286000"/>
            <a:ext cx="5349240" cy="493776"/>
          </a:xfrm>
          <a:prstGeom prst="roundRect">
            <a:avLst>
              <a:gd name="adj" fmla="val 6000"/>
            </a:avLst>
          </a:prstGeom>
          <a:solidFill>
            <a:srgbClr val="2E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2532888"/>
            <a:ext cx="5349240" cy="246888"/>
          </a:xfrm>
          <a:prstGeom prst="rect">
            <a:avLst/>
          </a:prstGeom>
          <a:solidFill>
            <a:srgbClr val="2E4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395728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44752" y="2286000"/>
            <a:ext cx="48920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Red Hat Display"/>
              </a:rPr>
              <a:t>Install is non-invasive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944368"/>
            <a:ext cx="4846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4A62"/>
                </a:solidFill>
                <a:latin typeface="Red Hat Text"/>
              </a:rPr>
              <a:t>›  </a:t>
            </a:r>
            <a:r>
              <a:rPr sz="1200" b="0">
                <a:solidFill>
                  <a:srgbClr val="1A1A1A"/>
                </a:solidFill>
                <a:latin typeface="Red Hat Text"/>
              </a:rPr>
              <a:t>Operators adopted, never overwritten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4A62"/>
                </a:solidFill>
                <a:latin typeface="Red Hat Text"/>
              </a:rPr>
              <a:t>›  </a:t>
            </a:r>
            <a:r>
              <a:rPr sz="1200" b="0">
                <a:solidFill>
                  <a:srgbClr val="1A1A1A"/>
                </a:solidFill>
                <a:latin typeface="Red Hat Text"/>
              </a:rPr>
              <a:t>Attendees in a separate identity provider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4A62"/>
                </a:solidFill>
                <a:latin typeface="Red Hat Text"/>
              </a:rPr>
              <a:t>›  </a:t>
            </a:r>
            <a:r>
              <a:rPr sz="1200" b="0">
                <a:solidFill>
                  <a:srgbClr val="1A1A1A"/>
                </a:solidFill>
                <a:latin typeface="Red Hat Text"/>
              </a:rPr>
              <a:t>Default cluster behavior untouched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1207" y="2286000"/>
            <a:ext cx="5349240" cy="3520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01207" y="2286000"/>
            <a:ext cx="5349240" cy="493776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1207" y="2532888"/>
            <a:ext cx="5349240" cy="24688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efres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663" y="2395728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04711" y="2286000"/>
            <a:ext cx="48920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Red Hat Display"/>
              </a:rPr>
              <a:t>Uninstall reverses fully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5527" y="2944368"/>
            <a:ext cx="4846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Red Hat Text"/>
              </a:rPr>
              <a:t>›  </a:t>
            </a:r>
            <a:r>
              <a:rPr sz="1200" b="0">
                <a:solidFill>
                  <a:srgbClr val="1A1A1A"/>
                </a:solidFill>
                <a:latin typeface="Red Hat Text"/>
              </a:rPr>
              <a:t>Only workshop-owned resources removed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Red Hat Text"/>
              </a:rPr>
              <a:t>›  </a:t>
            </a:r>
            <a:r>
              <a:rPr sz="1200" b="0">
                <a:solidFill>
                  <a:srgbClr val="1A1A1A"/>
                </a:solidFill>
                <a:latin typeface="Red Hat Text"/>
              </a:rPr>
              <a:t>Adopted operators preserved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2E7D32"/>
                </a:solidFill>
                <a:latin typeface="Red Hat Text"/>
              </a:rPr>
              <a:t>›  </a:t>
            </a:r>
            <a:r>
              <a:rPr sz="1200" b="0">
                <a:solidFill>
                  <a:srgbClr val="1A1A1A"/>
                </a:solidFill>
                <a:latin typeface="Red Hat Text"/>
              </a:rPr>
              <a:t>Prior config restored — dry-run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053328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099"/>
                </a:solidFill>
                <a:latin typeface="Red Hat Text"/>
              </a:rPr>
              <a:t>Litmus test: after uninstall, nothing the org owned should differ.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10 ·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One command up; links to hand out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21488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20">
                <a:solidFill>
                  <a:srgbClr val="EE0000"/>
                </a:solidFill>
                <a:latin typeface="Red Hat Display"/>
              </a:rPr>
              <a:t>STAND IT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487168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487168"/>
            <a:ext cx="457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80000"/>
                </a:solidFill>
                <a:latin typeface="Red Hat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87168"/>
            <a:ext cx="4206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Edit bootstrap/vars.yaml (users, domain, keys)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273552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3273552"/>
            <a:ext cx="457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80000"/>
                </a:solidFill>
                <a:latin typeface="Red Hat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73552"/>
            <a:ext cx="4206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./bootstrap/install.sh — platform + workshop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059936"/>
            <a:ext cx="5029200" cy="658368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4059936"/>
            <a:ext cx="457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80000"/>
                </a:solidFill>
                <a:latin typeface="Red Hat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59936"/>
            <a:ext cx="4206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ws start &lt;module&gt; --user userN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20">
                <a:solidFill>
                  <a:srgbClr val="EE0000"/>
                </a:solidFill>
                <a:latin typeface="Red Hat Display"/>
              </a:rPr>
              <a:t>WHAT ATTENDEES GET</a:t>
            </a:r>
          </a:p>
        </p:txBody>
      </p:sp>
      <p:pic>
        <p:nvPicPr>
          <p:cNvPr id="17" name="Picture 16" descr="globe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542032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00" y="2487168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960"/>
                </a:solidFill>
                <a:latin typeface="Red Hat Text"/>
              </a:rPr>
              <a:t>A per-user cockpit URL</a:t>
            </a:r>
          </a:p>
        </p:txBody>
      </p:sp>
      <p:pic>
        <p:nvPicPr>
          <p:cNvPr id="19" name="Picture 18" descr="key_st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218688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8000" y="3163824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960"/>
                </a:solidFill>
                <a:latin typeface="Red Hat Text"/>
              </a:rPr>
              <a:t>One shared, memorable password</a:t>
            </a:r>
          </a:p>
        </p:txBody>
      </p:sp>
      <p:pic>
        <p:nvPicPr>
          <p:cNvPr id="21" name="Picture 20" descr="server_ste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895344"/>
            <a:ext cx="310896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58000" y="3840480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960"/>
                </a:solidFill>
                <a:latin typeface="Red Hat Text"/>
              </a:rPr>
              <a:t>Console, Gitea, Argo, Dev Hub — embedded</a:t>
            </a:r>
          </a:p>
        </p:txBody>
      </p:sp>
      <p:pic>
        <p:nvPicPr>
          <p:cNvPr id="23" name="Picture 22" descr="check_ste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571999"/>
            <a:ext cx="310896" cy="3108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58000" y="4517136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960"/>
                </a:solidFill>
                <a:latin typeface="Red Hat Text"/>
              </a:rPr>
              <a:t>ws prep / verify / reset per module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822960"/>
            <a:ext cx="1828800" cy="4325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2926080"/>
            <a:ext cx="10424160" cy="914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Red Hat Display"/>
              </a:rPr>
              <a:t>Getting Started, done right.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3977639"/>
            <a:ext cx="1463040" cy="0"/>
          </a:xfrm>
          <a:prstGeom prst="bentConnector3">
            <a:avLst/>
          </a:prstGeom>
          <a:ln w="3810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41605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55960"/>
                </a:solidFill>
                <a:latin typeface="Red Hat Text"/>
              </a:rPr>
              <a:t>Built on </a:t>
            </a:r>
            <a:r>
              <a:rPr sz="1800" b="1">
                <a:solidFill>
                  <a:srgbClr val="EE0000"/>
                </a:solidFill>
                <a:latin typeface="Red Hat Display"/>
              </a:rPr>
              <a:t>Red Hat OpenShift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8463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55960"/>
                </a:solidFill>
                <a:latin typeface="Red Hat Text"/>
              </a:rPr>
              <a:t>26 modules · one source · three renderings · non-invasive · content-complete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