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jp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00.xml" ContentType="application/vnd.openxmlformats-officedocument.presentationml.notesSlide+xml"/>
  <Override PartName="/ppt/notesSlides/notesSlide101.xml" ContentType="application/vnd.openxmlformats-officedocument.presentationml.notesSlide+xml"/>
  <Override PartName="/ppt/notesSlides/notesSlide102.xml" ContentType="application/vnd.openxmlformats-officedocument.presentationml.notesSlide+xml"/>
  <Override PartName="/ppt/notesSlides/notesSlide103.xml" ContentType="application/vnd.openxmlformats-officedocument.presentationml.notesSlide+xml"/>
  <Override PartName="/ppt/notesSlides/notesSlide104.xml" ContentType="application/vnd.openxmlformats-officedocument.presentationml.notesSlide+xml"/>
  <Override PartName="/ppt/notesSlides/notesSlide105.xml" ContentType="application/vnd.openxmlformats-officedocument.presentationml.notesSlide+xml"/>
  <Override PartName="/ppt/notesSlides/notesSlide106.xml" ContentType="application/vnd.openxmlformats-officedocument.presentationml.notesSlide+xml"/>
  <Override PartName="/ppt/notesSlides/notesSlide107.xml" ContentType="application/vnd.openxmlformats-officedocument.presentationml.notesSlide+xml"/>
  <Override PartName="/ppt/notesSlides/notesSlide108.xml" ContentType="application/vnd.openxmlformats-officedocument.presentationml.notesSlide+xml"/>
  <Override PartName="/ppt/notesSlides/notesSlide109.xml" ContentType="application/vnd.openxmlformats-officedocument.presentationml.notesSlide+xml"/>
  <Override PartName="/ppt/notesSlides/notesSlide11.xml" ContentType="application/vnd.openxmlformats-officedocument.presentationml.notesSlide+xml"/>
  <Override PartName="/ppt/notesSlides/notesSlide110.xml" ContentType="application/vnd.openxmlformats-officedocument.presentationml.notesSlide+xml"/>
  <Override PartName="/ppt/notesSlides/notesSlide111.xml" ContentType="application/vnd.openxmlformats-officedocument.presentationml.notesSlide+xml"/>
  <Override PartName="/ppt/notesSlides/notesSlide112.xml" ContentType="application/vnd.openxmlformats-officedocument.presentationml.notesSlide+xml"/>
  <Override PartName="/ppt/notesSlides/notesSlide113.xml" ContentType="application/vnd.openxmlformats-officedocument.presentationml.notesSlide+xml"/>
  <Override PartName="/ppt/notesSlides/notesSlide114.xml" ContentType="application/vnd.openxmlformats-officedocument.presentationml.notesSlide+xml"/>
  <Override PartName="/ppt/notesSlides/notesSlide115.xml" ContentType="application/vnd.openxmlformats-officedocument.presentationml.notesSlide+xml"/>
  <Override PartName="/ppt/notesSlides/notesSlide116.xml" ContentType="application/vnd.openxmlformats-officedocument.presentationml.notesSlide+xml"/>
  <Override PartName="/ppt/notesSlides/notesSlide117.xml" ContentType="application/vnd.openxmlformats-officedocument.presentationml.notesSlide+xml"/>
  <Override PartName="/ppt/notesSlides/notesSlide118.xml" ContentType="application/vnd.openxmlformats-officedocument.presentationml.notesSlide+xml"/>
  <Override PartName="/ppt/notesSlides/notesSlide119.xml" ContentType="application/vnd.openxmlformats-officedocument.presentationml.notesSlide+xml"/>
  <Override PartName="/ppt/notesSlides/notesSlide12.xml" ContentType="application/vnd.openxmlformats-officedocument.presentationml.notesSlide+xml"/>
  <Override PartName="/ppt/notesSlides/notesSlide120.xml" ContentType="application/vnd.openxmlformats-officedocument.presentationml.notesSlide+xml"/>
  <Override PartName="/ppt/notesSlides/notesSlide121.xml" ContentType="application/vnd.openxmlformats-officedocument.presentationml.notesSlide+xml"/>
  <Override PartName="/ppt/notesSlides/notesSlide122.xml" ContentType="application/vnd.openxmlformats-officedocument.presentationml.notesSlide+xml"/>
  <Override PartName="/ppt/notesSlides/notesSlide123.xml" ContentType="application/vnd.openxmlformats-officedocument.presentationml.notesSlide+xml"/>
  <Override PartName="/ppt/notesSlides/notesSlide124.xml" ContentType="application/vnd.openxmlformats-officedocument.presentationml.notesSlide+xml"/>
  <Override PartName="/ppt/notesSlides/notesSlide125.xml" ContentType="application/vnd.openxmlformats-officedocument.presentationml.notesSlide+xml"/>
  <Override PartName="/ppt/notesSlides/notesSlide126.xml" ContentType="application/vnd.openxmlformats-officedocument.presentationml.notesSlide+xml"/>
  <Override PartName="/ppt/notesSlides/notesSlide127.xml" ContentType="application/vnd.openxmlformats-officedocument.presentationml.notesSlide+xml"/>
  <Override PartName="/ppt/notesSlides/notesSlide128.xml" ContentType="application/vnd.openxmlformats-officedocument.presentationml.notesSlide+xml"/>
  <Override PartName="/ppt/notesSlides/notesSlide129.xml" ContentType="application/vnd.openxmlformats-officedocument.presentationml.notesSlide+xml"/>
  <Override PartName="/ppt/notesSlides/notesSlide13.xml" ContentType="application/vnd.openxmlformats-officedocument.presentationml.notesSlide+xml"/>
  <Override PartName="/ppt/notesSlides/notesSlide130.xml" ContentType="application/vnd.openxmlformats-officedocument.presentationml.notesSlide+xml"/>
  <Override PartName="/ppt/notesSlides/notesSlide131.xml" ContentType="application/vnd.openxmlformats-officedocument.presentationml.notesSlide+xml"/>
  <Override PartName="/ppt/notesSlides/notesSlide132.xml" ContentType="application/vnd.openxmlformats-officedocument.presentationml.notesSlide+xml"/>
  <Override PartName="/ppt/notesSlides/notesSlide133.xml" ContentType="application/vnd.openxmlformats-officedocument.presentationml.notesSlide+xml"/>
  <Override PartName="/ppt/notesSlides/notesSlide134.xml" ContentType="application/vnd.openxmlformats-officedocument.presentationml.notesSlide+xml"/>
  <Override PartName="/ppt/notesSlides/notesSlide135.xml" ContentType="application/vnd.openxmlformats-officedocument.presentationml.notesSlide+xml"/>
  <Override PartName="/ppt/notesSlides/notesSlide136.xml" ContentType="application/vnd.openxmlformats-officedocument.presentationml.notesSlide+xml"/>
  <Override PartName="/ppt/notesSlides/notesSlide137.xml" ContentType="application/vnd.openxmlformats-officedocument.presentationml.notesSlide+xml"/>
  <Override PartName="/ppt/notesSlides/notesSlide138.xml" ContentType="application/vnd.openxmlformats-officedocument.presentationml.notesSlide+xml"/>
  <Override PartName="/ppt/notesSlides/notesSlide139.xml" ContentType="application/vnd.openxmlformats-officedocument.presentationml.notesSlide+xml"/>
  <Override PartName="/ppt/notesSlides/notesSlide14.xml" ContentType="application/vnd.openxmlformats-officedocument.presentationml.notesSlide+xml"/>
  <Override PartName="/ppt/notesSlides/notesSlide140.xml" ContentType="application/vnd.openxmlformats-officedocument.presentationml.notesSlide+xml"/>
  <Override PartName="/ppt/notesSlides/notesSlide141.xml" ContentType="application/vnd.openxmlformats-officedocument.presentationml.notesSlide+xml"/>
  <Override PartName="/ppt/notesSlides/notesSlide142.xml" ContentType="application/vnd.openxmlformats-officedocument.presentationml.notesSlide+xml"/>
  <Override PartName="/ppt/notesSlides/notesSlide143.xml" ContentType="application/vnd.openxmlformats-officedocument.presentationml.notesSlide+xml"/>
  <Override PartName="/ppt/notesSlides/notesSlide144.xml" ContentType="application/vnd.openxmlformats-officedocument.presentationml.notesSlide+xml"/>
  <Override PartName="/ppt/notesSlides/notesSlide145.xml" ContentType="application/vnd.openxmlformats-officedocument.presentationml.notesSlide+xml"/>
  <Override PartName="/ppt/notesSlides/notesSlide146.xml" ContentType="application/vnd.openxmlformats-officedocument.presentationml.notesSlide+xml"/>
  <Override PartName="/ppt/notesSlides/notesSlide147.xml" ContentType="application/vnd.openxmlformats-officedocument.presentationml.notesSlide+xml"/>
  <Override PartName="/ppt/notesSlides/notesSlide148.xml" ContentType="application/vnd.openxmlformats-officedocument.presentationml.notesSlide+xml"/>
  <Override PartName="/ppt/notesSlides/notesSlide149.xml" ContentType="application/vnd.openxmlformats-officedocument.presentationml.notesSlide+xml"/>
  <Override PartName="/ppt/notesSlides/notesSlide15.xml" ContentType="application/vnd.openxmlformats-officedocument.presentationml.notesSlide+xml"/>
  <Override PartName="/ppt/notesSlides/notesSlide150.xml" ContentType="application/vnd.openxmlformats-officedocument.presentationml.notesSlide+xml"/>
  <Override PartName="/ppt/notesSlides/notesSlide151.xml" ContentType="application/vnd.openxmlformats-officedocument.presentationml.notesSlide+xml"/>
  <Override PartName="/ppt/notesSlides/notesSlide152.xml" ContentType="application/vnd.openxmlformats-officedocument.presentationml.notesSlide+xml"/>
  <Override PartName="/ppt/notesSlides/notesSlide153.xml" ContentType="application/vnd.openxmlformats-officedocument.presentationml.notesSlide+xml"/>
  <Override PartName="/ppt/notesSlides/notesSlide154.xml" ContentType="application/vnd.openxmlformats-officedocument.presentationml.notesSlide+xml"/>
  <Override PartName="/ppt/notesSlides/notesSlide155.xml" ContentType="application/vnd.openxmlformats-officedocument.presentationml.notesSlide+xml"/>
  <Override PartName="/ppt/notesSlides/notesSlide156.xml" ContentType="application/vnd.openxmlformats-officedocument.presentationml.notesSlide+xml"/>
  <Override PartName="/ppt/notesSlides/notesSlide157.xml" ContentType="application/vnd.openxmlformats-officedocument.presentationml.notesSlide+xml"/>
  <Override PartName="/ppt/notesSlides/notesSlide158.xml" ContentType="application/vnd.openxmlformats-officedocument.presentationml.notesSlide+xml"/>
  <Override PartName="/ppt/notesSlides/notesSlide159.xml" ContentType="application/vnd.openxmlformats-officedocument.presentationml.notesSlide+xml"/>
  <Override PartName="/ppt/notesSlides/notesSlide16.xml" ContentType="application/vnd.openxmlformats-officedocument.presentationml.notesSlide+xml"/>
  <Override PartName="/ppt/notesSlides/notesSlide160.xml" ContentType="application/vnd.openxmlformats-officedocument.presentationml.notesSlide+xml"/>
  <Override PartName="/ppt/notesSlides/notesSlide161.xml" ContentType="application/vnd.openxmlformats-officedocument.presentationml.notesSlide+xml"/>
  <Override PartName="/ppt/notesSlides/notesSlide162.xml" ContentType="application/vnd.openxmlformats-officedocument.presentationml.notesSlide+xml"/>
  <Override PartName="/ppt/notesSlides/notesSlide163.xml" ContentType="application/vnd.openxmlformats-officedocument.presentationml.notesSlide+xml"/>
  <Override PartName="/ppt/notesSlides/notesSlide164.xml" ContentType="application/vnd.openxmlformats-officedocument.presentationml.notesSlide+xml"/>
  <Override PartName="/ppt/notesSlides/notesSlide165.xml" ContentType="application/vnd.openxmlformats-officedocument.presentationml.notesSlide+xml"/>
  <Override PartName="/ppt/notesSlides/notesSlide166.xml" ContentType="application/vnd.openxmlformats-officedocument.presentationml.notesSlide+xml"/>
  <Override PartName="/ppt/notesSlides/notesSlide167.xml" ContentType="application/vnd.openxmlformats-officedocument.presentationml.notesSlide+xml"/>
  <Override PartName="/ppt/notesSlides/notesSlide168.xml" ContentType="application/vnd.openxmlformats-officedocument.presentationml.notesSlide+xml"/>
  <Override PartName="/ppt/notesSlides/notesSlide169.xml" ContentType="application/vnd.openxmlformats-officedocument.presentationml.notesSlide+xml"/>
  <Override PartName="/ppt/notesSlides/notesSlide17.xml" ContentType="application/vnd.openxmlformats-officedocument.presentationml.notesSlide+xml"/>
  <Override PartName="/ppt/notesSlides/notesSlide170.xml" ContentType="application/vnd.openxmlformats-officedocument.presentationml.notesSlide+xml"/>
  <Override PartName="/ppt/notesSlides/notesSlide171.xml" ContentType="application/vnd.openxmlformats-officedocument.presentationml.notesSlide+xml"/>
  <Override PartName="/ppt/notesSlides/notesSlide172.xml" ContentType="application/vnd.openxmlformats-officedocument.presentationml.notesSlide+xml"/>
  <Override PartName="/ppt/notesSlides/notesSlide173.xml" ContentType="application/vnd.openxmlformats-officedocument.presentationml.notesSlide+xml"/>
  <Override PartName="/ppt/notesSlides/notesSlide174.xml" ContentType="application/vnd.openxmlformats-officedocument.presentationml.notesSlide+xml"/>
  <Override PartName="/ppt/notesSlides/notesSlide175.xml" ContentType="application/vnd.openxmlformats-officedocument.presentationml.notesSlide+xml"/>
  <Override PartName="/ppt/notesSlides/notesSlide176.xml" ContentType="application/vnd.openxmlformats-officedocument.presentationml.notesSlide+xml"/>
  <Override PartName="/ppt/notesSlides/notesSlide177.xml" ContentType="application/vnd.openxmlformats-officedocument.presentationml.notesSlide+xml"/>
  <Override PartName="/ppt/notesSlides/notesSlide178.xml" ContentType="application/vnd.openxmlformats-officedocument.presentationml.notesSlide+xml"/>
  <Override PartName="/ppt/notesSlides/notesSlide179.xml" ContentType="application/vnd.openxmlformats-officedocument.presentationml.notesSlide+xml"/>
  <Override PartName="/ppt/notesSlides/notesSlide18.xml" ContentType="application/vnd.openxmlformats-officedocument.presentationml.notesSlide+xml"/>
  <Override PartName="/ppt/notesSlides/notesSlide180.xml" ContentType="application/vnd.openxmlformats-officedocument.presentationml.notesSlide+xml"/>
  <Override PartName="/ppt/notesSlides/notesSlide181.xml" ContentType="application/vnd.openxmlformats-officedocument.presentationml.notesSlide+xml"/>
  <Override PartName="/ppt/notesSlides/notesSlide182.xml" ContentType="application/vnd.openxmlformats-officedocument.presentationml.notesSlide+xml"/>
  <Override PartName="/ppt/notesSlides/notesSlide183.xml" ContentType="application/vnd.openxmlformats-officedocument.presentationml.notesSlide+xml"/>
  <Override PartName="/ppt/notesSlides/notesSlide184.xml" ContentType="application/vnd.openxmlformats-officedocument.presentationml.notesSlide+xml"/>
  <Override PartName="/ppt/notesSlides/notesSlide185.xml" ContentType="application/vnd.openxmlformats-officedocument.presentationml.notesSlide+xml"/>
  <Override PartName="/ppt/notesSlides/notesSlide186.xml" ContentType="application/vnd.openxmlformats-officedocument.presentationml.notesSlide+xml"/>
  <Override PartName="/ppt/notesSlides/notesSlide187.xml" ContentType="application/vnd.openxmlformats-officedocument.presentationml.notesSlide+xml"/>
  <Override PartName="/ppt/notesSlides/notesSlide188.xml" ContentType="application/vnd.openxmlformats-officedocument.presentationml.notesSlide+xml"/>
  <Override PartName="/ppt/notesSlides/notesSlide189.xml" ContentType="application/vnd.openxmlformats-officedocument.presentationml.notesSlide+xml"/>
  <Override PartName="/ppt/notesSlides/notesSlide19.xml" ContentType="application/vnd.openxmlformats-officedocument.presentationml.notesSlide+xml"/>
  <Override PartName="/ppt/notesSlides/notesSlide190.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notesSlides/notesSlide74.xml" ContentType="application/vnd.openxmlformats-officedocument.presentationml.notesSlide+xml"/>
  <Override PartName="/ppt/notesSlides/notesSlide75.xml" ContentType="application/vnd.openxmlformats-officedocument.presentationml.notesSlide+xml"/>
  <Override PartName="/ppt/notesSlides/notesSlide76.xml" ContentType="application/vnd.openxmlformats-officedocument.presentationml.notesSlide+xml"/>
  <Override PartName="/ppt/notesSlides/notesSlide77.xml" ContentType="application/vnd.openxmlformats-officedocument.presentationml.notesSlide+xml"/>
  <Override PartName="/ppt/notesSlides/notesSlide78.xml" ContentType="application/vnd.openxmlformats-officedocument.presentationml.notesSlide+xml"/>
  <Override PartName="/ppt/notesSlides/notesSlide79.xml" ContentType="application/vnd.openxmlformats-officedocument.presentationml.notesSlide+xml"/>
  <Override PartName="/ppt/notesSlides/notesSlide8.xml" ContentType="application/vnd.openxmlformats-officedocument.presentationml.notesSlide+xml"/>
  <Override PartName="/ppt/notesSlides/notesSlide80.xml" ContentType="application/vnd.openxmlformats-officedocument.presentationml.notesSlide+xml"/>
  <Override PartName="/ppt/notesSlides/notesSlide81.xml" ContentType="application/vnd.openxmlformats-officedocument.presentationml.notesSlide+xml"/>
  <Override PartName="/ppt/notesSlides/notesSlide82.xml" ContentType="application/vnd.openxmlformats-officedocument.presentationml.notesSlide+xml"/>
  <Override PartName="/ppt/notesSlides/notesSlide83.xml" ContentType="application/vnd.openxmlformats-officedocument.presentationml.notesSlide+xml"/>
  <Override PartName="/ppt/notesSlides/notesSlide84.xml" ContentType="application/vnd.openxmlformats-officedocument.presentationml.notesSlide+xml"/>
  <Override PartName="/ppt/notesSlides/notesSlide85.xml" ContentType="application/vnd.openxmlformats-officedocument.presentationml.notesSlide+xml"/>
  <Override PartName="/ppt/notesSlides/notesSlide86.xml" ContentType="application/vnd.openxmlformats-officedocument.presentationml.notesSlide+xml"/>
  <Override PartName="/ppt/notesSlides/notesSlide87.xml" ContentType="application/vnd.openxmlformats-officedocument.presentationml.notesSlide+xml"/>
  <Override PartName="/ppt/notesSlides/notesSlide88.xml" ContentType="application/vnd.openxmlformats-officedocument.presentationml.notesSlide+xml"/>
  <Override PartName="/ppt/notesSlides/notesSlide89.xml" ContentType="application/vnd.openxmlformats-officedocument.presentationml.notesSlide+xml"/>
  <Override PartName="/ppt/notesSlides/notesSlide9.xml" ContentType="application/vnd.openxmlformats-officedocument.presentationml.notesSlide+xml"/>
  <Override PartName="/ppt/notesSlides/notesSlide90.xml" ContentType="application/vnd.openxmlformats-officedocument.presentationml.notesSlide+xml"/>
  <Override PartName="/ppt/notesSlides/notesSlide91.xml" ContentType="application/vnd.openxmlformats-officedocument.presentationml.notesSlide+xml"/>
  <Override PartName="/ppt/notesSlides/notesSlide92.xml" ContentType="application/vnd.openxmlformats-officedocument.presentationml.notesSlide+xml"/>
  <Override PartName="/ppt/notesSlides/notesSlide93.xml" ContentType="application/vnd.openxmlformats-officedocument.presentationml.notesSlide+xml"/>
  <Override PartName="/ppt/notesSlides/notesSlide94.xml" ContentType="application/vnd.openxmlformats-officedocument.presentationml.notesSlide+xml"/>
  <Override PartName="/ppt/notesSlides/notesSlide95.xml" ContentType="application/vnd.openxmlformats-officedocument.presentationml.notesSlide+xml"/>
  <Override PartName="/ppt/notesSlides/notesSlide96.xml" ContentType="application/vnd.openxmlformats-officedocument.presentationml.notesSlide+xml"/>
  <Override PartName="/ppt/notesSlides/notesSlide97.xml" ContentType="application/vnd.openxmlformats-officedocument.presentationml.notesSlide+xml"/>
  <Override PartName="/ppt/notesSlides/notesSlide98.xml" ContentType="application/vnd.openxmlformats-officedocument.presentationml.notesSlide+xml"/>
  <Override PartName="/ppt/notesSlides/notesSlide9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17.xml" ContentType="application/vnd.openxmlformats-officedocument.presentationml.slide+xml"/>
  <Override PartName="/ppt/slides/slide118.xml" ContentType="application/vnd.openxmlformats-officedocument.presentationml.slide+xml"/>
  <Override PartName="/ppt/slides/slide119.xml" ContentType="application/vnd.openxmlformats-officedocument.presentationml.slide+xml"/>
  <Override PartName="/ppt/slides/slide12.xml" ContentType="application/vnd.openxmlformats-officedocument.presentationml.slide+xml"/>
  <Override PartName="/ppt/slides/slide120.xml" ContentType="application/vnd.openxmlformats-officedocument.presentationml.slide+xml"/>
  <Override PartName="/ppt/slides/slide121.xml" ContentType="application/vnd.openxmlformats-officedocument.presentationml.slide+xml"/>
  <Override PartName="/ppt/slides/slide122.xml" ContentType="application/vnd.openxmlformats-officedocument.presentationml.slide+xml"/>
  <Override PartName="/ppt/slides/slide123.xml" ContentType="application/vnd.openxmlformats-officedocument.presentationml.slide+xml"/>
  <Override PartName="/ppt/slides/slide124.xml" ContentType="application/vnd.openxmlformats-officedocument.presentationml.slide+xml"/>
  <Override PartName="/ppt/slides/slide125.xml" ContentType="application/vnd.openxmlformats-officedocument.presentationml.slide+xml"/>
  <Override PartName="/ppt/slides/slide126.xml" ContentType="application/vnd.openxmlformats-officedocument.presentationml.slide+xml"/>
  <Override PartName="/ppt/slides/slide127.xml" ContentType="application/vnd.openxmlformats-officedocument.presentationml.slide+xml"/>
  <Override PartName="/ppt/slides/slide128.xml" ContentType="application/vnd.openxmlformats-officedocument.presentationml.slide+xml"/>
  <Override PartName="/ppt/slides/slide129.xml" ContentType="application/vnd.openxmlformats-officedocument.presentationml.slide+xml"/>
  <Override PartName="/ppt/slides/slide13.xml" ContentType="application/vnd.openxmlformats-officedocument.presentationml.slide+xml"/>
  <Override PartName="/ppt/slides/slide130.xml" ContentType="application/vnd.openxmlformats-officedocument.presentationml.slide+xml"/>
  <Override PartName="/ppt/slides/slide131.xml" ContentType="application/vnd.openxmlformats-officedocument.presentationml.slide+xml"/>
  <Override PartName="/ppt/slides/slide132.xml" ContentType="application/vnd.openxmlformats-officedocument.presentationml.slide+xml"/>
  <Override PartName="/ppt/slides/slide133.xml" ContentType="application/vnd.openxmlformats-officedocument.presentationml.slide+xml"/>
  <Override PartName="/ppt/slides/slide134.xml" ContentType="application/vnd.openxmlformats-officedocument.presentationml.slide+xml"/>
  <Override PartName="/ppt/slides/slide135.xml" ContentType="application/vnd.openxmlformats-officedocument.presentationml.slide+xml"/>
  <Override PartName="/ppt/slides/slide136.xml" ContentType="application/vnd.openxmlformats-officedocument.presentationml.slide+xml"/>
  <Override PartName="/ppt/slides/slide137.xml" ContentType="application/vnd.openxmlformats-officedocument.presentationml.slide+xml"/>
  <Override PartName="/ppt/slides/slide138.xml" ContentType="application/vnd.openxmlformats-officedocument.presentationml.slide+xml"/>
  <Override PartName="/ppt/slides/slide139.xml" ContentType="application/vnd.openxmlformats-officedocument.presentationml.slide+xml"/>
  <Override PartName="/ppt/slides/slide14.xml" ContentType="application/vnd.openxmlformats-officedocument.presentationml.slide+xml"/>
  <Override PartName="/ppt/slides/slide140.xml" ContentType="application/vnd.openxmlformats-officedocument.presentationml.slide+xml"/>
  <Override PartName="/ppt/slides/slide141.xml" ContentType="application/vnd.openxmlformats-officedocument.presentationml.slide+xml"/>
  <Override PartName="/ppt/slides/slide142.xml" ContentType="application/vnd.openxmlformats-officedocument.presentationml.slide+xml"/>
  <Override PartName="/ppt/slides/slide143.xml" ContentType="application/vnd.openxmlformats-officedocument.presentationml.slide+xml"/>
  <Override PartName="/ppt/slides/slide144.xml" ContentType="application/vnd.openxmlformats-officedocument.presentationml.slide+xml"/>
  <Override PartName="/ppt/slides/slide145.xml" ContentType="application/vnd.openxmlformats-officedocument.presentationml.slide+xml"/>
  <Override PartName="/ppt/slides/slide146.xml" ContentType="application/vnd.openxmlformats-officedocument.presentationml.slide+xml"/>
  <Override PartName="/ppt/slides/slide147.xml" ContentType="application/vnd.openxmlformats-officedocument.presentationml.slide+xml"/>
  <Override PartName="/ppt/slides/slide148.xml" ContentType="application/vnd.openxmlformats-officedocument.presentationml.slide+xml"/>
  <Override PartName="/ppt/slides/slide149.xml" ContentType="application/vnd.openxmlformats-officedocument.presentationml.slide+xml"/>
  <Override PartName="/ppt/slides/slide15.xml" ContentType="application/vnd.openxmlformats-officedocument.presentationml.slide+xml"/>
  <Override PartName="/ppt/slides/slide150.xml" ContentType="application/vnd.openxmlformats-officedocument.presentationml.slide+xml"/>
  <Override PartName="/ppt/slides/slide151.xml" ContentType="application/vnd.openxmlformats-officedocument.presentationml.slide+xml"/>
  <Override PartName="/ppt/slides/slide152.xml" ContentType="application/vnd.openxmlformats-officedocument.presentationml.slide+xml"/>
  <Override PartName="/ppt/slides/slide153.xml" ContentType="application/vnd.openxmlformats-officedocument.presentationml.slide+xml"/>
  <Override PartName="/ppt/slides/slide154.xml" ContentType="application/vnd.openxmlformats-officedocument.presentationml.slide+xml"/>
  <Override PartName="/ppt/slides/slide155.xml" ContentType="application/vnd.openxmlformats-officedocument.presentationml.slide+xml"/>
  <Override PartName="/ppt/slides/slide156.xml" ContentType="application/vnd.openxmlformats-officedocument.presentationml.slide+xml"/>
  <Override PartName="/ppt/slides/slide157.xml" ContentType="application/vnd.openxmlformats-officedocument.presentationml.slide+xml"/>
  <Override PartName="/ppt/slides/slide158.xml" ContentType="application/vnd.openxmlformats-officedocument.presentationml.slide+xml"/>
  <Override PartName="/ppt/slides/slide159.xml" ContentType="application/vnd.openxmlformats-officedocument.presentationml.slide+xml"/>
  <Override PartName="/ppt/slides/slide16.xml" ContentType="application/vnd.openxmlformats-officedocument.presentationml.slide+xml"/>
  <Override PartName="/ppt/slides/slide160.xml" ContentType="application/vnd.openxmlformats-officedocument.presentationml.slide+xml"/>
  <Override PartName="/ppt/slides/slide161.xml" ContentType="application/vnd.openxmlformats-officedocument.presentationml.slide+xml"/>
  <Override PartName="/ppt/slides/slide162.xml" ContentType="application/vnd.openxmlformats-officedocument.presentationml.slide+xml"/>
  <Override PartName="/ppt/slides/slide163.xml" ContentType="application/vnd.openxmlformats-officedocument.presentationml.slide+xml"/>
  <Override PartName="/ppt/slides/slide164.xml" ContentType="application/vnd.openxmlformats-officedocument.presentationml.slide+xml"/>
  <Override PartName="/ppt/slides/slide165.xml" ContentType="application/vnd.openxmlformats-officedocument.presentationml.slide+xml"/>
  <Override PartName="/ppt/slides/slide166.xml" ContentType="application/vnd.openxmlformats-officedocument.presentationml.slide+xml"/>
  <Override PartName="/ppt/slides/slide167.xml" ContentType="application/vnd.openxmlformats-officedocument.presentationml.slide+xml"/>
  <Override PartName="/ppt/slides/slide168.xml" ContentType="application/vnd.openxmlformats-officedocument.presentationml.slide+xml"/>
  <Override PartName="/ppt/slides/slide169.xml" ContentType="application/vnd.openxmlformats-officedocument.presentationml.slide+xml"/>
  <Override PartName="/ppt/slides/slide17.xml" ContentType="application/vnd.openxmlformats-officedocument.presentationml.slide+xml"/>
  <Override PartName="/ppt/slides/slide170.xml" ContentType="application/vnd.openxmlformats-officedocument.presentationml.slide+xml"/>
  <Override PartName="/ppt/slides/slide171.xml" ContentType="application/vnd.openxmlformats-officedocument.presentationml.slide+xml"/>
  <Override PartName="/ppt/slides/slide172.xml" ContentType="application/vnd.openxmlformats-officedocument.presentationml.slide+xml"/>
  <Override PartName="/ppt/slides/slide173.xml" ContentType="application/vnd.openxmlformats-officedocument.presentationml.slide+xml"/>
  <Override PartName="/ppt/slides/slide174.xml" ContentType="application/vnd.openxmlformats-officedocument.presentationml.slide+xml"/>
  <Override PartName="/ppt/slides/slide175.xml" ContentType="application/vnd.openxmlformats-officedocument.presentationml.slide+xml"/>
  <Override PartName="/ppt/slides/slide176.xml" ContentType="application/vnd.openxmlformats-officedocument.presentationml.slide+xml"/>
  <Override PartName="/ppt/slides/slide177.xml" ContentType="application/vnd.openxmlformats-officedocument.presentationml.slide+xml"/>
  <Override PartName="/ppt/slides/slide178.xml" ContentType="application/vnd.openxmlformats-officedocument.presentationml.slide+xml"/>
  <Override PartName="/ppt/slides/slide179.xml" ContentType="application/vnd.openxmlformats-officedocument.presentationml.slide+xml"/>
  <Override PartName="/ppt/slides/slide18.xml" ContentType="application/vnd.openxmlformats-officedocument.presentationml.slide+xml"/>
  <Override PartName="/ppt/slides/slide180.xml" ContentType="application/vnd.openxmlformats-officedocument.presentationml.slide+xml"/>
  <Override PartName="/ppt/slides/slide181.xml" ContentType="application/vnd.openxmlformats-officedocument.presentationml.slide+xml"/>
  <Override PartName="/ppt/slides/slide182.xml" ContentType="application/vnd.openxmlformats-officedocument.presentationml.slide+xml"/>
  <Override PartName="/ppt/slides/slide183.xml" ContentType="application/vnd.openxmlformats-officedocument.presentationml.slide+xml"/>
  <Override PartName="/ppt/slides/slide184.xml" ContentType="application/vnd.openxmlformats-officedocument.presentationml.slide+xml"/>
  <Override PartName="/ppt/slides/slide185.xml" ContentType="application/vnd.openxmlformats-officedocument.presentationml.slide+xml"/>
  <Override PartName="/ppt/slides/slide186.xml" ContentType="application/vnd.openxmlformats-officedocument.presentationml.slide+xml"/>
  <Override PartName="/ppt/slides/slide187.xml" ContentType="application/vnd.openxmlformats-officedocument.presentationml.slide+xml"/>
  <Override PartName="/ppt/slides/slide188.xml" ContentType="application/vnd.openxmlformats-officedocument.presentationml.slide+xml"/>
  <Override PartName="/ppt/slides/slide189.xml" ContentType="application/vnd.openxmlformats-officedocument.presentationml.slide+xml"/>
  <Override PartName="/ppt/slides/slide19.xml" ContentType="application/vnd.openxmlformats-officedocument.presentationml.slide+xml"/>
  <Override PartName="/ppt/slides/slide190.xml" ContentType="application/vnd.openxmlformats-officedocument.presentationml.slide+xml"/>
  <Override PartName="/ppt/slides/slide191.xml" ContentType="application/vnd.openxmlformats-officedocument.presentationml.slide+xml"/>
  <Override PartName="/ppt/slides/slide192.xml" ContentType="application/vnd.openxmlformats-officedocument.presentationml.slide+xml"/>
  <Override PartName="/ppt/slides/slide193.xml" ContentType="application/vnd.openxmlformats-officedocument.presentationml.slide+xml"/>
  <Override PartName="/ppt/slides/slide194.xml" ContentType="application/vnd.openxmlformats-officedocument.presentationml.slide+xml"/>
  <Override PartName="/ppt/slides/slide195.xml" ContentType="application/vnd.openxmlformats-officedocument.presentationml.slide+xml"/>
  <Override PartName="/ppt/slides/slide196.xml" ContentType="application/vnd.openxmlformats-officedocument.presentationml.slide+xml"/>
  <Override PartName="/ppt/slides/slide197.xml" ContentType="application/vnd.openxmlformats-officedocument.presentationml.slide+xml"/>
  <Override PartName="/ppt/slides/slide198.xml" ContentType="application/vnd.openxmlformats-officedocument.presentationml.slide+xml"/>
  <Override PartName="/ppt/slides/slide19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00.xml" ContentType="application/vnd.openxmlformats-officedocument.presentationml.slide+xml"/>
  <Override PartName="/ppt/slides/slide201.xml" ContentType="application/vnd.openxmlformats-officedocument.presentationml.slide+xml"/>
  <Override PartName="/ppt/slides/slide202.xml" ContentType="application/vnd.openxmlformats-officedocument.presentationml.slide+xml"/>
  <Override PartName="/ppt/slides/slide203.xml" ContentType="application/vnd.openxmlformats-officedocument.presentationml.slide+xml"/>
  <Override PartName="/ppt/slides/slide204.xml" ContentType="application/vnd.openxmlformats-officedocument.presentationml.slide+xml"/>
  <Override PartName="/ppt/slides/slide205.xml" ContentType="application/vnd.openxmlformats-officedocument.presentationml.slide+xml"/>
  <Override PartName="/ppt/slides/slide206.xml" ContentType="application/vnd.openxmlformats-officedocument.presentationml.slide+xml"/>
  <Override PartName="/ppt/slides/slide207.xml" ContentType="application/vnd.openxmlformats-officedocument.presentationml.slide+xml"/>
  <Override PartName="/ppt/slides/slide208.xml" ContentType="application/vnd.openxmlformats-officedocument.presentationml.slide+xml"/>
  <Override PartName="/ppt/slides/slide209.xml" ContentType="application/vnd.openxmlformats-officedocument.presentationml.slide+xml"/>
  <Override PartName="/ppt/slides/slide21.xml" ContentType="application/vnd.openxmlformats-officedocument.presentationml.slide+xml"/>
  <Override PartName="/ppt/slides/slide210.xml" ContentType="application/vnd.openxmlformats-officedocument.presentationml.slide+xml"/>
  <Override PartName="/ppt/slides/slide211.xml" ContentType="application/vnd.openxmlformats-officedocument.presentationml.slide+xml"/>
  <Override PartName="/ppt/slides/slide212.xml" ContentType="application/vnd.openxmlformats-officedocument.presentationml.slide+xml"/>
  <Override PartName="/ppt/slides/slide213.xml" ContentType="application/vnd.openxmlformats-officedocument.presentationml.slide+xml"/>
  <Override PartName="/ppt/slides/slide214.xml" ContentType="application/vnd.openxmlformats-officedocument.presentationml.slide+xml"/>
  <Override PartName="/ppt/slides/slide215.xml" ContentType="application/vnd.openxmlformats-officedocument.presentationml.slide+xml"/>
  <Override PartName="/ppt/slides/slide216.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 id="287" r:id="rId39"/>
    <p:sldId id="288" r:id="rId40"/>
    <p:sldId id="289" r:id="rId41"/>
    <p:sldId id="290" r:id="rId42"/>
    <p:sldId id="291" r:id="rId43"/>
    <p:sldId id="292" r:id="rId44"/>
    <p:sldId id="293" r:id="rId45"/>
    <p:sldId id="294" r:id="rId46"/>
    <p:sldId id="295" r:id="rId47"/>
    <p:sldId id="296" r:id="rId48"/>
    <p:sldId id="297" r:id="rId49"/>
    <p:sldId id="298" r:id="rId50"/>
    <p:sldId id="299" r:id="rId51"/>
    <p:sldId id="300" r:id="rId52"/>
    <p:sldId id="301" r:id="rId53"/>
    <p:sldId id="302" r:id="rId54"/>
    <p:sldId id="303" r:id="rId55"/>
    <p:sldId id="304" r:id="rId56"/>
    <p:sldId id="305" r:id="rId57"/>
    <p:sldId id="306" r:id="rId58"/>
    <p:sldId id="307" r:id="rId59"/>
    <p:sldId id="308" r:id="rId60"/>
    <p:sldId id="309" r:id="rId61"/>
    <p:sldId id="310" r:id="rId62"/>
    <p:sldId id="311" r:id="rId63"/>
    <p:sldId id="312" r:id="rId64"/>
    <p:sldId id="313" r:id="rId65"/>
    <p:sldId id="314" r:id="rId66"/>
    <p:sldId id="315" r:id="rId67"/>
    <p:sldId id="316" r:id="rId68"/>
    <p:sldId id="317" r:id="rId69"/>
    <p:sldId id="318" r:id="rId70"/>
    <p:sldId id="319" r:id="rId71"/>
    <p:sldId id="320" r:id="rId72"/>
    <p:sldId id="321" r:id="rId73"/>
    <p:sldId id="322" r:id="rId74"/>
    <p:sldId id="323" r:id="rId75"/>
    <p:sldId id="324" r:id="rId76"/>
    <p:sldId id="325" r:id="rId77"/>
    <p:sldId id="326" r:id="rId78"/>
    <p:sldId id="327" r:id="rId79"/>
    <p:sldId id="328" r:id="rId80"/>
    <p:sldId id="329" r:id="rId81"/>
    <p:sldId id="330" r:id="rId82"/>
    <p:sldId id="331" r:id="rId83"/>
    <p:sldId id="332" r:id="rId84"/>
    <p:sldId id="333" r:id="rId85"/>
    <p:sldId id="334" r:id="rId86"/>
    <p:sldId id="335" r:id="rId87"/>
    <p:sldId id="336" r:id="rId88"/>
    <p:sldId id="337" r:id="rId89"/>
    <p:sldId id="338" r:id="rId90"/>
    <p:sldId id="339" r:id="rId91"/>
    <p:sldId id="340" r:id="rId92"/>
    <p:sldId id="341" r:id="rId93"/>
    <p:sldId id="342" r:id="rId94"/>
    <p:sldId id="343" r:id="rId95"/>
    <p:sldId id="344" r:id="rId96"/>
    <p:sldId id="345" r:id="rId97"/>
    <p:sldId id="346" r:id="rId98"/>
    <p:sldId id="347" r:id="rId99"/>
    <p:sldId id="348" r:id="rId100"/>
    <p:sldId id="349" r:id="rId101"/>
    <p:sldId id="350" r:id="rId102"/>
    <p:sldId id="351" r:id="rId103"/>
    <p:sldId id="352" r:id="rId104"/>
    <p:sldId id="353" r:id="rId105"/>
    <p:sldId id="354" r:id="rId106"/>
    <p:sldId id="355" r:id="rId107"/>
    <p:sldId id="356" r:id="rId108"/>
    <p:sldId id="357" r:id="rId109"/>
    <p:sldId id="358" r:id="rId110"/>
    <p:sldId id="359" r:id="rId111"/>
    <p:sldId id="360" r:id="rId112"/>
    <p:sldId id="361" r:id="rId113"/>
    <p:sldId id="362" r:id="rId114"/>
    <p:sldId id="363" r:id="rId115"/>
    <p:sldId id="364" r:id="rId116"/>
    <p:sldId id="365" r:id="rId117"/>
    <p:sldId id="366" r:id="rId118"/>
    <p:sldId id="367" r:id="rId119"/>
    <p:sldId id="368" r:id="rId120"/>
    <p:sldId id="369" r:id="rId121"/>
    <p:sldId id="370" r:id="rId122"/>
    <p:sldId id="371" r:id="rId123"/>
    <p:sldId id="372" r:id="rId124"/>
    <p:sldId id="373" r:id="rId125"/>
    <p:sldId id="374" r:id="rId126"/>
    <p:sldId id="375" r:id="rId127"/>
    <p:sldId id="376" r:id="rId128"/>
    <p:sldId id="377" r:id="rId129"/>
    <p:sldId id="378" r:id="rId130"/>
    <p:sldId id="379" r:id="rId131"/>
    <p:sldId id="380" r:id="rId132"/>
    <p:sldId id="381" r:id="rId133"/>
    <p:sldId id="382" r:id="rId134"/>
    <p:sldId id="383" r:id="rId135"/>
    <p:sldId id="384" r:id="rId136"/>
    <p:sldId id="385" r:id="rId137"/>
    <p:sldId id="386" r:id="rId138"/>
    <p:sldId id="387" r:id="rId139"/>
    <p:sldId id="388" r:id="rId140"/>
    <p:sldId id="389" r:id="rId141"/>
    <p:sldId id="390" r:id="rId142"/>
    <p:sldId id="391" r:id="rId143"/>
    <p:sldId id="392" r:id="rId144"/>
    <p:sldId id="393" r:id="rId145"/>
    <p:sldId id="394" r:id="rId146"/>
    <p:sldId id="395" r:id="rId147"/>
    <p:sldId id="396" r:id="rId148"/>
    <p:sldId id="397" r:id="rId149"/>
    <p:sldId id="398" r:id="rId150"/>
    <p:sldId id="399" r:id="rId151"/>
    <p:sldId id="400" r:id="rId152"/>
    <p:sldId id="401" r:id="rId153"/>
    <p:sldId id="402" r:id="rId154"/>
    <p:sldId id="403" r:id="rId155"/>
    <p:sldId id="404" r:id="rId156"/>
    <p:sldId id="405" r:id="rId157"/>
    <p:sldId id="406" r:id="rId158"/>
    <p:sldId id="407" r:id="rId159"/>
    <p:sldId id="408" r:id="rId160"/>
    <p:sldId id="409" r:id="rId161"/>
    <p:sldId id="410" r:id="rId162"/>
    <p:sldId id="411" r:id="rId163"/>
    <p:sldId id="412" r:id="rId164"/>
    <p:sldId id="413" r:id="rId165"/>
    <p:sldId id="414" r:id="rId166"/>
    <p:sldId id="415" r:id="rId167"/>
    <p:sldId id="416" r:id="rId168"/>
    <p:sldId id="417" r:id="rId169"/>
    <p:sldId id="418" r:id="rId170"/>
    <p:sldId id="419" r:id="rId171"/>
    <p:sldId id="420" r:id="rId172"/>
    <p:sldId id="421" r:id="rId173"/>
    <p:sldId id="422" r:id="rId174"/>
    <p:sldId id="423" r:id="rId175"/>
    <p:sldId id="424" r:id="rId176"/>
    <p:sldId id="425" r:id="rId177"/>
    <p:sldId id="426" r:id="rId178"/>
    <p:sldId id="427" r:id="rId179"/>
    <p:sldId id="428" r:id="rId180"/>
    <p:sldId id="429" r:id="rId181"/>
    <p:sldId id="430" r:id="rId182"/>
    <p:sldId id="431" r:id="rId183"/>
    <p:sldId id="432" r:id="rId184"/>
    <p:sldId id="433" r:id="rId185"/>
    <p:sldId id="434" r:id="rId186"/>
    <p:sldId id="435" r:id="rId187"/>
    <p:sldId id="436" r:id="rId188"/>
    <p:sldId id="437" r:id="rId189"/>
    <p:sldId id="438" r:id="rId190"/>
    <p:sldId id="439" r:id="rId191"/>
    <p:sldId id="440" r:id="rId192"/>
    <p:sldId id="441" r:id="rId193"/>
    <p:sldId id="442" r:id="rId194"/>
    <p:sldId id="443" r:id="rId195"/>
    <p:sldId id="444" r:id="rId196"/>
    <p:sldId id="445" r:id="rId197"/>
    <p:sldId id="446" r:id="rId198"/>
    <p:sldId id="447" r:id="rId199"/>
    <p:sldId id="448" r:id="rId200"/>
    <p:sldId id="449" r:id="rId201"/>
    <p:sldId id="450" r:id="rId202"/>
    <p:sldId id="451" r:id="rId203"/>
    <p:sldId id="452" r:id="rId204"/>
    <p:sldId id="453" r:id="rId205"/>
    <p:sldId id="454" r:id="rId206"/>
    <p:sldId id="455" r:id="rId207"/>
    <p:sldId id="456" r:id="rId208"/>
    <p:sldId id="457" r:id="rId209"/>
    <p:sldId id="458" r:id="rId210"/>
    <p:sldId id="459" r:id="rId211"/>
    <p:sldId id="460" r:id="rId212"/>
    <p:sldId id="461" r:id="rId213"/>
    <p:sldId id="462" r:id="rId214"/>
    <p:sldId id="463" r:id="rId215"/>
    <p:sldId id="464" r:id="rId216"/>
    <p:sldId id="465" r:id="rId217"/>
    <p:sldId id="466" r:id="rId218"/>
    <p:sldId id="467" r:id="rId219"/>
    <p:sldId id="468" r:id="rId220"/>
    <p:sldId id="469" r:id="rId221"/>
    <p:sldId id="470" r:id="rId222"/>
    <p:sldId id="471" r:id="rId223"/>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notesMaster" Target="notesMasters/notesMaster1.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 Id="rId38" Type="http://schemas.openxmlformats.org/officeDocument/2006/relationships/slide" Target="slides/slide31.xml"/><Relationship Id="rId39" Type="http://schemas.openxmlformats.org/officeDocument/2006/relationships/slide" Target="slides/slide32.xml"/><Relationship Id="rId40" Type="http://schemas.openxmlformats.org/officeDocument/2006/relationships/slide" Target="slides/slide33.xml"/><Relationship Id="rId41" Type="http://schemas.openxmlformats.org/officeDocument/2006/relationships/slide" Target="slides/slide34.xml"/><Relationship Id="rId42" Type="http://schemas.openxmlformats.org/officeDocument/2006/relationships/slide" Target="slides/slide35.xml"/><Relationship Id="rId43" Type="http://schemas.openxmlformats.org/officeDocument/2006/relationships/slide" Target="slides/slide36.xml"/><Relationship Id="rId44" Type="http://schemas.openxmlformats.org/officeDocument/2006/relationships/slide" Target="slides/slide37.xml"/><Relationship Id="rId45" Type="http://schemas.openxmlformats.org/officeDocument/2006/relationships/slide" Target="slides/slide38.xml"/><Relationship Id="rId46" Type="http://schemas.openxmlformats.org/officeDocument/2006/relationships/slide" Target="slides/slide39.xml"/><Relationship Id="rId47" Type="http://schemas.openxmlformats.org/officeDocument/2006/relationships/slide" Target="slides/slide40.xml"/><Relationship Id="rId48" Type="http://schemas.openxmlformats.org/officeDocument/2006/relationships/slide" Target="slides/slide41.xml"/><Relationship Id="rId49" Type="http://schemas.openxmlformats.org/officeDocument/2006/relationships/slide" Target="slides/slide42.xml"/><Relationship Id="rId50" Type="http://schemas.openxmlformats.org/officeDocument/2006/relationships/slide" Target="slides/slide43.xml"/><Relationship Id="rId51" Type="http://schemas.openxmlformats.org/officeDocument/2006/relationships/slide" Target="slides/slide44.xml"/><Relationship Id="rId52" Type="http://schemas.openxmlformats.org/officeDocument/2006/relationships/slide" Target="slides/slide45.xml"/><Relationship Id="rId53" Type="http://schemas.openxmlformats.org/officeDocument/2006/relationships/slide" Target="slides/slide46.xml"/><Relationship Id="rId54" Type="http://schemas.openxmlformats.org/officeDocument/2006/relationships/slide" Target="slides/slide47.xml"/><Relationship Id="rId55" Type="http://schemas.openxmlformats.org/officeDocument/2006/relationships/slide" Target="slides/slide48.xml"/><Relationship Id="rId56" Type="http://schemas.openxmlformats.org/officeDocument/2006/relationships/slide" Target="slides/slide49.xml"/><Relationship Id="rId57" Type="http://schemas.openxmlformats.org/officeDocument/2006/relationships/slide" Target="slides/slide50.xml"/><Relationship Id="rId58" Type="http://schemas.openxmlformats.org/officeDocument/2006/relationships/slide" Target="slides/slide51.xml"/><Relationship Id="rId59" Type="http://schemas.openxmlformats.org/officeDocument/2006/relationships/slide" Target="slides/slide52.xml"/><Relationship Id="rId60" Type="http://schemas.openxmlformats.org/officeDocument/2006/relationships/slide" Target="slides/slide53.xml"/><Relationship Id="rId61" Type="http://schemas.openxmlformats.org/officeDocument/2006/relationships/slide" Target="slides/slide54.xml"/><Relationship Id="rId62" Type="http://schemas.openxmlformats.org/officeDocument/2006/relationships/slide" Target="slides/slide55.xml"/><Relationship Id="rId63" Type="http://schemas.openxmlformats.org/officeDocument/2006/relationships/slide" Target="slides/slide56.xml"/><Relationship Id="rId64" Type="http://schemas.openxmlformats.org/officeDocument/2006/relationships/slide" Target="slides/slide57.xml"/><Relationship Id="rId65" Type="http://schemas.openxmlformats.org/officeDocument/2006/relationships/slide" Target="slides/slide58.xml"/><Relationship Id="rId66" Type="http://schemas.openxmlformats.org/officeDocument/2006/relationships/slide" Target="slides/slide59.xml"/><Relationship Id="rId67" Type="http://schemas.openxmlformats.org/officeDocument/2006/relationships/slide" Target="slides/slide60.xml"/><Relationship Id="rId68" Type="http://schemas.openxmlformats.org/officeDocument/2006/relationships/slide" Target="slides/slide61.xml"/><Relationship Id="rId69" Type="http://schemas.openxmlformats.org/officeDocument/2006/relationships/slide" Target="slides/slide62.xml"/><Relationship Id="rId70" Type="http://schemas.openxmlformats.org/officeDocument/2006/relationships/slide" Target="slides/slide63.xml"/><Relationship Id="rId71" Type="http://schemas.openxmlformats.org/officeDocument/2006/relationships/slide" Target="slides/slide64.xml"/><Relationship Id="rId72" Type="http://schemas.openxmlformats.org/officeDocument/2006/relationships/slide" Target="slides/slide65.xml"/><Relationship Id="rId73" Type="http://schemas.openxmlformats.org/officeDocument/2006/relationships/slide" Target="slides/slide66.xml"/><Relationship Id="rId74" Type="http://schemas.openxmlformats.org/officeDocument/2006/relationships/slide" Target="slides/slide67.xml"/><Relationship Id="rId75" Type="http://schemas.openxmlformats.org/officeDocument/2006/relationships/slide" Target="slides/slide68.xml"/><Relationship Id="rId76" Type="http://schemas.openxmlformats.org/officeDocument/2006/relationships/slide" Target="slides/slide69.xml"/><Relationship Id="rId77" Type="http://schemas.openxmlformats.org/officeDocument/2006/relationships/slide" Target="slides/slide70.xml"/><Relationship Id="rId78" Type="http://schemas.openxmlformats.org/officeDocument/2006/relationships/slide" Target="slides/slide71.xml"/><Relationship Id="rId79" Type="http://schemas.openxmlformats.org/officeDocument/2006/relationships/slide" Target="slides/slide72.xml"/><Relationship Id="rId80" Type="http://schemas.openxmlformats.org/officeDocument/2006/relationships/slide" Target="slides/slide73.xml"/><Relationship Id="rId81" Type="http://schemas.openxmlformats.org/officeDocument/2006/relationships/slide" Target="slides/slide74.xml"/><Relationship Id="rId82" Type="http://schemas.openxmlformats.org/officeDocument/2006/relationships/slide" Target="slides/slide75.xml"/><Relationship Id="rId83" Type="http://schemas.openxmlformats.org/officeDocument/2006/relationships/slide" Target="slides/slide76.xml"/><Relationship Id="rId84" Type="http://schemas.openxmlformats.org/officeDocument/2006/relationships/slide" Target="slides/slide77.xml"/><Relationship Id="rId85" Type="http://schemas.openxmlformats.org/officeDocument/2006/relationships/slide" Target="slides/slide78.xml"/><Relationship Id="rId86" Type="http://schemas.openxmlformats.org/officeDocument/2006/relationships/slide" Target="slides/slide79.xml"/><Relationship Id="rId87" Type="http://schemas.openxmlformats.org/officeDocument/2006/relationships/slide" Target="slides/slide80.xml"/><Relationship Id="rId88" Type="http://schemas.openxmlformats.org/officeDocument/2006/relationships/slide" Target="slides/slide81.xml"/><Relationship Id="rId89" Type="http://schemas.openxmlformats.org/officeDocument/2006/relationships/slide" Target="slides/slide82.xml"/><Relationship Id="rId90" Type="http://schemas.openxmlformats.org/officeDocument/2006/relationships/slide" Target="slides/slide83.xml"/><Relationship Id="rId91" Type="http://schemas.openxmlformats.org/officeDocument/2006/relationships/slide" Target="slides/slide84.xml"/><Relationship Id="rId92" Type="http://schemas.openxmlformats.org/officeDocument/2006/relationships/slide" Target="slides/slide85.xml"/><Relationship Id="rId93" Type="http://schemas.openxmlformats.org/officeDocument/2006/relationships/slide" Target="slides/slide86.xml"/><Relationship Id="rId94" Type="http://schemas.openxmlformats.org/officeDocument/2006/relationships/slide" Target="slides/slide87.xml"/><Relationship Id="rId95" Type="http://schemas.openxmlformats.org/officeDocument/2006/relationships/slide" Target="slides/slide88.xml"/><Relationship Id="rId96" Type="http://schemas.openxmlformats.org/officeDocument/2006/relationships/slide" Target="slides/slide89.xml"/><Relationship Id="rId97" Type="http://schemas.openxmlformats.org/officeDocument/2006/relationships/slide" Target="slides/slide90.xml"/><Relationship Id="rId98" Type="http://schemas.openxmlformats.org/officeDocument/2006/relationships/slide" Target="slides/slide91.xml"/><Relationship Id="rId99" Type="http://schemas.openxmlformats.org/officeDocument/2006/relationships/slide" Target="slides/slide92.xml"/><Relationship Id="rId100" Type="http://schemas.openxmlformats.org/officeDocument/2006/relationships/slide" Target="slides/slide93.xml"/><Relationship Id="rId101" Type="http://schemas.openxmlformats.org/officeDocument/2006/relationships/slide" Target="slides/slide94.xml"/><Relationship Id="rId102" Type="http://schemas.openxmlformats.org/officeDocument/2006/relationships/slide" Target="slides/slide95.xml"/><Relationship Id="rId103" Type="http://schemas.openxmlformats.org/officeDocument/2006/relationships/slide" Target="slides/slide96.xml"/><Relationship Id="rId104" Type="http://schemas.openxmlformats.org/officeDocument/2006/relationships/slide" Target="slides/slide97.xml"/><Relationship Id="rId105" Type="http://schemas.openxmlformats.org/officeDocument/2006/relationships/slide" Target="slides/slide98.xml"/><Relationship Id="rId106" Type="http://schemas.openxmlformats.org/officeDocument/2006/relationships/slide" Target="slides/slide99.xml"/><Relationship Id="rId107" Type="http://schemas.openxmlformats.org/officeDocument/2006/relationships/slide" Target="slides/slide100.xml"/><Relationship Id="rId108" Type="http://schemas.openxmlformats.org/officeDocument/2006/relationships/slide" Target="slides/slide101.xml"/><Relationship Id="rId109" Type="http://schemas.openxmlformats.org/officeDocument/2006/relationships/slide" Target="slides/slide102.xml"/><Relationship Id="rId110" Type="http://schemas.openxmlformats.org/officeDocument/2006/relationships/slide" Target="slides/slide103.xml"/><Relationship Id="rId111" Type="http://schemas.openxmlformats.org/officeDocument/2006/relationships/slide" Target="slides/slide104.xml"/><Relationship Id="rId112" Type="http://schemas.openxmlformats.org/officeDocument/2006/relationships/slide" Target="slides/slide105.xml"/><Relationship Id="rId113" Type="http://schemas.openxmlformats.org/officeDocument/2006/relationships/slide" Target="slides/slide106.xml"/><Relationship Id="rId114" Type="http://schemas.openxmlformats.org/officeDocument/2006/relationships/slide" Target="slides/slide107.xml"/><Relationship Id="rId115" Type="http://schemas.openxmlformats.org/officeDocument/2006/relationships/slide" Target="slides/slide108.xml"/><Relationship Id="rId116" Type="http://schemas.openxmlformats.org/officeDocument/2006/relationships/slide" Target="slides/slide109.xml"/><Relationship Id="rId117" Type="http://schemas.openxmlformats.org/officeDocument/2006/relationships/slide" Target="slides/slide110.xml"/><Relationship Id="rId118" Type="http://schemas.openxmlformats.org/officeDocument/2006/relationships/slide" Target="slides/slide111.xml"/><Relationship Id="rId119" Type="http://schemas.openxmlformats.org/officeDocument/2006/relationships/slide" Target="slides/slide112.xml"/><Relationship Id="rId120" Type="http://schemas.openxmlformats.org/officeDocument/2006/relationships/slide" Target="slides/slide113.xml"/><Relationship Id="rId121" Type="http://schemas.openxmlformats.org/officeDocument/2006/relationships/slide" Target="slides/slide114.xml"/><Relationship Id="rId122" Type="http://schemas.openxmlformats.org/officeDocument/2006/relationships/slide" Target="slides/slide115.xml"/><Relationship Id="rId123" Type="http://schemas.openxmlformats.org/officeDocument/2006/relationships/slide" Target="slides/slide116.xml"/><Relationship Id="rId124" Type="http://schemas.openxmlformats.org/officeDocument/2006/relationships/slide" Target="slides/slide117.xml"/><Relationship Id="rId125" Type="http://schemas.openxmlformats.org/officeDocument/2006/relationships/slide" Target="slides/slide118.xml"/><Relationship Id="rId126" Type="http://schemas.openxmlformats.org/officeDocument/2006/relationships/slide" Target="slides/slide119.xml"/><Relationship Id="rId127" Type="http://schemas.openxmlformats.org/officeDocument/2006/relationships/slide" Target="slides/slide120.xml"/><Relationship Id="rId128" Type="http://schemas.openxmlformats.org/officeDocument/2006/relationships/slide" Target="slides/slide121.xml"/><Relationship Id="rId129" Type="http://schemas.openxmlformats.org/officeDocument/2006/relationships/slide" Target="slides/slide122.xml"/><Relationship Id="rId130" Type="http://schemas.openxmlformats.org/officeDocument/2006/relationships/slide" Target="slides/slide123.xml"/><Relationship Id="rId131" Type="http://schemas.openxmlformats.org/officeDocument/2006/relationships/slide" Target="slides/slide124.xml"/><Relationship Id="rId132" Type="http://schemas.openxmlformats.org/officeDocument/2006/relationships/slide" Target="slides/slide125.xml"/><Relationship Id="rId133" Type="http://schemas.openxmlformats.org/officeDocument/2006/relationships/slide" Target="slides/slide126.xml"/><Relationship Id="rId134" Type="http://schemas.openxmlformats.org/officeDocument/2006/relationships/slide" Target="slides/slide127.xml"/><Relationship Id="rId135" Type="http://schemas.openxmlformats.org/officeDocument/2006/relationships/slide" Target="slides/slide128.xml"/><Relationship Id="rId136" Type="http://schemas.openxmlformats.org/officeDocument/2006/relationships/slide" Target="slides/slide129.xml"/><Relationship Id="rId137" Type="http://schemas.openxmlformats.org/officeDocument/2006/relationships/slide" Target="slides/slide130.xml"/><Relationship Id="rId138" Type="http://schemas.openxmlformats.org/officeDocument/2006/relationships/slide" Target="slides/slide131.xml"/><Relationship Id="rId139" Type="http://schemas.openxmlformats.org/officeDocument/2006/relationships/slide" Target="slides/slide132.xml"/><Relationship Id="rId140" Type="http://schemas.openxmlformats.org/officeDocument/2006/relationships/slide" Target="slides/slide133.xml"/><Relationship Id="rId141" Type="http://schemas.openxmlformats.org/officeDocument/2006/relationships/slide" Target="slides/slide134.xml"/><Relationship Id="rId142" Type="http://schemas.openxmlformats.org/officeDocument/2006/relationships/slide" Target="slides/slide135.xml"/><Relationship Id="rId143" Type="http://schemas.openxmlformats.org/officeDocument/2006/relationships/slide" Target="slides/slide136.xml"/><Relationship Id="rId144" Type="http://schemas.openxmlformats.org/officeDocument/2006/relationships/slide" Target="slides/slide137.xml"/><Relationship Id="rId145" Type="http://schemas.openxmlformats.org/officeDocument/2006/relationships/slide" Target="slides/slide138.xml"/><Relationship Id="rId146" Type="http://schemas.openxmlformats.org/officeDocument/2006/relationships/slide" Target="slides/slide139.xml"/><Relationship Id="rId147" Type="http://schemas.openxmlformats.org/officeDocument/2006/relationships/slide" Target="slides/slide140.xml"/><Relationship Id="rId148" Type="http://schemas.openxmlformats.org/officeDocument/2006/relationships/slide" Target="slides/slide141.xml"/><Relationship Id="rId149" Type="http://schemas.openxmlformats.org/officeDocument/2006/relationships/slide" Target="slides/slide142.xml"/><Relationship Id="rId150" Type="http://schemas.openxmlformats.org/officeDocument/2006/relationships/slide" Target="slides/slide143.xml"/><Relationship Id="rId151" Type="http://schemas.openxmlformats.org/officeDocument/2006/relationships/slide" Target="slides/slide144.xml"/><Relationship Id="rId152" Type="http://schemas.openxmlformats.org/officeDocument/2006/relationships/slide" Target="slides/slide145.xml"/><Relationship Id="rId153" Type="http://schemas.openxmlformats.org/officeDocument/2006/relationships/slide" Target="slides/slide146.xml"/><Relationship Id="rId154" Type="http://schemas.openxmlformats.org/officeDocument/2006/relationships/slide" Target="slides/slide147.xml"/><Relationship Id="rId155" Type="http://schemas.openxmlformats.org/officeDocument/2006/relationships/slide" Target="slides/slide148.xml"/><Relationship Id="rId156" Type="http://schemas.openxmlformats.org/officeDocument/2006/relationships/slide" Target="slides/slide149.xml"/><Relationship Id="rId157" Type="http://schemas.openxmlformats.org/officeDocument/2006/relationships/slide" Target="slides/slide150.xml"/><Relationship Id="rId158" Type="http://schemas.openxmlformats.org/officeDocument/2006/relationships/slide" Target="slides/slide151.xml"/><Relationship Id="rId159" Type="http://schemas.openxmlformats.org/officeDocument/2006/relationships/slide" Target="slides/slide152.xml"/><Relationship Id="rId160" Type="http://schemas.openxmlformats.org/officeDocument/2006/relationships/slide" Target="slides/slide153.xml"/><Relationship Id="rId161" Type="http://schemas.openxmlformats.org/officeDocument/2006/relationships/slide" Target="slides/slide154.xml"/><Relationship Id="rId162" Type="http://schemas.openxmlformats.org/officeDocument/2006/relationships/slide" Target="slides/slide155.xml"/><Relationship Id="rId163" Type="http://schemas.openxmlformats.org/officeDocument/2006/relationships/slide" Target="slides/slide156.xml"/><Relationship Id="rId164" Type="http://schemas.openxmlformats.org/officeDocument/2006/relationships/slide" Target="slides/slide157.xml"/><Relationship Id="rId165" Type="http://schemas.openxmlformats.org/officeDocument/2006/relationships/slide" Target="slides/slide158.xml"/><Relationship Id="rId166" Type="http://schemas.openxmlformats.org/officeDocument/2006/relationships/slide" Target="slides/slide159.xml"/><Relationship Id="rId167" Type="http://schemas.openxmlformats.org/officeDocument/2006/relationships/slide" Target="slides/slide160.xml"/><Relationship Id="rId168" Type="http://schemas.openxmlformats.org/officeDocument/2006/relationships/slide" Target="slides/slide161.xml"/><Relationship Id="rId169" Type="http://schemas.openxmlformats.org/officeDocument/2006/relationships/slide" Target="slides/slide162.xml"/><Relationship Id="rId170" Type="http://schemas.openxmlformats.org/officeDocument/2006/relationships/slide" Target="slides/slide163.xml"/><Relationship Id="rId171" Type="http://schemas.openxmlformats.org/officeDocument/2006/relationships/slide" Target="slides/slide164.xml"/><Relationship Id="rId172" Type="http://schemas.openxmlformats.org/officeDocument/2006/relationships/slide" Target="slides/slide165.xml"/><Relationship Id="rId173" Type="http://schemas.openxmlformats.org/officeDocument/2006/relationships/slide" Target="slides/slide166.xml"/><Relationship Id="rId174" Type="http://schemas.openxmlformats.org/officeDocument/2006/relationships/slide" Target="slides/slide167.xml"/><Relationship Id="rId175" Type="http://schemas.openxmlformats.org/officeDocument/2006/relationships/slide" Target="slides/slide168.xml"/><Relationship Id="rId176" Type="http://schemas.openxmlformats.org/officeDocument/2006/relationships/slide" Target="slides/slide169.xml"/><Relationship Id="rId177" Type="http://schemas.openxmlformats.org/officeDocument/2006/relationships/slide" Target="slides/slide170.xml"/><Relationship Id="rId178" Type="http://schemas.openxmlformats.org/officeDocument/2006/relationships/slide" Target="slides/slide171.xml"/><Relationship Id="rId179" Type="http://schemas.openxmlformats.org/officeDocument/2006/relationships/slide" Target="slides/slide172.xml"/><Relationship Id="rId180" Type="http://schemas.openxmlformats.org/officeDocument/2006/relationships/slide" Target="slides/slide173.xml"/><Relationship Id="rId181" Type="http://schemas.openxmlformats.org/officeDocument/2006/relationships/slide" Target="slides/slide174.xml"/><Relationship Id="rId182" Type="http://schemas.openxmlformats.org/officeDocument/2006/relationships/slide" Target="slides/slide175.xml"/><Relationship Id="rId183" Type="http://schemas.openxmlformats.org/officeDocument/2006/relationships/slide" Target="slides/slide176.xml"/><Relationship Id="rId184" Type="http://schemas.openxmlformats.org/officeDocument/2006/relationships/slide" Target="slides/slide177.xml"/><Relationship Id="rId185" Type="http://schemas.openxmlformats.org/officeDocument/2006/relationships/slide" Target="slides/slide178.xml"/><Relationship Id="rId186" Type="http://schemas.openxmlformats.org/officeDocument/2006/relationships/slide" Target="slides/slide179.xml"/><Relationship Id="rId187" Type="http://schemas.openxmlformats.org/officeDocument/2006/relationships/slide" Target="slides/slide180.xml"/><Relationship Id="rId188" Type="http://schemas.openxmlformats.org/officeDocument/2006/relationships/slide" Target="slides/slide181.xml"/><Relationship Id="rId189" Type="http://schemas.openxmlformats.org/officeDocument/2006/relationships/slide" Target="slides/slide182.xml"/><Relationship Id="rId190" Type="http://schemas.openxmlformats.org/officeDocument/2006/relationships/slide" Target="slides/slide183.xml"/><Relationship Id="rId191" Type="http://schemas.openxmlformats.org/officeDocument/2006/relationships/slide" Target="slides/slide184.xml"/><Relationship Id="rId192" Type="http://schemas.openxmlformats.org/officeDocument/2006/relationships/slide" Target="slides/slide185.xml"/><Relationship Id="rId193" Type="http://schemas.openxmlformats.org/officeDocument/2006/relationships/slide" Target="slides/slide186.xml"/><Relationship Id="rId194" Type="http://schemas.openxmlformats.org/officeDocument/2006/relationships/slide" Target="slides/slide187.xml"/><Relationship Id="rId195" Type="http://schemas.openxmlformats.org/officeDocument/2006/relationships/slide" Target="slides/slide188.xml"/><Relationship Id="rId196" Type="http://schemas.openxmlformats.org/officeDocument/2006/relationships/slide" Target="slides/slide189.xml"/><Relationship Id="rId197" Type="http://schemas.openxmlformats.org/officeDocument/2006/relationships/slide" Target="slides/slide190.xml"/><Relationship Id="rId198" Type="http://schemas.openxmlformats.org/officeDocument/2006/relationships/slide" Target="slides/slide191.xml"/><Relationship Id="rId199" Type="http://schemas.openxmlformats.org/officeDocument/2006/relationships/slide" Target="slides/slide192.xml"/><Relationship Id="rId200" Type="http://schemas.openxmlformats.org/officeDocument/2006/relationships/slide" Target="slides/slide193.xml"/><Relationship Id="rId201" Type="http://schemas.openxmlformats.org/officeDocument/2006/relationships/slide" Target="slides/slide194.xml"/><Relationship Id="rId202" Type="http://schemas.openxmlformats.org/officeDocument/2006/relationships/slide" Target="slides/slide195.xml"/><Relationship Id="rId203" Type="http://schemas.openxmlformats.org/officeDocument/2006/relationships/slide" Target="slides/slide196.xml"/><Relationship Id="rId204" Type="http://schemas.openxmlformats.org/officeDocument/2006/relationships/slide" Target="slides/slide197.xml"/><Relationship Id="rId205" Type="http://schemas.openxmlformats.org/officeDocument/2006/relationships/slide" Target="slides/slide198.xml"/><Relationship Id="rId206" Type="http://schemas.openxmlformats.org/officeDocument/2006/relationships/slide" Target="slides/slide199.xml"/><Relationship Id="rId207" Type="http://schemas.openxmlformats.org/officeDocument/2006/relationships/slide" Target="slides/slide200.xml"/><Relationship Id="rId208" Type="http://schemas.openxmlformats.org/officeDocument/2006/relationships/slide" Target="slides/slide201.xml"/><Relationship Id="rId209" Type="http://schemas.openxmlformats.org/officeDocument/2006/relationships/slide" Target="slides/slide202.xml"/><Relationship Id="rId210" Type="http://schemas.openxmlformats.org/officeDocument/2006/relationships/slide" Target="slides/slide203.xml"/><Relationship Id="rId211" Type="http://schemas.openxmlformats.org/officeDocument/2006/relationships/slide" Target="slides/slide204.xml"/><Relationship Id="rId212" Type="http://schemas.openxmlformats.org/officeDocument/2006/relationships/slide" Target="slides/slide205.xml"/><Relationship Id="rId213" Type="http://schemas.openxmlformats.org/officeDocument/2006/relationships/slide" Target="slides/slide206.xml"/><Relationship Id="rId214" Type="http://schemas.openxmlformats.org/officeDocument/2006/relationships/slide" Target="slides/slide207.xml"/><Relationship Id="rId215" Type="http://schemas.openxmlformats.org/officeDocument/2006/relationships/slide" Target="slides/slide208.xml"/><Relationship Id="rId216" Type="http://schemas.openxmlformats.org/officeDocument/2006/relationships/slide" Target="slides/slide209.xml"/><Relationship Id="rId217" Type="http://schemas.openxmlformats.org/officeDocument/2006/relationships/slide" Target="slides/slide210.xml"/><Relationship Id="rId218" Type="http://schemas.openxmlformats.org/officeDocument/2006/relationships/slide" Target="slides/slide211.xml"/><Relationship Id="rId219" Type="http://schemas.openxmlformats.org/officeDocument/2006/relationships/slide" Target="slides/slide212.xml"/><Relationship Id="rId220" Type="http://schemas.openxmlformats.org/officeDocument/2006/relationships/slide" Target="slides/slide213.xml"/><Relationship Id="rId221" Type="http://schemas.openxmlformats.org/officeDocument/2006/relationships/slide" Target="slides/slide214.xml"/><Relationship Id="rId222" Type="http://schemas.openxmlformats.org/officeDocument/2006/relationships/slide" Target="slides/slide215.xml"/><Relationship Id="rId223" Type="http://schemas.openxmlformats.org/officeDocument/2006/relationships/slide" Target="slides/slide216.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2.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3.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4.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5.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6.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7.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8.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0.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1.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2.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3.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4.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5.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6.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7.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9.xml"/></Relationships>
</file>

<file path=ppt/notesSlides/_rels/notesSlide5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0.xml"/></Relationships>
</file>

<file path=ppt/notesSlides/_rels/notesSlide5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1.xml"/></Relationships>
</file>

<file path=ppt/notesSlides/_rels/notesSlide5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2.xml"/></Relationships>
</file>

<file path=ppt/notesSlides/_rels/notesSlide5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3.xml"/></Relationships>
</file>

<file path=ppt/notesSlides/_rels/notesSlide5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4.xml"/></Relationships>
</file>

<file path=ppt/notesSlides/_rels/notesSlide5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5.xml"/></Relationships>
</file>

<file path=ppt/notesSlides/_rels/notesSlide5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6.xml"/></Relationships>
</file>

<file path=ppt/notesSlides/_rels/notesSlide5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7.xml"/></Relationships>
</file>

<file path=ppt/notesSlides/_rels/notesSlide6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9.xml"/></Relationships>
</file>

<file path=ppt/notesSlides/_rels/notesSlide6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0.xml"/></Relationships>
</file>

<file path=ppt/notesSlides/_rels/notesSlide6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1.xml"/></Relationships>
</file>

<file path=ppt/notesSlides/_rels/notesSlide6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2.xml"/></Relationships>
</file>

<file path=ppt/notesSlides/_rels/notesSlide6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3.xml"/></Relationships>
</file>

<file path=ppt/notesSlides/_rels/notesSlide6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4.xml"/></Relationships>
</file>

<file path=ppt/notesSlides/_rels/notesSlide6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5.xml"/></Relationships>
</file>

<file path=ppt/notesSlides/_rels/notesSlide6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6.xml"/></Relationships>
</file>

<file path=ppt/notesSlides/_rels/notesSlide6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8.xml"/></Relationships>
</file>

<file path=ppt/notesSlides/_rels/notesSlide6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9.xml"/></Relationships>
</file>

<file path=ppt/notesSlides/_rels/notesSlide7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0.xml"/></Relationships>
</file>

<file path=ppt/notesSlides/_rels/notesSlide7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1.xml"/></Relationships>
</file>

<file path=ppt/notesSlides/_rels/notesSlide7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2.xml"/></Relationships>
</file>

<file path=ppt/notesSlides/_rels/notesSlide7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3.xml"/></Relationships>
</file>

<file path=ppt/notesSlides/_rels/notesSlide7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4.xml"/></Relationships>
</file>

<file path=ppt/notesSlides/_rels/notesSlide7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6.xml"/></Relationships>
</file>

<file path=ppt/notesSlides/_rels/notesSlide7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7.xml"/></Relationships>
</file>

<file path=ppt/notesSlides/_rels/notesSlide7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8.xml"/></Relationships>
</file>

<file path=ppt/notesSlides/_rels/notesSlide7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9.xml"/></Relationships>
</file>

<file path=ppt/notesSlides/_rels/notesSlide7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0.xml"/></Relationships>
</file>

<file path=ppt/notesSlides/_rels/notesSlide8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1.xml"/></Relationships>
</file>

<file path=ppt/notesSlides/_rels/notesSlide8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2.xml"/></Relationships>
</file>

<file path=ppt/notesSlides/_rels/notesSlide8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4.xml"/></Relationships>
</file>

<file path=ppt/notesSlides/_rels/notesSlide8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5.xml"/></Relationships>
</file>

<file path=ppt/notesSlides/_rels/notesSlide8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6.xml"/></Relationships>
</file>

<file path=ppt/notesSlides/_rels/notesSlide8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7.xml"/></Relationships>
</file>

<file path=ppt/notesSlides/_rels/notesSlide8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8.xml"/></Relationships>
</file>

<file path=ppt/notesSlides/_rels/notesSlide8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9.xml"/></Relationships>
</file>

<file path=ppt/notesSlides/_rels/notesSlide8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1.xml"/></Relationships>
</file>

<file path=ppt/notesSlides/_rels/notesSlide8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2.xml"/></Relationships>
</file>

<file path=ppt/notesSlides/_rels/notesSlide9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3.xml"/></Relationships>
</file>

<file path=ppt/notesSlides/_rels/notesSlide9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4.xml"/></Relationships>
</file>

<file path=ppt/notesSlides/_rels/notesSlide9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5.xml"/></Relationships>
</file>

<file path=ppt/notesSlides/_rels/notesSlide9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6.xml"/></Relationships>
</file>

<file path=ppt/notesSlides/_rels/notesSlide9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7.xml"/></Relationships>
</file>

<file path=ppt/notesSlides/_rels/notesSlide9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8.xml"/></Relationships>
</file>

<file path=ppt/notesSlides/_rels/notesSlide9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0.xml"/></Relationships>
</file>

<file path=ppt/notesSlides/_rels/notesSlide9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1.xml"/></Relationships>
</file>

<file path=ppt/notesSlides/_rels/notesSlide9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2.xml"/></Relationships>
</file>

<file path=ppt/notesSlides/_rels/notesSlide9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3.xml"/></Relationships>
</file>

<file path=ppt/notesSlides/_rels/notesSlide10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4.xml"/></Relationships>
</file>

<file path=ppt/notesSlides/_rels/notesSlide10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5.xml"/></Relationships>
</file>

<file path=ppt/notesSlides/_rels/notesSlide10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6.xml"/></Relationships>
</file>

<file path=ppt/notesSlides/_rels/notesSlide10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7.xml"/></Relationships>
</file>

<file path=ppt/notesSlides/_rels/notesSlide10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9.xml"/></Relationships>
</file>

<file path=ppt/notesSlides/_rels/notesSlide10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0.xml"/></Relationships>
</file>

<file path=ppt/notesSlides/_rels/notesSlide10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1.xml"/></Relationships>
</file>

<file path=ppt/notesSlides/_rels/notesSlide10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2.xml"/></Relationships>
</file>

<file path=ppt/notesSlides/_rels/notesSlide10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3.xml"/></Relationships>
</file>

<file path=ppt/notesSlides/_rels/notesSlide10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4.xml"/></Relationships>
</file>

<file path=ppt/notesSlides/_rels/notesSlide1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5.xml"/></Relationships>
</file>

<file path=ppt/notesSlides/_rels/notesSlide1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6.xml"/></Relationships>
</file>

<file path=ppt/notesSlides/_rels/notesSlide1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8.xml"/></Relationships>
</file>

<file path=ppt/notesSlides/_rels/notesSlide1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9.xml"/></Relationships>
</file>

<file path=ppt/notesSlides/_rels/notesSlide1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0.xml"/></Relationships>
</file>

<file path=ppt/notesSlides/_rels/notesSlide1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1.xml"/></Relationships>
</file>

<file path=ppt/notesSlides/_rels/notesSlide1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2.xml"/></Relationships>
</file>

<file path=ppt/notesSlides/_rels/notesSlide1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3.xml"/></Relationships>
</file>

<file path=ppt/notesSlides/_rels/notesSlide1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4.xml"/></Relationships>
</file>

<file path=ppt/notesSlides/_rels/notesSlide1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5.xml"/></Relationships>
</file>

<file path=ppt/notesSlides/_rels/notesSlide1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7.xml"/></Relationships>
</file>

<file path=ppt/notesSlides/_rels/notesSlide1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8.xml"/></Relationships>
</file>

<file path=ppt/notesSlides/_rels/notesSlide1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9.xml"/></Relationships>
</file>

<file path=ppt/notesSlides/_rels/notesSlide1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0.xml"/></Relationships>
</file>

<file path=ppt/notesSlides/_rels/notesSlide1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1.xml"/></Relationships>
</file>

<file path=ppt/notesSlides/_rels/notesSlide1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2.xml"/></Relationships>
</file>

<file path=ppt/notesSlides/_rels/notesSlide1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3.xml"/></Relationships>
</file>

<file path=ppt/notesSlides/_rels/notesSlide1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4.xml"/></Relationships>
</file>

<file path=ppt/notesSlides/_rels/notesSlide1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6.xml"/></Relationships>
</file>

<file path=ppt/notesSlides/_rels/notesSlide1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7.xml"/></Relationships>
</file>

<file path=ppt/notesSlides/_rels/notesSlide1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8.xml"/></Relationships>
</file>

<file path=ppt/notesSlides/_rels/notesSlide1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9.xml"/></Relationships>
</file>

<file path=ppt/notesSlides/_rels/notesSlide1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0.xml"/></Relationships>
</file>

<file path=ppt/notesSlides/_rels/notesSlide1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1.xml"/></Relationships>
</file>

<file path=ppt/notesSlides/_rels/notesSlide1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2.xml"/></Relationships>
</file>

<file path=ppt/notesSlides/_rels/notesSlide1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4.xml"/></Relationships>
</file>

<file path=ppt/notesSlides/_rels/notesSlide1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5.xml"/></Relationships>
</file>

<file path=ppt/notesSlides/_rels/notesSlide1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6.xml"/></Relationships>
</file>

<file path=ppt/notesSlides/_rels/notesSlide1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7.xml"/></Relationships>
</file>

<file path=ppt/notesSlides/_rels/notesSlide1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8.xml"/></Relationships>
</file>

<file path=ppt/notesSlides/_rels/notesSlide1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9.xml"/></Relationships>
</file>

<file path=ppt/notesSlides/_rels/notesSlide14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0.xml"/></Relationships>
</file>

<file path=ppt/notesSlides/_rels/notesSlide14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1.xml"/></Relationships>
</file>

<file path=ppt/notesSlides/_rels/notesSlide14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3.xml"/></Relationships>
</file>

<file path=ppt/notesSlides/_rels/notesSlide14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4.xml"/></Relationships>
</file>

<file path=ppt/notesSlides/_rels/notesSlide14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5.xml"/></Relationships>
</file>

<file path=ppt/notesSlides/_rels/notesSlide14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6.xml"/></Relationships>
</file>

<file path=ppt/notesSlides/_rels/notesSlide14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7.xml"/></Relationships>
</file>

<file path=ppt/notesSlides/_rels/notesSlide14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8.xml"/></Relationships>
</file>

<file path=ppt/notesSlides/_rels/notesSlide14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9.xml"/></Relationships>
</file>

<file path=ppt/notesSlides/_rels/notesSlide15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1.xml"/></Relationships>
</file>

<file path=ppt/notesSlides/_rels/notesSlide15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2.xml"/></Relationships>
</file>

<file path=ppt/notesSlides/_rels/notesSlide15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3.xml"/></Relationships>
</file>

<file path=ppt/notesSlides/_rels/notesSlide15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4.xml"/></Relationships>
</file>

<file path=ppt/notesSlides/_rels/notesSlide15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5.xml"/></Relationships>
</file>

<file path=ppt/notesSlides/_rels/notesSlide15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6.xml"/></Relationships>
</file>

<file path=ppt/notesSlides/_rels/notesSlide15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7.xml"/></Relationships>
</file>

<file path=ppt/notesSlides/_rels/notesSlide15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8.xml"/></Relationships>
</file>

<file path=ppt/notesSlides/_rels/notesSlide15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0.xml"/></Relationships>
</file>

<file path=ppt/notesSlides/_rels/notesSlide15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1.xml"/></Relationships>
</file>

<file path=ppt/notesSlides/_rels/notesSlide16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2.xml"/></Relationships>
</file>

<file path=ppt/notesSlides/_rels/notesSlide16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3.xml"/></Relationships>
</file>

<file path=ppt/notesSlides/_rels/notesSlide16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4.xml"/></Relationships>
</file>

<file path=ppt/notesSlides/_rels/notesSlide16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5.xml"/></Relationships>
</file>

<file path=ppt/notesSlides/_rels/notesSlide16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6.xml"/></Relationships>
</file>

<file path=ppt/notesSlides/_rels/notesSlide16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8.xml"/></Relationships>
</file>

<file path=ppt/notesSlides/_rels/notesSlide16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9.xml"/></Relationships>
</file>

<file path=ppt/notesSlides/_rels/notesSlide16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0.xml"/></Relationships>
</file>

<file path=ppt/notesSlides/_rels/notesSlide16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1.xml"/></Relationships>
</file>

<file path=ppt/notesSlides/_rels/notesSlide16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2.xml"/></Relationships>
</file>

<file path=ppt/notesSlides/_rels/notesSlide17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3.xml"/></Relationships>
</file>

<file path=ppt/notesSlides/_rels/notesSlide17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5.xml"/></Relationships>
</file>

<file path=ppt/notesSlides/_rels/notesSlide17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6.xml"/></Relationships>
</file>

<file path=ppt/notesSlides/_rels/notesSlide17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7.xml"/></Relationships>
</file>

<file path=ppt/notesSlides/_rels/notesSlide17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8.xml"/></Relationships>
</file>

<file path=ppt/notesSlides/_rels/notesSlide17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9.xml"/></Relationships>
</file>

<file path=ppt/notesSlides/_rels/notesSlide17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0.xml"/></Relationships>
</file>

<file path=ppt/notesSlides/_rels/notesSlide17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2.xml"/></Relationships>
</file>

<file path=ppt/notesSlides/_rels/notesSlide17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3.xml"/></Relationships>
</file>

<file path=ppt/notesSlides/_rels/notesSlide17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4.xml"/></Relationships>
</file>

<file path=ppt/notesSlides/_rels/notesSlide18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5.xml"/></Relationships>
</file>

<file path=ppt/notesSlides/_rels/notesSlide18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6.xml"/></Relationships>
</file>

<file path=ppt/notesSlides/_rels/notesSlide18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7.xml"/></Relationships>
</file>

<file path=ppt/notesSlides/_rels/notesSlide18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8.xml"/></Relationships>
</file>

<file path=ppt/notesSlides/_rels/notesSlide18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0.xml"/></Relationships>
</file>

<file path=ppt/notesSlides/_rels/notesSlide18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1.xml"/></Relationships>
</file>

<file path=ppt/notesSlides/_rels/notesSlide18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2.xml"/></Relationships>
</file>

<file path=ppt/notesSlides/_rels/notesSlide18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3.xml"/></Relationships>
</file>

<file path=ppt/notesSlides/_rels/notesSlide18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4.xml"/></Relationships>
</file>

<file path=ppt/notesSlides/_rels/notesSlide18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5.xml"/></Relationships>
</file>

<file path=ppt/notesSlides/_rels/notesSlide19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6.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Open with the pain everyone recognizes. The old way to run the claims portal was a server somebody named and hand-nursed; when it broke at 2 a.m., a person fixed it. That server is a "pet." Set up the contrast the whole module pays off: what if the platform kept the app alive instead of you?</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the concept the entire workshop rests on. You do not run Pods directly — you declare desired state on a Deployment ("three replicas of this image"), and the reconcile loop continuously makes actual match desired. Introduce the three objects at consumer depth: Pod (disposable unit), Deployment (desired state), Service (stable front door).</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Kubernetes gives the object model and the reconcile loop. OpenShift adds what an organization needs on day one: the console and catalog, Routes for ingress without a load-balancer ticket, containers hardened automatically (non-root, random high UID, dropped capabilities), and an integrated build-run-operate workflow. Every lab step uses a Kubernetes primitive plus an OpenShift convenience.</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signature moment. With three replicas spread across nodes, deleting a Pod is a routine event, not an incident: actual drops below desired, the ReplicaSet emits SuccessfulCreate, a replacement schedules, and the Service keeps routing to survivors the whole time. No human, no page, no downtime. This is desired state defending itself.</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Set expectations for the hands-on. Attendees deploy Parasol's claims portal from a prebuilt image, scale it, watch self-healing, expose it at a URL, read logs and events, do the whole thing again in six oc commands, and finish by asking OpenShift Lightspeed a real operational question. Everything happens in their own project; nobody can affect anyone else.</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Land the transfer to their world and stay honest. Discussion prompts: what is self-service versus ticket-and-wait today; how long to recover a real service if its box vanished; where are your genuine pets. Then the credibility close — self-healing disposable workloads are the default, not always: stateful data, legacy appliances, and licensed VMs have their place, covered in later modules. Choosing is the skill.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Open with the situation the module solves. Parasol's development team hands you the claims service as source code — a Quarkus repo in Git, no container image. In the first module you ran a prebuilt image; now you have to produce one. Set up the question the whole module answers: what is the right way to turn source into a running app, and why does OpenShift offer several?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There is no single right way, because apps arrive in different shapes. Four on-ramps, from least to most control: deploy a prebuilt image (no build); import from Git and let Source-to-Image build it (no Dockerfile); build from a Dockerfile/Containerfile when you need control of the base image; graduate to a pipeline when the build is really test-scan-sign-deploy. The skill is choosing, not memorizing one path.</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S2I is the fast default. You supply source and pick a language builder image (the workshop's Java 21 builder for the claims service); the platform runs the build inside it and pushes a runnable image. You write zero Dockerfiles for the common case. The same on-ramp handles the polyglot notifications service in Node.js — one workflow, many languages. Reach past S2I only when you have a reason.</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Where a base image comes from is the foundation of everything you ship and the first thing security asks. Red Hat's answer is the Universal Base Image — trusted, patched, freely redistributable — and the language builders are built on it. The two registries prove the point: registry.access hands out UBI anonymously; the fuller registry.redhat.io needs the cluster's pull secret. Starting from trusted content is how you answer "where did this come from?" before an auditor does. Also note: containers run as a random non-root UID, so images use a numeric USER and group-writable paths.</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Builder images, templates, and operator-backed services are surfaced in one place — the developer catalog, reached from +Add. It is where a developer answers "what can I deploy here?" without filing a ticket. It is curated: in the lab you deploy PostgreSQL from a Parasol template that exists because the stock templates ship an end-of-life engine on a deprecated workload type. Notice that someone chose the tiles in front of you — catalog governance is a later module.</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Set expectations for the hands-on. Attendees build the claims service two ways (S2I and Dockerfile) and compare the BuildConfigs, import the notifications service in Node.js with the same S2I on-ramp, deploy a PostgreSQL database from the Parasol catalog, and wire the claims service to it — turning a crash-looping Pod into a running, database-backed API. Everything builds from their own Gitea fork, in their own project.</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Land the transfer and stay honest. Prompts: how many Dockerfiles do your teams maintain versus need; can you trace a production image to its base; is there a curated paved road or does every team reinvent it. The credibility close — S2I is the default, but the Dockerfile strategy earns its keep when you must pin a base image; a lone BuildConfig is not a pipeline; and the ephemeral database you deployed is deliberately not production. Choosing the right on-ramp is the skill.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Open with the pain everyone recognizes. Onboarding a developer usually means a checklist of local installs that takes hours to days and drifts out of sync with production. Set up the contrast the module pays off: a correct, running, database-connected environment from a single link. This is the "oh — that's it?" promise the lab delivers.</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core mental model. The inner loop is the seconds-scale edit-run-observe cycle you do dozens of times an hour; the outer loop is the minutes-to-hours build-test-deploy cycle about safety and repeatability. Dev Spaces is about making the inner loop fast without a laptop. The rest of the workshop is the outer loop, and it begins the moment they git push.</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Three problems laptops create, each solved by moving the inner loop into the cluster. Onboarding collapses to a click. Toolchain drift disappears because everyone — and the pipeline — uses the same pinned image. Governance gets one perimeter: code and data never leave the cluster onto a laptop that can be lost. Land that these are business costs, not developer conveniences.</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devfile (devfile.yaml, schema 2.2.0) is the contract that makes a workspace reproducible for everyone. Introduce its three parts at consumer depth — components (containers), commands (named tasks), endpoints (published ports). The punchline: "upgrade everyone to JDK 21" is a one-line diff the pipeline and every developer inherit together, not a laptop-by-laptop chase. In the lab they edit this file to add a Valkey cache.</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workspace is a first-class citizen of the cluster network. Dev mode runs in the workspace project and reaches the real claims-db in the app project by cross-namespace DNS — exactly how one microservice finds another. Hot reload lands changes in ~2 seconds against real data, and a Java debug port opens automatically so you can step through a live request. This is what "fast inner loop, real services" means.</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Set expectations for the hands-on. Attendees open a one-click workspace, wire dev mode to the in-cluster database (a deliberate break-and-fix), change a live endpoint with hot reload, extend the devfile with a Valkey sidecar and restart from it, push to their fork, attach a debugger to a running request, and finally reach past the workspace — port-forward the internal database and ship their pushed change as a running Deployment (the bridge to the outer loop). Everything is in their own projects.</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Land the transfer to their world and stay honest. Discussion prompts: how long from laptop-handover to first merged PR; what the laptop fleet costs in money and drift; where "works on my machine" still bites. Then the credibility close — in-cluster workspaces are a strong default for server-side work but wrong for air-gapped/offline, local-hardware-dependent, or very heavy native toolchains, and a workspace is a dev environment, not a place to run production.</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Open with the pain every team knows. A change sails through staging and breaks in production, and the culprit is not the code — it is configuration scattered across the image, environment variables, and a file someone edited by hand, drifting between environments no one can fully account for. Set up the promise the module delivers: make configuration a first-class, externalized part of the platform so this class of surprise disappears.</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core mental model of the whole module. An immutable image carries behavior; the environment supplies settings. Introduce the four config sources in increasing order of handling — inline environment variables, a ConfigMap for non-secret config, a Secret for credentials, and a mounted file for larger config or rotation. The payoff line: promotion becomes applying different configuration to the same bytes, so you ship exactly what you tested.</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Draw the line between the two. A ConfigMap holds non-secret config you can review and change without touching the Deployment. A Secret holds credentials — but be honest: its data is base64-encoded, not encrypted, readable by anyone with the right RBAC. What a Secret actually buys is separate access control (deploy without reading credentials) and a single rotation point. Encryption of the source of truth is what a real secrets manager adds — flagged here, previewed at the end.</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Three probes, three different platform reactions. Startup holds the other two off so a slow boot is not mistaken for a failure. Readiness controls whether the pod is in the Service endpoints — fail it and traffic is held, not sent to a broken pod. Liveness restarts a wedged container. The one to internalize is readiness: in the lab they break it and watch the endpoints drain and the Route return 503 — the platform protecting users from a half-broken pod.</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Every container declares a request (what the scheduler reserves) and a limit (the ceiling). Two guardrails are already in place: a LimitRange supplies default requests/limits, and a ResourceQuota caps the namespace total. In the lab attendees set explicit values, then deliberately ask for more CPU than the whole namespace allows and read the exact refusal. The instinct to teach: when you hit a quota, right-size your requests — a reservation you do not use starves everyone else's headroom.</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Bring it together. With an immutable image and externalized config, promotion is a Kustomize base plus overlays that change only what differs per environment — replica count, APP_ENV, log level. The same image DIGEST lands in all three namespaces, which the lab proves at runtime. That identical digest is what "we tested what we shipped" actually means — not the same tag, the same bytes.</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Set expectations for the hands-on. Attendees break the app with a bad datasource URL and read the CrashLoop, externalize config into a ConfigMap and credentials into a Secret (and try a mounted file), add all three probes and watch a broken readiness gate drain traffic, set resources and deliberately bust the namespace quota, and finally promote the same image to stage and prod with per-environment config. Three deliberate breaks, each a read-then-fix.</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Land the transfer and stay honest. Discussion prompts: where configuration really lives for one of your services; who can read the production database password today; how much of your stage-to-prod difference is diffable config versus drift. Then the credibility close — externalization is a strong default but every tool over-applies: dozens of env vars need a file or config service, a Secret is not encryption, and a two-setting app does not need a base and three overlays. Reach for the machinery when the environments and change rate justify it.</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Open with the stakes. The claims database has been running fine, but its storage is an emptyDir — a volume that belongs to the Pod and dies with it. The first node drain, upgrade, or crash destroys every claim. This is not an edge case; Pod churn is normal. The module is the difference between storage that dies with a Pod and storage that outlives it, and running databases on the platform honestly.</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three objects and why the separation is the whole idea. A PersistentVolumeClaim is a request in your namespace ("2Gi, ReadWriteOnce"). A PersistentVolume is the actual storage the platform provisioned. A StorageClass is the rules it followed — provisioner, access modes, expansion, reclaim. Dynamic provisioning makes it a one-liner: submit a PVC and a matching PV is created and bound on demand. App teams ask; the platform provisions.</a:t>
            </a:r>
          </a:p>
        </p:txBody>
      </p:sp>
      <p:sp>
        <p:nvSpPr>
          <p:cNvPr id="4" name="Slide Number Placeholder 3"/>
          <p:cNvSpPr>
            <a:spLocks noGrp="1"/>
          </p:cNvSpPr>
          <p:nvPr>
            <p:ph type="sldNum" idx="5" sz="quarter"/>
          </p:nvPr>
        </p:nvSpPr>
        <p:spPr/>
      </p:sp>
    </p:spTree>
  </p:cSld>
  <p:clrMapOvr>
    <a:masterClrMapping/>
  </p:clrMapOvr>
</p:notes>
</file>

<file path=ppt/notesSlides/notesSlide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core beat, and the one attendees feel in the lab. The same database Pod loses or keeps its data based only on what its data volume is — swap emptyDir for a PVC and a Pod restart stops being catastrophic. Also pre-empt the number-one confusion: a new PVC on a WaitForFirstConsumer class sits Pending until a Pod uses it, on purpose, so the disk lands near the Pod. Pending with no consumer is waiting, not failing.</a:t>
            </a:r>
          </a:p>
        </p:txBody>
      </p:sp>
      <p:sp>
        <p:nvSpPr>
          <p:cNvPr id="4" name="Slide Number Placeholder 3"/>
          <p:cNvSpPr>
            <a:spLocks noGrp="1"/>
          </p:cNvSpPr>
          <p:nvPr>
            <p:ph type="sldNum" idx="5" sz="quarter"/>
          </p:nvPr>
        </p:nvSpPr>
        <p:spPr/>
      </p:sp>
    </p:spTree>
  </p:cSld>
  <p:clrMapOvr>
    <a:masterClrMapping/>
  </p:clrMapOvr>
</p:notes>
</file>

<file path=ppt/notesSlides/notesSlide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Access modes, taught against reality instead of a single-cloud mental model. RWO (single-writer, right for a database) is universal; RWX (shared multi-writer files) exists on some backends and not others; ROX is niche. The rule: do not assume RWX exists — an app that quietly relies on shared volumes fails to schedule where the backend is block-only. On this cluster the default class is RWO and a separate file class offers RWX; you confirm which by reading the StorageClasses. RWX is the right tool for genuinely shared files (a scaled image registry, a shared content directory) and only a problem when it stands in for a database or an object store.</a:t>
            </a:r>
          </a:p>
        </p:txBody>
      </p:sp>
      <p:sp>
        <p:nvSpPr>
          <p:cNvPr id="4" name="Slide Number Placeholder 3"/>
          <p:cNvSpPr>
            <a:spLocks noGrp="1"/>
          </p:cNvSpPr>
          <p:nvPr>
            <p:ph type="sldNum" idx="5" sz="quarter"/>
          </p:nvPr>
        </p:nvSpPr>
        <p:spPr/>
      </p:sp>
    </p:spTree>
  </p:cSld>
  <p:clrMapOvr>
    <a:masterClrMapping/>
  </p:clrMapOvr>
</p:notes>
</file>

<file path=ppt/notesSlides/notesSlide3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When identity matters, a Deployment's interchangeable Pods are wrong. A StatefulSet gives ordinal names that persist across restarts, a headless Service so each Pod has its own stable DNS name, and a volumeClaimTemplate so each Pod gets its own PVC — identity and storage stay bound together. Updates can be staged with a partition (canary one ordinal, then finish). Be honest: two replicas of PostgreSQL are two independent instances, not an HA database — real replication is an Operator's job. The StatefulSet is the plumbing.</a:t>
            </a:r>
          </a:p>
        </p:txBody>
      </p:sp>
      <p:sp>
        <p:nvSpPr>
          <p:cNvPr id="4" name="Slide Number Placeholder 3"/>
          <p:cNvSpPr>
            <a:spLocks noGrp="1"/>
          </p:cNvSpPr>
          <p:nvPr>
            <p:ph type="sldNum" idx="5" sz="quarter"/>
          </p:nvPr>
        </p:nvSpPr>
        <p:spPr/>
      </p:sp>
    </p:spTree>
  </p:cSld>
  <p:clrMapOvr>
    <a:masterClrMapping/>
  </p:clrMapOvr>
</p:notes>
</file>

<file path=ppt/notesSlides/notesSlide3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Set expectations for the hands-on. Attendees seed real claims, watch a Pod restart destroy them, swap the emptyDir for a PVC (a deliberate break-and-fix on the oc set volume command), and watch the same restart leave the data intact. Then they inspect the storage chain and access modes, run a two-replica PostgreSQL StatefulSet, stage a partitioned update to one member, migrate a schema with an init container, and grow a volume online — all in their own project.</a:t>
            </a:r>
          </a:p>
        </p:txBody>
      </p:sp>
      <p:sp>
        <p:nvSpPr>
          <p:cNvPr id="4" name="Slide Number Placeholder 3"/>
          <p:cNvSpPr>
            <a:spLocks noGrp="1"/>
          </p:cNvSpPr>
          <p:nvPr>
            <p:ph type="sldNum" idx="5" sz="quarter"/>
          </p:nvPr>
        </p:nvSpPr>
        <p:spPr/>
      </p:sp>
    </p:spTree>
  </p:cSld>
  <p:clrMapOvr>
    <a:masterClrMapping/>
  </p:clrMapOvr>
</p:notes>
</file>

<file path=ppt/notesSlides/notesSlide3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Land the transfer and stay honest. Discussion prompts: which dev/test datastores are secretly ephemeral; who restores your in-cluster data and when they last tested it; whether your StorageClass is a clean self-service contract. Then the credibility close — production databases run on the platform through Operators (EDB/CloudNativePG, CockroachDB, MongoDB, Couchbase) that own backup, failover, and upgrades, ideally in their own project; a bare StatefulSet is only the plumbing, and a managed service is the hands-off alternative. RWX is the right tool for genuinely shared files but a poor stand-in for a datastore or object store; and caches belong on emptyDir. Backup is its own capability (OADP, a later module).</a:t>
            </a:r>
          </a:p>
        </p:txBody>
      </p:sp>
      <p:sp>
        <p:nvSpPr>
          <p:cNvPr id="4" name="Slide Number Placeholder 3"/>
          <p:cNvSpPr>
            <a:spLocks noGrp="1"/>
          </p:cNvSpPr>
          <p:nvPr>
            <p:ph type="sldNum" idx="5" sz="quarter"/>
          </p:nvPr>
        </p:nvSpPr>
        <p:spPr/>
      </p:sp>
    </p:spTree>
  </p:cSld>
  <p:clrMapOvr>
    <a:masterClrMapping/>
  </p:clrMapOvr>
</p:notes>
</file>

<file path=ppt/notesSlides/notesSlide3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Open with the stakes and the two speeds. Parasol answers customers in milliseconds through its API, but the real weight is the overnight batch tier — statements, fraud scoring, actuarial rollups over every open claim. That work has grown until a single team's month-end run can crowd every other job off the cluster, because plain Jobs have no arbitration: every job the scheduler can place, it runs. The module is about running batch well — Jobs and CronJobs for the work, and admission control so no team's batch starves the rest.</a:t>
            </a:r>
          </a:p>
        </p:txBody>
      </p:sp>
      <p:sp>
        <p:nvSpPr>
          <p:cNvPr id="4" name="Slide Number Placeholder 3"/>
          <p:cNvSpPr>
            <a:spLocks noGrp="1"/>
          </p:cNvSpPr>
          <p:nvPr>
            <p:ph type="sldNum" idx="5" sz="quarter"/>
          </p:nvPr>
        </p:nvSpPr>
        <p:spPr/>
      </p:sp>
    </p:spTree>
  </p:cSld>
  <p:clrMapOvr>
    <a:masterClrMapping/>
  </p:clrMapOvr>
</p:notes>
</file>

<file path=ppt/notesSlides/notesSlide3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Place batch on the spectrum so people pick the right tool. Request-driven work has a caller holding a socket — a Deployment behind a Service, measured in latency. Event-driven work reacts to a message or webhook within seconds. Batch is different in kind: a bounded body of work runs to completion and stops — "process all 40,000 claims" — and nobody waits on a connection; you care that it finishes, correctly, within a window. OpenShift's object for that end of the spectrum is the Job.</a:t>
            </a:r>
          </a:p>
        </p:txBody>
      </p:sp>
      <p:sp>
        <p:nvSpPr>
          <p:cNvPr id="4" name="Slide Number Placeholder 3"/>
          <p:cNvSpPr>
            <a:spLocks noGrp="1"/>
          </p:cNvSpPr>
          <p:nvPr>
            <p:ph type="sldNum" idx="5" sz="quarter"/>
          </p:nvPr>
        </p:nvSpPr>
        <p:spPr/>
      </p:sp>
    </p:spTree>
  </p:cSld>
  <p:clrMapOvr>
    <a:masterClrMapping/>
  </p:clrMapOvr>
</p:notes>
</file>

<file path=ppt/notesSlides/notesSlide3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vocabulary that makes the rest legible. A Job runs Pods until a set number succeed, then stops — the opposite of a Deployment. `completions` and `parallelism` set how much and how parallel (6 completions, 3 at a time = two waves). `backoffLimit` retries a failure, with exponential backoff, then marks the Job failed. An Indexed Job hands each Pod a fixed index to shard a dataset with no coordinator. A CronJob wraps a Job on a schedule, with `concurrencyPolicy` to prevent overlap and `suspend` to pause. And a Job's Pod template is immutable — you delete and recreate, which is the platform telling you batch belongs in Git.</a:t>
            </a:r>
          </a:p>
        </p:txBody>
      </p:sp>
      <p:sp>
        <p:nvSpPr>
          <p:cNvPr id="4" name="Slide Number Placeholder 3"/>
          <p:cNvSpPr>
            <a:spLocks noGrp="1"/>
          </p:cNvSpPr>
          <p:nvPr>
            <p:ph type="sldNum" idx="5" sz="quarter"/>
          </p:nvPr>
        </p:nvSpPr>
        <p:spPr/>
      </p:sp>
    </p:spTree>
  </p:cSld>
  <p:clrMapOvr>
    <a:masterClrMapping/>
  </p:clrMapOvr>
</p:notes>
</file>

<file path=ppt/notesSlides/notesSlide3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heart of the module. Plain Jobs have no arbitration; Red Hat build of Kueue adds an admission layer above the Job controller. A ClusterQueue holds the quota (each attendee gets their own, so nobody starves anyone else); a LocalQueue is the namespaced pointer into it; a Job opts in with a `queue-name` label and Kueue holds it suspended until there is room. When the queue is full, some jobs are admitted and the rest wait — and a higher-priority job can preempt a running lower-priority one, evicting it back into the queue. You watch exactly this: five jobs, two admitted, three pending; one urgent job preempts a running one.</a:t>
            </a:r>
          </a:p>
        </p:txBody>
      </p:sp>
      <p:sp>
        <p:nvSpPr>
          <p:cNvPr id="4" name="Slide Number Placeholder 3"/>
          <p:cNvSpPr>
            <a:spLocks noGrp="1"/>
          </p:cNvSpPr>
          <p:nvPr>
            <p:ph type="sldNum" idx="5" sz="quarter"/>
          </p:nvPr>
        </p:nvSpPr>
        <p:spPr/>
      </p:sp>
    </p:spTree>
  </p:cSld>
  <p:clrMapOvr>
    <a:masterClrMapping/>
  </p:clrMapOvr>
</p:notes>
</file>

<file path=ppt/notesSlides/notesSlide4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payoff, and the line SAs remember. A batch-inference or model-evaluation job is an ordinary Job — it reads input, calls a model, writes output, stops. It carries the same `queue-name` label, becomes the same Workload, and is admitted, queued, and preempted by the same ClusterQueue as the statement run. That is why the industry is standardizing GPU scheduling on this exact machinery: a ClusterQueue can hold `nvidia.com/gpu` quota, and a high-priority eval job can preempt a low-priority training run. Everything learned on tiny CPU jobs is the control plane that governs AI batch at scale.</a:t>
            </a:r>
          </a:p>
        </p:txBody>
      </p:sp>
      <p:sp>
        <p:nvSpPr>
          <p:cNvPr id="4" name="Slide Number Placeholder 3"/>
          <p:cNvSpPr>
            <a:spLocks noGrp="1"/>
          </p:cNvSpPr>
          <p:nvPr>
            <p:ph type="sldNum" idx="5" sz="quarter"/>
          </p:nvPr>
        </p:nvSpPr>
        <p:spPr/>
      </p:sp>
    </p:spTree>
  </p:cSld>
  <p:clrMapOvr>
    <a:masterClrMapping/>
  </p:clrMapOvr>
</p:notes>
</file>

<file path=ppt/notesSlides/notesSlide4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Set expectations for the hands-on, all in your own `{user}-batch` project. You run a monthly-statement Job over a seeded dataset and watch it complete in parallel waves; you break a Job on purpose and read its backoff, its `BackoffLimitExceeded`, and the immutability refusal; you shard the dataset with an Indexed Job; you schedule it with a CronJob and suspend it. Then the core: submit five jobs into a tiny Kueue quota and watch two admitted, three queued, then one high-priority job preempt a running one. Finish by running a fraud-scoring inference Job through the very same queue.</a:t>
            </a:r>
          </a:p>
        </p:txBody>
      </p:sp>
      <p:sp>
        <p:nvSpPr>
          <p:cNvPr id="4" name="Slide Number Placeholder 3"/>
          <p:cNvSpPr>
            <a:spLocks noGrp="1"/>
          </p:cNvSpPr>
          <p:nvPr>
            <p:ph type="sldNum" idx="5" sz="quarter"/>
          </p:nvPr>
        </p:nvSpPr>
        <p:spPr/>
      </p:sp>
    </p:spTree>
  </p:cSld>
  <p:clrMapOvr>
    <a:masterClrMapping/>
  </p:clrMapOvr>
</p:notes>
</file>

<file path=ppt/notesSlides/notesSlide4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Land the transfer and stay honest. Discussion prompts: who in your org decides how much of the cluster the batch tier may use and how teams share it; whether you can name the owner and concurrency policy of one production CronJob; where your first GPU-contention fight will happen and whether you would rather design that queue now or during the crunch. Then the credibility close on restraint: admission control earns its keep only under real contention — a three-job team on a cluster with headroom just needs a ResourceQuota; a CronJob polling every minute for an event is a queue-shaped problem wearing a schedule; and match the object to the lifecycle (runs forever → Deployment, runs once → Job).</a:t>
            </a:r>
          </a:p>
        </p:txBody>
      </p:sp>
      <p:sp>
        <p:nvSpPr>
          <p:cNvPr id="4" name="Slide Number Placeholder 3"/>
          <p:cNvSpPr>
            <a:spLocks noGrp="1"/>
          </p:cNvSpPr>
          <p:nvPr>
            <p:ph type="sldNum" idx="5" sz="quarter"/>
          </p:nvPr>
        </p:nvSpPr>
        <p:spPr/>
      </p:sp>
    </p:spTree>
  </p:cSld>
  <p:clrMapOvr>
    <a:masterClrMapping/>
  </p:clrMapOvr>
</p:notes>
</file>

<file path=ppt/notesSlides/notesSlide4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Open with the pain everyone recognizes. Parasol's claims service builds and deploys with commands people type by hand — which is fine for one person learning, and a liability for a team. There's no shared, current answer to "how is this service built and tested?"; it lives in shell history and a wiki page that went stale months ago, and nothing gates a broken change on its way out. The module turns that manual sequence into a pipeline — a versioned, repeatable build-test-deploy that any Git push can run — and starts the company task library that keeps every team's pipeline consistent.</a:t>
            </a:r>
          </a:p>
        </p:txBody>
      </p:sp>
      <p:sp>
        <p:nvSpPr>
          <p:cNvPr id="4" name="Slide Number Placeholder 3"/>
          <p:cNvSpPr>
            <a:spLocks noGrp="1"/>
          </p:cNvSpPr>
          <p:nvPr>
            <p:ph type="sldNum" idx="5" sz="quarter"/>
          </p:nvPr>
        </p:nvSpPr>
        <p:spPr/>
      </p:sp>
    </p:spTree>
  </p:cSld>
  <p:clrMapOvr>
    <a:masterClrMapping/>
  </p:clrMapOvr>
</p:notes>
</file>

<file path=ppt/notesSlides/notesSlide4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Give people the vocabulary before anything else. A Task is a single reusable unit — clone, test, build, deploy. A Pipeline is an ordered graph of Tasks; it runs nothing itself, it's the recipe. A PipelineRun is one execution — you hand it parameter values and a workspace and it creates the Pods. What makes a Task reusable instead of a copy-pasted script is three typed connection points: parameters (typed inputs like the Git URL and image tag), workspaces (shared storage, usually a PVC, so one Task hands files to the next), and results (small typed outputs — a computed size, a verdict — that let later steps and humans act on a fact). The claims pipeline is exactly this: five Tasks, one workspace, four params, two results.</a:t>
            </a:r>
          </a:p>
        </p:txBody>
      </p:sp>
      <p:sp>
        <p:nvSpPr>
          <p:cNvPr id="4" name="Slide Number Placeholder 3"/>
          <p:cNvSpPr>
            <a:spLocks noGrp="1"/>
          </p:cNvSpPr>
          <p:nvPr>
            <p:ph type="sldNum" idx="5" sz="quarter"/>
          </p:nvPr>
        </p:nvSpPr>
        <p:spPr/>
      </p:sp>
    </p:spTree>
  </p:cSld>
  <p:clrMapOvr>
    <a:masterClrMapping/>
  </p:clrMapOvr>
</p:notes>
</file>

<file path=ppt/notesSlides/notesSlide4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best Task is one you didn't write. OpenShift Pipelines organizes reuse into three layers and your app pipeline pulls from all three: shipped catalog Tasks in the openshift-pipelines namespace (git-clone, buildah, openshift-client — you reference, never maintain); a curated organization library your platform team standardizes on, published once into a shared namespace so every team uses the same blessed version; and your app's own pipeline, which composes the other two. The wiring is the cluster resolver — instead of copying a Task's YAML you write a reference ("the Task named X in namespace Y") and Tekton resolves it at run time. Note for the field: the old ClusterTask kind was removed in Pipelines 1.17; the cluster resolver is its supported, better replacement.</a:t>
            </a:r>
          </a:p>
        </p:txBody>
      </p:sp>
      <p:sp>
        <p:nvSpPr>
          <p:cNvPr id="4" name="Slide Number Placeholder 3"/>
          <p:cNvSpPr>
            <a:spLocks noGrp="1"/>
          </p:cNvSpPr>
          <p:nvPr>
            <p:ph type="sldNum" idx="5" sz="quarter"/>
          </p:nvPr>
        </p:nvSpPr>
        <p:spPr/>
      </p:sp>
    </p:spTree>
  </p:cSld>
  <p:clrMapOvr>
    <a:masterClrMapping/>
  </p:clrMapOvr>
</p:notes>
</file>

<file path=ppt/notesSlides/notesSlide4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the slide that answers the skeptic — "if OpenShift ships forty Tasks, why maintain our own?" The claims pipeline needs to run Maven, and OpenShift ships a maven Task, so the obvious move is to use it. Except the shipped Task pins its build step to a Java 17 runner image and exposes no parameter to change it — and this app is Java 21, so it fails immediately with "release version 21 not supported." You can't pass a parameter because there's no parameter to pass. The choice is to fork and maintain a patched copy in every Java 21 pipeline, or curate one correct Task once — maven-jdk21 — that every team references by resolver. That single concrete gap is the entire argument for an organization library, and it's the platform team's leverage: fix a Task once, everyone inherits the fix.</a:t>
            </a:r>
          </a:p>
        </p:txBody>
      </p:sp>
      <p:sp>
        <p:nvSpPr>
          <p:cNvPr id="4" name="Slide Number Placeholder 3"/>
          <p:cNvSpPr>
            <a:spLocks noGrp="1"/>
          </p:cNvSpPr>
          <p:nvPr>
            <p:ph type="sldNum" idx="5" sz="quarter"/>
          </p:nvPr>
        </p:nvSpPr>
        <p:spPr/>
      </p:sp>
    </p:spTree>
  </p:cSld>
  <p:clrMapOvr>
    <a:masterClrMapping/>
  </p:clrMapOvr>
</p:notes>
</file>

<file path=ppt/notesSlides/notesSlide4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 pipeline someone has to remember to run will drift from the code it builds. Pipelines-as-Code closes that gap: the PipelineRun definition lives in a .tekton/ directory inside the application's own Git repository, and a push fires it. Two pieces make it work, and attendees set up both in the lab — a webhook on the repo that POSTs to the PaC controller on every push, and a Repository custom resource that PaC matches to the incoming webhook by URL. The payoff is that the build is versioned with the app: the .tekton file is reviewed, diffed, and rolled back like any other code, and every push — yours or a teammate's — is built the same way, with no one remembering to press a button. This is the on-ramp everything later attaches to.</a:t>
            </a:r>
          </a:p>
        </p:txBody>
      </p:sp>
      <p:sp>
        <p:nvSpPr>
          <p:cNvPr id="4" name="Slide Number Placeholder 3"/>
          <p:cNvSpPr>
            <a:spLocks noGrp="1"/>
          </p:cNvSpPr>
          <p:nvPr>
            <p:ph type="sldNum" idx="5" sz="quarter"/>
          </p:nvPr>
        </p:nvSpPr>
        <p:spPr/>
      </p:sp>
    </p:spTree>
  </p:cSld>
  <p:clrMapOvr>
    <a:masterClrMapping/>
  </p:clrMapOvr>
</p:notes>
</file>

<file path=ppt/notesSlides/notesSlide4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 pipeline's obvious output is an image, but a Task can also publish results — small, typed facts about what it did. Parasol's curated image-size-report Task inspects the freshly built image, computes its pull size, and checks it against a budget, then publishes three results; the pipeline surfaces two at the run level, so a describe shows image-size-mb 391 and image-within-budget true for the claims image. That's a small idea with large consequences: once a pipeline emits data, later steps can branch on it — fail a build whose image blew its budget, block a deploy on a failed scan — and humans can audit it. The next module builds entirely on this: signing, attestation, and vulnerability gates are all "a Task produced a fact, and a later step enforced it."</a:t>
            </a:r>
          </a:p>
        </p:txBody>
      </p:sp>
      <p:sp>
        <p:nvSpPr>
          <p:cNvPr id="4" name="Slide Number Placeholder 3"/>
          <p:cNvSpPr>
            <a:spLocks noGrp="1"/>
          </p:cNvSpPr>
          <p:nvPr>
            <p:ph type="sldNum" idx="5" sz="quarter"/>
          </p:nvPr>
        </p:nvSpPr>
        <p:spPr/>
      </p:sp>
    </p:spTree>
  </p:cSld>
  <p:clrMapOvr>
    <a:masterClrMapping/>
  </p:clrMapOvr>
</p:notes>
</file>

<file path=ppt/notesSlides/notesSlide4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Set expectations for the hands-on, all in your own {user}-cicd project. You run the seeded build-test-deploy pipeline and read how it's wired — params, workspaces, results, and five Tasks all pulled in by cluster resolver — then explore the two curated Tasks and see, concretely, why the shipped maven Task can't build this app. Then the memorable beat: you flip a one-line toggle in your fork that breaks a business-rule test, run the pipeline, and watch it go red at the test with the build skipped — a failing test stops a bad build. You revert to green, then wire Pipelines-as-Code so a Git push builds, tests, and deploys on its own. Expect the first run to take a while (Maven downloads its world twice); use the wait to explore the library.</a:t>
            </a:r>
          </a:p>
        </p:txBody>
      </p:sp>
      <p:sp>
        <p:nvSpPr>
          <p:cNvPr id="4" name="Slide Number Placeholder 3"/>
          <p:cNvSpPr>
            <a:spLocks noGrp="1"/>
          </p:cNvSpPr>
          <p:nvPr>
            <p:ph type="sldNum" idx="5" sz="quarter"/>
          </p:nvPr>
        </p:nvSpPr>
        <p:spPr/>
      </p:sp>
    </p:spTree>
  </p:cSld>
  <p:clrMapOvr>
    <a:masterClrMapping/>
  </p:clrMapOvr>
</p:notes>
</file>

<file path=ppt/notesSlides/notesSlide5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Land the transfer and stay honest. Discussion prompts: where the real build of one of your services lives today — a reviewed pipeline, or a wiki and shell history; what the equivalent of the Java 17/21 gap is on your platform (a required scanner, a company base image, a standard deploy step every team solves differently) — that's your library's first Task; and the one test you wish had gated a past incident, and whether it was actually in the pipeline as a gate. Then the credibility close on restraint: a pipeline earns its keep through repetition, so don't build one for a throwaway; split a pipeline the moment it's hard to read rather than growing a monolith; reuse before you author; and never treat the module's CI-namespace deploy as promotion to production — building a trustworthy image is CI's job, and reconciling it into environments is GitOps' job (next up).</a:t>
            </a:r>
          </a:p>
        </p:txBody>
      </p:sp>
      <p:sp>
        <p:nvSpPr>
          <p:cNvPr id="4" name="Slide Number Placeholder 3"/>
          <p:cNvSpPr>
            <a:spLocks noGrp="1"/>
          </p:cNvSpPr>
          <p:nvPr>
            <p:ph type="sldNum" idx="5" sz="quarter"/>
          </p:nvPr>
        </p:nvSpPr>
        <p:spPr/>
      </p:sp>
    </p:spTree>
  </p:cSld>
  <p:clrMapOvr>
    <a:masterClrMapping/>
  </p:clrMapOvr>
</p:notes>
</file>

<file path=ppt/notesSlides/notesSlide5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Open on the trap. A traditional pipeline answers one question — does it compile and do the tests pass — and that says nothing about security, because the most dangerous defects are invisible to a compiler and a unit test. Walk the four that ship inside a green build. A hard-coded password compiles perfectly; a private final String literal is valid Java, so the build is green and the secret is now in every copy of the image, readable by anyone who unpacks the jar. A vulnerable dependency does exactly what your code asks of it — a library with a deserialization remote-code-execution hole runs fine until an attacker sends the payload that triggers it. An insecure container starts up happily — privileged, as root, with SYS_ADMIN and no resource limits — it just also hands the node to anyone who lands inside it. And a missing security header is silent — the app serves its JSON correctly, it simply never told the browser not to sniff, frame, or leak it. None of these fails in the "it doesn't work" sense; they are security debt, and the only way to stop them shipping is to test for them explicitly and fail the build when they appear. That is exactly what this module builds.</a:t>
            </a:r>
          </a:p>
        </p:txBody>
      </p:sp>
      <p:sp>
        <p:nvSpPr>
          <p:cNvPr id="4" name="Slide Number Placeholder 3"/>
          <p:cNvSpPr>
            <a:spLocks noGrp="1"/>
          </p:cNvSpPr>
          <p:nvPr>
            <p:ph type="sldNum" idx="5" sz="quarter"/>
          </p:nvPr>
        </p:nvSpPr>
        <p:spPr/>
      </p:sp>
    </p:spTree>
  </p:cSld>
  <p:clrMapOvr>
    <a:masterClrMapping/>
  </p:clrMapOvr>
</p:notes>
</file>

<file path=ppt/notesSlides/notesSlide5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Five pillars, and the discipline is knowing which class of bug each one catches that the others miss. SAST — static application security testing — reads the source you wrote and finds the hard-coded secret or the injection; here that is a SonarQube quality gate, run before build. SCA — software composition analysis — checks the dependencies you pulled in for known vulnerabilities; here Trivy scans the source tree, also before build. Image risk asks whether the built image, base layers and all, carries a known vulnerability; RHACS scans the image, after build. Config security asks whether the Deployment you are about to apply is insecure — privileged, no limits, excess capabilities; RHACS roxctl deployment check reads the manifest, before deploy. And DAST — dynamic application security testing — exercises the running app for things you can only see once it answers a request, like missing headers; ZAP, the Zed Attack Proxy, runs a baseline scan after deploy. The shape of the pipeline is the lesson: security is not a stage at the end, it is a property checked at every stage.</a:t>
            </a:r>
          </a:p>
        </p:txBody>
      </p:sp>
      <p:sp>
        <p:nvSpPr>
          <p:cNvPr id="4" name="Slide Number Placeholder 3"/>
          <p:cNvSpPr>
            <a:spLocks noGrp="1"/>
          </p:cNvSpPr>
          <p:nvPr>
            <p:ph type="sldNum" idx="5" sz="quarter"/>
          </p:nvPr>
        </p:nvSpPr>
        <p:spPr/>
      </p:sp>
    </p:spTree>
  </p:cSld>
  <p:clrMapOvr>
    <a:masterClrMapping/>
  </p:clrMapOvr>
</p:notes>
</file>

<file path=ppt/notesSlides/notesSlide5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pillars fall into two families and the split matters for cost. Shift-left — SAST, SCA, and the config check — runs against the source and the manifests, before you build or deploy. That is the cheapest place to catch a flaw: no image to rebuild, no environment to stand up. A hard-coded secret found by static analysis is a one-line fix in a code review; the same secret found in production is an incident. Shift-right — the image scan and DAST — runs against the built image and the running app, and some things can only be seen there: a vulnerability in a base-image layer you did not write, or a response header that only exists once the server actually answers a request. Neither family replaces the other. Shift-left catches problems early and cheap; shift-right catches problems that only exist once the software is assembled and running. Say it plainly: a mature pipeline does both.</a:t>
            </a:r>
          </a:p>
        </p:txBody>
      </p:sp>
      <p:sp>
        <p:nvSpPr>
          <p:cNvPr id="4" name="Slide Number Placeholder 3"/>
          <p:cNvSpPr>
            <a:spLocks noGrp="1"/>
          </p:cNvSpPr>
          <p:nvPr>
            <p:ph type="sldNum" idx="5" sz="quarter"/>
          </p:nvPr>
        </p:nvSpPr>
        <p:spPr/>
      </p:sp>
    </p:spTree>
  </p:cSld>
  <p:clrMapOvr>
    <a:masterClrMapping/>
  </p:clrMapOvr>
</p:notes>
</file>

<file path=ppt/notesSlides/notesSlide5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the marquee idea. Defense in depth means no single scanner sees everything, so you check the same class of risk at more than one layer, and a miss in one is caught by the next. The lab makes it concrete with log4shell — CVE-2021-44228, the critical Log4j remote-code-execution flaw. Here is the trick: if log4shell had entered as a declared dependency in pom.xml, the SCA scan — Trivy, shift-left — would have caught it in the source. But in the lab it is baked directly into the image at build time, never declared in pom.xml at all. A source scan cannot see it; there is nothing in the tree to find. The image scan — RHACS, shift-right — catches it anyway, because it inspects the assembled image, layer by layer. That is defense in depth in one screen: a dependency that slips past the source scanner is stopped by the image scanner. Remove either gate and the vulnerable image ships. This is why "we run a dependency scanner" is not the same as "we scan for vulnerabilities" — where you scan decides what you can catch.</a:t>
            </a:r>
          </a:p>
        </p:txBody>
      </p:sp>
      <p:sp>
        <p:nvSpPr>
          <p:cNvPr id="4" name="Slide Number Placeholder 3"/>
          <p:cNvSpPr>
            <a:spLocks noGrp="1"/>
          </p:cNvSpPr>
          <p:nvPr>
            <p:ph type="sldNum" idx="5" sz="quarter"/>
          </p:nvPr>
        </p:nvSpPr>
        <p:spPr/>
      </p:sp>
    </p:spTree>
  </p:cSld>
  <p:clrMapOvr>
    <a:masterClrMapping/>
  </p:clrMapOvr>
</p:notes>
</file>

<file path=ppt/notesSlides/notesSlide5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 scanner is only real if it fails the build. A scan that just writes a report becomes a report nobody reads, and it changes nothing. The whole move in this module is turning each scan into a gate — something that can stop the line. Concretely: SonarQube's quality gate goes to ERROR when the vulnerability count is greater than zero, and the pipeline waits on that result; Trivy, roxctl, and ZAP each exit non-zero when they find something over threshold, which fails the TaskRun and halts the PipelineRun. The Application Security Testing capstone wires all five in as gates, so a red result at any layer stops everything downstream — that is the difference between security theater and a security control. One honesty note, which the wrap-up returns to: a gate you cannot keep triaged trains your team that red means "click through", which is worse than no gate. If you cannot stay on top of a gate's findings yet, start it in report-only mode and promote it to a build breaker when you can — do not turn it off, and do not turn it on and ignore it.</a:t>
            </a:r>
          </a:p>
        </p:txBody>
      </p:sp>
      <p:sp>
        <p:nvSpPr>
          <p:cNvPr id="4" name="Slide Number Placeholder 3"/>
          <p:cNvSpPr>
            <a:spLocks noGrp="1"/>
          </p:cNvSpPr>
          <p:nvPr>
            <p:ph type="sldNum" idx="5" sz="quarter"/>
          </p:nvPr>
        </p:nvSpPr>
        <p:spPr/>
      </p:sp>
    </p:spTree>
  </p:cSld>
  <p:clrMapOvr>
    <a:masterClrMapping/>
  </p:clrMapOvr>
</p:notes>
</file>

<file path=ppt/notesSlides/notesSlide5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most common complaint about security tooling is not that it fails to find things — it is that the findings are scattered and unreadable, and a red pipeline that only says "stage failed" teaches nobody. This is the direct answer to "our security reporting is weak", and the module drills it as a hands-on skill: read each finding in its native console. SAST lands in the SonarQube dashboard for your project — the failing quality-gate condition, the exact rule like S2068 for a hard-coded credential, the file and the line. SCA lands in the TaskRun logs, with a CycloneDX software-bill-of-materials artifact listing every dependency in the build. The image scan lands in the RHACS console Violations — the policy that fired, the CVE, the image. The config check lands in the TaskRun logs as a JUnit report of the violated deploy policies. DAST lands as the ZAP WARN/FAIL summary plus an HTML report of every alert. And the whole run is the OpenShift Pipelines graph — which stage is red — with Tekton Results holding the historical runs and their logs. Reading a finding where it lives, not just "the pipeline is red", is what turns a gate from an obstacle into a tool.</a:t>
            </a:r>
          </a:p>
        </p:txBody>
      </p:sp>
      <p:sp>
        <p:nvSpPr>
          <p:cNvPr id="4" name="Slide Number Placeholder 3"/>
          <p:cNvSpPr>
            <a:spLocks noGrp="1"/>
          </p:cNvSpPr>
          <p:nvPr>
            <p:ph type="sldNum" idx="5" sz="quarter"/>
          </p:nvPr>
        </p:nvSpPr>
        <p:spPr/>
      </p:sp>
    </p:spTree>
  </p:cSld>
  <p:clrMapOvr>
    <a:masterClrMapping/>
  </p:clrMapOvr>
</p:notes>
</file>

<file path=ppt/notesSlides/notesSlide5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Security tools are software too, and software gets compromised. In March 2026 the Trivy GitHub Action was compromised, and the following month its package-signing keys were rotated after the incident. The lesson is not "don't use Trivy" — Trivy is excellent — it is how you consume it. Two habits. Pin by digest, not by tag: every scanner image in this pipeline is pinned to an immutable sha256 digest, so a compromised or moved latest tag cannot silently change what runs in your build. And prefer the container to the convenience wrapper: this pipeline runs the Trivy container image directly rather than the GitHub Action, which is one fewer moving part in the supply chain and exactly what the 2026 incident argues for. The framing that makes it stick: your security gates are part of your supply chain, so you treat them with the same rigour you apply to your own app dependencies. The wrap-up turns this into an org question — where are you floating on a moving tag today?</a:t>
            </a:r>
          </a:p>
        </p:txBody>
      </p:sp>
      <p:sp>
        <p:nvSpPr>
          <p:cNvPr id="4" name="Slide Number Placeholder 3"/>
          <p:cNvSpPr>
            <a:spLocks noGrp="1"/>
          </p:cNvSpPr>
          <p:nvPr>
            <p:ph type="sldNum" idx="5" sz="quarter"/>
          </p:nvPr>
        </p:nvSpPr>
        <p:spPr/>
      </p:sp>
    </p:spTree>
  </p:cSld>
  <p:clrMapOvr>
    <a:masterClrMapping/>
  </p:clrMapOvr>
</p:notes>
</file>

<file path=ppt/notesSlides/notesSlide5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the demo, and it is a gauntlet: one seeded branch with five real regressions, every gate red, and you drive it from red to green one fix at a time — each fix a real commit. SAST stops first — SonarQube found a hard-coded password — so you externalize it to configuration, exactly the pattern Config, Secrets &amp; Multi-Environment teaches, and the gate goes green, which advances the run to the next gate. SCA fires next — Trivy found a critical remote-code-execution hole in a five-year-old commons-collections you pulled in — so you drop the dependency. Then the most important beat: the image scan fails on log4shell, which was never in your dependencies — it was baked into the image, and RHACS caught it because it scans the assembled image. You stop baking it in. The config gate fires — the Deployment ran privileged, as root, with SYS_ADMIN and no limits — so you restore the hardened manifest, and this time the run deploys the app and creates its Route for you. Last gate: DAST — ZAP found the running app never sets its security headers — so you add them in Quarkus config, commit, and re-run one final time. Every gate green, the image scanned and signed and deployed, and the Route opens in the browser. Green now means safe, because you made it mean that. Presenter tip: pre-run one red graph the day before — the build is long and you do not want to narrate a progress bar; the money moment is the whole graph going green.</a:t>
            </a:r>
          </a:p>
        </p:txBody>
      </p:sp>
      <p:sp>
        <p:nvSpPr>
          <p:cNvPr id="4" name="Slide Number Placeholder 3"/>
          <p:cNvSpPr>
            <a:spLocks noGrp="1"/>
          </p:cNvSpPr>
          <p:nvPr>
            <p:ph type="sldNum" idx="5" sz="quarter"/>
          </p:nvPr>
        </p:nvSpPr>
        <p:spPr/>
      </p:sp>
    </p:spTree>
  </p:cSld>
  <p:clrMapOvr>
    <a:masterClrMapping/>
  </p:clrMapOvr>
</p:notes>
</file>

<file path=ppt/notesSlides/notesSlide5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module runs on OpenShift Pipelines and Red Hat Advanced Cluster Security, both included with OpenShift, so it is tagged OCP. The three scanners it drives are third-party open source, and we call that out plainly so you know exactly what you are adopting. SonarQube Community Build is the free edition of SonarQube for static analysis — it gives you quality gates and the dashboard, but it has no pull-request analysis, so this pipeline analyzes the pushed revision and gates on that result. Trivy is an open-source scanner from Aqua Security for software composition analysis and license inspection, and it emits the CycloneDX bill of materials. ZAP is the open-source dynamic-analysis tool that runs the baseline scan. Here is the point to land: the technique is the transferable skill — five gates, defense in depth, findings you can read in their own console — and the specific scanners are swappable for whatever your organization has standardized on. You are not learning three products; you are learning a shape.</a:t>
            </a:r>
          </a:p>
        </p:txBody>
      </p:sp>
      <p:sp>
        <p:nvSpPr>
          <p:cNvPr id="4" name="Slide Number Placeholder 3"/>
          <p:cNvSpPr>
            <a:spLocks noGrp="1"/>
          </p:cNvSpPr>
          <p:nvPr>
            <p:ph type="sldNum" idx="5" sz="quarter"/>
          </p:nvPr>
        </p:nvSpPr>
        <p:spPr/>
      </p:sp>
    </p:spTree>
  </p:cSld>
  <p:clrMapOvr>
    <a:masterClrMapping/>
  </p:clrMapOvr>
</p:notes>
</file>

<file path=ppt/notesSlides/notesSlide6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Open with the business pain. Parasol's pipeline builds and deploys the claims service reliably, and then a supplier security audit asks three questions the team cannot answer: what dependencies are in this image, who built it, and can you prove the running image is the one your pipeline produced. "It builds" is not the same as "it is trustworthy." This module adds the three controls that answer those questions — a vulnerability scan gate, image signing with provenance, and a software bill of materials — and makes the cluster refuse to run anything unsigned. Entitlement note: RHACS and RHTAS are part of the Advanced Developer Suite (RHACS is also in Platform Plus), but two of the controls — Tekton Chains signing and the native ImagePolicy admission gate — ship with OpenShift itself.</a:t>
            </a:r>
          </a:p>
        </p:txBody>
      </p:sp>
      <p:sp>
        <p:nvSpPr>
          <p:cNvPr id="4" name="Slide Number Placeholder 3"/>
          <p:cNvSpPr>
            <a:spLocks noGrp="1"/>
          </p:cNvSpPr>
          <p:nvPr>
            <p:ph type="sldNum" idx="5" sz="quarter"/>
          </p:nvPr>
        </p:nvSpPr>
        <p:spPr/>
      </p:sp>
    </p:spTree>
  </p:cSld>
  <p:clrMapOvr>
    <a:masterClrMapping/>
  </p:clrMapOvr>
</p:notes>
</file>

<file path=ppt/notesSlides/notesSlide6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idea under the whole module: the code your team wrote is a small fraction of what you deploy. The claims image is mostly other people's code — the Quarkus runtime, transitive libraries, base-OS layers — pulled in at build time. That's normal and good, and it's the attack surface. When a critical flaw lands in a widely used library (Log4Shell in log4j-core, December 2021, is the canonical case), the question isn't "did we write the bug," it's "is it in anything we ship, and can we find out in minutes." One-paragraph SLSA: it's an industry framework that grades how trustworthy your build process is — not your code, your process — climbing from "build on a hosted system" to "produce signed provenance" to "make it tamper-resistant." You don't memorize levels; a pipeline that builds on the cluster, signs what it produces, and attaches provenance is already climbing — which is exactly what this module gives you.</a:t>
            </a:r>
          </a:p>
        </p:txBody>
      </p:sp>
      <p:sp>
        <p:nvSpPr>
          <p:cNvPr id="4" name="Slide Number Placeholder 3"/>
          <p:cNvSpPr>
            <a:spLocks noGrp="1"/>
          </p:cNvSpPr>
          <p:nvPr>
            <p:ph type="sldNum" idx="5" sz="quarter"/>
          </p:nvPr>
        </p:nvSpPr>
        <p:spPr/>
      </p:sp>
    </p:spTree>
  </p:cSld>
  <p:clrMapOvr>
    <a:masterClrMapping/>
  </p:clrMapOvr>
</p:notes>
</file>

<file path=ppt/notesSlides/notesSlide6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Three artifacts travel with a trustworthy image and answer three different questions — pin the distinction because people conflate them constantly. The signature proves the image is intact and came from us (a cryptographic signature over the digest). The attestation is signed provenance — how the image was built: the builder, the source, the steps, the timestamps, as a SLSA statement. The SBOM is what's inside — every component and version. A signature with no SBOM tells you the image is authentic but not what's in it; an SBOM with no signature tells you what a build contained but not that this image is that build. You need all three, and they reinforce each other: the attestation is signed, the SBOM can be attested, and the signature is what an admission gate checks.</a:t>
            </a:r>
          </a:p>
        </p:txBody>
      </p:sp>
      <p:sp>
        <p:nvSpPr>
          <p:cNvPr id="4" name="Slide Number Placeholder 3"/>
          <p:cNvSpPr>
            <a:spLocks noGrp="1"/>
          </p:cNvSpPr>
          <p:nvPr>
            <p:ph type="sldNum" idx="5" sz="quarter"/>
          </p:nvPr>
        </p:nvSpPr>
        <p:spPr/>
      </p:sp>
    </p:spTree>
  </p:cSld>
  <p:clrMapOvr>
    <a:masterClrMapping/>
  </p:clrMapOvr>
</p:notes>
</file>

<file path=ppt/notesSlides/notesSlide6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There are two places to stop a bad image, and they're not interchangeable — a mature supply chain uses both. Policy-as-gate runs inside the pipeline: build the image, scan it, fail the build if it violates policy. That's where you catch a vulnerable dependency before it's ever published, and its value is shift-left — the developer who introduced the flaw sees it in their own pipeline run, not in a production incident. But a gate only helps if every image goes through the pipeline. Policy-as-admission closes that gap at the cluster: OpenShift's native ImagePolicy tells the node to verify a signature before it will pull an image into a namespace, so an image that never went through your signing pipeline is refused at pull time. The gate is a policy you run; admission is a policy the platform enforces whether or not anyone remembered to run the gate.</a:t>
            </a:r>
          </a:p>
        </p:txBody>
      </p:sp>
      <p:sp>
        <p:nvSpPr>
          <p:cNvPr id="4" name="Slide Number Placeholder 3"/>
          <p:cNvSpPr>
            <a:spLocks noGrp="1"/>
          </p:cNvSpPr>
          <p:nvPr>
            <p:ph type="sldNum" idx="5" sz="quarter"/>
          </p:nvPr>
        </p:nvSpPr>
        <p:spPr/>
      </p:sp>
    </p:spTree>
  </p:cSld>
  <p:clrMapOvr>
    <a:masterClrMapping/>
  </p:clrMapOvr>
</p:notes>
</file>

<file path=ppt/notesSlides/notesSlide6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 gate that fails intermittently trains people to ignore it — so determinism matters. A default RHACS policy like "Fixable Severity at least Important" fires on any fixable CVE in the image, including base-OS CVEs that appear and disappear as the vulnerability feed updates. That's correct for a real security program but makes a teaching gate non-deterministic: the same image can pass Monday and fail Friday. So the lab's gate is scoped to a single policy category containing one deterministic, enforced policy — "Block Log4Shell." It fires on exactly one thing: the seeded log4j-core dependency. Remove that dependency and the gate goes green, reliably. This also sets up an honest point about base images: bumping the older UBI tag is good hardening (fewer base-OS CVEs), but it is not what turns this gate green — the vulnerable dependency is.</a:t>
            </a:r>
          </a:p>
        </p:txBody>
      </p:sp>
      <p:sp>
        <p:nvSpPr>
          <p:cNvPr id="4" name="Slide Number Placeholder 3"/>
          <p:cNvSpPr>
            <a:spLocks noGrp="1"/>
          </p:cNvSpPr>
          <p:nvPr>
            <p:ph type="sldNum" idx="5" sz="quarter"/>
          </p:nvPr>
        </p:nvSpPr>
        <p:spPr/>
      </p:sp>
    </p:spTree>
  </p:cSld>
  <p:clrMapOvr>
    <a:masterClrMapping/>
  </p:clrMapOvr>
</p:notes>
</file>

<file path=ppt/notesSlides/notesSlide6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Signing sounds like work; here it's automatic. Tekton Chains — a component of OpenShift Pipelines — watches every build TaskRun and signs the image it produced, with no per-build wiring, and emits a SLSA provenance attestation describing how the image was built (builder, source, steps, timestamps). It stores the signature and provenance in the registry beside the image, as extra tags derived from the digest, so they travel with the image. The lab signs with a cosign key pair (private key in the cluster, public key verifies) because it's deterministic and needs no per-build identity. The enterprise alternative is keyless — Red Hat Trusted Artifact Signer (Fulcio short-lived certs + a Rekor transparency log) — which removes long-lived keys at the cost of an OIDC dependency and log retention. Reach for keyless when you need public verifiability, not by default.</a:t>
            </a:r>
          </a:p>
        </p:txBody>
      </p:sp>
      <p:sp>
        <p:nvSpPr>
          <p:cNvPr id="4" name="Slide Number Placeholder 3"/>
          <p:cNvSpPr>
            <a:spLocks noGrp="1"/>
          </p:cNvSpPr>
          <p:nvPr>
            <p:ph type="sldNum" idx="5" sz="quarter"/>
          </p:nvPr>
        </p:nvSpPr>
        <p:spPr/>
      </p:sp>
    </p:spTree>
  </p:cSld>
  <p:clrMapOvr>
    <a:masterClrMapping/>
  </p:clrMapOvr>
</p:notes>
</file>

<file path=ppt/notesSlides/notesSlide6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Set expectations for the hands-on, all in your own -cicd project — and it's trust-first. Your environment comes pre-warmed: the pipeline already built, scanned, and signed a clean parasol-claims:latest. Scanning is one beat — you build the seeded branch to a throwaway tag and watch the build succeed and then the scan turn the run red ("Block Log4Shell," CVSS 10, log4j-core 2.14.1), while you read the clean image's already-green verdict beside it. Then the trust spine, all hands-on: you fetch cosign and rekor-cli straight from the Red Hat Trusted Artifact Signer client server, verify the signature against the public key, read the SLSA provenance attestation Chains attached, sign your SBOM keylessly and find its permanent record in the Rekor transparency log, and finally watch a native ImagePolicy make the cluster refuse an unsigned image. Only that last admission beat is instructor-run (ImagePolicy is a cluster resource); everything else you do yourself.</a:t>
            </a:r>
          </a:p>
        </p:txBody>
      </p:sp>
      <p:sp>
        <p:nvSpPr>
          <p:cNvPr id="4" name="Slide Number Placeholder 3"/>
          <p:cNvSpPr>
            <a:spLocks noGrp="1"/>
          </p:cNvSpPr>
          <p:nvPr>
            <p:ph type="sldNum" idx="5" sz="quarter"/>
          </p:nvPr>
        </p:nvSpPr>
        <p:spPr/>
      </p:sp>
    </p:spTree>
  </p:cSld>
  <p:clrMapOvr>
    <a:masterClrMapping/>
  </p:clrMapOvr>
</p:notes>
</file>

<file path=ppt/notesSlides/notesSlide6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Land the transfer and stay honest. Discussion prompts: when the next Log4Shell lands, how fast can you answer "are we affected" — a stored-SBOM query, or a team grepping build files by hand; whether your org signs images today and, if so, where the signature is actually enforced (admission on every cluster, or nowhere); and where the gate should live for a service that matters — pipeline, admission, or both — and which one is missing today. Then the credibility close on restraint: don't gate on non-deterministic policy in a place people can't act (route the noisy "any CVE" policy to a report, not a hard failure); don't sign images you never verify (signing without enforcement is overhead); keyless is powerful but not free (OIDC + log retention); and an SBOM is a snapshot, not a subscription — it's only as useful as the process that keeps and re-scans it.</a:t>
            </a:r>
          </a:p>
        </p:txBody>
      </p:sp>
      <p:sp>
        <p:nvSpPr>
          <p:cNvPr id="4" name="Slide Number Placeholder 3"/>
          <p:cNvSpPr>
            <a:spLocks noGrp="1"/>
          </p:cNvSpPr>
          <p:nvPr>
            <p:ph type="sldNum" idx="5" sz="quarter"/>
          </p:nvPr>
        </p:nvSpPr>
        <p:spPr/>
      </p:sp>
    </p:spTree>
  </p:cSld>
  <p:clrMapOvr>
    <a:masterClrMapping/>
  </p:clrMapOvr>
</p:notes>
</file>

<file path=ppt/notesSlides/notesSlide6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Open with the pain that makes GitOps land. Parasol's claims service is already configured in Git — a plain Kustomize repo with one base and three environment overlays — yet the running dev and stage environments are still changed by hand. Someone runs oc apply, someone scales a Deployment in the console, someone tweaks a ConfigMap to chase a bug, and now the live cluster no longer matches the repository that is supposed to describe it, and nobody can say for certain what is running or how to get back to a known-good state. This module puts a controller inside the cluster in charge of that gap, so Git becomes the single, honest answer to "what is deployed, and why."</a:t>
            </a:r>
          </a:p>
        </p:txBody>
      </p:sp>
      <p:sp>
        <p:nvSpPr>
          <p:cNvPr id="4" name="Slide Number Placeholder 3"/>
          <p:cNvSpPr>
            <a:spLocks noGrp="1"/>
          </p:cNvSpPr>
          <p:nvPr>
            <p:ph type="sldNum" idx="5" sz="quarter"/>
          </p:nvPr>
        </p:nvSpPr>
        <p:spPr/>
      </p:sp>
    </p:spTree>
  </p:cSld>
  <p:clrMapOvr>
    <a:masterClrMapping/>
  </p:clrMapOvr>
</p:notes>
</file>

<file path=ppt/notesSlides/notesSlide6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Contrast the model attendees already know with the one this module teaches. In the pipeline module a build ran oc apply from inside a PipelineRun — the thing that made the change lived outside the cluster and reached in, holding cluster credentials. That is push delivery. Pull inverts it: a controller runs inside the cluster, watches a Git repository, and pulls the desired state in — nothing outside needs cluster credentials because the cluster reconciles itself. Pull buys three things push cannot: Git stays the source of truth continuously (not just at deploy time), no CI job holds a standing key to production, and every environment converges to what its folder in Git says rather than to whatever the last person to touch it did. OpenShift GitOps — Argo CD — is the controller that implements it.</a:t>
            </a:r>
          </a:p>
        </p:txBody>
      </p:sp>
      <p:sp>
        <p:nvSpPr>
          <p:cNvPr id="4" name="Slide Number Placeholder 3"/>
          <p:cNvSpPr>
            <a:spLocks noGrp="1"/>
          </p:cNvSpPr>
          <p:nvPr>
            <p:ph type="sldNum" idx="5" sz="quarter"/>
          </p:nvPr>
        </p:nvSpPr>
        <p:spPr/>
      </p:sp>
    </p:spTree>
  </p:cSld>
  <p:clrMapOvr>
    <a:masterClrMapping/>
  </p:clrMapOvr>
</p:notes>
</file>

<file path=ppt/notesSlides/notesSlide7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controller does one thing forever — compare desired against live and converge them. Desired state is the manifests at a path in a Git repo at a revision (your overlays/dev folder on main); live state is the actual objects in a destination namespace. Reconcile renders the desired manifests, diffs them against live, and reports two facts: sync status (Synced when they match, OutOfSync when they differ) and health (is the app actually up). The object that ties one source to one destination is the Application — a small custom resource that is really just "this Git path, into that namespace, reconciled this way." Attendees create it in the Argo CD web UI, signed in with their OpenShift identity — not with oc apply — because the instance is shared and Argo CD scopes each person to their own project.</a:t>
            </a:r>
          </a:p>
        </p:txBody>
      </p:sp>
      <p:sp>
        <p:nvSpPr>
          <p:cNvPr id="4" name="Slide Number Placeholder 3"/>
          <p:cNvSpPr>
            <a:spLocks noGrp="1"/>
          </p:cNvSpPr>
          <p:nvPr>
            <p:ph type="sldNum" idx="5" sz="quarter"/>
          </p:nvPr>
        </p:nvSpPr>
        <p:spPr/>
      </p:sp>
    </p:spTree>
  </p:cSld>
  <p:clrMapOvr>
    <a:masterClrMapping/>
  </p:clrMapOvr>
</p:notes>
</file>

<file path=ppt/notesSlides/notesSlide7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the beat that makes GitOps click. Drift is when the live cluster stops matching Git — someone scales the Deployment from 1 replica to 3 in the console. The moment Argo CD compares desired against live it goes OutOfSync and shows the exact diff: live replicas 3, desired 1. What happens next is a choice on the Application. With manual sync, Argo reports the drift and waits — nothing changes until you press Sync, which reapplies Git and the count snaps back to 1. Turn on self-heal and Argo stops waiting: it watches the resources it manages, so it catches drift the moment it happens and reverts it on its own in a few seconds — measured about four on our cluster — with no human. The periodic reconcile interval is only the ceiling. Either way, you cannot out-edit Git.</a:t>
            </a:r>
          </a:p>
        </p:txBody>
      </p:sp>
      <p:sp>
        <p:nvSpPr>
          <p:cNvPr id="4" name="Slide Number Placeholder 3"/>
          <p:cNvSpPr>
            <a:spLocks noGrp="1"/>
          </p:cNvSpPr>
          <p:nvPr>
            <p:ph type="sldNum" idx="5" sz="quarter"/>
          </p:nvPr>
        </p:nvSpPr>
        <p:spPr/>
      </p:sp>
    </p:spTree>
  </p:cSld>
  <p:clrMapOvr>
    <a:masterClrMapping/>
  </p:clrMapOvr>
</p:notes>
</file>

<file path=ppt/notesSlides/notesSlide7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GitOps does not replace how you describe an app — it reconciles whatever your Git repo renders to. The claims-config repo is plain Kustomize: one base that describes a claims environment once (ConfigMap, Secret, database, Deployment, Service, Route) and three overlays that change only what differs — replica count, APP_ENV, log level — while the image stays identical across all three. Point an Application at overlays/dev and Argo reconciles the dev variant; point another at overlays/stage and it reconciles stage, from the same base. Helm is the other common way to render manifests — a packaged chart with a values file — and Argo renders it just as happily; an Application's source can name either. Rule of thumb: Kustomize when you are layering patches over YAML you own, Helm when you are installing a packaged app whose author exposes a values contract.</a:t>
            </a:r>
          </a:p>
        </p:txBody>
      </p:sp>
      <p:sp>
        <p:nvSpPr>
          <p:cNvPr id="4" name="Slide Number Placeholder 3"/>
          <p:cNvSpPr>
            <a:spLocks noGrp="1"/>
          </p:cNvSpPr>
          <p:nvPr>
            <p:ph type="sldNum" idx="5" sz="quarter"/>
          </p:nvPr>
        </p:nvSpPr>
        <p:spPr/>
      </p:sp>
    </p:spTree>
  </p:cSld>
  <p:clrMapOvr>
    <a:masterClrMapping/>
  </p:clrMapOvr>
</p:notes>
</file>

<file path=ppt/notesSlides/notesSlide7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Set expectations for the hands-on, all in your own dev and stage namespaces. First you tour the claims-config fork and render an overlay with oc kustomize so you can see the desired state — seven objects — before a controller applies it. Then you create your first Argo CD Application in the web UI, signed in via OpenShift (an oc apply is refused by design — the instance is shared), and Sync it to deploy the claims app from Git, GitOps-managed. The signature beat: you scale the live app by hand and watch Argo flag it OutOfSync and put it back — first when you press Sync, then, with self-heal on, on its own in seconds. Finally you promote to stage the GitOps way: edit a replica count in Git, and the change arrives in the cluster because Git changed — reviewed as a commit, diffed before it lands, revertible by reverting it.</a:t>
            </a:r>
          </a:p>
        </p:txBody>
      </p:sp>
      <p:sp>
        <p:nvSpPr>
          <p:cNvPr id="4" name="Slide Number Placeholder 3"/>
          <p:cNvSpPr>
            <a:spLocks noGrp="1"/>
          </p:cNvSpPr>
          <p:nvPr>
            <p:ph type="sldNum" idx="5" sz="quarter"/>
          </p:nvPr>
        </p:nvSpPr>
        <p:spPr/>
      </p:sp>
    </p:spTree>
  </p:cSld>
  <p:clrMapOvr>
    <a:masterClrMapping/>
  </p:clrMapOvr>
</p:notes>
</file>

<file path=ppt/notesSlides/notesSlide7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Land the transfer and stay honest. Discussion prompts: whether the true state of your environments lives in a Git commit or in the cluster and people's memories; the last outage that started with an undocumented change to a running environment, and whether you would want self-heal enforcing Git there; and whether moving a change to production means merging a reviewed commit or a person with cluster credentials running apply. Then the credibility close on restraint: GitOps is for declarative state you want continuously reconciled, so don't put fast, ephemeral, imperative work in it (a one-off migration is a Job, not an Application); don't turn on self-heal where humans legitimately hold the wheel, like a break-glass or actively-debugged environment; and never commit a plaintext secret to make GitOps "complete" — source secrets from a manager and let GitOps reconcile the reference, not the value. Scale (many apps, ApplicationSets, progressive delivery) is the next GitOps module.</a:t>
            </a:r>
          </a:p>
        </p:txBody>
      </p:sp>
      <p:sp>
        <p:nvSpPr>
          <p:cNvPr id="4" name="Slide Number Placeholder 3"/>
          <p:cNvSpPr>
            <a:spLocks noGrp="1"/>
          </p:cNvSpPr>
          <p:nvPr>
            <p:ph type="sldNum" idx="5" sz="quarter"/>
          </p:nvPr>
        </p:nvSpPr>
        <p:spPr/>
      </p:sp>
    </p:spTree>
  </p:cSld>
  <p:clrMapOvr>
    <a:masterClrMapping/>
  </p:clrMapOvr>
</p:notes>
</file>

<file path=ppt/notesSlides/notesSlide7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Open with the two pains this module fixes. Parasol's claims service is GitOps-managed in dev and stage, but as two hand-made Argo CD Applications. That is fine for one service; count it at real scale — a dozen services, three environments each — and it is thirty-six near-identical Applications a human has to author and keep consistent, and they drift. The second pain is delivery: pushing a new build straight to all of production at 100% bets the whole environment on it working. This module generates the fleet from one object and makes a production deploy safe to automate.</a:t>
            </a:r>
          </a:p>
        </p:txBody>
      </p:sp>
      <p:sp>
        <p:nvSpPr>
          <p:cNvPr id="4" name="Slide Number Placeholder 3"/>
          <p:cNvSpPr>
            <a:spLocks noGrp="1"/>
          </p:cNvSpPr>
          <p:nvPr>
            <p:ph type="sldNum" idx="5" sz="quarter"/>
          </p:nvPr>
        </p:nvSpPr>
        <p:spPr/>
      </p:sp>
    </p:spTree>
  </p:cSld>
  <p:clrMapOvr>
    <a:masterClrMapping/>
  </p:clrMapOvr>
</p:notes>
</file>

<file path=ppt/notesSlides/notesSlide7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An ApplicationSet removes the toil. You describe the Application once as a template and hand it a generator — a source of truth for "what set of things should exist." A list generator enumerates environments inline; a git generator discovers them from folders; a cluster generator makes one per registered cluster; matrix/merge combine them. Parameters in, Applications out. Take a position on layout: folders, not branches — one main branch with overlays/dev, overlays/stage, overlays/prod side by side, so "what's different about prod" is the difference between folders, not a diff between drifting branches. And environments can differ in kind: dev/stage are plain Deployments, prod is a Rollout — one ApplicationSet still covers all three.</a:t>
            </a:r>
          </a:p>
        </p:txBody>
      </p:sp>
      <p:sp>
        <p:nvSpPr>
          <p:cNvPr id="4" name="Slide Number Placeholder 3"/>
          <p:cNvSpPr>
            <a:spLocks noGrp="1"/>
          </p:cNvSpPr>
          <p:nvPr>
            <p:ph type="sldNum" idx="5" sz="quarter"/>
          </p:nvPr>
        </p:nvSpPr>
        <p:spPr/>
      </p:sp>
    </p:spTree>
  </p:cSld>
  <p:clrMapOvr>
    <a:masterClrMapping/>
  </p:clrMapOvr>
</p:notes>
</file>

<file path=ppt/notesSlides/notesSlide7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Applying a folder all at once is usually fine — Kubernetes retries. It is not fine when order matters: a schema migration must run after the database accepts connections and before the app boots against it. Argo CD gives you two tools. Sync waves: an integer annotation groups resources; Argo applies all of wave 0, waits for health, then wave 1, then wave 2. Resource hooks: a Sync hook runs as part of the sync rather than as steady state — the idiomatic way to slot in a one-shot Job. Production uses exactly this: database at wave 0, the migration Job as a Sync hook at wave 1, the app Rollout at wave 2 — so the app is never created against a schema that isn't ready, unattended, every time.</a:t>
            </a:r>
          </a:p>
        </p:txBody>
      </p:sp>
      <p:sp>
        <p:nvSpPr>
          <p:cNvPr id="4" name="Slide Number Placeholder 3"/>
          <p:cNvSpPr>
            <a:spLocks noGrp="1"/>
          </p:cNvSpPr>
          <p:nvPr>
            <p:ph type="sldNum" idx="5" sz="quarter"/>
          </p:nvPr>
        </p:nvSpPr>
        <p:spPr/>
      </p:sp>
    </p:spTree>
  </p:cSld>
  <p:clrMapOvr>
    <a:masterClrMapping/>
  </p:clrMapOvr>
</p:notes>
</file>

<file path=ppt/notesSlides/notesSlide7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GitOps gets the new manifests into prod; it does not tell you whether the new version is healthy under real conditions. Rolling to all pods at once bets the environment on the answer being yes. Progressive delivery refuses the bet: route a small slice to the new version, watch it, widen only as it proves itself, and revert automatically if it fails. Argo Rollouts is the controller — a drop-in for a Deployment whose strategy describes the shift. The canary steps: 25% to the canary, a pause to bake, 50%, then an automated analysis step probes the canary's real readiness, and only on success does it take 100%. Be honest about the mechanism: traffic splits by pod ratio (1 of 4 pods at 25%), which needs no extra infrastructure; exact request percentages or header routing need a traffic router — a Route plugin or a mesh.</a:t>
            </a:r>
          </a:p>
        </p:txBody>
      </p:sp>
      <p:sp>
        <p:nvSpPr>
          <p:cNvPr id="4" name="Slide Number Placeholder 3"/>
          <p:cNvSpPr>
            <a:spLocks noGrp="1"/>
          </p:cNvSpPr>
          <p:nvPr>
            <p:ph type="sldNum" idx="5" sz="quarter"/>
          </p:nvPr>
        </p:nvSpPr>
        <p:spPr/>
      </p:sp>
    </p:spTree>
  </p:cSld>
  <p:clrMapOvr>
    <a:masterClrMapping/>
  </p:clrMapOvr>
</p:notes>
</file>

<file path=ppt/notesSlides/notesSlide7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the beat that makes the toil worth it. In the lab you force an analysis failure — a deterministic stand-in for a canary whose real metrics spiked — and ship. The canary reaches the analysis step, the analysis reports Failed, and the Rollout aborts and rolls back to the stable version on its own: no human noticed, decided, and acted under pressure. And production never went down — the stable pods served every request through the entire failed rollout; the route answered 200 the whole time. Then you read the failed AnalysisRun the way you'd read an incident review, except the rollback already happened. That is the whole promise: a production deploy that is safe to automate because a bad one reverts itself before anyone sees it.</a:t>
            </a:r>
          </a:p>
        </p:txBody>
      </p:sp>
      <p:sp>
        <p:nvSpPr>
          <p:cNvPr id="4" name="Slide Number Placeholder 3"/>
          <p:cNvSpPr>
            <a:spLocks noGrp="1"/>
          </p:cNvSpPr>
          <p:nvPr>
            <p:ph type="sldNum" idx="5" sz="quarter"/>
          </p:nvPr>
        </p:nvSpPr>
        <p:spPr/>
      </p:sp>
    </p:spTree>
  </p:cSld>
  <p:clrMapOvr>
    <a:masterClrMapping/>
  </p:clrMapOvr>
</p:notes>
</file>

<file path=ppt/notesSlides/notesSlide8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Canary is one progressive-delivery strategy; blue-green is the other, and the same controller serves both. Canary shifts gradually and gates on analysis mid-rollout, costing a small extra slice. Blue-green runs two full versions side by side — blue live behind an active service, green new behind a preview service — and cuts over all at once when you promote, with a manual gate and double capacity for the window. Reach for canary to limit blast radius when you can measure health during the rollout; reach for blue-green for a clean instant switch after a full pre-flight on a preview URL. And Rollouts is only the deployment-controller way to shift traffic — a service mesh shifts by routing rules, serverless by revision tags; both are their own modules. Rule of thumb: Rollouts when delivery is driven by the deployment and gated by metrics.</a:t>
            </a:r>
          </a:p>
        </p:txBody>
      </p:sp>
      <p:sp>
        <p:nvSpPr>
          <p:cNvPr id="4" name="Slide Number Placeholder 3"/>
          <p:cNvSpPr>
            <a:spLocks noGrp="1"/>
          </p:cNvSpPr>
          <p:nvPr>
            <p:ph type="sldNum" idx="5" sz="quarter"/>
          </p:nvPr>
        </p:nvSpPr>
        <p:spPr/>
      </p:sp>
    </p:spTree>
  </p:cSld>
  <p:clrMapOvr>
    <a:masterClrMapping/>
  </p:clrMapOvr>
</p:notes>
</file>

<file path=ppt/notesSlides/notesSlide8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Land the transfer and stay honest. In your org: how many deployment definitions are quietly drifting because each environment is a hand-maintained copy rather than generated from one source? When a bad release last reached prod, how did you find out, and how much of recovery was a human noticing? Is your "run the migration in the right place" rule structural or a runbook step someone can skip? Then the credibility close on restraint: don't canary a change whose failure is slow or downstream — a short readiness analysis will pass a subtle data bug; gate those on tests and manual promotion. Don't reach for pod-ratio when you need exact or header-based traffic — that needs a traffic router. Don't auto-promote before your analysis has earned trust. And blue-green's clean cutover costs a full second copy — pick the strategy your capacity affords.</a:t>
            </a:r>
          </a:p>
        </p:txBody>
      </p:sp>
      <p:sp>
        <p:nvSpPr>
          <p:cNvPr id="4" name="Slide Number Placeholder 3"/>
          <p:cNvSpPr>
            <a:spLocks noGrp="1"/>
          </p:cNvSpPr>
          <p:nvPr>
            <p:ph type="sldNum" idx="5" sz="quarter"/>
          </p:nvPr>
        </p:nvSpPr>
        <p:spPr/>
      </p:sp>
    </p:spTree>
  </p:cSld>
  <p:clrMapOvr>
    <a:masterClrMapping/>
  </p:clrMapOvr>
</p:notes>
</file>

<file path=ppt/notesSlides/notesSlide8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Open with the pain this module resolves. By now the workshop has assembled a real platform — trusted builds, pipelines, supply-chain security, GitOps, progressive delivery. Every one of those is a capability, and every one is another tool, repo layout, and convention a developer must learn before they are productive. The tenth engineer to create a service reverse-engineers how the last nine did it, or copies a repo that was already subtly wrong. Standards that live in a wiki drift: the probe gets forgotten, the base image goes stale. The problem is not the tools; it is the cognitive load and the missing on-ramp. This module is the on-ramp.</a:t>
            </a:r>
          </a:p>
        </p:txBody>
      </p:sp>
      <p:sp>
        <p:nvSpPr>
          <p:cNvPr id="4" name="Slide Number Placeholder 3"/>
          <p:cNvSpPr>
            <a:spLocks noGrp="1"/>
          </p:cNvSpPr>
          <p:nvPr>
            <p:ph type="sldNum" idx="5" sz="quarter"/>
          </p:nvPr>
        </p:nvSpPr>
        <p:spPr/>
      </p:sp>
    </p:spTree>
  </p:cSld>
  <p:clrMapOvr>
    <a:masterClrMapping/>
  </p:clrMapOvr>
</p:notes>
</file>

<file path=ppt/notesSlides/notesSlide8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first thing a developer portal — Red Hat Developer Hub, Red Hat's build of Backstage — gives you is a software catalog: a live inventory modelled as typed entities. A Component is a service or website; an API is a contract it provides or consumes; a System groups components that work together; a Group is the team that owns them. Because the relationships are typed, the catalog is a map, not a spreadsheet: it renders who owns the claims service, which System it belongs to, which API it provides, who consumes that API. And each entity's source of truth is a small catalog-info.yaml in the service's own repo — described as code, reviewed in pull requests, as current as the last commit. When you onboard someone, you point them at the catalog, not a diagram three reorgs out of date.</a:t>
            </a:r>
          </a:p>
        </p:txBody>
      </p:sp>
      <p:sp>
        <p:nvSpPr>
          <p:cNvPr id="4" name="Slide Number Placeholder 3"/>
          <p:cNvSpPr>
            <a:spLocks noGrp="1"/>
          </p:cNvSpPr>
          <p:nvPr>
            <p:ph type="sldNum" idx="5" sz="quarter"/>
          </p:nvPr>
        </p:nvSpPr>
        <p:spPr/>
      </p:sp>
    </p:spTree>
  </p:cSld>
  <p:clrMapOvr>
    <a:masterClrMapping/>
  </p:clrMapOvr>
</p:notes>
</file>

<file path=ppt/notesSlides/notesSlide8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 catalog tells you what exists; a golden path is how you create something new, correctly, without learning the whole platform first. Concretely it is a Software Template: a form plus steps. The developer names a service, and the template scaffolds a complete, standards-compliant service — source with health, metrics, and tracing already wired; a trusted UBI base image; a build recipe; a catalog entry; a workspace. The phrase that matters is paved road, not cage: a cage forces one way and punishes deviation; a paved road makes the right thing the easy thing while leaving you free to drive off it with a reason. The scaffolded service is plain, editable code in your own repo — you own it the moment it is created. The template gave you a correct starting line and got out of the way.</a:t>
            </a:r>
          </a:p>
        </p:txBody>
      </p:sp>
      <p:sp>
        <p:nvSpPr>
          <p:cNvPr id="4" name="Slide Number Placeholder 3"/>
          <p:cNvSpPr>
            <a:spLocks noGrp="1"/>
          </p:cNvSpPr>
          <p:nvPr>
            <p:ph type="sldNum" idx="5" sz="quarter"/>
          </p:nvPr>
        </p:nvSpPr>
        <p:spPr/>
      </p:sp>
    </p:spTree>
  </p:cSld>
  <p:clrMapOvr>
    <a:masterClrMapping/>
  </p:clrMapOvr>
</p:notes>
</file>

<file path=ppt/notesSlides/notesSlide8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why the golden path is the payoff of the whole delivery-and-trust block. Everything you did by hand across the earlier modules — choosing a trusted base image, wiring probes and metrics, describing the app for GitOps, laying out the repo — is a decision the platform team makes once and encodes in the template. The new engineer does not re-derive those decisions; they inherit them. And notice when compliance happens: without a golden path, a service is created some ad-hoc way and audited later — someone finds the missing probe and files a ticket. With one, the service starts already carrying probes, a trusted image, and an owner, so compliance is the default state at creation. Auditing shifts from find-and-fix-the-drift to confirm-the-road-was-used. And the leverage compounds: improve the template once and every service created after inherits it.</a:t>
            </a:r>
          </a:p>
        </p:txBody>
      </p:sp>
      <p:sp>
        <p:nvSpPr>
          <p:cNvPr id="4" name="Slide Number Placeholder 3"/>
          <p:cNvSpPr>
            <a:spLocks noGrp="1"/>
          </p:cNvSpPr>
          <p:nvPr>
            <p:ph type="sldNum" idx="5" sz="quarter"/>
          </p:nvPr>
        </p:nvSpPr>
        <p:spPr/>
      </p:sp>
    </p:spTree>
  </p:cSld>
  <p:clrMapOvr>
    <a:masterClrMapping/>
  </p:clrMapOvr>
</p:notes>
</file>

<file path=ppt/notesSlides/notesSlide8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the lab you are the new Parasol engineer. First you tour the software catalog and read what it knows about the claims service — owner, System, the API it provides — all from files next to the code. Then you run the New Parasol microservice template: a short form scaffolds a complete Quarkus Java 21 service into your own Git organization, publishes the repo, and registers it in the catalog, where it appears immediately as part of the parasol-insurance System. You inspect the paved road — probes, metrics, tracing, a trusted UBI9 image, a build recipe, a workspace, none of it hand-written — then build its image in-cluster and run it, watching the health and metrics endpoints answer observability you never set up. And you break it on purpose: run the template twice with the same name and read the honest failure.</a:t>
            </a:r>
          </a:p>
        </p:txBody>
      </p:sp>
      <p:sp>
        <p:nvSpPr>
          <p:cNvPr id="4" name="Slide Number Placeholder 3"/>
          <p:cNvSpPr>
            <a:spLocks noGrp="1"/>
          </p:cNvSpPr>
          <p:nvPr>
            <p:ph type="sldNum" idx="5" sz="quarter"/>
          </p:nvPr>
        </p:nvSpPr>
        <p:spPr/>
      </p:sp>
    </p:spTree>
  </p:cSld>
  <p:clrMapOvr>
    <a:masterClrMapping/>
  </p:clrMapOvr>
</p:notes>
</file>

<file path=ppt/notesSlides/notesSlide8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Land the transfer and stay honest. In your org: how does a new service actually get created, and who has to be in the room — is it scaffolded from a template the platform team owns, or copied from an existing repo and fixed up later? When someone asks who owns a service and what depends on it, is that a query against a live map or an archaeology project? And which of your standards are enforced by construction versus found missing in an audit? Then the credibility close on restraint. Do not stand up a portal you will not feed — a catalog nobody maintains rots into the stale wiki it replaced, now with more to run. Do not let golden paths sprawl into the copy-and-drift problem one level up. Do not turn the paved road into a cage teams route around. And do not platform-engineer every workflow — templatize the common path, leave the genuine one-offs alone. The portal is production software; it earns its cost when cognitive load is the real problem, not before.</a:t>
            </a:r>
          </a:p>
        </p:txBody>
      </p:sp>
      <p:sp>
        <p:nvSpPr>
          <p:cNvPr id="4" name="Slide Number Placeholder 3"/>
          <p:cNvSpPr>
            <a:spLocks noGrp="1"/>
          </p:cNvSpPr>
          <p:nvPr>
            <p:ph type="sldNum" idx="5" sz="quarter"/>
          </p:nvPr>
        </p:nvSpPr>
        <p:spPr/>
      </p:sp>
    </p:spTree>
  </p:cSld>
  <p:clrMapOvr>
    <a:masterClrMapping/>
  </p:clrMapOvr>
</p:notes>
</file>

<file path=ppt/notesSlides/notesSlide8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Open on the 2 a.m. page. The claims service is throwing errors and the on-call can see that it's unhealthy but not why. The expensive part of an incident is almost never the fix — it's finding where. This module turns the claims service from something you run blind into something you can see and steer, using only capabilities the platform already ships. Two halves: observability (see the fault fast) and health/scale (survive the load spikes and node maintenance that cause a lot of the pages in the first place).</a:t>
            </a:r>
          </a:p>
        </p:txBody>
      </p:sp>
      <p:sp>
        <p:nvSpPr>
          <p:cNvPr id="4" name="Slide Number Placeholder 3"/>
          <p:cNvSpPr>
            <a:spLocks noGrp="1"/>
          </p:cNvSpPr>
          <p:nvPr>
            <p:ph type="sldNum" idx="5" sz="quarter"/>
          </p:nvPr>
        </p:nvSpPr>
        <p:spPr/>
      </p:sp>
    </p:spTree>
  </p:cSld>
  <p:clrMapOvr>
    <a:masterClrMapping/>
  </p:clrMapOvr>
</p:notes>
</file>

<file path=ppt/notesSlides/notesSlide8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foundation. Metrics are numbers over time — request rate, error rate, latency, CPU — always on and what you alert on, but a metric won't tell you which claim failed. Logs are individual events with full detail, but at scale they're a firehose. Traces follow one request across every service and DB call and show where the time went. The operating discipline is metrics to notice and alert, traces to locate the fault, logs to confirm the detail. Parasol's claims service is deliberately quiet at runtime — a healthy request logs nothing — which is exactly why you don't operate it by tailing logs.</a:t>
            </a:r>
          </a:p>
        </p:txBody>
      </p:sp>
      <p:sp>
        <p:nvSpPr>
          <p:cNvPr id="4" name="Slide Number Placeholder 3"/>
          <p:cNvSpPr>
            <a:spLocks noGrp="1"/>
          </p:cNvSpPr>
          <p:nvPr>
            <p:ph type="sldNum" idx="5" sz="quarter"/>
          </p:nvPr>
        </p:nvSpPr>
        <p:spPr/>
      </p:sp>
    </p:spTree>
  </p:cSld>
  <p:clrMapOvr>
    <a:masterClrMapping/>
  </p:clrMapOvr>
</p:notes>
</file>

<file path=ppt/notesSlides/notesSlide9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surprise that lands: there's no monitoring to install. User-workload monitoring is already running. To get your app in, you point it at your app with a ServiceMonitor — a small object that says "scrape this Service every 30 seconds." The claims service already exposes Prometheus metrics at /q/metrics — the framework's HTTP timers plus a business metric the team added by hand, claims_created_total. Your job isn't to build the plumbing; it's to consume it: read, alert, act. Same story for traces — the app emits OpenTelemetry to a shared collector that forwards to Tempo, so "add tracing" is a platform decision, not a per-app rewrite.</a:t>
            </a:r>
          </a:p>
        </p:txBody>
      </p:sp>
      <p:sp>
        <p:nvSpPr>
          <p:cNvPr id="4" name="Slide Number Placeholder 3"/>
          <p:cNvSpPr>
            <a:spLocks noGrp="1"/>
          </p:cNvSpPr>
          <p:nvPr>
            <p:ph type="sldNum" idx="5" sz="quarter"/>
          </p:nvPr>
        </p:nvSpPr>
        <p:spPr/>
      </p:sp>
    </p:spTree>
  </p:cSld>
  <p:clrMapOvr>
    <a:masterClrMapping/>
  </p:clrMapOvr>
</p:notes>
</file>

<file path=ppt/notesSlides/notesSlide9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An alert is a metric-watcher that fires when a line is crossed. You author it as a PrometheusRule in your own namespace; user-workload monitoring scopes it to you. Alert on symptoms — the 5xx rate your users feel — not on every internal metric, or you train people to ignore the pager. Then earn it: scale the database to zero and the API 500s. On the build run the alert went Pending at ~77s and Firing at ~195s — the 2-minute `for:` window stops a blip from paging anyone. The recovery is the lesson: bringing the database back isn't enough because the app holds dead connections — you restart the app to drop the poisoned pool.</a:t>
            </a:r>
          </a:p>
        </p:txBody>
      </p:sp>
      <p:sp>
        <p:nvSpPr>
          <p:cNvPr id="4" name="Slide Number Placeholder 3"/>
          <p:cNvSpPr>
            <a:spLocks noGrp="1"/>
          </p:cNvSpPr>
          <p:nvPr>
            <p:ph type="sldNum" idx="5" sz="quarter"/>
          </p:nvPr>
        </p:nvSpPr>
        <p:spPr/>
      </p:sp>
    </p:spTree>
  </p:cSld>
  <p:clrMapOvr>
    <a:masterClrMapping/>
  </p:clrMapOvr>
</p:notes>
</file>

<file path=ppt/notesSlides/notesSlide9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When metrics say the error rate is up, a trace tells you which request and where its time went. The claims service emits an OpenTelemetry trace per request; the Cluster Observability Operator's distributed-tracing plugin surfaces them in Observe → Traces. Rank by duration to find the outlier — the history endpoint's N+1 (one DB query per event) is the shape you're hunting. Honest scoping: the image emits the HTTP span today; per-query DB spans are a build-time flag tracked as an enhancement, so the trace tells you which endpoint, and the code tells you why. The modern glue: each metric carries a trace_id exemplar, so a latency spike links straight to the one request that caused it.</a:t>
            </a:r>
          </a:p>
        </p:txBody>
      </p:sp>
      <p:sp>
        <p:nvSpPr>
          <p:cNvPr id="4" name="Slide Number Placeholder 3"/>
          <p:cNvSpPr>
            <a:spLocks noGrp="1"/>
          </p:cNvSpPr>
          <p:nvPr>
            <p:ph type="sldNum" idx="5" sz="quarter"/>
          </p:nvPr>
        </p:nvSpPr>
        <p:spPr/>
      </p:sp>
    </p:spTree>
  </p:cSld>
  <p:clrMapOvr>
    <a:masterClrMapping/>
  </p:clrMapOvr>
</p:notes>
</file>

<file path=ppt/notesSlides/notesSlide9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"It's slow — add replicas" is only sometimes right. Four tools: HPA adds replicas when CPU/memory climbs with traffic (the workhorse, and what you build — it needs a CPU request to compute utilization against). Serverless scales to zero for spiky/idle services. KEDA scales on external signals like queue depth for event-driven work. VPA right-sizes one pod rather than adding pods — useful, but never point a VPA and an HPA at the same resource, they fight. The live moment: drive a burst, CPU hits 221%, the HPA scales to the ceiling of 4 in about 24 seconds, then holds for a 5-minute window before shrinking so it doesn't flap.</a:t>
            </a:r>
          </a:p>
        </p:txBody>
      </p:sp>
      <p:sp>
        <p:nvSpPr>
          <p:cNvPr id="4" name="Slide Number Placeholder 3"/>
          <p:cNvSpPr>
            <a:spLocks noGrp="1"/>
          </p:cNvSpPr>
          <p:nvPr>
            <p:ph type="sldNum" idx="5" sz="quarter"/>
          </p:nvPr>
        </p:nvSpPr>
        <p:spPr/>
      </p:sp>
    </p:spTree>
  </p:cSld>
  <p:clrMapOvr>
    <a:masterClrMapping/>
  </p:clrMapOvr>
</p:notes>
</file>

<file path=ppt/notesSlides/notesSlide9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Autoscaling handles load; the other half of staying up is voluntary disruption — the node drains that happen every patch cycle. A PodDisruptionBudget is your app's contract with the platform: you may take my pods for maintenance, but never leave me below one healthy. On a drain, the platform evicts one pod, waits for its replacement to be healthy, then takes the next — never the last. The mechanism is the eviction API literally refusing: "Cannot evict pod as it would violate the pod's disruption budget." That turns a routine node drain from an outage risk into a routine operation. Watch out for the deadlock: minAvailable at or above your replica count means zero allowed disruptions and a drain that blocks forever.</a:t>
            </a:r>
          </a:p>
        </p:txBody>
      </p:sp>
      <p:sp>
        <p:nvSpPr>
          <p:cNvPr id="4" name="Slide Number Placeholder 3"/>
          <p:cNvSpPr>
            <a:spLocks noGrp="1"/>
          </p:cNvSpPr>
          <p:nvPr>
            <p:ph type="sldNum" idx="5" sz="quarter"/>
          </p:nvPr>
        </p:nvSpPr>
        <p:spPr/>
      </p:sp>
    </p:spTree>
  </p:cSld>
  <p:clrMapOvr>
    <a:masterClrMapping/>
  </p:clrMapOvr>
</p:notes>
</file>

<file path=ppt/notesSlides/notesSlide9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Close by connecting it back. You instrumented nothing and consumed everything: golden signals and a business metric, an alert you made fire, a trace, an HPA, a PDB — the observability, health and scale layer over the platform you'd built through the earlier modules. And the punchline for the room's leadership: user-workload monitoring, the Cluster Observability Operator, Tempo and OpenTelemetry all ship with OpenShift. Teams that treat "add monitoring" as a procurement project are usually re-buying what their subscription already includes.</a:t>
            </a:r>
          </a:p>
        </p:txBody>
      </p:sp>
      <p:sp>
        <p:nvSpPr>
          <p:cNvPr id="4" name="Slide Number Placeholder 3"/>
          <p:cNvSpPr>
            <a:spLocks noGrp="1"/>
          </p:cNvSpPr>
          <p:nvPr>
            <p:ph type="sldNum" idx="5" sz="quarter"/>
          </p:nvPr>
        </p:nvSpPr>
        <p:spPr/>
      </p:sp>
    </p:spTree>
  </p:cSld>
  <p:clrMapOvr>
    <a:masterClrMapping/>
  </p:clrMapOvr>
</p:notes>
</file>

<file path=ppt/notesSlides/notesSlide9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Open on the open API. Show that reading every claim takes *nothing* — no credentials at all. That is not a strawman; it is how a huge share of real internal breaches actually work: one thing lands on the trusted network and everything on it answers. The module's job is to make the apps trust a *token they can validate* instead of a network location, using Red Hat build of Keycloak — the identity and SSO product that ships with OpenShift. The promise to the room: no password checks, no session store, no login page written by us.</a:t>
            </a:r>
          </a:p>
        </p:txBody>
      </p:sp>
      <p:sp>
        <p:nvSpPr>
          <p:cNvPr id="4" name="Slide Number Placeholder 3"/>
          <p:cNvSpPr>
            <a:spLocks noGrp="1"/>
          </p:cNvSpPr>
          <p:nvPr>
            <p:ph type="sldNum" idx="5" sz="quarter"/>
          </p:nvPr>
        </p:nvSpPr>
        <p:spPr/>
      </p:sp>
    </p:spTree>
  </p:cSld>
  <p:clrMapOvr>
    <a:masterClrMapping/>
  </p:clrMapOvr>
</p:notes>
</file>

<file path=ppt/notesSlides/notesSlide9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single most common security bug is confusing these two. Authentication proves identity; authorization checks permission. The Parasol `viewer` user has a correct password and a valid token — authentication succeeds — and must still be refused, because listing claims needs a role they lack. The lab makes this concrete as HTTP status codes: 401 Unauthorized means the API does not know who you are; 403 Forbidden means it knows exactly and the answer is no. Keep them straight and half of app security falls into place.</a:t>
            </a:r>
          </a:p>
        </p:txBody>
      </p:sp>
      <p:sp>
        <p:nvSpPr>
          <p:cNvPr id="4" name="Slide Number Placeholder 3"/>
          <p:cNvSpPr>
            <a:spLocks noGrp="1"/>
          </p:cNvSpPr>
          <p:nvPr>
            <p:ph type="sldNum" idx="5" sz="quarter"/>
          </p:nvPr>
        </p:nvSpPr>
        <p:spPr/>
      </p:sp>
    </p:spTree>
  </p:cSld>
  <p:clrMapOvr>
    <a:masterClrMapping/>
  </p:clrMapOvr>
</p:notes>
</file>

<file path=ppt/notesSlides/notesSlide9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OAuth/OIDC define many flows; four cover almost every enterprise app and this module teaches exactly those. Auth-code + PKCE protects the browser app — the human logs in at Keycloak, the app gets a code it swaps for tokens, and PKCE (a one-time per-login secret) makes a stolen code useless. Bearer protects the API — every request carries a self-contained token the API validates against Keycloak's public keys, no session. Client credentials is for machines with no human. Token exchange is for one service calling another as the user, and its defining property — proven in the lab — is that it can downscope but never escalate.</a:t>
            </a:r>
          </a:p>
        </p:txBody>
      </p:sp>
      <p:sp>
        <p:nvSpPr>
          <p:cNvPr id="4" name="Slide Number Placeholder 3"/>
          <p:cNvSpPr>
            <a:spLocks noGrp="1"/>
          </p:cNvSpPr>
          <p:nvPr>
            <p:ph type="sldNum" idx="5" sz="quarter"/>
          </p:nvPr>
        </p:nvSpPr>
        <p:spPr/>
      </p:sp>
    </p:spTree>
  </p:cSld>
  <p:clrMapOvr>
    <a:masterClrMapping/>
  </p:clrMapOvr>
</p:notes>
</file>

<file path=ppt/notesSlides/notesSlide9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Keycloak's vocabulary is small. A realm is a self-contained world — its own users, roles, clients, keys, login page — and this workshop gives every attendee their own, the same isolation a platform team uses to separate business units. A client is an app talking to the realm; public clients (the browser) cannot keep a secret so they use PKCE, confidential clients (a backend) hold one. A role is a named permission that rides in the token — realm roles specifically under `realm_access.roles`, which is *where the app reads it*. Users are people; the two seeded users are the two sides of every authorization check.</a:t>
            </a:r>
          </a:p>
        </p:txBody>
      </p:sp>
      <p:sp>
        <p:nvSpPr>
          <p:cNvPr id="4" name="Slide Number Placeholder 3"/>
          <p:cNvSpPr>
            <a:spLocks noGrp="1"/>
          </p:cNvSpPr>
          <p:nvPr>
            <p:ph type="sldNum" idx="5" sz="quarter"/>
          </p:nvPr>
        </p:nvSpPr>
        <p:spPr/>
      </p:sp>
    </p:spTree>
  </p:cSld>
  <p:clrMapOvr>
    <a:masterClrMapping/>
  </p:clrMapOvr>
</p:notes>
</file>

<file path=ppt/notesSlides/notesSlide10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Authentication is a solved problem and a catastrophic one to get wrong — a weak reset flow or a missing token check is the whole breach. A dedicated identity provider gives you password policy, MFA, lockout, social/enterprise federation, token issuance, and audit, built and patched by people who do only this. Your job becomes configuration, not code. And the message for leadership: this ships with OpenShift. The same product backs the console login. A team treating "add login" as a procurement project is usually re-buying what the subscription already includes.</a:t>
            </a:r>
          </a:p>
        </p:txBody>
      </p:sp>
      <p:sp>
        <p:nvSpPr>
          <p:cNvPr id="4" name="Slide Number Placeholder 3"/>
          <p:cNvSpPr>
            <a:spLocks noGrp="1"/>
          </p:cNvSpPr>
          <p:nvPr>
            <p:ph type="sldNum" idx="5" sz="quarter"/>
          </p:nvPr>
        </p:nvSpPr>
        <p:spPr/>
      </p:sp>
    </p:spTree>
  </p:cSld>
  <p:clrMapOvr>
    <a:masterClrMapping/>
  </p:clrMapOvr>
</p:notes>
</file>

<file path=ppt/notesSlides/notesSlide10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the signature live beat. Turning on the OIDC tenant and a permission rule — a configuration change on an image that already carries the library, so no build — flips the same `curl` from 200 to 401 without a token, 200 for the adjuster, and 403 for the viewer. The `/q/*` health endpoints stay open because the permission was scoped to `/api/claims`. The role check matched `claims-adjuster` straight from `realm_access.roles` because the image maps it there — call that out, because forgetting that mapping is the classic "has the role, still gets 403" bug.</a:t>
            </a:r>
          </a:p>
        </p:txBody>
      </p:sp>
      <p:sp>
        <p:nvSpPr>
          <p:cNvPr id="4" name="Slide Number Placeholder 3"/>
          <p:cNvSpPr>
            <a:spLocks noGrp="1"/>
          </p:cNvSpPr>
          <p:nvPr>
            <p:ph type="sldNum" idx="5" sz="quarter"/>
          </p:nvPr>
        </p:nvSpPr>
        <p:spPr/>
      </p:sp>
    </p:spTree>
  </p:cSld>
  <p:clrMapOvr>
    <a:masterClrMapping/>
  </p:clrMapOvr>
</p:notes>
</file>

<file path=ppt/notesSlides/notesSlide10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encore and the subtle idea. A logged-in adjuster asks claims for a fraud score; claims must call fraud on the user's behalf, but the user's token is addressed to claims, not fraud. Standard token exchange hands Keycloak the user's token and gets back the *same user's* token re-audienced for fraud — `preferred_username` stays `adjuster`, `aud` becomes `parasol-fraud`. Fraud rejects the original (401) and accepts the exchanged one (200). Then the safety property: attempting to exchange toward a service the caller isn't permitted for is flatly refused. Exchange can narrow a user's reach, never widen it — which is what makes a chain of services auditable and provably safe.</a:t>
            </a:r>
          </a:p>
        </p:txBody>
      </p:sp>
      <p:sp>
        <p:nvSpPr>
          <p:cNvPr id="4" name="Slide Number Placeholder 3"/>
          <p:cNvSpPr>
            <a:spLocks noGrp="1"/>
          </p:cNvSpPr>
          <p:nvPr>
            <p:ph type="sldNum" idx="5" sz="quarter"/>
          </p:nvPr>
        </p:nvSpPr>
        <p:spPr/>
      </p:sp>
    </p:spTree>
  </p:cSld>
  <p:clrMapOvr>
    <a:masterClrMapping/>
  </p:clrMapOvr>
</p:notes>
</file>

<file path=ppt/notesSlides/notesSlide10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Close by connecting it back. You put a front door on Parasol — web login, bearer API with roles, a machine identity, token-debugging fluency, and a delegation chain that cannot escalate — without writing authentication code, on a product included with OpenShift that also secures the platform's own login. The durable message: stop trusting the network and start trusting tokens you can validate, and stop re-buying (or worse, re-building) identity you already own. The bridge to what's next: the same identity provider wiring apps *and* the cluster is the multi-tenancy story.</a:t>
            </a:r>
          </a:p>
        </p:txBody>
      </p:sp>
      <p:sp>
        <p:nvSpPr>
          <p:cNvPr id="4" name="Slide Number Placeholder 3"/>
          <p:cNvSpPr>
            <a:spLocks noGrp="1"/>
          </p:cNvSpPr>
          <p:nvPr>
            <p:ph type="sldNum" idx="5" sz="quarter"/>
          </p:nvPr>
        </p:nvSpPr>
        <p:spPr/>
      </p:sp>
    </p:spTree>
  </p:cSld>
  <p:clrMapOvr>
    <a:masterClrMapping/>
  </p:clrMapOvr>
</p:notes>
</file>

<file path=ppt/notesSlides/notesSlide10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Open on the concrete situation. Parasol is giving a new payments team its own space — dev, stage, prod — that must be theirs to move fast in and nobody else's to break. The platform team's job is to hand them exactly that: the right people with the right access, workloads that can't quietly run as root, and quota so one team's mistake can't starve the shared cluster. The whole module is how OpenShift makes that sandbox: RBAC for who-can-do-what, ResourceQuota and LimitRange for how-much, and the security defaults that keep a container honest — none of it a separate purchase.</a:t>
            </a:r>
          </a:p>
        </p:txBody>
      </p:sp>
      <p:sp>
        <p:nvSpPr>
          <p:cNvPr id="4" name="Slide Number Placeholder 3"/>
          <p:cNvSpPr>
            <a:spLocks noGrp="1"/>
          </p:cNvSpPr>
          <p:nvPr>
            <p:ph type="sldNum" idx="5" sz="quarter"/>
          </p:nvPr>
        </p:nvSpPr>
        <p:spPr/>
      </p:sp>
    </p:spTree>
  </p:cSld>
  <p:clrMapOvr>
    <a:masterClrMapping/>
  </p:clrMapOvr>
</p:notes>
</file>

<file path=ppt/notesSlides/notesSlide10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Every request answers two questions in order — authentication (who are you, settled by an identity provider wired into OpenShift's OAuth) and authorization (what may you do, settled by RBAC). The chain from login to permission has four links, and the design lever is the third: bind access to a group, not to individuals, so a new engineer inherits the team's access with one membership change and off-boarding is one removal. This isn't theory — attendees are governed exactly this way in the workshop, and they'll inspect their own group binding later in the lab.</a:t>
            </a:r>
          </a:p>
        </p:txBody>
      </p:sp>
      <p:sp>
        <p:nvSpPr>
          <p:cNvPr id="4" name="Slide Number Placeholder 3"/>
          <p:cNvSpPr>
            <a:spLocks noGrp="1"/>
          </p:cNvSpPr>
          <p:nvPr>
            <p:ph type="sldNum" idx="5" sz="quarter"/>
          </p:nvPr>
        </p:nvSpPr>
        <p:spPr/>
      </p:sp>
    </p:spTree>
  </p:cSld>
  <p:clrMapOvr>
    <a:masterClrMapping/>
  </p:clrMapOvr>
</p:notes>
</file>

<file path=ppt/notesSlides/notesSlide10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RBAC is four object types. A Role (namespaced) or ClusterRole (cluster-wide) lists permissions — verbs on resources — and grants nothing until a RoleBinding ties it to subjects (users, groups, service accounts). Three built-ins cover most needs: view (read, but not Secrets), edit (change workloads and read Secrets), admin (edit plus manage the namespace's RBAC). The honest surprise: admin is scoped — it cannot apply a ResourceQuota or grant an SCC, because RBAC's escalation-prevention rule forbids granting a permission you don't hold. That scoping is exactly what makes a sandbox safe to hand out.</a:t>
            </a:r>
          </a:p>
        </p:txBody>
      </p:sp>
      <p:sp>
        <p:nvSpPr>
          <p:cNvPr id="4" name="Slide Number Placeholder 3"/>
          <p:cNvSpPr>
            <a:spLocks noGrp="1"/>
          </p:cNvSpPr>
          <p:nvPr>
            <p:ph type="sldNum" idx="5" sz="quarter"/>
          </p:nvPr>
        </p:nvSpPr>
        <p:spPr/>
      </p:sp>
    </p:spTree>
  </p:cSld>
  <p:clrMapOvr>
    <a:masterClrMapping/>
  </p:clrMapOvr>
</p:notes>
</file>

<file path=ppt/notesSlides/notesSlide10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security beat. On OpenShift you cannot run a container as root just by asking. Pod Security Admission labels namespaces, but the SCC is the real enforcer, and the default — restricted-v2 — drops all capabilities, forbids privilege escalation, and pins the UID to a range assigned to the namespace that never includes 0. A Deployment demanding runAsUser:0 is rejected at admission with a message naming the range. Two honest fixes: fix the image (stop demanding root — almost always right and permanent), or, when a workload genuinely needs a fixed UID, a narrowly scoped SCC grant to one ServiceAccount — never a blanket anyuid.</a:t>
            </a:r>
          </a:p>
        </p:txBody>
      </p:sp>
      <p:sp>
        <p:nvSpPr>
          <p:cNvPr id="4" name="Slide Number Placeholder 3"/>
          <p:cNvSpPr>
            <a:spLocks noGrp="1"/>
          </p:cNvSpPr>
          <p:nvPr>
            <p:ph type="sldNum" idx="5" sz="quarter"/>
          </p:nvPr>
        </p:nvSpPr>
        <p:spPr/>
      </p:sp>
    </p:spTree>
  </p:cSld>
  <p:clrMapOvr>
    <a:masterClrMapping/>
  </p:clrMapOvr>
</p:notes>
</file>

<file path=ppt/notesSlides/notesSlide10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Two more guardrails, both platform-owned. ResourceQuota is a hard ceiling on a namespace — total CPU/memory requests and limits, object counts; the interplay that trips people is requests (what the scheduler reserves, counted by the quota) versus limits (the runtime cap). LimitRange fills the gap by stamping defaults on any Pod that omits them, so a quota-enforced namespace stays usable. And workloads authenticate as ServiceAccounts — RBAC governs them like users — proving identity not with a permanent token Secret (those are off now) but with a bound token: short-lived, audience-scoped, revoked when the Pod dies. The same least-privilege identity an AI agent uses later.</a:t>
            </a:r>
          </a:p>
        </p:txBody>
      </p:sp>
      <p:sp>
        <p:nvSpPr>
          <p:cNvPr id="4" name="Slide Number Placeholder 3"/>
          <p:cNvSpPr>
            <a:spLocks noGrp="1"/>
          </p:cNvSpPr>
          <p:nvPr>
            <p:ph type="sldNum" idx="5" sz="quarter"/>
          </p:nvPr>
        </p:nvSpPr>
        <p:spPr/>
      </p:sp>
    </p:spTree>
  </p:cSld>
  <p:clrMapOvr>
    <a:masterClrMapping/>
  </p:clrMapOvr>
</p:notes>
</file>

<file path=ppt/notesSlides/notesSlide10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Multi-tenancy is a spectrum of blast-radius choices. Namespace-per-team is the default — many teams share a cluster, isolated by RBAC, quota, and NetworkPolicy; cheapest and densest, and what the workshop runs on. Hosted Control Planes give each tenant its own API server on shared worker capacity — stronger isolation without a cluster each. Cluster-per-team is total isolation and total cost, reserved for hard regulatory boundaries. Two cluster-wide levers set how self-service the shared model is — self-provisioning (can users make their own projects?) and the project request template (are new namespaces born with a default-deny NetworkPolicy and a quota?) — both the platform team's to own.</a:t>
            </a:r>
          </a:p>
        </p:txBody>
      </p:sp>
      <p:sp>
        <p:nvSpPr>
          <p:cNvPr id="4" name="Slide Number Placeholder 3"/>
          <p:cNvSpPr>
            <a:spLocks noGrp="1"/>
          </p:cNvSpPr>
          <p:nvPr>
            <p:ph type="sldNum" idx="5" sz="quarter"/>
          </p:nvPr>
        </p:nvSpPr>
        <p:spPr/>
      </p:sp>
    </p:spTree>
  </p:cSld>
  <p:clrMapOvr>
    <a:masterClrMapping/>
  </p:clrMapOvr>
</p:notes>
</file>

<file path=ppt/notesSlides/notesSlide1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Set expectations for the hands-on, all in the attendee's own payments-team sandbox. You open by scaling a root-demanding Deployment and watching restricted-v2 reject it live, then fix it in one line so it runs non-root. You grant payments-ci edit in dev and view in prod, and audit with who-can. You author a custom deployer Role so payments-ops can ship Deployments but is blind to Secrets — least privilege you wrote. You read the team's quota, blow past it, and fix it, and watch a LimitRange inject defaults. You finish by turning the lens around: inspecting the group binding, platform-observer role, and scoped admin the platform used to provision you.</a:t>
            </a:r>
          </a:p>
        </p:txBody>
      </p:sp>
      <p:sp>
        <p:nvSpPr>
          <p:cNvPr id="4" name="Slide Number Placeholder 3"/>
          <p:cNvSpPr>
            <a:spLocks noGrp="1"/>
          </p:cNvSpPr>
          <p:nvPr>
            <p:ph type="sldNum" idx="5" sz="quarter"/>
          </p:nvPr>
        </p:nvSpPr>
        <p:spPr/>
      </p:sp>
    </p:spTree>
  </p:cSld>
  <p:clrMapOvr>
    <a:masterClrMapping/>
  </p:clrMapOvr>
</p:notes>
</file>

<file path=ppt/notesSlides/notesSlide1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Land the transfer and stay honest. Discussion prompts: is your team access expressed as group bindings or a pile of per-person grants nobody prunes; could you produce a filtered "who can read prod Secrets" list for an auditor on demand; and when legacy images that assume root hit your cluster, is the default answer "fix the image" or a sprawl of anyuid grants you can never take back. Then the credibility close on restraint: don't write a custom Role when view/edit/admin fit; don't reach for cluster-per-team when namespace-per-team isolates you fine; don't grant an SCC exception where fixing the image is cheaper; and don't make quota a straitjacket. Governance over-applied is its own failure mode.</a:t>
            </a:r>
          </a:p>
        </p:txBody>
      </p:sp>
      <p:sp>
        <p:nvSpPr>
          <p:cNvPr id="4" name="Slide Number Placeholder 3"/>
          <p:cNvSpPr>
            <a:spLocks noGrp="1"/>
          </p:cNvSpPr>
          <p:nvPr>
            <p:ph type="sldNum" idx="5" sz="quarter"/>
          </p:nvPr>
        </p:nvSpPr>
        <p:spPr/>
      </p:sp>
    </p:spTree>
  </p:cSld>
  <p:clrMapOvr>
    <a:masterClrMapping/>
  </p:clrMapOvr>
</p:notes>
</file>

<file path=ppt/notesSlides/notesSlide1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Open on the concrete situation. Parasol's claims application is three tiers — a web front end, a claims API, and a Postgres database — sitting on a flat, open network where any pod can reach any other on any port, and nothing is reachable from outside at all. The whole module is how OpenShift turns that network into a control plane: you choose exactly what becomes public (north-south) and you let only the right pods talk to each other (east-west). Same cluster, same app — but by the end the database answers only the API, the front end is the only door in, and none of it is a firewall appliance.</a:t>
            </a:r>
          </a:p>
        </p:txBody>
      </p:sp>
      <p:sp>
        <p:nvSpPr>
          <p:cNvPr id="4" name="Slide Number Placeholder 3"/>
          <p:cNvSpPr>
            <a:spLocks noGrp="1"/>
          </p:cNvSpPr>
          <p:nvPr>
            <p:ph type="sldNum" idx="5" sz="quarter"/>
          </p:nvPr>
        </p:nvSpPr>
        <p:spPr/>
      </p:sp>
    </p:spTree>
  </p:cSld>
  <p:clrMapOvr>
    <a:masterClrMapping/>
  </p:clrMapOvr>
</p:notes>
</file>

<file path=ppt/notesSlides/notesSlide1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Every conversation runs in one of two directions, and OpenShift gives you a different tool for each. North-south is traffic crossing the cluster boundary — a browser reaching your front end — and you control it by choosing what to expose; most workloads should never be reachable from outside. East-west is traffic between pods inside the cluster — web calling API, API querying database — and by default it's wide open, so you control it by writing policy or giving a namespace its own network. Knowing which direction you need is half the battle: north-south is a Route or Gateway, east-west is a NetworkPolicy or UDN.</a:t>
            </a:r>
          </a:p>
        </p:txBody>
      </p:sp>
      <p:sp>
        <p:nvSpPr>
          <p:cNvPr id="4" name="Slide Number Placeholder 3"/>
          <p:cNvSpPr>
            <a:spLocks noGrp="1"/>
          </p:cNvSpPr>
          <p:nvPr>
            <p:ph type="sldNum" idx="5" sz="quarter"/>
          </p:nvPr>
        </p:nvSpPr>
        <p:spPr/>
      </p:sp>
    </p:spTree>
  </p:cSld>
  <p:clrMapOvr>
    <a:masterClrMapping/>
  </p:clrMapOvr>
</p:notes>
</file>

<file path=ppt/notesSlides/notesSlide1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You don't need OVN-Kubernetes internals — you need one chain. A Service is a stable name and virtual IP for a set of pods; behind it are endpoints, the real pod IPs kept in step with a label selector; the data plane programs every node so a packet reaches a healthy endpoint, and that's where NetworkPolicy is enforced — as flow rules, not a sidecar; and a Route tells the ingress router to accept outside traffic for a hostname. The single most common "networking bug" in the field isn't a firewall — it's a Service whose selector matches no pods: the Service is green, DNS resolves, and every connection fails. Attendees break exactly that on purpose in the lab.</a:t>
            </a:r>
          </a:p>
        </p:txBody>
      </p:sp>
      <p:sp>
        <p:nvSpPr>
          <p:cNvPr id="4" name="Slide Number Placeholder 3"/>
          <p:cNvSpPr>
            <a:spLocks noGrp="1"/>
          </p:cNvSpPr>
          <p:nvPr>
            <p:ph type="sldNum" idx="5" sz="quarter"/>
          </p:nvPr>
        </p:nvSpPr>
        <p:spPr/>
      </p:sp>
    </p:spTree>
  </p:cSld>
  <p:clrMapOvr>
    <a:masterClrMapping/>
  </p:clrMapOvr>
</p:notes>
</file>

<file path=ppt/notesSlides/notesSlide1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There's a decision tree for "make this reachable," and each rung exists for a reason — stop at the first that fits. ClusterIP is the default and where most workloads stay. NodePort opens the same port on every node — understand it once, reach for it almost never. LoadBalancer asks the platform for an external IP, which only appears if a provider answers — on this bare-metal cluster with no provider it hangs at &lt;pending&gt;, which is the lesson: LoadBalancer is a promise the platform has to be able to keep. Route is the deterministic path — wildcard DNS, edge TLS, no provider — and it's what you actually run. The Gateway API (GatewayClass → Gateway → HTTPRoute, weighted splits) is the portable successor and the strategic direction, GA on OpenShift.</a:t>
            </a:r>
          </a:p>
        </p:txBody>
      </p:sp>
      <p:sp>
        <p:nvSpPr>
          <p:cNvPr id="4" name="Slide Number Placeholder 3"/>
          <p:cNvSpPr>
            <a:spLocks noGrp="1"/>
          </p:cNvSpPr>
          <p:nvPr>
            <p:ph type="sldNum" idx="5" sz="quarter"/>
          </p:nvPr>
        </p:nvSpPr>
        <p:spPr/>
      </p:sp>
    </p:spTree>
  </p:cSld>
  <p:clrMapOvr>
    <a:masterClrMapping/>
  </p:clrMapOvr>
</p:notes>
</file>

<file path=ppt/notesSlides/notesSlide1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 credibility slide. Routes and today's OpenShift Gateway API are HTTP(S)/SNI-centric — they route by hostname and path and terminate or pass TLS by SNI. They do not expose raw TCP, UDP, or TLS-passthrough for arbitrary protocols; on this cluster the experimental TCPRoute/TLSRoute/UDPRoute APIs are deliberately not installed. When you need L4 ingress — a database port, a custom protocol, gRPC with passthrough — that's the service mesh, covered in the advanced module. Knowing this boundary keeps teams from fighting a Route to do something it was never designed for.</a:t>
            </a:r>
          </a:p>
        </p:txBody>
      </p:sp>
      <p:sp>
        <p:nvSpPr>
          <p:cNvPr id="4" name="Slide Number Placeholder 3"/>
          <p:cNvSpPr>
            <a:spLocks noGrp="1"/>
          </p:cNvSpPr>
          <p:nvPr>
            <p:ph type="sldNum" idx="5" sz="quarter"/>
          </p:nvPr>
        </p:nvSpPr>
        <p:spPr/>
      </p:sp>
    </p:spTree>
  </p:cSld>
  <p:clrMapOvr>
    <a:masterClrMapping/>
  </p:clrMapOvr>
</p:notes>
</file>

<file path=ppt/notesSlides/notesSlide1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Inside the cluster the default is allow-all, so a three-tier app's database will happily accept a connection from anything. The pattern to fix it is always the same: apply a default-deny so nothing may talk, then re-open only the flows the app genuinely needs — the database accepts 5432 only from the API, the API accepts 8080 only from the web tier. It's per-pod and per-port, expressed as labels, enforced in the data plane, and the allows become the documentation of what may talk to what. One trap everyone hits: default-deny on egress also blocks DNS, so pods stop resolving names and the app looks broken for the wrong reason — the fix is a deliberate DNS egress allow that names the CoreDNS pods' actual port, not the Service's 53.</a:t>
            </a:r>
          </a:p>
        </p:txBody>
      </p:sp>
      <p:sp>
        <p:nvSpPr>
          <p:cNvPr id="4" name="Slide Number Placeholder 3"/>
          <p:cNvSpPr>
            <a:spLocks noGrp="1"/>
          </p:cNvSpPr>
          <p:nvPr>
            <p:ph type="sldNum" idx="5" sz="quarter"/>
          </p:nvPr>
        </p:nvSpPr>
        <p:spPr/>
      </p:sp>
    </p:spTree>
  </p:cSld>
  <p:clrMapOvr>
    <a:masterClrMapping/>
  </p:clrMapOvr>
</p:notes>
</file>

<file path=ppt/notesSlides/notesSlide1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Sometimes you want a whole namespace isolated and you want it for free. A Primary UserDefinedNetwork gives its namespace its own pod network — a separate Layer 2 segment — so its pods are isolated from every other namespace natively, with no NetworkPolicy at all. It's GA on OpenShift. The trade-off is a hard rule: a Primary UDN must exist before the namespace's first pod (you can't convert a populated namespace), so it's the platform team's decision at creation time — exactly how the workshop's partner namespace was built. Reach for a UDN when isolation is a property of the whole namespace; reach for NetworkPolicy when you need selective flows within or across namespaces. The service mesh is the third layer on top, adding workload identity — a later module.</a:t>
            </a:r>
          </a:p>
        </p:txBody>
      </p:sp>
      <p:sp>
        <p:nvSpPr>
          <p:cNvPr id="4" name="Slide Number Placeholder 3"/>
          <p:cNvSpPr>
            <a:spLocks noGrp="1"/>
          </p:cNvSpPr>
          <p:nvPr>
            <p:ph type="sldNum" idx="5" sz="quarter"/>
          </p:nvPr>
        </p:nvSpPr>
        <p:spPr/>
      </p:sp>
    </p:spTree>
  </p:cSld>
  <p:clrMapOvr>
    <a:masterClrMapping/>
  </p:clrMapOvr>
</p:notes>
</file>

<file path=ppt/notesSlides/notesSlide1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Set expectations for the hands-on, all in the attendee's own claims-app namespace, then land the transfer. You trace a packet and break a Service selector to feel the #1 bug; expose the front end with an edge Route and see NodePort and LoadBalancer honestly (the latter stuck at &lt;pending&gt;); apply default-deny, watch the app and DNS break, re-open only what's needed, and prove a debug pod is now blocked from the database while the API still gets through; then meet a partner namespace isolated natively by a UDN with zero policy. Take the questions back: if someone deployed a debug pod in your most sensitive namespace right now, what could it reach — and could you produce, from policy alone, the list of flows your app is actually allowed? And stay honest about restraint: don't hand-write netpols where a UDN fits, don't fight a Route to do L4, don't reach for LoadBalancer when a Route will do, and never default-deny without the DNS allow.</a:t>
            </a:r>
          </a:p>
        </p:txBody>
      </p:sp>
      <p:sp>
        <p:nvSpPr>
          <p:cNvPr id="4" name="Slide Number Placeholder 3"/>
          <p:cNvSpPr>
            <a:spLocks noGrp="1"/>
          </p:cNvSpPr>
          <p:nvPr>
            <p:ph type="sldNum" idx="5" sz="quarter"/>
          </p:nvPr>
        </p:nvSpPr>
        <p:spPr/>
      </p:sp>
    </p:spTree>
  </p:cSld>
  <p:clrMapOvr>
    <a:masterClrMapping/>
  </p:clrMapOvr>
</p:notes>
</file>

<file path=ppt/notesSlides/notesSlide1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Open on the concrete pain. Parasol's claims API lands wherever the scheduler happens to drop it, a monthly-statement batch job elbows the live API off the same CPUs, and a routine rollout quietly drops a handful of customer requests every time it runs. This module is how you take control: where each pod lands, how replicas spread so one dead node can't take the service down, which workloads get dedicated capacity, and how a deploy finishes without a customer noticing. Same app, same cluster — but by the end the API is spread across the cluster, the batch job runs on its own nodes, and a rollout keeps serving throughout. The one idea under all of it: placement is a decision you make, not a lottery you accept.</a:t>
            </a:r>
          </a:p>
        </p:txBody>
      </p:sp>
      <p:sp>
        <p:nvSpPr>
          <p:cNvPr id="4" name="Slide Number Placeholder 3"/>
          <p:cNvSpPr>
            <a:spLocks noGrp="1"/>
          </p:cNvSpPr>
          <p:nvPr>
            <p:ph type="sldNum" idx="5" sz="quarter"/>
          </p:nvPr>
        </p:nvSpPr>
        <p:spPr/>
      </p:sp>
    </p:spTree>
  </p:cSld>
  <p:clrMapOvr>
    <a:masterClrMapping/>
  </p:clrMapOvr>
</p:notes>
</file>

<file path=ppt/notesSlides/notesSlide1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You don't need the scheduler's internals — you need one two-step pipeline that runs for every pod. Filter throws out every node that can't run it: not enough unreserved CPU or memory measured by the pod's requests, a taint it doesn't tolerate, a nodeSelector or affinity that doesn't match. Score ranks the survivors — most room, best spread, anti-affinity satisfied — and binds to the winner. If no node survives, the pod stays Pending and the scheduler writes a FailedScheduling event that names the reason node by node — reading that event is the whole skill. The currency in the filter is requests, not usage and not limits: a pod that requests 200m is placed as if it always uses 200m; a pod that requests nothing can be packed onto a full node. Requests also set QoS (Guaranteed/Burstable/BestEffort), which decides eviction order.</a:t>
            </a:r>
          </a:p>
        </p:txBody>
      </p:sp>
      <p:sp>
        <p:nvSpPr>
          <p:cNvPr id="4" name="Slide Number Placeholder 3"/>
          <p:cNvSpPr>
            <a:spLocks noGrp="1"/>
          </p:cNvSpPr>
          <p:nvPr>
            <p:ph type="sldNum" idx="5" sz="quarter"/>
          </p:nvPr>
        </p:nvSpPr>
        <p:spPr/>
      </p:sp>
    </p:spTree>
  </p:cSld>
  <p:clrMapOvr>
    <a:masterClrMapping/>
  </p:clrMapOvr>
</p:notes>
</file>

<file path=ppt/notesSlides/notesSlide1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There are two families of placement control, and confusing them is the most common scheduling mistake there is. Affinity is the pod reaching toward a node — nodeSelector is the blunt form, nodeAffinity adds required/preferred, podAntiAffinity points at other pods ("never two of me on a node") to spread replicas. A taint is the node pushing pods away: NoSchedule means nothing lands unless it tolerates the taint. Here's the trap that catches everyone: a toleration only permits, it does not attract. A pod that tolerates the batch taint may land on the batch node, but the scheduler is just as happy to put it anywhere else. To actually pin a workload to a dedicated pool you need all three: a taint (keep others off), a toleration (be allowed on), and a nodeSelector (be sent there). Add the selector alone and the pod goes Pending on the untolerated taint.</a:t>
            </a:r>
          </a:p>
        </p:txBody>
      </p:sp>
      <p:sp>
        <p:nvSpPr>
          <p:cNvPr id="4" name="Slide Number Placeholder 3"/>
          <p:cNvSpPr>
            <a:spLocks noGrp="1"/>
          </p:cNvSpPr>
          <p:nvPr>
            <p:ph type="sldNum" idx="5" sz="quarter"/>
          </p:nvPr>
        </p:nvSpPr>
        <p:spPr/>
      </p:sp>
    </p:spTree>
  </p:cSld>
  <p:clrMapOvr>
    <a:masterClrMapping/>
  </p:clrMapOvr>
</p:notes>
</file>

<file path=ppt/notesSlides/notesSlide1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Anti-affinity is a blunt "no two on one node." topologySpreadConstraints is the precise version: keep replicas evenly spread across a domain, where the domain is any node label — hostname (spread across nodes), a zone label (spread across failure zones), a region. maxSkew is how uneven you'll tolerate — maxSkew 1 means no domain holds more than one pod above the least-loaded. whenUnsatisfiable is the teeth: DoNotSchedule makes the spread a hard requirement (a breaking pod stays Pending); ScheduleAnyway makes it a strong preference (spread if you can, never block a deploy). The honest note for this workshop: real zones need real failure domains a single bare-metal cluster doesn't have — hostname spread is the always-true story, and where you see a zone label it was synthesized on the workshop nodes. On a cloud you'd point at the provider's real topology.kubernetes.io/zone.</a:t>
            </a:r>
          </a:p>
        </p:txBody>
      </p:sp>
      <p:sp>
        <p:nvSpPr>
          <p:cNvPr id="4" name="Slide Number Placeholder 3"/>
          <p:cNvSpPr>
            <a:spLocks noGrp="1"/>
          </p:cNvSpPr>
          <p:nvPr>
            <p:ph type="sldNum" idx="5" sz="quarter"/>
          </p:nvPr>
        </p:nvSpPr>
        <p:spPr/>
      </p:sp>
    </p:spTree>
  </p:cSld>
  <p:clrMapOvr>
    <a:masterClrMapping/>
  </p:clrMapOvr>
</p:notes>
</file>

<file path=ppt/notesSlides/notesSlide1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where the who-seeks/who-repels idea becomes a recipe. A platform team taints a pool of nodes (NoSchedule) so ordinary pods stay off — a GPU box, a node licensed for a commercial database, a batch pool. To run YOUR workload there, it needs a toleration (permission past the taint) and a nodeSelector or affinity (direction to the pool). In the lab you feel the failure mode directly: add the selector alone and the batch worker goes Pending with "untolerated taint" — the selector sent it to the pool node but the taint repels it. Add the toleration and it snaps onto the pool. Selector to send it, toleration to permit it — you need both. This is exactly how expensive or special hardware earns its keep: the taint keeps freeloaders off, the toleration-plus-selector puts the right workload on.</a:t>
            </a:r>
          </a:p>
        </p:txBody>
      </p:sp>
      <p:sp>
        <p:nvSpPr>
          <p:cNvPr id="4" name="Slide Number Placeholder 3"/>
          <p:cNvSpPr>
            <a:spLocks noGrp="1"/>
          </p:cNvSpPr>
          <p:nvPr>
            <p:ph type="sldNum" idx="5" sz="quarter"/>
          </p:nvPr>
        </p:nvSpPr>
        <p:spPr/>
      </p:sp>
    </p:spTree>
  </p:cSld>
  <p:clrMapOvr>
    <a:masterClrMapping/>
  </p:clrMapOvr>
</p:notes>
</file>

<file path=ppt/notesSlides/notesSlide1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 Deployment doesn't just run pods, it replaces them — and how it replaces them has a consequence. RollingUpdate with maxUnavailable 0 is the load-bearing capacity setting: it surges a new pod to Ready before retiring an old one, so ready-pod count never dips (you watch it hold flat through a roll). Recreate is correct for a single-writer database — a deliberate gap so two copies never run at once. But capacity is only half the story. Parasol's claims API shares one PostgreSQL, and the image boots Hibernate with drop-and-create — so every pod boot drops and reseeds the shared database. During a rolling update the new pod wipes the tables out from under the old pods still serving, and a claim filed since the last deploy is silently gone. maxUnavailable 0 did its job — three ready pods throughout — and the data still vanished, because the disruption is in the data plane at startup, not the connection plane at shutdown; no preStop or SIGTERM handling touches it. The fix stops pods rebuilding shared state on boot: schema-management=none, seed the database once at deploy (a Flyway/Liquibase Job), and raise the CPU limit so the cold-start is quick. In the lab you prove it deterministically — plant a value, restart one pod, watch it revert to the seed — then fix it and watch the value survive. Finally a PodDisruptionBudget protects voluntary disruptions: a node drain must respect minAvailable, so it waits its turn instead of taking your last replica — and minAvailable equal to the replica count deadlocks the drain.</a:t>
            </a:r>
          </a:p>
        </p:txBody>
      </p:sp>
      <p:sp>
        <p:nvSpPr>
          <p:cNvPr id="4" name="Slide Number Placeholder 3"/>
          <p:cNvSpPr>
            <a:spLocks noGrp="1"/>
          </p:cNvSpPr>
          <p:nvPr>
            <p:ph type="sldNum" idx="5" sz="quarter"/>
          </p:nvPr>
        </p:nvSpPr>
        <p:spPr/>
      </p:sp>
    </p:spTree>
  </p:cSld>
  <p:clrMapOvr>
    <a:masterClrMapping/>
  </p:clrMapOvr>
</p:notes>
</file>

<file path=ppt/notesSlides/notesSlide1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pools and agents you work around are built with the same primitives you just learned. DaemonSets run one pod per node — the node-agent pattern — and the cluster's own plumbing is built this way: the CNI (ovnkube-node), the monitoring node-exporter, the machine-config daemon are all DaemonSets, one on every node. Some target only a subset of nodes using the very nodeSelector-plus-tolerations you learned — a control-plane-only agent, for instance. A native sidecar is an init container with restartPolicy Always: it starts first and keeps running alongside your app for the pod's whole life — GA on OpenShift, the pattern a mesh proxy or log shipper uses; know it exists. MachineSets are the declarative "how many nodes of this shape" object: on a cloud a platform team scales one to grow a pool, labels and taints its nodes, and a MachineAutoscaler sizes it to demand — that's how the batch pool you pinned onto was made. You read all this via a read-only role; creating and tainting a pool is the instructor's segment because it's cluster-wide.</a:t>
            </a:r>
          </a:p>
        </p:txBody>
      </p:sp>
      <p:sp>
        <p:nvSpPr>
          <p:cNvPr id="4" name="Slide Number Placeholder 3"/>
          <p:cNvSpPr>
            <a:spLocks noGrp="1"/>
          </p:cNvSpPr>
          <p:nvPr>
            <p:ph type="sldNum" idx="5" sz="quarter"/>
          </p:nvPr>
        </p:nvSpPr>
        <p:spPr/>
      </p:sp>
    </p:spTree>
  </p:cSld>
  <p:clrMapOvr>
    <a:masterClrMapping/>
  </p:clrMapOvr>
</p:notes>
</file>

<file path=ppt/notesSlides/notesSlide1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Set expectations for the hands-on, all in the attendee's own claims-app namespace, then land the transfer. You read how the scheduler placed the pods and confirm it against a Scheduled event; force the API replicas apart with required anti-affinity and read the FailedScheduling event when the scheduler can't oblige; spread them evenly with topologySpreadConstraints across nodes, and with one changed key across zones; pin the batch worker onto a dedicated pool the honest way — feeling the Pending a nodeSelector alone earns, then fixing it with the toleration; make a rollout zero-downtime where the Deployment can (maxUnavailable 0 holding capacity flat) and protect it with a PodDisruptionBudget that blocks an eviction rather than breach its floor. Take the questions back: if the node under your busiest service died right now, is a replica already running elsewhere — guaranteed, or just probably? Is your expensive hardware running the workload you bought it for and nothing else? And do your deploys drop requests — does anyone even know?</a:t>
            </a:r>
          </a:p>
        </p:txBody>
      </p:sp>
      <p:sp>
        <p:nvSpPr>
          <p:cNvPr id="4" name="Slide Number Placeholder 3"/>
          <p:cNvSpPr>
            <a:spLocks noGrp="1"/>
          </p:cNvSpPr>
          <p:nvPr>
            <p:ph type="sldNum" idx="5" sz="quarter"/>
          </p:nvPr>
        </p:nvSpPr>
        <p:spPr/>
      </p:sp>
    </p:spTree>
  </p:cSld>
  <p:clrMapOvr>
    <a:masterClrMapping/>
  </p:clrMapOvr>
</p:notes>
</file>

<file path=ppt/notesSlides/notesSlide1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Open on the connection to the Build &amp; Deliver module. The shiny developer catalog — the builder images, the one-click samples, the operators — did not appear by magic: a platform team curated every entry and decided which registries an image may even come from. This module is the layer underneath that catalog: how the internal registry stores your images, why an ImageStream is still worth using, and how platform engineers govern where images come from and what developers can run and offer. Everything here is one of two supply chains that meet at the developer — the image supply decides which bits run, the catalog supply decides what a developer can pick from — and a platform team governs both. The through-line for the whole module: an image reference is a promise, and this layer is how you make it provable.</a:t>
            </a:r>
          </a:p>
        </p:txBody>
      </p:sp>
      <p:sp>
        <p:nvSpPr>
          <p:cNvPr id="4" name="Slide Number Placeholder 3"/>
          <p:cNvSpPr>
            <a:spLocks noGrp="1"/>
          </p:cNvSpPr>
          <p:nvPr>
            <p:ph type="sldNum" idx="5" sz="quarter"/>
          </p:nvPr>
        </p:nvSpPr>
        <p:spPr/>
      </p:sp>
    </p:spTree>
  </p:cSld>
  <p:clrMapOvr>
    <a:masterClrMapping/>
  </p:clrMapOvr>
</p:notes>
</file>

<file path=ppt/notesSlides/notesSlide1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the module's map. The image supply flows left to right: external registries, through the governance controls (allowed registries, import restrictions, IDMS/ITMS mirroring), into the internal registry (an in-cluster Service on :5000, backed by one volume, pruned nightly), tracked by an ImageStream (immutable digest, scheduled import, referencePolicy Local), out to your workload. The catalog supply is the bottom branch: OperatorHub sources and CatalogSources, the samples operator, cluster ConsoleSamples, your own namespaced Templates, and devfiles — all feeding the Developer Catalog. Red boxes are outside your trust boundary; amber boxes are the governance controls a platform team sets; green boxes are what you work with hands-on. You'll drive the green boxes in the lab and read the amber ones, because creating them is cluster-wide — the instructor's segment.</a:t>
            </a:r>
          </a:p>
        </p:txBody>
      </p:sp>
      <p:sp>
        <p:nvSpPr>
          <p:cNvPr id="4" name="Slide Number Placeholder 3"/>
          <p:cNvSpPr>
            <a:spLocks noGrp="1"/>
          </p:cNvSpPr>
          <p:nvPr>
            <p:ph type="sldNum" idx="5" sz="quarter"/>
          </p:nvPr>
        </p:nvSpPr>
        <p:spPr/>
      </p:sp>
    </p:spTree>
  </p:cSld>
  <p:clrMapOvr>
    <a:masterClrMapping/>
  </p:clrMapOvr>
</p:notes>
</file>

<file path=ppt/notesSlides/notesSlide1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 container reference like parasol-claims:prod is a moving target — whoever pushes that tag next changes what it points to. An ImageStream is OpenShift's answer: a stable in-cluster name that records the immutable digest behind each tag. Three properties earn it a place. It pins a tag to a digest — content-addressed, can never point at different bits — so "promote 1.0 to prod" becomes a pointer to an exact image; in the lab you prove prod and 1.0 share one sha256. It can re-import on a schedule — mark a tag scheduled and OpenShift re-checks the source and pulls the new digest when upstream moves, a base image that stays current without a human watching. And referencePolicy Local turns it into a pull-through cache — workloads pull from the internal registry, which fetches and caches the bits once. That last one is how the seeded parasol-claims stream works. ImageStreams also drive triggers — a Deployment can redeploy when the digest changes.</a:t>
            </a:r>
          </a:p>
        </p:txBody>
      </p:sp>
      <p:sp>
        <p:nvSpPr>
          <p:cNvPr id="4" name="Slide Number Placeholder 3"/>
          <p:cNvSpPr>
            <a:spLocks noGrp="1"/>
          </p:cNvSpPr>
          <p:nvPr>
            <p:ph type="sldNum" idx="5" sz="quarter"/>
          </p:nvPr>
        </p:nvSpPr>
        <p:spPr/>
      </p:sp>
    </p:spTree>
  </p:cSld>
  <p:clrMapOvr>
    <a:masterClrMapping/>
  </p:clrMapOvr>
</p:notes>
</file>

<file path=ppt/notesSlides/notesSlide1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Two different questions decide whether an image runs, and they're complementary. "Is this image trusted?" — is it signed? — is the sigstore signature admission from the Trusted Supply Chain module, a different axis. "May images come from this registry at all?" is this module's boundary, set cluster-wide on the Image config object. allowedRegistriesForImport limits which registries a normal user may import from — instant, admission-level, no node change. registrySources.allowedRegistries governs what any pod or build may pull, enforced by the container runtime on every node — heavy, because changing it re-renders every node and rolls the pool. IDMS (ImageDigestMirrorSet) and ITMS (ImageTagMirrorSet) redirect pulls to a mirror — the heart of disconnected installs, also re-rendered onto every node. That blast-radius difference is why the lab reads these rather than sets them, and why the instructor can safely toggle only allowedRegistriesForImport live. The older ImageContentSourcePolicy is deprecated since 4.13 — convert it to IDMS with oc adm migrate icsp.</a:t>
            </a:r>
          </a:p>
        </p:txBody>
      </p:sp>
      <p:sp>
        <p:nvSpPr>
          <p:cNvPr id="4" name="Slide Number Placeholder 3"/>
          <p:cNvSpPr>
            <a:spLocks noGrp="1"/>
          </p:cNvSpPr>
          <p:nvPr>
            <p:ph type="sldNum" idx="5" sz="quarter"/>
          </p:nvPr>
        </p:nvSpPr>
        <p:spPr/>
      </p:sp>
    </p:spTree>
  </p:cSld>
  <p:clrMapOvr>
    <a:masterClrMapping/>
  </p:clrMapOvr>
</p:notes>
</file>

<file path=ppt/notesSlides/notesSlide1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Developer Catalog you browsed is fed from several sources, each a governance lever. OperatorHub's operators come from catalog sources — the default four (Red Hat, Certified, Community, Marketplace) can be trimmed, and an org can add its own CatalogSource (this cluster has one curated internal catalog alongside the defaults). The builder images and quickstart templates are managed by the samples operator — 60 image streams and 51 templates on this cluster — and a platform team can skip an individual sample with skippedImagestreams/skippedTemplates, a scalpel, never the all-or-nothing managementState Removed which would delete every sample. A ConsoleSample is a cluster-scoped object that publishes a blessed starter. A namespaced Template is the one catalog lever you control — a Template in your own project appears in your Developer Catalog and nobody else's, self-service with no cluster-admin; you publish one in the lab. Devfiles come from a devfile registry (community, plus a private one that's a Dev Spaces/CheCluster config — the workspaces module). The through-line: the platform team decides what developers can run and offer.</a:t>
            </a:r>
          </a:p>
        </p:txBody>
      </p:sp>
      <p:sp>
        <p:nvSpPr>
          <p:cNvPr id="4" name="Slide Number Placeholder 3"/>
          <p:cNvSpPr>
            <a:spLocks noGrp="1"/>
          </p:cNvSpPr>
          <p:nvPr>
            <p:ph type="sldNum" idx="5" sz="quarter"/>
          </p:nvPr>
        </p:nvSpPr>
        <p:spPr/>
      </p:sp>
    </p:spTree>
  </p:cSld>
  <p:clrMapOvr>
    <a:masterClrMapping/>
  </p:clrMapOvr>
</p:notes>
</file>

<file path=ppt/notesSlides/notesSlide13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Because so much of this surface is a cluster singleton, the module splits cleanly. Hands-on, in your own namespace and non-disruptive: tour the registry and the parasol-claims stream, tag/promote, scheduled import, link a pull secret, publish a namespaced Template, and read the governance objects through the read-only platform-observer role. Instructor demo, cluster-wide: blocking imports with allowedRegistriesForImport (instant, live), registrySources plus IDMS/ITMS mirroring (talk-through — they reboot nodes), disabling a stock sample, and adding a ConsoleSample. The honest operational notes to carry: allowedRegistriesForImport is the only cluster-wide control safe to toggle live (admission-level, no reboot); registrySources and mirroring re-render every node and roll the pool, so never live mid-event. And the registry is one volume with a nightly pruner (daily, keep 3 revisions) — on a multi-day cluster, keep the images you use referenced by a running workload so they aren't pruned overnight.</a:t>
            </a:r>
          </a:p>
        </p:txBody>
      </p:sp>
      <p:sp>
        <p:nvSpPr>
          <p:cNvPr id="4" name="Slide Number Placeholder 3"/>
          <p:cNvSpPr>
            <a:spLocks noGrp="1"/>
          </p:cNvSpPr>
          <p:nvPr>
            <p:ph type="sldNum" idx="5" sz="quarter"/>
          </p:nvPr>
        </p:nvSpPr>
        <p:spPr/>
      </p:sp>
    </p:spTree>
  </p:cSld>
  <p:clrMapOvr>
    <a:masterClrMapping/>
  </p:clrMapOvr>
</p:notes>
</file>

<file path=ppt/notesSlides/notesSlide13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Set expectations for the hands-on, all in the attendee's own claims namespace, then land the transfer. You tour the internal registry and the seeded parasol-claims stream, reading its immutable digest and Local pull-through; promote 1.0 to prod and prove the two names share a sha256; make an external base image stay current with a scheduled import and read a real import failure — "name unknown: Repo not found" — instead of guessing; wire a pull secret to a workload two ways (ServiceAccount link and pod-level imagePullSecrets); publish a namespaced Template that appears in your catalog alone and deploy from it; and read the cluster-wide governance surface — where images may come from, what's pruned, what the catalog offers. Take the questions back: when you "promote to prod," can you prove by digest it's the image you tested? Where can images in your cluster come from, and who decided? And who curates your catalog — is the blessed starter actually in it, or is it just whatever shipped?</a:t>
            </a:r>
          </a:p>
        </p:txBody>
      </p:sp>
      <p:sp>
        <p:nvSpPr>
          <p:cNvPr id="4" name="Slide Number Placeholder 3"/>
          <p:cNvSpPr>
            <a:spLocks noGrp="1"/>
          </p:cNvSpPr>
          <p:nvPr>
            <p:ph type="sldNum" idx="5" sz="quarter"/>
          </p:nvPr>
        </p:nvSpPr>
        <p:spPr/>
      </p:sp>
    </p:spTree>
  </p:cSld>
  <p:clrMapOvr>
    <a:masterClrMapping/>
  </p:clrMapOvr>
</p:notes>
</file>

<file path=ppt/notesSlides/notesSlide13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Open on the cascading-failure story, the classic mesh entry point. Parasol's application is a chain — the web tier calls the claims API, and claims calls a fraud-scoring service before it approves a payout. When one link gets slow, the callers pile up waiting and a single sluggish service cascades into a site-wide outage. Every link needs the same five things: the traffic should be encrypted, you should be able to see it, a bad release should be shiftable without a redeploy, a slow dependency should fail fast, and only the right caller should get through. Without a mesh, every one of those is application code — each team wires TLS, adds a metrics library, writes retry loops, re-implements auth, differently and with different bugs. A service mesh moves all of it out of the app and into a proxy that sits beside each workload. The app keeps making plain HTTP calls; the proxy encrypts, measures, routes, retries, and authorizes them.</a:t>
            </a:r>
          </a:p>
        </p:txBody>
      </p:sp>
      <p:sp>
        <p:nvSpPr>
          <p:cNvPr id="4" name="Slide Number Placeholder 3"/>
          <p:cNvSpPr>
            <a:spLocks noGrp="1"/>
          </p:cNvSpPr>
          <p:nvPr>
            <p:ph type="sldNum" idx="5" sz="quarter"/>
          </p:nvPr>
        </p:nvSpPr>
        <p:spPr/>
      </p:sp>
    </p:spTree>
  </p:cSld>
  <p:clrMapOvr>
    <a:masterClrMapping/>
  </p:clrMapOvr>
</p:notes>
</file>

<file path=ppt/notesSlides/notesSlide13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Two halves, and the split is the whole mental model. The data plane is the fleet of sidecar proxies — one Envoy proxy injected into every meshed pod, with all of the pod's inbound and outbound traffic transparently redirected through it. This is where encryption, routing, retries, and access checks actually happen. On OpenShift Service Mesh 3 the proxy is injected as a native sidecar — a Kubernetes init container with an always-on restart policy, so it starts before your app and shuts down after it, closing the startup and shutdown gaps older sidecars had. The control plane is istiod, in the istio-system namespace: it watches your Kubernetes resources and the mesh custom resources you create, compiles them into proxy configuration, and pushes that config plus a short-lived identity certificate to every sidecar. It is not in the request path — if istiod restarts, traffic keeps flowing on the last config the proxies received. You configure the mesh by creating custom resources — VirtualService, DestinationRule, AuthorizationPolicy, PeerAuthentication — and istiod turns them into proxy behavior. You never edit a proxy directly.</a:t>
            </a:r>
          </a:p>
        </p:txBody>
      </p:sp>
      <p:sp>
        <p:nvSpPr>
          <p:cNvPr id="4" name="Slide Number Placeholder 3"/>
          <p:cNvSpPr>
            <a:spLocks noGrp="1"/>
          </p:cNvSpPr>
          <p:nvPr>
            <p:ph type="sldNum" idx="5" sz="quarter"/>
          </p:nvPr>
        </p:nvSpPr>
        <p:spPr/>
      </p:sp>
    </p:spTree>
  </p:cSld>
  <p:clrMapOvr>
    <a:masterClrMapping/>
  </p:clrMapOvr>
</p:notes>
</file>

<file path=ppt/notesSlides/notesSlide13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Enrolling a workload — adding one label and letting it restart — buys three things with no application change. First, mutual TLS between meshed workloads: each sidecar gets an identity certificate from istiod encoding a SPIFFE identity of the form spiffe://cluster.local/ns/namespace/sa/serviceaccount, and when two meshed pods talk, their proxies authenticate each other and encrypt the connection automatically. Second, a service graph and golden signals: because every request passes through a proxy, the mesh emits consistent telemetry — rate, errors, latency — for all traffic, without instrumenting the app, and Kiali renders it. Third, a control point: once traffic flows through the proxies, you change its behavior by applying a resource, not by shipping code. One important nuance for OpenShift: a namespace tenant can't label the namespace itself (that's a cluster-scoped edit), so you enroll per workload with the injection label on the pod template — finer-grained anyway. And by default mutual TLS is PERMISSIVE (meshed-to-meshed encrypted, but plaintext from outside still accepted); flipping a PeerAuthentication to STRICT makes the proxy refuse plaintext, which is exactly how you prove the encryption is real.</a:t>
            </a:r>
          </a:p>
        </p:txBody>
      </p:sp>
      <p:sp>
        <p:nvSpPr>
          <p:cNvPr id="4" name="Slide Number Placeholder 3"/>
          <p:cNvSpPr>
            <a:spLocks noGrp="1"/>
          </p:cNvSpPr>
          <p:nvPr>
            <p:ph type="sldNum" idx="5" sz="quarter"/>
          </p:nvPr>
        </p:nvSpPr>
        <p:spPr/>
      </p:sp>
    </p:spTree>
  </p:cSld>
  <p:clrMapOvr>
    <a:masterClrMapping/>
  </p:clrMapOvr>
</p:notes>
</file>

<file path=ppt/notesSlides/notesSlide13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OpenShift Service Mesh 3 is upstream Istio, packaged and lifecycle-managed by the Sail operator — that's the single biggest change from the 2.x line, and it's the first thing a migrating customer asks about. In 2.x you configured the control plane through a dedicated Red Hat control-plane custom resource and declared mesh membership through a separate member-roll object; those two resources do not exist in 3.x. In 3.x the control plane is upstream Istio's own Istio resource, managed by Sail, and membership is by the discovery and injection labels you use in the lab — standard Istio, the same VirtualService, DestinationRule, Gateway, and AuthorizationPolicy the whole ecosystem uses. The practical migration message: the 2.x control-plane and member-roll CRs are gone, it's upstream Istio now on the Sail operator, so your Istio knowledge transfers directly. On this cluster the control plane reports itself as Istio v1.28.6, read straight off the Istio resource. (The two 2.x resource names are on the workshop's banned-terms list precisely because they're deprecated — never present them as a current path.)</a:t>
            </a:r>
          </a:p>
        </p:txBody>
      </p:sp>
      <p:sp>
        <p:nvSpPr>
          <p:cNvPr id="4" name="Slide Number Placeholder 3"/>
          <p:cNvSpPr>
            <a:spLocks noGrp="1"/>
          </p:cNvSpPr>
          <p:nvPr>
            <p:ph type="sldNum" idx="5" sz="quarter"/>
          </p:nvPr>
        </p:nvSpPr>
        <p:spPr/>
      </p:sp>
    </p:spTree>
  </p:cSld>
  <p:clrMapOvr>
    <a:masterClrMapping/>
  </p:clrMapOvr>
</p:notes>
</file>

<file path=ppt/notesSlides/notesSlide13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Traffic shifting is two resources. A DestinationRule defines subsets — named pools by label, v1 and v2. A VirtualService is the route — here a 90/10 weighted split, plus a header rule that sends x-parasol-test:true straight to v2 so test users can opt into the new version while everyone else stays on v1. One thing that trips people up: a VirtualService weighted route is applied by the caller's sidecar, so you have to drive the traffic from a meshed workload for the split to apply (an un-meshed client bypasses it and gets even load-balancing). In the lab you send 200 requests from the meshed claims pod and read the actual distribution — about 185 to v1 and 15 to v2, the 90/10 you configured — from the mesh's own istio_requests_total telemetry, broken down by destination version. Why telemetry and not "count the responses"? Because in this lab v1 and v2 run the same image, so their bodies are identical; the routing is completely real, you just read it from the metric (which is also what colors Kiali's versioned graph). A genuinely distinct v2 would let you count responses too.</a:t>
            </a:r>
          </a:p>
        </p:txBody>
      </p:sp>
      <p:sp>
        <p:nvSpPr>
          <p:cNvPr id="4" name="Slide Number Placeholder 3"/>
          <p:cNvSpPr>
            <a:spLocks noGrp="1"/>
          </p:cNvSpPr>
          <p:nvPr>
            <p:ph type="sldNum" idx="5" sz="quarter"/>
          </p:nvPr>
        </p:nvSpPr>
        <p:spPr/>
      </p:sp>
    </p:spTree>
  </p:cSld>
  <p:clrMapOvr>
    <a:masterClrMapping/>
  </p:clrMapOvr>
</p:notes>
</file>

<file path=ppt/notesSlides/notesSlide14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mesh lets you both simulate failure and configure the defenses. Fault injection adds a delay or an abort to a route so you can test how a caller copes with a slow or failing dependency — in the lab, a 5-second delay on the fraud route, and you watch the caller feel every second of it: that's the cascading-failure trigger. The defenses are a request timeout and retries on the VirtualService, and a circuit breaker on the DestinationRule — outlier detection that ejects a fraud pod after three consecutive 5xx errors for thirty seconds, plus a connection-pool cap so a slow dependency can't exhaust the caller. Now the honest part, and it's a genuinely useful thing to teach: Istio applies fault injection in a filter that runs ahead of the router, so an injected delay (or abort) is not subject to that same route's timeout or retries — you'll set timeout 3s and watch the 5-second fault return a 200 after 5 seconds, not a timeout at 3. Fault injection tests the caller's coping; to see the timeout itself fire you need a genuinely slow upstream. The policy is real and applied (you confirm it in the proxy config); observing it trip live waits on a slower upstream. Don't oversell it.</a:t>
            </a:r>
          </a:p>
        </p:txBody>
      </p:sp>
      <p:sp>
        <p:nvSpPr>
          <p:cNvPr id="4" name="Slide Number Placeholder 3"/>
          <p:cNvSpPr>
            <a:spLocks noGrp="1"/>
          </p:cNvSpPr>
          <p:nvPr>
            <p:ph type="sldNum" idx="5" sz="quarter"/>
          </p:nvPr>
        </p:nvSpPr>
        <p:spPr/>
      </p:sp>
    </p:spTree>
  </p:cSld>
  <p:clrMapOvr>
    <a:masterClrMapping/>
  </p:clrMapOvr>
</p:notes>
</file>

<file path=ppt/notesSlides/notesSlide14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strongest beat. The mesh decides who may call whom by workload identity, not network location. Right now, under PERMISSIVE mutual TLS, any meshed workload can reach fraud — you prove it by having the web tier call fraud and get a 200. Then you apply an AuthorizationPolicy on the fraud workload that ALLOWs only the claims identity — sa/parasol-claims, the SPIFFE name you read off the certificate earlier. An ALLOW rule creates an implicit deny for everyone else. Now test three callers: claims (the allowed identity, over mutual TLS) gets a 200; the web tier — a perfectly healthy pod with a different identity — gets 403 RBAC: access denied; and the un-meshed demo-client, with no mesh identity at all, is refused too. That's the difference from a NetworkPolicy: a network policy answers by location ("namespace A may reach namespace B"), while an AuthorizationPolicy answers by cryptographic identity ("only the claims workload, and nothing else, even from the same namespace"). "Only claims may call fraud," enforceable rather than aspirational — and violations are a 403 you can see.</a:t>
            </a:r>
          </a:p>
        </p:txBody>
      </p:sp>
      <p:sp>
        <p:nvSpPr>
          <p:cNvPr id="4" name="Slide Number Placeholder 3"/>
          <p:cNvSpPr>
            <a:spLocks noGrp="1"/>
          </p:cNvSpPr>
          <p:nvPr>
            <p:ph type="sldNum" idx="5" sz="quarter"/>
          </p:nvPr>
        </p:nvSpPr>
        <p:spPr/>
      </p:sp>
    </p:spTree>
  </p:cSld>
  <p:clrMapOvr>
    <a:masterClrMapping/>
  </p:clrMapOvr>
</p:notes>
</file>

<file path=ppt/notesSlides/notesSlide14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Close on the ingress boundary and the transfer. Getting traffic into the mesh is the job of an ingress gateway. The honest boundary worth carrying to a customer: Routes and the newer Gateway API handle HTTP(S) ingress well — for most web traffic you don't need the mesh's gateway. But raw TCP and TLS passthrough by SNI are different: a Route can't route an arbitrary TCP protocol, and on supported OpenShift channels the experimental L4 Gateway API resources (TCPRoute, TLSRoute) aren't available — they were absent on this cluster. So when Parasol's legacy partner bureaus send claim feeds over raw TCP, the Istio ingress Gateway with a TCP or TLS-passthrough listener is the supported path. The decision guide: Gateway API or Routes for HTTP(S); Istio Gateway/VirtualService for raw-TCP and passthrough today. In the optional encore you build exactly that raw-TCP path and add a native gateway rate limit with an EnvoyFilter — hammer it, read the 429s — framed honestly as a platform capability, not a replacement for a full API-management product. Take the questions back to your org: is your east-west traffic provably mutual-TLS encrypted and gated by identity, or just assumed safe because it's "inside the cluster"? Can you canary 10% without a redeploy? Do you have an answer when a partner needs raw TCP?</a:t>
            </a:r>
          </a:p>
        </p:txBody>
      </p:sp>
      <p:sp>
        <p:nvSpPr>
          <p:cNvPr id="4" name="Slide Number Placeholder 3"/>
          <p:cNvSpPr>
            <a:spLocks noGrp="1"/>
          </p:cNvSpPr>
          <p:nvPr>
            <p:ph type="sldNum" idx="5" sz="quarter"/>
          </p:nvPr>
        </p:nvSpPr>
        <p:spPr/>
      </p:sp>
    </p:spTree>
  </p:cSld>
  <p:clrMapOvr>
    <a:masterClrMapping/>
  </p:clrMapOvr>
</p:notes>
</file>

<file path=ppt/notesSlides/notesSlide14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Open on the economics, because that's the pitch. Parasol's claims-processor is hammered during business hours and quiet overnight. A normal Kubernetes Deployment is always on — you pick a replica count and those pods sit there holding their CPU and memory reservation against the cluster's quota, whether they're serving thousands of requests a second or none at all. For a steady, always-busy service that's exactly right; for a bursty or partly-idle one it means paying for capacity you aren't using most of the day, while still sizing the Deployment for the busiest minute. Serverless answers with request-driven compute: the platform runs your service only when there's work. No requests, zero pods, zero cost. A request arrives, a pod starts and serves it. Load climbs, pods are added; load falls, pods are removed, back to zero. You still ship a normal container with health probes — the platform just owns the scaling decision, driven by traffic, all the way down to nothing.</a:t>
            </a:r>
          </a:p>
        </p:txBody>
      </p:sp>
      <p:sp>
        <p:nvSpPr>
          <p:cNvPr id="4" name="Slide Number Placeholder 3"/>
          <p:cNvSpPr>
            <a:spLocks noGrp="1"/>
          </p:cNvSpPr>
          <p:nvPr>
            <p:ph type="sldNum" idx="5" sz="quarter"/>
          </p:nvPr>
        </p:nvSpPr>
        <p:spPr/>
      </p:sp>
    </p:spTree>
  </p:cSld>
  <p:clrMapOvr>
    <a:masterClrMapping/>
  </p:clrMapOvr>
</p:notes>
</file>

<file path=ppt/notesSlides/notesSlide14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On OpenShift Serverless you don't assemble a Deployment, a Service, and a Route. You create one object — a Knative Service, a ksvc — and Knative materializes the rest: a Deployment fronted by the Pod Autoscaler (so pods scale on traffic, including to zero), a Kubernetes Service for in-cluster addressing, an edge-terminated OpenShift Route backed by the Kourier ingress, and a Configuration plus a Revision that snapshot this version. The single most important consequence for this workshop: Knative creates the Route for you. Other modules teach you to publish a browser-facing app with `oc create route edge` — for a ksvc that's wrong. The operator auto-creates the edge Route in a namespace you don't manage and hands you the URL on the service as status.url. Hand-rolling a Route for a ksvc fights the operator. Throughout the module the address is whatever `oc get ksvc -o jsonpath={.status.url}` returns. And when a pod is running it's 2/2 — your app container plus a queue-proxy sidecar Knative injects to meter concurrency and buffer during scale-up.</a:t>
            </a:r>
          </a:p>
        </p:txBody>
      </p:sp>
      <p:sp>
        <p:nvSpPr>
          <p:cNvPr id="4" name="Slide Number Placeholder 3"/>
          <p:cNvSpPr>
            <a:spLocks noGrp="1"/>
          </p:cNvSpPr>
          <p:nvPr>
            <p:ph type="sldNum" idx="5" sz="quarter"/>
          </p:nvPr>
        </p:nvSpPr>
        <p:spPr/>
      </p:sp>
    </p:spTree>
  </p:cSld>
  <p:clrMapOvr>
    <a:masterClrMapping/>
  </p:clrMapOvr>
</p:notes>
</file>

<file path=ppt/notesSlides/notesSlide14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Every time you change a ksvc's template — a new image, a new env var, a tuned concurrency setting — Knative stamps out a new, immutable Revision and leaves the old ones in place. Two objects sit above the revisions. The Configuration is the latest desired version; editing the ksvc updates it, which mints the next revision. The Route is where traffic goes; by default it sends 100% to the latest revision, but you can point it at named revisions with weights and tags. Because a revision is a frozen, addressable version, rolling back is not a redeploy — it's re-pointing the Route's weight at an older revision that's already there. In the lab you'll see exactly this: tune concurrency (which mints revision v2), then split traffic 80/20 across v1 and v2, then roll back to 100% stable in one line — the candidate revision stays put, ready to re-weight. Rollout and rollback as a Route weight.</a:t>
            </a:r>
          </a:p>
        </p:txBody>
      </p:sp>
      <p:sp>
        <p:nvSpPr>
          <p:cNvPr id="4" name="Slide Number Placeholder 3"/>
          <p:cNvSpPr>
            <a:spLocks noGrp="1"/>
          </p:cNvSpPr>
          <p:nvPr>
            <p:ph type="sldNum" idx="5" sz="quarter"/>
          </p:nvPr>
        </p:nvSpPr>
        <p:spPr/>
      </p:sp>
    </p:spTree>
  </p:cSld>
  <p:clrMapOvr>
    <a:masterClrMapping/>
  </p:clrMapOvr>
</p:notes>
</file>

<file path=ppt/notesSlides/notesSlide14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 normal Deployment scales with the Horizontal Pod Autoscaler, which reacts to CPU or memory. Knative's default Knative Pod Autoscaler scales on concurrency — how many requests are in flight at once — and, crucially, it can scale to zero. The dial is target concurrency: how many simultaneous requests should one pod handle before adding another. A soft target is the KPA's goal; a hard containerConcurrency is a ceiling the pod won't exceed. Scale bounds cap the range: min-scale defaults to 0 (that's where scale-to-zero comes from), max-scale is the ceiling so one bursting tenant can't exhaust the cluster. The catch is the cold start. When a request hits a scaled-to-zero service, the activator buffers it while a pod starts, then forwards it — that first request pays the full startup cost. On this cluster the JVM claims-processor's first request from zero took about 15 seconds; every warm request after, about a tenth of a second. That's not a bug, it's the honest cost of trading idle capacity for scale-to-zero — and you plan around it: set min-scale 1 for a latency-sensitive path (giving up scale-to-zero for a warm floor), or use a natively-compiled build that starts in tens of milliseconds. The lab has attendees measure the cold start themselves, so the tradeoff is a number they've seen, not a slogan.</a:t>
            </a:r>
          </a:p>
        </p:txBody>
      </p:sp>
      <p:sp>
        <p:nvSpPr>
          <p:cNvPr id="4" name="Slide Number Placeholder 3"/>
          <p:cNvSpPr>
            <a:spLocks noGrp="1"/>
          </p:cNvSpPr>
          <p:nvPr>
            <p:ph type="sldNum" idx="5" sz="quarter"/>
          </p:nvPr>
        </p:nvSpPr>
        <p:spPr/>
      </p:sp>
    </p:spTree>
  </p:cSld>
  <p:clrMapOvr>
    <a:masterClrMapping/>
  </p:clrMapOvr>
</p:notes>
</file>

<file path=ppt/notesSlides/notesSlide14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Because revisions are addressable and the Route carries weights, shifting traffic between two versions is a one-object change: tag revision v1 stable at 80% and v2 candidate at 20%, and Knative also gives each tag its own sub-route so you can hit either version directly. This is the third traffic-shifting tool the workshop has shown, and they're worth holding apart. Argo Rollouts shifts by Deployment strategy with metric-gated steps — best for progressive delivery with automated analysis and rollback. The service mesh shifts by sidecar routing rules — best for identity, resilience, and L7 policy across many services. Knative shifts the ksvc's own Route over immutable revisions — best when the workload is already a ksvc, because the old revision is right there, so "roll back 20% to stable" is a weight change, not a deploy. None replaces the others; they operate at different layers. In the lab attendees split 80/20, hit each tagged sub-route directly (both 200), prove the main URL wakes both revision Deployments, then roll back to 100% stable in one line.</a:t>
            </a:r>
          </a:p>
        </p:txBody>
      </p:sp>
      <p:sp>
        <p:nvSpPr>
          <p:cNvPr id="4" name="Slide Number Placeholder 3"/>
          <p:cNvSpPr>
            <a:spLocks noGrp="1"/>
          </p:cNvSpPr>
          <p:nvPr>
            <p:ph type="sldNum" idx="5" sz="quarter"/>
          </p:nvPr>
        </p:nvSpPr>
        <p:spPr/>
      </p:sp>
    </p:spTree>
  </p:cSld>
  <p:clrMapOvr>
    <a:masterClrMapping/>
  </p:clrMapOvr>
</p:notes>
</file>

<file path=ppt/notesSlides/notesSlide14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Everything so far has been request-driven: a client calls the service. Knative Eventing adds the other half — event-driven delivery, where something happens and the service is invoked without a caller waiting on it. Three primitives: a Source emits events — you'll use a PingSource that emits on a schedule; a Broker is an event hub that receives and fans out, and the default is in-memory, needing no external messaging system; a Trigger is a subscription that routes broker events to a sink — here the claims-processor ksvc, which scales up from zero to receive them. Now the honest part, and it's the whole framing: you wire source to broker to trigger to service and the delivery genuinely happens — the trigger POSTs each event to the ksvc, which wakes from zero. But you'll also see an honest HTTP 404, because the claims-processor has no CloudEvents handler yet — the event lands on a path the app doesn't serve. That is the correct teaching boundary: the wiring and the scale-up on an event are real; processing the event — parsing the CloudEvent, branching on its data, replying — is the deep story, and it belongs to the Eventing Deep-Dive and Serverless Workflows module that follows, which starts from exactly this end state. Don't read the 404 as a failure; read it as "the plumbing works, the business logic is the next module."</a:t>
            </a:r>
          </a:p>
        </p:txBody>
      </p:sp>
      <p:sp>
        <p:nvSpPr>
          <p:cNvPr id="4" name="Slide Number Placeholder 3"/>
          <p:cNvSpPr>
            <a:spLocks noGrp="1"/>
          </p:cNvSpPr>
          <p:nvPr>
            <p:ph type="sldNum" idx="5" sz="quarter"/>
          </p:nvPr>
        </p:nvSpPr>
        <p:spPr/>
      </p:sp>
    </p:spTree>
  </p:cSld>
  <p:clrMapOvr>
    <a:masterClrMapping/>
  </p:clrMapOvr>
</p:notes>
</file>

<file path=ppt/notesSlides/notesSlide14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Close on the decision and the transfer, because the honest answer is "it depends" and here's the checklist. Lean serverless when a service is bursty or spiky, idle a meaningful fraction of the time, request- or event-driven, and tolerant of an occasional cold start (or cheap enough to keep one warm) — that's when scale-to-zero and pay-for-use earn their keep. Lean Deployment when a service is steadily busy (a plain Deployment with an HPA is simpler and has no cold start), when a latency-critical path can't tolerate a cold start and isn't worth a warm floor, or when the workload is long-running or stateful (serverless is for short, stateless request handling — batch and stateful work are other modules). On rollout, Knative gives you canary and rollback as a Route weight over revisions; a plain Deployment gives you rolling updates, or Argo Rollouts for metric-gated promotion. Functions via kn func are a ksvc from a code template — presented here as concept and instructor demo, because the cockpit has no local container build and the on-cluster path needs Pipelines. Then take the questions back to your org: which of your services sit idle a meaningful part of the day, and what do the always-on pods cost? When you say "cold start," is it a number or a fear? Can you canary and roll back without a redeploy? And where do your event-driven flows live today? The eventing depth and real workflows are the next module.</a:t>
            </a:r>
          </a:p>
        </p:txBody>
      </p:sp>
      <p:sp>
        <p:nvSpPr>
          <p:cNvPr id="4" name="Slide Number Placeholder 3"/>
          <p:cNvSpPr>
            <a:spLocks noGrp="1"/>
          </p:cNvSpPr>
          <p:nvPr>
            <p:ph type="sldNum" idx="5" sz="quarter"/>
          </p:nvPr>
        </p:nvSpPr>
        <p:spPr/>
      </p:sp>
    </p:spTree>
  </p:cSld>
  <p:clrMapOvr>
    <a:masterClrMapping/>
  </p:clrMapOvr>
</p:notes>
</file>

<file path=ppt/notesSlides/notesSlide15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Open on the coupling problem, because that's the pitch. Parasol's claims-processor accepts a claim, and then several things must happen: fraud-scoring, an audit record, a customer notification, and for big claims a referral to investigations. If the claims app CALLS each of those directly, it's welded to all of them — it needs their addresses and APIs, it waits on every one, a slow or down fraud service stalls claim submission, and adding a fifth listener means changing and redeploying the claims app. Eventing breaks that weld. The producer states a fact — "com.parasol.claim.submitted, here's the claim" — into a broker, and returns immediately. It does not know, and does not care, who consumes it. Consumers subscribe: each declares, through a trigger, which events it wants. Fraud, audit, and notifications each get their own copy; a new analytics consumer is added by creating a trigger, with NO change to the claims app. That inversion — the producer emits, the platform routes, consumers subscribe — is the whole module.</a:t>
            </a:r>
          </a:p>
        </p:txBody>
      </p:sp>
      <p:sp>
        <p:nvSpPr>
          <p:cNvPr id="4" name="Slide Number Placeholder 3"/>
          <p:cNvSpPr>
            <a:spLocks noGrp="1"/>
          </p:cNvSpPr>
          <p:nvPr>
            <p:ph type="sldNum" idx="5" sz="quarter"/>
          </p:nvPr>
        </p:nvSpPr>
        <p:spPr/>
      </p:sp>
    </p:spTree>
  </p:cSld>
  <p:clrMapOvr>
    <a:masterClrMapping/>
  </p:clrMapOvr>
</p:notes>
</file>

<file path=ppt/notesSlides/notesSlide15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Knative Eventing is four moving parts, each a Kubernetes custom resource. A Source emits events — here a PingSource that emits a claim-shaped event on a schedule, the seeded producer. A Broker is the hub: it receives events and holds them for routing, it has an address, producers POST CloudEvents to it and get a 202 "accepted," and the default is in-memory — no external messaging system required. A Trigger is a subscription with a filter: "deliver broker events matching these attributes to this sink." Triggers are the routing layer. A Sink is anything addressable that receives events — here a Knative Service consumer that scales from zero on an event. And the thing that makes routing possible is the CloudEvents envelope: a small vendor-neutral wrapper with context attributes — type (what happened), source (who emitted it), id, specversion — plus your own extension attributes, like the claimpriority the seeded source stamps. Because the routable facts live in the envelope, a trigger never has to parse your data to decide where an event goes. Be honest about the source: it's a seeded ticker because parasol-claims doesn't emit CloudEvents yet — but everything downstream is real, and pointing the triggers at real claim events is one app change away.</a:t>
            </a:r>
          </a:p>
        </p:txBody>
      </p:sp>
      <p:sp>
        <p:nvSpPr>
          <p:cNvPr id="4" name="Slide Number Placeholder 3"/>
          <p:cNvSpPr>
            <a:spLocks noGrp="1"/>
          </p:cNvSpPr>
          <p:nvPr>
            <p:ph type="sldNum" idx="5" sz="quarter"/>
          </p:nvPr>
        </p:nvSpPr>
        <p:spPr/>
      </p:sp>
    </p:spTree>
  </p:cSld>
  <p:clrMapOvr>
    <a:masterClrMapping/>
  </p:clrMapOvr>
</p:notes>
</file>

<file path=ppt/notesSlides/notesSlide15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Knative gives you two ways to move events, and choosing is a semantics decision, not a style one. A Broker plus Triggers is a hub that many triggers attach to, each with its own attribute filter, so one event fans out to exactly the consumers whose filter matches. A Channel plus Subscriptions is a linear pipe with ordered subscribers and no per-subscriber filter — every subscriber gets every event. The rule of thumb: reach for Broker plus Trigger when you're distributing events to many interested consumers with filtering, which is almost always the app-integration case and is what this module builds. Reach for Channel plus Subscription when you have an ordered, linear processing pipeline and want explicit control of each hop. A broker is in fact implemented on a channel, so this is a question of the abstraction you program against, not two unrelated systems.</a:t>
            </a:r>
          </a:p>
        </p:txBody>
      </p:sp>
      <p:sp>
        <p:nvSpPr>
          <p:cNvPr id="4" name="Slide Number Placeholder 3"/>
          <p:cNvSpPr>
            <a:spLocks noGrp="1"/>
          </p:cNvSpPr>
          <p:nvPr>
            <p:ph type="sldNum" idx="5" sz="quarter"/>
          </p:nvPr>
        </p:nvSpPr>
        <p:spPr/>
      </p:sp>
    </p:spTree>
  </p:cSld>
  <p:clrMapOvr>
    <a:masterClrMapping/>
  </p:clrMapOvr>
</p:notes>
</file>

<file path=ppt/notesSlides/notesSlide15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Attribute filtering is an include rule. A trigger with filter type=com.parasol.claim.submitted delivers only matching events; everything else it drops. Multiple triggers filter independently on the same broker, so one event can match several triggers — fan-out — or none — dropped. In the lab attendees add a fraud-review trigger filtering on the CloudEvent type and an audit trigger filtering on the claimpriority extension attribute, both alongside the baseline catch-all, and prove filtering by match-count: because the consumer displays an event once per matching trigger, a plain claim.submitted shows up twice (catch-all plus the type filter), a claim.rejected shows up once (only the catch-all; both filters dropped it), and a high-priority claim.submitted shows up three times (all three matched). A non-matching event isn't an error — it got a 202 from the broker, it's just not that trigger's concern, and it doesn't even wake that trigger's consumer. The filter is each trigger's "what do I care about" rule, and you change routing by editing a trigger, not by touching application code.</a:t>
            </a:r>
          </a:p>
        </p:txBody>
      </p:sp>
      <p:sp>
        <p:nvSpPr>
          <p:cNvPr id="4" name="Slide Number Placeholder 3"/>
          <p:cNvSpPr>
            <a:spLocks noGrp="1"/>
          </p:cNvSpPr>
          <p:nvPr>
            <p:ph type="sldNum" idx="5" sz="quarter"/>
          </p:nvPr>
        </p:nvSpPr>
        <p:spPr/>
      </p:sp>
    </p:spTree>
  </p:cSld>
  <p:clrMapOvr>
    <a:masterClrMapping/>
  </p:clrMapOvr>
</p:notes>
</file>

<file path=ppt/notesSlides/notesSlide15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Routing works — but what happens when a consumer fails? By default a failed delivery is retried a few times and then dropped, silently. A trigger's delivery spec adds two things. Retries: on a failed delivery Knative retries N times with a backoff, exponential being the sane default, giving a briefly-unhealthy consumer time to recover. And a dead-letter sink: when the retries are exhausted, the event is NOT dropped — it's delivered to a separate sink you nominate, stamped with why it died. In the lab attendees give the fraud-review trigger retry:3 with exponential backoff and a dead-letter sink to claims-dlq, then deliberately break the consumer — point delivery at a path it 404s — and watch a claim retry for about eight seconds (one try plus three retries at one, two, four seconds) and then dead-letter. They open the dead event in the DLQ and read knativeerrorcode:404 and knativeerrordest, the exact destination that kept failing. That's the whole value over dropping: the dead-letter sink is a diagnosable record, not a black hole. In production you alert on dead-letter arrivals and drain the sink once the consumer is healthy.</a:t>
            </a:r>
          </a:p>
        </p:txBody>
      </p:sp>
      <p:sp>
        <p:nvSpPr>
          <p:cNvPr id="4" name="Slide Number Placeholder 3"/>
          <p:cNvSpPr>
            <a:spLocks noGrp="1"/>
          </p:cNvSpPr>
          <p:nvPr>
            <p:ph type="sldNum" idx="5" sz="quarter"/>
          </p:nvPr>
        </p:nvSpPr>
        <p:spPr/>
      </p:sp>
    </p:spTree>
  </p:cSld>
  <p:clrMapOvr>
    <a:masterClrMapping/>
  </p:clrMapOvr>
</p:notes>
</file>

<file path=ppt/notesSlides/notesSlide15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core of this module runs entirely on the in-memory broker Knative Eventing ships — no extra subscription, no middleware, the right default for most app-integration eventing. Two properties you see and should understand. It's synchronous: when you POST to the broker, the 202 comes back only after delivery completes, so a scaled-to-zero consumer must cold-start first and the very first POST takes ten-plus seconds — the same JVM cold start from Serverless, now on the delivery path; warm, it's sub-second. And it's not durable: in-memory means gone if the broker pod restarts, which is fine for dev, demos, and best-effort internal events. When you outgrow it, the answer is a Kafka-backed broker from Streams for Apache Kafka — a separate subscription, so the module never requires it — which adds durability, replay, and per-partition ordering. The honest guidance: default to in-memory; move to Kafka when the events are financially or legally consequential and losing one is unacceptable. And the swap is a broker-class change, not an app change: your triggers, filters, and consumers are unchanged — that's the point of the broker abstraction. "We have eventing" on an in-memory broker is fine until the first dropped payment event, and then it's a separate subscription and a real migration, not a config flag.</a:t>
            </a:r>
          </a:p>
        </p:txBody>
      </p:sp>
      <p:sp>
        <p:nvSpPr>
          <p:cNvPr id="4" name="Slide Number Placeholder 3"/>
          <p:cNvSpPr>
            <a:spLocks noGrp="1"/>
          </p:cNvSpPr>
          <p:nvPr>
            <p:ph type="sldNum" idx="5" sz="quarter"/>
          </p:nvPr>
        </p:nvSpPr>
        <p:spPr/>
      </p:sp>
    </p:spTree>
  </p:cSld>
  <p:clrMapOvr>
    <a:masterClrMapping/>
  </p:clrMapOvr>
</p:notes>
</file>

<file path=ppt/notesSlides/notesSlide15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Triggers give you choreography: each consumer reacts to events on its own, with no central conductor. It's beautifully decoupled and hard to reason about once a business process has branches, retries across steps, and timeouts — "did the claim get approved, or is it stuck waiting on a step three services away?" Orchestration answers that with a conductor: one component owns the process, calls services in order, branches on data, and handles timeouts. On OpenShift that conductor is OpenShift Serverless Logic — a SonataFlow runtime implementing the CNCF Serverless Workflow spec, running on Knative. A Parasol claims-approval workflow would auto-approve claims below a threshold, route the rest to a review service, and take a timeout branch if review doesn't answer in time, as one declarative workflow with a queryable instance per claim. It's generally available since Serverless 1.33 with a console, a kn-workflow CLI, and a VS Code extension — real and production-ready. It's presented here as a concept and an add-on for one honest reason: a per-user SonataFlow platform, the workflow runtime plus its own state database, is significant footprint for every seat, and the graded core of this module is the eventing substrate. The decision is what travels with you: choreography for decoupled fan-out; orchestration when a process needs a conductor.</a:t>
            </a:r>
          </a:p>
        </p:txBody>
      </p:sp>
      <p:sp>
        <p:nvSpPr>
          <p:cNvPr id="4" name="Slide Number Placeholder 3"/>
          <p:cNvSpPr>
            <a:spLocks noGrp="1"/>
          </p:cNvSpPr>
          <p:nvPr>
            <p:ph type="sldNum" idx="5" sz="quarter"/>
          </p:nvPr>
        </p:nvSpPr>
        <p:spPr/>
      </p:sp>
    </p:spTree>
  </p:cSld>
  <p:clrMapOvr>
    <a:masterClrMapping/>
  </p:clrMapOvr>
</p:notes>
</file>

<file path=ppt/notesSlides/notesSlide15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Close on the decision and the transfer. Reach for Broker plus Triggers — this module — when you react to a fact, fan out to many consumers, and filter per consumer; that's the app-integration case. Reach for Channel plus Subscriptions for an ordered, linear pipeline. For events you cannot afford to lose, that's a Kafka broker, an add-on on a Streams subscription. For a multi-step process with branches and timeouts, that's orchestration with SonataFlow, also an add-on. And know the wrong tools: a step-by-step CI/CD build is Pipelines from Pipelines Fundamentals, not eventing; bulk parallel work with admission control is Jobs plus Kueue from Jobs, Batch &amp; Queued Workloads; and when a caller needs an answer NOW from one service, a direct synchronous call is simpler than emitting an event and correlating a reply. Then take the questions back to your org: where does adding a consumer force a change to the producer? Which synchronous calls fail the user because a downstream is slow? Where does routing live — in triggers or in if-statements? How would you know you were silently losing events — do you have a dead-letter sink and an alert on it? And which of your events actually need Kafka, and do you know it's a separate subscription? The honest boundary of the module: the source here was a seeded ticker because the app doesn't emit yet — making parasol-claims emit real claim events and repointing the triggers is one app change from closed.</a:t>
            </a:r>
          </a:p>
        </p:txBody>
      </p:sp>
      <p:sp>
        <p:nvSpPr>
          <p:cNvPr id="4" name="Slide Number Placeholder 3"/>
          <p:cNvSpPr>
            <a:spLocks noGrp="1"/>
          </p:cNvSpPr>
          <p:nvPr>
            <p:ph type="sldNum" idx="5" sz="quarter"/>
          </p:nvPr>
        </p:nvSpPr>
        <p:spPr/>
      </p:sp>
    </p:spTree>
  </p:cSld>
  <p:clrMapOvr>
    <a:masterClrMapping/>
  </p:clrMapOvr>
</p:notes>
</file>

<file path=ppt/notesSlides/notesSlide15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Open on the distinction, because it's the whole module. Parasol's claims service is genuinely resilient in one site — three replicas, a PodDisruptionBudget, topology spread across nodes, an autoscaler. That reflex, built in Platform Orientation, Observability, and Deployment Targets &amp; Scheduling, absorbs the common failures: a pod crashes and the Deployment replaces it; a node is drained and the PDB paces the eviction so a quorum stays up. But "we have three replicas" does nothing the moment the failure is a whole SITE going dark — a data center loses power, the cluster fails, the region has an outage — because every one of those replicas was IN the site that just died. Think of it as a ladder: pod, node, zone, site, region. The bottom three rungs are in-site resilience, and you already own them. The site rung — a whole site lost — is what this module is about: surviving it means failing OVER to another site, and doing it automatically so the client never notices. Above that, a lost region is where the platform's DR tooling comes in. Resilience and failover are different disciplines; this module is the failover half, built on top of the resilience you already have — with the platform's backup-and-GitOps DR net underneath as the safety layer.</a:t>
            </a:r>
          </a:p>
        </p:txBody>
      </p:sp>
      <p:sp>
        <p:nvSpPr>
          <p:cNvPr id="4" name="Slide Number Placeholder 3"/>
          <p:cNvSpPr>
            <a:spLocks noGrp="1"/>
          </p:cNvSpPr>
          <p:nvPr>
            <p:ph type="sldNum" idx="5" sz="quarter"/>
          </p:nvPr>
        </p:nvSpPr>
        <p:spPr/>
      </p:sp>
    </p:spTree>
  </p:cSld>
  <p:clrMapOvr>
    <a:masterClrMapping/>
  </p:clrMapOvr>
</p:notes>
</file>

<file path=ppt/notesSlides/notesSlide15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Before a service can fail over to another site, it has to be resilient where it lives — the site rung sits ON TOP of these, it doesn't replace them. Parasol's claims service runs the Observability and Deployment Targets &amp; Scheduling primitives, made concrete. Multiple replicas — three here — so losing one pod is a non-event; the Deployment notices and replaces it in seconds. A PodDisruptionBudget that keeps a quorum, two of three, available during any voluntary disruption, so a node drain evicts at most one replica at a time and paces the rest. topologySpreadConstraints plus anti-affinity so the replicas land on different nodes, and one node loss can't take them all. And a HorizontalPodAutoscaler that holds the replica floor and bursts under load. In the lab the attendee proves this by KILLING a pod and watching the service never dip — two replicas keep serving, a replacement appears in about six seconds. That's the baseline. It's also exactly what these primitives CANNOT do — survive the loss of the whole site — which is the next slide.</a:t>
            </a:r>
          </a:p>
        </p:txBody>
      </p:sp>
      <p:sp>
        <p:nvSpPr>
          <p:cNvPr id="4" name="Slide Number Placeholder 3"/>
          <p:cNvSpPr>
            <a:spLocks noGrp="1"/>
          </p:cNvSpPr>
          <p:nvPr>
            <p:ph type="sldNum" idx="5" sz="quarter"/>
          </p:nvPr>
        </p:nvSpPr>
        <p:spPr/>
      </p:sp>
    </p:spTree>
  </p:cSld>
  <p:clrMapOvr>
    <a:masterClrMapping/>
  </p:clrMapOvr>
</p:notes>
</file>

<file path=ppt/notesSlides/notesSlide16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Here's the centerpiece. Picture Parasol running its claims service in two sites — A the primary, B a warm secondary — and a client calling it through ONE stable address, an ingress gateway, that must keep working even if site A disappears. The mesh gives you exactly that with three small resources. A ServiceEntry declares one logical claims host whose two endpoints are site A and site B, each tagged with its LOCALITY. A DestinationRule turns on locality-aware load balancing — prefer the local, primary site — and outlier detection, which ejects a site whose requests start failing. And a VirtualService on the gateway routes the stable endpoint to that host, with RETRIES so a request that hits the just-failed site is transparently retried onto the healthy one. Because the gateway is co-located with site A's locality, traffic prefers A — site A is priority zero, site B is the failover. That's primary/backup, not active-active. Three resources, zero application code, and the client never changes its address. The next slide is what happens when you pull the plug on site A.</a:t>
            </a:r>
          </a:p>
        </p:txBody>
      </p:sp>
      <p:sp>
        <p:nvSpPr>
          <p:cNvPr id="4" name="Slide Number Placeholder 3"/>
          <p:cNvSpPr>
            <a:spLocks noGrp="1"/>
          </p:cNvSpPr>
          <p:nvPr>
            <p:ph type="sldNum" idx="5" sz="quarter"/>
          </p:nvPr>
        </p:nvSpPr>
        <p:spPr/>
      </p:sp>
    </p:spTree>
  </p:cSld>
  <p:clrMapOvr>
    <a:masterClrMapping/>
  </p:clrMapOvr>
</p:notes>
</file>

<file path=ppt/notesSlides/notesSlide16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the beat that makes cross-site failover real instead of a slide. A client is calling the claims service through the stable endpoint once a second, logging which site answered — steadily site A, the primary. Then the disaster: scale site A to ZERO. Not a pod, not a node — the ENTIRE primary site is gone, the bluntest possible simulation of a power cut, a bad deploy, a lost cluster. Keep your eyes on the client log. Within about four seconds the site marker flips from A to B — and here's the whole point — EVERY line is still HTTP 200. Not a single dropped request. The client never changed its address; the mesh detected site A's requests failing, ejected it with outlier detection, and retried the in-flight requests onto site B. That's automatic cross-site failover. And recovery is just as automatic: bring site A back, and once the mesh trusts it again — about thirty seconds, the ejection expiring — traffic RETURNS to the primary. Failover AND failback, both automatic, both invisible to the client. Measured live: the marker flipped across roughly ninety continuous requests with zero errors. If site A were a real data center and site B a real second cluster, this is exactly how you survive losing one.</a:t>
            </a:r>
          </a:p>
        </p:txBody>
      </p:sp>
      <p:sp>
        <p:nvSpPr>
          <p:cNvPr id="4" name="Slide Number Placeholder 3"/>
          <p:cNvSpPr>
            <a:spLocks noGrp="1"/>
          </p:cNvSpPr>
          <p:nvPr>
            <p:ph type="sldNum" idx="5" sz="quarter"/>
          </p:nvPr>
        </p:nvSpPr>
        <p:spPr/>
      </p:sp>
    </p:spTree>
  </p:cSld>
  <p:clrMapOvr>
    <a:masterClrMapping/>
  </p:clrMapOvr>
</p:notes>
</file>

<file path=ppt/notesSlides/notesSlide16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failover you just saw assumes the two sites can reach each other. On one cluster that's free. When they're two real data centers, two clusters, or a cluster and a partner's environment, the old answer is a VPN or a flattened network — heavyweight, security-team-owned, often impossible across organizational boundaries. Red Hat Service Interconnect, built on Skupper version 2, is the modern answer. It creates a Virtual Application Network: a dedicated mutual-TLS Layer-7 overlay that links just the specific services that need it, over a single outbound connection, with no VPN and no shared subnet. Each site becomes a Site; you expose a service on one site with a Connector, consume it on another with a Listener bound to the same routing key, and link the sites by issuing an AccessGrant and redeeming it with an AccessToken. The elegant part: the application is completely unchanged — it reads a LOCAL address that only exists because the VAN provides it, and traffic is carried, encrypted, to the remote site's real service. In the lab, a client in one data center reads the OTHER data center's claims service — SITE=B — through a local name. And keep the distinction clear: the mesh is your in-cluster traffic-policy and FAILOVER layer; RHSI is your cross-site CONNECTIVITY fabric. A real multi-region Parasol uses both — RHSI to connect the regions, the mesh to fail over within them. This whole section is a flagged, skippable add-on; RHSI is a separate subscription and nothing in the graded core depends on it.</a:t>
            </a:r>
          </a:p>
        </p:txBody>
      </p:sp>
      <p:sp>
        <p:nvSpPr>
          <p:cNvPr id="4" name="Slide Number Placeholder 3"/>
          <p:cNvSpPr>
            <a:spLocks noGrp="1"/>
          </p:cNvSpPr>
          <p:nvPr>
            <p:ph type="sldNum" idx="5" sz="quarter"/>
          </p:nvPr>
        </p:nvSpPr>
        <p:spPr/>
      </p:sp>
    </p:spTree>
  </p:cSld>
  <p:clrMapOvr>
    <a:masterClrMapping/>
  </p:clrMapOvr>
</p:notes>
</file>

<file path=ppt/notesSlides/notesSlide16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Two things to separate, then one thing underneath. First, mesh versus RHSI — they're complementary, not competing. The service mesh governs in-cluster traffic — routing, mutual TLS, and the primary/backup failover you just built. RHSI is a cross-site fabric that stitches separate clusters or data centers into one network so services can find each other at all. Both are the APP TEAM's job: design for resilience, wire up failover, connect your sites. Underneath sits the PLATFORM's job — the DR safety net for the catastrophes even failover can't cover: a corrupted database, a fat-fingered delete, a whole cluster or region lost. OADP — OpenShift API for Data Protection, the supported packaging of Velero — backs up and restores an application's Kubernetes objects AND its persistent-volume data to an object store; when data is destroyed, OADP brings the DATA back, not just the empty objects. And GitOps re-materialization — from GitOps at Scale — is the multiplier: if your whole platform is declared in Git and reconciled by Argo CD, standing it back up on a new cluster is a convergence, not a runbook. The honest division of labor: the platform HAS YOUR BACK for DR — OADP restores the data, GitOps rebuilds the platform, ACM automates both across a fleet — but that net only helps if YOUR app is designed to use it: resilient in-site, and able to fail over when a site goes down. That's the part this module's lab makes yours.</a:t>
            </a:r>
          </a:p>
        </p:txBody>
      </p:sp>
      <p:sp>
        <p:nvSpPr>
          <p:cNvPr id="4" name="Slide Number Placeholder 3"/>
          <p:cNvSpPr>
            <a:spLocks noGrp="1"/>
          </p:cNvSpPr>
          <p:nvPr>
            <p:ph type="sldNum" idx="5" sz="quarter"/>
          </p:nvPr>
        </p:nvSpPr>
        <p:spPr/>
      </p:sp>
    </p:spTree>
  </p:cSld>
  <p:clrMapOvr>
    <a:masterClrMapping/>
  </p:clrMapOvr>
</p:notes>
</file>

<file path=ppt/notesSlides/notesSlide16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Close on the decision and the transfer. Match the mechanism to the failure: a pod, node, or zone loss is replicas plus a PodDisruptionBudget plus spread — from Observability and Deployment Targets &amp; Scheduling — not a second site; the loss of a whole site or cluster is mesh cross-site failover, not more replicas in the site that died; connecting real sites or data centers with no flat network is RHSI, an add-on, not a VPN; destroyed or corrupt DATA is an OADP restore; and standing a platform back up elsewhere is a GitOps re-materialization from GitOps at Scale plus OADP for the data. Then take the questions back to your org. Do you fail over to your second site AUTOMATICALLY, or is it a 3-a.m. runbook — because a warm site nobody has ever cut over to is a hope, not a capability, and the "scale the site to zero and watch the client keep working" drill is exactly the game-day to run. Which rung does each of your resilience measures actually absorb — is there anything for the SITE rung, or does "we have replicas" quietly stand in for a failover story you don't have? And where's the line between the app team's job and the platform's — do teams own in-site resilience and failover while the platform owns backup, restore, and re-materialization, or do they blur it and either over-rely on an untested backup or hand-roll DR the platform already provides? The honest core: resilience keeps a site up, failover keeps the service up, and the platform's net catches what neither can.</a:t>
            </a:r>
          </a:p>
        </p:txBody>
      </p:sp>
      <p:sp>
        <p:nvSpPr>
          <p:cNvPr id="4" name="Slide Number Placeholder 3"/>
          <p:cNvSpPr>
            <a:spLocks noGrp="1"/>
          </p:cNvSpPr>
          <p:nvPr>
            <p:ph type="sldNum" idx="5" sz="quarter"/>
          </p:nvPr>
        </p:nvSpPr>
        <p:spPr/>
      </p:sp>
    </p:spTree>
  </p:cSld>
  <p:clrMapOvr>
    <a:masterClrMapping/>
  </p:clrMapOvr>
</p:notes>
</file>

<file path=ppt/notesSlides/notesSlide16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Open on the temptation and why it fails. The easy move is to wrap the existing WAR in a container image and call it modernized. It fails for structural reasons, not cosmetic ones. The datasource URL — a hardcoded database IP — the username and password live in a properties file inside the WAR; on OpenShift that belongs in a ConfigMap and a Secret injected as environment variables so the same image runs in dev, test, and prod. The app writes an audit log to a hardcoded host path; containers run as a random non-root user on an ephemeral, read-only-by-default filesystem, so that write fails and the file would vanish on restart anyway — logs belong on stdout. And a WAR expects a servlet container to be there; the cloud-native shape is an embedded runtime where the app is the process. None of this is visible from the outside. The Migration Toolkit for Applications reads the source and tells you precisely which of these — and how much effort each — before you hit them in production.</a:t>
            </a:r>
          </a:p>
        </p:txBody>
      </p:sp>
      <p:sp>
        <p:nvSpPr>
          <p:cNvPr id="4" name="Slide Number Placeholder 3"/>
          <p:cNvSpPr>
            <a:spLocks noGrp="1"/>
          </p:cNvSpPr>
          <p:nvPr>
            <p:ph type="sldNum" idx="5" sz="quarter"/>
          </p:nvPr>
        </p:nvSpPr>
        <p:spPr/>
      </p:sp>
    </p:spTree>
  </p:cSld>
  <p:clrMapOvr>
    <a:masterClrMapping/>
  </p:clrMapOvr>
</p:notes>
</file>

<file path=ppt/notesSlides/notesSlide16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Every legacy app gets one of six dispositions, and the skill is choosing honestly, per app, on cost and value. Retain: leave it where it is for now — a stable integration nobody touches this year. Retire: turn it off — a reporting app superseded by a dashboard. Rehost: lift-and-shift the same app to new infra with no code change, which buys time but pays no modernization debt down. Replatform: small changes to fit the platform — externalize config and logs, containerize — which is most of what this module does. Refactor: rework the code or architecture, break the monolith, adopt an embedded runtime. Repurchase: replace with SaaS. Our seeded app is a replatform-leaning-refactor candidate: the fixes MTA flags are exactly the replatform boundary, and the strangler pattern is how you'd take it the rest of the way without a big-bang rewrite.</a:t>
            </a:r>
          </a:p>
        </p:txBody>
      </p:sp>
      <p:sp>
        <p:nvSpPr>
          <p:cNvPr id="4" name="Slide Number Placeholder 3"/>
          <p:cNvSpPr>
            <a:spLocks noGrp="1"/>
          </p:cNvSpPr>
          <p:nvPr>
            <p:ph type="sldNum" idx="5" sz="quarter"/>
          </p:nvPr>
        </p:nvSpPr>
        <p:spPr/>
      </p:sp>
    </p:spTree>
  </p:cSld>
  <p:clrMapOvr>
    <a:masterClrMapping/>
  </p:clrMapOvr>
</p:notes>
</file>

<file path=ppt/notesSlides/notesSlide16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MTA is a rule-based static analyzer. You point it at an application's source, select one or more migration targets, and it runs a large library of rules — the live Hub ships 39 rulesets — reporting every place your code trips a rule. Three ideas make the report usable. Targets are goals: you don't ask "is my code bad," you ask "what stops this from reaching this target." The targets for containerizing a legacy Java app are cloud-readiness and linux for OpenShift readiness, openjdk to move off older JDKs, jakarta-ee for the javax-to-jakarta namespace move, and jws for the Tomcat runtime rules. Issues have a category — mandatory, optional, or potential — and triage starts with mandatory. And effort is a number: each issue carries a relative story-point estimate, so "this feels hard" becomes "24 points," and a re-analysis after fixing shows the number drop.</a:t>
            </a:r>
          </a:p>
        </p:txBody>
      </p:sp>
      <p:sp>
        <p:nvSpPr>
          <p:cNvPr id="4" name="Slide Number Placeholder 3"/>
          <p:cNvSpPr>
            <a:spLocks noGrp="1"/>
          </p:cNvSpPr>
          <p:nvPr>
            <p:ph type="sldNum" idx="5" sz="quarter"/>
          </p:nvPr>
        </p:nvSpPr>
        <p:spPr/>
      </p:sp>
    </p:spTree>
  </p:cSld>
  <p:clrMapOvr>
    <a:masterClrMapping/>
  </p:clrMapOvr>
</p:notes>
</file>

<file path=ppt/notesSlides/notesSlide16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 raw report is a wall of findings; your job is to turn it into a short work list. Here is what our seeded app actually reports, performed live: 24 story points across 6 mandatory issues, 1 potential, and 15 technology tags. The mandatory issues are the whole story in one screen — Spring not compatible with Jakarta EE 9 at effort 3, then a hardcoded IP, a filesystem write, the javax-to-jakarta package move, a javax.activation swap, and a Tomcat-not-compatible-with-JBoss-Web-Server finding at effort 1 each. The consultant's read: start with mandatory — those seven are the whole job, the technology tags are context. Group by fix, not by finding — three of the mandatory issues are one migration, the javax-to-jakarta move; the hardcoded IP and the filesystem write are the externalize-config theme; grouped, seven issues become three pieces of work. And effort is relative — the Spring/Jakarta issue is the heaviest, the config externalizations are the cheap high-value wins you do first. For contrast, Parasol's fully modernized Quarkus claims service scores 1 — that gap is what modernization earns.</a:t>
            </a:r>
          </a:p>
        </p:txBody>
      </p:sp>
      <p:sp>
        <p:nvSpPr>
          <p:cNvPr id="4" name="Slide Number Placeholder 3"/>
          <p:cNvSpPr>
            <a:spLocks noGrp="1"/>
          </p:cNvSpPr>
          <p:nvPr>
            <p:ph type="sldNum" idx="5" sz="quarter"/>
          </p:nvPr>
        </p:nvSpPr>
        <p:spPr/>
      </p:sp>
    </p:spTree>
  </p:cSld>
  <p:clrMapOvr>
    <a:masterClrMapping/>
  </p:clrMapOvr>
</p:notes>
</file>

<file path=ppt/notesSlides/notesSlide16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Reading the report tells you what to fix; Developer Lightspeed for MTA helps you do it in the IDE. First disambiguate — there are three Lightspeeds: OpenShift Lightspeed is the console assistant, Developer Lightspeed for Red Hat Developer Hub answers questions in the portal, and Developer Lightspeed for MTA is a feature of the MTA extension that, given a specific analysis issue, calls a language model and proposes a concrete code change. It's genuinely useful and genuinely bounded. What it does: takes one issue, the surrounding code, and the target, and returns a diff — for our hardcoded-IP issue it rewrote the compiled-in URL into a System.getenv lookup, which is exactly right. What it does not do: migrate your app for you, guarantee a compilable or correct result, or understand your business rules. The output is a suggestion from a probabilistic model — sometimes perfect, occasionally confidently wrong. The one rule that makes this safe: read every diff as if a junior engineer wrote it under time pressure, and re-analyze to prove the issue is gone. AI compresses the typing, not the accountability. This is an [ADS] feature; where it's absent the lab degrades to a manual fix of the same issue.</a:t>
            </a:r>
          </a:p>
        </p:txBody>
      </p:sp>
      <p:sp>
        <p:nvSpPr>
          <p:cNvPr id="4" name="Slide Number Placeholder 3"/>
          <p:cNvSpPr>
            <a:spLocks noGrp="1"/>
          </p:cNvSpPr>
          <p:nvPr>
            <p:ph type="sldNum" idx="5" sz="quarter"/>
          </p:nvPr>
        </p:nvSpPr>
        <p:spPr/>
      </p:sp>
    </p:spTree>
  </p:cSld>
  <p:clrMapOvr>
    <a:masterClrMapping/>
  </p:clrMapOvr>
</p:notes>
</file>

<file path=ppt/notesSlides/notesSlide17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You do not modernize a portfolio by rewriting all of it at once — you run a funnel. Assess the whole portfolio with a questionnaire per app to rank candidates; analyze the candidates with MTA to price them; fix and ship the ones where effort is low and value is high, banking the win and the pattern; repeat, and retain or retire the rest deliberately. The incremental path for a big monolith is the strangler pattern: stand the modern service up beside the legacy one, route a slice of traffic to it, and grow that slice until the legacy app is strangled — off, with no big-bang cutover. That routing and coexistence is a connectivity problem, exactly what Service Interconnect solves across clusters and sites, which is the Resilience, Multi-Cluster &amp; DR module. And be honest about when not to modernize: retire what you'll turn off within the year, stop at replatform when it gets you most of the value, and never accept an AI diff you didn't read.</a:t>
            </a:r>
          </a:p>
        </p:txBody>
      </p:sp>
      <p:sp>
        <p:nvSpPr>
          <p:cNvPr id="4" name="Slide Number Placeholder 3"/>
          <p:cNvSpPr>
            <a:spLocks noGrp="1"/>
          </p:cNvSpPr>
          <p:nvPr>
            <p:ph type="sldNum" idx="5" sz="quarter"/>
          </p:nvPr>
        </p:nvSpPr>
        <p:spPr/>
      </p:sp>
    </p:spTree>
  </p:cSld>
  <p:clrMapOvr>
    <a:masterClrMapping/>
  </p:clrMapOvr>
</p:notes>
</file>

<file path=ppt/notesSlides/notesSlide17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Open on the temptation and why it fails. The easy move is to send the question straight to a model — "what is the status of claim CLM-1004?" It fails for structural reasons. The model has never seen claim CLM-1004; it lives in Parasol's claims system, not the training set, so the model guesses — a fluent, plausible, wrong answer. That is hallucination, and for a claim or a payout it is worse than useless. Even if the claim were in the training data, it was Submitted last week and Approved today — a model is a snapshot, your systems are live. And "just paste it into the prompt" does not scale past a demo — real Parasol has millions of claims. An agent solves all three the same way: it calls tools. The model does the language; your systems provide the facts.</a:t>
            </a:r>
          </a:p>
        </p:txBody>
      </p:sp>
      <p:sp>
        <p:nvSpPr>
          <p:cNvPr id="4" name="Slide Number Placeholder 3"/>
          <p:cNvSpPr>
            <a:spLocks noGrp="1"/>
          </p:cNvSpPr>
          <p:nvPr>
            <p:ph type="sldNum" idx="5" sz="quarter"/>
          </p:nvPr>
        </p:nvSpPr>
        <p:spPr/>
      </p:sp>
    </p:spTree>
  </p:cSld>
  <p:clrMapOvr>
    <a:masterClrMapping/>
  </p:clrMapOvr>
</p:notes>
</file>

<file path=ppt/notesSlides/notesSlide17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An agent is not a model and not magic — it is four parts working together. The model is the reasoning engine; on this workshop it is served over an OpenAI-compatible Models-as-a-Service endpoint, and the agent is model-agnostic — the same code runs against any served model, only an environment value changes. The instructions are the system prompt that sets the agent's job and rules: use your tools instead of guessing, never invent claim details, cite the policy id you relied on — this is where you encode behaviour, and it is ordinary text you can read and change. The tools are the functions the model may call — the two MCP servers, claims-db and policy-docs — and they are the whole point, because they are how the agent touches your world. Memory is where the multi-step tool conversation is held; Parasol's agent uses a fresh per-request memory, which with temperature 0 keeps answers reproducible.</a:t>
            </a:r>
          </a:p>
        </p:txBody>
      </p:sp>
      <p:sp>
        <p:nvSpPr>
          <p:cNvPr id="4" name="Slide Number Placeholder 3"/>
          <p:cNvSpPr>
            <a:spLocks noGrp="1"/>
          </p:cNvSpPr>
          <p:nvPr>
            <p:ph type="sldNum" idx="5" sz="quarter"/>
          </p:nvPr>
        </p:nvSpPr>
        <p:spPr/>
      </p:sp>
    </p:spTree>
  </p:cSld>
  <p:clrMapOvr>
    <a:masterClrMapping/>
  </p:clrMapOvr>
</p:notes>
</file>

<file path=ppt/notesSlides/notesSlide17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the most important idea in the module: the tools an agent calls are just your services, behind a small standard adapter. MCP — the Model Context Protocol — is that standard. An MCP server advertises a set of tools: a name, the arguments, and what it returns; an MCP client, here the agent, discovers them and lets the model call them. Parasol wraps its claims data and policy search as two MCP servers. Three things follow. A tool is a contract, not a model concern — get_claim returns one grounded sentence, and the model neither knows nor cares whether that came from H2, PostgreSQL, or a mainframe. Tools are ordinary services on the platform — claims-db and policy-docs are plain Deployments with health probes and metrics, exactly like any microservice, so giving the agent a new capability means deploying a service and registering a tool, not retraining a model. And the same tool serves any MCP-capable client — the claims-db server here is reused unchanged in AI-Assisted Development by a coding assistant. Write the tool once; every agent uses it.</a:t>
            </a:r>
          </a:p>
        </p:txBody>
      </p:sp>
      <p:sp>
        <p:nvSpPr>
          <p:cNvPr id="4" name="Slide Number Placeholder 3"/>
          <p:cNvSpPr>
            <a:spLocks noGrp="1"/>
          </p:cNvSpPr>
          <p:nvPr>
            <p:ph type="sldNum" idx="5" sz="quarter"/>
          </p:nvPr>
        </p:nvSpPr>
        <p:spPr/>
      </p:sp>
    </p:spTree>
  </p:cSld>
  <p:clrMapOvr>
    <a:masterClrMapping/>
  </p:clrMapOvr>
</p:notes>
</file>

<file path=ppt/notesSlides/notesSlide17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policy-docs is a RAG tool — Retrieval-Augmented Generation means retrieve the few relevant documents and let the model generate its answer from those passages, not from memory. When a staffer asks about the auto deductible, the agent calls search_policies, gets the POL-AUTO-01 passage, and answers from it — 500 USD, cited to POL-AUTO-01. The citation is the tell: a grounded answer can point at its source. Be honest about RAG: it helps when the answer is written down and the query can find it; it fails when retrieval fails, because grounding is only as good as the retrieval; and it is not a database query — RAG finds relevant text, structured tools compute facts, and a good agent uses both. Then the part most demos hide: the model decides whether to call a tool, and how you ask changes that decision. The same claim, asked tersely, made this model print the tool call as text and ground nothing; asked imperatively, it executed the tool and grounded. The lesson is not that the model is broken — it is that grounding is something you engineer, through the system prompt and clear phrasing. When you see a grounded answer, someone made it ground.</a:t>
            </a:r>
          </a:p>
        </p:txBody>
      </p:sp>
      <p:sp>
        <p:nvSpPr>
          <p:cNvPr id="4" name="Slide Number Placeholder 3"/>
          <p:cNvSpPr>
            <a:spLocks noGrp="1"/>
          </p:cNvSpPr>
          <p:nvPr>
            <p:ph type="sldNum" idx="5" sz="quarter"/>
          </p:nvPr>
        </p:nvSpPr>
        <p:spPr/>
      </p:sp>
    </p:spTree>
  </p:cSld>
  <p:clrMapOvr>
    <a:masterClrMapping/>
  </p:clrMapOvr>
</p:notes>
</file>

<file path=ppt/notesSlides/notesSlide17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An agent that reads live claims can also leak them or be steered into answering something it should not. You do not want that protection scattered through every agent's code — you want it as a platform layer the request passes through, like a mesh handling TLS. On Red Hat OpenShift AI that layer is the TrustyAI FMS Guardrails Orchestrator, generally available; its GPU-free option is a regex-detector sidecar that scans inputs and outputs for patterns like Social Security and credit-card numbers and blocks or masks them before they reach or leave the model. Guardrails are not deployed on this cluster — they are the ADD-ON layer, and the point is where the responsibility lives. Step back and see the stack: the graded path you build — Models-as-a-Service, Quarkus LangChain4j, deterministic RAG — is deliberately the simplest thing that teaches the ideas. Above it sit additive ADD-ON layers: in-cluster model serving, a Llama Stack agent runtime, a vector database for RAG at scale, and guardrails. Each slots in behind an interface the agent already uses, so you adopt them when the need is real, not on day one. That restraint is the engineering.</a:t>
            </a:r>
          </a:p>
        </p:txBody>
      </p:sp>
      <p:sp>
        <p:nvSpPr>
          <p:cNvPr id="4" name="Slide Number Placeholder 3"/>
          <p:cNvSpPr>
            <a:spLocks noGrp="1"/>
          </p:cNvSpPr>
          <p:nvPr>
            <p:ph type="sldNum" idx="5" sz="quarter"/>
          </p:nvPr>
        </p:nvSpPr>
        <p:spPr/>
      </p:sp>
    </p:spTree>
  </p:cSld>
  <p:clrMapOvr>
    <a:masterClrMapping/>
  </p:clrMapOvr>
</p:notes>
</file>

<file path=ppt/notesSlides/notesSlide17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the lab you drive the live agent and watch it call get_claim and search_policies to ground its answers, citing the policy it used. You see the honest edges that earn trust — an unknown claim answered "not found" instead of invented, and the terse question that prints the tool call as text without running it. You observe the agent — each answer reports its tokens and which tools it called, and Prometheus exposes GenAI token metrics per model. And you confirm the punchline: strip away the word AI and the agent is a Quarkus Deployment with a Service, an edge Route, and health probes — the readiness probe even pings both MCP servers, so a Ready agent has proven its tool wiring — shipped through the same golden path as every other app. Close on honesty about when not to use this: when a plain API call will do, don't add a model; don't RAG what fits in the prompt; and never put an agent on regulated data without the guardrail layer. The model is new; the disciplines are not.</a:t>
            </a:r>
          </a:p>
        </p:txBody>
      </p:sp>
      <p:sp>
        <p:nvSpPr>
          <p:cNvPr id="4" name="Slide Number Placeholder 3"/>
          <p:cNvSpPr>
            <a:spLocks noGrp="1"/>
          </p:cNvSpPr>
          <p:nvPr>
            <p:ph type="sldNum" idx="5" sz="quarter"/>
          </p:nvPr>
        </p:nvSpPr>
        <p:spPr/>
      </p:sp>
    </p:spTree>
  </p:cSld>
  <p:clrMapOvr>
    <a:masterClrMapping/>
  </p:clrMapOvr>
</p:notes>
</file>

<file path=ppt/notesSlides/notesSlide17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Open on the reframe. Engineers are already pasting cluster YAML into chat assistants and asking "why is this pod broken?" The instant that assistant can call the cluster itself instead of guessing, it becomes genuinely useful — and becomes an actor on your platform with whatever powers you gave it. The business framing to land: an AI agent with cluster access is a junior engineer you hired in thirty seconds and handed your keys to. Fast, tireless, occasionally confidently wrong. So the safety question is not about the model's intelligence — it's about the identity it acts through. The module's promise: scope that identity with least privilege, make every action auditable, require a human for writes, and vibe coding becomes safe to bring to work. Everything in the lab performs exactly that.</a:t>
            </a:r>
          </a:p>
        </p:txBody>
      </p:sp>
      <p:sp>
        <p:nvSpPr>
          <p:cNvPr id="4" name="Slide Number Placeholder 3"/>
          <p:cNvSpPr>
            <a:spLocks noGrp="1"/>
          </p:cNvSpPr>
          <p:nvPr>
            <p:ph type="sldNum" idx="5" sz="quarter"/>
          </p:nvPr>
        </p:nvSpPr>
        <p:spPr/>
      </p:sp>
    </p:spTree>
  </p:cSld>
  <p:clrMapOvr>
    <a:masterClrMapping/>
  </p:clrMapOvr>
</p:notes>
</file>

<file path=ppt/notesSlides/notesSlide17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Ground the mechanism. An AI assistant doesn't speak to the Kubernetes API — it speaks MCP, the same open standard the claims assistant used for its data tools in the Agentic AI module. Here the MCP server is pointed at the platform: it advertises list-pods, read-events, get-deployment, read-logs as tools the model can call. The single most important fact is how that server authenticates: it runs as a dedicated ServiceAccount, mcp-agent, and its pod's projected token is the only cluster credential in the entire system. The client — the neutral CLI the attendee runs — holds no kubeconfig; it knows only the MCP server's address and a model key. So when the model calls "list pods in namespace X," the server asks the API server as mcp-agent, and the API server checks: may mcp-agent do this? The agent's powers are exactly mcp-agent's powers — no more. That's the whole design, and it's why RBAC on that SA is the lever.</a:t>
            </a:r>
          </a:p>
        </p:txBody>
      </p:sp>
      <p:sp>
        <p:nvSpPr>
          <p:cNvPr id="4" name="Slide Number Placeholder 3"/>
          <p:cNvSpPr>
            <a:spLocks noGrp="1"/>
          </p:cNvSpPr>
          <p:nvPr>
            <p:ph type="sldNum" idx="5" sz="quarter"/>
          </p:nvPr>
        </p:nvSpPr>
        <p:spPr/>
      </p:sp>
    </p:spTree>
  </p:cSld>
  <p:clrMapOvr>
    <a:masterClrMapping/>
  </p:clrMapOvr>
</p:notes>
</file>

<file path=ppt/notesSlides/notesSlide17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the module's thesis slide. Read-only first: an agent that can only get/list/watch can diagnose all day and break nothing, so that's where you start. The MCP server ships a --read-only flag and the neutral client has its own filter that hides mutating tools — use both, they're good defense in depth. But do not mistake either for the boundary. Tell the CVE story: a sibling open-source MCP server had a read-only mode that filtered the *list* of tools it advertised but not the tools it would actually *execute*, so a caller who named a mutating tool directly bypassed read-only entirely (CVE-2026-46519, fixed upstream). The lesson isn't "that project was careless" — it's that a flag in the agent's own software is only as trustworthy as that software. RBAC is enforced by the Kubernetes API server, underneath the agent, so even a buggy or malicious client that tries a forbidden write gets a 403. Set the flags AND scope the ServiceAccount so that if the flags fail, nothing bad is actually permitted.</a:t>
            </a:r>
          </a:p>
        </p:txBody>
      </p:sp>
      <p:sp>
        <p:nvSpPr>
          <p:cNvPr id="4" name="Slide Number Placeholder 3"/>
          <p:cNvSpPr>
            <a:spLocks noGrp="1"/>
          </p:cNvSpPr>
          <p:nvPr>
            <p:ph type="sldNum" idx="5" sz="quarter"/>
          </p:nvPr>
        </p:nvSpPr>
        <p:spPr/>
      </p:sp>
    </p:spTree>
  </p:cSld>
  <p:clrMapOvr>
    <a:masterClrMapping/>
  </p:clrMapOvr>
</p:notes>
</file>

<file path=ppt/notesSlides/notesSlide18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Make the read-only movement physical. The attendee asks the agent, phrased like briefing a junior engineer — tell it what to inspect — and watches three real tool calls scroll by: list the pods (parasol-claims is 0/1), get the deployment (readinessProbe path /q/health/reddy), read the events (Readiness probe failed, statuscode 404). The tool-call trace is the receipt: the answer is built from what those calls returned, not the model's imagination, and mode: READ-ONLY means no write was even possible. Then the discipline that separates a useful agent from a trusted one: verify the claim yourself. oc get the probe path, oc get the 404 event — the agent told the truth, and you confirmed it. That's the trust loop. Close on the honest edge: you phrased it imperatively on purpose. A terse "why is it broken?" makes some models print a tool call as text and answer from memory (0 real calls). Grounding is something you engineer — through phrasing, the system prompt, and tool-forcing — not a guarantee.</a:t>
            </a:r>
          </a:p>
        </p:txBody>
      </p:sp>
      <p:sp>
        <p:nvSpPr>
          <p:cNvPr id="4" name="Slide Number Placeholder 3"/>
          <p:cNvSpPr>
            <a:spLocks noGrp="1"/>
          </p:cNvSpPr>
          <p:nvPr>
            <p:ph type="sldNum" idx="5" sz="quarter"/>
          </p:nvPr>
        </p:nvSpPr>
        <p:spPr/>
      </p:sp>
    </p:spTree>
  </p:cSld>
  <p:clrMapOvr>
    <a:masterClrMapping/>
  </p:clrMapOvr>
</p:notes>
</file>

<file path=ppt/notesSlides/notesSlide18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governed-write movement. Diagnosing was safe; fixing means writing, and writing is a decision the human makes. So the attendee grants mcp-agent a narrow deployer Role — patch/update deployments, in this namespace, nothing else: not edit (which can touch secrets), not cluster-wide, not scale. Confirm the grant did exactly that: can-i patch deployments = yes, can-i get secrets = still no. Then enable the write path on the server and, before allowing writes, see the client's seatbelt — even with the server now offering mutating tools, the client in read-only mode hides 6 of them, reporting "RBAC remains the real boundary." Then allow writes and the agent patches the probe path to /q/health/ready; parasol-claims rolls out to 1/1. Finally, review the audit trail: the deployment's managedFields record every writer by name, and the agent's write shows as manager: kubernetes-mcp-server, op=Apply — recorded by the API server itself. Between the tool-call trace and managedFields, every write is accountable. (Note for delivery: on smaller models the agent may narrate the change as text; that's the review-the-agent lesson — you approve and apply the patch it proposed.)</a:t>
            </a:r>
          </a:p>
        </p:txBody>
      </p:sp>
      <p:sp>
        <p:nvSpPr>
          <p:cNvPr id="4" name="Slide Number Placeholder 3"/>
          <p:cNvSpPr>
            <a:spLocks noGrp="1"/>
          </p:cNvSpPr>
          <p:nvPr>
            <p:ph type="sldNum" idx="5" sz="quarter"/>
          </p:nvPr>
        </p:nvSpPr>
        <p:spPr/>
      </p:sp>
    </p:spTree>
  </p:cSld>
  <p:clrMapOvr>
    <a:masterClrMapping/>
  </p:clrMapOvr>
</p:notes>
</file>

<file path=ppt/notesSlides/notesSlide18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climax the whole module builds to. The agent can now read and patch the attendee's namespace. Point it at someone else's. Writes are still allowed and the server still offers every tool — the only thing between the agent and a neighbour's namespace is RBAC on mcp-agent. Ask it to list pods and events in user1-dev, and watch the trace: it *calls* the tool — this is not the client refusing on the agent's behalf — and the API server returns "pods is forbidden: User system:serviceaccount:user3-dev:mcp-agent cannot list resource pods in the namespace user1-dev." The agent reports the denial honestly and doesn't try to work around it. That denial IS the lesson: mcp-agent has a view RoleBinding in the attendee's namespace and nowhere else, so a read of user1-dev is a 403, enforced by the platform underneath the agent. Confirm from the other side with oc auth can-i --as impersonation: yes in your namespace, no next door, no cluster nodes. This is why you scope with a namespaced RoleBinding, never cluster-reader — on a shared cluster the blast radius is exactly the namespace you put the agent in. Trust didn't stop it; the platform did.</a:t>
            </a:r>
          </a:p>
        </p:txBody>
      </p:sp>
      <p:sp>
        <p:nvSpPr>
          <p:cNvPr id="4" name="Slide Number Placeholder 3"/>
          <p:cNvSpPr>
            <a:spLocks noGrp="1"/>
          </p:cNvSpPr>
          <p:nvPr>
            <p:ph type="sldNum" idx="5" sz="quarter"/>
          </p:nvPr>
        </p:nvSpPr>
        <p:spPr/>
      </p:sp>
    </p:spTree>
  </p:cSld>
  <p:clrMapOvr>
    <a:masterClrMapping/>
  </p:clrMapOvr>
</p:notes>
</file>

<file path=ppt/notesSlides/notesSlide18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Land the plane on where this fits and what to take home. The neutral client in the lab was deliberately generic so the lesson is about the platform boundary, not one product — but in practice Red Hat ships a Lightspeed family: OpenShift Lightspeed (GA) for the cluster console, which can itself act as an MCP host; Developer Lightspeed for Red Hat Developer Hub [ADS] (Developer Preview) for non-coding developer questions in the portal; and Developer Lightspeed for MTA [ADS] (GA) for in-IDE Java modernization. They differ in surface and job, but they share this module's spine: an assistant is only as powerful as the identity it acts through, and every one is governed by the same RBAC the attendee just scoped by hand. Then the takeaway — a team policy checklist, every line performed today: read-only first; the identity's RBAC is the boundary, the read-only flag is a seatbelt; namespace allowlists, never cluster-wide; no secrets by default; writes are a reviewed, per-task human grant; every action auditable via the tool-call trace and managedFields; bound, short-lived tokens. Close on the line: your agent is a junior engineer with root, unless you stop it — so you scope it with RBAC, not trust.</a:t>
            </a:r>
          </a:p>
        </p:txBody>
      </p:sp>
      <p:sp>
        <p:nvSpPr>
          <p:cNvPr id="4" name="Slide Number Placeholder 3"/>
          <p:cNvSpPr>
            <a:spLocks noGrp="1"/>
          </p:cNvSpPr>
          <p:nvPr>
            <p:ph type="sldNum" idx="5" sz="quarter"/>
          </p:nvPr>
        </p:nvSpPr>
        <p:spPr/>
      </p:sp>
    </p:spTree>
  </p:cSld>
  <p:clrMapOvr>
    <a:masterClrMapping/>
  </p:clrMapOvr>
</p:notes>
</file>

<file path=ppt/notesSlides/notesSlide18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Open on the reframe. Everything the attendee used this week — the Pipelines operator that ran their builds, the GitOps operator that reconciled their apps, the Helm-shaped entry states that materialized each module — arrived as packaged software, not hand-applied YAML. This module is the other side of that: turning their application into something a colleague or a customer can install, upgrade, and roll back without reading their mind. The business framing to land: your product's user experience is its install and upgrade, not just its runtime. When Parasol's platform team hands the notifications service to a dozen internal teams, the question isn't "does it run" — it's "how does each team install it, and what happens when you ship version two." A folder of YAML means every team edits it differently and an upgrade is a diff nobody reviews; a versioned chart means one command to install, one to upgrade, one to roll back. Packaging is where operability gets encoded once so every consumer inherits it.</a:t>
            </a:r>
          </a:p>
        </p:txBody>
      </p:sp>
      <p:sp>
        <p:nvSpPr>
          <p:cNvPr id="4" name="Slide Number Placeholder 3"/>
          <p:cNvSpPr>
            <a:spLocks noGrp="1"/>
          </p:cNvSpPr>
          <p:nvPr>
            <p:ph type="sldNum" idx="5" sz="quarter"/>
          </p:nvPr>
        </p:nvSpPr>
        <p:spPr/>
      </p:sp>
    </p:spTree>
  </p:cSld>
  <p:clrMapOvr>
    <a:masterClrMapping/>
  </p:clrMapOvr>
</p:notes>
</file>

<file path=ppt/notesSlides/notesSlide18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There's no single right way to package an app — there's a spectrum, and the axis that orders it is how much day-2 responsibility the package takes off the human. Raw manifests (oc apply): no templating, no versioned artifact, you own everything. An OpenShift Template (oc process): parameters and a one-shot instantiate, but it doesn't upgrade an existing instance. Kustomize: base plus overlays, declarative and Git-friendly — the shape GitOps loves — but no hooks, no rollback command, no reconcile. Helm: Go-templated manifests driven by values, packaged as a versioned OCI chart, with upgrade/rollback/hooks/tests — real release management, but client-side (Helm acts when you run it, then stops). Operator: a custom resource plus a controller that runs forever, continuously reconciling — the most operability per install, and the highest authoring cost. The move down is a trade: more day-2 behaviour lives in the package, off the human, at the cost of authoring and lifetime complexity. Most applications want the middle — a Helm chart is plenty. This module drives Helm hands-on and reads the operator end.</a:t>
            </a:r>
          </a:p>
        </p:txBody>
      </p:sp>
      <p:sp>
        <p:nvSpPr>
          <p:cNvPr id="4" name="Slide Number Placeholder 3"/>
          <p:cNvSpPr>
            <a:spLocks noGrp="1"/>
          </p:cNvSpPr>
          <p:nvPr>
            <p:ph type="sldNum" idx="5" sz="quarter"/>
          </p:nvPr>
        </p:nvSpPr>
        <p:spPr/>
      </p:sp>
    </p:spTree>
  </p:cSld>
  <p:clrMapOvr>
    <a:masterClrMapping/>
  </p:clrMapOvr>
</p:notes>
</file>

<file path=ppt/notesSlides/notesSlide18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Walk the chart anatomy the attendee builds. helm create scaffolds a working chart; four pieces carry the idea. Chart.yaml is identity — name, the chart's own version, and appVersion (the app it ships). values.yaml holds the inputs: every field a consumer might change — image, replicas, ports, probes — with a default, overridable at install with --set or -f. templates/ are Go-templated Kubernetes manifests where {{ .Values.image.repository }} pulls from values. templates/tests/ is a helm test that proves a release works. In the lab they shape the nginx skeleton into the notifications service: the seeded image, service port 8080, liveness/readiness probes on /health, the SITE env the app echoes, and — the OpenShift-specific move — replacing the stock Ingress with an edge Route (insecureEdgeTerminationPolicy Allow) so the landing page loads cleanly in a browser. helm lint catches structural mistakes; helm template renders the chart locally without installing, so what you see is exactly what helm install will apply.</a:t>
            </a:r>
          </a:p>
        </p:txBody>
      </p:sp>
      <p:sp>
        <p:nvSpPr>
          <p:cNvPr id="4" name="Slide Number Placeholder 3"/>
          <p:cNvSpPr>
            <a:spLocks noGrp="1"/>
          </p:cNvSpPr>
          <p:nvPr>
            <p:ph type="sldNum" idx="5" sz="quarter"/>
          </p:nvPr>
        </p:nvSpPr>
        <p:spPr/>
      </p:sp>
    </p:spTree>
  </p:cSld>
  <p:clrMapOvr>
    <a:masterClrMapping/>
  </p:clrMapOvr>
</p:notes>
</file>

<file path=ppt/notesSlides/notesSlide18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the module's money beat — make it physical. helm install applies the rendered manifests, records a release as revision 1, runs the post-install hook, and the app is browsable at its Route. A packaged app has a lifecycle: change an input and helm upgrade — scale to two replicas, revision 2 — and helm history makes which config is live a fact, not a memory. Then the deliberate break: ship a bad config the way a real mistake arrives, a probe pointing at /healthz which the app doesn't serve, with --wait so Helm holds the release open until the new pods are healthy. They never are — the probe 404s — so helm upgrade fails loudly with "context deadline exceeded" instead of silently. The key observation: the new pod never becomes ready, so the rolling update stalls and the old pods keep serving {"status":"UP"} — no outage. helm history shows revision 3 failed. Then helm rollback returns to the last good revision in one command (a new revision 4 that copies revision 2, so the failure stays on the record). The bad change was caught by probes, never took traffic, and the undo was one command — that is what "packaged" buys you.</a:t>
            </a:r>
          </a:p>
        </p:txBody>
      </p:sp>
      <p:sp>
        <p:nvSpPr>
          <p:cNvPr id="4" name="Slide Number Placeholder 3"/>
          <p:cNvSpPr>
            <a:spLocks noGrp="1"/>
          </p:cNvSpPr>
          <p:nvPr>
            <p:ph type="sldNum" idx="5" sz="quarter"/>
          </p:nvPr>
        </p:nvSpPr>
        <p:spPr/>
      </p:sp>
    </p:spTree>
  </p:cSld>
  <p:clrMapOvr>
    <a:masterClrMapping/>
  </p:clrMapOvr>
</p:notes>
</file>

<file path=ppt/notesSlides/notesSlide18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 chart you can install from a directory is useful; a chart you can distribute is a product. helm package bundles the chart into a versioned .tgz. Modern Helm speaks OCI — the same artifact format as container images — so a chart can live in any OCI registry, including the cluster's internal registry. The registry is an in-cluster Service on :5000 with a certificate signed by the cluster's service CA, so you log in with your OpenShift token and trust that CA (--ca-file). One OpenShift-specific reality to teach: the integrated registry maps every OCI repository to an ImageStream — exactly &lt;namespace&gt;/&lt;name&gt; — so a deeper charts/ path is rejected with a 401; you push to oci://&lt;registry&gt;/&lt;your-namespace&gt; and the chart lands as a version tag alongside the app image, distinguished by tag and artifact type. (On a general-purpose registry like Quay or Harbor, the charts/ prefix works.) Then prove the round-trip: helm pull returns the same sha256 digest you pushed, so the artifact in the registry is exactly the chart you packaged — and anyone with pull access can helm install straight from oci://, no chart directory needed.</a:t>
            </a:r>
          </a:p>
        </p:txBody>
      </p:sp>
      <p:sp>
        <p:nvSpPr>
          <p:cNvPr id="4" name="Slide Number Placeholder 3"/>
          <p:cNvSpPr>
            <a:spLocks noGrp="1"/>
          </p:cNvSpPr>
          <p:nvPr>
            <p:ph type="sldNum" idx="5" sz="quarter"/>
          </p:nvPr>
        </p:nvSpPr>
        <p:spPr/>
      </p:sp>
    </p:spTree>
  </p:cSld>
  <p:clrMapOvr>
    <a:masterClrMapping/>
  </p:clrMapOvr>
</p:notes>
</file>

<file path=ppt/notesSlides/notesSlide18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Cross to the operator end of the spectrum — and ground it in something real. When you installed the Pipelines operator, or any operator, from OperatorHub, a specific chain ran. This is classic OLM, and on this cluster it installed every operator the attendee used all week. A CatalogSource is a catalog index image listing installable operators. A PackageManifest is one operator's entry, exposing its channels — named upgrade streams like latest or a version-pinned line. You create a Subscription naming the package, a channel, and the catalog — "I want this operator, on this stream." OLM resolves it into an InstallPlan, approved automatically or held for a manual click (the gate an admin uses for upgrades). The InstallPlan installs a ClusterServiceVersion, the heart of the bundle: it declares the custom resource definitions the operator owns, the controller Deployment to run, and the RBAC it needs. That Deployment is the operator Pod, which reconciles the custom resources you create. In the lab they read this backwards from the live Pipelines operator — its Subscription (channel latest, source redhat-operators), its channel list, its CSV (14 owned CRDs, a controller, AllNamespaces), the Tekton CRDs it added, and the CatalogSource and InstallPlan behind it. That is what happened when someone clicked Install.</a:t>
            </a:r>
          </a:p>
        </p:txBody>
      </p:sp>
      <p:sp>
        <p:nvSpPr>
          <p:cNvPr id="4" name="Slide Number Placeholder 3"/>
          <p:cNvSpPr>
            <a:spLocks noGrp="1"/>
          </p:cNvSpPr>
          <p:nvPr>
            <p:ph type="sldNum" idx="5" sz="quarter"/>
          </p:nvPr>
        </p:nvSpPr>
        <p:spPr/>
      </p:sp>
    </p:spTree>
  </p:cSld>
  <p:clrMapOvr>
    <a:masterClrMapping/>
  </p:clrMapOvr>
</p:notes>
</file>

<file path=ppt/notesSlides/notesSlide19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Close on the thesis. First the direction of travel: OLM v1 is generally available and running on this cluster — four ClusterCatalogs serving — reshaped into two cluster-scoped objects, a ClusterCatalog (the catalog) and a ClusterExtension (your installed operator, with a ServiceAccount and RBAC you supply). But zero ClusterExtensions are installed and the current console doesn't surface it: classic OLM drives OperatorHub today and is what they dissected; OLM v1 is a five-minute "here's where it's going." Then the decision, made honestly. Having shipped a Helm chart and dissected an operator, the attendee places their own app on the spectrum. The honest rule — the one most teams get wrong: if your day-2 is "occasionally helm upgrade with new values," a chart already does that, and an operator would be a reconcile loop with nothing to reconcile plus a controller to build, certify, and keep alive for the product's life. Write the operator when the reconcile itself is the value — continuous drift repair, stateful upgrade, failover, many instances from one spec. The notifications service they packaged wants Helm, and saying so out loud is the senior move. That judgement — not the ability to write an operator — is the takeaway.</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image" Target="../media/image2.png"/><Relationship Id="rId4" Type="http://schemas.openxmlformats.org/officeDocument/2006/relationships/image" Target="../media/image3.png"/><Relationship Id="rId5" Type="http://schemas.openxmlformats.org/officeDocument/2006/relationships/notesSlide" Target="../notesSlides/notesSlide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image" Target="../media/image2.png"/><Relationship Id="rId4" Type="http://schemas.openxmlformats.org/officeDocument/2006/relationships/image" Target="../media/image3.png"/><Relationship Id="rId5" Type="http://schemas.openxmlformats.org/officeDocument/2006/relationships/notesSlide" Target="../notesSlides/notesSlide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image" Target="../media/image2.png"/><Relationship Id="rId4" Type="http://schemas.openxmlformats.org/officeDocument/2006/relationships/image" Target="../media/image3.png"/><Relationship Id="rId5" Type="http://schemas.openxmlformats.org/officeDocument/2006/relationships/notesSlide" Target="../notesSlides/notesSlide3.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image" Target="../media/image2.png"/><Relationship Id="rId4" Type="http://schemas.openxmlformats.org/officeDocument/2006/relationships/image" Target="../media/image3.png"/><Relationship Id="rId5" Type="http://schemas.openxmlformats.org/officeDocument/2006/relationships/notesSlide" Target="../notesSlides/notesSlide4.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image" Target="../media/image2.png"/><Relationship Id="rId4" Type="http://schemas.openxmlformats.org/officeDocument/2006/relationships/image" Target="../media/image3.png"/><Relationship Id="rId5" Type="http://schemas.openxmlformats.org/officeDocument/2006/relationships/notesSlide" Target="../notesSlides/notesSlide5.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image" Target="../media/image2.png"/><Relationship Id="rId4" Type="http://schemas.openxmlformats.org/officeDocument/2006/relationships/image" Target="../media/image3.png"/><Relationship Id="rId5" Type="http://schemas.openxmlformats.org/officeDocument/2006/relationships/notesSlide" Target="../notesSlides/notesSlide6.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image" Target="../media/image2.png"/><Relationship Id="rId4" Type="http://schemas.openxmlformats.org/officeDocument/2006/relationships/image" Target="../media/image3.png"/><Relationship Id="rId5" Type="http://schemas.openxmlformats.org/officeDocument/2006/relationships/notesSlide" Target="../notesSlides/notesSlide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image" Target="../media/image2.png"/><Relationship Id="rId4" Type="http://schemas.openxmlformats.org/officeDocument/2006/relationships/image" Target="../media/image3.png"/><Relationship Id="rId5" Type="http://schemas.openxmlformats.org/officeDocument/2006/relationships/notesSlide" Target="../notesSlides/notesSlide8.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image" Target="../media/image2.png"/><Relationship Id="rId4" Type="http://schemas.openxmlformats.org/officeDocument/2006/relationships/image" Target="../media/image3.png"/><Relationship Id="rId5" Type="http://schemas.openxmlformats.org/officeDocument/2006/relationships/notesSlide" Target="../notesSlides/notesSlide9.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image" Target="../media/image2.png"/><Relationship Id="rId4" Type="http://schemas.openxmlformats.org/officeDocument/2006/relationships/image" Target="../media/image3.png"/><Relationship Id="rId5" Type="http://schemas.openxmlformats.org/officeDocument/2006/relationships/notesSlide" Target="../notesSlides/notesSlide10.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image" Target="../media/image2.png"/><Relationship Id="rId4" Type="http://schemas.openxmlformats.org/officeDocument/2006/relationships/image" Target="../media/image3.png"/><Relationship Id="rId5" Type="http://schemas.openxmlformats.org/officeDocument/2006/relationships/notesSlide" Target="../notesSlides/notesSlide11.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image" Target="../media/image2.png"/><Relationship Id="rId4" Type="http://schemas.openxmlformats.org/officeDocument/2006/relationships/image" Target="../media/image3.png"/><Relationship Id="rId5" Type="http://schemas.openxmlformats.org/officeDocument/2006/relationships/notesSlide" Target="../notesSlides/notesSlide1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image" Target="../media/image2.png"/><Relationship Id="rId4" Type="http://schemas.openxmlformats.org/officeDocument/2006/relationships/image" Target="../media/image3.png"/><Relationship Id="rId5" Type="http://schemas.openxmlformats.org/officeDocument/2006/relationships/notesSlide" Target="../notesSlides/notesSlide13.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image" Target="../media/image2.png"/><Relationship Id="rId4" Type="http://schemas.openxmlformats.org/officeDocument/2006/relationships/image" Target="../media/image3.png"/><Relationship Id="rId5" Type="http://schemas.openxmlformats.org/officeDocument/2006/relationships/notesSlide" Target="../notesSlides/notesSlide14.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image" Target="../media/image2.png"/><Relationship Id="rId4" Type="http://schemas.openxmlformats.org/officeDocument/2006/relationships/image" Target="../media/image3.png"/><Relationship Id="rId5" Type="http://schemas.openxmlformats.org/officeDocument/2006/relationships/notesSlide" Target="../notesSlides/notesSlide15.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image" Target="../media/image2.png"/><Relationship Id="rId4" Type="http://schemas.openxmlformats.org/officeDocument/2006/relationships/image" Target="../media/image3.png"/><Relationship Id="rId5" Type="http://schemas.openxmlformats.org/officeDocument/2006/relationships/notesSlide" Target="../notesSlides/notesSlide16.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image" Target="../media/image2.png"/><Relationship Id="rId4" Type="http://schemas.openxmlformats.org/officeDocument/2006/relationships/image" Target="../media/image3.png"/><Relationship Id="rId5" Type="http://schemas.openxmlformats.org/officeDocument/2006/relationships/notesSlide" Target="../notesSlides/notesSlide1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image" Target="../media/image2.png"/><Relationship Id="rId4" Type="http://schemas.openxmlformats.org/officeDocument/2006/relationships/image" Target="../media/image3.png"/><Relationship Id="rId5" Type="http://schemas.openxmlformats.org/officeDocument/2006/relationships/notesSlide" Target="../notesSlides/notesSlide18.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image" Target="../media/image2.png"/><Relationship Id="rId4" Type="http://schemas.openxmlformats.org/officeDocument/2006/relationships/image" Target="../media/image3.png"/><Relationship Id="rId5" Type="http://schemas.openxmlformats.org/officeDocument/2006/relationships/notesSlide" Target="../notesSlides/notesSlide19.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image" Target="../media/image2.png"/><Relationship Id="rId4" Type="http://schemas.openxmlformats.org/officeDocument/2006/relationships/image" Target="../media/image3.png"/><Relationship Id="rId5" Type="http://schemas.openxmlformats.org/officeDocument/2006/relationships/notesSlide" Target="../notesSlides/notesSlide20.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image" Target="../media/image2.png"/><Relationship Id="rId4" Type="http://schemas.openxmlformats.org/officeDocument/2006/relationships/image" Target="../media/image3.png"/><Relationship Id="rId5" Type="http://schemas.openxmlformats.org/officeDocument/2006/relationships/notesSlide" Target="../notesSlides/notesSlide21.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image" Target="../media/image2.png"/><Relationship Id="rId4" Type="http://schemas.openxmlformats.org/officeDocument/2006/relationships/image" Target="../media/image3.png"/><Relationship Id="rId5" Type="http://schemas.openxmlformats.org/officeDocument/2006/relationships/notesSlide" Target="../notesSlides/notesSlide2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image" Target="../media/image2.png"/><Relationship Id="rId4" Type="http://schemas.openxmlformats.org/officeDocument/2006/relationships/image" Target="../media/image3.png"/><Relationship Id="rId5" Type="http://schemas.openxmlformats.org/officeDocument/2006/relationships/notesSlide" Target="../notesSlides/notesSlide23.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image" Target="../media/image2.png"/><Relationship Id="rId4" Type="http://schemas.openxmlformats.org/officeDocument/2006/relationships/image" Target="../media/image3.png"/><Relationship Id="rId5" Type="http://schemas.openxmlformats.org/officeDocument/2006/relationships/notesSlide" Target="../notesSlides/notesSlide24.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image" Target="../media/image2.png"/><Relationship Id="rId4" Type="http://schemas.openxmlformats.org/officeDocument/2006/relationships/image" Target="../media/image3.png"/><Relationship Id="rId5" Type="http://schemas.openxmlformats.org/officeDocument/2006/relationships/notesSlide" Target="../notesSlides/notesSlide25.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image" Target="../media/image2.png"/><Relationship Id="rId4" Type="http://schemas.openxmlformats.org/officeDocument/2006/relationships/image" Target="../media/image3.png"/><Relationship Id="rId5" Type="http://schemas.openxmlformats.org/officeDocument/2006/relationships/notesSlide" Target="../notesSlides/notesSlide26.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image" Target="../media/image2.png"/><Relationship Id="rId4" Type="http://schemas.openxmlformats.org/officeDocument/2006/relationships/image" Target="../media/image3.png"/><Relationship Id="rId5" Type="http://schemas.openxmlformats.org/officeDocument/2006/relationships/notesSlide" Target="../notesSlides/notesSlide27.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image" Target="../media/image2.png"/><Relationship Id="rId4" Type="http://schemas.openxmlformats.org/officeDocument/2006/relationships/image" Target="../media/image3.png"/><Relationship Id="rId5" Type="http://schemas.openxmlformats.org/officeDocument/2006/relationships/notesSlide" Target="../notesSlides/notesSlide28.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image" Target="../media/image2.png"/><Relationship Id="rId4" Type="http://schemas.openxmlformats.org/officeDocument/2006/relationships/image" Target="../media/image3.png"/><Relationship Id="rId5" Type="http://schemas.openxmlformats.org/officeDocument/2006/relationships/notesSlide" Target="../notesSlides/notesSlide29.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image" Target="../media/image2.png"/><Relationship Id="rId4" Type="http://schemas.openxmlformats.org/officeDocument/2006/relationships/image" Target="../media/image3.png"/><Relationship Id="rId5" Type="http://schemas.openxmlformats.org/officeDocument/2006/relationships/notesSlide" Target="../notesSlides/notesSlide30.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image" Target="../media/image2.png"/><Relationship Id="rId4" Type="http://schemas.openxmlformats.org/officeDocument/2006/relationships/image" Target="../media/image3.png"/><Relationship Id="rId5" Type="http://schemas.openxmlformats.org/officeDocument/2006/relationships/notesSlide" Target="../notesSlides/notesSlide31.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image" Target="../media/image2.png"/><Relationship Id="rId4" Type="http://schemas.openxmlformats.org/officeDocument/2006/relationships/image" Target="../media/image3.png"/><Relationship Id="rId5" Type="http://schemas.openxmlformats.org/officeDocument/2006/relationships/notesSlide" Target="../notesSlides/notesSlide3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image" Target="../media/image2.png"/><Relationship Id="rId4" Type="http://schemas.openxmlformats.org/officeDocument/2006/relationships/image" Target="../media/image3.png"/><Relationship Id="rId5" Type="http://schemas.openxmlformats.org/officeDocument/2006/relationships/notesSlide" Target="../notesSlides/notesSlide33.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image" Target="../media/image2.png"/><Relationship Id="rId4" Type="http://schemas.openxmlformats.org/officeDocument/2006/relationships/image" Target="../media/image3.png"/><Relationship Id="rId5" Type="http://schemas.openxmlformats.org/officeDocument/2006/relationships/notesSlide" Target="../notesSlides/notesSlide34.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image" Target="../media/image2.png"/><Relationship Id="rId4" Type="http://schemas.openxmlformats.org/officeDocument/2006/relationships/image" Target="../media/image3.png"/><Relationship Id="rId5" Type="http://schemas.openxmlformats.org/officeDocument/2006/relationships/notesSlide" Target="../notesSlides/notesSlide35.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image" Target="../media/image2.png"/><Relationship Id="rId4" Type="http://schemas.openxmlformats.org/officeDocument/2006/relationships/image" Target="../media/image3.png"/><Relationship Id="rId5" Type="http://schemas.openxmlformats.org/officeDocument/2006/relationships/notesSlide" Target="../notesSlides/notesSlide36.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image" Target="../media/image2.png"/><Relationship Id="rId4" Type="http://schemas.openxmlformats.org/officeDocument/2006/relationships/image" Target="../media/image3.png"/><Relationship Id="rId5" Type="http://schemas.openxmlformats.org/officeDocument/2006/relationships/notesSlide" Target="../notesSlides/notesSlide37.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image" Target="../media/image2.png"/><Relationship Id="rId4" Type="http://schemas.openxmlformats.org/officeDocument/2006/relationships/image" Target="../media/image3.png"/><Relationship Id="rId5" Type="http://schemas.openxmlformats.org/officeDocument/2006/relationships/notesSlide" Target="../notesSlides/notesSlide38.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image" Target="../media/image2.png"/><Relationship Id="rId4" Type="http://schemas.openxmlformats.org/officeDocument/2006/relationships/image" Target="../media/image3.png"/><Relationship Id="rId5" Type="http://schemas.openxmlformats.org/officeDocument/2006/relationships/notesSlide" Target="../notesSlides/notesSlide39.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image" Target="../media/image2.png"/><Relationship Id="rId4" Type="http://schemas.openxmlformats.org/officeDocument/2006/relationships/image" Target="../media/image3.png"/><Relationship Id="rId5" Type="http://schemas.openxmlformats.org/officeDocument/2006/relationships/notesSlide" Target="../notesSlides/notesSlide40.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image" Target="../media/image2.png"/><Relationship Id="rId4" Type="http://schemas.openxmlformats.org/officeDocument/2006/relationships/image" Target="../media/image3.png"/><Relationship Id="rId5" Type="http://schemas.openxmlformats.org/officeDocument/2006/relationships/notesSlide" Target="../notesSlides/notesSlide41.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image" Target="../media/image2.png"/><Relationship Id="rId4" Type="http://schemas.openxmlformats.org/officeDocument/2006/relationships/image" Target="../media/image3.png"/><Relationship Id="rId5" Type="http://schemas.openxmlformats.org/officeDocument/2006/relationships/notesSlide" Target="../notesSlides/notesSlide4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image" Target="../media/image2.png"/><Relationship Id="rId4" Type="http://schemas.openxmlformats.org/officeDocument/2006/relationships/image" Target="../media/image3.png"/><Relationship Id="rId5" Type="http://schemas.openxmlformats.org/officeDocument/2006/relationships/notesSlide" Target="../notesSlides/notesSlide43.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image" Target="../media/image2.png"/><Relationship Id="rId4" Type="http://schemas.openxmlformats.org/officeDocument/2006/relationships/image" Target="../media/image3.png"/><Relationship Id="rId5" Type="http://schemas.openxmlformats.org/officeDocument/2006/relationships/notesSlide" Target="../notesSlides/notesSlide44.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image" Target="../media/image2.png"/><Relationship Id="rId4" Type="http://schemas.openxmlformats.org/officeDocument/2006/relationships/image" Target="../media/image3.png"/><Relationship Id="rId5" Type="http://schemas.openxmlformats.org/officeDocument/2006/relationships/notesSlide" Target="../notesSlides/notesSlide45.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image" Target="../media/image2.png"/><Relationship Id="rId4" Type="http://schemas.openxmlformats.org/officeDocument/2006/relationships/image" Target="../media/image3.png"/><Relationship Id="rId5" Type="http://schemas.openxmlformats.org/officeDocument/2006/relationships/notesSlide" Target="../notesSlides/notesSlide46.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image" Target="../media/image2.png"/><Relationship Id="rId4" Type="http://schemas.openxmlformats.org/officeDocument/2006/relationships/image" Target="../media/image3.png"/><Relationship Id="rId5" Type="http://schemas.openxmlformats.org/officeDocument/2006/relationships/notesSlide" Target="../notesSlides/notesSlide47.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image" Target="../media/image2.png"/><Relationship Id="rId4" Type="http://schemas.openxmlformats.org/officeDocument/2006/relationships/image" Target="../media/image3.png"/><Relationship Id="rId5" Type="http://schemas.openxmlformats.org/officeDocument/2006/relationships/notesSlide" Target="../notesSlides/notesSlide48.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image" Target="../media/image2.png"/><Relationship Id="rId4" Type="http://schemas.openxmlformats.org/officeDocument/2006/relationships/image" Target="../media/image3.png"/><Relationship Id="rId5" Type="http://schemas.openxmlformats.org/officeDocument/2006/relationships/notesSlide" Target="../notesSlides/notesSlide49.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image" Target="../media/image2.png"/><Relationship Id="rId4" Type="http://schemas.openxmlformats.org/officeDocument/2006/relationships/image" Target="../media/image3.png"/><Relationship Id="rId5" Type="http://schemas.openxmlformats.org/officeDocument/2006/relationships/notesSlide" Target="../notesSlides/notesSlide50.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image" Target="../media/image2.png"/><Relationship Id="rId4" Type="http://schemas.openxmlformats.org/officeDocument/2006/relationships/image" Target="../media/image3.png"/><Relationship Id="rId5" Type="http://schemas.openxmlformats.org/officeDocument/2006/relationships/notesSlide" Target="../notesSlides/notesSlide51.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image" Target="../media/image2.png"/><Relationship Id="rId4" Type="http://schemas.openxmlformats.org/officeDocument/2006/relationships/image" Target="../media/image3.png"/><Relationship Id="rId5" Type="http://schemas.openxmlformats.org/officeDocument/2006/relationships/notesSlide" Target="../notesSlides/notesSlide52.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image" Target="../media/image2.png"/><Relationship Id="rId4" Type="http://schemas.openxmlformats.org/officeDocument/2006/relationships/image" Target="../media/image3.png"/><Relationship Id="rId5" Type="http://schemas.openxmlformats.org/officeDocument/2006/relationships/notesSlide" Target="../notesSlides/notesSlide53.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image" Target="../media/image2.png"/><Relationship Id="rId4" Type="http://schemas.openxmlformats.org/officeDocument/2006/relationships/image" Target="../media/image3.png"/><Relationship Id="rId5" Type="http://schemas.openxmlformats.org/officeDocument/2006/relationships/notesSlide" Target="../notesSlides/notesSlide54.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image" Target="../media/image2.png"/><Relationship Id="rId4" Type="http://schemas.openxmlformats.org/officeDocument/2006/relationships/image" Target="../media/image3.png"/><Relationship Id="rId5" Type="http://schemas.openxmlformats.org/officeDocument/2006/relationships/notesSlide" Target="../notesSlides/notesSlide55.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image" Target="../media/image2.png"/><Relationship Id="rId4" Type="http://schemas.openxmlformats.org/officeDocument/2006/relationships/image" Target="../media/image3.png"/><Relationship Id="rId5" Type="http://schemas.openxmlformats.org/officeDocument/2006/relationships/notesSlide" Target="../notesSlides/notesSlide56.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image" Target="../media/image2.png"/><Relationship Id="rId4" Type="http://schemas.openxmlformats.org/officeDocument/2006/relationships/image" Target="../media/image3.png"/><Relationship Id="rId5" Type="http://schemas.openxmlformats.org/officeDocument/2006/relationships/notesSlide" Target="../notesSlides/notesSlide57.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image" Target="../media/image2.png"/><Relationship Id="rId4" Type="http://schemas.openxmlformats.org/officeDocument/2006/relationships/image" Target="../media/image3.png"/><Relationship Id="rId5" Type="http://schemas.openxmlformats.org/officeDocument/2006/relationships/notesSlide" Target="../notesSlides/notesSlide58.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image" Target="../media/image2.png"/><Relationship Id="rId4" Type="http://schemas.openxmlformats.org/officeDocument/2006/relationships/image" Target="../media/image3.png"/><Relationship Id="rId5" Type="http://schemas.openxmlformats.org/officeDocument/2006/relationships/notesSlide" Target="../notesSlides/notesSlide59.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image" Target="../media/image2.png"/><Relationship Id="rId4" Type="http://schemas.openxmlformats.org/officeDocument/2006/relationships/image" Target="../media/image3.png"/><Relationship Id="rId5" Type="http://schemas.openxmlformats.org/officeDocument/2006/relationships/notesSlide" Target="../notesSlides/notesSlide60.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image" Target="../media/image2.png"/><Relationship Id="rId4" Type="http://schemas.openxmlformats.org/officeDocument/2006/relationships/image" Target="../media/image3.png"/><Relationship Id="rId5" Type="http://schemas.openxmlformats.org/officeDocument/2006/relationships/notesSlide" Target="../notesSlides/notesSlide61.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image" Target="../media/image2.png"/><Relationship Id="rId4" Type="http://schemas.openxmlformats.org/officeDocument/2006/relationships/image" Target="../media/image3.png"/><Relationship Id="rId5" Type="http://schemas.openxmlformats.org/officeDocument/2006/relationships/notesSlide" Target="../notesSlides/notesSlide62.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image" Target="../media/image2.png"/><Relationship Id="rId4" Type="http://schemas.openxmlformats.org/officeDocument/2006/relationships/image" Target="../media/image3.png"/><Relationship Id="rId5" Type="http://schemas.openxmlformats.org/officeDocument/2006/relationships/notesSlide" Target="../notesSlides/notesSlide63.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image" Target="../media/image2.png"/><Relationship Id="rId4" Type="http://schemas.openxmlformats.org/officeDocument/2006/relationships/image" Target="../media/image3.png"/><Relationship Id="rId5" Type="http://schemas.openxmlformats.org/officeDocument/2006/relationships/notesSlide" Target="../notesSlides/notesSlide64.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image" Target="../media/image2.png"/><Relationship Id="rId4" Type="http://schemas.openxmlformats.org/officeDocument/2006/relationships/image" Target="../media/image3.png"/><Relationship Id="rId5" Type="http://schemas.openxmlformats.org/officeDocument/2006/relationships/notesSlide" Target="../notesSlides/notesSlide65.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image" Target="../media/image2.png"/><Relationship Id="rId4" Type="http://schemas.openxmlformats.org/officeDocument/2006/relationships/image" Target="../media/image3.png"/><Relationship Id="rId5" Type="http://schemas.openxmlformats.org/officeDocument/2006/relationships/notesSlide" Target="../notesSlides/notesSlide66.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image" Target="../media/image2.png"/><Relationship Id="rId4" Type="http://schemas.openxmlformats.org/officeDocument/2006/relationships/image" Target="../media/image3.png"/><Relationship Id="rId5" Type="http://schemas.openxmlformats.org/officeDocument/2006/relationships/notesSlide" Target="../notesSlides/notesSlide67.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image" Target="../media/image2.png"/><Relationship Id="rId4" Type="http://schemas.openxmlformats.org/officeDocument/2006/relationships/image" Target="../media/image3.png"/><Relationship Id="rId5" Type="http://schemas.openxmlformats.org/officeDocument/2006/relationships/notesSlide" Target="../notesSlides/notesSlide68.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image" Target="../media/image2.png"/><Relationship Id="rId4" Type="http://schemas.openxmlformats.org/officeDocument/2006/relationships/image" Target="../media/image3.png"/><Relationship Id="rId5" Type="http://schemas.openxmlformats.org/officeDocument/2006/relationships/notesSlide" Target="../notesSlides/notesSlide69.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image" Target="../media/image2.png"/><Relationship Id="rId4" Type="http://schemas.openxmlformats.org/officeDocument/2006/relationships/image" Target="../media/image3.png"/><Relationship Id="rId5" Type="http://schemas.openxmlformats.org/officeDocument/2006/relationships/notesSlide" Target="../notesSlides/notesSlide70.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image" Target="../media/image2.png"/><Relationship Id="rId4" Type="http://schemas.openxmlformats.org/officeDocument/2006/relationships/image" Target="../media/image3.png"/><Relationship Id="rId5" Type="http://schemas.openxmlformats.org/officeDocument/2006/relationships/notesSlide" Target="../notesSlides/notesSlide71.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image" Target="../media/image2.png"/><Relationship Id="rId4" Type="http://schemas.openxmlformats.org/officeDocument/2006/relationships/image" Target="../media/image3.png"/><Relationship Id="rId5" Type="http://schemas.openxmlformats.org/officeDocument/2006/relationships/notesSlide" Target="../notesSlides/notesSlide72.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image" Target="../media/image2.png"/><Relationship Id="rId4" Type="http://schemas.openxmlformats.org/officeDocument/2006/relationships/image" Target="../media/image3.png"/><Relationship Id="rId5" Type="http://schemas.openxmlformats.org/officeDocument/2006/relationships/notesSlide" Target="../notesSlides/notesSlide73.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image" Target="../media/image2.png"/><Relationship Id="rId4" Type="http://schemas.openxmlformats.org/officeDocument/2006/relationships/image" Target="../media/image3.png"/><Relationship Id="rId5" Type="http://schemas.openxmlformats.org/officeDocument/2006/relationships/notesSlide" Target="../notesSlides/notesSlide74.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image" Target="../media/image2.png"/><Relationship Id="rId4" Type="http://schemas.openxmlformats.org/officeDocument/2006/relationships/image" Target="../media/image3.png"/><Relationship Id="rId5" Type="http://schemas.openxmlformats.org/officeDocument/2006/relationships/notesSlide" Target="../notesSlides/notesSlide75.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image" Target="../media/image2.png"/><Relationship Id="rId4" Type="http://schemas.openxmlformats.org/officeDocument/2006/relationships/image" Target="../media/image3.png"/><Relationship Id="rId5" Type="http://schemas.openxmlformats.org/officeDocument/2006/relationships/notesSlide" Target="../notesSlides/notesSlide76.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image" Target="../media/image2.png"/><Relationship Id="rId4" Type="http://schemas.openxmlformats.org/officeDocument/2006/relationships/image" Target="../media/image3.png"/><Relationship Id="rId5" Type="http://schemas.openxmlformats.org/officeDocument/2006/relationships/notesSlide" Target="../notesSlides/notesSlide77.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image" Target="../media/image2.png"/><Relationship Id="rId4" Type="http://schemas.openxmlformats.org/officeDocument/2006/relationships/image" Target="../media/image3.png"/><Relationship Id="rId5" Type="http://schemas.openxmlformats.org/officeDocument/2006/relationships/notesSlide" Target="../notesSlides/notesSlide78.xml"/></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image" Target="../media/image2.png"/><Relationship Id="rId4" Type="http://schemas.openxmlformats.org/officeDocument/2006/relationships/image" Target="../media/image3.png"/><Relationship Id="rId5" Type="http://schemas.openxmlformats.org/officeDocument/2006/relationships/notesSlide" Target="../notesSlides/notesSlide79.xml"/></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image" Target="../media/image2.png"/><Relationship Id="rId4" Type="http://schemas.openxmlformats.org/officeDocument/2006/relationships/image" Target="../media/image3.png"/><Relationship Id="rId5" Type="http://schemas.openxmlformats.org/officeDocument/2006/relationships/notesSlide" Target="../notesSlides/notesSlide80.xml"/></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image" Target="../media/image2.png"/><Relationship Id="rId4" Type="http://schemas.openxmlformats.org/officeDocument/2006/relationships/image" Target="../media/image3.png"/><Relationship Id="rId5" Type="http://schemas.openxmlformats.org/officeDocument/2006/relationships/notesSlide" Target="../notesSlides/notesSlide81.xml"/></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image" Target="../media/image2.png"/><Relationship Id="rId4" Type="http://schemas.openxmlformats.org/officeDocument/2006/relationships/image" Target="../media/image3.png"/><Relationship Id="rId5" Type="http://schemas.openxmlformats.org/officeDocument/2006/relationships/notesSlide" Target="../notesSlides/notesSlide82.xml"/></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image" Target="../media/image2.png"/><Relationship Id="rId4" Type="http://schemas.openxmlformats.org/officeDocument/2006/relationships/image" Target="../media/image3.png"/><Relationship Id="rId5" Type="http://schemas.openxmlformats.org/officeDocument/2006/relationships/notesSlide" Target="../notesSlides/notesSlide83.xml"/></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image" Target="../media/image2.png"/><Relationship Id="rId4" Type="http://schemas.openxmlformats.org/officeDocument/2006/relationships/image" Target="../media/image3.png"/><Relationship Id="rId5" Type="http://schemas.openxmlformats.org/officeDocument/2006/relationships/notesSlide" Target="../notesSlides/notesSlide84.xml"/></Relationships>
</file>

<file path=ppt/slides/_rels/slide9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image" Target="../media/image2.png"/><Relationship Id="rId4" Type="http://schemas.openxmlformats.org/officeDocument/2006/relationships/image" Target="../media/image3.png"/><Relationship Id="rId5" Type="http://schemas.openxmlformats.org/officeDocument/2006/relationships/notesSlide" Target="../notesSlides/notesSlide85.xml"/></Relationships>
</file>

<file path=ppt/slides/_rels/slide9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image" Target="../media/image2.png"/><Relationship Id="rId4" Type="http://schemas.openxmlformats.org/officeDocument/2006/relationships/image" Target="../media/image3.png"/><Relationship Id="rId5" Type="http://schemas.openxmlformats.org/officeDocument/2006/relationships/notesSlide" Target="../notesSlides/notesSlide86.xml"/></Relationships>
</file>

<file path=ppt/slides/_rels/slide9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image" Target="../media/image2.png"/><Relationship Id="rId4" Type="http://schemas.openxmlformats.org/officeDocument/2006/relationships/image" Target="../media/image3.png"/><Relationship Id="rId5" Type="http://schemas.openxmlformats.org/officeDocument/2006/relationships/notesSlide" Target="../notesSlides/notesSlide87.xml"/></Relationships>
</file>

<file path=ppt/slides/_rels/slide10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s>
</file>

<file path=ppt/slides/_rels/slide10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image" Target="../media/image2.png"/><Relationship Id="rId4" Type="http://schemas.openxmlformats.org/officeDocument/2006/relationships/image" Target="../media/image3.png"/><Relationship Id="rId5" Type="http://schemas.openxmlformats.org/officeDocument/2006/relationships/notesSlide" Target="../notesSlides/notesSlide88.xml"/></Relationships>
</file>

<file path=ppt/slides/_rels/slide10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image" Target="../media/image2.png"/><Relationship Id="rId4" Type="http://schemas.openxmlformats.org/officeDocument/2006/relationships/image" Target="../media/image3.png"/><Relationship Id="rId5" Type="http://schemas.openxmlformats.org/officeDocument/2006/relationships/notesSlide" Target="../notesSlides/notesSlide89.xml"/></Relationships>
</file>

<file path=ppt/slides/_rels/slide10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image" Target="../media/image2.png"/><Relationship Id="rId4" Type="http://schemas.openxmlformats.org/officeDocument/2006/relationships/image" Target="../media/image3.png"/><Relationship Id="rId5" Type="http://schemas.openxmlformats.org/officeDocument/2006/relationships/notesSlide" Target="../notesSlides/notesSlide90.xml"/></Relationships>
</file>

<file path=ppt/slides/_rels/slide10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image" Target="../media/image2.png"/><Relationship Id="rId4" Type="http://schemas.openxmlformats.org/officeDocument/2006/relationships/image" Target="../media/image3.png"/><Relationship Id="rId5" Type="http://schemas.openxmlformats.org/officeDocument/2006/relationships/notesSlide" Target="../notesSlides/notesSlide91.xml"/></Relationships>
</file>

<file path=ppt/slides/_rels/slide10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image" Target="../media/image2.png"/><Relationship Id="rId4" Type="http://schemas.openxmlformats.org/officeDocument/2006/relationships/image" Target="../media/image3.png"/><Relationship Id="rId5" Type="http://schemas.openxmlformats.org/officeDocument/2006/relationships/notesSlide" Target="../notesSlides/notesSlide92.xml"/></Relationships>
</file>

<file path=ppt/slides/_rels/slide10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image" Target="../media/image2.png"/><Relationship Id="rId4" Type="http://schemas.openxmlformats.org/officeDocument/2006/relationships/image" Target="../media/image3.png"/><Relationship Id="rId5" Type="http://schemas.openxmlformats.org/officeDocument/2006/relationships/notesSlide" Target="../notesSlides/notesSlide93.xml"/></Relationships>
</file>

<file path=ppt/slides/_rels/slide10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image" Target="../media/image2.png"/><Relationship Id="rId4" Type="http://schemas.openxmlformats.org/officeDocument/2006/relationships/image" Target="../media/image3.png"/><Relationship Id="rId5" Type="http://schemas.openxmlformats.org/officeDocument/2006/relationships/notesSlide" Target="../notesSlides/notesSlide94.xml"/></Relationships>
</file>

<file path=ppt/slides/_rels/slide10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image" Target="../media/image2.png"/><Relationship Id="rId4" Type="http://schemas.openxmlformats.org/officeDocument/2006/relationships/image" Target="../media/image3.png"/><Relationship Id="rId5" Type="http://schemas.openxmlformats.org/officeDocument/2006/relationships/notesSlide" Target="../notesSlides/notesSlide95.xml"/></Relationships>
</file>

<file path=ppt/slides/_rels/slide10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s>
</file>

<file path=ppt/slides/_rels/slide1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image" Target="../media/image2.png"/><Relationship Id="rId4" Type="http://schemas.openxmlformats.org/officeDocument/2006/relationships/image" Target="../media/image3.png"/><Relationship Id="rId5" Type="http://schemas.openxmlformats.org/officeDocument/2006/relationships/notesSlide" Target="../notesSlides/notesSlide96.xml"/></Relationships>
</file>

<file path=ppt/slides/_rels/slide1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image" Target="../media/image2.png"/><Relationship Id="rId4" Type="http://schemas.openxmlformats.org/officeDocument/2006/relationships/image" Target="../media/image3.png"/><Relationship Id="rId5" Type="http://schemas.openxmlformats.org/officeDocument/2006/relationships/notesSlide" Target="../notesSlides/notesSlide97.xml"/></Relationships>
</file>

<file path=ppt/slides/_rels/slide1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image" Target="../media/image2.png"/><Relationship Id="rId4" Type="http://schemas.openxmlformats.org/officeDocument/2006/relationships/image" Target="../media/image3.png"/><Relationship Id="rId5" Type="http://schemas.openxmlformats.org/officeDocument/2006/relationships/notesSlide" Target="../notesSlides/notesSlide98.xml"/></Relationships>
</file>

<file path=ppt/slides/_rels/slide1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image" Target="../media/image2.png"/><Relationship Id="rId4" Type="http://schemas.openxmlformats.org/officeDocument/2006/relationships/image" Target="../media/image3.png"/><Relationship Id="rId5" Type="http://schemas.openxmlformats.org/officeDocument/2006/relationships/notesSlide" Target="../notesSlides/notesSlide99.xml"/></Relationships>
</file>

<file path=ppt/slides/_rels/slide1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image" Target="../media/image2.png"/><Relationship Id="rId4" Type="http://schemas.openxmlformats.org/officeDocument/2006/relationships/image" Target="../media/image3.png"/><Relationship Id="rId5" Type="http://schemas.openxmlformats.org/officeDocument/2006/relationships/notesSlide" Target="../notesSlides/notesSlide100.xml"/></Relationships>
</file>

<file path=ppt/slides/_rels/slide1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image" Target="../media/image2.png"/><Relationship Id="rId4" Type="http://schemas.openxmlformats.org/officeDocument/2006/relationships/image" Target="../media/image3.png"/><Relationship Id="rId5" Type="http://schemas.openxmlformats.org/officeDocument/2006/relationships/notesSlide" Target="../notesSlides/notesSlide101.xml"/></Relationships>
</file>

<file path=ppt/slides/_rels/slide1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image" Target="../media/image2.png"/><Relationship Id="rId4" Type="http://schemas.openxmlformats.org/officeDocument/2006/relationships/image" Target="../media/image3.png"/><Relationship Id="rId5" Type="http://schemas.openxmlformats.org/officeDocument/2006/relationships/notesSlide" Target="../notesSlides/notesSlide102.xml"/></Relationships>
</file>

<file path=ppt/slides/_rels/slide1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image" Target="../media/image2.png"/><Relationship Id="rId4" Type="http://schemas.openxmlformats.org/officeDocument/2006/relationships/image" Target="../media/image3.png"/><Relationship Id="rId5" Type="http://schemas.openxmlformats.org/officeDocument/2006/relationships/notesSlide" Target="../notesSlides/notesSlide103.xml"/></Relationships>
</file>

<file path=ppt/slides/_rels/slide1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s>
</file>

<file path=ppt/slides/_rels/slide1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image" Target="../media/image2.png"/><Relationship Id="rId4" Type="http://schemas.openxmlformats.org/officeDocument/2006/relationships/image" Target="../media/image3.png"/><Relationship Id="rId5" Type="http://schemas.openxmlformats.org/officeDocument/2006/relationships/notesSlide" Target="../notesSlides/notesSlide104.xml"/></Relationships>
</file>

<file path=ppt/slides/_rels/slide1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image" Target="../media/image2.png"/><Relationship Id="rId4" Type="http://schemas.openxmlformats.org/officeDocument/2006/relationships/image" Target="../media/image3.png"/><Relationship Id="rId5" Type="http://schemas.openxmlformats.org/officeDocument/2006/relationships/notesSlide" Target="../notesSlides/notesSlide105.xml"/></Relationships>
</file>

<file path=ppt/slides/_rels/slide1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image" Target="../media/image2.png"/><Relationship Id="rId4" Type="http://schemas.openxmlformats.org/officeDocument/2006/relationships/image" Target="../media/image3.png"/><Relationship Id="rId5" Type="http://schemas.openxmlformats.org/officeDocument/2006/relationships/notesSlide" Target="../notesSlides/notesSlide106.xml"/></Relationships>
</file>

<file path=ppt/slides/_rels/slide1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image" Target="../media/image2.png"/><Relationship Id="rId4" Type="http://schemas.openxmlformats.org/officeDocument/2006/relationships/image" Target="../media/image3.png"/><Relationship Id="rId5" Type="http://schemas.openxmlformats.org/officeDocument/2006/relationships/notesSlide" Target="../notesSlides/notesSlide107.xml"/></Relationships>
</file>

<file path=ppt/slides/_rels/slide1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image" Target="../media/image2.png"/><Relationship Id="rId4" Type="http://schemas.openxmlformats.org/officeDocument/2006/relationships/image" Target="../media/image3.png"/><Relationship Id="rId5" Type="http://schemas.openxmlformats.org/officeDocument/2006/relationships/notesSlide" Target="../notesSlides/notesSlide108.xml"/></Relationships>
</file>

<file path=ppt/slides/_rels/slide1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image" Target="../media/image2.png"/><Relationship Id="rId4" Type="http://schemas.openxmlformats.org/officeDocument/2006/relationships/image" Target="../media/image3.png"/><Relationship Id="rId5" Type="http://schemas.openxmlformats.org/officeDocument/2006/relationships/notesSlide" Target="../notesSlides/notesSlide109.xml"/></Relationships>
</file>

<file path=ppt/slides/_rels/slide1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image" Target="../media/image2.png"/><Relationship Id="rId4" Type="http://schemas.openxmlformats.org/officeDocument/2006/relationships/image" Target="../media/image3.png"/><Relationship Id="rId5" Type="http://schemas.openxmlformats.org/officeDocument/2006/relationships/notesSlide" Target="../notesSlides/notesSlide110.xml"/></Relationships>
</file>

<file path=ppt/slides/_rels/slide1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image" Target="../media/image2.png"/><Relationship Id="rId4" Type="http://schemas.openxmlformats.org/officeDocument/2006/relationships/image" Target="../media/image3.png"/><Relationship Id="rId5" Type="http://schemas.openxmlformats.org/officeDocument/2006/relationships/notesSlide" Target="../notesSlides/notesSlide111.xml"/></Relationships>
</file>

<file path=ppt/slides/_rels/slide1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s>
</file>

<file path=ppt/slides/_rels/slide1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image" Target="../media/image2.png"/><Relationship Id="rId4" Type="http://schemas.openxmlformats.org/officeDocument/2006/relationships/image" Target="../media/image3.png"/><Relationship Id="rId5" Type="http://schemas.openxmlformats.org/officeDocument/2006/relationships/notesSlide" Target="../notesSlides/notesSlide112.xml"/></Relationships>
</file>

<file path=ppt/slides/_rels/slide1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image" Target="../media/image2.png"/><Relationship Id="rId4" Type="http://schemas.openxmlformats.org/officeDocument/2006/relationships/image" Target="../media/image3.png"/><Relationship Id="rId5" Type="http://schemas.openxmlformats.org/officeDocument/2006/relationships/notesSlide" Target="../notesSlides/notesSlide113.xml"/></Relationships>
</file>

<file path=ppt/slides/_rels/slide1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image" Target="../media/image2.png"/><Relationship Id="rId4" Type="http://schemas.openxmlformats.org/officeDocument/2006/relationships/image" Target="../media/image3.png"/><Relationship Id="rId5" Type="http://schemas.openxmlformats.org/officeDocument/2006/relationships/notesSlide" Target="../notesSlides/notesSlide114.xml"/></Relationships>
</file>

<file path=ppt/slides/_rels/slide1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image" Target="../media/image2.png"/><Relationship Id="rId4" Type="http://schemas.openxmlformats.org/officeDocument/2006/relationships/image" Target="../media/image3.png"/><Relationship Id="rId5" Type="http://schemas.openxmlformats.org/officeDocument/2006/relationships/notesSlide" Target="../notesSlides/notesSlide115.xml"/></Relationships>
</file>

<file path=ppt/slides/_rels/slide1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image" Target="../media/image2.png"/><Relationship Id="rId4" Type="http://schemas.openxmlformats.org/officeDocument/2006/relationships/image" Target="../media/image3.png"/><Relationship Id="rId5" Type="http://schemas.openxmlformats.org/officeDocument/2006/relationships/notesSlide" Target="../notesSlides/notesSlide116.xml"/></Relationships>
</file>

<file path=ppt/slides/_rels/slide13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image" Target="../media/image2.png"/><Relationship Id="rId4" Type="http://schemas.openxmlformats.org/officeDocument/2006/relationships/image" Target="../media/image3.png"/><Relationship Id="rId5" Type="http://schemas.openxmlformats.org/officeDocument/2006/relationships/notesSlide" Target="../notesSlides/notesSlide117.xml"/></Relationships>
</file>

<file path=ppt/slides/_rels/slide13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image" Target="../media/image2.png"/><Relationship Id="rId4" Type="http://schemas.openxmlformats.org/officeDocument/2006/relationships/image" Target="../media/image3.png"/><Relationship Id="rId5" Type="http://schemas.openxmlformats.org/officeDocument/2006/relationships/notesSlide" Target="../notesSlides/notesSlide118.xml"/></Relationships>
</file>

<file path=ppt/slides/_rels/slide13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image" Target="../media/image2.png"/><Relationship Id="rId4" Type="http://schemas.openxmlformats.org/officeDocument/2006/relationships/image" Target="../media/image3.png"/><Relationship Id="rId5" Type="http://schemas.openxmlformats.org/officeDocument/2006/relationships/notesSlide" Target="../notesSlides/notesSlide119.xml"/></Relationships>
</file>

<file path=ppt/slides/_rels/slide13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s>
</file>

<file path=ppt/slides/_rels/slide13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image" Target="../media/image2.png"/><Relationship Id="rId4" Type="http://schemas.openxmlformats.org/officeDocument/2006/relationships/image" Target="../media/image3.png"/><Relationship Id="rId5" Type="http://schemas.openxmlformats.org/officeDocument/2006/relationships/notesSlide" Target="../notesSlides/notesSlide120.xml"/></Relationships>
</file>

<file path=ppt/slides/_rels/slide13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image" Target="../media/image2.png"/><Relationship Id="rId4" Type="http://schemas.openxmlformats.org/officeDocument/2006/relationships/image" Target="../media/image3.png"/><Relationship Id="rId5" Type="http://schemas.openxmlformats.org/officeDocument/2006/relationships/notesSlide" Target="../notesSlides/notesSlide121.xml"/></Relationships>
</file>

<file path=ppt/slides/_rels/slide13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image" Target="../media/image2.png"/><Relationship Id="rId4" Type="http://schemas.openxmlformats.org/officeDocument/2006/relationships/image" Target="../media/image3.png"/><Relationship Id="rId5" Type="http://schemas.openxmlformats.org/officeDocument/2006/relationships/notesSlide" Target="../notesSlides/notesSlide122.xml"/></Relationships>
</file>

<file path=ppt/slides/_rels/slide14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image" Target="../media/image2.png"/><Relationship Id="rId4" Type="http://schemas.openxmlformats.org/officeDocument/2006/relationships/image" Target="../media/image3.png"/><Relationship Id="rId5" Type="http://schemas.openxmlformats.org/officeDocument/2006/relationships/notesSlide" Target="../notesSlides/notesSlide123.xml"/></Relationships>
</file>

<file path=ppt/slides/_rels/slide14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image" Target="../media/image2.png"/><Relationship Id="rId4" Type="http://schemas.openxmlformats.org/officeDocument/2006/relationships/image" Target="../media/image3.png"/><Relationship Id="rId5" Type="http://schemas.openxmlformats.org/officeDocument/2006/relationships/notesSlide" Target="../notesSlides/notesSlide124.xml"/></Relationships>
</file>

<file path=ppt/slides/_rels/slide14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image" Target="../media/image2.png"/><Relationship Id="rId4" Type="http://schemas.openxmlformats.org/officeDocument/2006/relationships/image" Target="../media/image3.png"/><Relationship Id="rId5" Type="http://schemas.openxmlformats.org/officeDocument/2006/relationships/notesSlide" Target="../notesSlides/notesSlide125.xml"/></Relationships>
</file>

<file path=ppt/slides/_rels/slide14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image" Target="../media/image2.png"/><Relationship Id="rId4" Type="http://schemas.openxmlformats.org/officeDocument/2006/relationships/image" Target="../media/image3.png"/><Relationship Id="rId5" Type="http://schemas.openxmlformats.org/officeDocument/2006/relationships/notesSlide" Target="../notesSlides/notesSlide126.xml"/></Relationships>
</file>

<file path=ppt/slides/_rels/slide14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image" Target="../media/image2.png"/><Relationship Id="rId4" Type="http://schemas.openxmlformats.org/officeDocument/2006/relationships/image" Target="../media/image3.png"/><Relationship Id="rId5" Type="http://schemas.openxmlformats.org/officeDocument/2006/relationships/notesSlide" Target="../notesSlides/notesSlide127.xml"/></Relationships>
</file>

<file path=ppt/slides/_rels/slide14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s>
</file>

<file path=ppt/slides/_rels/slide14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image" Target="../media/image2.png"/><Relationship Id="rId4" Type="http://schemas.openxmlformats.org/officeDocument/2006/relationships/image" Target="../media/image3.png"/><Relationship Id="rId5" Type="http://schemas.openxmlformats.org/officeDocument/2006/relationships/notesSlide" Target="../notesSlides/notesSlide128.xml"/></Relationships>
</file>

<file path=ppt/slides/_rels/slide14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image" Target="../media/image2.png"/><Relationship Id="rId4" Type="http://schemas.openxmlformats.org/officeDocument/2006/relationships/image" Target="../media/image3.png"/><Relationship Id="rId5" Type="http://schemas.openxmlformats.org/officeDocument/2006/relationships/notesSlide" Target="../notesSlides/notesSlide129.xml"/></Relationships>
</file>

<file path=ppt/slides/_rels/slide14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image" Target="../media/image2.png"/><Relationship Id="rId4" Type="http://schemas.openxmlformats.org/officeDocument/2006/relationships/image" Target="../media/image3.png"/><Relationship Id="rId5" Type="http://schemas.openxmlformats.org/officeDocument/2006/relationships/notesSlide" Target="../notesSlides/notesSlide130.xml"/></Relationships>
</file>

<file path=ppt/slides/_rels/slide14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image" Target="../media/image2.png"/><Relationship Id="rId4" Type="http://schemas.openxmlformats.org/officeDocument/2006/relationships/image" Target="../media/image3.png"/><Relationship Id="rId5" Type="http://schemas.openxmlformats.org/officeDocument/2006/relationships/notesSlide" Target="../notesSlides/notesSlide131.xml"/></Relationships>
</file>

<file path=ppt/slides/_rels/slide15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image" Target="../media/image2.png"/><Relationship Id="rId4" Type="http://schemas.openxmlformats.org/officeDocument/2006/relationships/image" Target="../media/image3.png"/><Relationship Id="rId5" Type="http://schemas.openxmlformats.org/officeDocument/2006/relationships/notesSlide" Target="../notesSlides/notesSlide132.xml"/></Relationships>
</file>

<file path=ppt/slides/_rels/slide15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image" Target="../media/image2.png"/><Relationship Id="rId4" Type="http://schemas.openxmlformats.org/officeDocument/2006/relationships/image" Target="../media/image3.png"/><Relationship Id="rId5" Type="http://schemas.openxmlformats.org/officeDocument/2006/relationships/notesSlide" Target="../notesSlides/notesSlide133.xml"/></Relationships>
</file>

<file path=ppt/slides/_rels/slide15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image" Target="../media/image2.png"/><Relationship Id="rId4" Type="http://schemas.openxmlformats.org/officeDocument/2006/relationships/image" Target="../media/image3.png"/><Relationship Id="rId5" Type="http://schemas.openxmlformats.org/officeDocument/2006/relationships/notesSlide" Target="../notesSlides/notesSlide134.xml"/></Relationships>
</file>

<file path=ppt/slides/_rels/slide15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s>
</file>

<file path=ppt/slides/_rels/slide15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image" Target="../media/image2.png"/><Relationship Id="rId4" Type="http://schemas.openxmlformats.org/officeDocument/2006/relationships/image" Target="../media/image3.png"/><Relationship Id="rId5" Type="http://schemas.openxmlformats.org/officeDocument/2006/relationships/notesSlide" Target="../notesSlides/notesSlide135.xml"/></Relationships>
</file>

<file path=ppt/slides/_rels/slide15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image" Target="../media/image2.png"/><Relationship Id="rId4" Type="http://schemas.openxmlformats.org/officeDocument/2006/relationships/image" Target="../media/image3.png"/><Relationship Id="rId5" Type="http://schemas.openxmlformats.org/officeDocument/2006/relationships/notesSlide" Target="../notesSlides/notesSlide136.xml"/></Relationships>
</file>

<file path=ppt/slides/_rels/slide15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image" Target="../media/image2.png"/><Relationship Id="rId4" Type="http://schemas.openxmlformats.org/officeDocument/2006/relationships/image" Target="../media/image3.png"/><Relationship Id="rId5" Type="http://schemas.openxmlformats.org/officeDocument/2006/relationships/notesSlide" Target="../notesSlides/notesSlide137.xml"/></Relationships>
</file>

<file path=ppt/slides/_rels/slide15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image" Target="../media/image2.png"/><Relationship Id="rId4" Type="http://schemas.openxmlformats.org/officeDocument/2006/relationships/image" Target="../media/image3.png"/><Relationship Id="rId5" Type="http://schemas.openxmlformats.org/officeDocument/2006/relationships/notesSlide" Target="../notesSlides/notesSlide138.xml"/></Relationships>
</file>

<file path=ppt/slides/_rels/slide15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image" Target="../media/image2.png"/><Relationship Id="rId4" Type="http://schemas.openxmlformats.org/officeDocument/2006/relationships/image" Target="../media/image3.png"/><Relationship Id="rId5" Type="http://schemas.openxmlformats.org/officeDocument/2006/relationships/notesSlide" Target="../notesSlides/notesSlide139.xml"/></Relationships>
</file>

<file path=ppt/slides/_rels/slide15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image" Target="../media/image2.png"/><Relationship Id="rId4" Type="http://schemas.openxmlformats.org/officeDocument/2006/relationships/image" Target="../media/image3.png"/><Relationship Id="rId5" Type="http://schemas.openxmlformats.org/officeDocument/2006/relationships/notesSlide" Target="../notesSlides/notesSlide140.xml"/></Relationships>
</file>

<file path=ppt/slides/_rels/slide16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image" Target="../media/image2.png"/><Relationship Id="rId4" Type="http://schemas.openxmlformats.org/officeDocument/2006/relationships/image" Target="../media/image3.png"/><Relationship Id="rId5" Type="http://schemas.openxmlformats.org/officeDocument/2006/relationships/notesSlide" Target="../notesSlides/notesSlide141.xml"/></Relationships>
</file>

<file path=ppt/slides/_rels/slide16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image" Target="../media/image2.png"/><Relationship Id="rId4" Type="http://schemas.openxmlformats.org/officeDocument/2006/relationships/image" Target="../media/image3.png"/><Relationship Id="rId5" Type="http://schemas.openxmlformats.org/officeDocument/2006/relationships/notesSlide" Target="../notesSlides/notesSlide142.xml"/></Relationships>
</file>

<file path=ppt/slides/_rels/slide16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s>
</file>

<file path=ppt/slides/_rels/slide16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image" Target="../media/image2.png"/><Relationship Id="rId4" Type="http://schemas.openxmlformats.org/officeDocument/2006/relationships/image" Target="../media/image3.png"/><Relationship Id="rId5" Type="http://schemas.openxmlformats.org/officeDocument/2006/relationships/notesSlide" Target="../notesSlides/notesSlide143.xml"/></Relationships>
</file>

<file path=ppt/slides/_rels/slide16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image" Target="../media/image2.png"/><Relationship Id="rId4" Type="http://schemas.openxmlformats.org/officeDocument/2006/relationships/image" Target="../media/image3.png"/><Relationship Id="rId5" Type="http://schemas.openxmlformats.org/officeDocument/2006/relationships/notesSlide" Target="../notesSlides/notesSlide144.xml"/></Relationships>
</file>

<file path=ppt/slides/_rels/slide16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image" Target="../media/image2.png"/><Relationship Id="rId4" Type="http://schemas.openxmlformats.org/officeDocument/2006/relationships/image" Target="../media/image3.png"/><Relationship Id="rId5" Type="http://schemas.openxmlformats.org/officeDocument/2006/relationships/notesSlide" Target="../notesSlides/notesSlide145.xml"/></Relationships>
</file>

<file path=ppt/slides/_rels/slide16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image" Target="../media/image2.png"/><Relationship Id="rId4" Type="http://schemas.openxmlformats.org/officeDocument/2006/relationships/image" Target="../media/image3.png"/><Relationship Id="rId5" Type="http://schemas.openxmlformats.org/officeDocument/2006/relationships/notesSlide" Target="../notesSlides/notesSlide146.xml"/></Relationships>
</file>

<file path=ppt/slides/_rels/slide16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image" Target="../media/image2.png"/><Relationship Id="rId4" Type="http://schemas.openxmlformats.org/officeDocument/2006/relationships/image" Target="../media/image3.png"/><Relationship Id="rId5" Type="http://schemas.openxmlformats.org/officeDocument/2006/relationships/notesSlide" Target="../notesSlides/notesSlide147.xml"/></Relationships>
</file>

<file path=ppt/slides/_rels/slide16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image" Target="../media/image2.png"/><Relationship Id="rId4" Type="http://schemas.openxmlformats.org/officeDocument/2006/relationships/image" Target="../media/image3.png"/><Relationship Id="rId5" Type="http://schemas.openxmlformats.org/officeDocument/2006/relationships/notesSlide" Target="../notesSlides/notesSlide148.xml"/></Relationships>
</file>

<file path=ppt/slides/_rels/slide16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image" Target="../media/image2.png"/><Relationship Id="rId4" Type="http://schemas.openxmlformats.org/officeDocument/2006/relationships/image" Target="../media/image3.png"/><Relationship Id="rId5" Type="http://schemas.openxmlformats.org/officeDocument/2006/relationships/notesSlide" Target="../notesSlides/notesSlide149.xml"/></Relationships>
</file>

<file path=ppt/slides/_rels/slide17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s>
</file>

<file path=ppt/slides/_rels/slide17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image" Target="../media/image2.png"/><Relationship Id="rId4" Type="http://schemas.openxmlformats.org/officeDocument/2006/relationships/image" Target="../media/image3.png"/><Relationship Id="rId5" Type="http://schemas.openxmlformats.org/officeDocument/2006/relationships/notesSlide" Target="../notesSlides/notesSlide150.xml"/></Relationships>
</file>

<file path=ppt/slides/_rels/slide17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image" Target="../media/image2.png"/><Relationship Id="rId4" Type="http://schemas.openxmlformats.org/officeDocument/2006/relationships/image" Target="../media/image3.png"/><Relationship Id="rId5" Type="http://schemas.openxmlformats.org/officeDocument/2006/relationships/notesSlide" Target="../notesSlides/notesSlide151.xml"/></Relationships>
</file>

<file path=ppt/slides/_rels/slide17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image" Target="../media/image2.png"/><Relationship Id="rId4" Type="http://schemas.openxmlformats.org/officeDocument/2006/relationships/image" Target="../media/image3.png"/><Relationship Id="rId5" Type="http://schemas.openxmlformats.org/officeDocument/2006/relationships/notesSlide" Target="../notesSlides/notesSlide152.xml"/></Relationships>
</file>

<file path=ppt/slides/_rels/slide17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image" Target="../media/image2.png"/><Relationship Id="rId4" Type="http://schemas.openxmlformats.org/officeDocument/2006/relationships/image" Target="../media/image3.png"/><Relationship Id="rId5" Type="http://schemas.openxmlformats.org/officeDocument/2006/relationships/notesSlide" Target="../notesSlides/notesSlide153.xml"/></Relationships>
</file>

<file path=ppt/slides/_rels/slide17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image" Target="../media/image2.png"/><Relationship Id="rId4" Type="http://schemas.openxmlformats.org/officeDocument/2006/relationships/image" Target="../media/image3.png"/><Relationship Id="rId5" Type="http://schemas.openxmlformats.org/officeDocument/2006/relationships/notesSlide" Target="../notesSlides/notesSlide154.xml"/></Relationships>
</file>

<file path=ppt/slides/_rels/slide17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image" Target="../media/image2.png"/><Relationship Id="rId4" Type="http://schemas.openxmlformats.org/officeDocument/2006/relationships/image" Target="../media/image3.png"/><Relationship Id="rId5" Type="http://schemas.openxmlformats.org/officeDocument/2006/relationships/notesSlide" Target="../notesSlides/notesSlide155.xml"/></Relationships>
</file>

<file path=ppt/slides/_rels/slide17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image" Target="../media/image2.png"/><Relationship Id="rId4" Type="http://schemas.openxmlformats.org/officeDocument/2006/relationships/image" Target="../media/image3.png"/><Relationship Id="rId5" Type="http://schemas.openxmlformats.org/officeDocument/2006/relationships/notesSlide" Target="../notesSlides/notesSlide156.xml"/></Relationships>
</file>

<file path=ppt/slides/_rels/slide17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image" Target="../media/image2.png"/><Relationship Id="rId4" Type="http://schemas.openxmlformats.org/officeDocument/2006/relationships/image" Target="../media/image3.png"/><Relationship Id="rId5" Type="http://schemas.openxmlformats.org/officeDocument/2006/relationships/notesSlide" Target="../notesSlides/notesSlide157.xml"/></Relationships>
</file>

<file path=ppt/slides/_rels/slide17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s>
</file>

<file path=ppt/slides/_rels/slide18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image" Target="../media/image2.png"/><Relationship Id="rId4" Type="http://schemas.openxmlformats.org/officeDocument/2006/relationships/image" Target="../media/image3.png"/><Relationship Id="rId5" Type="http://schemas.openxmlformats.org/officeDocument/2006/relationships/notesSlide" Target="../notesSlides/notesSlide158.xml"/></Relationships>
</file>

<file path=ppt/slides/_rels/slide18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image" Target="../media/image2.png"/><Relationship Id="rId4" Type="http://schemas.openxmlformats.org/officeDocument/2006/relationships/image" Target="../media/image3.png"/><Relationship Id="rId5" Type="http://schemas.openxmlformats.org/officeDocument/2006/relationships/notesSlide" Target="../notesSlides/notesSlide159.xml"/></Relationships>
</file>

<file path=ppt/slides/_rels/slide18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image" Target="../media/image2.png"/><Relationship Id="rId4" Type="http://schemas.openxmlformats.org/officeDocument/2006/relationships/image" Target="../media/image3.png"/><Relationship Id="rId5" Type="http://schemas.openxmlformats.org/officeDocument/2006/relationships/notesSlide" Target="../notesSlides/notesSlide160.xml"/></Relationships>
</file>

<file path=ppt/slides/_rels/slide18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image" Target="../media/image2.png"/><Relationship Id="rId4" Type="http://schemas.openxmlformats.org/officeDocument/2006/relationships/image" Target="../media/image3.png"/><Relationship Id="rId5" Type="http://schemas.openxmlformats.org/officeDocument/2006/relationships/notesSlide" Target="../notesSlides/notesSlide161.xml"/></Relationships>
</file>

<file path=ppt/slides/_rels/slide18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image" Target="../media/image2.png"/><Relationship Id="rId4" Type="http://schemas.openxmlformats.org/officeDocument/2006/relationships/image" Target="../media/image3.png"/><Relationship Id="rId5" Type="http://schemas.openxmlformats.org/officeDocument/2006/relationships/notesSlide" Target="../notesSlides/notesSlide162.xml"/></Relationships>
</file>

<file path=ppt/slides/_rels/slide18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image" Target="../media/image2.png"/><Relationship Id="rId4" Type="http://schemas.openxmlformats.org/officeDocument/2006/relationships/image" Target="../media/image3.png"/><Relationship Id="rId5" Type="http://schemas.openxmlformats.org/officeDocument/2006/relationships/notesSlide" Target="../notesSlides/notesSlide163.xml"/></Relationships>
</file>

<file path=ppt/slides/_rels/slide18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image" Target="../media/image2.png"/><Relationship Id="rId4" Type="http://schemas.openxmlformats.org/officeDocument/2006/relationships/image" Target="../media/image3.png"/><Relationship Id="rId5" Type="http://schemas.openxmlformats.org/officeDocument/2006/relationships/notesSlide" Target="../notesSlides/notesSlide164.xml"/></Relationships>
</file>

<file path=ppt/slides/_rels/slide18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s>
</file>

<file path=ppt/slides/_rels/slide18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image" Target="../media/image2.png"/><Relationship Id="rId4" Type="http://schemas.openxmlformats.org/officeDocument/2006/relationships/image" Target="../media/image3.png"/><Relationship Id="rId5" Type="http://schemas.openxmlformats.org/officeDocument/2006/relationships/notesSlide" Target="../notesSlides/notesSlide165.xml"/></Relationships>
</file>

<file path=ppt/slides/_rels/slide18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image" Target="../media/image2.png"/><Relationship Id="rId4" Type="http://schemas.openxmlformats.org/officeDocument/2006/relationships/image" Target="../media/image3.png"/><Relationship Id="rId5" Type="http://schemas.openxmlformats.org/officeDocument/2006/relationships/notesSlide" Target="../notesSlides/notesSlide166.xml"/></Relationships>
</file>

<file path=ppt/slides/_rels/slide19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image" Target="../media/image2.png"/><Relationship Id="rId4" Type="http://schemas.openxmlformats.org/officeDocument/2006/relationships/image" Target="../media/image3.png"/><Relationship Id="rId5" Type="http://schemas.openxmlformats.org/officeDocument/2006/relationships/notesSlide" Target="../notesSlides/notesSlide167.xml"/></Relationships>
</file>

<file path=ppt/slides/_rels/slide19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image" Target="../media/image2.png"/><Relationship Id="rId4" Type="http://schemas.openxmlformats.org/officeDocument/2006/relationships/image" Target="../media/image3.png"/><Relationship Id="rId5" Type="http://schemas.openxmlformats.org/officeDocument/2006/relationships/notesSlide" Target="../notesSlides/notesSlide168.xml"/></Relationships>
</file>

<file path=ppt/slides/_rels/slide19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image" Target="../media/image2.png"/><Relationship Id="rId4" Type="http://schemas.openxmlformats.org/officeDocument/2006/relationships/image" Target="../media/image3.png"/><Relationship Id="rId5" Type="http://schemas.openxmlformats.org/officeDocument/2006/relationships/notesSlide" Target="../notesSlides/notesSlide169.xml"/></Relationships>
</file>

<file path=ppt/slides/_rels/slide19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image" Target="../media/image2.png"/><Relationship Id="rId4" Type="http://schemas.openxmlformats.org/officeDocument/2006/relationships/image" Target="../media/image3.png"/><Relationship Id="rId5" Type="http://schemas.openxmlformats.org/officeDocument/2006/relationships/notesSlide" Target="../notesSlides/notesSlide170.xml"/></Relationships>
</file>

<file path=ppt/slides/_rels/slide19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s>
</file>

<file path=ppt/slides/_rels/slide19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image" Target="../media/image2.png"/><Relationship Id="rId4" Type="http://schemas.openxmlformats.org/officeDocument/2006/relationships/image" Target="../media/image3.png"/><Relationship Id="rId5" Type="http://schemas.openxmlformats.org/officeDocument/2006/relationships/notesSlide" Target="../notesSlides/notesSlide171.xml"/></Relationships>
</file>

<file path=ppt/slides/_rels/slide19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image" Target="../media/image2.png"/><Relationship Id="rId4" Type="http://schemas.openxmlformats.org/officeDocument/2006/relationships/image" Target="../media/image3.png"/><Relationship Id="rId5" Type="http://schemas.openxmlformats.org/officeDocument/2006/relationships/notesSlide" Target="../notesSlides/notesSlide172.xml"/></Relationships>
</file>

<file path=ppt/slides/_rels/slide19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image" Target="../media/image2.png"/><Relationship Id="rId4" Type="http://schemas.openxmlformats.org/officeDocument/2006/relationships/image" Target="../media/image3.png"/><Relationship Id="rId5" Type="http://schemas.openxmlformats.org/officeDocument/2006/relationships/notesSlide" Target="../notesSlides/notesSlide173.xml"/></Relationships>
</file>

<file path=ppt/slides/_rels/slide19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image" Target="../media/image2.png"/><Relationship Id="rId4" Type="http://schemas.openxmlformats.org/officeDocument/2006/relationships/image" Target="../media/image3.png"/><Relationship Id="rId5" Type="http://schemas.openxmlformats.org/officeDocument/2006/relationships/notesSlide" Target="../notesSlides/notesSlide174.xml"/></Relationships>
</file>

<file path=ppt/slides/_rels/slide19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image" Target="../media/image2.png"/><Relationship Id="rId4" Type="http://schemas.openxmlformats.org/officeDocument/2006/relationships/image" Target="../media/image3.png"/><Relationship Id="rId5" Type="http://schemas.openxmlformats.org/officeDocument/2006/relationships/notesSlide" Target="../notesSlides/notesSlide175.xml"/></Relationships>
</file>

<file path=ppt/slides/_rels/slide20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image" Target="../media/image2.png"/><Relationship Id="rId4" Type="http://schemas.openxmlformats.org/officeDocument/2006/relationships/image" Target="../media/image3.png"/><Relationship Id="rId5" Type="http://schemas.openxmlformats.org/officeDocument/2006/relationships/notesSlide" Target="../notesSlides/notesSlide176.xml"/></Relationships>
</file>

<file path=ppt/slides/_rels/slide20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s>
</file>

<file path=ppt/slides/_rels/slide20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image" Target="../media/image2.png"/><Relationship Id="rId4" Type="http://schemas.openxmlformats.org/officeDocument/2006/relationships/image" Target="../media/image3.png"/><Relationship Id="rId5" Type="http://schemas.openxmlformats.org/officeDocument/2006/relationships/notesSlide" Target="../notesSlides/notesSlide177.xml"/></Relationships>
</file>

<file path=ppt/slides/_rels/slide20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image" Target="../media/image2.png"/><Relationship Id="rId4" Type="http://schemas.openxmlformats.org/officeDocument/2006/relationships/image" Target="../media/image3.png"/><Relationship Id="rId5" Type="http://schemas.openxmlformats.org/officeDocument/2006/relationships/notesSlide" Target="../notesSlides/notesSlide178.xml"/></Relationships>
</file>

<file path=ppt/slides/_rels/slide20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image" Target="../media/image2.png"/><Relationship Id="rId4" Type="http://schemas.openxmlformats.org/officeDocument/2006/relationships/image" Target="../media/image3.png"/><Relationship Id="rId5" Type="http://schemas.openxmlformats.org/officeDocument/2006/relationships/notesSlide" Target="../notesSlides/notesSlide179.xml"/></Relationships>
</file>

<file path=ppt/slides/_rels/slide20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image" Target="../media/image2.png"/><Relationship Id="rId4" Type="http://schemas.openxmlformats.org/officeDocument/2006/relationships/image" Target="../media/image3.png"/><Relationship Id="rId5" Type="http://schemas.openxmlformats.org/officeDocument/2006/relationships/notesSlide" Target="../notesSlides/notesSlide180.xml"/></Relationships>
</file>

<file path=ppt/slides/_rels/slide20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image" Target="../media/image2.png"/><Relationship Id="rId4" Type="http://schemas.openxmlformats.org/officeDocument/2006/relationships/image" Target="../media/image3.png"/><Relationship Id="rId5" Type="http://schemas.openxmlformats.org/officeDocument/2006/relationships/notesSlide" Target="../notesSlides/notesSlide181.xml"/></Relationships>
</file>

<file path=ppt/slides/_rels/slide20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image" Target="../media/image2.png"/><Relationship Id="rId4" Type="http://schemas.openxmlformats.org/officeDocument/2006/relationships/image" Target="../media/image3.png"/><Relationship Id="rId5" Type="http://schemas.openxmlformats.org/officeDocument/2006/relationships/notesSlide" Target="../notesSlides/notesSlide182.xml"/></Relationships>
</file>

<file path=ppt/slides/_rels/slide20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image" Target="../media/image2.png"/><Relationship Id="rId4" Type="http://schemas.openxmlformats.org/officeDocument/2006/relationships/image" Target="../media/image3.png"/><Relationship Id="rId5" Type="http://schemas.openxmlformats.org/officeDocument/2006/relationships/notesSlide" Target="../notesSlides/notesSlide183.xml"/></Relationships>
</file>

<file path=ppt/slides/_rels/slide20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s>
</file>

<file path=ppt/slides/_rels/slide2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image" Target="../media/image2.png"/><Relationship Id="rId4" Type="http://schemas.openxmlformats.org/officeDocument/2006/relationships/image" Target="../media/image3.png"/><Relationship Id="rId5" Type="http://schemas.openxmlformats.org/officeDocument/2006/relationships/notesSlide" Target="../notesSlides/notesSlide184.xml"/></Relationships>
</file>

<file path=ppt/slides/_rels/slide2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image" Target="../media/image2.png"/><Relationship Id="rId4" Type="http://schemas.openxmlformats.org/officeDocument/2006/relationships/image" Target="../media/image3.png"/><Relationship Id="rId5" Type="http://schemas.openxmlformats.org/officeDocument/2006/relationships/notesSlide" Target="../notesSlides/notesSlide185.xml"/></Relationships>
</file>

<file path=ppt/slides/_rels/slide2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image" Target="../media/image2.png"/><Relationship Id="rId4" Type="http://schemas.openxmlformats.org/officeDocument/2006/relationships/image" Target="../media/image3.png"/><Relationship Id="rId5" Type="http://schemas.openxmlformats.org/officeDocument/2006/relationships/notesSlide" Target="../notesSlides/notesSlide186.xml"/></Relationships>
</file>

<file path=ppt/slides/_rels/slide2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image" Target="../media/image2.png"/><Relationship Id="rId4" Type="http://schemas.openxmlformats.org/officeDocument/2006/relationships/image" Target="../media/image3.png"/><Relationship Id="rId5" Type="http://schemas.openxmlformats.org/officeDocument/2006/relationships/notesSlide" Target="../notesSlides/notesSlide187.xml"/></Relationships>
</file>

<file path=ppt/slides/_rels/slide2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image" Target="../media/image2.png"/><Relationship Id="rId4" Type="http://schemas.openxmlformats.org/officeDocument/2006/relationships/image" Target="../media/image3.png"/><Relationship Id="rId5" Type="http://schemas.openxmlformats.org/officeDocument/2006/relationships/notesSlide" Target="../notesSlides/notesSlide188.xml"/></Relationships>
</file>

<file path=ppt/slides/_rels/slide2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image" Target="../media/image2.png"/><Relationship Id="rId4" Type="http://schemas.openxmlformats.org/officeDocument/2006/relationships/image" Target="../media/image3.png"/><Relationship Id="rId5" Type="http://schemas.openxmlformats.org/officeDocument/2006/relationships/notesSlide" Target="../notesSlides/notesSlide189.xml"/></Relationships>
</file>

<file path=ppt/slides/_rels/slide2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image" Target="../media/image2.png"/><Relationship Id="rId4" Type="http://schemas.openxmlformats.org/officeDocument/2006/relationships/image" Target="../media/image3.png"/><Relationship Id="rId5" Type="http://schemas.openxmlformats.org/officeDocument/2006/relationships/notesSlide" Target="../notesSlides/notesSlide190.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redhat_logo.jpg"/>
          <p:cNvPicPr>
            <a:picLocks noChangeAspect="1"/>
          </p:cNvPicPr>
          <p:nvPr/>
        </p:nvPicPr>
        <p:blipFill>
          <a:blip r:embed="rId2"/>
          <a:stretch>
            <a:fillRect/>
          </a:stretch>
        </p:blipFill>
        <p:spPr>
          <a:xfrm>
            <a:off x="841248" y="731520"/>
            <a:ext cx="1554480" cy="367699"/>
          </a:xfrm>
          <a:prstGeom prst="rect">
            <a:avLst/>
          </a:prstGeom>
        </p:spPr>
      </p:pic>
      <p:sp>
        <p:nvSpPr>
          <p:cNvPr id="3" name="TextBox 2"/>
          <p:cNvSpPr txBox="1"/>
          <p:nvPr/>
        </p:nvSpPr>
        <p:spPr>
          <a:xfrm>
            <a:off x="841248" y="2514600"/>
            <a:ext cx="9601200" cy="274320"/>
          </a:xfrm>
          <a:prstGeom prst="rect">
            <a:avLst/>
          </a:prstGeom>
          <a:noFill/>
        </p:spPr>
        <p:txBody>
          <a:bodyPr wrap="square" anchor="t" lIns="0" rIns="0" tIns="0" bIns="0">
            <a:spAutoFit/>
          </a:bodyPr>
          <a:lstStyle/>
          <a:p>
            <a:pPr algn="l">
              <a:lnSpc>
                <a:spcPct val="106000"/>
              </a:lnSpc>
              <a:spcBef>
                <a:spcPts val="0"/>
              </a:spcBef>
              <a:spcAft>
                <a:spcPts val="0"/>
              </a:spcAft>
            </a:pPr>
            <a:r>
              <a:rPr sz="1250" b="1" spc="180">
                <a:solidFill>
                  <a:srgbClr val="2E4A62"/>
                </a:solidFill>
                <a:latin typeface="Red Hat Display"/>
              </a:rPr>
              <a:t>A · FOUNDATIONS</a:t>
            </a:r>
          </a:p>
        </p:txBody>
      </p:sp>
      <p:sp>
        <p:nvSpPr>
          <p:cNvPr id="4" name="TextBox 3"/>
          <p:cNvSpPr txBox="1"/>
          <p:nvPr/>
        </p:nvSpPr>
        <p:spPr>
          <a:xfrm>
            <a:off x="841248" y="2880360"/>
            <a:ext cx="2103120" cy="1188720"/>
          </a:xfrm>
          <a:prstGeom prst="rect">
            <a:avLst/>
          </a:prstGeom>
          <a:noFill/>
        </p:spPr>
        <p:txBody>
          <a:bodyPr wrap="none" anchor="t" lIns="0" rIns="0" tIns="0" bIns="0">
            <a:spAutoFit/>
          </a:bodyPr>
          <a:lstStyle/>
          <a:p>
            <a:pPr algn="l">
              <a:lnSpc>
                <a:spcPct val="90000"/>
              </a:lnSpc>
              <a:spcBef>
                <a:spcPts val="0"/>
              </a:spcBef>
              <a:spcAft>
                <a:spcPts val="0"/>
              </a:spcAft>
            </a:pPr>
            <a:r>
              <a:rPr sz="5200" b="1">
                <a:solidFill>
                  <a:srgbClr val="B80000"/>
                </a:solidFill>
                <a:latin typeface="Red Hat Display"/>
              </a:rPr>
              <a:t>M01</a:t>
            </a:r>
          </a:p>
        </p:txBody>
      </p:sp>
      <p:sp>
        <p:nvSpPr>
          <p:cNvPr id="5" name="TextBox 4"/>
          <p:cNvSpPr txBox="1"/>
          <p:nvPr/>
        </p:nvSpPr>
        <p:spPr>
          <a:xfrm>
            <a:off x="3127248" y="2971800"/>
            <a:ext cx="8412480" cy="1188720"/>
          </a:xfrm>
          <a:prstGeom prst="rect">
            <a:avLst/>
          </a:prstGeom>
          <a:noFill/>
        </p:spPr>
        <p:txBody>
          <a:bodyPr wrap="square" anchor="t" lIns="0" rIns="0" tIns="0" bIns="0">
            <a:spAutoFit/>
          </a:bodyPr>
          <a:lstStyle/>
          <a:p>
            <a:pPr algn="l">
              <a:lnSpc>
                <a:spcPct val="102000"/>
              </a:lnSpc>
              <a:spcBef>
                <a:spcPts val="0"/>
              </a:spcBef>
              <a:spcAft>
                <a:spcPts val="0"/>
              </a:spcAft>
            </a:pPr>
            <a:r>
              <a:rPr sz="3000" b="1">
                <a:solidFill>
                  <a:srgbClr val="1A1A1A"/>
                </a:solidFill>
                <a:latin typeface="Red Hat Display"/>
              </a:rPr>
              <a:t>Platform Orientation &amp; First App</a:t>
            </a:r>
          </a:p>
        </p:txBody>
      </p:sp>
      <p:cxnSp>
        <p:nvCxnSpPr>
          <p:cNvPr id="6" name="Connector 5"/>
          <p:cNvCxnSpPr/>
          <p:nvPr/>
        </p:nvCxnSpPr>
        <p:spPr>
          <a:xfrm>
            <a:off x="841248" y="4443984"/>
            <a:ext cx="1463040" cy="0"/>
          </a:xfrm>
          <a:prstGeom prst="bentConnector3">
            <a:avLst/>
          </a:prstGeom>
          <a:ln w="38100">
            <a:solidFill>
              <a:srgbClr val="EE0000"/>
            </a:solidFill>
          </a:ln>
          <a:effectLst/>
        </p:spPr>
        <p:style>
          <a:lnRef idx="2">
            <a:schemeClr val="accent1"/>
          </a:lnRef>
          <a:fillRef idx="0">
            <a:schemeClr val="accent1"/>
          </a:fillRef>
          <a:effectRef idx="1">
            <a:schemeClr val="accent1"/>
          </a:effectRef>
          <a:fontRef idx="minor">
            <a:schemeClr val="tx1"/>
          </a:fontRef>
        </p:style>
      </p:cxn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redhat_logo.jpg"/>
          <p:cNvPicPr>
            <a:picLocks noChangeAspect="1"/>
          </p:cNvPicPr>
          <p:nvPr/>
        </p:nvPicPr>
        <p:blipFill>
          <a:blip r:embed="rId2"/>
          <a:stretch>
            <a:fillRect/>
          </a:stretch>
        </p:blipFill>
        <p:spPr>
          <a:xfrm>
            <a:off x="10326319" y="475488"/>
            <a:ext cx="1024128" cy="242248"/>
          </a:xfrm>
          <a:prstGeom prst="rect">
            <a:avLst/>
          </a:prstGeom>
        </p:spPr>
      </p:pic>
      <p:sp>
        <p:nvSpPr>
          <p:cNvPr id="3" name="TextBox 2"/>
          <p:cNvSpPr txBox="1"/>
          <p:nvPr/>
        </p:nvSpPr>
        <p:spPr>
          <a:xfrm>
            <a:off x="841248" y="548640"/>
            <a:ext cx="8595360" cy="274320"/>
          </a:xfrm>
          <a:prstGeom prst="rect">
            <a:avLst/>
          </a:prstGeom>
          <a:noFill/>
        </p:spPr>
        <p:txBody>
          <a:bodyPr wrap="square" anchor="t" lIns="0" rIns="0" tIns="0" bIns="0">
            <a:spAutoFit/>
          </a:bodyPr>
          <a:lstStyle/>
          <a:p>
            <a:pPr algn="l">
              <a:lnSpc>
                <a:spcPct val="106000"/>
              </a:lnSpc>
              <a:spcBef>
                <a:spcPts val="0"/>
              </a:spcBef>
              <a:spcAft>
                <a:spcPts val="0"/>
              </a:spcAft>
            </a:pPr>
            <a:r>
              <a:rPr sz="1250" b="1" spc="220">
                <a:solidFill>
                  <a:srgbClr val="EE0000"/>
                </a:solidFill>
                <a:latin typeface="Red Hat Display"/>
              </a:rPr>
              <a:t>M01 · PLATFORM ORIENTATION &amp; FIRST APP</a:t>
            </a:r>
          </a:p>
        </p:txBody>
      </p:sp>
      <p:sp>
        <p:nvSpPr>
          <p:cNvPr id="4" name="TextBox 3"/>
          <p:cNvSpPr txBox="1"/>
          <p:nvPr/>
        </p:nvSpPr>
        <p:spPr>
          <a:xfrm>
            <a:off x="841248" y="877824"/>
            <a:ext cx="10515600" cy="548640"/>
          </a:xfrm>
          <a:prstGeom prst="rect">
            <a:avLst/>
          </a:prstGeom>
          <a:noFill/>
        </p:spPr>
        <p:txBody>
          <a:bodyPr wrap="none" anchor="t" lIns="0" rIns="0" tIns="0" bIns="0">
            <a:spAutoFit/>
          </a:bodyPr>
          <a:lstStyle/>
          <a:p>
            <a:pPr algn="l">
              <a:lnSpc>
                <a:spcPct val="100000"/>
              </a:lnSpc>
              <a:spcBef>
                <a:spcPts val="0"/>
              </a:spcBef>
              <a:spcAft>
                <a:spcPts val="0"/>
              </a:spcAft>
            </a:pPr>
            <a:r>
              <a:rPr sz="2500" b="1">
                <a:solidFill>
                  <a:srgbClr val="1A1A1A"/>
                </a:solidFill>
                <a:latin typeface="Red Hat Display"/>
              </a:rPr>
              <a:t>The 2 a.m. pet problem</a:t>
            </a:r>
          </a:p>
        </p:txBody>
      </p:sp>
      <p:cxnSp>
        <p:nvCxnSpPr>
          <p:cNvPr id="5" name="Connector 4"/>
          <p:cNvCxnSpPr/>
          <p:nvPr/>
        </p:nvCxnSpPr>
        <p:spPr>
          <a:xfrm>
            <a:off x="841248" y="1554480"/>
            <a:ext cx="1371600" cy="0"/>
          </a:xfrm>
          <a:prstGeom prst="bentConnector3">
            <a:avLst/>
          </a:prstGeom>
          <a:ln w="31750">
            <a:solidFill>
              <a:srgbClr val="EE0000"/>
            </a:solidFill>
          </a:ln>
          <a:effectLst/>
        </p:spPr>
        <p:style>
          <a:lnRef idx="2">
            <a:schemeClr val="accent1"/>
          </a:lnRef>
          <a:fillRef idx="0">
            <a:schemeClr val="accent1"/>
          </a:fillRef>
          <a:effectRef idx="1">
            <a:schemeClr val="accent1"/>
          </a:effectRef>
          <a:fontRef idx="minor">
            <a:schemeClr val="tx1"/>
          </a:fontRef>
        </p:style>
      </p:cxnSp>
      <p:sp>
        <p:nvSpPr>
          <p:cNvPr id="6" name="Rounded Rectangle 5"/>
          <p:cNvSpPr/>
          <p:nvPr/>
        </p:nvSpPr>
        <p:spPr>
          <a:xfrm>
            <a:off x="841248" y="2395728"/>
            <a:ext cx="5715000" cy="530352"/>
          </a:xfrm>
          <a:prstGeom prst="roundRect">
            <a:avLst>
              <a:gd name="adj" fmla="val 6000"/>
            </a:avLst>
          </a:prstGeom>
          <a:solidFill>
            <a:srgbClr val="F5F6F8"/>
          </a:solidFill>
          <a:ln w="12700">
            <a:solidFill>
              <a:srgbClr val="DDE1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check_steel.png"/>
          <p:cNvPicPr>
            <a:picLocks noChangeAspect="1"/>
          </p:cNvPicPr>
          <p:nvPr/>
        </p:nvPicPr>
        <p:blipFill>
          <a:blip r:embed="rId3"/>
          <a:stretch>
            <a:fillRect/>
          </a:stretch>
        </p:blipFill>
        <p:spPr>
          <a:xfrm>
            <a:off x="987552" y="2542032"/>
            <a:ext cx="237744" cy="237744"/>
          </a:xfrm>
          <a:prstGeom prst="rect">
            <a:avLst/>
          </a:prstGeom>
        </p:spPr>
      </p:pic>
      <p:sp>
        <p:nvSpPr>
          <p:cNvPr id="8" name="TextBox 7"/>
          <p:cNvSpPr txBox="1"/>
          <p:nvPr/>
        </p:nvSpPr>
        <p:spPr>
          <a:xfrm>
            <a:off x="1353312" y="2395728"/>
            <a:ext cx="5029200" cy="530352"/>
          </a:xfrm>
          <a:prstGeom prst="rect">
            <a:avLst/>
          </a:prstGeom>
          <a:noFill/>
        </p:spPr>
        <p:txBody>
          <a:bodyPr wrap="square" anchor="ctr" lIns="0" rIns="0" tIns="0" bIns="0">
            <a:spAutoFit/>
          </a:bodyPr>
          <a:lstStyle/>
          <a:p>
            <a:pPr algn="l">
              <a:lnSpc>
                <a:spcPct val="106000"/>
              </a:lnSpc>
              <a:spcBef>
                <a:spcPts val="0"/>
              </a:spcBef>
              <a:spcAft>
                <a:spcPts val="0"/>
              </a:spcAft>
            </a:pPr>
            <a:r>
              <a:rPr sz="1200" b="0">
                <a:solidFill>
                  <a:srgbClr val="1A1A1A"/>
                </a:solidFill>
                <a:latin typeface="Red Hat Text"/>
              </a:rPr>
              <a:t>A named server, patched and prayed over</a:t>
            </a:r>
          </a:p>
        </p:txBody>
      </p:sp>
      <p:sp>
        <p:nvSpPr>
          <p:cNvPr id="9" name="Rounded Rectangle 8"/>
          <p:cNvSpPr/>
          <p:nvPr/>
        </p:nvSpPr>
        <p:spPr>
          <a:xfrm>
            <a:off x="841248" y="2999232"/>
            <a:ext cx="5715000" cy="530352"/>
          </a:xfrm>
          <a:prstGeom prst="roundRect">
            <a:avLst>
              <a:gd name="adj" fmla="val 6000"/>
            </a:avLst>
          </a:prstGeom>
          <a:solidFill>
            <a:srgbClr val="F5F6F8"/>
          </a:solidFill>
          <a:ln w="12700">
            <a:solidFill>
              <a:srgbClr val="DDE1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0" name="Picture 9" descr="check_steel.png"/>
          <p:cNvPicPr>
            <a:picLocks noChangeAspect="1"/>
          </p:cNvPicPr>
          <p:nvPr/>
        </p:nvPicPr>
        <p:blipFill>
          <a:blip r:embed="rId3"/>
          <a:stretch>
            <a:fillRect/>
          </a:stretch>
        </p:blipFill>
        <p:spPr>
          <a:xfrm>
            <a:off x="987552" y="3145536"/>
            <a:ext cx="237744" cy="237744"/>
          </a:xfrm>
          <a:prstGeom prst="rect">
            <a:avLst/>
          </a:prstGeom>
        </p:spPr>
      </p:pic>
      <p:sp>
        <p:nvSpPr>
          <p:cNvPr id="11" name="TextBox 10"/>
          <p:cNvSpPr txBox="1"/>
          <p:nvPr/>
        </p:nvSpPr>
        <p:spPr>
          <a:xfrm>
            <a:off x="1353312" y="2999232"/>
            <a:ext cx="5029200" cy="530352"/>
          </a:xfrm>
          <a:prstGeom prst="rect">
            <a:avLst/>
          </a:prstGeom>
          <a:noFill/>
        </p:spPr>
        <p:txBody>
          <a:bodyPr wrap="square" anchor="ctr" lIns="0" rIns="0" tIns="0" bIns="0">
            <a:spAutoFit/>
          </a:bodyPr>
          <a:lstStyle/>
          <a:p>
            <a:pPr algn="l">
              <a:lnSpc>
                <a:spcPct val="106000"/>
              </a:lnSpc>
              <a:spcBef>
                <a:spcPts val="0"/>
              </a:spcBef>
              <a:spcAft>
                <a:spcPts val="0"/>
              </a:spcAft>
            </a:pPr>
            <a:r>
              <a:rPr sz="1200" b="0">
                <a:solidFill>
                  <a:srgbClr val="1A1A1A"/>
                </a:solidFill>
                <a:latin typeface="Red Hat Text"/>
              </a:rPr>
              <a:t>It wedges; a human logs in</a:t>
            </a:r>
          </a:p>
        </p:txBody>
      </p:sp>
      <p:sp>
        <p:nvSpPr>
          <p:cNvPr id="12" name="Rounded Rectangle 11"/>
          <p:cNvSpPr/>
          <p:nvPr/>
        </p:nvSpPr>
        <p:spPr>
          <a:xfrm>
            <a:off x="841248" y="3602736"/>
            <a:ext cx="5715000" cy="530352"/>
          </a:xfrm>
          <a:prstGeom prst="roundRect">
            <a:avLst>
              <a:gd name="adj" fmla="val 6000"/>
            </a:avLst>
          </a:prstGeom>
          <a:solidFill>
            <a:srgbClr val="F5F6F8"/>
          </a:solidFill>
          <a:ln w="12700">
            <a:solidFill>
              <a:srgbClr val="DDE1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3" name="Picture 12" descr="check_steel.png"/>
          <p:cNvPicPr>
            <a:picLocks noChangeAspect="1"/>
          </p:cNvPicPr>
          <p:nvPr/>
        </p:nvPicPr>
        <p:blipFill>
          <a:blip r:embed="rId3"/>
          <a:stretch>
            <a:fillRect/>
          </a:stretch>
        </p:blipFill>
        <p:spPr>
          <a:xfrm>
            <a:off x="987552" y="3749040"/>
            <a:ext cx="237744" cy="237744"/>
          </a:xfrm>
          <a:prstGeom prst="rect">
            <a:avLst/>
          </a:prstGeom>
        </p:spPr>
      </p:pic>
      <p:sp>
        <p:nvSpPr>
          <p:cNvPr id="14" name="TextBox 13"/>
          <p:cNvSpPr txBox="1"/>
          <p:nvPr/>
        </p:nvSpPr>
        <p:spPr>
          <a:xfrm>
            <a:off x="1353312" y="3602736"/>
            <a:ext cx="5029200" cy="530352"/>
          </a:xfrm>
          <a:prstGeom prst="rect">
            <a:avLst/>
          </a:prstGeom>
          <a:noFill/>
        </p:spPr>
        <p:txBody>
          <a:bodyPr wrap="square" anchor="ctr" lIns="0" rIns="0" tIns="0" bIns="0">
            <a:spAutoFit/>
          </a:bodyPr>
          <a:lstStyle/>
          <a:p>
            <a:pPr algn="l">
              <a:lnSpc>
                <a:spcPct val="106000"/>
              </a:lnSpc>
              <a:spcBef>
                <a:spcPts val="0"/>
              </a:spcBef>
              <a:spcAft>
                <a:spcPts val="0"/>
              </a:spcAft>
            </a:pPr>
            <a:r>
              <a:rPr sz="1200" b="0">
                <a:solidFill>
                  <a:srgbClr val="1A1A1A"/>
                </a:solidFill>
                <a:latin typeface="Red Hat Text"/>
              </a:rPr>
              <a:t>Restart by hand, hope it holds</a:t>
            </a:r>
          </a:p>
        </p:txBody>
      </p:sp>
      <p:sp>
        <p:nvSpPr>
          <p:cNvPr id="15" name="Rounded Rectangle 14"/>
          <p:cNvSpPr/>
          <p:nvPr/>
        </p:nvSpPr>
        <p:spPr>
          <a:xfrm>
            <a:off x="841248" y="4206240"/>
            <a:ext cx="5715000" cy="530352"/>
          </a:xfrm>
          <a:prstGeom prst="roundRect">
            <a:avLst>
              <a:gd name="adj" fmla="val 6000"/>
            </a:avLst>
          </a:prstGeom>
          <a:solidFill>
            <a:srgbClr val="F5F6F8"/>
          </a:solidFill>
          <a:ln w="12700">
            <a:solidFill>
              <a:srgbClr val="DDE1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6" name="Picture 15" descr="check_steel.png"/>
          <p:cNvPicPr>
            <a:picLocks noChangeAspect="1"/>
          </p:cNvPicPr>
          <p:nvPr/>
        </p:nvPicPr>
        <p:blipFill>
          <a:blip r:embed="rId3"/>
          <a:stretch>
            <a:fillRect/>
          </a:stretch>
        </p:blipFill>
        <p:spPr>
          <a:xfrm>
            <a:off x="987552" y="4352544"/>
            <a:ext cx="237744" cy="237744"/>
          </a:xfrm>
          <a:prstGeom prst="rect">
            <a:avLst/>
          </a:prstGeom>
        </p:spPr>
      </p:pic>
      <p:sp>
        <p:nvSpPr>
          <p:cNvPr id="17" name="TextBox 16"/>
          <p:cNvSpPr txBox="1"/>
          <p:nvPr/>
        </p:nvSpPr>
        <p:spPr>
          <a:xfrm>
            <a:off x="1353312" y="4206240"/>
            <a:ext cx="5029200" cy="530352"/>
          </a:xfrm>
          <a:prstGeom prst="rect">
            <a:avLst/>
          </a:prstGeom>
          <a:noFill/>
        </p:spPr>
        <p:txBody>
          <a:bodyPr wrap="square" anchor="ctr" lIns="0" rIns="0" tIns="0" bIns="0">
            <a:spAutoFit/>
          </a:bodyPr>
          <a:lstStyle/>
          <a:p>
            <a:pPr algn="l">
              <a:lnSpc>
                <a:spcPct val="106000"/>
              </a:lnSpc>
              <a:spcBef>
                <a:spcPts val="0"/>
              </a:spcBef>
              <a:spcAft>
                <a:spcPts val="0"/>
              </a:spcAft>
            </a:pPr>
            <a:r>
              <a:rPr sz="1200" b="0">
                <a:solidFill>
                  <a:srgbClr val="1A1A1A"/>
                </a:solidFill>
                <a:latin typeface="Red Hat Text"/>
              </a:rPr>
              <a:t>Every box is unique and mourned</a:t>
            </a:r>
          </a:p>
        </p:txBody>
      </p:sp>
      <p:sp>
        <p:nvSpPr>
          <p:cNvPr id="18" name="Rounded Rectangle 17"/>
          <p:cNvSpPr/>
          <p:nvPr/>
        </p:nvSpPr>
        <p:spPr>
          <a:xfrm>
            <a:off x="841248" y="4809744"/>
            <a:ext cx="5715000" cy="530352"/>
          </a:xfrm>
          <a:prstGeom prst="roundRect">
            <a:avLst>
              <a:gd name="adj" fmla="val 6000"/>
            </a:avLst>
          </a:prstGeom>
          <a:solidFill>
            <a:srgbClr val="F5F6F8"/>
          </a:solidFill>
          <a:ln w="12700">
            <a:solidFill>
              <a:srgbClr val="DDE1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9" name="Picture 18" descr="check_steel.png"/>
          <p:cNvPicPr>
            <a:picLocks noChangeAspect="1"/>
          </p:cNvPicPr>
          <p:nvPr/>
        </p:nvPicPr>
        <p:blipFill>
          <a:blip r:embed="rId3"/>
          <a:stretch>
            <a:fillRect/>
          </a:stretch>
        </p:blipFill>
        <p:spPr>
          <a:xfrm>
            <a:off x="987552" y="4956048"/>
            <a:ext cx="237744" cy="237744"/>
          </a:xfrm>
          <a:prstGeom prst="rect">
            <a:avLst/>
          </a:prstGeom>
        </p:spPr>
      </p:pic>
      <p:sp>
        <p:nvSpPr>
          <p:cNvPr id="20" name="TextBox 19"/>
          <p:cNvSpPr txBox="1"/>
          <p:nvPr/>
        </p:nvSpPr>
        <p:spPr>
          <a:xfrm>
            <a:off x="1353312" y="4809744"/>
            <a:ext cx="5029200" cy="530352"/>
          </a:xfrm>
          <a:prstGeom prst="rect">
            <a:avLst/>
          </a:prstGeom>
          <a:noFill/>
        </p:spPr>
        <p:txBody>
          <a:bodyPr wrap="square" anchor="ctr" lIns="0" rIns="0" tIns="0" bIns="0">
            <a:spAutoFit/>
          </a:bodyPr>
          <a:lstStyle/>
          <a:p>
            <a:pPr algn="l">
              <a:lnSpc>
                <a:spcPct val="106000"/>
              </a:lnSpc>
              <a:spcBef>
                <a:spcPts val="0"/>
              </a:spcBef>
              <a:spcAft>
                <a:spcPts val="0"/>
              </a:spcAft>
            </a:pPr>
            <a:r>
              <a:rPr sz="1200" b="0">
                <a:solidFill>
                  <a:srgbClr val="1A1A1A"/>
                </a:solidFill>
                <a:latin typeface="Red Hat Text"/>
              </a:rPr>
              <a:t>There has to be a better model</a:t>
            </a:r>
          </a:p>
        </p:txBody>
      </p:sp>
      <p:sp>
        <p:nvSpPr>
          <p:cNvPr id="21" name="Rounded Rectangle 20"/>
          <p:cNvSpPr/>
          <p:nvPr/>
        </p:nvSpPr>
        <p:spPr>
          <a:xfrm>
            <a:off x="6812280" y="2395728"/>
            <a:ext cx="4538167" cy="2944368"/>
          </a:xfrm>
          <a:prstGeom prst="roundRect">
            <a:avLst>
              <a:gd name="adj" fmla="val 4000"/>
            </a:avLst>
          </a:prstGeom>
          <a:solidFill>
            <a:srgbClr val="FFFFFF"/>
          </a:solidFill>
          <a:ln w="15240">
            <a:solidFill>
              <a:srgbClr val="DDE1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ounded Rectangle 21"/>
          <p:cNvSpPr/>
          <p:nvPr/>
        </p:nvSpPr>
        <p:spPr>
          <a:xfrm>
            <a:off x="7013448" y="2596896"/>
            <a:ext cx="1298448" cy="310896"/>
          </a:xfrm>
          <a:prstGeom prst="roundRect">
            <a:avLst>
              <a:gd name="adj" fmla="val 50000"/>
            </a:avLst>
          </a:prstGeom>
          <a:solidFill>
            <a:srgbClr val="FCEC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7013448" y="2596896"/>
            <a:ext cx="1298448" cy="310896"/>
          </a:xfrm>
          <a:prstGeom prst="rect">
            <a:avLst/>
          </a:prstGeom>
          <a:noFill/>
        </p:spPr>
        <p:txBody>
          <a:bodyPr wrap="none" anchor="ctr" lIns="0" rIns="0" tIns="0" bIns="0">
            <a:spAutoFit/>
          </a:bodyPr>
          <a:lstStyle/>
          <a:p>
            <a:pPr algn="ctr">
              <a:lnSpc>
                <a:spcPct val="106000"/>
              </a:lnSpc>
              <a:spcBef>
                <a:spcPts val="0"/>
              </a:spcBef>
              <a:spcAft>
                <a:spcPts val="0"/>
              </a:spcAft>
            </a:pPr>
            <a:r>
              <a:rPr sz="850" b="1">
                <a:solidFill>
                  <a:srgbClr val="B80000"/>
                </a:solidFill>
                <a:latin typeface="Red Hat Display"/>
              </a:rPr>
              <a:t>MEDIA PASS</a:t>
            </a:r>
          </a:p>
        </p:txBody>
      </p:sp>
      <p:pic>
        <p:nvPicPr>
          <p:cNvPr id="24" name="Picture 23" descr="eye_slate.png"/>
          <p:cNvPicPr>
            <a:picLocks noChangeAspect="1"/>
          </p:cNvPicPr>
          <p:nvPr/>
        </p:nvPicPr>
        <p:blipFill>
          <a:blip r:embed="rId4"/>
          <a:stretch>
            <a:fillRect/>
          </a:stretch>
        </p:blipFill>
        <p:spPr>
          <a:xfrm>
            <a:off x="8843619" y="3108960"/>
            <a:ext cx="475488" cy="475488"/>
          </a:xfrm>
          <a:prstGeom prst="rect">
            <a:avLst/>
          </a:prstGeom>
        </p:spPr>
      </p:pic>
      <p:sp>
        <p:nvSpPr>
          <p:cNvPr id="25" name="TextBox 24"/>
          <p:cNvSpPr txBox="1"/>
          <p:nvPr/>
        </p:nvSpPr>
        <p:spPr>
          <a:xfrm>
            <a:off x="7050024" y="3721608"/>
            <a:ext cx="4062679" cy="1481328"/>
          </a:xfrm>
          <a:prstGeom prst="rect">
            <a:avLst/>
          </a:prstGeom>
          <a:noFill/>
        </p:spPr>
        <p:txBody>
          <a:bodyPr wrap="square" anchor="t" lIns="0" rIns="0" tIns="0" bIns="0">
            <a:spAutoFit/>
          </a:bodyPr>
          <a:lstStyle/>
          <a:p>
            <a:pPr algn="l">
              <a:lnSpc>
                <a:spcPct val="120000"/>
              </a:lnSpc>
              <a:spcBef>
                <a:spcPts val="0"/>
              </a:spcBef>
              <a:spcAft>
                <a:spcPts val="0"/>
              </a:spcAft>
            </a:pPr>
            <a:r>
              <a:rPr sz="950" b="0">
                <a:solidFill>
                  <a:srgbClr val="8A9099"/>
                </a:solidFill>
                <a:latin typeface="Red Hat Text"/>
              </a:rPr>
              <a:t>Split image — a single labeled "pet" server with a pager, versus a herd of identical unnamed boxes.</a:t>
            </a:r>
          </a:p>
        </p:txBody>
      </p:sp>
      <p:cxnSp>
        <p:nvCxnSpPr>
          <p:cNvPr id="26" name="Connector 25"/>
          <p:cNvCxnSpPr/>
          <p:nvPr/>
        </p:nvCxnSpPr>
        <p:spPr>
          <a:xfrm>
            <a:off x="841248" y="6437376"/>
            <a:ext cx="10509199" cy="0"/>
          </a:xfrm>
          <a:prstGeom prst="bentConnector3">
            <a:avLst/>
          </a:prstGeom>
          <a:ln w="12700">
            <a:solidFill>
              <a:srgbClr val="DDE1E6"/>
            </a:solidFill>
          </a:ln>
          <a:effectLst/>
        </p:spPr>
        <p:style>
          <a:lnRef idx="2">
            <a:schemeClr val="accent1"/>
          </a:lnRef>
          <a:fillRef idx="0">
            <a:schemeClr val="accent1"/>
          </a:fillRef>
          <a:effectRef idx="1">
            <a:schemeClr val="accent1"/>
          </a:effectRef>
          <a:fontRef idx="minor">
            <a:schemeClr val="tx1"/>
          </a:fontRef>
        </p:style>
      </p:cxnSp>
      <p:sp>
        <p:nvSpPr>
          <p:cNvPr id="27" name="TextBox 26"/>
          <p:cNvSpPr txBox="1"/>
          <p:nvPr/>
        </p:nvSpPr>
        <p:spPr>
          <a:xfrm>
            <a:off x="841248" y="6473952"/>
            <a:ext cx="7315200" cy="274320"/>
          </a:xfrm>
          <a:prstGeom prst="rect">
            <a:avLst/>
          </a:prstGeom>
          <a:noFill/>
        </p:spPr>
        <p:txBody>
          <a:bodyPr wrap="square" anchor="t" lIns="0" rIns="0" tIns="0" bIns="0">
            <a:spAutoFit/>
          </a:bodyPr>
          <a:lstStyle/>
          <a:p>
            <a:pPr algn="l">
              <a:lnSpc>
                <a:spcPct val="106000"/>
              </a:lnSpc>
              <a:spcBef>
                <a:spcPts val="0"/>
              </a:spcBef>
              <a:spcAft>
                <a:spcPts val="0"/>
              </a:spcAft>
            </a:pPr>
            <a:r>
              <a:rPr sz="950" b="0">
                <a:solidFill>
                  <a:srgbClr val="8A9099"/>
                </a:solidFill>
                <a:latin typeface="Red Hat Text"/>
              </a:rPr>
              <a:t>CONFIDENTIAL</a:t>
            </a:r>
          </a:p>
        </p:txBody>
      </p:sp>
      <p:sp>
        <p:nvSpPr>
          <p:cNvPr id="28" name="TextBox 27"/>
          <p:cNvSpPr txBox="1"/>
          <p:nvPr/>
        </p:nvSpPr>
        <p:spPr>
          <a:xfrm>
            <a:off x="10801807" y="6473952"/>
            <a:ext cx="548640" cy="274320"/>
          </a:xfrm>
          <a:prstGeom prst="rect">
            <a:avLst/>
          </a:prstGeom>
          <a:noFill/>
        </p:spPr>
        <p:txBody>
          <a:bodyPr wrap="square" anchor="t" lIns="0" rIns="0" tIns="0" bIns="0">
            <a:spAutoFit/>
          </a:bodyPr>
          <a:lstStyle/>
          <a:p>
            <a:pPr algn="r">
              <a:lnSpc>
                <a:spcPct val="106000"/>
              </a:lnSpc>
              <a:spcBef>
                <a:spcPts val="0"/>
              </a:spcBef>
              <a:spcAft>
                <a:spcPts val="0"/>
              </a:spcAft>
            </a:pPr>
            <a:r>
              <a:rPr sz="950" b="0">
                <a:solidFill>
                  <a:srgbClr val="8A9099"/>
                </a:solidFill>
                <a:latin typeface="Red Hat Text"/>
              </a:rPr>
              <a:t>1</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redhat_logo.jpg"/>
          <p:cNvPicPr>
            <a:picLocks noChangeAspect="1"/>
          </p:cNvPicPr>
          <p:nvPr/>
        </p:nvPicPr>
        <p:blipFill>
          <a:blip r:embed="rId2"/>
          <a:stretch>
            <a:fillRect/>
          </a:stretch>
        </p:blipFill>
        <p:spPr>
          <a:xfrm>
            <a:off x="10326319" y="475488"/>
            <a:ext cx="1024128" cy="242248"/>
          </a:xfrm>
          <a:prstGeom prst="rect">
            <a:avLst/>
          </a:prstGeom>
        </p:spPr>
      </p:pic>
      <p:sp>
        <p:nvSpPr>
          <p:cNvPr id="3" name="TextBox 2"/>
          <p:cNvSpPr txBox="1"/>
          <p:nvPr/>
        </p:nvSpPr>
        <p:spPr>
          <a:xfrm>
            <a:off x="841248" y="548640"/>
            <a:ext cx="8595360" cy="274320"/>
          </a:xfrm>
          <a:prstGeom prst="rect">
            <a:avLst/>
          </a:prstGeom>
          <a:noFill/>
        </p:spPr>
        <p:txBody>
          <a:bodyPr wrap="square" anchor="t" lIns="0" rIns="0" tIns="0" bIns="0">
            <a:spAutoFit/>
          </a:bodyPr>
          <a:lstStyle/>
          <a:p>
            <a:pPr algn="l">
              <a:lnSpc>
                <a:spcPct val="106000"/>
              </a:lnSpc>
              <a:spcBef>
                <a:spcPts val="0"/>
              </a:spcBef>
              <a:spcAft>
                <a:spcPts val="0"/>
              </a:spcAft>
            </a:pPr>
            <a:r>
              <a:rPr sz="1250" b="1" spc="220">
                <a:solidFill>
                  <a:srgbClr val="EE0000"/>
                </a:solidFill>
                <a:latin typeface="Red Hat Display"/>
              </a:rPr>
              <a:t>M01 · PLATFORM ORIENTATION &amp; FIRST APP</a:t>
            </a:r>
          </a:p>
        </p:txBody>
      </p:sp>
      <p:sp>
        <p:nvSpPr>
          <p:cNvPr id="4" name="TextBox 3"/>
          <p:cNvSpPr txBox="1"/>
          <p:nvPr/>
        </p:nvSpPr>
        <p:spPr>
          <a:xfrm>
            <a:off x="841248" y="877824"/>
            <a:ext cx="10515600" cy="548640"/>
          </a:xfrm>
          <a:prstGeom prst="rect">
            <a:avLst/>
          </a:prstGeom>
          <a:noFill/>
        </p:spPr>
        <p:txBody>
          <a:bodyPr wrap="none" anchor="t" lIns="0" rIns="0" tIns="0" bIns="0">
            <a:spAutoFit/>
          </a:bodyPr>
          <a:lstStyle/>
          <a:p>
            <a:pPr algn="l">
              <a:lnSpc>
                <a:spcPct val="100000"/>
              </a:lnSpc>
              <a:spcBef>
                <a:spcPts val="0"/>
              </a:spcBef>
              <a:spcAft>
                <a:spcPts val="0"/>
              </a:spcAft>
            </a:pPr>
            <a:r>
              <a:rPr sz="2500" b="1">
                <a:solidFill>
                  <a:srgbClr val="1A1A1A"/>
                </a:solidFill>
                <a:latin typeface="Red Hat Display"/>
              </a:rPr>
              <a:t>Desired state — the one idea</a:t>
            </a:r>
          </a:p>
        </p:txBody>
      </p:sp>
      <p:cxnSp>
        <p:nvCxnSpPr>
          <p:cNvPr id="5" name="Connector 4"/>
          <p:cNvCxnSpPr/>
          <p:nvPr/>
        </p:nvCxnSpPr>
        <p:spPr>
          <a:xfrm>
            <a:off x="841248" y="1554480"/>
            <a:ext cx="1371600" cy="0"/>
          </a:xfrm>
          <a:prstGeom prst="bentConnector3">
            <a:avLst/>
          </a:prstGeom>
          <a:ln w="31750">
            <a:solidFill>
              <a:srgbClr val="EE0000"/>
            </a:solidFill>
          </a:ln>
          <a:effectLst/>
        </p:spPr>
        <p:style>
          <a:lnRef idx="2">
            <a:schemeClr val="accent1"/>
          </a:lnRef>
          <a:fillRef idx="0">
            <a:schemeClr val="accent1"/>
          </a:fillRef>
          <a:effectRef idx="1">
            <a:schemeClr val="accent1"/>
          </a:effectRef>
          <a:fontRef idx="minor">
            <a:schemeClr val="tx1"/>
          </a:fontRef>
        </p:style>
      </p:cxnSp>
      <p:sp>
        <p:nvSpPr>
          <p:cNvPr id="6" name="Rounded Rectangle 5"/>
          <p:cNvSpPr/>
          <p:nvPr/>
        </p:nvSpPr>
        <p:spPr>
          <a:xfrm>
            <a:off x="841248" y="2395728"/>
            <a:ext cx="5715000" cy="530352"/>
          </a:xfrm>
          <a:prstGeom prst="roundRect">
            <a:avLst>
              <a:gd name="adj" fmla="val 6000"/>
            </a:avLst>
          </a:prstGeom>
          <a:solidFill>
            <a:srgbClr val="F5F6F8"/>
          </a:solidFill>
          <a:ln w="12700">
            <a:solidFill>
              <a:srgbClr val="DDE1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check_steel.png"/>
          <p:cNvPicPr>
            <a:picLocks noChangeAspect="1"/>
          </p:cNvPicPr>
          <p:nvPr/>
        </p:nvPicPr>
        <p:blipFill>
          <a:blip r:embed="rId3"/>
          <a:stretch>
            <a:fillRect/>
          </a:stretch>
        </p:blipFill>
        <p:spPr>
          <a:xfrm>
            <a:off x="987552" y="2542032"/>
            <a:ext cx="237744" cy="237744"/>
          </a:xfrm>
          <a:prstGeom prst="rect">
            <a:avLst/>
          </a:prstGeom>
        </p:spPr>
      </p:pic>
      <p:sp>
        <p:nvSpPr>
          <p:cNvPr id="8" name="TextBox 7"/>
          <p:cNvSpPr txBox="1"/>
          <p:nvPr/>
        </p:nvSpPr>
        <p:spPr>
          <a:xfrm>
            <a:off x="1353312" y="2395728"/>
            <a:ext cx="5029200" cy="530352"/>
          </a:xfrm>
          <a:prstGeom prst="rect">
            <a:avLst/>
          </a:prstGeom>
          <a:noFill/>
        </p:spPr>
        <p:txBody>
          <a:bodyPr wrap="square" anchor="ctr" lIns="0" rIns="0" tIns="0" bIns="0">
            <a:spAutoFit/>
          </a:bodyPr>
          <a:lstStyle/>
          <a:p>
            <a:pPr algn="l">
              <a:lnSpc>
                <a:spcPct val="106000"/>
              </a:lnSpc>
              <a:spcBef>
                <a:spcPts val="0"/>
              </a:spcBef>
              <a:spcAft>
                <a:spcPts val="0"/>
              </a:spcAft>
            </a:pPr>
            <a:r>
              <a:rPr sz="1200" b="0">
                <a:solidFill>
                  <a:srgbClr val="1A1A1A"/>
                </a:solidFill>
                <a:latin typeface="Red Hat Text"/>
              </a:rPr>
              <a:t>You declare what you want</a:t>
            </a:r>
          </a:p>
        </p:txBody>
      </p:sp>
      <p:sp>
        <p:nvSpPr>
          <p:cNvPr id="9" name="Rounded Rectangle 8"/>
          <p:cNvSpPr/>
          <p:nvPr/>
        </p:nvSpPr>
        <p:spPr>
          <a:xfrm>
            <a:off x="841248" y="2999232"/>
            <a:ext cx="5715000" cy="530352"/>
          </a:xfrm>
          <a:prstGeom prst="roundRect">
            <a:avLst>
              <a:gd name="adj" fmla="val 6000"/>
            </a:avLst>
          </a:prstGeom>
          <a:solidFill>
            <a:srgbClr val="F5F6F8"/>
          </a:solidFill>
          <a:ln w="12700">
            <a:solidFill>
              <a:srgbClr val="DDE1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0" name="Picture 9" descr="check_steel.png"/>
          <p:cNvPicPr>
            <a:picLocks noChangeAspect="1"/>
          </p:cNvPicPr>
          <p:nvPr/>
        </p:nvPicPr>
        <p:blipFill>
          <a:blip r:embed="rId3"/>
          <a:stretch>
            <a:fillRect/>
          </a:stretch>
        </p:blipFill>
        <p:spPr>
          <a:xfrm>
            <a:off x="987552" y="3145536"/>
            <a:ext cx="237744" cy="237744"/>
          </a:xfrm>
          <a:prstGeom prst="rect">
            <a:avLst/>
          </a:prstGeom>
        </p:spPr>
      </p:pic>
      <p:sp>
        <p:nvSpPr>
          <p:cNvPr id="11" name="TextBox 10"/>
          <p:cNvSpPr txBox="1"/>
          <p:nvPr/>
        </p:nvSpPr>
        <p:spPr>
          <a:xfrm>
            <a:off x="1353312" y="2999232"/>
            <a:ext cx="5029200" cy="530352"/>
          </a:xfrm>
          <a:prstGeom prst="rect">
            <a:avLst/>
          </a:prstGeom>
          <a:noFill/>
        </p:spPr>
        <p:txBody>
          <a:bodyPr wrap="square" anchor="ctr" lIns="0" rIns="0" tIns="0" bIns="0">
            <a:spAutoFit/>
          </a:bodyPr>
          <a:lstStyle/>
          <a:p>
            <a:pPr algn="l">
              <a:lnSpc>
                <a:spcPct val="106000"/>
              </a:lnSpc>
              <a:spcBef>
                <a:spcPts val="0"/>
              </a:spcBef>
              <a:spcAft>
                <a:spcPts val="0"/>
              </a:spcAft>
            </a:pPr>
            <a:r>
              <a:rPr sz="1200" b="0">
                <a:solidFill>
                  <a:srgbClr val="1A1A1A"/>
                </a:solidFill>
                <a:latin typeface="Red Hat Text"/>
              </a:rPr>
              <a:t>A control loop enforces it, forever</a:t>
            </a:r>
          </a:p>
        </p:txBody>
      </p:sp>
      <p:sp>
        <p:nvSpPr>
          <p:cNvPr id="12" name="Rounded Rectangle 11"/>
          <p:cNvSpPr/>
          <p:nvPr/>
        </p:nvSpPr>
        <p:spPr>
          <a:xfrm>
            <a:off x="841248" y="3602736"/>
            <a:ext cx="5715000" cy="530352"/>
          </a:xfrm>
          <a:prstGeom prst="roundRect">
            <a:avLst>
              <a:gd name="adj" fmla="val 6000"/>
            </a:avLst>
          </a:prstGeom>
          <a:solidFill>
            <a:srgbClr val="F5F6F8"/>
          </a:solidFill>
          <a:ln w="12700">
            <a:solidFill>
              <a:srgbClr val="DDE1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3" name="Picture 12" descr="check_steel.png"/>
          <p:cNvPicPr>
            <a:picLocks noChangeAspect="1"/>
          </p:cNvPicPr>
          <p:nvPr/>
        </p:nvPicPr>
        <p:blipFill>
          <a:blip r:embed="rId3"/>
          <a:stretch>
            <a:fillRect/>
          </a:stretch>
        </p:blipFill>
        <p:spPr>
          <a:xfrm>
            <a:off x="987552" y="3749040"/>
            <a:ext cx="237744" cy="237744"/>
          </a:xfrm>
          <a:prstGeom prst="rect">
            <a:avLst/>
          </a:prstGeom>
        </p:spPr>
      </p:pic>
      <p:sp>
        <p:nvSpPr>
          <p:cNvPr id="14" name="TextBox 13"/>
          <p:cNvSpPr txBox="1"/>
          <p:nvPr/>
        </p:nvSpPr>
        <p:spPr>
          <a:xfrm>
            <a:off x="1353312" y="3602736"/>
            <a:ext cx="5029200" cy="530352"/>
          </a:xfrm>
          <a:prstGeom prst="rect">
            <a:avLst/>
          </a:prstGeom>
          <a:noFill/>
        </p:spPr>
        <p:txBody>
          <a:bodyPr wrap="square" anchor="ctr" lIns="0" rIns="0" tIns="0" bIns="0">
            <a:spAutoFit/>
          </a:bodyPr>
          <a:lstStyle/>
          <a:p>
            <a:pPr algn="l">
              <a:lnSpc>
                <a:spcPct val="106000"/>
              </a:lnSpc>
              <a:spcBef>
                <a:spcPts val="0"/>
              </a:spcBef>
              <a:spcAft>
                <a:spcPts val="0"/>
              </a:spcAft>
            </a:pPr>
            <a:r>
              <a:rPr sz="1200" b="0">
                <a:solidFill>
                  <a:srgbClr val="1A1A1A"/>
                </a:solidFill>
                <a:latin typeface="Red Hat Text"/>
              </a:rPr>
              <a:t>Pods run; Deployments own them</a:t>
            </a:r>
          </a:p>
        </p:txBody>
      </p:sp>
      <p:sp>
        <p:nvSpPr>
          <p:cNvPr id="15" name="Rounded Rectangle 14"/>
          <p:cNvSpPr/>
          <p:nvPr/>
        </p:nvSpPr>
        <p:spPr>
          <a:xfrm>
            <a:off x="841248" y="4206240"/>
            <a:ext cx="5715000" cy="530352"/>
          </a:xfrm>
          <a:prstGeom prst="roundRect">
            <a:avLst>
              <a:gd name="adj" fmla="val 6000"/>
            </a:avLst>
          </a:prstGeom>
          <a:solidFill>
            <a:srgbClr val="F5F6F8"/>
          </a:solidFill>
          <a:ln w="12700">
            <a:solidFill>
              <a:srgbClr val="DDE1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6" name="Picture 15" descr="check_steel.png"/>
          <p:cNvPicPr>
            <a:picLocks noChangeAspect="1"/>
          </p:cNvPicPr>
          <p:nvPr/>
        </p:nvPicPr>
        <p:blipFill>
          <a:blip r:embed="rId3"/>
          <a:stretch>
            <a:fillRect/>
          </a:stretch>
        </p:blipFill>
        <p:spPr>
          <a:xfrm>
            <a:off x="987552" y="4352544"/>
            <a:ext cx="237744" cy="237744"/>
          </a:xfrm>
          <a:prstGeom prst="rect">
            <a:avLst/>
          </a:prstGeom>
        </p:spPr>
      </p:pic>
      <p:sp>
        <p:nvSpPr>
          <p:cNvPr id="17" name="TextBox 16"/>
          <p:cNvSpPr txBox="1"/>
          <p:nvPr/>
        </p:nvSpPr>
        <p:spPr>
          <a:xfrm>
            <a:off x="1353312" y="4206240"/>
            <a:ext cx="5029200" cy="530352"/>
          </a:xfrm>
          <a:prstGeom prst="rect">
            <a:avLst/>
          </a:prstGeom>
          <a:noFill/>
        </p:spPr>
        <p:txBody>
          <a:bodyPr wrap="square" anchor="ctr" lIns="0" rIns="0" tIns="0" bIns="0">
            <a:spAutoFit/>
          </a:bodyPr>
          <a:lstStyle/>
          <a:p>
            <a:pPr algn="l">
              <a:lnSpc>
                <a:spcPct val="106000"/>
              </a:lnSpc>
              <a:spcBef>
                <a:spcPts val="0"/>
              </a:spcBef>
              <a:spcAft>
                <a:spcPts val="0"/>
              </a:spcAft>
            </a:pPr>
            <a:r>
              <a:rPr sz="1200" b="0">
                <a:solidFill>
                  <a:srgbClr val="1A1A1A"/>
                </a:solidFill>
                <a:latin typeface="Red Hat Text"/>
              </a:rPr>
              <a:t>Services give a stable address</a:t>
            </a:r>
          </a:p>
        </p:txBody>
      </p:sp>
      <p:sp>
        <p:nvSpPr>
          <p:cNvPr id="18" name="Rounded Rectangle 17"/>
          <p:cNvSpPr/>
          <p:nvPr/>
        </p:nvSpPr>
        <p:spPr>
          <a:xfrm>
            <a:off x="841248" y="4809744"/>
            <a:ext cx="5715000" cy="530352"/>
          </a:xfrm>
          <a:prstGeom prst="roundRect">
            <a:avLst>
              <a:gd name="adj" fmla="val 6000"/>
            </a:avLst>
          </a:prstGeom>
          <a:solidFill>
            <a:srgbClr val="F5F6F8"/>
          </a:solidFill>
          <a:ln w="12700">
            <a:solidFill>
              <a:srgbClr val="DDE1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9" name="Picture 18" descr="check_steel.png"/>
          <p:cNvPicPr>
            <a:picLocks noChangeAspect="1"/>
          </p:cNvPicPr>
          <p:nvPr/>
        </p:nvPicPr>
        <p:blipFill>
          <a:blip r:embed="rId3"/>
          <a:stretch>
            <a:fillRect/>
          </a:stretch>
        </p:blipFill>
        <p:spPr>
          <a:xfrm>
            <a:off x="987552" y="4956048"/>
            <a:ext cx="237744" cy="237744"/>
          </a:xfrm>
          <a:prstGeom prst="rect">
            <a:avLst/>
          </a:prstGeom>
        </p:spPr>
      </p:pic>
      <p:sp>
        <p:nvSpPr>
          <p:cNvPr id="20" name="TextBox 19"/>
          <p:cNvSpPr txBox="1"/>
          <p:nvPr/>
        </p:nvSpPr>
        <p:spPr>
          <a:xfrm>
            <a:off x="1353312" y="4809744"/>
            <a:ext cx="5029200" cy="530352"/>
          </a:xfrm>
          <a:prstGeom prst="rect">
            <a:avLst/>
          </a:prstGeom>
          <a:noFill/>
        </p:spPr>
        <p:txBody>
          <a:bodyPr wrap="square" anchor="ctr" lIns="0" rIns="0" tIns="0" bIns="0">
            <a:spAutoFit/>
          </a:bodyPr>
          <a:lstStyle/>
          <a:p>
            <a:pPr algn="l">
              <a:lnSpc>
                <a:spcPct val="106000"/>
              </a:lnSpc>
              <a:spcBef>
                <a:spcPts val="0"/>
              </a:spcBef>
              <a:spcAft>
                <a:spcPts val="0"/>
              </a:spcAft>
            </a:pPr>
            <a:r>
              <a:rPr sz="1200" b="0">
                <a:solidFill>
                  <a:srgbClr val="1A1A1A"/>
                </a:solidFill>
                <a:latin typeface="Red Hat Text"/>
              </a:rPr>
              <a:t>You stop operating Pods by hand</a:t>
            </a:r>
          </a:p>
        </p:txBody>
      </p:sp>
      <p:sp>
        <p:nvSpPr>
          <p:cNvPr id="21" name="Rounded Rectangle 20"/>
          <p:cNvSpPr/>
          <p:nvPr/>
        </p:nvSpPr>
        <p:spPr>
          <a:xfrm>
            <a:off x="6812280" y="2395728"/>
            <a:ext cx="4538167" cy="2944368"/>
          </a:xfrm>
          <a:prstGeom prst="roundRect">
            <a:avLst>
              <a:gd name="adj" fmla="val 4000"/>
            </a:avLst>
          </a:prstGeom>
          <a:solidFill>
            <a:srgbClr val="FFFFFF"/>
          </a:solidFill>
          <a:ln w="15240">
            <a:solidFill>
              <a:srgbClr val="DDE1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ounded Rectangle 21"/>
          <p:cNvSpPr/>
          <p:nvPr/>
        </p:nvSpPr>
        <p:spPr>
          <a:xfrm>
            <a:off x="7013448" y="2596896"/>
            <a:ext cx="1298448" cy="310896"/>
          </a:xfrm>
          <a:prstGeom prst="roundRect">
            <a:avLst>
              <a:gd name="adj" fmla="val 50000"/>
            </a:avLst>
          </a:prstGeom>
          <a:solidFill>
            <a:srgbClr val="FCEC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7013448" y="2596896"/>
            <a:ext cx="1298448" cy="310896"/>
          </a:xfrm>
          <a:prstGeom prst="rect">
            <a:avLst/>
          </a:prstGeom>
          <a:noFill/>
        </p:spPr>
        <p:txBody>
          <a:bodyPr wrap="none" anchor="ctr" lIns="0" rIns="0" tIns="0" bIns="0">
            <a:spAutoFit/>
          </a:bodyPr>
          <a:lstStyle/>
          <a:p>
            <a:pPr algn="ctr">
              <a:lnSpc>
                <a:spcPct val="106000"/>
              </a:lnSpc>
              <a:spcBef>
                <a:spcPts val="0"/>
              </a:spcBef>
              <a:spcAft>
                <a:spcPts val="0"/>
              </a:spcAft>
            </a:pPr>
            <a:r>
              <a:rPr sz="850" b="1">
                <a:solidFill>
                  <a:srgbClr val="B80000"/>
                </a:solidFill>
                <a:latin typeface="Red Hat Display"/>
              </a:rPr>
              <a:t>MEDIA PASS</a:t>
            </a:r>
          </a:p>
        </p:txBody>
      </p:sp>
      <p:pic>
        <p:nvPicPr>
          <p:cNvPr id="24" name="Picture 23" descr="eye_slate.png"/>
          <p:cNvPicPr>
            <a:picLocks noChangeAspect="1"/>
          </p:cNvPicPr>
          <p:nvPr/>
        </p:nvPicPr>
        <p:blipFill>
          <a:blip r:embed="rId4"/>
          <a:stretch>
            <a:fillRect/>
          </a:stretch>
        </p:blipFill>
        <p:spPr>
          <a:xfrm>
            <a:off x="8843619" y="3108960"/>
            <a:ext cx="475488" cy="475488"/>
          </a:xfrm>
          <a:prstGeom prst="rect">
            <a:avLst/>
          </a:prstGeom>
        </p:spPr>
      </p:pic>
      <p:sp>
        <p:nvSpPr>
          <p:cNvPr id="25" name="TextBox 24"/>
          <p:cNvSpPr txBox="1"/>
          <p:nvPr/>
        </p:nvSpPr>
        <p:spPr>
          <a:xfrm>
            <a:off x="7050024" y="3721608"/>
            <a:ext cx="4062679" cy="1481328"/>
          </a:xfrm>
          <a:prstGeom prst="rect">
            <a:avLst/>
          </a:prstGeom>
          <a:noFill/>
        </p:spPr>
        <p:txBody>
          <a:bodyPr wrap="square" anchor="t" lIns="0" rIns="0" tIns="0" bIns="0">
            <a:spAutoFit/>
          </a:bodyPr>
          <a:lstStyle/>
          <a:p>
            <a:pPr algn="l">
              <a:lnSpc>
                <a:spcPct val="120000"/>
              </a:lnSpc>
              <a:spcBef>
                <a:spcPts val="0"/>
              </a:spcBef>
              <a:spcAft>
                <a:spcPts val="0"/>
              </a:spcAft>
            </a:pPr>
            <a:r>
              <a:rPr sz="950" b="0">
                <a:solidFill>
                  <a:srgbClr val="8A9099"/>
                </a:solidFill>
                <a:latin typeface="Red Hat Text"/>
              </a:rPr>
              <a:t>Reuse concept diagram platform-orientation-...-01-desired-state.svg — You → Deployment → ReplicaSet → 3 Pods, Service load-balancing, reconcile loop watching.</a:t>
            </a:r>
          </a:p>
        </p:txBody>
      </p:sp>
      <p:cxnSp>
        <p:nvCxnSpPr>
          <p:cNvPr id="26" name="Connector 25"/>
          <p:cNvCxnSpPr/>
          <p:nvPr/>
        </p:nvCxnSpPr>
        <p:spPr>
          <a:xfrm>
            <a:off x="841248" y="6437376"/>
            <a:ext cx="10509199" cy="0"/>
          </a:xfrm>
          <a:prstGeom prst="bentConnector3">
            <a:avLst/>
          </a:prstGeom>
          <a:ln w="12700">
            <a:solidFill>
              <a:srgbClr val="DDE1E6"/>
            </a:solidFill>
          </a:ln>
          <a:effectLst/>
        </p:spPr>
        <p:style>
          <a:lnRef idx="2">
            <a:schemeClr val="accent1"/>
          </a:lnRef>
          <a:fillRef idx="0">
            <a:schemeClr val="accent1"/>
          </a:fillRef>
          <a:effectRef idx="1">
            <a:schemeClr val="accent1"/>
          </a:effectRef>
          <a:fontRef idx="minor">
            <a:schemeClr val="tx1"/>
          </a:fontRef>
        </p:style>
      </p:cxnSp>
      <p:sp>
        <p:nvSpPr>
          <p:cNvPr id="27" name="TextBox 26"/>
          <p:cNvSpPr txBox="1"/>
          <p:nvPr/>
        </p:nvSpPr>
        <p:spPr>
          <a:xfrm>
            <a:off x="841248" y="6473952"/>
            <a:ext cx="7315200" cy="274320"/>
          </a:xfrm>
          <a:prstGeom prst="rect">
            <a:avLst/>
          </a:prstGeom>
          <a:noFill/>
        </p:spPr>
        <p:txBody>
          <a:bodyPr wrap="square" anchor="t" lIns="0" rIns="0" tIns="0" bIns="0">
            <a:spAutoFit/>
          </a:bodyPr>
          <a:lstStyle/>
          <a:p>
            <a:pPr algn="l">
              <a:lnSpc>
                <a:spcPct val="106000"/>
              </a:lnSpc>
              <a:spcBef>
                <a:spcPts val="0"/>
              </a:spcBef>
              <a:spcAft>
                <a:spcPts val="0"/>
              </a:spcAft>
            </a:pPr>
            <a:r>
              <a:rPr sz="950" b="0">
                <a:solidFill>
                  <a:srgbClr val="8A9099"/>
                </a:solidFill>
                <a:latin typeface="Red Hat Text"/>
              </a:rPr>
              <a:t>CONFIDENTIAL</a:t>
            </a:r>
          </a:p>
        </p:txBody>
      </p:sp>
      <p:sp>
        <p:nvSpPr>
          <p:cNvPr id="28" name="TextBox 27"/>
          <p:cNvSpPr txBox="1"/>
          <p:nvPr/>
        </p:nvSpPr>
        <p:spPr>
          <a:xfrm>
            <a:off x="10801807" y="6473952"/>
            <a:ext cx="548640" cy="274320"/>
          </a:xfrm>
          <a:prstGeom prst="rect">
            <a:avLst/>
          </a:prstGeom>
          <a:noFill/>
        </p:spPr>
        <p:txBody>
          <a:bodyPr wrap="square" anchor="t" lIns="0" rIns="0" tIns="0" bIns="0">
            <a:spAutoFit/>
          </a:bodyPr>
          <a:lstStyle/>
          <a:p>
            <a:pPr algn="r">
              <a:lnSpc>
                <a:spcPct val="106000"/>
              </a:lnSpc>
              <a:spcBef>
                <a:spcPts val="0"/>
              </a:spcBef>
              <a:spcAft>
                <a:spcPts val="0"/>
              </a:spcAft>
            </a:pPr>
            <a:r>
              <a:rPr sz="950" b="0">
                <a:solidFill>
                  <a:srgbClr val="8A9099"/>
                </a:solidFill>
                <a:latin typeface="Red Hat Text"/>
              </a:rPr>
              <a:t>2</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redhat_logo.jpg"/>
          <p:cNvPicPr>
            <a:picLocks noChangeAspect="1"/>
          </p:cNvPicPr>
          <p:nvPr/>
        </p:nvPicPr>
        <p:blipFill>
          <a:blip r:embed="rId2"/>
          <a:stretch>
            <a:fillRect/>
          </a:stretch>
        </p:blipFill>
        <p:spPr>
          <a:xfrm>
            <a:off x="10326319" y="475488"/>
            <a:ext cx="1024128" cy="242248"/>
          </a:xfrm>
          <a:prstGeom prst="rect">
            <a:avLst/>
          </a:prstGeom>
        </p:spPr>
      </p:pic>
      <p:sp>
        <p:nvSpPr>
          <p:cNvPr id="3" name="TextBox 2"/>
          <p:cNvSpPr txBox="1"/>
          <p:nvPr/>
        </p:nvSpPr>
        <p:spPr>
          <a:xfrm>
            <a:off x="841248" y="548640"/>
            <a:ext cx="8595360" cy="274320"/>
          </a:xfrm>
          <a:prstGeom prst="rect">
            <a:avLst/>
          </a:prstGeom>
          <a:noFill/>
        </p:spPr>
        <p:txBody>
          <a:bodyPr wrap="square" anchor="t" lIns="0" rIns="0" tIns="0" bIns="0">
            <a:spAutoFit/>
          </a:bodyPr>
          <a:lstStyle/>
          <a:p>
            <a:pPr algn="l">
              <a:lnSpc>
                <a:spcPct val="106000"/>
              </a:lnSpc>
              <a:spcBef>
                <a:spcPts val="0"/>
              </a:spcBef>
              <a:spcAft>
                <a:spcPts val="0"/>
              </a:spcAft>
            </a:pPr>
            <a:r>
              <a:rPr sz="1250" b="1" spc="220">
                <a:solidFill>
                  <a:srgbClr val="EE0000"/>
                </a:solidFill>
                <a:latin typeface="Red Hat Display"/>
              </a:rPr>
              <a:t>M01 · PLATFORM ORIENTATION &amp; FIRST APP</a:t>
            </a:r>
          </a:p>
        </p:txBody>
      </p:sp>
      <p:sp>
        <p:nvSpPr>
          <p:cNvPr id="4" name="TextBox 3"/>
          <p:cNvSpPr txBox="1"/>
          <p:nvPr/>
        </p:nvSpPr>
        <p:spPr>
          <a:xfrm>
            <a:off x="841248" y="877824"/>
            <a:ext cx="10515600" cy="548640"/>
          </a:xfrm>
          <a:prstGeom prst="rect">
            <a:avLst/>
          </a:prstGeom>
          <a:noFill/>
        </p:spPr>
        <p:txBody>
          <a:bodyPr wrap="none" anchor="t" lIns="0" rIns="0" tIns="0" bIns="0">
            <a:spAutoFit/>
          </a:bodyPr>
          <a:lstStyle/>
          <a:p>
            <a:pPr algn="l">
              <a:lnSpc>
                <a:spcPct val="100000"/>
              </a:lnSpc>
              <a:spcBef>
                <a:spcPts val="0"/>
              </a:spcBef>
              <a:spcAft>
                <a:spcPts val="0"/>
              </a:spcAft>
            </a:pPr>
            <a:r>
              <a:rPr sz="2500" b="1">
                <a:solidFill>
                  <a:srgbClr val="1A1A1A"/>
                </a:solidFill>
                <a:latin typeface="Red Hat Display"/>
              </a:rPr>
              <a:t>What OpenShift adds over Kubernetes</a:t>
            </a:r>
          </a:p>
        </p:txBody>
      </p:sp>
      <p:cxnSp>
        <p:nvCxnSpPr>
          <p:cNvPr id="5" name="Connector 4"/>
          <p:cNvCxnSpPr/>
          <p:nvPr/>
        </p:nvCxnSpPr>
        <p:spPr>
          <a:xfrm>
            <a:off x="841248" y="1554480"/>
            <a:ext cx="1371600" cy="0"/>
          </a:xfrm>
          <a:prstGeom prst="bentConnector3">
            <a:avLst/>
          </a:prstGeom>
          <a:ln w="31750">
            <a:solidFill>
              <a:srgbClr val="EE0000"/>
            </a:solidFill>
          </a:ln>
          <a:effectLst/>
        </p:spPr>
        <p:style>
          <a:lnRef idx="2">
            <a:schemeClr val="accent1"/>
          </a:lnRef>
          <a:fillRef idx="0">
            <a:schemeClr val="accent1"/>
          </a:fillRef>
          <a:effectRef idx="1">
            <a:schemeClr val="accent1"/>
          </a:effectRef>
          <a:fontRef idx="minor">
            <a:schemeClr val="tx1"/>
          </a:fontRef>
        </p:style>
      </p:cxnSp>
      <p:sp>
        <p:nvSpPr>
          <p:cNvPr id="6" name="Rounded Rectangle 5"/>
          <p:cNvSpPr/>
          <p:nvPr/>
        </p:nvSpPr>
        <p:spPr>
          <a:xfrm>
            <a:off x="841248" y="2395728"/>
            <a:ext cx="5715000" cy="530352"/>
          </a:xfrm>
          <a:prstGeom prst="roundRect">
            <a:avLst>
              <a:gd name="adj" fmla="val 6000"/>
            </a:avLst>
          </a:prstGeom>
          <a:solidFill>
            <a:srgbClr val="F5F6F8"/>
          </a:solidFill>
          <a:ln w="12700">
            <a:solidFill>
              <a:srgbClr val="DDE1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check_steel.png"/>
          <p:cNvPicPr>
            <a:picLocks noChangeAspect="1"/>
          </p:cNvPicPr>
          <p:nvPr/>
        </p:nvPicPr>
        <p:blipFill>
          <a:blip r:embed="rId3"/>
          <a:stretch>
            <a:fillRect/>
          </a:stretch>
        </p:blipFill>
        <p:spPr>
          <a:xfrm>
            <a:off x="987552" y="2542032"/>
            <a:ext cx="237744" cy="237744"/>
          </a:xfrm>
          <a:prstGeom prst="rect">
            <a:avLst/>
          </a:prstGeom>
        </p:spPr>
      </p:pic>
      <p:sp>
        <p:nvSpPr>
          <p:cNvPr id="8" name="TextBox 7"/>
          <p:cNvSpPr txBox="1"/>
          <p:nvPr/>
        </p:nvSpPr>
        <p:spPr>
          <a:xfrm>
            <a:off x="1353312" y="2395728"/>
            <a:ext cx="5029200" cy="530352"/>
          </a:xfrm>
          <a:prstGeom prst="rect">
            <a:avLst/>
          </a:prstGeom>
          <a:noFill/>
        </p:spPr>
        <p:txBody>
          <a:bodyPr wrap="square" anchor="ctr" lIns="0" rIns="0" tIns="0" bIns="0">
            <a:spAutoFit/>
          </a:bodyPr>
          <a:lstStyle/>
          <a:p>
            <a:pPr algn="l">
              <a:lnSpc>
                <a:spcPct val="106000"/>
              </a:lnSpc>
              <a:spcBef>
                <a:spcPts val="0"/>
              </a:spcBef>
              <a:spcAft>
                <a:spcPts val="0"/>
              </a:spcAft>
            </a:pPr>
            <a:r>
              <a:rPr sz="1200" b="0">
                <a:solidFill>
                  <a:srgbClr val="1A1A1A"/>
                </a:solidFill>
                <a:latin typeface="Red Hat Text"/>
              </a:rPr>
              <a:t>Web console, Topology, developer catalog</a:t>
            </a:r>
          </a:p>
        </p:txBody>
      </p:sp>
      <p:sp>
        <p:nvSpPr>
          <p:cNvPr id="9" name="Rounded Rectangle 8"/>
          <p:cNvSpPr/>
          <p:nvPr/>
        </p:nvSpPr>
        <p:spPr>
          <a:xfrm>
            <a:off x="841248" y="2999232"/>
            <a:ext cx="5715000" cy="530352"/>
          </a:xfrm>
          <a:prstGeom prst="roundRect">
            <a:avLst>
              <a:gd name="adj" fmla="val 6000"/>
            </a:avLst>
          </a:prstGeom>
          <a:solidFill>
            <a:srgbClr val="F5F6F8"/>
          </a:solidFill>
          <a:ln w="12700">
            <a:solidFill>
              <a:srgbClr val="DDE1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0" name="Picture 9" descr="check_steel.png"/>
          <p:cNvPicPr>
            <a:picLocks noChangeAspect="1"/>
          </p:cNvPicPr>
          <p:nvPr/>
        </p:nvPicPr>
        <p:blipFill>
          <a:blip r:embed="rId3"/>
          <a:stretch>
            <a:fillRect/>
          </a:stretch>
        </p:blipFill>
        <p:spPr>
          <a:xfrm>
            <a:off x="987552" y="3145536"/>
            <a:ext cx="237744" cy="237744"/>
          </a:xfrm>
          <a:prstGeom prst="rect">
            <a:avLst/>
          </a:prstGeom>
        </p:spPr>
      </p:pic>
      <p:sp>
        <p:nvSpPr>
          <p:cNvPr id="11" name="TextBox 10"/>
          <p:cNvSpPr txBox="1"/>
          <p:nvPr/>
        </p:nvSpPr>
        <p:spPr>
          <a:xfrm>
            <a:off x="1353312" y="2999232"/>
            <a:ext cx="5029200" cy="530352"/>
          </a:xfrm>
          <a:prstGeom prst="rect">
            <a:avLst/>
          </a:prstGeom>
          <a:noFill/>
        </p:spPr>
        <p:txBody>
          <a:bodyPr wrap="square" anchor="ctr" lIns="0" rIns="0" tIns="0" bIns="0">
            <a:spAutoFit/>
          </a:bodyPr>
          <a:lstStyle/>
          <a:p>
            <a:pPr algn="l">
              <a:lnSpc>
                <a:spcPct val="106000"/>
              </a:lnSpc>
              <a:spcBef>
                <a:spcPts val="0"/>
              </a:spcBef>
              <a:spcAft>
                <a:spcPts val="0"/>
              </a:spcAft>
            </a:pPr>
            <a:r>
              <a:rPr sz="1200" b="0">
                <a:solidFill>
                  <a:srgbClr val="1A1A1A"/>
                </a:solidFill>
                <a:latin typeface="Red Hat Text"/>
              </a:rPr>
              <a:t>Routes: a real URL, built in</a:t>
            </a:r>
          </a:p>
        </p:txBody>
      </p:sp>
      <p:sp>
        <p:nvSpPr>
          <p:cNvPr id="12" name="Rounded Rectangle 11"/>
          <p:cNvSpPr/>
          <p:nvPr/>
        </p:nvSpPr>
        <p:spPr>
          <a:xfrm>
            <a:off x="841248" y="3602736"/>
            <a:ext cx="5715000" cy="530352"/>
          </a:xfrm>
          <a:prstGeom prst="roundRect">
            <a:avLst>
              <a:gd name="adj" fmla="val 6000"/>
            </a:avLst>
          </a:prstGeom>
          <a:solidFill>
            <a:srgbClr val="F5F6F8"/>
          </a:solidFill>
          <a:ln w="12700">
            <a:solidFill>
              <a:srgbClr val="DDE1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3" name="Picture 12" descr="check_steel.png"/>
          <p:cNvPicPr>
            <a:picLocks noChangeAspect="1"/>
          </p:cNvPicPr>
          <p:nvPr/>
        </p:nvPicPr>
        <p:blipFill>
          <a:blip r:embed="rId3"/>
          <a:stretch>
            <a:fillRect/>
          </a:stretch>
        </p:blipFill>
        <p:spPr>
          <a:xfrm>
            <a:off x="987552" y="3749040"/>
            <a:ext cx="237744" cy="237744"/>
          </a:xfrm>
          <a:prstGeom prst="rect">
            <a:avLst/>
          </a:prstGeom>
        </p:spPr>
      </p:pic>
      <p:sp>
        <p:nvSpPr>
          <p:cNvPr id="14" name="TextBox 13"/>
          <p:cNvSpPr txBox="1"/>
          <p:nvPr/>
        </p:nvSpPr>
        <p:spPr>
          <a:xfrm>
            <a:off x="1353312" y="3602736"/>
            <a:ext cx="5029200" cy="530352"/>
          </a:xfrm>
          <a:prstGeom prst="rect">
            <a:avLst/>
          </a:prstGeom>
          <a:noFill/>
        </p:spPr>
        <p:txBody>
          <a:bodyPr wrap="square" anchor="ctr" lIns="0" rIns="0" tIns="0" bIns="0">
            <a:spAutoFit/>
          </a:bodyPr>
          <a:lstStyle/>
          <a:p>
            <a:pPr algn="l">
              <a:lnSpc>
                <a:spcPct val="106000"/>
              </a:lnSpc>
              <a:spcBef>
                <a:spcPts val="0"/>
              </a:spcBef>
              <a:spcAft>
                <a:spcPts val="0"/>
              </a:spcAft>
            </a:pPr>
            <a:r>
              <a:rPr sz="1200" b="0">
                <a:solidFill>
                  <a:srgbClr val="1A1A1A"/>
                </a:solidFill>
                <a:latin typeface="Red Hat Text"/>
              </a:rPr>
              <a:t>Secure by default: non-root, random UID</a:t>
            </a:r>
          </a:p>
        </p:txBody>
      </p:sp>
      <p:sp>
        <p:nvSpPr>
          <p:cNvPr id="15" name="Rounded Rectangle 14"/>
          <p:cNvSpPr/>
          <p:nvPr/>
        </p:nvSpPr>
        <p:spPr>
          <a:xfrm>
            <a:off x="841248" y="4206240"/>
            <a:ext cx="5715000" cy="530352"/>
          </a:xfrm>
          <a:prstGeom prst="roundRect">
            <a:avLst>
              <a:gd name="adj" fmla="val 6000"/>
            </a:avLst>
          </a:prstGeom>
          <a:solidFill>
            <a:srgbClr val="F5F6F8"/>
          </a:solidFill>
          <a:ln w="12700">
            <a:solidFill>
              <a:srgbClr val="DDE1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6" name="Picture 15" descr="check_steel.png"/>
          <p:cNvPicPr>
            <a:picLocks noChangeAspect="1"/>
          </p:cNvPicPr>
          <p:nvPr/>
        </p:nvPicPr>
        <p:blipFill>
          <a:blip r:embed="rId3"/>
          <a:stretch>
            <a:fillRect/>
          </a:stretch>
        </p:blipFill>
        <p:spPr>
          <a:xfrm>
            <a:off x="987552" y="4352544"/>
            <a:ext cx="237744" cy="237744"/>
          </a:xfrm>
          <a:prstGeom prst="rect">
            <a:avLst/>
          </a:prstGeom>
        </p:spPr>
      </p:pic>
      <p:sp>
        <p:nvSpPr>
          <p:cNvPr id="17" name="TextBox 16"/>
          <p:cNvSpPr txBox="1"/>
          <p:nvPr/>
        </p:nvSpPr>
        <p:spPr>
          <a:xfrm>
            <a:off x="1353312" y="4206240"/>
            <a:ext cx="5029200" cy="530352"/>
          </a:xfrm>
          <a:prstGeom prst="rect">
            <a:avLst/>
          </a:prstGeom>
          <a:noFill/>
        </p:spPr>
        <p:txBody>
          <a:bodyPr wrap="square" anchor="ctr" lIns="0" rIns="0" tIns="0" bIns="0">
            <a:spAutoFit/>
          </a:bodyPr>
          <a:lstStyle/>
          <a:p>
            <a:pPr algn="l">
              <a:lnSpc>
                <a:spcPct val="106000"/>
              </a:lnSpc>
              <a:spcBef>
                <a:spcPts val="0"/>
              </a:spcBef>
              <a:spcAft>
                <a:spcPts val="0"/>
              </a:spcAft>
            </a:pPr>
            <a:r>
              <a:rPr sz="1200" b="0">
                <a:solidFill>
                  <a:srgbClr val="1A1A1A"/>
                </a:solidFill>
                <a:latin typeface="Red Hat Text"/>
              </a:rPr>
              <a:t>Build to run to operate, one platform</a:t>
            </a:r>
          </a:p>
        </p:txBody>
      </p:sp>
      <p:sp>
        <p:nvSpPr>
          <p:cNvPr id="18" name="Rounded Rectangle 17"/>
          <p:cNvSpPr/>
          <p:nvPr/>
        </p:nvSpPr>
        <p:spPr>
          <a:xfrm>
            <a:off x="841248" y="4809744"/>
            <a:ext cx="5715000" cy="530352"/>
          </a:xfrm>
          <a:prstGeom prst="roundRect">
            <a:avLst>
              <a:gd name="adj" fmla="val 6000"/>
            </a:avLst>
          </a:prstGeom>
          <a:solidFill>
            <a:srgbClr val="F5F6F8"/>
          </a:solidFill>
          <a:ln w="12700">
            <a:solidFill>
              <a:srgbClr val="DDE1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9" name="Picture 18" descr="check_steel.png"/>
          <p:cNvPicPr>
            <a:picLocks noChangeAspect="1"/>
          </p:cNvPicPr>
          <p:nvPr/>
        </p:nvPicPr>
        <p:blipFill>
          <a:blip r:embed="rId3"/>
          <a:stretch>
            <a:fillRect/>
          </a:stretch>
        </p:blipFill>
        <p:spPr>
          <a:xfrm>
            <a:off x="987552" y="4956048"/>
            <a:ext cx="237744" cy="237744"/>
          </a:xfrm>
          <a:prstGeom prst="rect">
            <a:avLst/>
          </a:prstGeom>
        </p:spPr>
      </p:pic>
      <p:sp>
        <p:nvSpPr>
          <p:cNvPr id="20" name="TextBox 19"/>
          <p:cNvSpPr txBox="1"/>
          <p:nvPr/>
        </p:nvSpPr>
        <p:spPr>
          <a:xfrm>
            <a:off x="1353312" y="4809744"/>
            <a:ext cx="5029200" cy="530352"/>
          </a:xfrm>
          <a:prstGeom prst="rect">
            <a:avLst/>
          </a:prstGeom>
          <a:noFill/>
        </p:spPr>
        <p:txBody>
          <a:bodyPr wrap="square" anchor="ctr" lIns="0" rIns="0" tIns="0" bIns="0">
            <a:spAutoFit/>
          </a:bodyPr>
          <a:lstStyle/>
          <a:p>
            <a:pPr algn="l">
              <a:lnSpc>
                <a:spcPct val="106000"/>
              </a:lnSpc>
              <a:spcBef>
                <a:spcPts val="0"/>
              </a:spcBef>
              <a:spcAft>
                <a:spcPts val="0"/>
              </a:spcAft>
            </a:pPr>
            <a:r>
              <a:rPr sz="1200" b="0">
                <a:solidFill>
                  <a:srgbClr val="1A1A1A"/>
                </a:solidFill>
                <a:latin typeface="Red Hat Text"/>
              </a:rPr>
              <a:t>Kubernetes is the engine; OpenShift the car</a:t>
            </a:r>
          </a:p>
        </p:txBody>
      </p:sp>
      <p:sp>
        <p:nvSpPr>
          <p:cNvPr id="21" name="Rounded Rectangle 20"/>
          <p:cNvSpPr/>
          <p:nvPr/>
        </p:nvSpPr>
        <p:spPr>
          <a:xfrm>
            <a:off x="6812280" y="2395728"/>
            <a:ext cx="4538167" cy="2944368"/>
          </a:xfrm>
          <a:prstGeom prst="roundRect">
            <a:avLst>
              <a:gd name="adj" fmla="val 4000"/>
            </a:avLst>
          </a:prstGeom>
          <a:solidFill>
            <a:srgbClr val="FFFFFF"/>
          </a:solidFill>
          <a:ln w="15240">
            <a:solidFill>
              <a:srgbClr val="DDE1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ounded Rectangle 21"/>
          <p:cNvSpPr/>
          <p:nvPr/>
        </p:nvSpPr>
        <p:spPr>
          <a:xfrm>
            <a:off x="7013448" y="2596896"/>
            <a:ext cx="1298448" cy="310896"/>
          </a:xfrm>
          <a:prstGeom prst="roundRect">
            <a:avLst>
              <a:gd name="adj" fmla="val 50000"/>
            </a:avLst>
          </a:prstGeom>
          <a:solidFill>
            <a:srgbClr val="FCEC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7013448" y="2596896"/>
            <a:ext cx="1298448" cy="310896"/>
          </a:xfrm>
          <a:prstGeom prst="rect">
            <a:avLst/>
          </a:prstGeom>
          <a:noFill/>
        </p:spPr>
        <p:txBody>
          <a:bodyPr wrap="none" anchor="ctr" lIns="0" rIns="0" tIns="0" bIns="0">
            <a:spAutoFit/>
          </a:bodyPr>
          <a:lstStyle/>
          <a:p>
            <a:pPr algn="ctr">
              <a:lnSpc>
                <a:spcPct val="106000"/>
              </a:lnSpc>
              <a:spcBef>
                <a:spcPts val="0"/>
              </a:spcBef>
              <a:spcAft>
                <a:spcPts val="0"/>
              </a:spcAft>
            </a:pPr>
            <a:r>
              <a:rPr sz="850" b="1">
                <a:solidFill>
                  <a:srgbClr val="B80000"/>
                </a:solidFill>
                <a:latin typeface="Red Hat Display"/>
              </a:rPr>
              <a:t>MEDIA PASS</a:t>
            </a:r>
          </a:p>
        </p:txBody>
      </p:sp>
      <p:pic>
        <p:nvPicPr>
          <p:cNvPr id="24" name="Picture 23" descr="eye_slate.png"/>
          <p:cNvPicPr>
            <a:picLocks noChangeAspect="1"/>
          </p:cNvPicPr>
          <p:nvPr/>
        </p:nvPicPr>
        <p:blipFill>
          <a:blip r:embed="rId4"/>
          <a:stretch>
            <a:fillRect/>
          </a:stretch>
        </p:blipFill>
        <p:spPr>
          <a:xfrm>
            <a:off x="8843619" y="3108960"/>
            <a:ext cx="475488" cy="475488"/>
          </a:xfrm>
          <a:prstGeom prst="rect">
            <a:avLst/>
          </a:prstGeom>
        </p:spPr>
      </p:pic>
      <p:sp>
        <p:nvSpPr>
          <p:cNvPr id="25" name="TextBox 24"/>
          <p:cNvSpPr txBox="1"/>
          <p:nvPr/>
        </p:nvSpPr>
        <p:spPr>
          <a:xfrm>
            <a:off x="7050024" y="3721608"/>
            <a:ext cx="4062679" cy="1481328"/>
          </a:xfrm>
          <a:prstGeom prst="rect">
            <a:avLst/>
          </a:prstGeom>
          <a:noFill/>
        </p:spPr>
        <p:txBody>
          <a:bodyPr wrap="square" anchor="t" lIns="0" rIns="0" tIns="0" bIns="0">
            <a:spAutoFit/>
          </a:bodyPr>
          <a:lstStyle/>
          <a:p>
            <a:pPr algn="l">
              <a:lnSpc>
                <a:spcPct val="120000"/>
              </a:lnSpc>
              <a:spcBef>
                <a:spcPts val="0"/>
              </a:spcBef>
              <a:spcAft>
                <a:spcPts val="0"/>
              </a:spcAft>
            </a:pPr>
            <a:r>
              <a:rPr sz="950" b="0">
                <a:solidFill>
                  <a:srgbClr val="8A9099"/>
                </a:solidFill>
                <a:latin typeface="Red Hat Text"/>
              </a:rPr>
              <a:t>The platform-accretion master diagram platform-orientation-...-02-platform-accretion-v1.svg with the Platform Orientation layer highlighted in red.</a:t>
            </a:r>
          </a:p>
        </p:txBody>
      </p:sp>
      <p:cxnSp>
        <p:nvCxnSpPr>
          <p:cNvPr id="26" name="Connector 25"/>
          <p:cNvCxnSpPr/>
          <p:nvPr/>
        </p:nvCxnSpPr>
        <p:spPr>
          <a:xfrm>
            <a:off x="841248" y="6437376"/>
            <a:ext cx="10509199" cy="0"/>
          </a:xfrm>
          <a:prstGeom prst="bentConnector3">
            <a:avLst/>
          </a:prstGeom>
          <a:ln w="12700">
            <a:solidFill>
              <a:srgbClr val="DDE1E6"/>
            </a:solidFill>
          </a:ln>
          <a:effectLst/>
        </p:spPr>
        <p:style>
          <a:lnRef idx="2">
            <a:schemeClr val="accent1"/>
          </a:lnRef>
          <a:fillRef idx="0">
            <a:schemeClr val="accent1"/>
          </a:fillRef>
          <a:effectRef idx="1">
            <a:schemeClr val="accent1"/>
          </a:effectRef>
          <a:fontRef idx="minor">
            <a:schemeClr val="tx1"/>
          </a:fontRef>
        </p:style>
      </p:cxnSp>
      <p:sp>
        <p:nvSpPr>
          <p:cNvPr id="27" name="TextBox 26"/>
          <p:cNvSpPr txBox="1"/>
          <p:nvPr/>
        </p:nvSpPr>
        <p:spPr>
          <a:xfrm>
            <a:off x="841248" y="6473952"/>
            <a:ext cx="7315200" cy="274320"/>
          </a:xfrm>
          <a:prstGeom prst="rect">
            <a:avLst/>
          </a:prstGeom>
          <a:noFill/>
        </p:spPr>
        <p:txBody>
          <a:bodyPr wrap="square" anchor="t" lIns="0" rIns="0" tIns="0" bIns="0">
            <a:spAutoFit/>
          </a:bodyPr>
          <a:lstStyle/>
          <a:p>
            <a:pPr algn="l">
              <a:lnSpc>
                <a:spcPct val="106000"/>
              </a:lnSpc>
              <a:spcBef>
                <a:spcPts val="0"/>
              </a:spcBef>
              <a:spcAft>
                <a:spcPts val="0"/>
              </a:spcAft>
            </a:pPr>
            <a:r>
              <a:rPr sz="950" b="0">
                <a:solidFill>
                  <a:srgbClr val="8A9099"/>
                </a:solidFill>
                <a:latin typeface="Red Hat Text"/>
              </a:rPr>
              <a:t>CONFIDENTIAL</a:t>
            </a:r>
          </a:p>
        </p:txBody>
      </p:sp>
      <p:sp>
        <p:nvSpPr>
          <p:cNvPr id="28" name="TextBox 27"/>
          <p:cNvSpPr txBox="1"/>
          <p:nvPr/>
        </p:nvSpPr>
        <p:spPr>
          <a:xfrm>
            <a:off x="10801807" y="6473952"/>
            <a:ext cx="548640" cy="274320"/>
          </a:xfrm>
          <a:prstGeom prst="rect">
            <a:avLst/>
          </a:prstGeom>
          <a:noFill/>
        </p:spPr>
        <p:txBody>
          <a:bodyPr wrap="square" anchor="t" lIns="0" rIns="0" tIns="0" bIns="0">
            <a:spAutoFit/>
          </a:bodyPr>
          <a:lstStyle/>
          <a:p>
            <a:pPr algn="r">
              <a:lnSpc>
                <a:spcPct val="106000"/>
              </a:lnSpc>
              <a:spcBef>
                <a:spcPts val="0"/>
              </a:spcBef>
              <a:spcAft>
                <a:spcPts val="0"/>
              </a:spcAft>
            </a:pPr>
            <a:r>
              <a:rPr sz="950" b="0">
                <a:solidFill>
                  <a:srgbClr val="8A9099"/>
                </a:solidFill>
                <a:latin typeface="Red Hat Text"/>
              </a:rPr>
              <a:t>3</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redhat_logo.jpg"/>
          <p:cNvPicPr>
            <a:picLocks noChangeAspect="1"/>
          </p:cNvPicPr>
          <p:nvPr/>
        </p:nvPicPr>
        <p:blipFill>
          <a:blip r:embed="rId2"/>
          <a:stretch>
            <a:fillRect/>
          </a:stretch>
        </p:blipFill>
        <p:spPr>
          <a:xfrm>
            <a:off x="10326319" y="475488"/>
            <a:ext cx="1024128" cy="242248"/>
          </a:xfrm>
          <a:prstGeom prst="rect">
            <a:avLst/>
          </a:prstGeom>
        </p:spPr>
      </p:pic>
      <p:sp>
        <p:nvSpPr>
          <p:cNvPr id="3" name="TextBox 2"/>
          <p:cNvSpPr txBox="1"/>
          <p:nvPr/>
        </p:nvSpPr>
        <p:spPr>
          <a:xfrm>
            <a:off x="841248" y="548640"/>
            <a:ext cx="8595360" cy="274320"/>
          </a:xfrm>
          <a:prstGeom prst="rect">
            <a:avLst/>
          </a:prstGeom>
          <a:noFill/>
        </p:spPr>
        <p:txBody>
          <a:bodyPr wrap="square" anchor="t" lIns="0" rIns="0" tIns="0" bIns="0">
            <a:spAutoFit/>
          </a:bodyPr>
          <a:lstStyle/>
          <a:p>
            <a:pPr algn="l">
              <a:lnSpc>
                <a:spcPct val="106000"/>
              </a:lnSpc>
              <a:spcBef>
                <a:spcPts val="0"/>
              </a:spcBef>
              <a:spcAft>
                <a:spcPts val="0"/>
              </a:spcAft>
            </a:pPr>
            <a:r>
              <a:rPr sz="1250" b="1" spc="220">
                <a:solidFill>
                  <a:srgbClr val="EE0000"/>
                </a:solidFill>
                <a:latin typeface="Red Hat Display"/>
              </a:rPr>
              <a:t>M01 · PLATFORM ORIENTATION &amp; FIRST APP</a:t>
            </a:r>
          </a:p>
        </p:txBody>
      </p:sp>
      <p:sp>
        <p:nvSpPr>
          <p:cNvPr id="4" name="TextBox 3"/>
          <p:cNvSpPr txBox="1"/>
          <p:nvPr/>
        </p:nvSpPr>
        <p:spPr>
          <a:xfrm>
            <a:off x="841248" y="877824"/>
            <a:ext cx="10515600" cy="548640"/>
          </a:xfrm>
          <a:prstGeom prst="rect">
            <a:avLst/>
          </a:prstGeom>
          <a:noFill/>
        </p:spPr>
        <p:txBody>
          <a:bodyPr wrap="none" anchor="t" lIns="0" rIns="0" tIns="0" bIns="0">
            <a:spAutoFit/>
          </a:bodyPr>
          <a:lstStyle/>
          <a:p>
            <a:pPr algn="l">
              <a:lnSpc>
                <a:spcPct val="100000"/>
              </a:lnSpc>
              <a:spcBef>
                <a:spcPts val="0"/>
              </a:spcBef>
              <a:spcAft>
                <a:spcPts val="0"/>
              </a:spcAft>
            </a:pPr>
            <a:r>
              <a:rPr sz="2500" b="1">
                <a:solidFill>
                  <a:srgbClr val="1A1A1A"/>
                </a:solidFill>
                <a:latin typeface="Red Hat Display"/>
              </a:rPr>
              <a:t>Self-healing, live</a:t>
            </a:r>
          </a:p>
        </p:txBody>
      </p:sp>
      <p:cxnSp>
        <p:nvCxnSpPr>
          <p:cNvPr id="5" name="Connector 4"/>
          <p:cNvCxnSpPr/>
          <p:nvPr/>
        </p:nvCxnSpPr>
        <p:spPr>
          <a:xfrm>
            <a:off x="841248" y="1554480"/>
            <a:ext cx="1371600" cy="0"/>
          </a:xfrm>
          <a:prstGeom prst="bentConnector3">
            <a:avLst/>
          </a:prstGeom>
          <a:ln w="31750">
            <a:solidFill>
              <a:srgbClr val="EE0000"/>
            </a:solidFill>
          </a:ln>
          <a:effectLst/>
        </p:spPr>
        <p:style>
          <a:lnRef idx="2">
            <a:schemeClr val="accent1"/>
          </a:lnRef>
          <a:fillRef idx="0">
            <a:schemeClr val="accent1"/>
          </a:fillRef>
          <a:effectRef idx="1">
            <a:schemeClr val="accent1"/>
          </a:effectRef>
          <a:fontRef idx="minor">
            <a:schemeClr val="tx1"/>
          </a:fontRef>
        </p:style>
      </p:cxnSp>
      <p:sp>
        <p:nvSpPr>
          <p:cNvPr id="6" name="Rounded Rectangle 5"/>
          <p:cNvSpPr/>
          <p:nvPr/>
        </p:nvSpPr>
        <p:spPr>
          <a:xfrm>
            <a:off x="841248" y="2395728"/>
            <a:ext cx="5715000" cy="530352"/>
          </a:xfrm>
          <a:prstGeom prst="roundRect">
            <a:avLst>
              <a:gd name="adj" fmla="val 6000"/>
            </a:avLst>
          </a:prstGeom>
          <a:solidFill>
            <a:srgbClr val="F5F6F8"/>
          </a:solidFill>
          <a:ln w="12700">
            <a:solidFill>
              <a:srgbClr val="DDE1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check_steel.png"/>
          <p:cNvPicPr>
            <a:picLocks noChangeAspect="1"/>
          </p:cNvPicPr>
          <p:nvPr/>
        </p:nvPicPr>
        <p:blipFill>
          <a:blip r:embed="rId3"/>
          <a:stretch>
            <a:fillRect/>
          </a:stretch>
        </p:blipFill>
        <p:spPr>
          <a:xfrm>
            <a:off x="987552" y="2542032"/>
            <a:ext cx="237744" cy="237744"/>
          </a:xfrm>
          <a:prstGeom prst="rect">
            <a:avLst/>
          </a:prstGeom>
        </p:spPr>
      </p:pic>
      <p:sp>
        <p:nvSpPr>
          <p:cNvPr id="8" name="TextBox 7"/>
          <p:cNvSpPr txBox="1"/>
          <p:nvPr/>
        </p:nvSpPr>
        <p:spPr>
          <a:xfrm>
            <a:off x="1353312" y="2395728"/>
            <a:ext cx="5029200" cy="530352"/>
          </a:xfrm>
          <a:prstGeom prst="rect">
            <a:avLst/>
          </a:prstGeom>
          <a:noFill/>
        </p:spPr>
        <p:txBody>
          <a:bodyPr wrap="square" anchor="ctr" lIns="0" rIns="0" tIns="0" bIns="0">
            <a:spAutoFit/>
          </a:bodyPr>
          <a:lstStyle/>
          <a:p>
            <a:pPr algn="l">
              <a:lnSpc>
                <a:spcPct val="106000"/>
              </a:lnSpc>
              <a:spcBef>
                <a:spcPts val="0"/>
              </a:spcBef>
              <a:spcAft>
                <a:spcPts val="0"/>
              </a:spcAft>
            </a:pPr>
            <a:r>
              <a:rPr sz="1200" b="0">
                <a:solidFill>
                  <a:srgbClr val="1A1A1A"/>
                </a:solidFill>
                <a:latin typeface="Red Hat Text"/>
              </a:rPr>
              <a:t>Three replicas, three worker nodes</a:t>
            </a:r>
          </a:p>
        </p:txBody>
      </p:sp>
      <p:sp>
        <p:nvSpPr>
          <p:cNvPr id="9" name="Rounded Rectangle 8"/>
          <p:cNvSpPr/>
          <p:nvPr/>
        </p:nvSpPr>
        <p:spPr>
          <a:xfrm>
            <a:off x="841248" y="2999232"/>
            <a:ext cx="5715000" cy="530352"/>
          </a:xfrm>
          <a:prstGeom prst="roundRect">
            <a:avLst>
              <a:gd name="adj" fmla="val 6000"/>
            </a:avLst>
          </a:prstGeom>
          <a:solidFill>
            <a:srgbClr val="F5F6F8"/>
          </a:solidFill>
          <a:ln w="12700">
            <a:solidFill>
              <a:srgbClr val="DDE1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0" name="Picture 9" descr="check_steel.png"/>
          <p:cNvPicPr>
            <a:picLocks noChangeAspect="1"/>
          </p:cNvPicPr>
          <p:nvPr/>
        </p:nvPicPr>
        <p:blipFill>
          <a:blip r:embed="rId3"/>
          <a:stretch>
            <a:fillRect/>
          </a:stretch>
        </p:blipFill>
        <p:spPr>
          <a:xfrm>
            <a:off x="987552" y="3145536"/>
            <a:ext cx="237744" cy="237744"/>
          </a:xfrm>
          <a:prstGeom prst="rect">
            <a:avLst/>
          </a:prstGeom>
        </p:spPr>
      </p:pic>
      <p:sp>
        <p:nvSpPr>
          <p:cNvPr id="11" name="TextBox 10"/>
          <p:cNvSpPr txBox="1"/>
          <p:nvPr/>
        </p:nvSpPr>
        <p:spPr>
          <a:xfrm>
            <a:off x="1353312" y="2999232"/>
            <a:ext cx="5029200" cy="530352"/>
          </a:xfrm>
          <a:prstGeom prst="rect">
            <a:avLst/>
          </a:prstGeom>
          <a:noFill/>
        </p:spPr>
        <p:txBody>
          <a:bodyPr wrap="square" anchor="ctr" lIns="0" rIns="0" tIns="0" bIns="0">
            <a:spAutoFit/>
          </a:bodyPr>
          <a:lstStyle/>
          <a:p>
            <a:pPr algn="l">
              <a:lnSpc>
                <a:spcPct val="106000"/>
              </a:lnSpc>
              <a:spcBef>
                <a:spcPts val="0"/>
              </a:spcBef>
              <a:spcAft>
                <a:spcPts val="0"/>
              </a:spcAft>
            </a:pPr>
            <a:r>
              <a:rPr sz="1200" b="0">
                <a:solidFill>
                  <a:srgbClr val="1A1A1A"/>
                </a:solidFill>
                <a:latin typeface="Red Hat Text"/>
              </a:rPr>
              <a:t>Kill one Pod on purpose</a:t>
            </a:r>
          </a:p>
        </p:txBody>
      </p:sp>
      <p:sp>
        <p:nvSpPr>
          <p:cNvPr id="12" name="Rounded Rectangle 11"/>
          <p:cNvSpPr/>
          <p:nvPr/>
        </p:nvSpPr>
        <p:spPr>
          <a:xfrm>
            <a:off x="841248" y="3602736"/>
            <a:ext cx="5715000" cy="530352"/>
          </a:xfrm>
          <a:prstGeom prst="roundRect">
            <a:avLst>
              <a:gd name="adj" fmla="val 6000"/>
            </a:avLst>
          </a:prstGeom>
          <a:solidFill>
            <a:srgbClr val="F5F6F8"/>
          </a:solidFill>
          <a:ln w="12700">
            <a:solidFill>
              <a:srgbClr val="DDE1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3" name="Picture 12" descr="check_steel.png"/>
          <p:cNvPicPr>
            <a:picLocks noChangeAspect="1"/>
          </p:cNvPicPr>
          <p:nvPr/>
        </p:nvPicPr>
        <p:blipFill>
          <a:blip r:embed="rId3"/>
          <a:stretch>
            <a:fillRect/>
          </a:stretch>
        </p:blipFill>
        <p:spPr>
          <a:xfrm>
            <a:off x="987552" y="3749040"/>
            <a:ext cx="237744" cy="237744"/>
          </a:xfrm>
          <a:prstGeom prst="rect">
            <a:avLst/>
          </a:prstGeom>
        </p:spPr>
      </p:pic>
      <p:sp>
        <p:nvSpPr>
          <p:cNvPr id="14" name="TextBox 13"/>
          <p:cNvSpPr txBox="1"/>
          <p:nvPr/>
        </p:nvSpPr>
        <p:spPr>
          <a:xfrm>
            <a:off x="1353312" y="3602736"/>
            <a:ext cx="5029200" cy="530352"/>
          </a:xfrm>
          <a:prstGeom prst="rect">
            <a:avLst/>
          </a:prstGeom>
          <a:noFill/>
        </p:spPr>
        <p:txBody>
          <a:bodyPr wrap="square" anchor="ctr" lIns="0" rIns="0" tIns="0" bIns="0">
            <a:spAutoFit/>
          </a:bodyPr>
          <a:lstStyle/>
          <a:p>
            <a:pPr algn="l">
              <a:lnSpc>
                <a:spcPct val="106000"/>
              </a:lnSpc>
              <a:spcBef>
                <a:spcPts val="0"/>
              </a:spcBef>
              <a:spcAft>
                <a:spcPts val="0"/>
              </a:spcAft>
            </a:pPr>
            <a:r>
              <a:rPr sz="1200" b="0">
                <a:solidFill>
                  <a:srgbClr val="1A1A1A"/>
                </a:solidFill>
                <a:latin typeface="Red Hat Text"/>
              </a:rPr>
              <a:t>ReplicaSet: SuccessfulCreate, in seconds</a:t>
            </a:r>
          </a:p>
        </p:txBody>
      </p:sp>
      <p:sp>
        <p:nvSpPr>
          <p:cNvPr id="15" name="Rounded Rectangle 14"/>
          <p:cNvSpPr/>
          <p:nvPr/>
        </p:nvSpPr>
        <p:spPr>
          <a:xfrm>
            <a:off x="841248" y="4206240"/>
            <a:ext cx="5715000" cy="530352"/>
          </a:xfrm>
          <a:prstGeom prst="roundRect">
            <a:avLst>
              <a:gd name="adj" fmla="val 6000"/>
            </a:avLst>
          </a:prstGeom>
          <a:solidFill>
            <a:srgbClr val="F5F6F8"/>
          </a:solidFill>
          <a:ln w="12700">
            <a:solidFill>
              <a:srgbClr val="DDE1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6" name="Picture 15" descr="check_steel.png"/>
          <p:cNvPicPr>
            <a:picLocks noChangeAspect="1"/>
          </p:cNvPicPr>
          <p:nvPr/>
        </p:nvPicPr>
        <p:blipFill>
          <a:blip r:embed="rId3"/>
          <a:stretch>
            <a:fillRect/>
          </a:stretch>
        </p:blipFill>
        <p:spPr>
          <a:xfrm>
            <a:off x="987552" y="4352544"/>
            <a:ext cx="237744" cy="237744"/>
          </a:xfrm>
          <a:prstGeom prst="rect">
            <a:avLst/>
          </a:prstGeom>
        </p:spPr>
      </p:pic>
      <p:sp>
        <p:nvSpPr>
          <p:cNvPr id="17" name="TextBox 16"/>
          <p:cNvSpPr txBox="1"/>
          <p:nvPr/>
        </p:nvSpPr>
        <p:spPr>
          <a:xfrm>
            <a:off x="1353312" y="4206240"/>
            <a:ext cx="5029200" cy="530352"/>
          </a:xfrm>
          <a:prstGeom prst="rect">
            <a:avLst/>
          </a:prstGeom>
          <a:noFill/>
        </p:spPr>
        <p:txBody>
          <a:bodyPr wrap="square" anchor="ctr" lIns="0" rIns="0" tIns="0" bIns="0">
            <a:spAutoFit/>
          </a:bodyPr>
          <a:lstStyle/>
          <a:p>
            <a:pPr algn="l">
              <a:lnSpc>
                <a:spcPct val="106000"/>
              </a:lnSpc>
              <a:spcBef>
                <a:spcPts val="0"/>
              </a:spcBef>
              <a:spcAft>
                <a:spcPts val="0"/>
              </a:spcAft>
            </a:pPr>
            <a:r>
              <a:rPr sz="1200" b="0">
                <a:solidFill>
                  <a:srgbClr val="1A1A1A"/>
                </a:solidFill>
                <a:latin typeface="Red Hat Text"/>
              </a:rPr>
              <a:t>Service never stopped serving</a:t>
            </a:r>
          </a:p>
        </p:txBody>
      </p:sp>
      <p:sp>
        <p:nvSpPr>
          <p:cNvPr id="18" name="Rounded Rectangle 17"/>
          <p:cNvSpPr/>
          <p:nvPr/>
        </p:nvSpPr>
        <p:spPr>
          <a:xfrm>
            <a:off x="841248" y="4809744"/>
            <a:ext cx="5715000" cy="530352"/>
          </a:xfrm>
          <a:prstGeom prst="roundRect">
            <a:avLst>
              <a:gd name="adj" fmla="val 6000"/>
            </a:avLst>
          </a:prstGeom>
          <a:solidFill>
            <a:srgbClr val="F5F6F8"/>
          </a:solidFill>
          <a:ln w="12700">
            <a:solidFill>
              <a:srgbClr val="DDE1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9" name="Picture 18" descr="check_steel.png"/>
          <p:cNvPicPr>
            <a:picLocks noChangeAspect="1"/>
          </p:cNvPicPr>
          <p:nvPr/>
        </p:nvPicPr>
        <p:blipFill>
          <a:blip r:embed="rId3"/>
          <a:stretch>
            <a:fillRect/>
          </a:stretch>
        </p:blipFill>
        <p:spPr>
          <a:xfrm>
            <a:off x="987552" y="4956048"/>
            <a:ext cx="237744" cy="237744"/>
          </a:xfrm>
          <a:prstGeom prst="rect">
            <a:avLst/>
          </a:prstGeom>
        </p:spPr>
      </p:pic>
      <p:sp>
        <p:nvSpPr>
          <p:cNvPr id="20" name="TextBox 19"/>
          <p:cNvSpPr txBox="1"/>
          <p:nvPr/>
        </p:nvSpPr>
        <p:spPr>
          <a:xfrm>
            <a:off x="1353312" y="4809744"/>
            <a:ext cx="5029200" cy="530352"/>
          </a:xfrm>
          <a:prstGeom prst="rect">
            <a:avLst/>
          </a:prstGeom>
          <a:noFill/>
        </p:spPr>
        <p:txBody>
          <a:bodyPr wrap="square" anchor="ctr" lIns="0" rIns="0" tIns="0" bIns="0">
            <a:spAutoFit/>
          </a:bodyPr>
          <a:lstStyle/>
          <a:p>
            <a:pPr algn="l">
              <a:lnSpc>
                <a:spcPct val="106000"/>
              </a:lnSpc>
              <a:spcBef>
                <a:spcPts val="0"/>
              </a:spcBef>
              <a:spcAft>
                <a:spcPts val="0"/>
              </a:spcAft>
            </a:pPr>
            <a:r>
              <a:rPr sz="1200" b="0">
                <a:solidFill>
                  <a:srgbClr val="1A1A1A"/>
                </a:solidFill>
                <a:latin typeface="Red Hat Text"/>
              </a:rPr>
              <a:t>Cattle, not pets</a:t>
            </a:r>
          </a:p>
        </p:txBody>
      </p:sp>
      <p:sp>
        <p:nvSpPr>
          <p:cNvPr id="21" name="Rounded Rectangle 20"/>
          <p:cNvSpPr/>
          <p:nvPr/>
        </p:nvSpPr>
        <p:spPr>
          <a:xfrm>
            <a:off x="6812280" y="2395728"/>
            <a:ext cx="4538167" cy="2944368"/>
          </a:xfrm>
          <a:prstGeom prst="roundRect">
            <a:avLst>
              <a:gd name="adj" fmla="val 4000"/>
            </a:avLst>
          </a:prstGeom>
          <a:solidFill>
            <a:srgbClr val="FFFFFF"/>
          </a:solidFill>
          <a:ln w="15240">
            <a:solidFill>
              <a:srgbClr val="DDE1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ounded Rectangle 21"/>
          <p:cNvSpPr/>
          <p:nvPr/>
        </p:nvSpPr>
        <p:spPr>
          <a:xfrm>
            <a:off x="7013448" y="2596896"/>
            <a:ext cx="1298448" cy="310896"/>
          </a:xfrm>
          <a:prstGeom prst="roundRect">
            <a:avLst>
              <a:gd name="adj" fmla="val 50000"/>
            </a:avLst>
          </a:prstGeom>
          <a:solidFill>
            <a:srgbClr val="FCEC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7013448" y="2596896"/>
            <a:ext cx="1298448" cy="310896"/>
          </a:xfrm>
          <a:prstGeom prst="rect">
            <a:avLst/>
          </a:prstGeom>
          <a:noFill/>
        </p:spPr>
        <p:txBody>
          <a:bodyPr wrap="none" anchor="ctr" lIns="0" rIns="0" tIns="0" bIns="0">
            <a:spAutoFit/>
          </a:bodyPr>
          <a:lstStyle/>
          <a:p>
            <a:pPr algn="ctr">
              <a:lnSpc>
                <a:spcPct val="106000"/>
              </a:lnSpc>
              <a:spcBef>
                <a:spcPts val="0"/>
              </a:spcBef>
              <a:spcAft>
                <a:spcPts val="0"/>
              </a:spcAft>
            </a:pPr>
            <a:r>
              <a:rPr sz="850" b="1">
                <a:solidFill>
                  <a:srgbClr val="B80000"/>
                </a:solidFill>
                <a:latin typeface="Red Hat Display"/>
              </a:rPr>
              <a:t>MEDIA PASS</a:t>
            </a:r>
          </a:p>
        </p:txBody>
      </p:sp>
      <p:pic>
        <p:nvPicPr>
          <p:cNvPr id="24" name="Picture 23" descr="eye_slate.png"/>
          <p:cNvPicPr>
            <a:picLocks noChangeAspect="1"/>
          </p:cNvPicPr>
          <p:nvPr/>
        </p:nvPicPr>
        <p:blipFill>
          <a:blip r:embed="rId4"/>
          <a:stretch>
            <a:fillRect/>
          </a:stretch>
        </p:blipFill>
        <p:spPr>
          <a:xfrm>
            <a:off x="8843619" y="3108960"/>
            <a:ext cx="475488" cy="475488"/>
          </a:xfrm>
          <a:prstGeom prst="rect">
            <a:avLst/>
          </a:prstGeom>
        </p:spPr>
      </p:pic>
      <p:sp>
        <p:nvSpPr>
          <p:cNvPr id="25" name="TextBox 24"/>
          <p:cNvSpPr txBox="1"/>
          <p:nvPr/>
        </p:nvSpPr>
        <p:spPr>
          <a:xfrm>
            <a:off x="7050024" y="3721608"/>
            <a:ext cx="4062679" cy="1481328"/>
          </a:xfrm>
          <a:prstGeom prst="rect">
            <a:avLst/>
          </a:prstGeom>
          <a:noFill/>
        </p:spPr>
        <p:txBody>
          <a:bodyPr wrap="square" anchor="t" lIns="0" rIns="0" tIns="0" bIns="0">
            <a:spAutoFit/>
          </a:bodyPr>
          <a:lstStyle/>
          <a:p>
            <a:pPr algn="l">
              <a:lnSpc>
                <a:spcPct val="120000"/>
              </a:lnSpc>
              <a:spcBef>
                <a:spcPts val="0"/>
              </a:spcBef>
              <a:spcAft>
                <a:spcPts val="0"/>
              </a:spcAft>
            </a:pPr>
            <a:r>
              <a:rPr sz="950" b="0">
                <a:solidFill>
                  <a:srgbClr val="8A9099"/>
                </a:solidFill>
                <a:latin typeface="Red Hat Text"/>
              </a:rPr>
              <a:t>Screen-capture still or GIF platform-orientation-...-selfheal — Topology donut losing and regaining a segment.</a:t>
            </a:r>
          </a:p>
        </p:txBody>
      </p:sp>
      <p:cxnSp>
        <p:nvCxnSpPr>
          <p:cNvPr id="26" name="Connector 25"/>
          <p:cNvCxnSpPr/>
          <p:nvPr/>
        </p:nvCxnSpPr>
        <p:spPr>
          <a:xfrm>
            <a:off x="841248" y="6437376"/>
            <a:ext cx="10509199" cy="0"/>
          </a:xfrm>
          <a:prstGeom prst="bentConnector3">
            <a:avLst/>
          </a:prstGeom>
          <a:ln w="12700">
            <a:solidFill>
              <a:srgbClr val="DDE1E6"/>
            </a:solidFill>
          </a:ln>
          <a:effectLst/>
        </p:spPr>
        <p:style>
          <a:lnRef idx="2">
            <a:schemeClr val="accent1"/>
          </a:lnRef>
          <a:fillRef idx="0">
            <a:schemeClr val="accent1"/>
          </a:fillRef>
          <a:effectRef idx="1">
            <a:schemeClr val="accent1"/>
          </a:effectRef>
          <a:fontRef idx="minor">
            <a:schemeClr val="tx1"/>
          </a:fontRef>
        </p:style>
      </p:cxnSp>
      <p:sp>
        <p:nvSpPr>
          <p:cNvPr id="27" name="TextBox 26"/>
          <p:cNvSpPr txBox="1"/>
          <p:nvPr/>
        </p:nvSpPr>
        <p:spPr>
          <a:xfrm>
            <a:off x="841248" y="6473952"/>
            <a:ext cx="7315200" cy="274320"/>
          </a:xfrm>
          <a:prstGeom prst="rect">
            <a:avLst/>
          </a:prstGeom>
          <a:noFill/>
        </p:spPr>
        <p:txBody>
          <a:bodyPr wrap="square" anchor="t" lIns="0" rIns="0" tIns="0" bIns="0">
            <a:spAutoFit/>
          </a:bodyPr>
          <a:lstStyle/>
          <a:p>
            <a:pPr algn="l">
              <a:lnSpc>
                <a:spcPct val="106000"/>
              </a:lnSpc>
              <a:spcBef>
                <a:spcPts val="0"/>
              </a:spcBef>
              <a:spcAft>
                <a:spcPts val="0"/>
              </a:spcAft>
            </a:pPr>
            <a:r>
              <a:rPr sz="950" b="0">
                <a:solidFill>
                  <a:srgbClr val="8A9099"/>
                </a:solidFill>
                <a:latin typeface="Red Hat Text"/>
              </a:rPr>
              <a:t>CONFIDENTIAL</a:t>
            </a:r>
          </a:p>
        </p:txBody>
      </p:sp>
      <p:sp>
        <p:nvSpPr>
          <p:cNvPr id="28" name="TextBox 27"/>
          <p:cNvSpPr txBox="1"/>
          <p:nvPr/>
        </p:nvSpPr>
        <p:spPr>
          <a:xfrm>
            <a:off x="10801807" y="6473952"/>
            <a:ext cx="548640" cy="274320"/>
          </a:xfrm>
          <a:prstGeom prst="rect">
            <a:avLst/>
          </a:prstGeom>
          <a:noFill/>
        </p:spPr>
        <p:txBody>
          <a:bodyPr wrap="square" anchor="t" lIns="0" rIns="0" tIns="0" bIns="0">
            <a:spAutoFit/>
          </a:bodyPr>
          <a:lstStyle/>
          <a:p>
            <a:pPr algn="r">
              <a:lnSpc>
                <a:spcPct val="106000"/>
              </a:lnSpc>
              <a:spcBef>
                <a:spcPts val="0"/>
              </a:spcBef>
              <a:spcAft>
                <a:spcPts val="0"/>
              </a:spcAft>
            </a:pPr>
            <a:r>
              <a:rPr sz="950" b="0">
                <a:solidFill>
                  <a:srgbClr val="8A9099"/>
                </a:solidFill>
                <a:latin typeface="Red Hat Text"/>
              </a:rPr>
              <a:t>4</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redhat_logo.jpg"/>
          <p:cNvPicPr>
            <a:picLocks noChangeAspect="1"/>
          </p:cNvPicPr>
          <p:nvPr/>
        </p:nvPicPr>
        <p:blipFill>
          <a:blip r:embed="rId2"/>
          <a:stretch>
            <a:fillRect/>
          </a:stretch>
        </p:blipFill>
        <p:spPr>
          <a:xfrm>
            <a:off x="10326319" y="475488"/>
            <a:ext cx="1024128" cy="242248"/>
          </a:xfrm>
          <a:prstGeom prst="rect">
            <a:avLst/>
          </a:prstGeom>
        </p:spPr>
      </p:pic>
      <p:sp>
        <p:nvSpPr>
          <p:cNvPr id="3" name="TextBox 2"/>
          <p:cNvSpPr txBox="1"/>
          <p:nvPr/>
        </p:nvSpPr>
        <p:spPr>
          <a:xfrm>
            <a:off x="841248" y="548640"/>
            <a:ext cx="8595360" cy="274320"/>
          </a:xfrm>
          <a:prstGeom prst="rect">
            <a:avLst/>
          </a:prstGeom>
          <a:noFill/>
        </p:spPr>
        <p:txBody>
          <a:bodyPr wrap="square" anchor="t" lIns="0" rIns="0" tIns="0" bIns="0">
            <a:spAutoFit/>
          </a:bodyPr>
          <a:lstStyle/>
          <a:p>
            <a:pPr algn="l">
              <a:lnSpc>
                <a:spcPct val="106000"/>
              </a:lnSpc>
              <a:spcBef>
                <a:spcPts val="0"/>
              </a:spcBef>
              <a:spcAft>
                <a:spcPts val="0"/>
              </a:spcAft>
            </a:pPr>
            <a:r>
              <a:rPr sz="1250" b="1" spc="220">
                <a:solidFill>
                  <a:srgbClr val="EE0000"/>
                </a:solidFill>
                <a:latin typeface="Red Hat Display"/>
              </a:rPr>
              <a:t>M01 · PLATFORM ORIENTATION &amp; FIRST APP</a:t>
            </a:r>
          </a:p>
        </p:txBody>
      </p:sp>
      <p:sp>
        <p:nvSpPr>
          <p:cNvPr id="4" name="TextBox 3"/>
          <p:cNvSpPr txBox="1"/>
          <p:nvPr/>
        </p:nvSpPr>
        <p:spPr>
          <a:xfrm>
            <a:off x="841248" y="877824"/>
            <a:ext cx="10515600" cy="548640"/>
          </a:xfrm>
          <a:prstGeom prst="rect">
            <a:avLst/>
          </a:prstGeom>
          <a:noFill/>
        </p:spPr>
        <p:txBody>
          <a:bodyPr wrap="none" anchor="t" lIns="0" rIns="0" tIns="0" bIns="0">
            <a:spAutoFit/>
          </a:bodyPr>
          <a:lstStyle/>
          <a:p>
            <a:pPr algn="l">
              <a:lnSpc>
                <a:spcPct val="100000"/>
              </a:lnSpc>
              <a:spcBef>
                <a:spcPts val="0"/>
              </a:spcBef>
              <a:spcAft>
                <a:spcPts val="0"/>
              </a:spcAft>
            </a:pPr>
            <a:r>
              <a:rPr sz="2500" b="1">
                <a:solidFill>
                  <a:srgbClr val="1A1A1A"/>
                </a:solidFill>
                <a:latin typeface="Red Hat Display"/>
              </a:rPr>
              <a:t>What you'll do</a:t>
            </a:r>
          </a:p>
        </p:txBody>
      </p:sp>
      <p:cxnSp>
        <p:nvCxnSpPr>
          <p:cNvPr id="5" name="Connector 4"/>
          <p:cNvCxnSpPr/>
          <p:nvPr/>
        </p:nvCxnSpPr>
        <p:spPr>
          <a:xfrm>
            <a:off x="841248" y="1554480"/>
            <a:ext cx="1371600" cy="0"/>
          </a:xfrm>
          <a:prstGeom prst="bentConnector3">
            <a:avLst/>
          </a:prstGeom>
          <a:ln w="31750">
            <a:solidFill>
              <a:srgbClr val="EE0000"/>
            </a:solidFill>
          </a:ln>
          <a:effectLst/>
        </p:spPr>
        <p:style>
          <a:lnRef idx="2">
            <a:schemeClr val="accent1"/>
          </a:lnRef>
          <a:fillRef idx="0">
            <a:schemeClr val="accent1"/>
          </a:fillRef>
          <a:effectRef idx="1">
            <a:schemeClr val="accent1"/>
          </a:effectRef>
          <a:fontRef idx="minor">
            <a:schemeClr val="tx1"/>
          </a:fontRef>
        </p:style>
      </p:cxnSp>
      <p:sp>
        <p:nvSpPr>
          <p:cNvPr id="6" name="Rounded Rectangle 5"/>
          <p:cNvSpPr/>
          <p:nvPr/>
        </p:nvSpPr>
        <p:spPr>
          <a:xfrm>
            <a:off x="841248" y="2395728"/>
            <a:ext cx="5715000" cy="530352"/>
          </a:xfrm>
          <a:prstGeom prst="roundRect">
            <a:avLst>
              <a:gd name="adj" fmla="val 6000"/>
            </a:avLst>
          </a:prstGeom>
          <a:solidFill>
            <a:srgbClr val="F5F6F8"/>
          </a:solidFill>
          <a:ln w="12700">
            <a:solidFill>
              <a:srgbClr val="DDE1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check_steel.png"/>
          <p:cNvPicPr>
            <a:picLocks noChangeAspect="1"/>
          </p:cNvPicPr>
          <p:nvPr/>
        </p:nvPicPr>
        <p:blipFill>
          <a:blip r:embed="rId3"/>
          <a:stretch>
            <a:fillRect/>
          </a:stretch>
        </p:blipFill>
        <p:spPr>
          <a:xfrm>
            <a:off x="987552" y="2542032"/>
            <a:ext cx="237744" cy="237744"/>
          </a:xfrm>
          <a:prstGeom prst="rect">
            <a:avLst/>
          </a:prstGeom>
        </p:spPr>
      </p:pic>
      <p:sp>
        <p:nvSpPr>
          <p:cNvPr id="8" name="TextBox 7"/>
          <p:cNvSpPr txBox="1"/>
          <p:nvPr/>
        </p:nvSpPr>
        <p:spPr>
          <a:xfrm>
            <a:off x="1353312" y="2395728"/>
            <a:ext cx="5029200" cy="530352"/>
          </a:xfrm>
          <a:prstGeom prst="rect">
            <a:avLst/>
          </a:prstGeom>
          <a:noFill/>
        </p:spPr>
        <p:txBody>
          <a:bodyPr wrap="square" anchor="ctr" lIns="0" rIns="0" tIns="0" bIns="0">
            <a:spAutoFit/>
          </a:bodyPr>
          <a:lstStyle/>
          <a:p>
            <a:pPr algn="l">
              <a:lnSpc>
                <a:spcPct val="106000"/>
              </a:lnSpc>
              <a:spcBef>
                <a:spcPts val="0"/>
              </a:spcBef>
              <a:spcAft>
                <a:spcPts val="0"/>
              </a:spcAft>
            </a:pPr>
            <a:r>
              <a:rPr sz="1200" b="0">
                <a:solidFill>
                  <a:srgbClr val="1A1A1A"/>
                </a:solidFill>
                <a:latin typeface="Red Hat Text"/>
              </a:rPr>
              <a:t>Tour the unified console and terminal</a:t>
            </a:r>
          </a:p>
        </p:txBody>
      </p:sp>
      <p:sp>
        <p:nvSpPr>
          <p:cNvPr id="9" name="Rounded Rectangle 8"/>
          <p:cNvSpPr/>
          <p:nvPr/>
        </p:nvSpPr>
        <p:spPr>
          <a:xfrm>
            <a:off x="841248" y="2999232"/>
            <a:ext cx="5715000" cy="530352"/>
          </a:xfrm>
          <a:prstGeom prst="roundRect">
            <a:avLst>
              <a:gd name="adj" fmla="val 6000"/>
            </a:avLst>
          </a:prstGeom>
          <a:solidFill>
            <a:srgbClr val="F5F6F8"/>
          </a:solidFill>
          <a:ln w="12700">
            <a:solidFill>
              <a:srgbClr val="DDE1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0" name="Picture 9" descr="check_steel.png"/>
          <p:cNvPicPr>
            <a:picLocks noChangeAspect="1"/>
          </p:cNvPicPr>
          <p:nvPr/>
        </p:nvPicPr>
        <p:blipFill>
          <a:blip r:embed="rId3"/>
          <a:stretch>
            <a:fillRect/>
          </a:stretch>
        </p:blipFill>
        <p:spPr>
          <a:xfrm>
            <a:off x="987552" y="3145536"/>
            <a:ext cx="237744" cy="237744"/>
          </a:xfrm>
          <a:prstGeom prst="rect">
            <a:avLst/>
          </a:prstGeom>
        </p:spPr>
      </p:pic>
      <p:sp>
        <p:nvSpPr>
          <p:cNvPr id="11" name="TextBox 10"/>
          <p:cNvSpPr txBox="1"/>
          <p:nvPr/>
        </p:nvSpPr>
        <p:spPr>
          <a:xfrm>
            <a:off x="1353312" y="2999232"/>
            <a:ext cx="5029200" cy="530352"/>
          </a:xfrm>
          <a:prstGeom prst="rect">
            <a:avLst/>
          </a:prstGeom>
          <a:noFill/>
        </p:spPr>
        <p:txBody>
          <a:bodyPr wrap="square" anchor="ctr" lIns="0" rIns="0" tIns="0" bIns="0">
            <a:spAutoFit/>
          </a:bodyPr>
          <a:lstStyle/>
          <a:p>
            <a:pPr algn="l">
              <a:lnSpc>
                <a:spcPct val="106000"/>
              </a:lnSpc>
              <a:spcBef>
                <a:spcPts val="0"/>
              </a:spcBef>
              <a:spcAft>
                <a:spcPts val="0"/>
              </a:spcAft>
            </a:pPr>
            <a:r>
              <a:rPr sz="1200" b="0">
                <a:solidFill>
                  <a:srgbClr val="1A1A1A"/>
                </a:solidFill>
                <a:latin typeface="Red Hat Text"/>
              </a:rPr>
              <a:t>Deploy the claims portal from an image</a:t>
            </a:r>
          </a:p>
        </p:txBody>
      </p:sp>
      <p:sp>
        <p:nvSpPr>
          <p:cNvPr id="12" name="Rounded Rectangle 11"/>
          <p:cNvSpPr/>
          <p:nvPr/>
        </p:nvSpPr>
        <p:spPr>
          <a:xfrm>
            <a:off x="841248" y="3602736"/>
            <a:ext cx="5715000" cy="530352"/>
          </a:xfrm>
          <a:prstGeom prst="roundRect">
            <a:avLst>
              <a:gd name="adj" fmla="val 6000"/>
            </a:avLst>
          </a:prstGeom>
          <a:solidFill>
            <a:srgbClr val="F5F6F8"/>
          </a:solidFill>
          <a:ln w="12700">
            <a:solidFill>
              <a:srgbClr val="DDE1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3" name="Picture 12" descr="check_steel.png"/>
          <p:cNvPicPr>
            <a:picLocks noChangeAspect="1"/>
          </p:cNvPicPr>
          <p:nvPr/>
        </p:nvPicPr>
        <p:blipFill>
          <a:blip r:embed="rId3"/>
          <a:stretch>
            <a:fillRect/>
          </a:stretch>
        </p:blipFill>
        <p:spPr>
          <a:xfrm>
            <a:off x="987552" y="3749040"/>
            <a:ext cx="237744" cy="237744"/>
          </a:xfrm>
          <a:prstGeom prst="rect">
            <a:avLst/>
          </a:prstGeom>
        </p:spPr>
      </p:pic>
      <p:sp>
        <p:nvSpPr>
          <p:cNvPr id="14" name="TextBox 13"/>
          <p:cNvSpPr txBox="1"/>
          <p:nvPr/>
        </p:nvSpPr>
        <p:spPr>
          <a:xfrm>
            <a:off x="1353312" y="3602736"/>
            <a:ext cx="5029200" cy="530352"/>
          </a:xfrm>
          <a:prstGeom prst="rect">
            <a:avLst/>
          </a:prstGeom>
          <a:noFill/>
        </p:spPr>
        <p:txBody>
          <a:bodyPr wrap="square" anchor="ctr" lIns="0" rIns="0" tIns="0" bIns="0">
            <a:spAutoFit/>
          </a:bodyPr>
          <a:lstStyle/>
          <a:p>
            <a:pPr algn="l">
              <a:lnSpc>
                <a:spcPct val="106000"/>
              </a:lnSpc>
              <a:spcBef>
                <a:spcPts val="0"/>
              </a:spcBef>
              <a:spcAft>
                <a:spcPts val="0"/>
              </a:spcAft>
            </a:pPr>
            <a:r>
              <a:rPr sz="1200" b="0">
                <a:solidFill>
                  <a:srgbClr val="1A1A1A"/>
                </a:solidFill>
                <a:latin typeface="Red Hat Text"/>
              </a:rPr>
              <a:t>Scale to three; kill a Pod</a:t>
            </a:r>
          </a:p>
        </p:txBody>
      </p:sp>
      <p:sp>
        <p:nvSpPr>
          <p:cNvPr id="15" name="Rounded Rectangle 14"/>
          <p:cNvSpPr/>
          <p:nvPr/>
        </p:nvSpPr>
        <p:spPr>
          <a:xfrm>
            <a:off x="841248" y="4206240"/>
            <a:ext cx="5715000" cy="530352"/>
          </a:xfrm>
          <a:prstGeom prst="roundRect">
            <a:avLst>
              <a:gd name="adj" fmla="val 6000"/>
            </a:avLst>
          </a:prstGeom>
          <a:solidFill>
            <a:srgbClr val="F5F6F8"/>
          </a:solidFill>
          <a:ln w="12700">
            <a:solidFill>
              <a:srgbClr val="DDE1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6" name="Picture 15" descr="check_steel.png"/>
          <p:cNvPicPr>
            <a:picLocks noChangeAspect="1"/>
          </p:cNvPicPr>
          <p:nvPr/>
        </p:nvPicPr>
        <p:blipFill>
          <a:blip r:embed="rId3"/>
          <a:stretch>
            <a:fillRect/>
          </a:stretch>
        </p:blipFill>
        <p:spPr>
          <a:xfrm>
            <a:off x="987552" y="4352544"/>
            <a:ext cx="237744" cy="237744"/>
          </a:xfrm>
          <a:prstGeom prst="rect">
            <a:avLst/>
          </a:prstGeom>
        </p:spPr>
      </p:pic>
      <p:sp>
        <p:nvSpPr>
          <p:cNvPr id="17" name="TextBox 16"/>
          <p:cNvSpPr txBox="1"/>
          <p:nvPr/>
        </p:nvSpPr>
        <p:spPr>
          <a:xfrm>
            <a:off x="1353312" y="4206240"/>
            <a:ext cx="5029200" cy="530352"/>
          </a:xfrm>
          <a:prstGeom prst="rect">
            <a:avLst/>
          </a:prstGeom>
          <a:noFill/>
        </p:spPr>
        <p:txBody>
          <a:bodyPr wrap="square" anchor="ctr" lIns="0" rIns="0" tIns="0" bIns="0">
            <a:spAutoFit/>
          </a:bodyPr>
          <a:lstStyle/>
          <a:p>
            <a:pPr algn="l">
              <a:lnSpc>
                <a:spcPct val="106000"/>
              </a:lnSpc>
              <a:spcBef>
                <a:spcPts val="0"/>
              </a:spcBef>
              <a:spcAft>
                <a:spcPts val="0"/>
              </a:spcAft>
            </a:pPr>
            <a:r>
              <a:rPr sz="1200" b="0">
                <a:solidFill>
                  <a:srgbClr val="1A1A1A"/>
                </a:solidFill>
                <a:latin typeface="Red Hat Text"/>
              </a:rPr>
              <a:t>Publish it with a Route</a:t>
            </a:r>
          </a:p>
        </p:txBody>
      </p:sp>
      <p:sp>
        <p:nvSpPr>
          <p:cNvPr id="18" name="Rounded Rectangle 17"/>
          <p:cNvSpPr/>
          <p:nvPr/>
        </p:nvSpPr>
        <p:spPr>
          <a:xfrm>
            <a:off x="841248" y="4809744"/>
            <a:ext cx="5715000" cy="530352"/>
          </a:xfrm>
          <a:prstGeom prst="roundRect">
            <a:avLst>
              <a:gd name="adj" fmla="val 6000"/>
            </a:avLst>
          </a:prstGeom>
          <a:solidFill>
            <a:srgbClr val="F5F6F8"/>
          </a:solidFill>
          <a:ln w="12700">
            <a:solidFill>
              <a:srgbClr val="DDE1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9" name="Picture 18" descr="check_steel.png"/>
          <p:cNvPicPr>
            <a:picLocks noChangeAspect="1"/>
          </p:cNvPicPr>
          <p:nvPr/>
        </p:nvPicPr>
        <p:blipFill>
          <a:blip r:embed="rId3"/>
          <a:stretch>
            <a:fillRect/>
          </a:stretch>
        </p:blipFill>
        <p:spPr>
          <a:xfrm>
            <a:off x="987552" y="4956048"/>
            <a:ext cx="237744" cy="237744"/>
          </a:xfrm>
          <a:prstGeom prst="rect">
            <a:avLst/>
          </a:prstGeom>
        </p:spPr>
      </p:pic>
      <p:sp>
        <p:nvSpPr>
          <p:cNvPr id="20" name="TextBox 19"/>
          <p:cNvSpPr txBox="1"/>
          <p:nvPr/>
        </p:nvSpPr>
        <p:spPr>
          <a:xfrm>
            <a:off x="1353312" y="4809744"/>
            <a:ext cx="5029200" cy="530352"/>
          </a:xfrm>
          <a:prstGeom prst="rect">
            <a:avLst/>
          </a:prstGeom>
          <a:noFill/>
        </p:spPr>
        <p:txBody>
          <a:bodyPr wrap="square" anchor="ctr" lIns="0" rIns="0" tIns="0" bIns="0">
            <a:spAutoFit/>
          </a:bodyPr>
          <a:lstStyle/>
          <a:p>
            <a:pPr algn="l">
              <a:lnSpc>
                <a:spcPct val="106000"/>
              </a:lnSpc>
              <a:spcBef>
                <a:spcPts val="0"/>
              </a:spcBef>
              <a:spcAft>
                <a:spcPts val="0"/>
              </a:spcAft>
            </a:pPr>
            <a:r>
              <a:rPr sz="1200" b="0">
                <a:solidFill>
                  <a:srgbClr val="1A1A1A"/>
                </a:solidFill>
                <a:latin typeface="Red Hat Text"/>
              </a:rPr>
              <a:t>Ask Lightspeed why Pods restart</a:t>
            </a:r>
          </a:p>
        </p:txBody>
      </p:sp>
      <p:sp>
        <p:nvSpPr>
          <p:cNvPr id="21" name="Rounded Rectangle 20"/>
          <p:cNvSpPr/>
          <p:nvPr/>
        </p:nvSpPr>
        <p:spPr>
          <a:xfrm>
            <a:off x="6812280" y="2395728"/>
            <a:ext cx="4538167" cy="2944368"/>
          </a:xfrm>
          <a:prstGeom prst="roundRect">
            <a:avLst>
              <a:gd name="adj" fmla="val 4000"/>
            </a:avLst>
          </a:prstGeom>
          <a:solidFill>
            <a:srgbClr val="FFFFFF"/>
          </a:solidFill>
          <a:ln w="15240">
            <a:solidFill>
              <a:srgbClr val="DDE1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ounded Rectangle 21"/>
          <p:cNvSpPr/>
          <p:nvPr/>
        </p:nvSpPr>
        <p:spPr>
          <a:xfrm>
            <a:off x="7013448" y="2596896"/>
            <a:ext cx="1298448" cy="310896"/>
          </a:xfrm>
          <a:prstGeom prst="roundRect">
            <a:avLst>
              <a:gd name="adj" fmla="val 50000"/>
            </a:avLst>
          </a:prstGeom>
          <a:solidFill>
            <a:srgbClr val="FCEC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7013448" y="2596896"/>
            <a:ext cx="1298448" cy="310896"/>
          </a:xfrm>
          <a:prstGeom prst="rect">
            <a:avLst/>
          </a:prstGeom>
          <a:noFill/>
        </p:spPr>
        <p:txBody>
          <a:bodyPr wrap="none" anchor="ctr" lIns="0" rIns="0" tIns="0" bIns="0">
            <a:spAutoFit/>
          </a:bodyPr>
          <a:lstStyle/>
          <a:p>
            <a:pPr algn="ctr">
              <a:lnSpc>
                <a:spcPct val="106000"/>
              </a:lnSpc>
              <a:spcBef>
                <a:spcPts val="0"/>
              </a:spcBef>
              <a:spcAft>
                <a:spcPts val="0"/>
              </a:spcAft>
            </a:pPr>
            <a:r>
              <a:rPr sz="850" b="1">
                <a:solidFill>
                  <a:srgbClr val="B80000"/>
                </a:solidFill>
                <a:latin typeface="Red Hat Display"/>
              </a:rPr>
              <a:t>MEDIA PASS</a:t>
            </a:r>
          </a:p>
        </p:txBody>
      </p:sp>
      <p:pic>
        <p:nvPicPr>
          <p:cNvPr id="24" name="Picture 23" descr="eye_slate.png"/>
          <p:cNvPicPr>
            <a:picLocks noChangeAspect="1"/>
          </p:cNvPicPr>
          <p:nvPr/>
        </p:nvPicPr>
        <p:blipFill>
          <a:blip r:embed="rId4"/>
          <a:stretch>
            <a:fillRect/>
          </a:stretch>
        </p:blipFill>
        <p:spPr>
          <a:xfrm>
            <a:off x="8843619" y="3108960"/>
            <a:ext cx="475488" cy="475488"/>
          </a:xfrm>
          <a:prstGeom prst="rect">
            <a:avLst/>
          </a:prstGeom>
        </p:spPr>
      </p:pic>
      <p:sp>
        <p:nvSpPr>
          <p:cNvPr id="25" name="TextBox 24"/>
          <p:cNvSpPr txBox="1"/>
          <p:nvPr/>
        </p:nvSpPr>
        <p:spPr>
          <a:xfrm>
            <a:off x="7050024" y="3721608"/>
            <a:ext cx="4062679" cy="1481328"/>
          </a:xfrm>
          <a:prstGeom prst="rect">
            <a:avLst/>
          </a:prstGeom>
          <a:noFill/>
        </p:spPr>
        <p:txBody>
          <a:bodyPr wrap="square" anchor="t" lIns="0" rIns="0" tIns="0" bIns="0">
            <a:spAutoFit/>
          </a:bodyPr>
          <a:lstStyle/>
          <a:p>
            <a:pPr algn="l">
              <a:lnSpc>
                <a:spcPct val="120000"/>
              </a:lnSpc>
              <a:spcBef>
                <a:spcPts val="0"/>
              </a:spcBef>
              <a:spcAft>
                <a:spcPts val="0"/>
              </a:spcAft>
            </a:pPr>
            <a:r>
              <a:rPr sz="950" b="0">
                <a:solidFill>
                  <a:srgbClr val="8A9099"/>
                </a:solidFill>
                <a:latin typeface="Red Hat Text"/>
              </a:rPr>
              <a:t>Numbered arc strip: console → deploy → scale/heal → Route → logs → Lightspeed.</a:t>
            </a:r>
          </a:p>
        </p:txBody>
      </p:sp>
      <p:cxnSp>
        <p:nvCxnSpPr>
          <p:cNvPr id="26" name="Connector 25"/>
          <p:cNvCxnSpPr/>
          <p:nvPr/>
        </p:nvCxnSpPr>
        <p:spPr>
          <a:xfrm>
            <a:off x="841248" y="6437376"/>
            <a:ext cx="10509199" cy="0"/>
          </a:xfrm>
          <a:prstGeom prst="bentConnector3">
            <a:avLst/>
          </a:prstGeom>
          <a:ln w="12700">
            <a:solidFill>
              <a:srgbClr val="DDE1E6"/>
            </a:solidFill>
          </a:ln>
          <a:effectLst/>
        </p:spPr>
        <p:style>
          <a:lnRef idx="2">
            <a:schemeClr val="accent1"/>
          </a:lnRef>
          <a:fillRef idx="0">
            <a:schemeClr val="accent1"/>
          </a:fillRef>
          <a:effectRef idx="1">
            <a:schemeClr val="accent1"/>
          </a:effectRef>
          <a:fontRef idx="minor">
            <a:schemeClr val="tx1"/>
          </a:fontRef>
        </p:style>
      </p:cxnSp>
      <p:sp>
        <p:nvSpPr>
          <p:cNvPr id="27" name="TextBox 26"/>
          <p:cNvSpPr txBox="1"/>
          <p:nvPr/>
        </p:nvSpPr>
        <p:spPr>
          <a:xfrm>
            <a:off x="841248" y="6473952"/>
            <a:ext cx="7315200" cy="274320"/>
          </a:xfrm>
          <a:prstGeom prst="rect">
            <a:avLst/>
          </a:prstGeom>
          <a:noFill/>
        </p:spPr>
        <p:txBody>
          <a:bodyPr wrap="square" anchor="t" lIns="0" rIns="0" tIns="0" bIns="0">
            <a:spAutoFit/>
          </a:bodyPr>
          <a:lstStyle/>
          <a:p>
            <a:pPr algn="l">
              <a:lnSpc>
                <a:spcPct val="106000"/>
              </a:lnSpc>
              <a:spcBef>
                <a:spcPts val="0"/>
              </a:spcBef>
              <a:spcAft>
                <a:spcPts val="0"/>
              </a:spcAft>
            </a:pPr>
            <a:r>
              <a:rPr sz="950" b="0">
                <a:solidFill>
                  <a:srgbClr val="8A9099"/>
                </a:solidFill>
                <a:latin typeface="Red Hat Text"/>
              </a:rPr>
              <a:t>CONFIDENTIAL</a:t>
            </a:r>
          </a:p>
        </p:txBody>
      </p:sp>
      <p:sp>
        <p:nvSpPr>
          <p:cNvPr id="28" name="TextBox 27"/>
          <p:cNvSpPr txBox="1"/>
          <p:nvPr/>
        </p:nvSpPr>
        <p:spPr>
          <a:xfrm>
            <a:off x="10801807" y="6473952"/>
            <a:ext cx="548640" cy="274320"/>
          </a:xfrm>
          <a:prstGeom prst="rect">
            <a:avLst/>
          </a:prstGeom>
          <a:noFill/>
        </p:spPr>
        <p:txBody>
          <a:bodyPr wrap="square" anchor="t" lIns="0" rIns="0" tIns="0" bIns="0">
            <a:spAutoFit/>
          </a:bodyPr>
          <a:lstStyle/>
          <a:p>
            <a:pPr algn="r">
              <a:lnSpc>
                <a:spcPct val="106000"/>
              </a:lnSpc>
              <a:spcBef>
                <a:spcPts val="0"/>
              </a:spcBef>
              <a:spcAft>
                <a:spcPts val="0"/>
              </a:spcAft>
            </a:pPr>
            <a:r>
              <a:rPr sz="950" b="0">
                <a:solidFill>
                  <a:srgbClr val="8A9099"/>
                </a:solidFill>
                <a:latin typeface="Red Hat Text"/>
              </a:rPr>
              <a:t>5</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redhat_logo.jpg"/>
          <p:cNvPicPr>
            <a:picLocks noChangeAspect="1"/>
          </p:cNvPicPr>
          <p:nvPr/>
        </p:nvPicPr>
        <p:blipFill>
          <a:blip r:embed="rId2"/>
          <a:stretch>
            <a:fillRect/>
          </a:stretch>
        </p:blipFill>
        <p:spPr>
          <a:xfrm>
            <a:off x="10326319" y="475488"/>
            <a:ext cx="1024128" cy="242248"/>
          </a:xfrm>
          <a:prstGeom prst="rect">
            <a:avLst/>
          </a:prstGeom>
        </p:spPr>
      </p:pic>
      <p:sp>
        <p:nvSpPr>
          <p:cNvPr id="3" name="TextBox 2"/>
          <p:cNvSpPr txBox="1"/>
          <p:nvPr/>
        </p:nvSpPr>
        <p:spPr>
          <a:xfrm>
            <a:off x="841248" y="548640"/>
            <a:ext cx="8595360" cy="274320"/>
          </a:xfrm>
          <a:prstGeom prst="rect">
            <a:avLst/>
          </a:prstGeom>
          <a:noFill/>
        </p:spPr>
        <p:txBody>
          <a:bodyPr wrap="square" anchor="t" lIns="0" rIns="0" tIns="0" bIns="0">
            <a:spAutoFit/>
          </a:bodyPr>
          <a:lstStyle/>
          <a:p>
            <a:pPr algn="l">
              <a:lnSpc>
                <a:spcPct val="106000"/>
              </a:lnSpc>
              <a:spcBef>
                <a:spcPts val="0"/>
              </a:spcBef>
              <a:spcAft>
                <a:spcPts val="0"/>
              </a:spcAft>
            </a:pPr>
            <a:r>
              <a:rPr sz="1250" b="1" spc="220">
                <a:solidFill>
                  <a:srgbClr val="EE0000"/>
                </a:solidFill>
                <a:latin typeface="Red Hat Display"/>
              </a:rPr>
              <a:t>M01 · PLATFORM ORIENTATION &amp; FIRST APP</a:t>
            </a:r>
          </a:p>
        </p:txBody>
      </p:sp>
      <p:sp>
        <p:nvSpPr>
          <p:cNvPr id="4" name="TextBox 3"/>
          <p:cNvSpPr txBox="1"/>
          <p:nvPr/>
        </p:nvSpPr>
        <p:spPr>
          <a:xfrm>
            <a:off x="841248" y="877824"/>
            <a:ext cx="10515600" cy="548640"/>
          </a:xfrm>
          <a:prstGeom prst="rect">
            <a:avLst/>
          </a:prstGeom>
          <a:noFill/>
        </p:spPr>
        <p:txBody>
          <a:bodyPr wrap="none" anchor="t" lIns="0" rIns="0" tIns="0" bIns="0">
            <a:spAutoFit/>
          </a:bodyPr>
          <a:lstStyle/>
          <a:p>
            <a:pPr algn="l">
              <a:lnSpc>
                <a:spcPct val="100000"/>
              </a:lnSpc>
              <a:spcBef>
                <a:spcPts val="0"/>
              </a:spcBef>
              <a:spcAft>
                <a:spcPts val="0"/>
              </a:spcAft>
            </a:pPr>
            <a:r>
              <a:rPr sz="2500" b="1">
                <a:solidFill>
                  <a:srgbClr val="1A1A1A"/>
                </a:solidFill>
                <a:latin typeface="Red Hat Display"/>
              </a:rPr>
              <a:t>Map to your org — and when not</a:t>
            </a:r>
          </a:p>
        </p:txBody>
      </p:sp>
      <p:cxnSp>
        <p:nvCxnSpPr>
          <p:cNvPr id="5" name="Connector 4"/>
          <p:cNvCxnSpPr/>
          <p:nvPr/>
        </p:nvCxnSpPr>
        <p:spPr>
          <a:xfrm>
            <a:off x="841248" y="1554480"/>
            <a:ext cx="1371600" cy="0"/>
          </a:xfrm>
          <a:prstGeom prst="bentConnector3">
            <a:avLst/>
          </a:prstGeom>
          <a:ln w="31750">
            <a:solidFill>
              <a:srgbClr val="EE0000"/>
            </a:solidFill>
          </a:ln>
          <a:effectLst/>
        </p:spPr>
        <p:style>
          <a:lnRef idx="2">
            <a:schemeClr val="accent1"/>
          </a:lnRef>
          <a:fillRef idx="0">
            <a:schemeClr val="accent1"/>
          </a:fillRef>
          <a:effectRef idx="1">
            <a:schemeClr val="accent1"/>
          </a:effectRef>
          <a:fontRef idx="minor">
            <a:schemeClr val="tx1"/>
          </a:fontRef>
        </p:style>
      </p:cxnSp>
      <p:sp>
        <p:nvSpPr>
          <p:cNvPr id="6" name="Rounded Rectangle 5"/>
          <p:cNvSpPr/>
          <p:nvPr/>
        </p:nvSpPr>
        <p:spPr>
          <a:xfrm>
            <a:off x="841248" y="2395728"/>
            <a:ext cx="5715000" cy="530352"/>
          </a:xfrm>
          <a:prstGeom prst="roundRect">
            <a:avLst>
              <a:gd name="adj" fmla="val 6000"/>
            </a:avLst>
          </a:prstGeom>
          <a:solidFill>
            <a:srgbClr val="F5F6F8"/>
          </a:solidFill>
          <a:ln w="12700">
            <a:solidFill>
              <a:srgbClr val="DDE1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check_steel.png"/>
          <p:cNvPicPr>
            <a:picLocks noChangeAspect="1"/>
          </p:cNvPicPr>
          <p:nvPr/>
        </p:nvPicPr>
        <p:blipFill>
          <a:blip r:embed="rId3"/>
          <a:stretch>
            <a:fillRect/>
          </a:stretch>
        </p:blipFill>
        <p:spPr>
          <a:xfrm>
            <a:off x="987552" y="2542032"/>
            <a:ext cx="237744" cy="237744"/>
          </a:xfrm>
          <a:prstGeom prst="rect">
            <a:avLst/>
          </a:prstGeom>
        </p:spPr>
      </p:pic>
      <p:sp>
        <p:nvSpPr>
          <p:cNvPr id="8" name="TextBox 7"/>
          <p:cNvSpPr txBox="1"/>
          <p:nvPr/>
        </p:nvSpPr>
        <p:spPr>
          <a:xfrm>
            <a:off x="1353312" y="2395728"/>
            <a:ext cx="5029200" cy="530352"/>
          </a:xfrm>
          <a:prstGeom prst="rect">
            <a:avLst/>
          </a:prstGeom>
          <a:noFill/>
        </p:spPr>
        <p:txBody>
          <a:bodyPr wrap="square" anchor="ctr" lIns="0" rIns="0" tIns="0" bIns="0">
            <a:spAutoFit/>
          </a:bodyPr>
          <a:lstStyle/>
          <a:p>
            <a:pPr algn="l">
              <a:lnSpc>
                <a:spcPct val="106000"/>
              </a:lnSpc>
              <a:spcBef>
                <a:spcPts val="0"/>
              </a:spcBef>
              <a:spcAft>
                <a:spcPts val="0"/>
              </a:spcAft>
            </a:pPr>
            <a:r>
              <a:rPr sz="1200" b="0">
                <a:solidFill>
                  <a:srgbClr val="1A1A1A"/>
                </a:solidFill>
                <a:latin typeface="Red Hat Text"/>
              </a:rPr>
              <a:t>Which deploys are self-service vs ticket?</a:t>
            </a:r>
          </a:p>
        </p:txBody>
      </p:sp>
      <p:sp>
        <p:nvSpPr>
          <p:cNvPr id="9" name="Rounded Rectangle 8"/>
          <p:cNvSpPr/>
          <p:nvPr/>
        </p:nvSpPr>
        <p:spPr>
          <a:xfrm>
            <a:off x="841248" y="2999232"/>
            <a:ext cx="5715000" cy="530352"/>
          </a:xfrm>
          <a:prstGeom prst="roundRect">
            <a:avLst>
              <a:gd name="adj" fmla="val 6000"/>
            </a:avLst>
          </a:prstGeom>
          <a:solidFill>
            <a:srgbClr val="F5F6F8"/>
          </a:solidFill>
          <a:ln w="12700">
            <a:solidFill>
              <a:srgbClr val="DDE1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0" name="Picture 9" descr="check_steel.png"/>
          <p:cNvPicPr>
            <a:picLocks noChangeAspect="1"/>
          </p:cNvPicPr>
          <p:nvPr/>
        </p:nvPicPr>
        <p:blipFill>
          <a:blip r:embed="rId3"/>
          <a:stretch>
            <a:fillRect/>
          </a:stretch>
        </p:blipFill>
        <p:spPr>
          <a:xfrm>
            <a:off x="987552" y="3145536"/>
            <a:ext cx="237744" cy="237744"/>
          </a:xfrm>
          <a:prstGeom prst="rect">
            <a:avLst/>
          </a:prstGeom>
        </p:spPr>
      </p:pic>
      <p:sp>
        <p:nvSpPr>
          <p:cNvPr id="11" name="TextBox 10"/>
          <p:cNvSpPr txBox="1"/>
          <p:nvPr/>
        </p:nvSpPr>
        <p:spPr>
          <a:xfrm>
            <a:off x="1353312" y="2999232"/>
            <a:ext cx="5029200" cy="530352"/>
          </a:xfrm>
          <a:prstGeom prst="rect">
            <a:avLst/>
          </a:prstGeom>
          <a:noFill/>
        </p:spPr>
        <p:txBody>
          <a:bodyPr wrap="square" anchor="ctr" lIns="0" rIns="0" tIns="0" bIns="0">
            <a:spAutoFit/>
          </a:bodyPr>
          <a:lstStyle/>
          <a:p>
            <a:pPr algn="l">
              <a:lnSpc>
                <a:spcPct val="106000"/>
              </a:lnSpc>
              <a:spcBef>
                <a:spcPts val="0"/>
              </a:spcBef>
              <a:spcAft>
                <a:spcPts val="0"/>
              </a:spcAft>
            </a:pPr>
            <a:r>
              <a:rPr sz="1200" b="0">
                <a:solidFill>
                  <a:srgbClr val="1A1A1A"/>
                </a:solidFill>
                <a:latin typeface="Red Hat Text"/>
              </a:rPr>
              <a:t>What dies when a VM dies?</a:t>
            </a:r>
          </a:p>
        </p:txBody>
      </p:sp>
      <p:sp>
        <p:nvSpPr>
          <p:cNvPr id="12" name="Rounded Rectangle 11"/>
          <p:cNvSpPr/>
          <p:nvPr/>
        </p:nvSpPr>
        <p:spPr>
          <a:xfrm>
            <a:off x="841248" y="3602736"/>
            <a:ext cx="5715000" cy="530352"/>
          </a:xfrm>
          <a:prstGeom prst="roundRect">
            <a:avLst>
              <a:gd name="adj" fmla="val 6000"/>
            </a:avLst>
          </a:prstGeom>
          <a:solidFill>
            <a:srgbClr val="F5F6F8"/>
          </a:solidFill>
          <a:ln w="12700">
            <a:solidFill>
              <a:srgbClr val="DDE1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3" name="Picture 12" descr="check_steel.png"/>
          <p:cNvPicPr>
            <a:picLocks noChangeAspect="1"/>
          </p:cNvPicPr>
          <p:nvPr/>
        </p:nvPicPr>
        <p:blipFill>
          <a:blip r:embed="rId3"/>
          <a:stretch>
            <a:fillRect/>
          </a:stretch>
        </p:blipFill>
        <p:spPr>
          <a:xfrm>
            <a:off x="987552" y="3749040"/>
            <a:ext cx="237744" cy="237744"/>
          </a:xfrm>
          <a:prstGeom prst="rect">
            <a:avLst/>
          </a:prstGeom>
        </p:spPr>
      </p:pic>
      <p:sp>
        <p:nvSpPr>
          <p:cNvPr id="14" name="TextBox 13"/>
          <p:cNvSpPr txBox="1"/>
          <p:nvPr/>
        </p:nvSpPr>
        <p:spPr>
          <a:xfrm>
            <a:off x="1353312" y="3602736"/>
            <a:ext cx="5029200" cy="530352"/>
          </a:xfrm>
          <a:prstGeom prst="rect">
            <a:avLst/>
          </a:prstGeom>
          <a:noFill/>
        </p:spPr>
        <p:txBody>
          <a:bodyPr wrap="square" anchor="ctr" lIns="0" rIns="0" tIns="0" bIns="0">
            <a:spAutoFit/>
          </a:bodyPr>
          <a:lstStyle/>
          <a:p>
            <a:pPr algn="l">
              <a:lnSpc>
                <a:spcPct val="106000"/>
              </a:lnSpc>
              <a:spcBef>
                <a:spcPts val="0"/>
              </a:spcBef>
              <a:spcAft>
                <a:spcPts val="0"/>
              </a:spcAft>
            </a:pPr>
            <a:r>
              <a:rPr sz="1200" b="0">
                <a:solidFill>
                  <a:srgbClr val="1A1A1A"/>
                </a:solidFill>
                <a:latin typeface="Red Hat Text"/>
              </a:rPr>
              <a:t>Name three pets you still nurse</a:t>
            </a:r>
          </a:p>
        </p:txBody>
      </p:sp>
      <p:sp>
        <p:nvSpPr>
          <p:cNvPr id="15" name="Rounded Rectangle 14"/>
          <p:cNvSpPr/>
          <p:nvPr/>
        </p:nvSpPr>
        <p:spPr>
          <a:xfrm>
            <a:off x="841248" y="4206240"/>
            <a:ext cx="5715000" cy="530352"/>
          </a:xfrm>
          <a:prstGeom prst="roundRect">
            <a:avLst>
              <a:gd name="adj" fmla="val 6000"/>
            </a:avLst>
          </a:prstGeom>
          <a:solidFill>
            <a:srgbClr val="F5F6F8"/>
          </a:solidFill>
          <a:ln w="12700">
            <a:solidFill>
              <a:srgbClr val="DDE1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6" name="Picture 15" descr="check_steel.png"/>
          <p:cNvPicPr>
            <a:picLocks noChangeAspect="1"/>
          </p:cNvPicPr>
          <p:nvPr/>
        </p:nvPicPr>
        <p:blipFill>
          <a:blip r:embed="rId3"/>
          <a:stretch>
            <a:fillRect/>
          </a:stretch>
        </p:blipFill>
        <p:spPr>
          <a:xfrm>
            <a:off x="987552" y="4352544"/>
            <a:ext cx="237744" cy="237744"/>
          </a:xfrm>
          <a:prstGeom prst="rect">
            <a:avLst/>
          </a:prstGeom>
        </p:spPr>
      </p:pic>
      <p:sp>
        <p:nvSpPr>
          <p:cNvPr id="17" name="TextBox 16"/>
          <p:cNvSpPr txBox="1"/>
          <p:nvPr/>
        </p:nvSpPr>
        <p:spPr>
          <a:xfrm>
            <a:off x="1353312" y="4206240"/>
            <a:ext cx="5029200" cy="530352"/>
          </a:xfrm>
          <a:prstGeom prst="rect">
            <a:avLst/>
          </a:prstGeom>
          <a:noFill/>
        </p:spPr>
        <p:txBody>
          <a:bodyPr wrap="square" anchor="ctr" lIns="0" rIns="0" tIns="0" bIns="0">
            <a:spAutoFit/>
          </a:bodyPr>
          <a:lstStyle/>
          <a:p>
            <a:pPr algn="l">
              <a:lnSpc>
                <a:spcPct val="106000"/>
              </a:lnSpc>
              <a:spcBef>
                <a:spcPts val="0"/>
              </a:spcBef>
              <a:spcAft>
                <a:spcPts val="0"/>
              </a:spcAft>
            </a:pPr>
            <a:r>
              <a:rPr sz="1200" b="0">
                <a:solidFill>
                  <a:srgbClr val="1A1A1A"/>
                </a:solidFill>
                <a:latin typeface="Red Hat Text"/>
              </a:rPr>
              <a:t>Don't run a database as a naive Deployment</a:t>
            </a:r>
          </a:p>
        </p:txBody>
      </p:sp>
      <p:sp>
        <p:nvSpPr>
          <p:cNvPr id="18" name="Rounded Rectangle 17"/>
          <p:cNvSpPr/>
          <p:nvPr/>
        </p:nvSpPr>
        <p:spPr>
          <a:xfrm>
            <a:off x="841248" y="4809744"/>
            <a:ext cx="5715000" cy="530352"/>
          </a:xfrm>
          <a:prstGeom prst="roundRect">
            <a:avLst>
              <a:gd name="adj" fmla="val 6000"/>
            </a:avLst>
          </a:prstGeom>
          <a:solidFill>
            <a:srgbClr val="F5F6F8"/>
          </a:solidFill>
          <a:ln w="12700">
            <a:solidFill>
              <a:srgbClr val="DDE1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9" name="Picture 18" descr="check_steel.png"/>
          <p:cNvPicPr>
            <a:picLocks noChangeAspect="1"/>
          </p:cNvPicPr>
          <p:nvPr/>
        </p:nvPicPr>
        <p:blipFill>
          <a:blip r:embed="rId3"/>
          <a:stretch>
            <a:fillRect/>
          </a:stretch>
        </p:blipFill>
        <p:spPr>
          <a:xfrm>
            <a:off x="987552" y="4956048"/>
            <a:ext cx="237744" cy="237744"/>
          </a:xfrm>
          <a:prstGeom prst="rect">
            <a:avLst/>
          </a:prstGeom>
        </p:spPr>
      </p:pic>
      <p:sp>
        <p:nvSpPr>
          <p:cNvPr id="20" name="TextBox 19"/>
          <p:cNvSpPr txBox="1"/>
          <p:nvPr/>
        </p:nvSpPr>
        <p:spPr>
          <a:xfrm>
            <a:off x="1353312" y="4809744"/>
            <a:ext cx="5029200" cy="530352"/>
          </a:xfrm>
          <a:prstGeom prst="rect">
            <a:avLst/>
          </a:prstGeom>
          <a:noFill/>
        </p:spPr>
        <p:txBody>
          <a:bodyPr wrap="square" anchor="ctr" lIns="0" rIns="0" tIns="0" bIns="0">
            <a:spAutoFit/>
          </a:bodyPr>
          <a:lstStyle/>
          <a:p>
            <a:pPr algn="l">
              <a:lnSpc>
                <a:spcPct val="106000"/>
              </a:lnSpc>
              <a:spcBef>
                <a:spcPts val="0"/>
              </a:spcBef>
              <a:spcAft>
                <a:spcPts val="0"/>
              </a:spcAft>
            </a:pPr>
            <a:r>
              <a:rPr sz="1200" b="0">
                <a:solidFill>
                  <a:srgbClr val="1A1A1A"/>
                </a:solidFill>
                <a:latin typeface="Red Hat Text"/>
              </a:rPr>
              <a:t>A VM is sometimes still right</a:t>
            </a:r>
          </a:p>
        </p:txBody>
      </p:sp>
      <p:sp>
        <p:nvSpPr>
          <p:cNvPr id="21" name="Rounded Rectangle 20"/>
          <p:cNvSpPr/>
          <p:nvPr/>
        </p:nvSpPr>
        <p:spPr>
          <a:xfrm>
            <a:off x="6812280" y="2395728"/>
            <a:ext cx="4538167" cy="2944368"/>
          </a:xfrm>
          <a:prstGeom prst="roundRect">
            <a:avLst>
              <a:gd name="adj" fmla="val 4000"/>
            </a:avLst>
          </a:prstGeom>
          <a:solidFill>
            <a:srgbClr val="FFFFFF"/>
          </a:solidFill>
          <a:ln w="15240">
            <a:solidFill>
              <a:srgbClr val="DDE1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ounded Rectangle 21"/>
          <p:cNvSpPr/>
          <p:nvPr/>
        </p:nvSpPr>
        <p:spPr>
          <a:xfrm>
            <a:off x="7013448" y="2596896"/>
            <a:ext cx="1298448" cy="310896"/>
          </a:xfrm>
          <a:prstGeom prst="roundRect">
            <a:avLst>
              <a:gd name="adj" fmla="val 50000"/>
            </a:avLst>
          </a:prstGeom>
          <a:solidFill>
            <a:srgbClr val="FCEC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7013448" y="2596896"/>
            <a:ext cx="1298448" cy="310896"/>
          </a:xfrm>
          <a:prstGeom prst="rect">
            <a:avLst/>
          </a:prstGeom>
          <a:noFill/>
        </p:spPr>
        <p:txBody>
          <a:bodyPr wrap="none" anchor="ctr" lIns="0" rIns="0" tIns="0" bIns="0">
            <a:spAutoFit/>
          </a:bodyPr>
          <a:lstStyle/>
          <a:p>
            <a:pPr algn="ctr">
              <a:lnSpc>
                <a:spcPct val="106000"/>
              </a:lnSpc>
              <a:spcBef>
                <a:spcPts val="0"/>
              </a:spcBef>
              <a:spcAft>
                <a:spcPts val="0"/>
              </a:spcAft>
            </a:pPr>
            <a:r>
              <a:rPr sz="850" b="1">
                <a:solidFill>
                  <a:srgbClr val="B80000"/>
                </a:solidFill>
                <a:latin typeface="Red Hat Display"/>
              </a:rPr>
              <a:t>MEDIA PASS</a:t>
            </a:r>
          </a:p>
        </p:txBody>
      </p:sp>
      <p:pic>
        <p:nvPicPr>
          <p:cNvPr id="24" name="Picture 23" descr="eye_slate.png"/>
          <p:cNvPicPr>
            <a:picLocks noChangeAspect="1"/>
          </p:cNvPicPr>
          <p:nvPr/>
        </p:nvPicPr>
        <p:blipFill>
          <a:blip r:embed="rId4"/>
          <a:stretch>
            <a:fillRect/>
          </a:stretch>
        </p:blipFill>
        <p:spPr>
          <a:xfrm>
            <a:off x="8843619" y="3108960"/>
            <a:ext cx="475488" cy="475488"/>
          </a:xfrm>
          <a:prstGeom prst="rect">
            <a:avLst/>
          </a:prstGeom>
        </p:spPr>
      </p:pic>
      <p:sp>
        <p:nvSpPr>
          <p:cNvPr id="25" name="TextBox 24"/>
          <p:cNvSpPr txBox="1"/>
          <p:nvPr/>
        </p:nvSpPr>
        <p:spPr>
          <a:xfrm>
            <a:off x="7050024" y="3721608"/>
            <a:ext cx="4062679" cy="1481328"/>
          </a:xfrm>
          <a:prstGeom prst="rect">
            <a:avLst/>
          </a:prstGeom>
          <a:noFill/>
        </p:spPr>
        <p:txBody>
          <a:bodyPr wrap="square" anchor="t" lIns="0" rIns="0" tIns="0" bIns="0">
            <a:spAutoFit/>
          </a:bodyPr>
          <a:lstStyle/>
          <a:p>
            <a:pPr algn="l">
              <a:lnSpc>
                <a:spcPct val="120000"/>
              </a:lnSpc>
              <a:spcBef>
                <a:spcPts val="0"/>
              </a:spcBef>
              <a:spcAft>
                <a:spcPts val="0"/>
              </a:spcAft>
            </a:pPr>
            <a:r>
              <a:rPr sz="950" b="0">
                <a:solidFill>
                  <a:srgbClr val="8A9099"/>
                </a:solidFill>
                <a:latin typeface="Red Hat Text"/>
              </a:rPr>
              <a:t>Two-column "cattle by default / pet on purpose" decision card.</a:t>
            </a:r>
          </a:p>
        </p:txBody>
      </p:sp>
      <p:cxnSp>
        <p:nvCxnSpPr>
          <p:cNvPr id="26" name="Connector 25"/>
          <p:cNvCxnSpPr/>
          <p:nvPr/>
        </p:nvCxnSpPr>
        <p:spPr>
          <a:xfrm>
            <a:off x="841248" y="6437376"/>
            <a:ext cx="10509199" cy="0"/>
          </a:xfrm>
          <a:prstGeom prst="bentConnector3">
            <a:avLst/>
          </a:prstGeom>
          <a:ln w="12700">
            <a:solidFill>
              <a:srgbClr val="DDE1E6"/>
            </a:solidFill>
          </a:ln>
          <a:effectLst/>
        </p:spPr>
        <p:style>
          <a:lnRef idx="2">
            <a:schemeClr val="accent1"/>
          </a:lnRef>
          <a:fillRef idx="0">
            <a:schemeClr val="accent1"/>
          </a:fillRef>
          <a:effectRef idx="1">
            <a:schemeClr val="accent1"/>
          </a:effectRef>
          <a:fontRef idx="minor">
            <a:schemeClr val="tx1"/>
          </a:fontRef>
        </p:style>
      </p:cxnSp>
      <p:sp>
        <p:nvSpPr>
          <p:cNvPr id="27" name="TextBox 26"/>
          <p:cNvSpPr txBox="1"/>
          <p:nvPr/>
        </p:nvSpPr>
        <p:spPr>
          <a:xfrm>
            <a:off x="841248" y="6473952"/>
            <a:ext cx="7315200" cy="274320"/>
          </a:xfrm>
          <a:prstGeom prst="rect">
            <a:avLst/>
          </a:prstGeom>
          <a:noFill/>
        </p:spPr>
        <p:txBody>
          <a:bodyPr wrap="square" anchor="t" lIns="0" rIns="0" tIns="0" bIns="0">
            <a:spAutoFit/>
          </a:bodyPr>
          <a:lstStyle/>
          <a:p>
            <a:pPr algn="l">
              <a:lnSpc>
                <a:spcPct val="106000"/>
              </a:lnSpc>
              <a:spcBef>
                <a:spcPts val="0"/>
              </a:spcBef>
              <a:spcAft>
                <a:spcPts val="0"/>
              </a:spcAft>
            </a:pPr>
            <a:r>
              <a:rPr sz="950" b="0">
                <a:solidFill>
                  <a:srgbClr val="8A9099"/>
                </a:solidFill>
                <a:latin typeface="Red Hat Text"/>
              </a:rPr>
              <a:t>CONFIDENTIAL</a:t>
            </a:r>
          </a:p>
        </p:txBody>
      </p:sp>
      <p:sp>
        <p:nvSpPr>
          <p:cNvPr id="28" name="TextBox 27"/>
          <p:cNvSpPr txBox="1"/>
          <p:nvPr/>
        </p:nvSpPr>
        <p:spPr>
          <a:xfrm>
            <a:off x="10801807" y="6473952"/>
            <a:ext cx="548640" cy="274320"/>
          </a:xfrm>
          <a:prstGeom prst="rect">
            <a:avLst/>
          </a:prstGeom>
          <a:noFill/>
        </p:spPr>
        <p:txBody>
          <a:bodyPr wrap="square" anchor="t" lIns="0" rIns="0" tIns="0" bIns="0">
            <a:spAutoFit/>
          </a:bodyPr>
          <a:lstStyle/>
          <a:p>
            <a:pPr algn="r">
              <a:lnSpc>
                <a:spcPct val="106000"/>
              </a:lnSpc>
              <a:spcBef>
                <a:spcPts val="0"/>
              </a:spcBef>
              <a:spcAft>
                <a:spcPts val="0"/>
              </a:spcAft>
            </a:pPr>
            <a:r>
              <a:rPr sz="950" b="0">
                <a:solidFill>
                  <a:srgbClr val="8A9099"/>
                </a:solidFill>
                <a:latin typeface="Red Hat Text"/>
              </a:rPr>
              <a:t>6</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redhat_logo.jpg"/>
          <p:cNvPicPr>
            <a:picLocks noChangeAspect="1"/>
          </p:cNvPicPr>
          <p:nvPr/>
        </p:nvPicPr>
        <p:blipFill>
          <a:blip r:embed="rId2"/>
          <a:stretch>
            <a:fillRect/>
          </a:stretch>
        </p:blipFill>
        <p:spPr>
          <a:xfrm>
            <a:off x="841248" y="731520"/>
            <a:ext cx="1554480" cy="367699"/>
          </a:xfrm>
          <a:prstGeom prst="rect">
            <a:avLst/>
          </a:prstGeom>
        </p:spPr>
      </p:pic>
      <p:sp>
        <p:nvSpPr>
          <p:cNvPr id="3" name="TextBox 2"/>
          <p:cNvSpPr txBox="1"/>
          <p:nvPr/>
        </p:nvSpPr>
        <p:spPr>
          <a:xfrm>
            <a:off x="841248" y="2514600"/>
            <a:ext cx="9601200" cy="274320"/>
          </a:xfrm>
          <a:prstGeom prst="rect">
            <a:avLst/>
          </a:prstGeom>
          <a:noFill/>
        </p:spPr>
        <p:txBody>
          <a:bodyPr wrap="square" anchor="t" lIns="0" rIns="0" tIns="0" bIns="0">
            <a:spAutoFit/>
          </a:bodyPr>
          <a:lstStyle/>
          <a:p>
            <a:pPr algn="l">
              <a:lnSpc>
                <a:spcPct val="106000"/>
              </a:lnSpc>
              <a:spcBef>
                <a:spcPts val="0"/>
              </a:spcBef>
              <a:spcAft>
                <a:spcPts val="0"/>
              </a:spcAft>
            </a:pPr>
            <a:r>
              <a:rPr sz="1250" b="1" spc="180">
                <a:solidFill>
                  <a:srgbClr val="2E4A62"/>
                </a:solidFill>
                <a:latin typeface="Red Hat Display"/>
              </a:rPr>
              <a:t>A · FOUNDATIONS</a:t>
            </a:r>
          </a:p>
        </p:txBody>
      </p:sp>
      <p:sp>
        <p:nvSpPr>
          <p:cNvPr id="4" name="TextBox 3"/>
          <p:cNvSpPr txBox="1"/>
          <p:nvPr/>
        </p:nvSpPr>
        <p:spPr>
          <a:xfrm>
            <a:off x="841248" y="2880360"/>
            <a:ext cx="2103120" cy="1188720"/>
          </a:xfrm>
          <a:prstGeom prst="rect">
            <a:avLst/>
          </a:prstGeom>
          <a:noFill/>
        </p:spPr>
        <p:txBody>
          <a:bodyPr wrap="none" anchor="t" lIns="0" rIns="0" tIns="0" bIns="0">
            <a:spAutoFit/>
          </a:bodyPr>
          <a:lstStyle/>
          <a:p>
            <a:pPr algn="l">
              <a:lnSpc>
                <a:spcPct val="90000"/>
              </a:lnSpc>
              <a:spcBef>
                <a:spcPts val="0"/>
              </a:spcBef>
              <a:spcAft>
                <a:spcPts val="0"/>
              </a:spcAft>
            </a:pPr>
            <a:r>
              <a:rPr sz="5200" b="1">
                <a:solidFill>
                  <a:srgbClr val="B80000"/>
                </a:solidFill>
                <a:latin typeface="Red Hat Display"/>
              </a:rPr>
              <a:t>M02</a:t>
            </a:r>
          </a:p>
        </p:txBody>
      </p:sp>
      <p:sp>
        <p:nvSpPr>
          <p:cNvPr id="5" name="TextBox 4"/>
          <p:cNvSpPr txBox="1"/>
          <p:nvPr/>
        </p:nvSpPr>
        <p:spPr>
          <a:xfrm>
            <a:off x="3127248" y="2971800"/>
            <a:ext cx="8412480" cy="1188720"/>
          </a:xfrm>
          <a:prstGeom prst="rect">
            <a:avLst/>
          </a:prstGeom>
          <a:noFill/>
        </p:spPr>
        <p:txBody>
          <a:bodyPr wrap="square" anchor="t" lIns="0" rIns="0" tIns="0" bIns="0">
            <a:spAutoFit/>
          </a:bodyPr>
          <a:lstStyle/>
          <a:p>
            <a:pPr algn="l">
              <a:lnSpc>
                <a:spcPct val="102000"/>
              </a:lnSpc>
              <a:spcBef>
                <a:spcPts val="0"/>
              </a:spcBef>
              <a:spcAft>
                <a:spcPts val="0"/>
              </a:spcAft>
            </a:pPr>
            <a:r>
              <a:rPr sz="3000" b="1">
                <a:solidFill>
                  <a:srgbClr val="1A1A1A"/>
                </a:solidFill>
                <a:latin typeface="Red Hat Display"/>
              </a:rPr>
              <a:t>Ways to Build &amp; Deliver Apps</a:t>
            </a:r>
          </a:p>
        </p:txBody>
      </p:sp>
      <p:cxnSp>
        <p:nvCxnSpPr>
          <p:cNvPr id="6" name="Connector 5"/>
          <p:cNvCxnSpPr/>
          <p:nvPr/>
        </p:nvCxnSpPr>
        <p:spPr>
          <a:xfrm>
            <a:off x="841248" y="4443984"/>
            <a:ext cx="1463040" cy="0"/>
          </a:xfrm>
          <a:prstGeom prst="bentConnector3">
            <a:avLst/>
          </a:prstGeom>
          <a:ln w="38100">
            <a:solidFill>
              <a:srgbClr val="EE0000"/>
            </a:solidFill>
          </a:ln>
          <a:effectLst/>
        </p:spPr>
        <p:style>
          <a:lnRef idx="2">
            <a:schemeClr val="accent1"/>
          </a:lnRef>
          <a:fillRef idx="0">
            <a:schemeClr val="accent1"/>
          </a:fillRef>
          <a:effectRef idx="1">
            <a:schemeClr val="accent1"/>
          </a:effectRef>
          <a:fontRef idx="minor">
            <a:schemeClr val="tx1"/>
          </a:fontRef>
        </p:style>
      </p:cxn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redhat_logo.jpg"/>
          <p:cNvPicPr>
            <a:picLocks noChangeAspect="1"/>
          </p:cNvPicPr>
          <p:nvPr/>
        </p:nvPicPr>
        <p:blipFill>
          <a:blip r:embed="rId2"/>
          <a:stretch>
            <a:fillRect/>
          </a:stretch>
        </p:blipFill>
        <p:spPr>
          <a:xfrm>
            <a:off x="10326319" y="475488"/>
            <a:ext cx="1024128" cy="242248"/>
          </a:xfrm>
          <a:prstGeom prst="rect">
            <a:avLst/>
          </a:prstGeom>
        </p:spPr>
      </p:pic>
      <p:sp>
        <p:nvSpPr>
          <p:cNvPr id="3" name="TextBox 2"/>
          <p:cNvSpPr txBox="1"/>
          <p:nvPr/>
        </p:nvSpPr>
        <p:spPr>
          <a:xfrm>
            <a:off x="841248" y="548640"/>
            <a:ext cx="8595360" cy="274320"/>
          </a:xfrm>
          <a:prstGeom prst="rect">
            <a:avLst/>
          </a:prstGeom>
          <a:noFill/>
        </p:spPr>
        <p:txBody>
          <a:bodyPr wrap="square" anchor="t" lIns="0" rIns="0" tIns="0" bIns="0">
            <a:spAutoFit/>
          </a:bodyPr>
          <a:lstStyle/>
          <a:p>
            <a:pPr algn="l">
              <a:lnSpc>
                <a:spcPct val="106000"/>
              </a:lnSpc>
              <a:spcBef>
                <a:spcPts val="0"/>
              </a:spcBef>
              <a:spcAft>
                <a:spcPts val="0"/>
              </a:spcAft>
            </a:pPr>
            <a:r>
              <a:rPr sz="1250" b="1" spc="220">
                <a:solidFill>
                  <a:srgbClr val="EE0000"/>
                </a:solidFill>
                <a:latin typeface="Red Hat Display"/>
              </a:rPr>
              <a:t>M02 · WAYS TO BUILD &amp; DELIVER APPS</a:t>
            </a:r>
          </a:p>
        </p:txBody>
      </p:sp>
      <p:sp>
        <p:nvSpPr>
          <p:cNvPr id="4" name="TextBox 3"/>
          <p:cNvSpPr txBox="1"/>
          <p:nvPr/>
        </p:nvSpPr>
        <p:spPr>
          <a:xfrm>
            <a:off x="841248" y="877824"/>
            <a:ext cx="10515600" cy="548640"/>
          </a:xfrm>
          <a:prstGeom prst="rect">
            <a:avLst/>
          </a:prstGeom>
          <a:noFill/>
        </p:spPr>
        <p:txBody>
          <a:bodyPr wrap="none" anchor="t" lIns="0" rIns="0" tIns="0" bIns="0">
            <a:spAutoFit/>
          </a:bodyPr>
          <a:lstStyle/>
          <a:p>
            <a:pPr algn="l">
              <a:lnSpc>
                <a:spcPct val="100000"/>
              </a:lnSpc>
              <a:spcBef>
                <a:spcPts val="0"/>
              </a:spcBef>
              <a:spcAft>
                <a:spcPts val="0"/>
              </a:spcAft>
            </a:pPr>
            <a:r>
              <a:rPr sz="2500" b="1">
                <a:solidFill>
                  <a:srgbClr val="1A1A1A"/>
                </a:solidFill>
                <a:latin typeface="Red Hat Display"/>
              </a:rPr>
              <a:t>Here is some source code</a:t>
            </a:r>
          </a:p>
        </p:txBody>
      </p:sp>
      <p:cxnSp>
        <p:nvCxnSpPr>
          <p:cNvPr id="5" name="Connector 4"/>
          <p:cNvCxnSpPr/>
          <p:nvPr/>
        </p:nvCxnSpPr>
        <p:spPr>
          <a:xfrm>
            <a:off x="841248" y="1554480"/>
            <a:ext cx="1371600" cy="0"/>
          </a:xfrm>
          <a:prstGeom prst="bentConnector3">
            <a:avLst/>
          </a:prstGeom>
          <a:ln w="31750">
            <a:solidFill>
              <a:srgbClr val="EE0000"/>
            </a:solidFill>
          </a:ln>
          <a:effectLst/>
        </p:spPr>
        <p:style>
          <a:lnRef idx="2">
            <a:schemeClr val="accent1"/>
          </a:lnRef>
          <a:fillRef idx="0">
            <a:schemeClr val="accent1"/>
          </a:fillRef>
          <a:effectRef idx="1">
            <a:schemeClr val="accent1"/>
          </a:effectRef>
          <a:fontRef idx="minor">
            <a:schemeClr val="tx1"/>
          </a:fontRef>
        </p:style>
      </p:cxnSp>
      <p:sp>
        <p:nvSpPr>
          <p:cNvPr id="6" name="Rounded Rectangle 5"/>
          <p:cNvSpPr/>
          <p:nvPr/>
        </p:nvSpPr>
        <p:spPr>
          <a:xfrm>
            <a:off x="841248" y="2395728"/>
            <a:ext cx="5715000" cy="530352"/>
          </a:xfrm>
          <a:prstGeom prst="roundRect">
            <a:avLst>
              <a:gd name="adj" fmla="val 6000"/>
            </a:avLst>
          </a:prstGeom>
          <a:solidFill>
            <a:srgbClr val="F5F6F8"/>
          </a:solidFill>
          <a:ln w="12700">
            <a:solidFill>
              <a:srgbClr val="DDE1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check_steel.png"/>
          <p:cNvPicPr>
            <a:picLocks noChangeAspect="1"/>
          </p:cNvPicPr>
          <p:nvPr/>
        </p:nvPicPr>
        <p:blipFill>
          <a:blip r:embed="rId3"/>
          <a:stretch>
            <a:fillRect/>
          </a:stretch>
        </p:blipFill>
        <p:spPr>
          <a:xfrm>
            <a:off x="987552" y="2542032"/>
            <a:ext cx="237744" cy="237744"/>
          </a:xfrm>
          <a:prstGeom prst="rect">
            <a:avLst/>
          </a:prstGeom>
        </p:spPr>
      </p:pic>
      <p:sp>
        <p:nvSpPr>
          <p:cNvPr id="8" name="TextBox 7"/>
          <p:cNvSpPr txBox="1"/>
          <p:nvPr/>
        </p:nvSpPr>
        <p:spPr>
          <a:xfrm>
            <a:off x="1353312" y="2395728"/>
            <a:ext cx="5029200" cy="530352"/>
          </a:xfrm>
          <a:prstGeom prst="rect">
            <a:avLst/>
          </a:prstGeom>
          <a:noFill/>
        </p:spPr>
        <p:txBody>
          <a:bodyPr wrap="square" anchor="ctr" lIns="0" rIns="0" tIns="0" bIns="0">
            <a:spAutoFit/>
          </a:bodyPr>
          <a:lstStyle/>
          <a:p>
            <a:pPr algn="l">
              <a:lnSpc>
                <a:spcPct val="106000"/>
              </a:lnSpc>
              <a:spcBef>
                <a:spcPts val="0"/>
              </a:spcBef>
              <a:spcAft>
                <a:spcPts val="0"/>
              </a:spcAft>
            </a:pPr>
            <a:r>
              <a:rPr sz="1200" b="0">
                <a:solidFill>
                  <a:srgbClr val="1A1A1A"/>
                </a:solidFill>
                <a:latin typeface="Red Hat Text"/>
              </a:rPr>
              <a:t>The dev team hands you a Git repo</a:t>
            </a:r>
          </a:p>
        </p:txBody>
      </p:sp>
      <p:sp>
        <p:nvSpPr>
          <p:cNvPr id="9" name="Rounded Rectangle 8"/>
          <p:cNvSpPr/>
          <p:nvPr/>
        </p:nvSpPr>
        <p:spPr>
          <a:xfrm>
            <a:off x="841248" y="2999232"/>
            <a:ext cx="5715000" cy="530352"/>
          </a:xfrm>
          <a:prstGeom prst="roundRect">
            <a:avLst>
              <a:gd name="adj" fmla="val 6000"/>
            </a:avLst>
          </a:prstGeom>
          <a:solidFill>
            <a:srgbClr val="F5F6F8"/>
          </a:solidFill>
          <a:ln w="12700">
            <a:solidFill>
              <a:srgbClr val="DDE1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0" name="Picture 9" descr="check_steel.png"/>
          <p:cNvPicPr>
            <a:picLocks noChangeAspect="1"/>
          </p:cNvPicPr>
          <p:nvPr/>
        </p:nvPicPr>
        <p:blipFill>
          <a:blip r:embed="rId3"/>
          <a:stretch>
            <a:fillRect/>
          </a:stretch>
        </p:blipFill>
        <p:spPr>
          <a:xfrm>
            <a:off x="987552" y="3145536"/>
            <a:ext cx="237744" cy="237744"/>
          </a:xfrm>
          <a:prstGeom prst="rect">
            <a:avLst/>
          </a:prstGeom>
        </p:spPr>
      </p:pic>
      <p:sp>
        <p:nvSpPr>
          <p:cNvPr id="11" name="TextBox 10"/>
          <p:cNvSpPr txBox="1"/>
          <p:nvPr/>
        </p:nvSpPr>
        <p:spPr>
          <a:xfrm>
            <a:off x="1353312" y="2999232"/>
            <a:ext cx="5029200" cy="530352"/>
          </a:xfrm>
          <a:prstGeom prst="rect">
            <a:avLst/>
          </a:prstGeom>
          <a:noFill/>
        </p:spPr>
        <p:txBody>
          <a:bodyPr wrap="square" anchor="ctr" lIns="0" rIns="0" tIns="0" bIns="0">
            <a:spAutoFit/>
          </a:bodyPr>
          <a:lstStyle/>
          <a:p>
            <a:pPr algn="l">
              <a:lnSpc>
                <a:spcPct val="106000"/>
              </a:lnSpc>
              <a:spcBef>
                <a:spcPts val="0"/>
              </a:spcBef>
              <a:spcAft>
                <a:spcPts val="0"/>
              </a:spcAft>
            </a:pPr>
            <a:r>
              <a:rPr sz="1200" b="0">
                <a:solidFill>
                  <a:srgbClr val="1A1A1A"/>
                </a:solidFill>
                <a:latin typeface="Red Hat Text"/>
              </a:rPr>
              <a:t>No image, no Dockerfile anywhere</a:t>
            </a:r>
          </a:p>
        </p:txBody>
      </p:sp>
      <p:sp>
        <p:nvSpPr>
          <p:cNvPr id="12" name="Rounded Rectangle 11"/>
          <p:cNvSpPr/>
          <p:nvPr/>
        </p:nvSpPr>
        <p:spPr>
          <a:xfrm>
            <a:off x="841248" y="3602736"/>
            <a:ext cx="5715000" cy="530352"/>
          </a:xfrm>
          <a:prstGeom prst="roundRect">
            <a:avLst>
              <a:gd name="adj" fmla="val 6000"/>
            </a:avLst>
          </a:prstGeom>
          <a:solidFill>
            <a:srgbClr val="F5F6F8"/>
          </a:solidFill>
          <a:ln w="12700">
            <a:solidFill>
              <a:srgbClr val="DDE1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3" name="Picture 12" descr="check_steel.png"/>
          <p:cNvPicPr>
            <a:picLocks noChangeAspect="1"/>
          </p:cNvPicPr>
          <p:nvPr/>
        </p:nvPicPr>
        <p:blipFill>
          <a:blip r:embed="rId3"/>
          <a:stretch>
            <a:fillRect/>
          </a:stretch>
        </p:blipFill>
        <p:spPr>
          <a:xfrm>
            <a:off x="987552" y="3749040"/>
            <a:ext cx="237744" cy="237744"/>
          </a:xfrm>
          <a:prstGeom prst="rect">
            <a:avLst/>
          </a:prstGeom>
        </p:spPr>
      </p:pic>
      <p:sp>
        <p:nvSpPr>
          <p:cNvPr id="14" name="TextBox 13"/>
          <p:cNvSpPr txBox="1"/>
          <p:nvPr/>
        </p:nvSpPr>
        <p:spPr>
          <a:xfrm>
            <a:off x="1353312" y="3602736"/>
            <a:ext cx="5029200" cy="530352"/>
          </a:xfrm>
          <a:prstGeom prst="rect">
            <a:avLst/>
          </a:prstGeom>
          <a:noFill/>
        </p:spPr>
        <p:txBody>
          <a:bodyPr wrap="square" anchor="ctr" lIns="0" rIns="0" tIns="0" bIns="0">
            <a:spAutoFit/>
          </a:bodyPr>
          <a:lstStyle/>
          <a:p>
            <a:pPr algn="l">
              <a:lnSpc>
                <a:spcPct val="106000"/>
              </a:lnSpc>
              <a:spcBef>
                <a:spcPts val="0"/>
              </a:spcBef>
              <a:spcAft>
                <a:spcPts val="0"/>
              </a:spcAft>
            </a:pPr>
            <a:r>
              <a:rPr sz="1200" b="0">
                <a:solidFill>
                  <a:srgbClr val="1A1A1A"/>
                </a:solidFill>
                <a:latin typeface="Red Hat Text"/>
              </a:rPr>
              <a:t>It has to run on the platform</a:t>
            </a:r>
          </a:p>
        </p:txBody>
      </p:sp>
      <p:sp>
        <p:nvSpPr>
          <p:cNvPr id="15" name="Rounded Rectangle 14"/>
          <p:cNvSpPr/>
          <p:nvPr/>
        </p:nvSpPr>
        <p:spPr>
          <a:xfrm>
            <a:off x="841248" y="4206240"/>
            <a:ext cx="5715000" cy="530352"/>
          </a:xfrm>
          <a:prstGeom prst="roundRect">
            <a:avLst>
              <a:gd name="adj" fmla="val 6000"/>
            </a:avLst>
          </a:prstGeom>
          <a:solidFill>
            <a:srgbClr val="F5F6F8"/>
          </a:solidFill>
          <a:ln w="12700">
            <a:solidFill>
              <a:srgbClr val="DDE1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6" name="Picture 15" descr="check_steel.png"/>
          <p:cNvPicPr>
            <a:picLocks noChangeAspect="1"/>
          </p:cNvPicPr>
          <p:nvPr/>
        </p:nvPicPr>
        <p:blipFill>
          <a:blip r:embed="rId3"/>
          <a:stretch>
            <a:fillRect/>
          </a:stretch>
        </p:blipFill>
        <p:spPr>
          <a:xfrm>
            <a:off x="987552" y="4352544"/>
            <a:ext cx="237744" cy="237744"/>
          </a:xfrm>
          <a:prstGeom prst="rect">
            <a:avLst/>
          </a:prstGeom>
        </p:spPr>
      </p:pic>
      <p:sp>
        <p:nvSpPr>
          <p:cNvPr id="17" name="TextBox 16"/>
          <p:cNvSpPr txBox="1"/>
          <p:nvPr/>
        </p:nvSpPr>
        <p:spPr>
          <a:xfrm>
            <a:off x="1353312" y="4206240"/>
            <a:ext cx="5029200" cy="530352"/>
          </a:xfrm>
          <a:prstGeom prst="rect">
            <a:avLst/>
          </a:prstGeom>
          <a:noFill/>
        </p:spPr>
        <p:txBody>
          <a:bodyPr wrap="square" anchor="ctr" lIns="0" rIns="0" tIns="0" bIns="0">
            <a:spAutoFit/>
          </a:bodyPr>
          <a:lstStyle/>
          <a:p>
            <a:pPr algn="l">
              <a:lnSpc>
                <a:spcPct val="106000"/>
              </a:lnSpc>
              <a:spcBef>
                <a:spcPts val="0"/>
              </a:spcBef>
              <a:spcAft>
                <a:spcPts val="0"/>
              </a:spcAft>
            </a:pPr>
            <a:r>
              <a:rPr sz="1200" b="0">
                <a:solidFill>
                  <a:srgbClr val="1A1A1A"/>
                </a:solidFill>
                <a:latin typeface="Red Hat Text"/>
              </a:rPr>
              <a:t>You could hand-write a build</a:t>
            </a:r>
          </a:p>
        </p:txBody>
      </p:sp>
      <p:sp>
        <p:nvSpPr>
          <p:cNvPr id="18" name="Rounded Rectangle 17"/>
          <p:cNvSpPr/>
          <p:nvPr/>
        </p:nvSpPr>
        <p:spPr>
          <a:xfrm>
            <a:off x="841248" y="4809744"/>
            <a:ext cx="5715000" cy="530352"/>
          </a:xfrm>
          <a:prstGeom prst="roundRect">
            <a:avLst>
              <a:gd name="adj" fmla="val 6000"/>
            </a:avLst>
          </a:prstGeom>
          <a:solidFill>
            <a:srgbClr val="F5F6F8"/>
          </a:solidFill>
          <a:ln w="12700">
            <a:solidFill>
              <a:srgbClr val="DDE1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9" name="Picture 18" descr="check_steel.png"/>
          <p:cNvPicPr>
            <a:picLocks noChangeAspect="1"/>
          </p:cNvPicPr>
          <p:nvPr/>
        </p:nvPicPr>
        <p:blipFill>
          <a:blip r:embed="rId3"/>
          <a:stretch>
            <a:fillRect/>
          </a:stretch>
        </p:blipFill>
        <p:spPr>
          <a:xfrm>
            <a:off x="987552" y="4956048"/>
            <a:ext cx="237744" cy="237744"/>
          </a:xfrm>
          <a:prstGeom prst="rect">
            <a:avLst/>
          </a:prstGeom>
        </p:spPr>
      </p:pic>
      <p:sp>
        <p:nvSpPr>
          <p:cNvPr id="20" name="TextBox 19"/>
          <p:cNvSpPr txBox="1"/>
          <p:nvPr/>
        </p:nvSpPr>
        <p:spPr>
          <a:xfrm>
            <a:off x="1353312" y="4809744"/>
            <a:ext cx="5029200" cy="530352"/>
          </a:xfrm>
          <a:prstGeom prst="rect">
            <a:avLst/>
          </a:prstGeom>
          <a:noFill/>
        </p:spPr>
        <p:txBody>
          <a:bodyPr wrap="square" anchor="ctr" lIns="0" rIns="0" tIns="0" bIns="0">
            <a:spAutoFit/>
          </a:bodyPr>
          <a:lstStyle/>
          <a:p>
            <a:pPr algn="l">
              <a:lnSpc>
                <a:spcPct val="106000"/>
              </a:lnSpc>
              <a:spcBef>
                <a:spcPts val="0"/>
              </a:spcBef>
              <a:spcAft>
                <a:spcPts val="0"/>
              </a:spcAft>
            </a:pPr>
            <a:r>
              <a:rPr sz="1200" b="0">
                <a:solidFill>
                  <a:srgbClr val="1A1A1A"/>
                </a:solidFill>
                <a:latin typeface="Red Hat Text"/>
              </a:rPr>
              <a:t>Or let the platform do it</a:t>
            </a:r>
          </a:p>
        </p:txBody>
      </p:sp>
      <p:sp>
        <p:nvSpPr>
          <p:cNvPr id="21" name="Rounded Rectangle 20"/>
          <p:cNvSpPr/>
          <p:nvPr/>
        </p:nvSpPr>
        <p:spPr>
          <a:xfrm>
            <a:off x="6812280" y="2395728"/>
            <a:ext cx="4538167" cy="2944368"/>
          </a:xfrm>
          <a:prstGeom prst="roundRect">
            <a:avLst>
              <a:gd name="adj" fmla="val 4000"/>
            </a:avLst>
          </a:prstGeom>
          <a:solidFill>
            <a:srgbClr val="FFFFFF"/>
          </a:solidFill>
          <a:ln w="15240">
            <a:solidFill>
              <a:srgbClr val="DDE1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ounded Rectangle 21"/>
          <p:cNvSpPr/>
          <p:nvPr/>
        </p:nvSpPr>
        <p:spPr>
          <a:xfrm>
            <a:off x="7013448" y="2596896"/>
            <a:ext cx="1298448" cy="310896"/>
          </a:xfrm>
          <a:prstGeom prst="roundRect">
            <a:avLst>
              <a:gd name="adj" fmla="val 50000"/>
            </a:avLst>
          </a:prstGeom>
          <a:solidFill>
            <a:srgbClr val="FCEC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7013448" y="2596896"/>
            <a:ext cx="1298448" cy="310896"/>
          </a:xfrm>
          <a:prstGeom prst="rect">
            <a:avLst/>
          </a:prstGeom>
          <a:noFill/>
        </p:spPr>
        <p:txBody>
          <a:bodyPr wrap="none" anchor="ctr" lIns="0" rIns="0" tIns="0" bIns="0">
            <a:spAutoFit/>
          </a:bodyPr>
          <a:lstStyle/>
          <a:p>
            <a:pPr algn="ctr">
              <a:lnSpc>
                <a:spcPct val="106000"/>
              </a:lnSpc>
              <a:spcBef>
                <a:spcPts val="0"/>
              </a:spcBef>
              <a:spcAft>
                <a:spcPts val="0"/>
              </a:spcAft>
            </a:pPr>
            <a:r>
              <a:rPr sz="850" b="1">
                <a:solidFill>
                  <a:srgbClr val="B80000"/>
                </a:solidFill>
                <a:latin typeface="Red Hat Display"/>
              </a:rPr>
              <a:t>MEDIA PASS</a:t>
            </a:r>
          </a:p>
        </p:txBody>
      </p:sp>
      <p:pic>
        <p:nvPicPr>
          <p:cNvPr id="24" name="Picture 23" descr="eye_slate.png"/>
          <p:cNvPicPr>
            <a:picLocks noChangeAspect="1"/>
          </p:cNvPicPr>
          <p:nvPr/>
        </p:nvPicPr>
        <p:blipFill>
          <a:blip r:embed="rId4"/>
          <a:stretch>
            <a:fillRect/>
          </a:stretch>
        </p:blipFill>
        <p:spPr>
          <a:xfrm>
            <a:off x="8843619" y="3108960"/>
            <a:ext cx="475488" cy="475488"/>
          </a:xfrm>
          <a:prstGeom prst="rect">
            <a:avLst/>
          </a:prstGeom>
        </p:spPr>
      </p:pic>
      <p:sp>
        <p:nvSpPr>
          <p:cNvPr id="25" name="TextBox 24"/>
          <p:cNvSpPr txBox="1"/>
          <p:nvPr/>
        </p:nvSpPr>
        <p:spPr>
          <a:xfrm>
            <a:off x="7050024" y="3721608"/>
            <a:ext cx="4062679" cy="1481328"/>
          </a:xfrm>
          <a:prstGeom prst="rect">
            <a:avLst/>
          </a:prstGeom>
          <a:noFill/>
        </p:spPr>
        <p:txBody>
          <a:bodyPr wrap="square" anchor="t" lIns="0" rIns="0" tIns="0" bIns="0">
            <a:spAutoFit/>
          </a:bodyPr>
          <a:lstStyle/>
          <a:p>
            <a:pPr algn="l">
              <a:lnSpc>
                <a:spcPct val="120000"/>
              </a:lnSpc>
              <a:spcBef>
                <a:spcPts val="0"/>
              </a:spcBef>
              <a:spcAft>
                <a:spcPts val="0"/>
              </a:spcAft>
            </a:pPr>
            <a:r>
              <a:rPr sz="950" b="0">
                <a:solidFill>
                  <a:srgbClr val="8A9099"/>
                </a:solidFill>
                <a:latin typeface="Red Hat Text"/>
              </a:rPr>
              <a:t>A Git repo icon with an arrow to a question mark over an OpenShift cluster — "source in, running app out?"</a:t>
            </a:r>
          </a:p>
        </p:txBody>
      </p:sp>
      <p:cxnSp>
        <p:nvCxnSpPr>
          <p:cNvPr id="26" name="Connector 25"/>
          <p:cNvCxnSpPr/>
          <p:nvPr/>
        </p:nvCxnSpPr>
        <p:spPr>
          <a:xfrm>
            <a:off x="841248" y="6437376"/>
            <a:ext cx="10509199" cy="0"/>
          </a:xfrm>
          <a:prstGeom prst="bentConnector3">
            <a:avLst/>
          </a:prstGeom>
          <a:ln w="12700">
            <a:solidFill>
              <a:srgbClr val="DDE1E6"/>
            </a:solidFill>
          </a:ln>
          <a:effectLst/>
        </p:spPr>
        <p:style>
          <a:lnRef idx="2">
            <a:schemeClr val="accent1"/>
          </a:lnRef>
          <a:fillRef idx="0">
            <a:schemeClr val="accent1"/>
          </a:fillRef>
          <a:effectRef idx="1">
            <a:schemeClr val="accent1"/>
          </a:effectRef>
          <a:fontRef idx="minor">
            <a:schemeClr val="tx1"/>
          </a:fontRef>
        </p:style>
      </p:cxnSp>
      <p:sp>
        <p:nvSpPr>
          <p:cNvPr id="27" name="TextBox 26"/>
          <p:cNvSpPr txBox="1"/>
          <p:nvPr/>
        </p:nvSpPr>
        <p:spPr>
          <a:xfrm>
            <a:off x="841248" y="6473952"/>
            <a:ext cx="7315200" cy="274320"/>
          </a:xfrm>
          <a:prstGeom prst="rect">
            <a:avLst/>
          </a:prstGeom>
          <a:noFill/>
        </p:spPr>
        <p:txBody>
          <a:bodyPr wrap="square" anchor="t" lIns="0" rIns="0" tIns="0" bIns="0">
            <a:spAutoFit/>
          </a:bodyPr>
          <a:lstStyle/>
          <a:p>
            <a:pPr algn="l">
              <a:lnSpc>
                <a:spcPct val="106000"/>
              </a:lnSpc>
              <a:spcBef>
                <a:spcPts val="0"/>
              </a:spcBef>
              <a:spcAft>
                <a:spcPts val="0"/>
              </a:spcAft>
            </a:pPr>
            <a:r>
              <a:rPr sz="950" b="0">
                <a:solidFill>
                  <a:srgbClr val="8A9099"/>
                </a:solidFill>
                <a:latin typeface="Red Hat Text"/>
              </a:rPr>
              <a:t>CONFIDENTIAL</a:t>
            </a:r>
          </a:p>
        </p:txBody>
      </p:sp>
      <p:sp>
        <p:nvSpPr>
          <p:cNvPr id="28" name="TextBox 27"/>
          <p:cNvSpPr txBox="1"/>
          <p:nvPr/>
        </p:nvSpPr>
        <p:spPr>
          <a:xfrm>
            <a:off x="10801807" y="6473952"/>
            <a:ext cx="548640" cy="274320"/>
          </a:xfrm>
          <a:prstGeom prst="rect">
            <a:avLst/>
          </a:prstGeom>
          <a:noFill/>
        </p:spPr>
        <p:txBody>
          <a:bodyPr wrap="square" anchor="t" lIns="0" rIns="0" tIns="0" bIns="0">
            <a:spAutoFit/>
          </a:bodyPr>
          <a:lstStyle/>
          <a:p>
            <a:pPr algn="r">
              <a:lnSpc>
                <a:spcPct val="106000"/>
              </a:lnSpc>
              <a:spcBef>
                <a:spcPts val="0"/>
              </a:spcBef>
              <a:spcAft>
                <a:spcPts val="0"/>
              </a:spcAft>
            </a:pPr>
            <a:r>
              <a:rPr sz="950" b="0">
                <a:solidFill>
                  <a:srgbClr val="8A9099"/>
                </a:solidFill>
                <a:latin typeface="Red Hat Text"/>
              </a:rPr>
              <a:t>7</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redhat_logo.jpg"/>
          <p:cNvPicPr>
            <a:picLocks noChangeAspect="1"/>
          </p:cNvPicPr>
          <p:nvPr/>
        </p:nvPicPr>
        <p:blipFill>
          <a:blip r:embed="rId2"/>
          <a:stretch>
            <a:fillRect/>
          </a:stretch>
        </p:blipFill>
        <p:spPr>
          <a:xfrm>
            <a:off x="10326319" y="475488"/>
            <a:ext cx="1024128" cy="242248"/>
          </a:xfrm>
          <a:prstGeom prst="rect">
            <a:avLst/>
          </a:prstGeom>
        </p:spPr>
      </p:pic>
      <p:sp>
        <p:nvSpPr>
          <p:cNvPr id="3" name="TextBox 2"/>
          <p:cNvSpPr txBox="1"/>
          <p:nvPr/>
        </p:nvSpPr>
        <p:spPr>
          <a:xfrm>
            <a:off x="841248" y="548640"/>
            <a:ext cx="8595360" cy="274320"/>
          </a:xfrm>
          <a:prstGeom prst="rect">
            <a:avLst/>
          </a:prstGeom>
          <a:noFill/>
        </p:spPr>
        <p:txBody>
          <a:bodyPr wrap="square" anchor="t" lIns="0" rIns="0" tIns="0" bIns="0">
            <a:spAutoFit/>
          </a:bodyPr>
          <a:lstStyle/>
          <a:p>
            <a:pPr algn="l">
              <a:lnSpc>
                <a:spcPct val="106000"/>
              </a:lnSpc>
              <a:spcBef>
                <a:spcPts val="0"/>
              </a:spcBef>
              <a:spcAft>
                <a:spcPts val="0"/>
              </a:spcAft>
            </a:pPr>
            <a:r>
              <a:rPr sz="1250" b="1" spc="220">
                <a:solidFill>
                  <a:srgbClr val="EE0000"/>
                </a:solidFill>
                <a:latin typeface="Red Hat Display"/>
              </a:rPr>
              <a:t>M02 · WAYS TO BUILD &amp; DELIVER APPS</a:t>
            </a:r>
          </a:p>
        </p:txBody>
      </p:sp>
      <p:sp>
        <p:nvSpPr>
          <p:cNvPr id="4" name="TextBox 3"/>
          <p:cNvSpPr txBox="1"/>
          <p:nvPr/>
        </p:nvSpPr>
        <p:spPr>
          <a:xfrm>
            <a:off x="841248" y="877824"/>
            <a:ext cx="10515600" cy="548640"/>
          </a:xfrm>
          <a:prstGeom prst="rect">
            <a:avLst/>
          </a:prstGeom>
          <a:noFill/>
        </p:spPr>
        <p:txBody>
          <a:bodyPr wrap="none" anchor="t" lIns="0" rIns="0" tIns="0" bIns="0">
            <a:spAutoFit/>
          </a:bodyPr>
          <a:lstStyle/>
          <a:p>
            <a:pPr algn="l">
              <a:lnSpc>
                <a:spcPct val="100000"/>
              </a:lnSpc>
              <a:spcBef>
                <a:spcPts val="0"/>
              </a:spcBef>
              <a:spcAft>
                <a:spcPts val="0"/>
              </a:spcAft>
            </a:pPr>
            <a:r>
              <a:rPr sz="2500" b="1">
                <a:solidFill>
                  <a:srgbClr val="1A1A1A"/>
                </a:solidFill>
                <a:latin typeface="Red Hat Display"/>
              </a:rPr>
              <a:t>The build spectrum — four on-ramps</a:t>
            </a:r>
          </a:p>
        </p:txBody>
      </p:sp>
      <p:cxnSp>
        <p:nvCxnSpPr>
          <p:cNvPr id="5" name="Connector 4"/>
          <p:cNvCxnSpPr/>
          <p:nvPr/>
        </p:nvCxnSpPr>
        <p:spPr>
          <a:xfrm>
            <a:off x="841248" y="1554480"/>
            <a:ext cx="1371600" cy="0"/>
          </a:xfrm>
          <a:prstGeom prst="bentConnector3">
            <a:avLst/>
          </a:prstGeom>
          <a:ln w="31750">
            <a:solidFill>
              <a:srgbClr val="EE0000"/>
            </a:solidFill>
          </a:ln>
          <a:effectLst/>
        </p:spPr>
        <p:style>
          <a:lnRef idx="2">
            <a:schemeClr val="accent1"/>
          </a:lnRef>
          <a:fillRef idx="0">
            <a:schemeClr val="accent1"/>
          </a:fillRef>
          <a:effectRef idx="1">
            <a:schemeClr val="accent1"/>
          </a:effectRef>
          <a:fontRef idx="minor">
            <a:schemeClr val="tx1"/>
          </a:fontRef>
        </p:style>
      </p:cxnSp>
      <p:sp>
        <p:nvSpPr>
          <p:cNvPr id="6" name="Rounded Rectangle 5"/>
          <p:cNvSpPr/>
          <p:nvPr/>
        </p:nvSpPr>
        <p:spPr>
          <a:xfrm>
            <a:off x="841248" y="2395728"/>
            <a:ext cx="5715000" cy="530352"/>
          </a:xfrm>
          <a:prstGeom prst="roundRect">
            <a:avLst>
              <a:gd name="adj" fmla="val 6000"/>
            </a:avLst>
          </a:prstGeom>
          <a:solidFill>
            <a:srgbClr val="F5F6F8"/>
          </a:solidFill>
          <a:ln w="12700">
            <a:solidFill>
              <a:srgbClr val="DDE1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check_steel.png"/>
          <p:cNvPicPr>
            <a:picLocks noChangeAspect="1"/>
          </p:cNvPicPr>
          <p:nvPr/>
        </p:nvPicPr>
        <p:blipFill>
          <a:blip r:embed="rId3"/>
          <a:stretch>
            <a:fillRect/>
          </a:stretch>
        </p:blipFill>
        <p:spPr>
          <a:xfrm>
            <a:off x="987552" y="2542032"/>
            <a:ext cx="237744" cy="237744"/>
          </a:xfrm>
          <a:prstGeom prst="rect">
            <a:avLst/>
          </a:prstGeom>
        </p:spPr>
      </p:pic>
      <p:sp>
        <p:nvSpPr>
          <p:cNvPr id="8" name="TextBox 7"/>
          <p:cNvSpPr txBox="1"/>
          <p:nvPr/>
        </p:nvSpPr>
        <p:spPr>
          <a:xfrm>
            <a:off x="1353312" y="2395728"/>
            <a:ext cx="5029200" cy="530352"/>
          </a:xfrm>
          <a:prstGeom prst="rect">
            <a:avLst/>
          </a:prstGeom>
          <a:noFill/>
        </p:spPr>
        <p:txBody>
          <a:bodyPr wrap="square" anchor="ctr" lIns="0" rIns="0" tIns="0" bIns="0">
            <a:spAutoFit/>
          </a:bodyPr>
          <a:lstStyle/>
          <a:p>
            <a:pPr algn="l">
              <a:lnSpc>
                <a:spcPct val="106000"/>
              </a:lnSpc>
              <a:spcBef>
                <a:spcPts val="0"/>
              </a:spcBef>
              <a:spcAft>
                <a:spcPts val="0"/>
              </a:spcAft>
            </a:pPr>
            <a:r>
              <a:rPr sz="1200" b="0">
                <a:solidFill>
                  <a:srgbClr val="1A1A1A"/>
                </a:solidFill>
                <a:latin typeface="Red Hat Text"/>
              </a:rPr>
              <a:t>Deploy from image: no build</a:t>
            </a:r>
          </a:p>
        </p:txBody>
      </p:sp>
      <p:sp>
        <p:nvSpPr>
          <p:cNvPr id="9" name="Rounded Rectangle 8"/>
          <p:cNvSpPr/>
          <p:nvPr/>
        </p:nvSpPr>
        <p:spPr>
          <a:xfrm>
            <a:off x="841248" y="2999232"/>
            <a:ext cx="5715000" cy="530352"/>
          </a:xfrm>
          <a:prstGeom prst="roundRect">
            <a:avLst>
              <a:gd name="adj" fmla="val 6000"/>
            </a:avLst>
          </a:prstGeom>
          <a:solidFill>
            <a:srgbClr val="F5F6F8"/>
          </a:solidFill>
          <a:ln w="12700">
            <a:solidFill>
              <a:srgbClr val="DDE1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0" name="Picture 9" descr="check_steel.png"/>
          <p:cNvPicPr>
            <a:picLocks noChangeAspect="1"/>
          </p:cNvPicPr>
          <p:nvPr/>
        </p:nvPicPr>
        <p:blipFill>
          <a:blip r:embed="rId3"/>
          <a:stretch>
            <a:fillRect/>
          </a:stretch>
        </p:blipFill>
        <p:spPr>
          <a:xfrm>
            <a:off x="987552" y="3145536"/>
            <a:ext cx="237744" cy="237744"/>
          </a:xfrm>
          <a:prstGeom prst="rect">
            <a:avLst/>
          </a:prstGeom>
        </p:spPr>
      </p:pic>
      <p:sp>
        <p:nvSpPr>
          <p:cNvPr id="11" name="TextBox 10"/>
          <p:cNvSpPr txBox="1"/>
          <p:nvPr/>
        </p:nvSpPr>
        <p:spPr>
          <a:xfrm>
            <a:off x="1353312" y="2999232"/>
            <a:ext cx="5029200" cy="530352"/>
          </a:xfrm>
          <a:prstGeom prst="rect">
            <a:avLst/>
          </a:prstGeom>
          <a:noFill/>
        </p:spPr>
        <p:txBody>
          <a:bodyPr wrap="square" anchor="ctr" lIns="0" rIns="0" tIns="0" bIns="0">
            <a:spAutoFit/>
          </a:bodyPr>
          <a:lstStyle/>
          <a:p>
            <a:pPr algn="l">
              <a:lnSpc>
                <a:spcPct val="106000"/>
              </a:lnSpc>
              <a:spcBef>
                <a:spcPts val="0"/>
              </a:spcBef>
              <a:spcAft>
                <a:spcPts val="0"/>
              </a:spcAft>
            </a:pPr>
            <a:r>
              <a:rPr sz="1200" b="0">
                <a:solidFill>
                  <a:srgbClr val="1A1A1A"/>
                </a:solidFill>
                <a:latin typeface="Red Hat Text"/>
              </a:rPr>
              <a:t>Import from Git: Source-to-Image</a:t>
            </a:r>
          </a:p>
        </p:txBody>
      </p:sp>
      <p:sp>
        <p:nvSpPr>
          <p:cNvPr id="12" name="Rounded Rectangle 11"/>
          <p:cNvSpPr/>
          <p:nvPr/>
        </p:nvSpPr>
        <p:spPr>
          <a:xfrm>
            <a:off x="841248" y="3602736"/>
            <a:ext cx="5715000" cy="530352"/>
          </a:xfrm>
          <a:prstGeom prst="roundRect">
            <a:avLst>
              <a:gd name="adj" fmla="val 6000"/>
            </a:avLst>
          </a:prstGeom>
          <a:solidFill>
            <a:srgbClr val="F5F6F8"/>
          </a:solidFill>
          <a:ln w="12700">
            <a:solidFill>
              <a:srgbClr val="DDE1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3" name="Picture 12" descr="check_steel.png"/>
          <p:cNvPicPr>
            <a:picLocks noChangeAspect="1"/>
          </p:cNvPicPr>
          <p:nvPr/>
        </p:nvPicPr>
        <p:blipFill>
          <a:blip r:embed="rId3"/>
          <a:stretch>
            <a:fillRect/>
          </a:stretch>
        </p:blipFill>
        <p:spPr>
          <a:xfrm>
            <a:off x="987552" y="3749040"/>
            <a:ext cx="237744" cy="237744"/>
          </a:xfrm>
          <a:prstGeom prst="rect">
            <a:avLst/>
          </a:prstGeom>
        </p:spPr>
      </p:pic>
      <p:sp>
        <p:nvSpPr>
          <p:cNvPr id="14" name="TextBox 13"/>
          <p:cNvSpPr txBox="1"/>
          <p:nvPr/>
        </p:nvSpPr>
        <p:spPr>
          <a:xfrm>
            <a:off x="1353312" y="3602736"/>
            <a:ext cx="5029200" cy="530352"/>
          </a:xfrm>
          <a:prstGeom prst="rect">
            <a:avLst/>
          </a:prstGeom>
          <a:noFill/>
        </p:spPr>
        <p:txBody>
          <a:bodyPr wrap="square" anchor="ctr" lIns="0" rIns="0" tIns="0" bIns="0">
            <a:spAutoFit/>
          </a:bodyPr>
          <a:lstStyle/>
          <a:p>
            <a:pPr algn="l">
              <a:lnSpc>
                <a:spcPct val="106000"/>
              </a:lnSpc>
              <a:spcBef>
                <a:spcPts val="0"/>
              </a:spcBef>
              <a:spcAft>
                <a:spcPts val="0"/>
              </a:spcAft>
            </a:pPr>
            <a:r>
              <a:rPr sz="1200" b="0">
                <a:solidFill>
                  <a:srgbClr val="1A1A1A"/>
                </a:solidFill>
                <a:latin typeface="Red Hat Text"/>
              </a:rPr>
              <a:t>Dockerfile / Containerfile: full control</a:t>
            </a:r>
          </a:p>
        </p:txBody>
      </p:sp>
      <p:sp>
        <p:nvSpPr>
          <p:cNvPr id="15" name="Rounded Rectangle 14"/>
          <p:cNvSpPr/>
          <p:nvPr/>
        </p:nvSpPr>
        <p:spPr>
          <a:xfrm>
            <a:off x="841248" y="4206240"/>
            <a:ext cx="5715000" cy="530352"/>
          </a:xfrm>
          <a:prstGeom prst="roundRect">
            <a:avLst>
              <a:gd name="adj" fmla="val 6000"/>
            </a:avLst>
          </a:prstGeom>
          <a:solidFill>
            <a:srgbClr val="F5F6F8"/>
          </a:solidFill>
          <a:ln w="12700">
            <a:solidFill>
              <a:srgbClr val="DDE1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6" name="Picture 15" descr="check_steel.png"/>
          <p:cNvPicPr>
            <a:picLocks noChangeAspect="1"/>
          </p:cNvPicPr>
          <p:nvPr/>
        </p:nvPicPr>
        <p:blipFill>
          <a:blip r:embed="rId3"/>
          <a:stretch>
            <a:fillRect/>
          </a:stretch>
        </p:blipFill>
        <p:spPr>
          <a:xfrm>
            <a:off x="987552" y="4352544"/>
            <a:ext cx="237744" cy="237744"/>
          </a:xfrm>
          <a:prstGeom prst="rect">
            <a:avLst/>
          </a:prstGeom>
        </p:spPr>
      </p:pic>
      <p:sp>
        <p:nvSpPr>
          <p:cNvPr id="17" name="TextBox 16"/>
          <p:cNvSpPr txBox="1"/>
          <p:nvPr/>
        </p:nvSpPr>
        <p:spPr>
          <a:xfrm>
            <a:off x="1353312" y="4206240"/>
            <a:ext cx="5029200" cy="530352"/>
          </a:xfrm>
          <a:prstGeom prst="rect">
            <a:avLst/>
          </a:prstGeom>
          <a:noFill/>
        </p:spPr>
        <p:txBody>
          <a:bodyPr wrap="square" anchor="ctr" lIns="0" rIns="0" tIns="0" bIns="0">
            <a:spAutoFit/>
          </a:bodyPr>
          <a:lstStyle/>
          <a:p>
            <a:pPr algn="l">
              <a:lnSpc>
                <a:spcPct val="106000"/>
              </a:lnSpc>
              <a:spcBef>
                <a:spcPts val="0"/>
              </a:spcBef>
              <a:spcAft>
                <a:spcPts val="0"/>
              </a:spcAft>
            </a:pPr>
            <a:r>
              <a:rPr sz="1200" b="0">
                <a:solidFill>
                  <a:srgbClr val="1A1A1A"/>
                </a:solidFill>
                <a:latin typeface="Red Hat Text"/>
              </a:rPr>
              <a:t>Pipeline: when build is a workflow</a:t>
            </a:r>
          </a:p>
        </p:txBody>
      </p:sp>
      <p:sp>
        <p:nvSpPr>
          <p:cNvPr id="18" name="Rounded Rectangle 17"/>
          <p:cNvSpPr/>
          <p:nvPr/>
        </p:nvSpPr>
        <p:spPr>
          <a:xfrm>
            <a:off x="841248" y="4809744"/>
            <a:ext cx="5715000" cy="530352"/>
          </a:xfrm>
          <a:prstGeom prst="roundRect">
            <a:avLst>
              <a:gd name="adj" fmla="val 6000"/>
            </a:avLst>
          </a:prstGeom>
          <a:solidFill>
            <a:srgbClr val="F5F6F8"/>
          </a:solidFill>
          <a:ln w="12700">
            <a:solidFill>
              <a:srgbClr val="DDE1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9" name="Picture 18" descr="check_steel.png"/>
          <p:cNvPicPr>
            <a:picLocks noChangeAspect="1"/>
          </p:cNvPicPr>
          <p:nvPr/>
        </p:nvPicPr>
        <p:blipFill>
          <a:blip r:embed="rId3"/>
          <a:stretch>
            <a:fillRect/>
          </a:stretch>
        </p:blipFill>
        <p:spPr>
          <a:xfrm>
            <a:off x="987552" y="4956048"/>
            <a:ext cx="237744" cy="237744"/>
          </a:xfrm>
          <a:prstGeom prst="rect">
            <a:avLst/>
          </a:prstGeom>
        </p:spPr>
      </p:pic>
      <p:sp>
        <p:nvSpPr>
          <p:cNvPr id="20" name="TextBox 19"/>
          <p:cNvSpPr txBox="1"/>
          <p:nvPr/>
        </p:nvSpPr>
        <p:spPr>
          <a:xfrm>
            <a:off x="1353312" y="4809744"/>
            <a:ext cx="5029200" cy="530352"/>
          </a:xfrm>
          <a:prstGeom prst="rect">
            <a:avLst/>
          </a:prstGeom>
          <a:noFill/>
        </p:spPr>
        <p:txBody>
          <a:bodyPr wrap="square" anchor="ctr" lIns="0" rIns="0" tIns="0" bIns="0">
            <a:spAutoFit/>
          </a:bodyPr>
          <a:lstStyle/>
          <a:p>
            <a:pPr algn="l">
              <a:lnSpc>
                <a:spcPct val="106000"/>
              </a:lnSpc>
              <a:spcBef>
                <a:spcPts val="0"/>
              </a:spcBef>
              <a:spcAft>
                <a:spcPts val="0"/>
              </a:spcAft>
            </a:pPr>
            <a:r>
              <a:rPr sz="1200" b="0">
                <a:solidFill>
                  <a:srgbClr val="1A1A1A"/>
                </a:solidFill>
                <a:latin typeface="Red Hat Text"/>
              </a:rPr>
              <a:t>Match the on-ramp to the app</a:t>
            </a:r>
          </a:p>
        </p:txBody>
      </p:sp>
      <p:sp>
        <p:nvSpPr>
          <p:cNvPr id="21" name="Rounded Rectangle 20"/>
          <p:cNvSpPr/>
          <p:nvPr/>
        </p:nvSpPr>
        <p:spPr>
          <a:xfrm>
            <a:off x="6812280" y="2395728"/>
            <a:ext cx="4538167" cy="2944368"/>
          </a:xfrm>
          <a:prstGeom prst="roundRect">
            <a:avLst>
              <a:gd name="adj" fmla="val 4000"/>
            </a:avLst>
          </a:prstGeom>
          <a:solidFill>
            <a:srgbClr val="FFFFFF"/>
          </a:solidFill>
          <a:ln w="15240">
            <a:solidFill>
              <a:srgbClr val="DDE1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ounded Rectangle 21"/>
          <p:cNvSpPr/>
          <p:nvPr/>
        </p:nvSpPr>
        <p:spPr>
          <a:xfrm>
            <a:off x="7013448" y="2596896"/>
            <a:ext cx="1298448" cy="310896"/>
          </a:xfrm>
          <a:prstGeom prst="roundRect">
            <a:avLst>
              <a:gd name="adj" fmla="val 50000"/>
            </a:avLst>
          </a:prstGeom>
          <a:solidFill>
            <a:srgbClr val="FCEC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7013448" y="2596896"/>
            <a:ext cx="1298448" cy="310896"/>
          </a:xfrm>
          <a:prstGeom prst="rect">
            <a:avLst/>
          </a:prstGeom>
          <a:noFill/>
        </p:spPr>
        <p:txBody>
          <a:bodyPr wrap="none" anchor="ctr" lIns="0" rIns="0" tIns="0" bIns="0">
            <a:spAutoFit/>
          </a:bodyPr>
          <a:lstStyle/>
          <a:p>
            <a:pPr algn="ctr">
              <a:lnSpc>
                <a:spcPct val="106000"/>
              </a:lnSpc>
              <a:spcBef>
                <a:spcPts val="0"/>
              </a:spcBef>
              <a:spcAft>
                <a:spcPts val="0"/>
              </a:spcAft>
            </a:pPr>
            <a:r>
              <a:rPr sz="850" b="1">
                <a:solidFill>
                  <a:srgbClr val="B80000"/>
                </a:solidFill>
                <a:latin typeface="Red Hat Display"/>
              </a:rPr>
              <a:t>MEDIA PASS</a:t>
            </a:r>
          </a:p>
        </p:txBody>
      </p:sp>
      <p:pic>
        <p:nvPicPr>
          <p:cNvPr id="24" name="Picture 23" descr="eye_slate.png"/>
          <p:cNvPicPr>
            <a:picLocks noChangeAspect="1"/>
          </p:cNvPicPr>
          <p:nvPr/>
        </p:nvPicPr>
        <p:blipFill>
          <a:blip r:embed="rId4"/>
          <a:stretch>
            <a:fillRect/>
          </a:stretch>
        </p:blipFill>
        <p:spPr>
          <a:xfrm>
            <a:off x="8843619" y="3108960"/>
            <a:ext cx="475488" cy="475488"/>
          </a:xfrm>
          <a:prstGeom prst="rect">
            <a:avLst/>
          </a:prstGeom>
        </p:spPr>
      </p:pic>
      <p:sp>
        <p:nvSpPr>
          <p:cNvPr id="25" name="TextBox 24"/>
          <p:cNvSpPr txBox="1"/>
          <p:nvPr/>
        </p:nvSpPr>
        <p:spPr>
          <a:xfrm>
            <a:off x="7050024" y="3721608"/>
            <a:ext cx="4062679" cy="1481328"/>
          </a:xfrm>
          <a:prstGeom prst="rect">
            <a:avLst/>
          </a:prstGeom>
          <a:noFill/>
        </p:spPr>
        <p:txBody>
          <a:bodyPr wrap="square" anchor="t" lIns="0" rIns="0" tIns="0" bIns="0">
            <a:spAutoFit/>
          </a:bodyPr>
          <a:lstStyle/>
          <a:p>
            <a:pPr algn="l">
              <a:lnSpc>
                <a:spcPct val="120000"/>
              </a:lnSpc>
              <a:spcBef>
                <a:spcPts val="0"/>
              </a:spcBef>
              <a:spcAft>
                <a:spcPts val="0"/>
              </a:spcAft>
            </a:pPr>
            <a:r>
              <a:rPr sz="950" b="0">
                <a:solidFill>
                  <a:srgbClr val="8A9099"/>
                </a:solidFill>
                <a:latin typeface="Red Hat Text"/>
              </a:rPr>
              <a:t>Reuse concept diagram build-deliver-01-build-spectrum.svg — the decision tree from image? / source? / need control? / workflow?</a:t>
            </a:r>
          </a:p>
        </p:txBody>
      </p:sp>
      <p:cxnSp>
        <p:nvCxnSpPr>
          <p:cNvPr id="26" name="Connector 25"/>
          <p:cNvCxnSpPr/>
          <p:nvPr/>
        </p:nvCxnSpPr>
        <p:spPr>
          <a:xfrm>
            <a:off x="841248" y="6437376"/>
            <a:ext cx="10509199" cy="0"/>
          </a:xfrm>
          <a:prstGeom prst="bentConnector3">
            <a:avLst/>
          </a:prstGeom>
          <a:ln w="12700">
            <a:solidFill>
              <a:srgbClr val="DDE1E6"/>
            </a:solidFill>
          </a:ln>
          <a:effectLst/>
        </p:spPr>
        <p:style>
          <a:lnRef idx="2">
            <a:schemeClr val="accent1"/>
          </a:lnRef>
          <a:fillRef idx="0">
            <a:schemeClr val="accent1"/>
          </a:fillRef>
          <a:effectRef idx="1">
            <a:schemeClr val="accent1"/>
          </a:effectRef>
          <a:fontRef idx="minor">
            <a:schemeClr val="tx1"/>
          </a:fontRef>
        </p:style>
      </p:cxnSp>
      <p:sp>
        <p:nvSpPr>
          <p:cNvPr id="27" name="TextBox 26"/>
          <p:cNvSpPr txBox="1"/>
          <p:nvPr/>
        </p:nvSpPr>
        <p:spPr>
          <a:xfrm>
            <a:off x="841248" y="6473952"/>
            <a:ext cx="7315200" cy="274320"/>
          </a:xfrm>
          <a:prstGeom prst="rect">
            <a:avLst/>
          </a:prstGeom>
          <a:noFill/>
        </p:spPr>
        <p:txBody>
          <a:bodyPr wrap="square" anchor="t" lIns="0" rIns="0" tIns="0" bIns="0">
            <a:spAutoFit/>
          </a:bodyPr>
          <a:lstStyle/>
          <a:p>
            <a:pPr algn="l">
              <a:lnSpc>
                <a:spcPct val="106000"/>
              </a:lnSpc>
              <a:spcBef>
                <a:spcPts val="0"/>
              </a:spcBef>
              <a:spcAft>
                <a:spcPts val="0"/>
              </a:spcAft>
            </a:pPr>
            <a:r>
              <a:rPr sz="950" b="0">
                <a:solidFill>
                  <a:srgbClr val="8A9099"/>
                </a:solidFill>
                <a:latin typeface="Red Hat Text"/>
              </a:rPr>
              <a:t>CONFIDENTIAL</a:t>
            </a:r>
          </a:p>
        </p:txBody>
      </p:sp>
      <p:sp>
        <p:nvSpPr>
          <p:cNvPr id="28" name="TextBox 27"/>
          <p:cNvSpPr txBox="1"/>
          <p:nvPr/>
        </p:nvSpPr>
        <p:spPr>
          <a:xfrm>
            <a:off x="10801807" y="6473952"/>
            <a:ext cx="548640" cy="274320"/>
          </a:xfrm>
          <a:prstGeom prst="rect">
            <a:avLst/>
          </a:prstGeom>
          <a:noFill/>
        </p:spPr>
        <p:txBody>
          <a:bodyPr wrap="square" anchor="t" lIns="0" rIns="0" tIns="0" bIns="0">
            <a:spAutoFit/>
          </a:bodyPr>
          <a:lstStyle/>
          <a:p>
            <a:pPr algn="r">
              <a:lnSpc>
                <a:spcPct val="106000"/>
              </a:lnSpc>
              <a:spcBef>
                <a:spcPts val="0"/>
              </a:spcBef>
              <a:spcAft>
                <a:spcPts val="0"/>
              </a:spcAft>
            </a:pPr>
            <a:r>
              <a:rPr sz="950" b="0">
                <a:solidFill>
                  <a:srgbClr val="8A9099"/>
                </a:solidFill>
                <a:latin typeface="Red Hat Text"/>
              </a:rPr>
              <a:t>8</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redhat_logo.jpg"/>
          <p:cNvPicPr>
            <a:picLocks noChangeAspect="1"/>
          </p:cNvPicPr>
          <p:nvPr/>
        </p:nvPicPr>
        <p:blipFill>
          <a:blip r:embed="rId2"/>
          <a:stretch>
            <a:fillRect/>
          </a:stretch>
        </p:blipFill>
        <p:spPr>
          <a:xfrm>
            <a:off x="10326319" y="475488"/>
            <a:ext cx="1024128" cy="242248"/>
          </a:xfrm>
          <a:prstGeom prst="rect">
            <a:avLst/>
          </a:prstGeom>
        </p:spPr>
      </p:pic>
      <p:sp>
        <p:nvSpPr>
          <p:cNvPr id="3" name="TextBox 2"/>
          <p:cNvSpPr txBox="1"/>
          <p:nvPr/>
        </p:nvSpPr>
        <p:spPr>
          <a:xfrm>
            <a:off x="841248" y="548640"/>
            <a:ext cx="8595360" cy="274320"/>
          </a:xfrm>
          <a:prstGeom prst="rect">
            <a:avLst/>
          </a:prstGeom>
          <a:noFill/>
        </p:spPr>
        <p:txBody>
          <a:bodyPr wrap="square" anchor="t" lIns="0" rIns="0" tIns="0" bIns="0">
            <a:spAutoFit/>
          </a:bodyPr>
          <a:lstStyle/>
          <a:p>
            <a:pPr algn="l">
              <a:lnSpc>
                <a:spcPct val="106000"/>
              </a:lnSpc>
              <a:spcBef>
                <a:spcPts val="0"/>
              </a:spcBef>
              <a:spcAft>
                <a:spcPts val="0"/>
              </a:spcAft>
            </a:pPr>
            <a:r>
              <a:rPr sz="1250" b="1" spc="220">
                <a:solidFill>
                  <a:srgbClr val="EE0000"/>
                </a:solidFill>
                <a:latin typeface="Red Hat Display"/>
              </a:rPr>
              <a:t>M02 · WAYS TO BUILD &amp; DELIVER APPS</a:t>
            </a:r>
          </a:p>
        </p:txBody>
      </p:sp>
      <p:sp>
        <p:nvSpPr>
          <p:cNvPr id="4" name="TextBox 3"/>
          <p:cNvSpPr txBox="1"/>
          <p:nvPr/>
        </p:nvSpPr>
        <p:spPr>
          <a:xfrm>
            <a:off x="841248" y="877824"/>
            <a:ext cx="10515600" cy="548640"/>
          </a:xfrm>
          <a:prstGeom prst="rect">
            <a:avLst/>
          </a:prstGeom>
          <a:noFill/>
        </p:spPr>
        <p:txBody>
          <a:bodyPr wrap="none" anchor="t" lIns="0" rIns="0" tIns="0" bIns="0">
            <a:spAutoFit/>
          </a:bodyPr>
          <a:lstStyle/>
          <a:p>
            <a:pPr algn="l">
              <a:lnSpc>
                <a:spcPct val="100000"/>
              </a:lnSpc>
              <a:spcBef>
                <a:spcPts val="0"/>
              </a:spcBef>
              <a:spcAft>
                <a:spcPts val="0"/>
              </a:spcAft>
            </a:pPr>
            <a:r>
              <a:rPr sz="2500" b="1">
                <a:solidFill>
                  <a:srgbClr val="1A1A1A"/>
                </a:solidFill>
                <a:latin typeface="Red Hat Display"/>
              </a:rPr>
              <a:t>Source-to-Image — the paved road</a:t>
            </a:r>
          </a:p>
        </p:txBody>
      </p:sp>
      <p:cxnSp>
        <p:nvCxnSpPr>
          <p:cNvPr id="5" name="Connector 4"/>
          <p:cNvCxnSpPr/>
          <p:nvPr/>
        </p:nvCxnSpPr>
        <p:spPr>
          <a:xfrm>
            <a:off x="841248" y="1554480"/>
            <a:ext cx="1371600" cy="0"/>
          </a:xfrm>
          <a:prstGeom prst="bentConnector3">
            <a:avLst/>
          </a:prstGeom>
          <a:ln w="31750">
            <a:solidFill>
              <a:srgbClr val="EE0000"/>
            </a:solidFill>
          </a:ln>
          <a:effectLst/>
        </p:spPr>
        <p:style>
          <a:lnRef idx="2">
            <a:schemeClr val="accent1"/>
          </a:lnRef>
          <a:fillRef idx="0">
            <a:schemeClr val="accent1"/>
          </a:fillRef>
          <a:effectRef idx="1">
            <a:schemeClr val="accent1"/>
          </a:effectRef>
          <a:fontRef idx="minor">
            <a:schemeClr val="tx1"/>
          </a:fontRef>
        </p:style>
      </p:cxnSp>
      <p:sp>
        <p:nvSpPr>
          <p:cNvPr id="6" name="Rounded Rectangle 5"/>
          <p:cNvSpPr/>
          <p:nvPr/>
        </p:nvSpPr>
        <p:spPr>
          <a:xfrm>
            <a:off x="841248" y="2395728"/>
            <a:ext cx="5715000" cy="530352"/>
          </a:xfrm>
          <a:prstGeom prst="roundRect">
            <a:avLst>
              <a:gd name="adj" fmla="val 6000"/>
            </a:avLst>
          </a:prstGeom>
          <a:solidFill>
            <a:srgbClr val="F5F6F8"/>
          </a:solidFill>
          <a:ln w="12700">
            <a:solidFill>
              <a:srgbClr val="DDE1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check_steel.png"/>
          <p:cNvPicPr>
            <a:picLocks noChangeAspect="1"/>
          </p:cNvPicPr>
          <p:nvPr/>
        </p:nvPicPr>
        <p:blipFill>
          <a:blip r:embed="rId3"/>
          <a:stretch>
            <a:fillRect/>
          </a:stretch>
        </p:blipFill>
        <p:spPr>
          <a:xfrm>
            <a:off x="987552" y="2542032"/>
            <a:ext cx="237744" cy="237744"/>
          </a:xfrm>
          <a:prstGeom prst="rect">
            <a:avLst/>
          </a:prstGeom>
        </p:spPr>
      </p:pic>
      <p:sp>
        <p:nvSpPr>
          <p:cNvPr id="8" name="TextBox 7"/>
          <p:cNvSpPr txBox="1"/>
          <p:nvPr/>
        </p:nvSpPr>
        <p:spPr>
          <a:xfrm>
            <a:off x="1353312" y="2395728"/>
            <a:ext cx="5029200" cy="530352"/>
          </a:xfrm>
          <a:prstGeom prst="rect">
            <a:avLst/>
          </a:prstGeom>
          <a:noFill/>
        </p:spPr>
        <p:txBody>
          <a:bodyPr wrap="square" anchor="ctr" lIns="0" rIns="0" tIns="0" bIns="0">
            <a:spAutoFit/>
          </a:bodyPr>
          <a:lstStyle/>
          <a:p>
            <a:pPr algn="l">
              <a:lnSpc>
                <a:spcPct val="106000"/>
              </a:lnSpc>
              <a:spcBef>
                <a:spcPts val="0"/>
              </a:spcBef>
              <a:spcAft>
                <a:spcPts val="0"/>
              </a:spcAft>
            </a:pPr>
            <a:r>
              <a:rPr sz="1200" b="0">
                <a:solidFill>
                  <a:srgbClr val="1A1A1A"/>
                </a:solidFill>
                <a:latin typeface="Red Hat Text"/>
              </a:rPr>
              <a:t>Your source plus a builder image</a:t>
            </a:r>
          </a:p>
        </p:txBody>
      </p:sp>
      <p:sp>
        <p:nvSpPr>
          <p:cNvPr id="9" name="Rounded Rectangle 8"/>
          <p:cNvSpPr/>
          <p:nvPr/>
        </p:nvSpPr>
        <p:spPr>
          <a:xfrm>
            <a:off x="841248" y="2999232"/>
            <a:ext cx="5715000" cy="530352"/>
          </a:xfrm>
          <a:prstGeom prst="roundRect">
            <a:avLst>
              <a:gd name="adj" fmla="val 6000"/>
            </a:avLst>
          </a:prstGeom>
          <a:solidFill>
            <a:srgbClr val="F5F6F8"/>
          </a:solidFill>
          <a:ln w="12700">
            <a:solidFill>
              <a:srgbClr val="DDE1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0" name="Picture 9" descr="check_steel.png"/>
          <p:cNvPicPr>
            <a:picLocks noChangeAspect="1"/>
          </p:cNvPicPr>
          <p:nvPr/>
        </p:nvPicPr>
        <p:blipFill>
          <a:blip r:embed="rId3"/>
          <a:stretch>
            <a:fillRect/>
          </a:stretch>
        </p:blipFill>
        <p:spPr>
          <a:xfrm>
            <a:off x="987552" y="3145536"/>
            <a:ext cx="237744" cy="237744"/>
          </a:xfrm>
          <a:prstGeom prst="rect">
            <a:avLst/>
          </a:prstGeom>
        </p:spPr>
      </p:pic>
      <p:sp>
        <p:nvSpPr>
          <p:cNvPr id="11" name="TextBox 10"/>
          <p:cNvSpPr txBox="1"/>
          <p:nvPr/>
        </p:nvSpPr>
        <p:spPr>
          <a:xfrm>
            <a:off x="1353312" y="2999232"/>
            <a:ext cx="5029200" cy="530352"/>
          </a:xfrm>
          <a:prstGeom prst="rect">
            <a:avLst/>
          </a:prstGeom>
          <a:noFill/>
        </p:spPr>
        <p:txBody>
          <a:bodyPr wrap="square" anchor="ctr" lIns="0" rIns="0" tIns="0" bIns="0">
            <a:spAutoFit/>
          </a:bodyPr>
          <a:lstStyle/>
          <a:p>
            <a:pPr algn="l">
              <a:lnSpc>
                <a:spcPct val="106000"/>
              </a:lnSpc>
              <a:spcBef>
                <a:spcPts val="0"/>
              </a:spcBef>
              <a:spcAft>
                <a:spcPts val="0"/>
              </a:spcAft>
            </a:pPr>
            <a:r>
              <a:rPr sz="1200" b="0">
                <a:solidFill>
                  <a:srgbClr val="1A1A1A"/>
                </a:solidFill>
                <a:latin typeface="Red Hat Text"/>
              </a:rPr>
              <a:t>Platform builds the image for you</a:t>
            </a:r>
          </a:p>
        </p:txBody>
      </p:sp>
      <p:sp>
        <p:nvSpPr>
          <p:cNvPr id="12" name="Rounded Rectangle 11"/>
          <p:cNvSpPr/>
          <p:nvPr/>
        </p:nvSpPr>
        <p:spPr>
          <a:xfrm>
            <a:off x="841248" y="3602736"/>
            <a:ext cx="5715000" cy="530352"/>
          </a:xfrm>
          <a:prstGeom prst="roundRect">
            <a:avLst>
              <a:gd name="adj" fmla="val 6000"/>
            </a:avLst>
          </a:prstGeom>
          <a:solidFill>
            <a:srgbClr val="F5F6F8"/>
          </a:solidFill>
          <a:ln w="12700">
            <a:solidFill>
              <a:srgbClr val="DDE1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3" name="Picture 12" descr="check_steel.png"/>
          <p:cNvPicPr>
            <a:picLocks noChangeAspect="1"/>
          </p:cNvPicPr>
          <p:nvPr/>
        </p:nvPicPr>
        <p:blipFill>
          <a:blip r:embed="rId3"/>
          <a:stretch>
            <a:fillRect/>
          </a:stretch>
        </p:blipFill>
        <p:spPr>
          <a:xfrm>
            <a:off x="987552" y="3749040"/>
            <a:ext cx="237744" cy="237744"/>
          </a:xfrm>
          <a:prstGeom prst="rect">
            <a:avLst/>
          </a:prstGeom>
        </p:spPr>
      </p:pic>
      <p:sp>
        <p:nvSpPr>
          <p:cNvPr id="14" name="TextBox 13"/>
          <p:cNvSpPr txBox="1"/>
          <p:nvPr/>
        </p:nvSpPr>
        <p:spPr>
          <a:xfrm>
            <a:off x="1353312" y="3602736"/>
            <a:ext cx="5029200" cy="530352"/>
          </a:xfrm>
          <a:prstGeom prst="rect">
            <a:avLst/>
          </a:prstGeom>
          <a:noFill/>
        </p:spPr>
        <p:txBody>
          <a:bodyPr wrap="square" anchor="ctr" lIns="0" rIns="0" tIns="0" bIns="0">
            <a:spAutoFit/>
          </a:bodyPr>
          <a:lstStyle/>
          <a:p>
            <a:pPr algn="l">
              <a:lnSpc>
                <a:spcPct val="106000"/>
              </a:lnSpc>
              <a:spcBef>
                <a:spcPts val="0"/>
              </a:spcBef>
              <a:spcAft>
                <a:spcPts val="0"/>
              </a:spcAft>
            </a:pPr>
            <a:r>
              <a:rPr sz="1200" b="0">
                <a:solidFill>
                  <a:srgbClr val="1A1A1A"/>
                </a:solidFill>
                <a:latin typeface="Red Hat Text"/>
              </a:rPr>
              <a:t>No Dockerfile to write or patch</a:t>
            </a:r>
          </a:p>
        </p:txBody>
      </p:sp>
      <p:sp>
        <p:nvSpPr>
          <p:cNvPr id="15" name="Rounded Rectangle 14"/>
          <p:cNvSpPr/>
          <p:nvPr/>
        </p:nvSpPr>
        <p:spPr>
          <a:xfrm>
            <a:off x="841248" y="4206240"/>
            <a:ext cx="5715000" cy="530352"/>
          </a:xfrm>
          <a:prstGeom prst="roundRect">
            <a:avLst>
              <a:gd name="adj" fmla="val 6000"/>
            </a:avLst>
          </a:prstGeom>
          <a:solidFill>
            <a:srgbClr val="F5F6F8"/>
          </a:solidFill>
          <a:ln w="12700">
            <a:solidFill>
              <a:srgbClr val="DDE1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6" name="Picture 15" descr="check_steel.png"/>
          <p:cNvPicPr>
            <a:picLocks noChangeAspect="1"/>
          </p:cNvPicPr>
          <p:nvPr/>
        </p:nvPicPr>
        <p:blipFill>
          <a:blip r:embed="rId3"/>
          <a:stretch>
            <a:fillRect/>
          </a:stretch>
        </p:blipFill>
        <p:spPr>
          <a:xfrm>
            <a:off x="987552" y="4352544"/>
            <a:ext cx="237744" cy="237744"/>
          </a:xfrm>
          <a:prstGeom prst="rect">
            <a:avLst/>
          </a:prstGeom>
        </p:spPr>
      </p:pic>
      <p:sp>
        <p:nvSpPr>
          <p:cNvPr id="17" name="TextBox 16"/>
          <p:cNvSpPr txBox="1"/>
          <p:nvPr/>
        </p:nvSpPr>
        <p:spPr>
          <a:xfrm>
            <a:off x="1353312" y="4206240"/>
            <a:ext cx="5029200" cy="530352"/>
          </a:xfrm>
          <a:prstGeom prst="rect">
            <a:avLst/>
          </a:prstGeom>
          <a:noFill/>
        </p:spPr>
        <p:txBody>
          <a:bodyPr wrap="square" anchor="ctr" lIns="0" rIns="0" tIns="0" bIns="0">
            <a:spAutoFit/>
          </a:bodyPr>
          <a:lstStyle/>
          <a:p>
            <a:pPr algn="l">
              <a:lnSpc>
                <a:spcPct val="106000"/>
              </a:lnSpc>
              <a:spcBef>
                <a:spcPts val="0"/>
              </a:spcBef>
              <a:spcAft>
                <a:spcPts val="0"/>
              </a:spcAft>
            </a:pPr>
            <a:r>
              <a:rPr sz="1200" b="0">
                <a:solidFill>
                  <a:srgbClr val="1A1A1A"/>
                </a:solidFill>
                <a:latin typeface="Red Hat Text"/>
              </a:rPr>
              <a:t>Works for Java, Node.js, Python</a:t>
            </a:r>
          </a:p>
        </p:txBody>
      </p:sp>
      <p:sp>
        <p:nvSpPr>
          <p:cNvPr id="18" name="Rounded Rectangle 17"/>
          <p:cNvSpPr/>
          <p:nvPr/>
        </p:nvSpPr>
        <p:spPr>
          <a:xfrm>
            <a:off x="841248" y="4809744"/>
            <a:ext cx="5715000" cy="530352"/>
          </a:xfrm>
          <a:prstGeom prst="roundRect">
            <a:avLst>
              <a:gd name="adj" fmla="val 6000"/>
            </a:avLst>
          </a:prstGeom>
          <a:solidFill>
            <a:srgbClr val="F5F6F8"/>
          </a:solidFill>
          <a:ln w="12700">
            <a:solidFill>
              <a:srgbClr val="DDE1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9" name="Picture 18" descr="check_steel.png"/>
          <p:cNvPicPr>
            <a:picLocks noChangeAspect="1"/>
          </p:cNvPicPr>
          <p:nvPr/>
        </p:nvPicPr>
        <p:blipFill>
          <a:blip r:embed="rId3"/>
          <a:stretch>
            <a:fillRect/>
          </a:stretch>
        </p:blipFill>
        <p:spPr>
          <a:xfrm>
            <a:off x="987552" y="4956048"/>
            <a:ext cx="237744" cy="237744"/>
          </a:xfrm>
          <a:prstGeom prst="rect">
            <a:avLst/>
          </a:prstGeom>
        </p:spPr>
      </p:pic>
      <p:sp>
        <p:nvSpPr>
          <p:cNvPr id="20" name="TextBox 19"/>
          <p:cNvSpPr txBox="1"/>
          <p:nvPr/>
        </p:nvSpPr>
        <p:spPr>
          <a:xfrm>
            <a:off x="1353312" y="4809744"/>
            <a:ext cx="5029200" cy="530352"/>
          </a:xfrm>
          <a:prstGeom prst="rect">
            <a:avLst/>
          </a:prstGeom>
          <a:noFill/>
        </p:spPr>
        <p:txBody>
          <a:bodyPr wrap="square" anchor="ctr" lIns="0" rIns="0" tIns="0" bIns="0">
            <a:spAutoFit/>
          </a:bodyPr>
          <a:lstStyle/>
          <a:p>
            <a:pPr algn="l">
              <a:lnSpc>
                <a:spcPct val="106000"/>
              </a:lnSpc>
              <a:spcBef>
                <a:spcPts val="0"/>
              </a:spcBef>
              <a:spcAft>
                <a:spcPts val="0"/>
              </a:spcAft>
            </a:pPr>
            <a:r>
              <a:rPr sz="1200" b="0">
                <a:solidFill>
                  <a:srgbClr val="1A1A1A"/>
                </a:solidFill>
                <a:latin typeface="Red Hat Text"/>
              </a:rPr>
              <a:t>The right default for most services</a:t>
            </a:r>
          </a:p>
        </p:txBody>
      </p:sp>
      <p:sp>
        <p:nvSpPr>
          <p:cNvPr id="21" name="Rounded Rectangle 20"/>
          <p:cNvSpPr/>
          <p:nvPr/>
        </p:nvSpPr>
        <p:spPr>
          <a:xfrm>
            <a:off x="6812280" y="2395728"/>
            <a:ext cx="4538167" cy="2944368"/>
          </a:xfrm>
          <a:prstGeom prst="roundRect">
            <a:avLst>
              <a:gd name="adj" fmla="val 4000"/>
            </a:avLst>
          </a:prstGeom>
          <a:solidFill>
            <a:srgbClr val="FFFFFF"/>
          </a:solidFill>
          <a:ln w="15240">
            <a:solidFill>
              <a:srgbClr val="DDE1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ounded Rectangle 21"/>
          <p:cNvSpPr/>
          <p:nvPr/>
        </p:nvSpPr>
        <p:spPr>
          <a:xfrm>
            <a:off x="7013448" y="2596896"/>
            <a:ext cx="1298448" cy="310896"/>
          </a:xfrm>
          <a:prstGeom prst="roundRect">
            <a:avLst>
              <a:gd name="adj" fmla="val 50000"/>
            </a:avLst>
          </a:prstGeom>
          <a:solidFill>
            <a:srgbClr val="FCEC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7013448" y="2596896"/>
            <a:ext cx="1298448" cy="310896"/>
          </a:xfrm>
          <a:prstGeom prst="rect">
            <a:avLst/>
          </a:prstGeom>
          <a:noFill/>
        </p:spPr>
        <p:txBody>
          <a:bodyPr wrap="none" anchor="ctr" lIns="0" rIns="0" tIns="0" bIns="0">
            <a:spAutoFit/>
          </a:bodyPr>
          <a:lstStyle/>
          <a:p>
            <a:pPr algn="ctr">
              <a:lnSpc>
                <a:spcPct val="106000"/>
              </a:lnSpc>
              <a:spcBef>
                <a:spcPts val="0"/>
              </a:spcBef>
              <a:spcAft>
                <a:spcPts val="0"/>
              </a:spcAft>
            </a:pPr>
            <a:r>
              <a:rPr sz="850" b="1">
                <a:solidFill>
                  <a:srgbClr val="B80000"/>
                </a:solidFill>
                <a:latin typeface="Red Hat Display"/>
              </a:rPr>
              <a:t>MEDIA PASS</a:t>
            </a:r>
          </a:p>
        </p:txBody>
      </p:sp>
      <p:pic>
        <p:nvPicPr>
          <p:cNvPr id="24" name="Picture 23" descr="eye_slate.png"/>
          <p:cNvPicPr>
            <a:picLocks noChangeAspect="1"/>
          </p:cNvPicPr>
          <p:nvPr/>
        </p:nvPicPr>
        <p:blipFill>
          <a:blip r:embed="rId4"/>
          <a:stretch>
            <a:fillRect/>
          </a:stretch>
        </p:blipFill>
        <p:spPr>
          <a:xfrm>
            <a:off x="8843619" y="3108960"/>
            <a:ext cx="475488" cy="475488"/>
          </a:xfrm>
          <a:prstGeom prst="rect">
            <a:avLst/>
          </a:prstGeom>
        </p:spPr>
      </p:pic>
      <p:sp>
        <p:nvSpPr>
          <p:cNvPr id="25" name="TextBox 24"/>
          <p:cNvSpPr txBox="1"/>
          <p:nvPr/>
        </p:nvSpPr>
        <p:spPr>
          <a:xfrm>
            <a:off x="7050024" y="3721608"/>
            <a:ext cx="4062679" cy="1481328"/>
          </a:xfrm>
          <a:prstGeom prst="rect">
            <a:avLst/>
          </a:prstGeom>
          <a:noFill/>
        </p:spPr>
        <p:txBody>
          <a:bodyPr wrap="square" anchor="t" lIns="0" rIns="0" tIns="0" bIns="0">
            <a:spAutoFit/>
          </a:bodyPr>
          <a:lstStyle/>
          <a:p>
            <a:pPr algn="l">
              <a:lnSpc>
                <a:spcPct val="120000"/>
              </a:lnSpc>
              <a:spcBef>
                <a:spcPts val="0"/>
              </a:spcBef>
              <a:spcAft>
                <a:spcPts val="0"/>
              </a:spcAft>
            </a:pPr>
            <a:r>
              <a:rPr sz="950" b="0">
                <a:solidFill>
                  <a:srgbClr val="8A9099"/>
                </a:solidFill>
                <a:latin typeface="Red Hat Text"/>
              </a:rPr>
              <a:t>source → [builder image] → image → Deployment → Route, labeled "S2I: you write no Dockerfile."</a:t>
            </a:r>
          </a:p>
        </p:txBody>
      </p:sp>
      <p:cxnSp>
        <p:nvCxnSpPr>
          <p:cNvPr id="26" name="Connector 25"/>
          <p:cNvCxnSpPr/>
          <p:nvPr/>
        </p:nvCxnSpPr>
        <p:spPr>
          <a:xfrm>
            <a:off x="841248" y="6437376"/>
            <a:ext cx="10509199" cy="0"/>
          </a:xfrm>
          <a:prstGeom prst="bentConnector3">
            <a:avLst/>
          </a:prstGeom>
          <a:ln w="12700">
            <a:solidFill>
              <a:srgbClr val="DDE1E6"/>
            </a:solidFill>
          </a:ln>
          <a:effectLst/>
        </p:spPr>
        <p:style>
          <a:lnRef idx="2">
            <a:schemeClr val="accent1"/>
          </a:lnRef>
          <a:fillRef idx="0">
            <a:schemeClr val="accent1"/>
          </a:fillRef>
          <a:effectRef idx="1">
            <a:schemeClr val="accent1"/>
          </a:effectRef>
          <a:fontRef idx="minor">
            <a:schemeClr val="tx1"/>
          </a:fontRef>
        </p:style>
      </p:cxnSp>
      <p:sp>
        <p:nvSpPr>
          <p:cNvPr id="27" name="TextBox 26"/>
          <p:cNvSpPr txBox="1"/>
          <p:nvPr/>
        </p:nvSpPr>
        <p:spPr>
          <a:xfrm>
            <a:off x="841248" y="6473952"/>
            <a:ext cx="7315200" cy="274320"/>
          </a:xfrm>
          <a:prstGeom prst="rect">
            <a:avLst/>
          </a:prstGeom>
          <a:noFill/>
        </p:spPr>
        <p:txBody>
          <a:bodyPr wrap="square" anchor="t" lIns="0" rIns="0" tIns="0" bIns="0">
            <a:spAutoFit/>
          </a:bodyPr>
          <a:lstStyle/>
          <a:p>
            <a:pPr algn="l">
              <a:lnSpc>
                <a:spcPct val="106000"/>
              </a:lnSpc>
              <a:spcBef>
                <a:spcPts val="0"/>
              </a:spcBef>
              <a:spcAft>
                <a:spcPts val="0"/>
              </a:spcAft>
            </a:pPr>
            <a:r>
              <a:rPr sz="950" b="0">
                <a:solidFill>
                  <a:srgbClr val="8A9099"/>
                </a:solidFill>
                <a:latin typeface="Red Hat Text"/>
              </a:rPr>
              <a:t>CONFIDENTIAL</a:t>
            </a:r>
          </a:p>
        </p:txBody>
      </p:sp>
      <p:sp>
        <p:nvSpPr>
          <p:cNvPr id="28" name="TextBox 27"/>
          <p:cNvSpPr txBox="1"/>
          <p:nvPr/>
        </p:nvSpPr>
        <p:spPr>
          <a:xfrm>
            <a:off x="10801807" y="6473952"/>
            <a:ext cx="548640" cy="274320"/>
          </a:xfrm>
          <a:prstGeom prst="rect">
            <a:avLst/>
          </a:prstGeom>
          <a:noFill/>
        </p:spPr>
        <p:txBody>
          <a:bodyPr wrap="square" anchor="t" lIns="0" rIns="0" tIns="0" bIns="0">
            <a:spAutoFit/>
          </a:bodyPr>
          <a:lstStyle/>
          <a:p>
            <a:pPr algn="r">
              <a:lnSpc>
                <a:spcPct val="106000"/>
              </a:lnSpc>
              <a:spcBef>
                <a:spcPts val="0"/>
              </a:spcBef>
              <a:spcAft>
                <a:spcPts val="0"/>
              </a:spcAft>
            </a:pPr>
            <a:r>
              <a:rPr sz="950" b="0">
                <a:solidFill>
                  <a:srgbClr val="8A9099"/>
                </a:solidFill>
                <a:latin typeface="Red Hat Text"/>
              </a:rPr>
              <a:t>9</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redhat_logo.jpg"/>
          <p:cNvPicPr>
            <a:picLocks noChangeAspect="1"/>
          </p:cNvPicPr>
          <p:nvPr/>
        </p:nvPicPr>
        <p:blipFill>
          <a:blip r:embed="rId2"/>
          <a:stretch>
            <a:fillRect/>
          </a:stretch>
        </p:blipFill>
        <p:spPr>
          <a:xfrm>
            <a:off x="10326319" y="475488"/>
            <a:ext cx="1024128" cy="242248"/>
          </a:xfrm>
          <a:prstGeom prst="rect">
            <a:avLst/>
          </a:prstGeom>
        </p:spPr>
      </p:pic>
      <p:sp>
        <p:nvSpPr>
          <p:cNvPr id="3" name="TextBox 2"/>
          <p:cNvSpPr txBox="1"/>
          <p:nvPr/>
        </p:nvSpPr>
        <p:spPr>
          <a:xfrm>
            <a:off x="841248" y="548640"/>
            <a:ext cx="8595360" cy="274320"/>
          </a:xfrm>
          <a:prstGeom prst="rect">
            <a:avLst/>
          </a:prstGeom>
          <a:noFill/>
        </p:spPr>
        <p:txBody>
          <a:bodyPr wrap="square" anchor="t" lIns="0" rIns="0" tIns="0" bIns="0">
            <a:spAutoFit/>
          </a:bodyPr>
          <a:lstStyle/>
          <a:p>
            <a:pPr algn="l">
              <a:lnSpc>
                <a:spcPct val="106000"/>
              </a:lnSpc>
              <a:spcBef>
                <a:spcPts val="0"/>
              </a:spcBef>
              <a:spcAft>
                <a:spcPts val="0"/>
              </a:spcAft>
            </a:pPr>
            <a:r>
              <a:rPr sz="1250" b="1" spc="220">
                <a:solidFill>
                  <a:srgbClr val="EE0000"/>
                </a:solidFill>
                <a:latin typeface="Red Hat Display"/>
              </a:rPr>
              <a:t>M02 · WAYS TO BUILD &amp; DELIVER APPS</a:t>
            </a:r>
          </a:p>
        </p:txBody>
      </p:sp>
      <p:sp>
        <p:nvSpPr>
          <p:cNvPr id="4" name="TextBox 3"/>
          <p:cNvSpPr txBox="1"/>
          <p:nvPr/>
        </p:nvSpPr>
        <p:spPr>
          <a:xfrm>
            <a:off x="841248" y="877824"/>
            <a:ext cx="10515600" cy="548640"/>
          </a:xfrm>
          <a:prstGeom prst="rect">
            <a:avLst/>
          </a:prstGeom>
          <a:noFill/>
        </p:spPr>
        <p:txBody>
          <a:bodyPr wrap="none" anchor="t" lIns="0" rIns="0" tIns="0" bIns="0">
            <a:spAutoFit/>
          </a:bodyPr>
          <a:lstStyle/>
          <a:p>
            <a:pPr algn="l">
              <a:lnSpc>
                <a:spcPct val="100000"/>
              </a:lnSpc>
              <a:spcBef>
                <a:spcPts val="0"/>
              </a:spcBef>
              <a:spcAft>
                <a:spcPts val="0"/>
              </a:spcAft>
            </a:pPr>
            <a:r>
              <a:rPr sz="2500" b="1">
                <a:solidFill>
                  <a:srgbClr val="1A1A1A"/>
                </a:solidFill>
                <a:latin typeface="Red Hat Display"/>
              </a:rPr>
              <a:t>Where your image comes from</a:t>
            </a:r>
          </a:p>
        </p:txBody>
      </p:sp>
      <p:cxnSp>
        <p:nvCxnSpPr>
          <p:cNvPr id="5" name="Connector 4"/>
          <p:cNvCxnSpPr/>
          <p:nvPr/>
        </p:nvCxnSpPr>
        <p:spPr>
          <a:xfrm>
            <a:off x="841248" y="1554480"/>
            <a:ext cx="1371600" cy="0"/>
          </a:xfrm>
          <a:prstGeom prst="bentConnector3">
            <a:avLst/>
          </a:prstGeom>
          <a:ln w="31750">
            <a:solidFill>
              <a:srgbClr val="EE0000"/>
            </a:solidFill>
          </a:ln>
          <a:effectLst/>
        </p:spPr>
        <p:style>
          <a:lnRef idx="2">
            <a:schemeClr val="accent1"/>
          </a:lnRef>
          <a:fillRef idx="0">
            <a:schemeClr val="accent1"/>
          </a:fillRef>
          <a:effectRef idx="1">
            <a:schemeClr val="accent1"/>
          </a:effectRef>
          <a:fontRef idx="minor">
            <a:schemeClr val="tx1"/>
          </a:fontRef>
        </p:style>
      </p:cxnSp>
      <p:sp>
        <p:nvSpPr>
          <p:cNvPr id="6" name="Rounded Rectangle 5"/>
          <p:cNvSpPr/>
          <p:nvPr/>
        </p:nvSpPr>
        <p:spPr>
          <a:xfrm>
            <a:off x="841248" y="2395728"/>
            <a:ext cx="5715000" cy="530352"/>
          </a:xfrm>
          <a:prstGeom prst="roundRect">
            <a:avLst>
              <a:gd name="adj" fmla="val 6000"/>
            </a:avLst>
          </a:prstGeom>
          <a:solidFill>
            <a:srgbClr val="F5F6F8"/>
          </a:solidFill>
          <a:ln w="12700">
            <a:solidFill>
              <a:srgbClr val="DDE1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check_steel.png"/>
          <p:cNvPicPr>
            <a:picLocks noChangeAspect="1"/>
          </p:cNvPicPr>
          <p:nvPr/>
        </p:nvPicPr>
        <p:blipFill>
          <a:blip r:embed="rId3"/>
          <a:stretch>
            <a:fillRect/>
          </a:stretch>
        </p:blipFill>
        <p:spPr>
          <a:xfrm>
            <a:off x="987552" y="2542032"/>
            <a:ext cx="237744" cy="237744"/>
          </a:xfrm>
          <a:prstGeom prst="rect">
            <a:avLst/>
          </a:prstGeom>
        </p:spPr>
      </p:pic>
      <p:sp>
        <p:nvSpPr>
          <p:cNvPr id="8" name="TextBox 7"/>
          <p:cNvSpPr txBox="1"/>
          <p:nvPr/>
        </p:nvSpPr>
        <p:spPr>
          <a:xfrm>
            <a:off x="1353312" y="2395728"/>
            <a:ext cx="5029200" cy="530352"/>
          </a:xfrm>
          <a:prstGeom prst="rect">
            <a:avLst/>
          </a:prstGeom>
          <a:noFill/>
        </p:spPr>
        <p:txBody>
          <a:bodyPr wrap="square" anchor="ctr" lIns="0" rIns="0" tIns="0" bIns="0">
            <a:spAutoFit/>
          </a:bodyPr>
          <a:lstStyle/>
          <a:p>
            <a:pPr algn="l">
              <a:lnSpc>
                <a:spcPct val="106000"/>
              </a:lnSpc>
              <a:spcBef>
                <a:spcPts val="0"/>
              </a:spcBef>
              <a:spcAft>
                <a:spcPts val="0"/>
              </a:spcAft>
            </a:pPr>
            <a:r>
              <a:rPr sz="1200" b="0">
                <a:solidFill>
                  <a:srgbClr val="1A1A1A"/>
                </a:solidFill>
                <a:latin typeface="Red Hat Text"/>
              </a:rPr>
              <a:t>Every container starts from a base image</a:t>
            </a:r>
          </a:p>
        </p:txBody>
      </p:sp>
      <p:sp>
        <p:nvSpPr>
          <p:cNvPr id="9" name="Rounded Rectangle 8"/>
          <p:cNvSpPr/>
          <p:nvPr/>
        </p:nvSpPr>
        <p:spPr>
          <a:xfrm>
            <a:off x="841248" y="2999232"/>
            <a:ext cx="5715000" cy="530352"/>
          </a:xfrm>
          <a:prstGeom prst="roundRect">
            <a:avLst>
              <a:gd name="adj" fmla="val 6000"/>
            </a:avLst>
          </a:prstGeom>
          <a:solidFill>
            <a:srgbClr val="F5F6F8"/>
          </a:solidFill>
          <a:ln w="12700">
            <a:solidFill>
              <a:srgbClr val="DDE1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0" name="Picture 9" descr="check_steel.png"/>
          <p:cNvPicPr>
            <a:picLocks noChangeAspect="1"/>
          </p:cNvPicPr>
          <p:nvPr/>
        </p:nvPicPr>
        <p:blipFill>
          <a:blip r:embed="rId3"/>
          <a:stretch>
            <a:fillRect/>
          </a:stretch>
        </p:blipFill>
        <p:spPr>
          <a:xfrm>
            <a:off x="987552" y="3145536"/>
            <a:ext cx="237744" cy="237744"/>
          </a:xfrm>
          <a:prstGeom prst="rect">
            <a:avLst/>
          </a:prstGeom>
        </p:spPr>
      </p:pic>
      <p:sp>
        <p:nvSpPr>
          <p:cNvPr id="11" name="TextBox 10"/>
          <p:cNvSpPr txBox="1"/>
          <p:nvPr/>
        </p:nvSpPr>
        <p:spPr>
          <a:xfrm>
            <a:off x="1353312" y="2999232"/>
            <a:ext cx="5029200" cy="530352"/>
          </a:xfrm>
          <a:prstGeom prst="rect">
            <a:avLst/>
          </a:prstGeom>
          <a:noFill/>
        </p:spPr>
        <p:txBody>
          <a:bodyPr wrap="square" anchor="ctr" lIns="0" rIns="0" tIns="0" bIns="0">
            <a:spAutoFit/>
          </a:bodyPr>
          <a:lstStyle/>
          <a:p>
            <a:pPr algn="l">
              <a:lnSpc>
                <a:spcPct val="106000"/>
              </a:lnSpc>
              <a:spcBef>
                <a:spcPts val="0"/>
              </a:spcBef>
              <a:spcAft>
                <a:spcPts val="0"/>
              </a:spcAft>
            </a:pPr>
            <a:r>
              <a:rPr sz="1200" b="0">
                <a:solidFill>
                  <a:srgbClr val="1A1A1A"/>
                </a:solidFill>
                <a:latin typeface="Red Hat Text"/>
              </a:rPr>
              <a:t>UBI: trusted, maintained, redistributable</a:t>
            </a:r>
          </a:p>
        </p:txBody>
      </p:sp>
      <p:sp>
        <p:nvSpPr>
          <p:cNvPr id="12" name="Rounded Rectangle 11"/>
          <p:cNvSpPr/>
          <p:nvPr/>
        </p:nvSpPr>
        <p:spPr>
          <a:xfrm>
            <a:off x="841248" y="3602736"/>
            <a:ext cx="5715000" cy="530352"/>
          </a:xfrm>
          <a:prstGeom prst="roundRect">
            <a:avLst>
              <a:gd name="adj" fmla="val 6000"/>
            </a:avLst>
          </a:prstGeom>
          <a:solidFill>
            <a:srgbClr val="F5F6F8"/>
          </a:solidFill>
          <a:ln w="12700">
            <a:solidFill>
              <a:srgbClr val="DDE1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3" name="Picture 12" descr="check_steel.png"/>
          <p:cNvPicPr>
            <a:picLocks noChangeAspect="1"/>
          </p:cNvPicPr>
          <p:nvPr/>
        </p:nvPicPr>
        <p:blipFill>
          <a:blip r:embed="rId3"/>
          <a:stretch>
            <a:fillRect/>
          </a:stretch>
        </p:blipFill>
        <p:spPr>
          <a:xfrm>
            <a:off x="987552" y="3749040"/>
            <a:ext cx="237744" cy="237744"/>
          </a:xfrm>
          <a:prstGeom prst="rect">
            <a:avLst/>
          </a:prstGeom>
        </p:spPr>
      </p:pic>
      <p:sp>
        <p:nvSpPr>
          <p:cNvPr id="14" name="TextBox 13"/>
          <p:cNvSpPr txBox="1"/>
          <p:nvPr/>
        </p:nvSpPr>
        <p:spPr>
          <a:xfrm>
            <a:off x="1353312" y="3602736"/>
            <a:ext cx="5029200" cy="530352"/>
          </a:xfrm>
          <a:prstGeom prst="rect">
            <a:avLst/>
          </a:prstGeom>
          <a:noFill/>
        </p:spPr>
        <p:txBody>
          <a:bodyPr wrap="square" anchor="ctr" lIns="0" rIns="0" tIns="0" bIns="0">
            <a:spAutoFit/>
          </a:bodyPr>
          <a:lstStyle/>
          <a:p>
            <a:pPr algn="l">
              <a:lnSpc>
                <a:spcPct val="106000"/>
              </a:lnSpc>
              <a:spcBef>
                <a:spcPts val="0"/>
              </a:spcBef>
              <a:spcAft>
                <a:spcPts val="0"/>
              </a:spcAft>
            </a:pPr>
            <a:r>
              <a:rPr sz="1200" b="0">
                <a:solidFill>
                  <a:srgbClr val="1A1A1A"/>
                </a:solidFill>
                <a:latin typeface="Red Hat Text"/>
              </a:rPr>
              <a:t>registry.access: anonymous UBI pull</a:t>
            </a:r>
          </a:p>
        </p:txBody>
      </p:sp>
      <p:sp>
        <p:nvSpPr>
          <p:cNvPr id="15" name="Rounded Rectangle 14"/>
          <p:cNvSpPr/>
          <p:nvPr/>
        </p:nvSpPr>
        <p:spPr>
          <a:xfrm>
            <a:off x="841248" y="4206240"/>
            <a:ext cx="5715000" cy="530352"/>
          </a:xfrm>
          <a:prstGeom prst="roundRect">
            <a:avLst>
              <a:gd name="adj" fmla="val 6000"/>
            </a:avLst>
          </a:prstGeom>
          <a:solidFill>
            <a:srgbClr val="F5F6F8"/>
          </a:solidFill>
          <a:ln w="12700">
            <a:solidFill>
              <a:srgbClr val="DDE1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6" name="Picture 15" descr="check_steel.png"/>
          <p:cNvPicPr>
            <a:picLocks noChangeAspect="1"/>
          </p:cNvPicPr>
          <p:nvPr/>
        </p:nvPicPr>
        <p:blipFill>
          <a:blip r:embed="rId3"/>
          <a:stretch>
            <a:fillRect/>
          </a:stretch>
        </p:blipFill>
        <p:spPr>
          <a:xfrm>
            <a:off x="987552" y="4352544"/>
            <a:ext cx="237744" cy="237744"/>
          </a:xfrm>
          <a:prstGeom prst="rect">
            <a:avLst/>
          </a:prstGeom>
        </p:spPr>
      </p:pic>
      <p:sp>
        <p:nvSpPr>
          <p:cNvPr id="17" name="TextBox 16"/>
          <p:cNvSpPr txBox="1"/>
          <p:nvPr/>
        </p:nvSpPr>
        <p:spPr>
          <a:xfrm>
            <a:off x="1353312" y="4206240"/>
            <a:ext cx="5029200" cy="530352"/>
          </a:xfrm>
          <a:prstGeom prst="rect">
            <a:avLst/>
          </a:prstGeom>
          <a:noFill/>
        </p:spPr>
        <p:txBody>
          <a:bodyPr wrap="square" anchor="ctr" lIns="0" rIns="0" tIns="0" bIns="0">
            <a:spAutoFit/>
          </a:bodyPr>
          <a:lstStyle/>
          <a:p>
            <a:pPr algn="l">
              <a:lnSpc>
                <a:spcPct val="106000"/>
              </a:lnSpc>
              <a:spcBef>
                <a:spcPts val="0"/>
              </a:spcBef>
              <a:spcAft>
                <a:spcPts val="0"/>
              </a:spcAft>
            </a:pPr>
            <a:r>
              <a:rPr sz="1200" b="0">
                <a:solidFill>
                  <a:srgbClr val="1A1A1A"/>
                </a:solidFill>
                <a:latin typeface="Red Hat Text"/>
              </a:rPr>
              <a:t>registry.redhat.io: authenticated, credentialed</a:t>
            </a:r>
          </a:p>
        </p:txBody>
      </p:sp>
      <p:sp>
        <p:nvSpPr>
          <p:cNvPr id="18" name="Rounded Rectangle 17"/>
          <p:cNvSpPr/>
          <p:nvPr/>
        </p:nvSpPr>
        <p:spPr>
          <a:xfrm>
            <a:off x="841248" y="4809744"/>
            <a:ext cx="5715000" cy="530352"/>
          </a:xfrm>
          <a:prstGeom prst="roundRect">
            <a:avLst>
              <a:gd name="adj" fmla="val 6000"/>
            </a:avLst>
          </a:prstGeom>
          <a:solidFill>
            <a:srgbClr val="F5F6F8"/>
          </a:solidFill>
          <a:ln w="12700">
            <a:solidFill>
              <a:srgbClr val="DDE1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9" name="Picture 18" descr="check_steel.png"/>
          <p:cNvPicPr>
            <a:picLocks noChangeAspect="1"/>
          </p:cNvPicPr>
          <p:nvPr/>
        </p:nvPicPr>
        <p:blipFill>
          <a:blip r:embed="rId3"/>
          <a:stretch>
            <a:fillRect/>
          </a:stretch>
        </p:blipFill>
        <p:spPr>
          <a:xfrm>
            <a:off x="987552" y="4956048"/>
            <a:ext cx="237744" cy="237744"/>
          </a:xfrm>
          <a:prstGeom prst="rect">
            <a:avLst/>
          </a:prstGeom>
        </p:spPr>
      </p:pic>
      <p:sp>
        <p:nvSpPr>
          <p:cNvPr id="20" name="TextBox 19"/>
          <p:cNvSpPr txBox="1"/>
          <p:nvPr/>
        </p:nvSpPr>
        <p:spPr>
          <a:xfrm>
            <a:off x="1353312" y="4809744"/>
            <a:ext cx="5029200" cy="530352"/>
          </a:xfrm>
          <a:prstGeom prst="rect">
            <a:avLst/>
          </a:prstGeom>
          <a:noFill/>
        </p:spPr>
        <p:txBody>
          <a:bodyPr wrap="square" anchor="ctr" lIns="0" rIns="0" tIns="0" bIns="0">
            <a:spAutoFit/>
          </a:bodyPr>
          <a:lstStyle/>
          <a:p>
            <a:pPr algn="l">
              <a:lnSpc>
                <a:spcPct val="106000"/>
              </a:lnSpc>
              <a:spcBef>
                <a:spcPts val="0"/>
              </a:spcBef>
              <a:spcAft>
                <a:spcPts val="0"/>
              </a:spcAft>
            </a:pPr>
            <a:r>
              <a:rPr sz="1200" b="0">
                <a:solidFill>
                  <a:srgbClr val="1A1A1A"/>
                </a:solidFill>
                <a:latin typeface="Red Hat Text"/>
              </a:rPr>
              <a:t>Provenance is a security question</a:t>
            </a:r>
          </a:p>
        </p:txBody>
      </p:sp>
      <p:sp>
        <p:nvSpPr>
          <p:cNvPr id="21" name="Rounded Rectangle 20"/>
          <p:cNvSpPr/>
          <p:nvPr/>
        </p:nvSpPr>
        <p:spPr>
          <a:xfrm>
            <a:off x="6812280" y="2395728"/>
            <a:ext cx="4538167" cy="2944368"/>
          </a:xfrm>
          <a:prstGeom prst="roundRect">
            <a:avLst>
              <a:gd name="adj" fmla="val 4000"/>
            </a:avLst>
          </a:prstGeom>
          <a:solidFill>
            <a:srgbClr val="FFFFFF"/>
          </a:solidFill>
          <a:ln w="15240">
            <a:solidFill>
              <a:srgbClr val="DDE1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ounded Rectangle 21"/>
          <p:cNvSpPr/>
          <p:nvPr/>
        </p:nvSpPr>
        <p:spPr>
          <a:xfrm>
            <a:off x="7013448" y="2596896"/>
            <a:ext cx="1298448" cy="310896"/>
          </a:xfrm>
          <a:prstGeom prst="roundRect">
            <a:avLst>
              <a:gd name="adj" fmla="val 50000"/>
            </a:avLst>
          </a:prstGeom>
          <a:solidFill>
            <a:srgbClr val="FCEC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7013448" y="2596896"/>
            <a:ext cx="1298448" cy="310896"/>
          </a:xfrm>
          <a:prstGeom prst="rect">
            <a:avLst/>
          </a:prstGeom>
          <a:noFill/>
        </p:spPr>
        <p:txBody>
          <a:bodyPr wrap="none" anchor="ctr" lIns="0" rIns="0" tIns="0" bIns="0">
            <a:spAutoFit/>
          </a:bodyPr>
          <a:lstStyle/>
          <a:p>
            <a:pPr algn="ctr">
              <a:lnSpc>
                <a:spcPct val="106000"/>
              </a:lnSpc>
              <a:spcBef>
                <a:spcPts val="0"/>
              </a:spcBef>
              <a:spcAft>
                <a:spcPts val="0"/>
              </a:spcAft>
            </a:pPr>
            <a:r>
              <a:rPr sz="850" b="1">
                <a:solidFill>
                  <a:srgbClr val="B80000"/>
                </a:solidFill>
                <a:latin typeface="Red Hat Display"/>
              </a:rPr>
              <a:t>MEDIA PASS</a:t>
            </a:r>
          </a:p>
        </p:txBody>
      </p:sp>
      <p:pic>
        <p:nvPicPr>
          <p:cNvPr id="24" name="Picture 23" descr="eye_slate.png"/>
          <p:cNvPicPr>
            <a:picLocks noChangeAspect="1"/>
          </p:cNvPicPr>
          <p:nvPr/>
        </p:nvPicPr>
        <p:blipFill>
          <a:blip r:embed="rId4"/>
          <a:stretch>
            <a:fillRect/>
          </a:stretch>
        </p:blipFill>
        <p:spPr>
          <a:xfrm>
            <a:off x="8843619" y="3108960"/>
            <a:ext cx="475488" cy="475488"/>
          </a:xfrm>
          <a:prstGeom prst="rect">
            <a:avLst/>
          </a:prstGeom>
        </p:spPr>
      </p:pic>
      <p:sp>
        <p:nvSpPr>
          <p:cNvPr id="25" name="TextBox 24"/>
          <p:cNvSpPr txBox="1"/>
          <p:nvPr/>
        </p:nvSpPr>
        <p:spPr>
          <a:xfrm>
            <a:off x="7050024" y="3721608"/>
            <a:ext cx="4062679" cy="1481328"/>
          </a:xfrm>
          <a:prstGeom prst="rect">
            <a:avLst/>
          </a:prstGeom>
          <a:noFill/>
        </p:spPr>
        <p:txBody>
          <a:bodyPr wrap="square" anchor="t" lIns="0" rIns="0" tIns="0" bIns="0">
            <a:spAutoFit/>
          </a:bodyPr>
          <a:lstStyle/>
          <a:p>
            <a:pPr algn="l">
              <a:lnSpc>
                <a:spcPct val="120000"/>
              </a:lnSpc>
              <a:spcBef>
                <a:spcPts val="0"/>
              </a:spcBef>
              <a:spcAft>
                <a:spcPts val="0"/>
              </a:spcAft>
            </a:pPr>
            <a:r>
              <a:rPr sz="950" b="0">
                <a:solidFill>
                  <a:srgbClr val="8A9099"/>
                </a:solidFill>
                <a:latin typeface="Red Hat Text"/>
              </a:rPr>
              <a:t>Two registry boxes — access.redhat.com (open padlock, "200 anonymous") vs registry.redhat.io (closed padlock, "401 needs credentials").</a:t>
            </a:r>
          </a:p>
        </p:txBody>
      </p:sp>
      <p:cxnSp>
        <p:nvCxnSpPr>
          <p:cNvPr id="26" name="Connector 25"/>
          <p:cNvCxnSpPr/>
          <p:nvPr/>
        </p:nvCxnSpPr>
        <p:spPr>
          <a:xfrm>
            <a:off x="841248" y="6437376"/>
            <a:ext cx="10509199" cy="0"/>
          </a:xfrm>
          <a:prstGeom prst="bentConnector3">
            <a:avLst/>
          </a:prstGeom>
          <a:ln w="12700">
            <a:solidFill>
              <a:srgbClr val="DDE1E6"/>
            </a:solidFill>
          </a:ln>
          <a:effectLst/>
        </p:spPr>
        <p:style>
          <a:lnRef idx="2">
            <a:schemeClr val="accent1"/>
          </a:lnRef>
          <a:fillRef idx="0">
            <a:schemeClr val="accent1"/>
          </a:fillRef>
          <a:effectRef idx="1">
            <a:schemeClr val="accent1"/>
          </a:effectRef>
          <a:fontRef idx="minor">
            <a:schemeClr val="tx1"/>
          </a:fontRef>
        </p:style>
      </p:cxnSp>
      <p:sp>
        <p:nvSpPr>
          <p:cNvPr id="27" name="TextBox 26"/>
          <p:cNvSpPr txBox="1"/>
          <p:nvPr/>
        </p:nvSpPr>
        <p:spPr>
          <a:xfrm>
            <a:off x="841248" y="6473952"/>
            <a:ext cx="7315200" cy="274320"/>
          </a:xfrm>
          <a:prstGeom prst="rect">
            <a:avLst/>
          </a:prstGeom>
          <a:noFill/>
        </p:spPr>
        <p:txBody>
          <a:bodyPr wrap="square" anchor="t" lIns="0" rIns="0" tIns="0" bIns="0">
            <a:spAutoFit/>
          </a:bodyPr>
          <a:lstStyle/>
          <a:p>
            <a:pPr algn="l">
              <a:lnSpc>
                <a:spcPct val="106000"/>
              </a:lnSpc>
              <a:spcBef>
                <a:spcPts val="0"/>
              </a:spcBef>
              <a:spcAft>
                <a:spcPts val="0"/>
              </a:spcAft>
            </a:pPr>
            <a:r>
              <a:rPr sz="950" b="0">
                <a:solidFill>
                  <a:srgbClr val="8A9099"/>
                </a:solidFill>
                <a:latin typeface="Red Hat Text"/>
              </a:rPr>
              <a:t>CONFIDENTIAL</a:t>
            </a:r>
          </a:p>
        </p:txBody>
      </p:sp>
      <p:sp>
        <p:nvSpPr>
          <p:cNvPr id="28" name="TextBox 27"/>
          <p:cNvSpPr txBox="1"/>
          <p:nvPr/>
        </p:nvSpPr>
        <p:spPr>
          <a:xfrm>
            <a:off x="10801807" y="6473952"/>
            <a:ext cx="548640" cy="274320"/>
          </a:xfrm>
          <a:prstGeom prst="rect">
            <a:avLst/>
          </a:prstGeom>
          <a:noFill/>
        </p:spPr>
        <p:txBody>
          <a:bodyPr wrap="square" anchor="t" lIns="0" rIns="0" tIns="0" bIns="0">
            <a:spAutoFit/>
          </a:bodyPr>
          <a:lstStyle/>
          <a:p>
            <a:pPr algn="r">
              <a:lnSpc>
                <a:spcPct val="106000"/>
              </a:lnSpc>
              <a:spcBef>
                <a:spcPts val="0"/>
              </a:spcBef>
              <a:spcAft>
                <a:spcPts val="0"/>
              </a:spcAft>
            </a:pPr>
            <a:r>
              <a:rPr sz="950" b="0">
                <a:solidFill>
                  <a:srgbClr val="8A9099"/>
                </a:solidFill>
                <a:latin typeface="Red Hat Text"/>
              </a:rPr>
              <a:t>10</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redhat_logo.jpg"/>
          <p:cNvPicPr>
            <a:picLocks noChangeAspect="1"/>
          </p:cNvPicPr>
          <p:nvPr/>
        </p:nvPicPr>
        <p:blipFill>
          <a:blip r:embed="rId2"/>
          <a:stretch>
            <a:fillRect/>
          </a:stretch>
        </p:blipFill>
        <p:spPr>
          <a:xfrm>
            <a:off x="10326319" y="475488"/>
            <a:ext cx="1024128" cy="242248"/>
          </a:xfrm>
          <a:prstGeom prst="rect">
            <a:avLst/>
          </a:prstGeom>
        </p:spPr>
      </p:pic>
      <p:sp>
        <p:nvSpPr>
          <p:cNvPr id="3" name="TextBox 2"/>
          <p:cNvSpPr txBox="1"/>
          <p:nvPr/>
        </p:nvSpPr>
        <p:spPr>
          <a:xfrm>
            <a:off x="841248" y="548640"/>
            <a:ext cx="8595360" cy="274320"/>
          </a:xfrm>
          <a:prstGeom prst="rect">
            <a:avLst/>
          </a:prstGeom>
          <a:noFill/>
        </p:spPr>
        <p:txBody>
          <a:bodyPr wrap="square" anchor="t" lIns="0" rIns="0" tIns="0" bIns="0">
            <a:spAutoFit/>
          </a:bodyPr>
          <a:lstStyle/>
          <a:p>
            <a:pPr algn="l">
              <a:lnSpc>
                <a:spcPct val="106000"/>
              </a:lnSpc>
              <a:spcBef>
                <a:spcPts val="0"/>
              </a:spcBef>
              <a:spcAft>
                <a:spcPts val="0"/>
              </a:spcAft>
            </a:pPr>
            <a:r>
              <a:rPr sz="1250" b="1" spc="220">
                <a:solidFill>
                  <a:srgbClr val="EE0000"/>
                </a:solidFill>
                <a:latin typeface="Red Hat Display"/>
              </a:rPr>
              <a:t>M02 · WAYS TO BUILD &amp; DELIVER APPS</a:t>
            </a:r>
          </a:p>
        </p:txBody>
      </p:sp>
      <p:sp>
        <p:nvSpPr>
          <p:cNvPr id="4" name="TextBox 3"/>
          <p:cNvSpPr txBox="1"/>
          <p:nvPr/>
        </p:nvSpPr>
        <p:spPr>
          <a:xfrm>
            <a:off x="841248" y="877824"/>
            <a:ext cx="10515600" cy="548640"/>
          </a:xfrm>
          <a:prstGeom prst="rect">
            <a:avLst/>
          </a:prstGeom>
          <a:noFill/>
        </p:spPr>
        <p:txBody>
          <a:bodyPr wrap="none" anchor="t" lIns="0" rIns="0" tIns="0" bIns="0">
            <a:spAutoFit/>
          </a:bodyPr>
          <a:lstStyle/>
          <a:p>
            <a:pPr algn="l">
              <a:lnSpc>
                <a:spcPct val="100000"/>
              </a:lnSpc>
              <a:spcBef>
                <a:spcPts val="0"/>
              </a:spcBef>
              <a:spcAft>
                <a:spcPts val="0"/>
              </a:spcAft>
            </a:pPr>
            <a:r>
              <a:rPr sz="2500" b="1">
                <a:solidFill>
                  <a:srgbClr val="1A1A1A"/>
                </a:solidFill>
                <a:latin typeface="Red Hat Display"/>
              </a:rPr>
              <a:t>The catalog is the front door</a:t>
            </a:r>
          </a:p>
        </p:txBody>
      </p:sp>
      <p:cxnSp>
        <p:nvCxnSpPr>
          <p:cNvPr id="5" name="Connector 4"/>
          <p:cNvCxnSpPr/>
          <p:nvPr/>
        </p:nvCxnSpPr>
        <p:spPr>
          <a:xfrm>
            <a:off x="841248" y="1554480"/>
            <a:ext cx="1371600" cy="0"/>
          </a:xfrm>
          <a:prstGeom prst="bentConnector3">
            <a:avLst/>
          </a:prstGeom>
          <a:ln w="31750">
            <a:solidFill>
              <a:srgbClr val="EE0000"/>
            </a:solidFill>
          </a:ln>
          <a:effectLst/>
        </p:spPr>
        <p:style>
          <a:lnRef idx="2">
            <a:schemeClr val="accent1"/>
          </a:lnRef>
          <a:fillRef idx="0">
            <a:schemeClr val="accent1"/>
          </a:fillRef>
          <a:effectRef idx="1">
            <a:schemeClr val="accent1"/>
          </a:effectRef>
          <a:fontRef idx="minor">
            <a:schemeClr val="tx1"/>
          </a:fontRef>
        </p:style>
      </p:cxnSp>
      <p:sp>
        <p:nvSpPr>
          <p:cNvPr id="6" name="Rounded Rectangle 5"/>
          <p:cNvSpPr/>
          <p:nvPr/>
        </p:nvSpPr>
        <p:spPr>
          <a:xfrm>
            <a:off x="841248" y="2395728"/>
            <a:ext cx="5715000" cy="530352"/>
          </a:xfrm>
          <a:prstGeom prst="roundRect">
            <a:avLst>
              <a:gd name="adj" fmla="val 6000"/>
            </a:avLst>
          </a:prstGeom>
          <a:solidFill>
            <a:srgbClr val="F5F6F8"/>
          </a:solidFill>
          <a:ln w="12700">
            <a:solidFill>
              <a:srgbClr val="DDE1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check_steel.png"/>
          <p:cNvPicPr>
            <a:picLocks noChangeAspect="1"/>
          </p:cNvPicPr>
          <p:nvPr/>
        </p:nvPicPr>
        <p:blipFill>
          <a:blip r:embed="rId3"/>
          <a:stretch>
            <a:fillRect/>
          </a:stretch>
        </p:blipFill>
        <p:spPr>
          <a:xfrm>
            <a:off x="987552" y="2542032"/>
            <a:ext cx="237744" cy="237744"/>
          </a:xfrm>
          <a:prstGeom prst="rect">
            <a:avLst/>
          </a:prstGeom>
        </p:spPr>
      </p:pic>
      <p:sp>
        <p:nvSpPr>
          <p:cNvPr id="8" name="TextBox 7"/>
          <p:cNvSpPr txBox="1"/>
          <p:nvPr/>
        </p:nvSpPr>
        <p:spPr>
          <a:xfrm>
            <a:off x="1353312" y="2395728"/>
            <a:ext cx="5029200" cy="530352"/>
          </a:xfrm>
          <a:prstGeom prst="rect">
            <a:avLst/>
          </a:prstGeom>
          <a:noFill/>
        </p:spPr>
        <p:txBody>
          <a:bodyPr wrap="square" anchor="ctr" lIns="0" rIns="0" tIns="0" bIns="0">
            <a:spAutoFit/>
          </a:bodyPr>
          <a:lstStyle/>
          <a:p>
            <a:pPr algn="l">
              <a:lnSpc>
                <a:spcPct val="106000"/>
              </a:lnSpc>
              <a:spcBef>
                <a:spcPts val="0"/>
              </a:spcBef>
              <a:spcAft>
                <a:spcPts val="0"/>
              </a:spcAft>
            </a:pPr>
            <a:r>
              <a:rPr sz="1200" b="0">
                <a:solidFill>
                  <a:srgbClr val="1A1A1A"/>
                </a:solidFill>
                <a:latin typeface="Red Hat Text"/>
              </a:rPr>
              <a:t>One place: templates, samples, services</a:t>
            </a:r>
          </a:p>
        </p:txBody>
      </p:sp>
      <p:sp>
        <p:nvSpPr>
          <p:cNvPr id="9" name="Rounded Rectangle 8"/>
          <p:cNvSpPr/>
          <p:nvPr/>
        </p:nvSpPr>
        <p:spPr>
          <a:xfrm>
            <a:off x="841248" y="2999232"/>
            <a:ext cx="5715000" cy="530352"/>
          </a:xfrm>
          <a:prstGeom prst="roundRect">
            <a:avLst>
              <a:gd name="adj" fmla="val 6000"/>
            </a:avLst>
          </a:prstGeom>
          <a:solidFill>
            <a:srgbClr val="F5F6F8"/>
          </a:solidFill>
          <a:ln w="12700">
            <a:solidFill>
              <a:srgbClr val="DDE1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0" name="Picture 9" descr="check_steel.png"/>
          <p:cNvPicPr>
            <a:picLocks noChangeAspect="1"/>
          </p:cNvPicPr>
          <p:nvPr/>
        </p:nvPicPr>
        <p:blipFill>
          <a:blip r:embed="rId3"/>
          <a:stretch>
            <a:fillRect/>
          </a:stretch>
        </p:blipFill>
        <p:spPr>
          <a:xfrm>
            <a:off x="987552" y="3145536"/>
            <a:ext cx="237744" cy="237744"/>
          </a:xfrm>
          <a:prstGeom prst="rect">
            <a:avLst/>
          </a:prstGeom>
        </p:spPr>
      </p:pic>
      <p:sp>
        <p:nvSpPr>
          <p:cNvPr id="11" name="TextBox 10"/>
          <p:cNvSpPr txBox="1"/>
          <p:nvPr/>
        </p:nvSpPr>
        <p:spPr>
          <a:xfrm>
            <a:off x="1353312" y="2999232"/>
            <a:ext cx="5029200" cy="530352"/>
          </a:xfrm>
          <a:prstGeom prst="rect">
            <a:avLst/>
          </a:prstGeom>
          <a:noFill/>
        </p:spPr>
        <p:txBody>
          <a:bodyPr wrap="square" anchor="ctr" lIns="0" rIns="0" tIns="0" bIns="0">
            <a:spAutoFit/>
          </a:bodyPr>
          <a:lstStyle/>
          <a:p>
            <a:pPr algn="l">
              <a:lnSpc>
                <a:spcPct val="106000"/>
              </a:lnSpc>
              <a:spcBef>
                <a:spcPts val="0"/>
              </a:spcBef>
              <a:spcAft>
                <a:spcPts val="0"/>
              </a:spcAft>
            </a:pPr>
            <a:r>
              <a:rPr sz="1200" b="0">
                <a:solidFill>
                  <a:srgbClr val="1A1A1A"/>
                </a:solidFill>
                <a:latin typeface="Red Hat Text"/>
              </a:rPr>
              <a:t>Curated by the platform team</a:t>
            </a:r>
          </a:p>
        </p:txBody>
      </p:sp>
      <p:sp>
        <p:nvSpPr>
          <p:cNvPr id="12" name="Rounded Rectangle 11"/>
          <p:cNvSpPr/>
          <p:nvPr/>
        </p:nvSpPr>
        <p:spPr>
          <a:xfrm>
            <a:off x="841248" y="3602736"/>
            <a:ext cx="5715000" cy="530352"/>
          </a:xfrm>
          <a:prstGeom prst="roundRect">
            <a:avLst>
              <a:gd name="adj" fmla="val 6000"/>
            </a:avLst>
          </a:prstGeom>
          <a:solidFill>
            <a:srgbClr val="F5F6F8"/>
          </a:solidFill>
          <a:ln w="12700">
            <a:solidFill>
              <a:srgbClr val="DDE1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3" name="Picture 12" descr="check_steel.png"/>
          <p:cNvPicPr>
            <a:picLocks noChangeAspect="1"/>
          </p:cNvPicPr>
          <p:nvPr/>
        </p:nvPicPr>
        <p:blipFill>
          <a:blip r:embed="rId3"/>
          <a:stretch>
            <a:fillRect/>
          </a:stretch>
        </p:blipFill>
        <p:spPr>
          <a:xfrm>
            <a:off x="987552" y="3749040"/>
            <a:ext cx="237744" cy="237744"/>
          </a:xfrm>
          <a:prstGeom prst="rect">
            <a:avLst/>
          </a:prstGeom>
        </p:spPr>
      </p:pic>
      <p:sp>
        <p:nvSpPr>
          <p:cNvPr id="14" name="TextBox 13"/>
          <p:cNvSpPr txBox="1"/>
          <p:nvPr/>
        </p:nvSpPr>
        <p:spPr>
          <a:xfrm>
            <a:off x="1353312" y="3602736"/>
            <a:ext cx="5029200" cy="530352"/>
          </a:xfrm>
          <a:prstGeom prst="rect">
            <a:avLst/>
          </a:prstGeom>
          <a:noFill/>
        </p:spPr>
        <p:txBody>
          <a:bodyPr wrap="square" anchor="ctr" lIns="0" rIns="0" tIns="0" bIns="0">
            <a:spAutoFit/>
          </a:bodyPr>
          <a:lstStyle/>
          <a:p>
            <a:pPr algn="l">
              <a:lnSpc>
                <a:spcPct val="106000"/>
              </a:lnSpc>
              <a:spcBef>
                <a:spcPts val="0"/>
              </a:spcBef>
              <a:spcAft>
                <a:spcPts val="0"/>
              </a:spcAft>
            </a:pPr>
            <a:r>
              <a:rPr sz="1200" b="0">
                <a:solidFill>
                  <a:srgbClr val="1A1A1A"/>
                </a:solidFill>
                <a:latin typeface="Red Hat Text"/>
              </a:rPr>
              <a:t>Deploy a database without a ticket</a:t>
            </a:r>
          </a:p>
        </p:txBody>
      </p:sp>
      <p:sp>
        <p:nvSpPr>
          <p:cNvPr id="15" name="Rounded Rectangle 14"/>
          <p:cNvSpPr/>
          <p:nvPr/>
        </p:nvSpPr>
        <p:spPr>
          <a:xfrm>
            <a:off x="841248" y="4206240"/>
            <a:ext cx="5715000" cy="530352"/>
          </a:xfrm>
          <a:prstGeom prst="roundRect">
            <a:avLst>
              <a:gd name="adj" fmla="val 6000"/>
            </a:avLst>
          </a:prstGeom>
          <a:solidFill>
            <a:srgbClr val="F5F6F8"/>
          </a:solidFill>
          <a:ln w="12700">
            <a:solidFill>
              <a:srgbClr val="DDE1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6" name="Picture 15" descr="check_steel.png"/>
          <p:cNvPicPr>
            <a:picLocks noChangeAspect="1"/>
          </p:cNvPicPr>
          <p:nvPr/>
        </p:nvPicPr>
        <p:blipFill>
          <a:blip r:embed="rId3"/>
          <a:stretch>
            <a:fillRect/>
          </a:stretch>
        </p:blipFill>
        <p:spPr>
          <a:xfrm>
            <a:off x="987552" y="4352544"/>
            <a:ext cx="237744" cy="237744"/>
          </a:xfrm>
          <a:prstGeom prst="rect">
            <a:avLst/>
          </a:prstGeom>
        </p:spPr>
      </p:pic>
      <p:sp>
        <p:nvSpPr>
          <p:cNvPr id="17" name="TextBox 16"/>
          <p:cNvSpPr txBox="1"/>
          <p:nvPr/>
        </p:nvSpPr>
        <p:spPr>
          <a:xfrm>
            <a:off x="1353312" y="4206240"/>
            <a:ext cx="5029200" cy="530352"/>
          </a:xfrm>
          <a:prstGeom prst="rect">
            <a:avLst/>
          </a:prstGeom>
          <a:noFill/>
        </p:spPr>
        <p:txBody>
          <a:bodyPr wrap="square" anchor="ctr" lIns="0" rIns="0" tIns="0" bIns="0">
            <a:spAutoFit/>
          </a:bodyPr>
          <a:lstStyle/>
          <a:p>
            <a:pPr algn="l">
              <a:lnSpc>
                <a:spcPct val="106000"/>
              </a:lnSpc>
              <a:spcBef>
                <a:spcPts val="0"/>
              </a:spcBef>
              <a:spcAft>
                <a:spcPts val="0"/>
              </a:spcAft>
            </a:pPr>
            <a:r>
              <a:rPr sz="1200" b="0">
                <a:solidFill>
                  <a:srgbClr val="1A1A1A"/>
                </a:solidFill>
                <a:latin typeface="Red Hat Text"/>
              </a:rPr>
              <a:t>Bad defaults are curated out</a:t>
            </a:r>
          </a:p>
        </p:txBody>
      </p:sp>
      <p:sp>
        <p:nvSpPr>
          <p:cNvPr id="18" name="Rounded Rectangle 17"/>
          <p:cNvSpPr/>
          <p:nvPr/>
        </p:nvSpPr>
        <p:spPr>
          <a:xfrm>
            <a:off x="841248" y="4809744"/>
            <a:ext cx="5715000" cy="530352"/>
          </a:xfrm>
          <a:prstGeom prst="roundRect">
            <a:avLst>
              <a:gd name="adj" fmla="val 6000"/>
            </a:avLst>
          </a:prstGeom>
          <a:solidFill>
            <a:srgbClr val="F5F6F8"/>
          </a:solidFill>
          <a:ln w="12700">
            <a:solidFill>
              <a:srgbClr val="DDE1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9" name="Picture 18" descr="check_steel.png"/>
          <p:cNvPicPr>
            <a:picLocks noChangeAspect="1"/>
          </p:cNvPicPr>
          <p:nvPr/>
        </p:nvPicPr>
        <p:blipFill>
          <a:blip r:embed="rId3"/>
          <a:stretch>
            <a:fillRect/>
          </a:stretch>
        </p:blipFill>
        <p:spPr>
          <a:xfrm>
            <a:off x="987552" y="4956048"/>
            <a:ext cx="237744" cy="237744"/>
          </a:xfrm>
          <a:prstGeom prst="rect">
            <a:avLst/>
          </a:prstGeom>
        </p:spPr>
      </p:pic>
      <p:sp>
        <p:nvSpPr>
          <p:cNvPr id="20" name="TextBox 19"/>
          <p:cNvSpPr txBox="1"/>
          <p:nvPr/>
        </p:nvSpPr>
        <p:spPr>
          <a:xfrm>
            <a:off x="1353312" y="4809744"/>
            <a:ext cx="5029200" cy="530352"/>
          </a:xfrm>
          <a:prstGeom prst="rect">
            <a:avLst/>
          </a:prstGeom>
          <a:noFill/>
        </p:spPr>
        <p:txBody>
          <a:bodyPr wrap="square" anchor="ctr" lIns="0" rIns="0" tIns="0" bIns="0">
            <a:spAutoFit/>
          </a:bodyPr>
          <a:lstStyle/>
          <a:p>
            <a:pPr algn="l">
              <a:lnSpc>
                <a:spcPct val="106000"/>
              </a:lnSpc>
              <a:spcBef>
                <a:spcPts val="0"/>
              </a:spcBef>
              <a:spcAft>
                <a:spcPts val="0"/>
              </a:spcAft>
            </a:pPr>
            <a:r>
              <a:rPr sz="1200" b="0">
                <a:solidFill>
                  <a:srgbClr val="1A1A1A"/>
                </a:solidFill>
                <a:latin typeface="Red Hat Text"/>
              </a:rPr>
              <a:t>Someone chose what you see</a:t>
            </a:r>
          </a:p>
        </p:txBody>
      </p:sp>
      <p:sp>
        <p:nvSpPr>
          <p:cNvPr id="21" name="Rounded Rectangle 20"/>
          <p:cNvSpPr/>
          <p:nvPr/>
        </p:nvSpPr>
        <p:spPr>
          <a:xfrm>
            <a:off x="6812280" y="2395728"/>
            <a:ext cx="4538167" cy="2944368"/>
          </a:xfrm>
          <a:prstGeom prst="roundRect">
            <a:avLst>
              <a:gd name="adj" fmla="val 4000"/>
            </a:avLst>
          </a:prstGeom>
          <a:solidFill>
            <a:srgbClr val="FFFFFF"/>
          </a:solidFill>
          <a:ln w="15240">
            <a:solidFill>
              <a:srgbClr val="DDE1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ounded Rectangle 21"/>
          <p:cNvSpPr/>
          <p:nvPr/>
        </p:nvSpPr>
        <p:spPr>
          <a:xfrm>
            <a:off x="7013448" y="2596896"/>
            <a:ext cx="1298448" cy="310896"/>
          </a:xfrm>
          <a:prstGeom prst="roundRect">
            <a:avLst>
              <a:gd name="adj" fmla="val 50000"/>
            </a:avLst>
          </a:prstGeom>
          <a:solidFill>
            <a:srgbClr val="FCEC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7013448" y="2596896"/>
            <a:ext cx="1298448" cy="310896"/>
          </a:xfrm>
          <a:prstGeom prst="rect">
            <a:avLst/>
          </a:prstGeom>
          <a:noFill/>
        </p:spPr>
        <p:txBody>
          <a:bodyPr wrap="none" anchor="ctr" lIns="0" rIns="0" tIns="0" bIns="0">
            <a:spAutoFit/>
          </a:bodyPr>
          <a:lstStyle/>
          <a:p>
            <a:pPr algn="ctr">
              <a:lnSpc>
                <a:spcPct val="106000"/>
              </a:lnSpc>
              <a:spcBef>
                <a:spcPts val="0"/>
              </a:spcBef>
              <a:spcAft>
                <a:spcPts val="0"/>
              </a:spcAft>
            </a:pPr>
            <a:r>
              <a:rPr sz="850" b="1">
                <a:solidFill>
                  <a:srgbClr val="B80000"/>
                </a:solidFill>
                <a:latin typeface="Red Hat Display"/>
              </a:rPr>
              <a:t>MEDIA PASS</a:t>
            </a:r>
          </a:p>
        </p:txBody>
      </p:sp>
      <p:pic>
        <p:nvPicPr>
          <p:cNvPr id="24" name="Picture 23" descr="eye_slate.png"/>
          <p:cNvPicPr>
            <a:picLocks noChangeAspect="1"/>
          </p:cNvPicPr>
          <p:nvPr/>
        </p:nvPicPr>
        <p:blipFill>
          <a:blip r:embed="rId4"/>
          <a:stretch>
            <a:fillRect/>
          </a:stretch>
        </p:blipFill>
        <p:spPr>
          <a:xfrm>
            <a:off x="8843619" y="3108960"/>
            <a:ext cx="475488" cy="475488"/>
          </a:xfrm>
          <a:prstGeom prst="rect">
            <a:avLst/>
          </a:prstGeom>
        </p:spPr>
      </p:pic>
      <p:sp>
        <p:nvSpPr>
          <p:cNvPr id="25" name="TextBox 24"/>
          <p:cNvSpPr txBox="1"/>
          <p:nvPr/>
        </p:nvSpPr>
        <p:spPr>
          <a:xfrm>
            <a:off x="7050024" y="3721608"/>
            <a:ext cx="4062679" cy="1481328"/>
          </a:xfrm>
          <a:prstGeom prst="rect">
            <a:avLst/>
          </a:prstGeom>
          <a:noFill/>
        </p:spPr>
        <p:txBody>
          <a:bodyPr wrap="square" anchor="t" lIns="0" rIns="0" tIns="0" bIns="0">
            <a:spAutoFit/>
          </a:bodyPr>
          <a:lstStyle/>
          <a:p>
            <a:pPr algn="l">
              <a:lnSpc>
                <a:spcPct val="120000"/>
              </a:lnSpc>
              <a:spcBef>
                <a:spcPts val="0"/>
              </a:spcBef>
              <a:spcAft>
                <a:spcPts val="0"/>
              </a:spcAft>
            </a:pPr>
            <a:r>
              <a:rPr sz="950" b="0">
                <a:solidFill>
                  <a:srgbClr val="8A9099"/>
                </a:solidFill>
                <a:latin typeface="Red Hat Text"/>
              </a:rPr>
              <a:t>A catalog grid with a highlighted "Parasol PostgreSQL (ephemeral)" tile and a greyed-out "deprecated" tile beside it.</a:t>
            </a:r>
          </a:p>
        </p:txBody>
      </p:sp>
      <p:cxnSp>
        <p:nvCxnSpPr>
          <p:cNvPr id="26" name="Connector 25"/>
          <p:cNvCxnSpPr/>
          <p:nvPr/>
        </p:nvCxnSpPr>
        <p:spPr>
          <a:xfrm>
            <a:off x="841248" y="6437376"/>
            <a:ext cx="10509199" cy="0"/>
          </a:xfrm>
          <a:prstGeom prst="bentConnector3">
            <a:avLst/>
          </a:prstGeom>
          <a:ln w="12700">
            <a:solidFill>
              <a:srgbClr val="DDE1E6"/>
            </a:solidFill>
          </a:ln>
          <a:effectLst/>
        </p:spPr>
        <p:style>
          <a:lnRef idx="2">
            <a:schemeClr val="accent1"/>
          </a:lnRef>
          <a:fillRef idx="0">
            <a:schemeClr val="accent1"/>
          </a:fillRef>
          <a:effectRef idx="1">
            <a:schemeClr val="accent1"/>
          </a:effectRef>
          <a:fontRef idx="minor">
            <a:schemeClr val="tx1"/>
          </a:fontRef>
        </p:style>
      </p:cxnSp>
      <p:sp>
        <p:nvSpPr>
          <p:cNvPr id="27" name="TextBox 26"/>
          <p:cNvSpPr txBox="1"/>
          <p:nvPr/>
        </p:nvSpPr>
        <p:spPr>
          <a:xfrm>
            <a:off x="841248" y="6473952"/>
            <a:ext cx="7315200" cy="274320"/>
          </a:xfrm>
          <a:prstGeom prst="rect">
            <a:avLst/>
          </a:prstGeom>
          <a:noFill/>
        </p:spPr>
        <p:txBody>
          <a:bodyPr wrap="square" anchor="t" lIns="0" rIns="0" tIns="0" bIns="0">
            <a:spAutoFit/>
          </a:bodyPr>
          <a:lstStyle/>
          <a:p>
            <a:pPr algn="l">
              <a:lnSpc>
                <a:spcPct val="106000"/>
              </a:lnSpc>
              <a:spcBef>
                <a:spcPts val="0"/>
              </a:spcBef>
              <a:spcAft>
                <a:spcPts val="0"/>
              </a:spcAft>
            </a:pPr>
            <a:r>
              <a:rPr sz="950" b="0">
                <a:solidFill>
                  <a:srgbClr val="8A9099"/>
                </a:solidFill>
                <a:latin typeface="Red Hat Text"/>
              </a:rPr>
              <a:t>CONFIDENTIAL</a:t>
            </a:r>
          </a:p>
        </p:txBody>
      </p:sp>
      <p:sp>
        <p:nvSpPr>
          <p:cNvPr id="28" name="TextBox 27"/>
          <p:cNvSpPr txBox="1"/>
          <p:nvPr/>
        </p:nvSpPr>
        <p:spPr>
          <a:xfrm>
            <a:off x="10801807" y="6473952"/>
            <a:ext cx="548640" cy="274320"/>
          </a:xfrm>
          <a:prstGeom prst="rect">
            <a:avLst/>
          </a:prstGeom>
          <a:noFill/>
        </p:spPr>
        <p:txBody>
          <a:bodyPr wrap="square" anchor="t" lIns="0" rIns="0" tIns="0" bIns="0">
            <a:spAutoFit/>
          </a:bodyPr>
          <a:lstStyle/>
          <a:p>
            <a:pPr algn="r">
              <a:lnSpc>
                <a:spcPct val="106000"/>
              </a:lnSpc>
              <a:spcBef>
                <a:spcPts val="0"/>
              </a:spcBef>
              <a:spcAft>
                <a:spcPts val="0"/>
              </a:spcAft>
            </a:pPr>
            <a:r>
              <a:rPr sz="950" b="0">
                <a:solidFill>
                  <a:srgbClr val="8A9099"/>
                </a:solidFill>
                <a:latin typeface="Red Hat Text"/>
              </a:rPr>
              <a:t>11</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redhat_logo.jpg"/>
          <p:cNvPicPr>
            <a:picLocks noChangeAspect="1"/>
          </p:cNvPicPr>
          <p:nvPr/>
        </p:nvPicPr>
        <p:blipFill>
          <a:blip r:embed="rId2"/>
          <a:stretch>
            <a:fillRect/>
          </a:stretch>
        </p:blipFill>
        <p:spPr>
          <a:xfrm>
            <a:off x="10326319" y="475488"/>
            <a:ext cx="1024128" cy="242248"/>
          </a:xfrm>
          <a:prstGeom prst="rect">
            <a:avLst/>
          </a:prstGeom>
        </p:spPr>
      </p:pic>
      <p:sp>
        <p:nvSpPr>
          <p:cNvPr id="3" name="TextBox 2"/>
          <p:cNvSpPr txBox="1"/>
          <p:nvPr/>
        </p:nvSpPr>
        <p:spPr>
          <a:xfrm>
            <a:off x="841248" y="548640"/>
            <a:ext cx="8595360" cy="274320"/>
          </a:xfrm>
          <a:prstGeom prst="rect">
            <a:avLst/>
          </a:prstGeom>
          <a:noFill/>
        </p:spPr>
        <p:txBody>
          <a:bodyPr wrap="square" anchor="t" lIns="0" rIns="0" tIns="0" bIns="0">
            <a:spAutoFit/>
          </a:bodyPr>
          <a:lstStyle/>
          <a:p>
            <a:pPr algn="l">
              <a:lnSpc>
                <a:spcPct val="106000"/>
              </a:lnSpc>
              <a:spcBef>
                <a:spcPts val="0"/>
              </a:spcBef>
              <a:spcAft>
                <a:spcPts val="0"/>
              </a:spcAft>
            </a:pPr>
            <a:r>
              <a:rPr sz="1250" b="1" spc="220">
                <a:solidFill>
                  <a:srgbClr val="EE0000"/>
                </a:solidFill>
                <a:latin typeface="Red Hat Display"/>
              </a:rPr>
              <a:t>M02 · WAYS TO BUILD &amp; DELIVER APPS</a:t>
            </a:r>
          </a:p>
        </p:txBody>
      </p:sp>
      <p:sp>
        <p:nvSpPr>
          <p:cNvPr id="4" name="TextBox 3"/>
          <p:cNvSpPr txBox="1"/>
          <p:nvPr/>
        </p:nvSpPr>
        <p:spPr>
          <a:xfrm>
            <a:off x="841248" y="877824"/>
            <a:ext cx="10515600" cy="548640"/>
          </a:xfrm>
          <a:prstGeom prst="rect">
            <a:avLst/>
          </a:prstGeom>
          <a:noFill/>
        </p:spPr>
        <p:txBody>
          <a:bodyPr wrap="none" anchor="t" lIns="0" rIns="0" tIns="0" bIns="0">
            <a:spAutoFit/>
          </a:bodyPr>
          <a:lstStyle/>
          <a:p>
            <a:pPr algn="l">
              <a:lnSpc>
                <a:spcPct val="100000"/>
              </a:lnSpc>
              <a:spcBef>
                <a:spcPts val="0"/>
              </a:spcBef>
              <a:spcAft>
                <a:spcPts val="0"/>
              </a:spcAft>
            </a:pPr>
            <a:r>
              <a:rPr sz="2500" b="1">
                <a:solidFill>
                  <a:srgbClr val="1A1A1A"/>
                </a:solidFill>
                <a:latin typeface="Red Hat Display"/>
              </a:rPr>
              <a:t>What you'll do</a:t>
            </a:r>
          </a:p>
        </p:txBody>
      </p:sp>
      <p:cxnSp>
        <p:nvCxnSpPr>
          <p:cNvPr id="5" name="Connector 4"/>
          <p:cNvCxnSpPr/>
          <p:nvPr/>
        </p:nvCxnSpPr>
        <p:spPr>
          <a:xfrm>
            <a:off x="841248" y="1554480"/>
            <a:ext cx="1371600" cy="0"/>
          </a:xfrm>
          <a:prstGeom prst="bentConnector3">
            <a:avLst/>
          </a:prstGeom>
          <a:ln w="31750">
            <a:solidFill>
              <a:srgbClr val="EE0000"/>
            </a:solidFill>
          </a:ln>
          <a:effectLst/>
        </p:spPr>
        <p:style>
          <a:lnRef idx="2">
            <a:schemeClr val="accent1"/>
          </a:lnRef>
          <a:fillRef idx="0">
            <a:schemeClr val="accent1"/>
          </a:fillRef>
          <a:effectRef idx="1">
            <a:schemeClr val="accent1"/>
          </a:effectRef>
          <a:fontRef idx="minor">
            <a:schemeClr val="tx1"/>
          </a:fontRef>
        </p:style>
      </p:cxnSp>
      <p:sp>
        <p:nvSpPr>
          <p:cNvPr id="6" name="Rounded Rectangle 5"/>
          <p:cNvSpPr/>
          <p:nvPr/>
        </p:nvSpPr>
        <p:spPr>
          <a:xfrm>
            <a:off x="841248" y="2395728"/>
            <a:ext cx="5715000" cy="530352"/>
          </a:xfrm>
          <a:prstGeom prst="roundRect">
            <a:avLst>
              <a:gd name="adj" fmla="val 6000"/>
            </a:avLst>
          </a:prstGeom>
          <a:solidFill>
            <a:srgbClr val="F5F6F8"/>
          </a:solidFill>
          <a:ln w="12700">
            <a:solidFill>
              <a:srgbClr val="DDE1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check_steel.png"/>
          <p:cNvPicPr>
            <a:picLocks noChangeAspect="1"/>
          </p:cNvPicPr>
          <p:nvPr/>
        </p:nvPicPr>
        <p:blipFill>
          <a:blip r:embed="rId3"/>
          <a:stretch>
            <a:fillRect/>
          </a:stretch>
        </p:blipFill>
        <p:spPr>
          <a:xfrm>
            <a:off x="987552" y="2542032"/>
            <a:ext cx="237744" cy="237744"/>
          </a:xfrm>
          <a:prstGeom prst="rect">
            <a:avLst/>
          </a:prstGeom>
        </p:spPr>
      </p:pic>
      <p:sp>
        <p:nvSpPr>
          <p:cNvPr id="8" name="TextBox 7"/>
          <p:cNvSpPr txBox="1"/>
          <p:nvPr/>
        </p:nvSpPr>
        <p:spPr>
          <a:xfrm>
            <a:off x="1353312" y="2395728"/>
            <a:ext cx="5029200" cy="530352"/>
          </a:xfrm>
          <a:prstGeom prst="rect">
            <a:avLst/>
          </a:prstGeom>
          <a:noFill/>
        </p:spPr>
        <p:txBody>
          <a:bodyPr wrap="square" anchor="ctr" lIns="0" rIns="0" tIns="0" bIns="0">
            <a:spAutoFit/>
          </a:bodyPr>
          <a:lstStyle/>
          <a:p>
            <a:pPr algn="l">
              <a:lnSpc>
                <a:spcPct val="106000"/>
              </a:lnSpc>
              <a:spcBef>
                <a:spcPts val="0"/>
              </a:spcBef>
              <a:spcAft>
                <a:spcPts val="0"/>
              </a:spcAft>
            </a:pPr>
            <a:r>
              <a:rPr sz="1200" b="0">
                <a:solidFill>
                  <a:srgbClr val="1A1A1A"/>
                </a:solidFill>
                <a:latin typeface="Red Hat Text"/>
              </a:rPr>
              <a:t>Import claims from Git with S2I</a:t>
            </a:r>
          </a:p>
        </p:txBody>
      </p:sp>
      <p:sp>
        <p:nvSpPr>
          <p:cNvPr id="9" name="Rounded Rectangle 8"/>
          <p:cNvSpPr/>
          <p:nvPr/>
        </p:nvSpPr>
        <p:spPr>
          <a:xfrm>
            <a:off x="841248" y="2999232"/>
            <a:ext cx="5715000" cy="530352"/>
          </a:xfrm>
          <a:prstGeom prst="roundRect">
            <a:avLst>
              <a:gd name="adj" fmla="val 6000"/>
            </a:avLst>
          </a:prstGeom>
          <a:solidFill>
            <a:srgbClr val="F5F6F8"/>
          </a:solidFill>
          <a:ln w="12700">
            <a:solidFill>
              <a:srgbClr val="DDE1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0" name="Picture 9" descr="check_steel.png"/>
          <p:cNvPicPr>
            <a:picLocks noChangeAspect="1"/>
          </p:cNvPicPr>
          <p:nvPr/>
        </p:nvPicPr>
        <p:blipFill>
          <a:blip r:embed="rId3"/>
          <a:stretch>
            <a:fillRect/>
          </a:stretch>
        </p:blipFill>
        <p:spPr>
          <a:xfrm>
            <a:off x="987552" y="3145536"/>
            <a:ext cx="237744" cy="237744"/>
          </a:xfrm>
          <a:prstGeom prst="rect">
            <a:avLst/>
          </a:prstGeom>
        </p:spPr>
      </p:pic>
      <p:sp>
        <p:nvSpPr>
          <p:cNvPr id="11" name="TextBox 10"/>
          <p:cNvSpPr txBox="1"/>
          <p:nvPr/>
        </p:nvSpPr>
        <p:spPr>
          <a:xfrm>
            <a:off x="1353312" y="2999232"/>
            <a:ext cx="5029200" cy="530352"/>
          </a:xfrm>
          <a:prstGeom prst="rect">
            <a:avLst/>
          </a:prstGeom>
          <a:noFill/>
        </p:spPr>
        <p:txBody>
          <a:bodyPr wrap="square" anchor="ctr" lIns="0" rIns="0" tIns="0" bIns="0">
            <a:spAutoFit/>
          </a:bodyPr>
          <a:lstStyle/>
          <a:p>
            <a:pPr algn="l">
              <a:lnSpc>
                <a:spcPct val="106000"/>
              </a:lnSpc>
              <a:spcBef>
                <a:spcPts val="0"/>
              </a:spcBef>
              <a:spcAft>
                <a:spcPts val="0"/>
              </a:spcAft>
            </a:pPr>
            <a:r>
              <a:rPr sz="1200" b="0">
                <a:solidFill>
                  <a:srgbClr val="1A1A1A"/>
                </a:solidFill>
                <a:latin typeface="Red Hat Text"/>
              </a:rPr>
              <a:t>Build the same app from its Containerfile</a:t>
            </a:r>
          </a:p>
        </p:txBody>
      </p:sp>
      <p:sp>
        <p:nvSpPr>
          <p:cNvPr id="12" name="Rounded Rectangle 11"/>
          <p:cNvSpPr/>
          <p:nvPr/>
        </p:nvSpPr>
        <p:spPr>
          <a:xfrm>
            <a:off x="841248" y="3602736"/>
            <a:ext cx="5715000" cy="530352"/>
          </a:xfrm>
          <a:prstGeom prst="roundRect">
            <a:avLst>
              <a:gd name="adj" fmla="val 6000"/>
            </a:avLst>
          </a:prstGeom>
          <a:solidFill>
            <a:srgbClr val="F5F6F8"/>
          </a:solidFill>
          <a:ln w="12700">
            <a:solidFill>
              <a:srgbClr val="DDE1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3" name="Picture 12" descr="check_steel.png"/>
          <p:cNvPicPr>
            <a:picLocks noChangeAspect="1"/>
          </p:cNvPicPr>
          <p:nvPr/>
        </p:nvPicPr>
        <p:blipFill>
          <a:blip r:embed="rId3"/>
          <a:stretch>
            <a:fillRect/>
          </a:stretch>
        </p:blipFill>
        <p:spPr>
          <a:xfrm>
            <a:off x="987552" y="3749040"/>
            <a:ext cx="237744" cy="237744"/>
          </a:xfrm>
          <a:prstGeom prst="rect">
            <a:avLst/>
          </a:prstGeom>
        </p:spPr>
      </p:pic>
      <p:sp>
        <p:nvSpPr>
          <p:cNvPr id="14" name="TextBox 13"/>
          <p:cNvSpPr txBox="1"/>
          <p:nvPr/>
        </p:nvSpPr>
        <p:spPr>
          <a:xfrm>
            <a:off x="1353312" y="3602736"/>
            <a:ext cx="5029200" cy="530352"/>
          </a:xfrm>
          <a:prstGeom prst="rect">
            <a:avLst/>
          </a:prstGeom>
          <a:noFill/>
        </p:spPr>
        <p:txBody>
          <a:bodyPr wrap="square" anchor="ctr" lIns="0" rIns="0" tIns="0" bIns="0">
            <a:spAutoFit/>
          </a:bodyPr>
          <a:lstStyle/>
          <a:p>
            <a:pPr algn="l">
              <a:lnSpc>
                <a:spcPct val="106000"/>
              </a:lnSpc>
              <a:spcBef>
                <a:spcPts val="0"/>
              </a:spcBef>
              <a:spcAft>
                <a:spcPts val="0"/>
              </a:spcAft>
            </a:pPr>
            <a:r>
              <a:rPr sz="1200" b="0">
                <a:solidFill>
                  <a:srgbClr val="1A1A1A"/>
                </a:solidFill>
                <a:latin typeface="Red Hat Text"/>
              </a:rPr>
              <a:t>Import notifications — Node.js polyglot</a:t>
            </a:r>
          </a:p>
        </p:txBody>
      </p:sp>
      <p:sp>
        <p:nvSpPr>
          <p:cNvPr id="15" name="Rounded Rectangle 14"/>
          <p:cNvSpPr/>
          <p:nvPr/>
        </p:nvSpPr>
        <p:spPr>
          <a:xfrm>
            <a:off x="841248" y="4206240"/>
            <a:ext cx="5715000" cy="530352"/>
          </a:xfrm>
          <a:prstGeom prst="roundRect">
            <a:avLst>
              <a:gd name="adj" fmla="val 6000"/>
            </a:avLst>
          </a:prstGeom>
          <a:solidFill>
            <a:srgbClr val="F5F6F8"/>
          </a:solidFill>
          <a:ln w="12700">
            <a:solidFill>
              <a:srgbClr val="DDE1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6" name="Picture 15" descr="check_steel.png"/>
          <p:cNvPicPr>
            <a:picLocks noChangeAspect="1"/>
          </p:cNvPicPr>
          <p:nvPr/>
        </p:nvPicPr>
        <p:blipFill>
          <a:blip r:embed="rId3"/>
          <a:stretch>
            <a:fillRect/>
          </a:stretch>
        </p:blipFill>
        <p:spPr>
          <a:xfrm>
            <a:off x="987552" y="4352544"/>
            <a:ext cx="237744" cy="237744"/>
          </a:xfrm>
          <a:prstGeom prst="rect">
            <a:avLst/>
          </a:prstGeom>
        </p:spPr>
      </p:pic>
      <p:sp>
        <p:nvSpPr>
          <p:cNvPr id="17" name="TextBox 16"/>
          <p:cNvSpPr txBox="1"/>
          <p:nvPr/>
        </p:nvSpPr>
        <p:spPr>
          <a:xfrm>
            <a:off x="1353312" y="4206240"/>
            <a:ext cx="5029200" cy="530352"/>
          </a:xfrm>
          <a:prstGeom prst="rect">
            <a:avLst/>
          </a:prstGeom>
          <a:noFill/>
        </p:spPr>
        <p:txBody>
          <a:bodyPr wrap="square" anchor="ctr" lIns="0" rIns="0" tIns="0" bIns="0">
            <a:spAutoFit/>
          </a:bodyPr>
          <a:lstStyle/>
          <a:p>
            <a:pPr algn="l">
              <a:lnSpc>
                <a:spcPct val="106000"/>
              </a:lnSpc>
              <a:spcBef>
                <a:spcPts val="0"/>
              </a:spcBef>
              <a:spcAft>
                <a:spcPts val="0"/>
              </a:spcAft>
            </a:pPr>
            <a:r>
              <a:rPr sz="1200" b="0">
                <a:solidFill>
                  <a:srgbClr val="1A1A1A"/>
                </a:solidFill>
                <a:latin typeface="Red Hat Text"/>
              </a:rPr>
              <a:t>Deploy PostgreSQL from the catalog</a:t>
            </a:r>
          </a:p>
        </p:txBody>
      </p:sp>
      <p:sp>
        <p:nvSpPr>
          <p:cNvPr id="18" name="Rounded Rectangle 17"/>
          <p:cNvSpPr/>
          <p:nvPr/>
        </p:nvSpPr>
        <p:spPr>
          <a:xfrm>
            <a:off x="841248" y="4809744"/>
            <a:ext cx="5715000" cy="530352"/>
          </a:xfrm>
          <a:prstGeom prst="roundRect">
            <a:avLst>
              <a:gd name="adj" fmla="val 6000"/>
            </a:avLst>
          </a:prstGeom>
          <a:solidFill>
            <a:srgbClr val="F5F6F8"/>
          </a:solidFill>
          <a:ln w="12700">
            <a:solidFill>
              <a:srgbClr val="DDE1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9" name="Picture 18" descr="check_steel.png"/>
          <p:cNvPicPr>
            <a:picLocks noChangeAspect="1"/>
          </p:cNvPicPr>
          <p:nvPr/>
        </p:nvPicPr>
        <p:blipFill>
          <a:blip r:embed="rId3"/>
          <a:stretch>
            <a:fillRect/>
          </a:stretch>
        </p:blipFill>
        <p:spPr>
          <a:xfrm>
            <a:off x="987552" y="4956048"/>
            <a:ext cx="237744" cy="237744"/>
          </a:xfrm>
          <a:prstGeom prst="rect">
            <a:avLst/>
          </a:prstGeom>
        </p:spPr>
      </p:pic>
      <p:sp>
        <p:nvSpPr>
          <p:cNvPr id="20" name="TextBox 19"/>
          <p:cNvSpPr txBox="1"/>
          <p:nvPr/>
        </p:nvSpPr>
        <p:spPr>
          <a:xfrm>
            <a:off x="1353312" y="4809744"/>
            <a:ext cx="5029200" cy="530352"/>
          </a:xfrm>
          <a:prstGeom prst="rect">
            <a:avLst/>
          </a:prstGeom>
          <a:noFill/>
        </p:spPr>
        <p:txBody>
          <a:bodyPr wrap="square" anchor="ctr" lIns="0" rIns="0" tIns="0" bIns="0">
            <a:spAutoFit/>
          </a:bodyPr>
          <a:lstStyle/>
          <a:p>
            <a:pPr algn="l">
              <a:lnSpc>
                <a:spcPct val="106000"/>
              </a:lnSpc>
              <a:spcBef>
                <a:spcPts val="0"/>
              </a:spcBef>
              <a:spcAft>
                <a:spcPts val="0"/>
              </a:spcAft>
            </a:pPr>
            <a:r>
              <a:rPr sz="1200" b="0">
                <a:solidFill>
                  <a:srgbClr val="1A1A1A"/>
                </a:solidFill>
                <a:latin typeface="Red Hat Text"/>
              </a:rPr>
              <a:t>Wire it up; watch the app go live</a:t>
            </a:r>
          </a:p>
        </p:txBody>
      </p:sp>
      <p:sp>
        <p:nvSpPr>
          <p:cNvPr id="21" name="Rounded Rectangle 20"/>
          <p:cNvSpPr/>
          <p:nvPr/>
        </p:nvSpPr>
        <p:spPr>
          <a:xfrm>
            <a:off x="6812280" y="2395728"/>
            <a:ext cx="4538167" cy="2944368"/>
          </a:xfrm>
          <a:prstGeom prst="roundRect">
            <a:avLst>
              <a:gd name="adj" fmla="val 4000"/>
            </a:avLst>
          </a:prstGeom>
          <a:solidFill>
            <a:srgbClr val="FFFFFF"/>
          </a:solidFill>
          <a:ln w="15240">
            <a:solidFill>
              <a:srgbClr val="DDE1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ounded Rectangle 21"/>
          <p:cNvSpPr/>
          <p:nvPr/>
        </p:nvSpPr>
        <p:spPr>
          <a:xfrm>
            <a:off x="7013448" y="2596896"/>
            <a:ext cx="1298448" cy="310896"/>
          </a:xfrm>
          <a:prstGeom prst="roundRect">
            <a:avLst>
              <a:gd name="adj" fmla="val 50000"/>
            </a:avLst>
          </a:prstGeom>
          <a:solidFill>
            <a:srgbClr val="FCEC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7013448" y="2596896"/>
            <a:ext cx="1298448" cy="310896"/>
          </a:xfrm>
          <a:prstGeom prst="rect">
            <a:avLst/>
          </a:prstGeom>
          <a:noFill/>
        </p:spPr>
        <p:txBody>
          <a:bodyPr wrap="none" anchor="ctr" lIns="0" rIns="0" tIns="0" bIns="0">
            <a:spAutoFit/>
          </a:bodyPr>
          <a:lstStyle/>
          <a:p>
            <a:pPr algn="ctr">
              <a:lnSpc>
                <a:spcPct val="106000"/>
              </a:lnSpc>
              <a:spcBef>
                <a:spcPts val="0"/>
              </a:spcBef>
              <a:spcAft>
                <a:spcPts val="0"/>
              </a:spcAft>
            </a:pPr>
            <a:r>
              <a:rPr sz="850" b="1">
                <a:solidFill>
                  <a:srgbClr val="B80000"/>
                </a:solidFill>
                <a:latin typeface="Red Hat Display"/>
              </a:rPr>
              <a:t>MEDIA PASS</a:t>
            </a:r>
          </a:p>
        </p:txBody>
      </p:sp>
      <p:pic>
        <p:nvPicPr>
          <p:cNvPr id="24" name="Picture 23" descr="eye_slate.png"/>
          <p:cNvPicPr>
            <a:picLocks noChangeAspect="1"/>
          </p:cNvPicPr>
          <p:nvPr/>
        </p:nvPicPr>
        <p:blipFill>
          <a:blip r:embed="rId4"/>
          <a:stretch>
            <a:fillRect/>
          </a:stretch>
        </p:blipFill>
        <p:spPr>
          <a:xfrm>
            <a:off x="8843619" y="3108960"/>
            <a:ext cx="475488" cy="475488"/>
          </a:xfrm>
          <a:prstGeom prst="rect">
            <a:avLst/>
          </a:prstGeom>
        </p:spPr>
      </p:pic>
      <p:sp>
        <p:nvSpPr>
          <p:cNvPr id="25" name="TextBox 24"/>
          <p:cNvSpPr txBox="1"/>
          <p:nvPr/>
        </p:nvSpPr>
        <p:spPr>
          <a:xfrm>
            <a:off x="7050024" y="3721608"/>
            <a:ext cx="4062679" cy="1481328"/>
          </a:xfrm>
          <a:prstGeom prst="rect">
            <a:avLst/>
          </a:prstGeom>
          <a:noFill/>
        </p:spPr>
        <p:txBody>
          <a:bodyPr wrap="square" anchor="t" lIns="0" rIns="0" tIns="0" bIns="0">
            <a:spAutoFit/>
          </a:bodyPr>
          <a:lstStyle/>
          <a:p>
            <a:pPr algn="l">
              <a:lnSpc>
                <a:spcPct val="120000"/>
              </a:lnSpc>
              <a:spcBef>
                <a:spcPts val="0"/>
              </a:spcBef>
              <a:spcAft>
                <a:spcPts val="0"/>
              </a:spcAft>
            </a:pPr>
            <a:r>
              <a:rPr sz="950" b="0">
                <a:solidFill>
                  <a:srgbClr val="8A9099"/>
                </a:solidFill>
                <a:latin typeface="Red Hat Text"/>
              </a:rPr>
              <a:t>Numbered arc strip: S2I claims → Dockerfile compare → Node.js notifications → catalog DB → wire and run.</a:t>
            </a:r>
          </a:p>
        </p:txBody>
      </p:sp>
      <p:cxnSp>
        <p:nvCxnSpPr>
          <p:cNvPr id="26" name="Connector 25"/>
          <p:cNvCxnSpPr/>
          <p:nvPr/>
        </p:nvCxnSpPr>
        <p:spPr>
          <a:xfrm>
            <a:off x="841248" y="6437376"/>
            <a:ext cx="10509199" cy="0"/>
          </a:xfrm>
          <a:prstGeom prst="bentConnector3">
            <a:avLst/>
          </a:prstGeom>
          <a:ln w="12700">
            <a:solidFill>
              <a:srgbClr val="DDE1E6"/>
            </a:solidFill>
          </a:ln>
          <a:effectLst/>
        </p:spPr>
        <p:style>
          <a:lnRef idx="2">
            <a:schemeClr val="accent1"/>
          </a:lnRef>
          <a:fillRef idx="0">
            <a:schemeClr val="accent1"/>
          </a:fillRef>
          <a:effectRef idx="1">
            <a:schemeClr val="accent1"/>
          </a:effectRef>
          <a:fontRef idx="minor">
            <a:schemeClr val="tx1"/>
          </a:fontRef>
        </p:style>
      </p:cxnSp>
      <p:sp>
        <p:nvSpPr>
          <p:cNvPr id="27" name="TextBox 26"/>
          <p:cNvSpPr txBox="1"/>
          <p:nvPr/>
        </p:nvSpPr>
        <p:spPr>
          <a:xfrm>
            <a:off x="841248" y="6473952"/>
            <a:ext cx="7315200" cy="274320"/>
          </a:xfrm>
          <a:prstGeom prst="rect">
            <a:avLst/>
          </a:prstGeom>
          <a:noFill/>
        </p:spPr>
        <p:txBody>
          <a:bodyPr wrap="square" anchor="t" lIns="0" rIns="0" tIns="0" bIns="0">
            <a:spAutoFit/>
          </a:bodyPr>
          <a:lstStyle/>
          <a:p>
            <a:pPr algn="l">
              <a:lnSpc>
                <a:spcPct val="106000"/>
              </a:lnSpc>
              <a:spcBef>
                <a:spcPts val="0"/>
              </a:spcBef>
              <a:spcAft>
                <a:spcPts val="0"/>
              </a:spcAft>
            </a:pPr>
            <a:r>
              <a:rPr sz="950" b="0">
                <a:solidFill>
                  <a:srgbClr val="8A9099"/>
                </a:solidFill>
                <a:latin typeface="Red Hat Text"/>
              </a:rPr>
              <a:t>CONFIDENTIAL</a:t>
            </a:r>
          </a:p>
        </p:txBody>
      </p:sp>
      <p:sp>
        <p:nvSpPr>
          <p:cNvPr id="28" name="TextBox 27"/>
          <p:cNvSpPr txBox="1"/>
          <p:nvPr/>
        </p:nvSpPr>
        <p:spPr>
          <a:xfrm>
            <a:off x="10801807" y="6473952"/>
            <a:ext cx="548640" cy="274320"/>
          </a:xfrm>
          <a:prstGeom prst="rect">
            <a:avLst/>
          </a:prstGeom>
          <a:noFill/>
        </p:spPr>
        <p:txBody>
          <a:bodyPr wrap="square" anchor="t" lIns="0" rIns="0" tIns="0" bIns="0">
            <a:spAutoFit/>
          </a:bodyPr>
          <a:lstStyle/>
          <a:p>
            <a:pPr algn="r">
              <a:lnSpc>
                <a:spcPct val="106000"/>
              </a:lnSpc>
              <a:spcBef>
                <a:spcPts val="0"/>
              </a:spcBef>
              <a:spcAft>
                <a:spcPts val="0"/>
              </a:spcAft>
            </a:pPr>
            <a:r>
              <a:rPr sz="950" b="0">
                <a:solidFill>
                  <a:srgbClr val="8A9099"/>
                </a:solidFill>
                <a:latin typeface="Red Hat Text"/>
              </a:rPr>
              <a:t>12</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redhat_logo.jpg"/>
          <p:cNvPicPr>
            <a:picLocks noChangeAspect="1"/>
          </p:cNvPicPr>
          <p:nvPr/>
        </p:nvPicPr>
        <p:blipFill>
          <a:blip r:embed="rId2"/>
          <a:stretch>
            <a:fillRect/>
          </a:stretch>
        </p:blipFill>
        <p:spPr>
          <a:xfrm>
            <a:off x="10326319" y="475488"/>
            <a:ext cx="1024128" cy="242248"/>
          </a:xfrm>
          <a:prstGeom prst="rect">
            <a:avLst/>
          </a:prstGeom>
        </p:spPr>
      </p:pic>
      <p:sp>
        <p:nvSpPr>
          <p:cNvPr id="3" name="TextBox 2"/>
          <p:cNvSpPr txBox="1"/>
          <p:nvPr/>
        </p:nvSpPr>
        <p:spPr>
          <a:xfrm>
            <a:off x="841248" y="548640"/>
            <a:ext cx="8595360" cy="274320"/>
          </a:xfrm>
          <a:prstGeom prst="rect">
            <a:avLst/>
          </a:prstGeom>
          <a:noFill/>
        </p:spPr>
        <p:txBody>
          <a:bodyPr wrap="square" anchor="t" lIns="0" rIns="0" tIns="0" bIns="0">
            <a:spAutoFit/>
          </a:bodyPr>
          <a:lstStyle/>
          <a:p>
            <a:pPr algn="l">
              <a:lnSpc>
                <a:spcPct val="106000"/>
              </a:lnSpc>
              <a:spcBef>
                <a:spcPts val="0"/>
              </a:spcBef>
              <a:spcAft>
                <a:spcPts val="0"/>
              </a:spcAft>
            </a:pPr>
            <a:r>
              <a:rPr sz="1250" b="1" spc="220">
                <a:solidFill>
                  <a:srgbClr val="EE0000"/>
                </a:solidFill>
                <a:latin typeface="Red Hat Display"/>
              </a:rPr>
              <a:t>M02 · WAYS TO BUILD &amp; DELIVER APPS</a:t>
            </a:r>
          </a:p>
        </p:txBody>
      </p:sp>
      <p:sp>
        <p:nvSpPr>
          <p:cNvPr id="4" name="TextBox 3"/>
          <p:cNvSpPr txBox="1"/>
          <p:nvPr/>
        </p:nvSpPr>
        <p:spPr>
          <a:xfrm>
            <a:off x="841248" y="877824"/>
            <a:ext cx="10515600" cy="548640"/>
          </a:xfrm>
          <a:prstGeom prst="rect">
            <a:avLst/>
          </a:prstGeom>
          <a:noFill/>
        </p:spPr>
        <p:txBody>
          <a:bodyPr wrap="none" anchor="t" lIns="0" rIns="0" tIns="0" bIns="0">
            <a:spAutoFit/>
          </a:bodyPr>
          <a:lstStyle/>
          <a:p>
            <a:pPr algn="l">
              <a:lnSpc>
                <a:spcPct val="100000"/>
              </a:lnSpc>
              <a:spcBef>
                <a:spcPts val="0"/>
              </a:spcBef>
              <a:spcAft>
                <a:spcPts val="0"/>
              </a:spcAft>
            </a:pPr>
            <a:r>
              <a:rPr sz="2500" b="1">
                <a:solidFill>
                  <a:srgbClr val="1A1A1A"/>
                </a:solidFill>
                <a:latin typeface="Red Hat Display"/>
              </a:rPr>
              <a:t>Map to your org — and when not</a:t>
            </a:r>
          </a:p>
        </p:txBody>
      </p:sp>
      <p:cxnSp>
        <p:nvCxnSpPr>
          <p:cNvPr id="5" name="Connector 4"/>
          <p:cNvCxnSpPr/>
          <p:nvPr/>
        </p:nvCxnSpPr>
        <p:spPr>
          <a:xfrm>
            <a:off x="841248" y="1554480"/>
            <a:ext cx="1371600" cy="0"/>
          </a:xfrm>
          <a:prstGeom prst="bentConnector3">
            <a:avLst/>
          </a:prstGeom>
          <a:ln w="31750">
            <a:solidFill>
              <a:srgbClr val="EE0000"/>
            </a:solidFill>
          </a:ln>
          <a:effectLst/>
        </p:spPr>
        <p:style>
          <a:lnRef idx="2">
            <a:schemeClr val="accent1"/>
          </a:lnRef>
          <a:fillRef idx="0">
            <a:schemeClr val="accent1"/>
          </a:fillRef>
          <a:effectRef idx="1">
            <a:schemeClr val="accent1"/>
          </a:effectRef>
          <a:fontRef idx="minor">
            <a:schemeClr val="tx1"/>
          </a:fontRef>
        </p:style>
      </p:cxnSp>
      <p:sp>
        <p:nvSpPr>
          <p:cNvPr id="6" name="Rounded Rectangle 5"/>
          <p:cNvSpPr/>
          <p:nvPr/>
        </p:nvSpPr>
        <p:spPr>
          <a:xfrm>
            <a:off x="841248" y="2395728"/>
            <a:ext cx="5715000" cy="530352"/>
          </a:xfrm>
          <a:prstGeom prst="roundRect">
            <a:avLst>
              <a:gd name="adj" fmla="val 6000"/>
            </a:avLst>
          </a:prstGeom>
          <a:solidFill>
            <a:srgbClr val="F5F6F8"/>
          </a:solidFill>
          <a:ln w="12700">
            <a:solidFill>
              <a:srgbClr val="DDE1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check_steel.png"/>
          <p:cNvPicPr>
            <a:picLocks noChangeAspect="1"/>
          </p:cNvPicPr>
          <p:nvPr/>
        </p:nvPicPr>
        <p:blipFill>
          <a:blip r:embed="rId3"/>
          <a:stretch>
            <a:fillRect/>
          </a:stretch>
        </p:blipFill>
        <p:spPr>
          <a:xfrm>
            <a:off x="987552" y="2542032"/>
            <a:ext cx="237744" cy="237744"/>
          </a:xfrm>
          <a:prstGeom prst="rect">
            <a:avLst/>
          </a:prstGeom>
        </p:spPr>
      </p:pic>
      <p:sp>
        <p:nvSpPr>
          <p:cNvPr id="8" name="TextBox 7"/>
          <p:cNvSpPr txBox="1"/>
          <p:nvPr/>
        </p:nvSpPr>
        <p:spPr>
          <a:xfrm>
            <a:off x="1353312" y="2395728"/>
            <a:ext cx="5029200" cy="530352"/>
          </a:xfrm>
          <a:prstGeom prst="rect">
            <a:avLst/>
          </a:prstGeom>
          <a:noFill/>
        </p:spPr>
        <p:txBody>
          <a:bodyPr wrap="square" anchor="ctr" lIns="0" rIns="0" tIns="0" bIns="0">
            <a:spAutoFit/>
          </a:bodyPr>
          <a:lstStyle/>
          <a:p>
            <a:pPr algn="l">
              <a:lnSpc>
                <a:spcPct val="106000"/>
              </a:lnSpc>
              <a:spcBef>
                <a:spcPts val="0"/>
              </a:spcBef>
              <a:spcAft>
                <a:spcPts val="0"/>
              </a:spcAft>
            </a:pPr>
            <a:r>
              <a:rPr sz="1200" b="0">
                <a:solidFill>
                  <a:srgbClr val="1A1A1A"/>
                </a:solidFill>
                <a:latin typeface="Red Hat Text"/>
              </a:rPr>
              <a:t>Count your Dockerfiles; how many needed?</a:t>
            </a:r>
          </a:p>
        </p:txBody>
      </p:sp>
      <p:sp>
        <p:nvSpPr>
          <p:cNvPr id="9" name="Rounded Rectangle 8"/>
          <p:cNvSpPr/>
          <p:nvPr/>
        </p:nvSpPr>
        <p:spPr>
          <a:xfrm>
            <a:off x="841248" y="2999232"/>
            <a:ext cx="5715000" cy="530352"/>
          </a:xfrm>
          <a:prstGeom prst="roundRect">
            <a:avLst>
              <a:gd name="adj" fmla="val 6000"/>
            </a:avLst>
          </a:prstGeom>
          <a:solidFill>
            <a:srgbClr val="F5F6F8"/>
          </a:solidFill>
          <a:ln w="12700">
            <a:solidFill>
              <a:srgbClr val="DDE1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0" name="Picture 9" descr="check_steel.png"/>
          <p:cNvPicPr>
            <a:picLocks noChangeAspect="1"/>
          </p:cNvPicPr>
          <p:nvPr/>
        </p:nvPicPr>
        <p:blipFill>
          <a:blip r:embed="rId3"/>
          <a:stretch>
            <a:fillRect/>
          </a:stretch>
        </p:blipFill>
        <p:spPr>
          <a:xfrm>
            <a:off x="987552" y="3145536"/>
            <a:ext cx="237744" cy="237744"/>
          </a:xfrm>
          <a:prstGeom prst="rect">
            <a:avLst/>
          </a:prstGeom>
        </p:spPr>
      </p:pic>
      <p:sp>
        <p:nvSpPr>
          <p:cNvPr id="11" name="TextBox 10"/>
          <p:cNvSpPr txBox="1"/>
          <p:nvPr/>
        </p:nvSpPr>
        <p:spPr>
          <a:xfrm>
            <a:off x="1353312" y="2999232"/>
            <a:ext cx="5029200" cy="530352"/>
          </a:xfrm>
          <a:prstGeom prst="rect">
            <a:avLst/>
          </a:prstGeom>
          <a:noFill/>
        </p:spPr>
        <p:txBody>
          <a:bodyPr wrap="square" anchor="ctr" lIns="0" rIns="0" tIns="0" bIns="0">
            <a:spAutoFit/>
          </a:bodyPr>
          <a:lstStyle/>
          <a:p>
            <a:pPr algn="l">
              <a:lnSpc>
                <a:spcPct val="106000"/>
              </a:lnSpc>
              <a:spcBef>
                <a:spcPts val="0"/>
              </a:spcBef>
              <a:spcAft>
                <a:spcPts val="0"/>
              </a:spcAft>
            </a:pPr>
            <a:r>
              <a:rPr sz="1200" b="0">
                <a:solidFill>
                  <a:srgbClr val="1A1A1A"/>
                </a:solidFill>
                <a:latin typeface="Red Hat Text"/>
              </a:rPr>
              <a:t>Where do your base images come from?</a:t>
            </a:r>
          </a:p>
        </p:txBody>
      </p:sp>
      <p:sp>
        <p:nvSpPr>
          <p:cNvPr id="12" name="Rounded Rectangle 11"/>
          <p:cNvSpPr/>
          <p:nvPr/>
        </p:nvSpPr>
        <p:spPr>
          <a:xfrm>
            <a:off x="841248" y="3602736"/>
            <a:ext cx="5715000" cy="530352"/>
          </a:xfrm>
          <a:prstGeom prst="roundRect">
            <a:avLst>
              <a:gd name="adj" fmla="val 6000"/>
            </a:avLst>
          </a:prstGeom>
          <a:solidFill>
            <a:srgbClr val="F5F6F8"/>
          </a:solidFill>
          <a:ln w="12700">
            <a:solidFill>
              <a:srgbClr val="DDE1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3" name="Picture 12" descr="check_steel.png"/>
          <p:cNvPicPr>
            <a:picLocks noChangeAspect="1"/>
          </p:cNvPicPr>
          <p:nvPr/>
        </p:nvPicPr>
        <p:blipFill>
          <a:blip r:embed="rId3"/>
          <a:stretch>
            <a:fillRect/>
          </a:stretch>
        </p:blipFill>
        <p:spPr>
          <a:xfrm>
            <a:off x="987552" y="3749040"/>
            <a:ext cx="237744" cy="237744"/>
          </a:xfrm>
          <a:prstGeom prst="rect">
            <a:avLst/>
          </a:prstGeom>
        </p:spPr>
      </p:pic>
      <p:sp>
        <p:nvSpPr>
          <p:cNvPr id="14" name="TextBox 13"/>
          <p:cNvSpPr txBox="1"/>
          <p:nvPr/>
        </p:nvSpPr>
        <p:spPr>
          <a:xfrm>
            <a:off x="1353312" y="3602736"/>
            <a:ext cx="5029200" cy="530352"/>
          </a:xfrm>
          <a:prstGeom prst="rect">
            <a:avLst/>
          </a:prstGeom>
          <a:noFill/>
        </p:spPr>
        <p:txBody>
          <a:bodyPr wrap="square" anchor="ctr" lIns="0" rIns="0" tIns="0" bIns="0">
            <a:spAutoFit/>
          </a:bodyPr>
          <a:lstStyle/>
          <a:p>
            <a:pPr algn="l">
              <a:lnSpc>
                <a:spcPct val="106000"/>
              </a:lnSpc>
              <a:spcBef>
                <a:spcPts val="0"/>
              </a:spcBef>
              <a:spcAft>
                <a:spcPts val="0"/>
              </a:spcAft>
            </a:pPr>
            <a:r>
              <a:rPr sz="1200" b="0">
                <a:solidFill>
                  <a:srgbClr val="1A1A1A"/>
                </a:solidFill>
                <a:latin typeface="Red Hat Text"/>
              </a:rPr>
              <a:t>Who curates your paved road?</a:t>
            </a:r>
          </a:p>
        </p:txBody>
      </p:sp>
      <p:sp>
        <p:nvSpPr>
          <p:cNvPr id="15" name="Rounded Rectangle 14"/>
          <p:cNvSpPr/>
          <p:nvPr/>
        </p:nvSpPr>
        <p:spPr>
          <a:xfrm>
            <a:off x="841248" y="4206240"/>
            <a:ext cx="5715000" cy="530352"/>
          </a:xfrm>
          <a:prstGeom prst="roundRect">
            <a:avLst>
              <a:gd name="adj" fmla="val 6000"/>
            </a:avLst>
          </a:prstGeom>
          <a:solidFill>
            <a:srgbClr val="F5F6F8"/>
          </a:solidFill>
          <a:ln w="12700">
            <a:solidFill>
              <a:srgbClr val="DDE1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6" name="Picture 15" descr="check_steel.png"/>
          <p:cNvPicPr>
            <a:picLocks noChangeAspect="1"/>
          </p:cNvPicPr>
          <p:nvPr/>
        </p:nvPicPr>
        <p:blipFill>
          <a:blip r:embed="rId3"/>
          <a:stretch>
            <a:fillRect/>
          </a:stretch>
        </p:blipFill>
        <p:spPr>
          <a:xfrm>
            <a:off x="987552" y="4352544"/>
            <a:ext cx="237744" cy="237744"/>
          </a:xfrm>
          <a:prstGeom prst="rect">
            <a:avLst/>
          </a:prstGeom>
        </p:spPr>
      </p:pic>
      <p:sp>
        <p:nvSpPr>
          <p:cNvPr id="17" name="TextBox 16"/>
          <p:cNvSpPr txBox="1"/>
          <p:nvPr/>
        </p:nvSpPr>
        <p:spPr>
          <a:xfrm>
            <a:off x="1353312" y="4206240"/>
            <a:ext cx="5029200" cy="530352"/>
          </a:xfrm>
          <a:prstGeom prst="rect">
            <a:avLst/>
          </a:prstGeom>
          <a:noFill/>
        </p:spPr>
        <p:txBody>
          <a:bodyPr wrap="square" anchor="ctr" lIns="0" rIns="0" tIns="0" bIns="0">
            <a:spAutoFit/>
          </a:bodyPr>
          <a:lstStyle/>
          <a:p>
            <a:pPr algn="l">
              <a:lnSpc>
                <a:spcPct val="106000"/>
              </a:lnSpc>
              <a:spcBef>
                <a:spcPts val="0"/>
              </a:spcBef>
              <a:spcAft>
                <a:spcPts val="0"/>
              </a:spcAft>
            </a:pPr>
            <a:r>
              <a:rPr sz="1200" b="0">
                <a:solidFill>
                  <a:srgbClr val="1A1A1A"/>
                </a:solidFill>
                <a:latin typeface="Red Hat Text"/>
              </a:rPr>
              <a:t>Dockerfile only when you need control</a:t>
            </a:r>
          </a:p>
        </p:txBody>
      </p:sp>
      <p:sp>
        <p:nvSpPr>
          <p:cNvPr id="18" name="Rounded Rectangle 17"/>
          <p:cNvSpPr/>
          <p:nvPr/>
        </p:nvSpPr>
        <p:spPr>
          <a:xfrm>
            <a:off x="841248" y="4809744"/>
            <a:ext cx="5715000" cy="530352"/>
          </a:xfrm>
          <a:prstGeom prst="roundRect">
            <a:avLst>
              <a:gd name="adj" fmla="val 6000"/>
            </a:avLst>
          </a:prstGeom>
          <a:solidFill>
            <a:srgbClr val="F5F6F8"/>
          </a:solidFill>
          <a:ln w="12700">
            <a:solidFill>
              <a:srgbClr val="DDE1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9" name="Picture 18" descr="check_steel.png"/>
          <p:cNvPicPr>
            <a:picLocks noChangeAspect="1"/>
          </p:cNvPicPr>
          <p:nvPr/>
        </p:nvPicPr>
        <p:blipFill>
          <a:blip r:embed="rId3"/>
          <a:stretch>
            <a:fillRect/>
          </a:stretch>
        </p:blipFill>
        <p:spPr>
          <a:xfrm>
            <a:off x="987552" y="4956048"/>
            <a:ext cx="237744" cy="237744"/>
          </a:xfrm>
          <a:prstGeom prst="rect">
            <a:avLst/>
          </a:prstGeom>
        </p:spPr>
      </p:pic>
      <p:sp>
        <p:nvSpPr>
          <p:cNvPr id="20" name="TextBox 19"/>
          <p:cNvSpPr txBox="1"/>
          <p:nvPr/>
        </p:nvSpPr>
        <p:spPr>
          <a:xfrm>
            <a:off x="1353312" y="4809744"/>
            <a:ext cx="5029200" cy="530352"/>
          </a:xfrm>
          <a:prstGeom prst="rect">
            <a:avLst/>
          </a:prstGeom>
          <a:noFill/>
        </p:spPr>
        <p:txBody>
          <a:bodyPr wrap="square" anchor="ctr" lIns="0" rIns="0" tIns="0" bIns="0">
            <a:spAutoFit/>
          </a:bodyPr>
          <a:lstStyle/>
          <a:p>
            <a:pPr algn="l">
              <a:lnSpc>
                <a:spcPct val="106000"/>
              </a:lnSpc>
              <a:spcBef>
                <a:spcPts val="0"/>
              </a:spcBef>
              <a:spcAft>
                <a:spcPts val="0"/>
              </a:spcAft>
            </a:pPr>
            <a:r>
              <a:rPr sz="1200" b="0">
                <a:solidFill>
                  <a:srgbClr val="1A1A1A"/>
                </a:solidFill>
                <a:latin typeface="Red Hat Text"/>
              </a:rPr>
              <a:t>Ephemeral DB is not production</a:t>
            </a:r>
          </a:p>
        </p:txBody>
      </p:sp>
      <p:sp>
        <p:nvSpPr>
          <p:cNvPr id="21" name="Rounded Rectangle 20"/>
          <p:cNvSpPr/>
          <p:nvPr/>
        </p:nvSpPr>
        <p:spPr>
          <a:xfrm>
            <a:off x="6812280" y="2395728"/>
            <a:ext cx="4538167" cy="2944368"/>
          </a:xfrm>
          <a:prstGeom prst="roundRect">
            <a:avLst>
              <a:gd name="adj" fmla="val 4000"/>
            </a:avLst>
          </a:prstGeom>
          <a:solidFill>
            <a:srgbClr val="FFFFFF"/>
          </a:solidFill>
          <a:ln w="15240">
            <a:solidFill>
              <a:srgbClr val="DDE1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ounded Rectangle 21"/>
          <p:cNvSpPr/>
          <p:nvPr/>
        </p:nvSpPr>
        <p:spPr>
          <a:xfrm>
            <a:off x="7013448" y="2596896"/>
            <a:ext cx="1298448" cy="310896"/>
          </a:xfrm>
          <a:prstGeom prst="roundRect">
            <a:avLst>
              <a:gd name="adj" fmla="val 50000"/>
            </a:avLst>
          </a:prstGeom>
          <a:solidFill>
            <a:srgbClr val="FCEC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7013448" y="2596896"/>
            <a:ext cx="1298448" cy="310896"/>
          </a:xfrm>
          <a:prstGeom prst="rect">
            <a:avLst/>
          </a:prstGeom>
          <a:noFill/>
        </p:spPr>
        <p:txBody>
          <a:bodyPr wrap="none" anchor="ctr" lIns="0" rIns="0" tIns="0" bIns="0">
            <a:spAutoFit/>
          </a:bodyPr>
          <a:lstStyle/>
          <a:p>
            <a:pPr algn="ctr">
              <a:lnSpc>
                <a:spcPct val="106000"/>
              </a:lnSpc>
              <a:spcBef>
                <a:spcPts val="0"/>
              </a:spcBef>
              <a:spcAft>
                <a:spcPts val="0"/>
              </a:spcAft>
            </a:pPr>
            <a:r>
              <a:rPr sz="850" b="1">
                <a:solidFill>
                  <a:srgbClr val="B80000"/>
                </a:solidFill>
                <a:latin typeface="Red Hat Display"/>
              </a:rPr>
              <a:t>MEDIA PASS</a:t>
            </a:r>
          </a:p>
        </p:txBody>
      </p:sp>
      <p:pic>
        <p:nvPicPr>
          <p:cNvPr id="24" name="Picture 23" descr="eye_slate.png"/>
          <p:cNvPicPr>
            <a:picLocks noChangeAspect="1"/>
          </p:cNvPicPr>
          <p:nvPr/>
        </p:nvPicPr>
        <p:blipFill>
          <a:blip r:embed="rId4"/>
          <a:stretch>
            <a:fillRect/>
          </a:stretch>
        </p:blipFill>
        <p:spPr>
          <a:xfrm>
            <a:off x="8843619" y="3108960"/>
            <a:ext cx="475488" cy="475488"/>
          </a:xfrm>
          <a:prstGeom prst="rect">
            <a:avLst/>
          </a:prstGeom>
        </p:spPr>
      </p:pic>
      <p:sp>
        <p:nvSpPr>
          <p:cNvPr id="25" name="TextBox 24"/>
          <p:cNvSpPr txBox="1"/>
          <p:nvPr/>
        </p:nvSpPr>
        <p:spPr>
          <a:xfrm>
            <a:off x="7050024" y="3721608"/>
            <a:ext cx="4062679" cy="1481328"/>
          </a:xfrm>
          <a:prstGeom prst="rect">
            <a:avLst/>
          </a:prstGeom>
          <a:noFill/>
        </p:spPr>
        <p:txBody>
          <a:bodyPr wrap="square" anchor="t" lIns="0" rIns="0" tIns="0" bIns="0">
            <a:spAutoFit/>
          </a:bodyPr>
          <a:lstStyle/>
          <a:p>
            <a:pPr algn="l">
              <a:lnSpc>
                <a:spcPct val="120000"/>
              </a:lnSpc>
              <a:spcBef>
                <a:spcPts val="0"/>
              </a:spcBef>
              <a:spcAft>
                <a:spcPts val="0"/>
              </a:spcAft>
            </a:pPr>
            <a:r>
              <a:rPr sz="950" b="0">
                <a:solidFill>
                  <a:srgbClr val="8A9099"/>
                </a:solidFill>
                <a:latin typeface="Red Hat Text"/>
              </a:rPr>
              <a:t>Two-column decision card — "S2I by default / Dockerfile on purpose" with the trade-offs.</a:t>
            </a:r>
          </a:p>
        </p:txBody>
      </p:sp>
      <p:cxnSp>
        <p:nvCxnSpPr>
          <p:cNvPr id="26" name="Connector 25"/>
          <p:cNvCxnSpPr/>
          <p:nvPr/>
        </p:nvCxnSpPr>
        <p:spPr>
          <a:xfrm>
            <a:off x="841248" y="6437376"/>
            <a:ext cx="10509199" cy="0"/>
          </a:xfrm>
          <a:prstGeom prst="bentConnector3">
            <a:avLst/>
          </a:prstGeom>
          <a:ln w="12700">
            <a:solidFill>
              <a:srgbClr val="DDE1E6"/>
            </a:solidFill>
          </a:ln>
          <a:effectLst/>
        </p:spPr>
        <p:style>
          <a:lnRef idx="2">
            <a:schemeClr val="accent1"/>
          </a:lnRef>
          <a:fillRef idx="0">
            <a:schemeClr val="accent1"/>
          </a:fillRef>
          <a:effectRef idx="1">
            <a:schemeClr val="accent1"/>
          </a:effectRef>
          <a:fontRef idx="minor">
            <a:schemeClr val="tx1"/>
          </a:fontRef>
        </p:style>
      </p:cxnSp>
      <p:sp>
        <p:nvSpPr>
          <p:cNvPr id="27" name="TextBox 26"/>
          <p:cNvSpPr txBox="1"/>
          <p:nvPr/>
        </p:nvSpPr>
        <p:spPr>
          <a:xfrm>
            <a:off x="841248" y="6473952"/>
            <a:ext cx="7315200" cy="274320"/>
          </a:xfrm>
          <a:prstGeom prst="rect">
            <a:avLst/>
          </a:prstGeom>
          <a:noFill/>
        </p:spPr>
        <p:txBody>
          <a:bodyPr wrap="square" anchor="t" lIns="0" rIns="0" tIns="0" bIns="0">
            <a:spAutoFit/>
          </a:bodyPr>
          <a:lstStyle/>
          <a:p>
            <a:pPr algn="l">
              <a:lnSpc>
                <a:spcPct val="106000"/>
              </a:lnSpc>
              <a:spcBef>
                <a:spcPts val="0"/>
              </a:spcBef>
              <a:spcAft>
                <a:spcPts val="0"/>
              </a:spcAft>
            </a:pPr>
            <a:r>
              <a:rPr sz="950" b="0">
                <a:solidFill>
                  <a:srgbClr val="8A9099"/>
                </a:solidFill>
                <a:latin typeface="Red Hat Text"/>
              </a:rPr>
              <a:t>CONFIDENTIAL</a:t>
            </a:r>
          </a:p>
        </p:txBody>
      </p:sp>
      <p:sp>
        <p:nvSpPr>
          <p:cNvPr id="28" name="TextBox 27"/>
          <p:cNvSpPr txBox="1"/>
          <p:nvPr/>
        </p:nvSpPr>
        <p:spPr>
          <a:xfrm>
            <a:off x="10801807" y="6473952"/>
            <a:ext cx="548640" cy="274320"/>
          </a:xfrm>
          <a:prstGeom prst="rect">
            <a:avLst/>
          </a:prstGeom>
          <a:noFill/>
        </p:spPr>
        <p:txBody>
          <a:bodyPr wrap="square" anchor="t" lIns="0" rIns="0" tIns="0" bIns="0">
            <a:spAutoFit/>
          </a:bodyPr>
          <a:lstStyle/>
          <a:p>
            <a:pPr algn="r">
              <a:lnSpc>
                <a:spcPct val="106000"/>
              </a:lnSpc>
              <a:spcBef>
                <a:spcPts val="0"/>
              </a:spcBef>
              <a:spcAft>
                <a:spcPts val="0"/>
              </a:spcAft>
            </a:pPr>
            <a:r>
              <a:rPr sz="950" b="0">
                <a:solidFill>
                  <a:srgbClr val="8A9099"/>
                </a:solidFill>
                <a:latin typeface="Red Hat Text"/>
              </a:rPr>
              <a:t>13</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redhat_logo.jpg"/>
          <p:cNvPicPr>
            <a:picLocks noChangeAspect="1"/>
          </p:cNvPicPr>
          <p:nvPr/>
        </p:nvPicPr>
        <p:blipFill>
          <a:blip r:embed="rId2"/>
          <a:stretch>
            <a:fillRect/>
          </a:stretch>
        </p:blipFill>
        <p:spPr>
          <a:xfrm>
            <a:off x="841248" y="731520"/>
            <a:ext cx="1554480" cy="367699"/>
          </a:xfrm>
          <a:prstGeom prst="rect">
            <a:avLst/>
          </a:prstGeom>
        </p:spPr>
      </p:pic>
      <p:sp>
        <p:nvSpPr>
          <p:cNvPr id="3" name="TextBox 2"/>
          <p:cNvSpPr txBox="1"/>
          <p:nvPr/>
        </p:nvSpPr>
        <p:spPr>
          <a:xfrm>
            <a:off x="841248" y="2514600"/>
            <a:ext cx="9601200" cy="274320"/>
          </a:xfrm>
          <a:prstGeom prst="rect">
            <a:avLst/>
          </a:prstGeom>
          <a:noFill/>
        </p:spPr>
        <p:txBody>
          <a:bodyPr wrap="square" anchor="t" lIns="0" rIns="0" tIns="0" bIns="0">
            <a:spAutoFit/>
          </a:bodyPr>
          <a:lstStyle/>
          <a:p>
            <a:pPr algn="l">
              <a:lnSpc>
                <a:spcPct val="106000"/>
              </a:lnSpc>
              <a:spcBef>
                <a:spcPts val="0"/>
              </a:spcBef>
              <a:spcAft>
                <a:spcPts val="0"/>
              </a:spcAft>
            </a:pPr>
            <a:r>
              <a:rPr sz="1250" b="1" spc="180">
                <a:solidFill>
                  <a:srgbClr val="2E4A62"/>
                </a:solidFill>
                <a:latin typeface="Red Hat Display"/>
              </a:rPr>
              <a:t>A · FOUNDATIONS</a:t>
            </a:r>
          </a:p>
        </p:txBody>
      </p:sp>
      <p:sp>
        <p:nvSpPr>
          <p:cNvPr id="4" name="TextBox 3"/>
          <p:cNvSpPr txBox="1"/>
          <p:nvPr/>
        </p:nvSpPr>
        <p:spPr>
          <a:xfrm>
            <a:off x="841248" y="2880360"/>
            <a:ext cx="2103120" cy="1188720"/>
          </a:xfrm>
          <a:prstGeom prst="rect">
            <a:avLst/>
          </a:prstGeom>
          <a:noFill/>
        </p:spPr>
        <p:txBody>
          <a:bodyPr wrap="none" anchor="t" lIns="0" rIns="0" tIns="0" bIns="0">
            <a:spAutoFit/>
          </a:bodyPr>
          <a:lstStyle/>
          <a:p>
            <a:pPr algn="l">
              <a:lnSpc>
                <a:spcPct val="90000"/>
              </a:lnSpc>
              <a:spcBef>
                <a:spcPts val="0"/>
              </a:spcBef>
              <a:spcAft>
                <a:spcPts val="0"/>
              </a:spcAft>
            </a:pPr>
            <a:r>
              <a:rPr sz="5200" b="1">
                <a:solidFill>
                  <a:srgbClr val="B80000"/>
                </a:solidFill>
                <a:latin typeface="Red Hat Display"/>
              </a:rPr>
              <a:t>M03</a:t>
            </a:r>
          </a:p>
        </p:txBody>
      </p:sp>
      <p:sp>
        <p:nvSpPr>
          <p:cNvPr id="5" name="TextBox 4"/>
          <p:cNvSpPr txBox="1"/>
          <p:nvPr/>
        </p:nvSpPr>
        <p:spPr>
          <a:xfrm>
            <a:off x="3127248" y="2971800"/>
            <a:ext cx="8412480" cy="1188720"/>
          </a:xfrm>
          <a:prstGeom prst="rect">
            <a:avLst/>
          </a:prstGeom>
          <a:noFill/>
        </p:spPr>
        <p:txBody>
          <a:bodyPr wrap="square" anchor="t" lIns="0" rIns="0" tIns="0" bIns="0">
            <a:spAutoFit/>
          </a:bodyPr>
          <a:lstStyle/>
          <a:p>
            <a:pPr algn="l">
              <a:lnSpc>
                <a:spcPct val="102000"/>
              </a:lnSpc>
              <a:spcBef>
                <a:spcPts val="0"/>
              </a:spcBef>
              <a:spcAft>
                <a:spcPts val="0"/>
              </a:spcAft>
            </a:pPr>
            <a:r>
              <a:rPr sz="3000" b="1">
                <a:solidFill>
                  <a:srgbClr val="1A1A1A"/>
                </a:solidFill>
                <a:latin typeface="Red Hat Display"/>
              </a:rPr>
              <a:t>Dev Spaces &amp; the Inner Loop</a:t>
            </a:r>
          </a:p>
        </p:txBody>
      </p:sp>
      <p:cxnSp>
        <p:nvCxnSpPr>
          <p:cNvPr id="6" name="Connector 5"/>
          <p:cNvCxnSpPr/>
          <p:nvPr/>
        </p:nvCxnSpPr>
        <p:spPr>
          <a:xfrm>
            <a:off x="841248" y="4443984"/>
            <a:ext cx="1463040" cy="0"/>
          </a:xfrm>
          <a:prstGeom prst="bentConnector3">
            <a:avLst/>
          </a:prstGeom>
          <a:ln w="38100">
            <a:solidFill>
              <a:srgbClr val="EE0000"/>
            </a:solidFill>
          </a:ln>
          <a:effectLst/>
        </p:spPr>
        <p:style>
          <a:lnRef idx="2">
            <a:schemeClr val="accent1"/>
          </a:lnRef>
          <a:fillRef idx="0">
            <a:schemeClr val="accent1"/>
          </a:fillRef>
          <a:effectRef idx="1">
            <a:schemeClr val="accent1"/>
          </a:effectRef>
          <a:fontRef idx="minor">
            <a:schemeClr val="tx1"/>
          </a:fontRef>
        </p:style>
      </p:cxn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redhat_logo.jpg"/>
          <p:cNvPicPr>
            <a:picLocks noChangeAspect="1"/>
          </p:cNvPicPr>
          <p:nvPr/>
        </p:nvPicPr>
        <p:blipFill>
          <a:blip r:embed="rId2"/>
          <a:stretch>
            <a:fillRect/>
          </a:stretch>
        </p:blipFill>
        <p:spPr>
          <a:xfrm>
            <a:off x="10326319" y="475488"/>
            <a:ext cx="1024128" cy="242248"/>
          </a:xfrm>
          <a:prstGeom prst="rect">
            <a:avLst/>
          </a:prstGeom>
        </p:spPr>
      </p:pic>
      <p:sp>
        <p:nvSpPr>
          <p:cNvPr id="3" name="TextBox 2"/>
          <p:cNvSpPr txBox="1"/>
          <p:nvPr/>
        </p:nvSpPr>
        <p:spPr>
          <a:xfrm>
            <a:off x="841248" y="548640"/>
            <a:ext cx="8595360" cy="274320"/>
          </a:xfrm>
          <a:prstGeom prst="rect">
            <a:avLst/>
          </a:prstGeom>
          <a:noFill/>
        </p:spPr>
        <p:txBody>
          <a:bodyPr wrap="square" anchor="t" lIns="0" rIns="0" tIns="0" bIns="0">
            <a:spAutoFit/>
          </a:bodyPr>
          <a:lstStyle/>
          <a:p>
            <a:pPr algn="l">
              <a:lnSpc>
                <a:spcPct val="106000"/>
              </a:lnSpc>
              <a:spcBef>
                <a:spcPts val="0"/>
              </a:spcBef>
              <a:spcAft>
                <a:spcPts val="0"/>
              </a:spcAft>
            </a:pPr>
            <a:r>
              <a:rPr sz="1250" b="1" spc="220">
                <a:solidFill>
                  <a:srgbClr val="EE0000"/>
                </a:solidFill>
                <a:latin typeface="Red Hat Display"/>
              </a:rPr>
              <a:t>M03 · DEV SPACES &amp; THE INNER LOOP</a:t>
            </a:r>
          </a:p>
        </p:txBody>
      </p:sp>
      <p:sp>
        <p:nvSpPr>
          <p:cNvPr id="4" name="TextBox 3"/>
          <p:cNvSpPr txBox="1"/>
          <p:nvPr/>
        </p:nvSpPr>
        <p:spPr>
          <a:xfrm>
            <a:off x="841248" y="877824"/>
            <a:ext cx="10515600" cy="548640"/>
          </a:xfrm>
          <a:prstGeom prst="rect">
            <a:avLst/>
          </a:prstGeom>
          <a:noFill/>
        </p:spPr>
        <p:txBody>
          <a:bodyPr wrap="none" anchor="t" lIns="0" rIns="0" tIns="0" bIns="0">
            <a:spAutoFit/>
          </a:bodyPr>
          <a:lstStyle/>
          <a:p>
            <a:pPr algn="l">
              <a:lnSpc>
                <a:spcPct val="100000"/>
              </a:lnSpc>
              <a:spcBef>
                <a:spcPts val="0"/>
              </a:spcBef>
              <a:spcAft>
                <a:spcPts val="0"/>
              </a:spcAft>
            </a:pPr>
            <a:r>
              <a:rPr sz="2500" b="1">
                <a:solidFill>
                  <a:srgbClr val="1A1A1A"/>
                </a:solidFill>
                <a:latin typeface="Red Hat Display"/>
              </a:rPr>
              <a:t>Day one, without the laptop marathon</a:t>
            </a:r>
          </a:p>
        </p:txBody>
      </p:sp>
      <p:cxnSp>
        <p:nvCxnSpPr>
          <p:cNvPr id="5" name="Connector 4"/>
          <p:cNvCxnSpPr/>
          <p:nvPr/>
        </p:nvCxnSpPr>
        <p:spPr>
          <a:xfrm>
            <a:off x="841248" y="1554480"/>
            <a:ext cx="1371600" cy="0"/>
          </a:xfrm>
          <a:prstGeom prst="bentConnector3">
            <a:avLst/>
          </a:prstGeom>
          <a:ln w="31750">
            <a:solidFill>
              <a:srgbClr val="EE0000"/>
            </a:solidFill>
          </a:ln>
          <a:effectLst/>
        </p:spPr>
        <p:style>
          <a:lnRef idx="2">
            <a:schemeClr val="accent1"/>
          </a:lnRef>
          <a:fillRef idx="0">
            <a:schemeClr val="accent1"/>
          </a:fillRef>
          <a:effectRef idx="1">
            <a:schemeClr val="accent1"/>
          </a:effectRef>
          <a:fontRef idx="minor">
            <a:schemeClr val="tx1"/>
          </a:fontRef>
        </p:style>
      </p:cxnSp>
      <p:sp>
        <p:nvSpPr>
          <p:cNvPr id="6" name="Rounded Rectangle 5"/>
          <p:cNvSpPr/>
          <p:nvPr/>
        </p:nvSpPr>
        <p:spPr>
          <a:xfrm>
            <a:off x="841248" y="2395728"/>
            <a:ext cx="5715000" cy="530352"/>
          </a:xfrm>
          <a:prstGeom prst="roundRect">
            <a:avLst>
              <a:gd name="adj" fmla="val 6000"/>
            </a:avLst>
          </a:prstGeom>
          <a:solidFill>
            <a:srgbClr val="F5F6F8"/>
          </a:solidFill>
          <a:ln w="12700">
            <a:solidFill>
              <a:srgbClr val="DDE1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check_steel.png"/>
          <p:cNvPicPr>
            <a:picLocks noChangeAspect="1"/>
          </p:cNvPicPr>
          <p:nvPr/>
        </p:nvPicPr>
        <p:blipFill>
          <a:blip r:embed="rId3"/>
          <a:stretch>
            <a:fillRect/>
          </a:stretch>
        </p:blipFill>
        <p:spPr>
          <a:xfrm>
            <a:off x="987552" y="2542032"/>
            <a:ext cx="237744" cy="237744"/>
          </a:xfrm>
          <a:prstGeom prst="rect">
            <a:avLst/>
          </a:prstGeom>
        </p:spPr>
      </p:pic>
      <p:sp>
        <p:nvSpPr>
          <p:cNvPr id="8" name="TextBox 7"/>
          <p:cNvSpPr txBox="1"/>
          <p:nvPr/>
        </p:nvSpPr>
        <p:spPr>
          <a:xfrm>
            <a:off x="1353312" y="2395728"/>
            <a:ext cx="5029200" cy="530352"/>
          </a:xfrm>
          <a:prstGeom prst="rect">
            <a:avLst/>
          </a:prstGeom>
          <a:noFill/>
        </p:spPr>
        <p:txBody>
          <a:bodyPr wrap="square" anchor="ctr" lIns="0" rIns="0" tIns="0" bIns="0">
            <a:spAutoFit/>
          </a:bodyPr>
          <a:lstStyle/>
          <a:p>
            <a:pPr algn="l">
              <a:lnSpc>
                <a:spcPct val="106000"/>
              </a:lnSpc>
              <a:spcBef>
                <a:spcPts val="0"/>
              </a:spcBef>
              <a:spcAft>
                <a:spcPts val="0"/>
              </a:spcAft>
            </a:pPr>
            <a:r>
              <a:rPr sz="1200" b="0">
                <a:solidFill>
                  <a:srgbClr val="1A1A1A"/>
                </a:solidFill>
                <a:latin typeface="Red Hat Text"/>
              </a:rPr>
              <a:t>New hire, first day on claims</a:t>
            </a:r>
          </a:p>
        </p:txBody>
      </p:sp>
      <p:sp>
        <p:nvSpPr>
          <p:cNvPr id="9" name="Rounded Rectangle 8"/>
          <p:cNvSpPr/>
          <p:nvPr/>
        </p:nvSpPr>
        <p:spPr>
          <a:xfrm>
            <a:off x="841248" y="2999232"/>
            <a:ext cx="5715000" cy="530352"/>
          </a:xfrm>
          <a:prstGeom prst="roundRect">
            <a:avLst>
              <a:gd name="adj" fmla="val 6000"/>
            </a:avLst>
          </a:prstGeom>
          <a:solidFill>
            <a:srgbClr val="F5F6F8"/>
          </a:solidFill>
          <a:ln w="12700">
            <a:solidFill>
              <a:srgbClr val="DDE1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0" name="Picture 9" descr="check_steel.png"/>
          <p:cNvPicPr>
            <a:picLocks noChangeAspect="1"/>
          </p:cNvPicPr>
          <p:nvPr/>
        </p:nvPicPr>
        <p:blipFill>
          <a:blip r:embed="rId3"/>
          <a:stretch>
            <a:fillRect/>
          </a:stretch>
        </p:blipFill>
        <p:spPr>
          <a:xfrm>
            <a:off x="987552" y="3145536"/>
            <a:ext cx="237744" cy="237744"/>
          </a:xfrm>
          <a:prstGeom prst="rect">
            <a:avLst/>
          </a:prstGeom>
        </p:spPr>
      </p:pic>
      <p:sp>
        <p:nvSpPr>
          <p:cNvPr id="11" name="TextBox 10"/>
          <p:cNvSpPr txBox="1"/>
          <p:nvPr/>
        </p:nvSpPr>
        <p:spPr>
          <a:xfrm>
            <a:off x="1353312" y="2999232"/>
            <a:ext cx="5029200" cy="530352"/>
          </a:xfrm>
          <a:prstGeom prst="rect">
            <a:avLst/>
          </a:prstGeom>
          <a:noFill/>
        </p:spPr>
        <p:txBody>
          <a:bodyPr wrap="square" anchor="ctr" lIns="0" rIns="0" tIns="0" bIns="0">
            <a:spAutoFit/>
          </a:bodyPr>
          <a:lstStyle/>
          <a:p>
            <a:pPr algn="l">
              <a:lnSpc>
                <a:spcPct val="106000"/>
              </a:lnSpc>
              <a:spcBef>
                <a:spcPts val="0"/>
              </a:spcBef>
              <a:spcAft>
                <a:spcPts val="0"/>
              </a:spcAft>
            </a:pPr>
            <a:r>
              <a:rPr sz="1200" b="0">
                <a:solidFill>
                  <a:srgbClr val="1A1A1A"/>
                </a:solidFill>
                <a:latin typeface="Red Hat Text"/>
              </a:rPr>
              <a:t>The old way: install JDK, Maven, DB</a:t>
            </a:r>
          </a:p>
        </p:txBody>
      </p:sp>
      <p:sp>
        <p:nvSpPr>
          <p:cNvPr id="12" name="Rounded Rectangle 11"/>
          <p:cNvSpPr/>
          <p:nvPr/>
        </p:nvSpPr>
        <p:spPr>
          <a:xfrm>
            <a:off x="841248" y="3602736"/>
            <a:ext cx="5715000" cy="530352"/>
          </a:xfrm>
          <a:prstGeom prst="roundRect">
            <a:avLst>
              <a:gd name="adj" fmla="val 6000"/>
            </a:avLst>
          </a:prstGeom>
          <a:solidFill>
            <a:srgbClr val="F5F6F8"/>
          </a:solidFill>
          <a:ln w="12700">
            <a:solidFill>
              <a:srgbClr val="DDE1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3" name="Picture 12" descr="check_steel.png"/>
          <p:cNvPicPr>
            <a:picLocks noChangeAspect="1"/>
          </p:cNvPicPr>
          <p:nvPr/>
        </p:nvPicPr>
        <p:blipFill>
          <a:blip r:embed="rId3"/>
          <a:stretch>
            <a:fillRect/>
          </a:stretch>
        </p:blipFill>
        <p:spPr>
          <a:xfrm>
            <a:off x="987552" y="3749040"/>
            <a:ext cx="237744" cy="237744"/>
          </a:xfrm>
          <a:prstGeom prst="rect">
            <a:avLst/>
          </a:prstGeom>
        </p:spPr>
      </p:pic>
      <p:sp>
        <p:nvSpPr>
          <p:cNvPr id="14" name="TextBox 13"/>
          <p:cNvSpPr txBox="1"/>
          <p:nvPr/>
        </p:nvSpPr>
        <p:spPr>
          <a:xfrm>
            <a:off x="1353312" y="3602736"/>
            <a:ext cx="5029200" cy="530352"/>
          </a:xfrm>
          <a:prstGeom prst="rect">
            <a:avLst/>
          </a:prstGeom>
          <a:noFill/>
        </p:spPr>
        <p:txBody>
          <a:bodyPr wrap="square" anchor="ctr" lIns="0" rIns="0" tIns="0" bIns="0">
            <a:spAutoFit/>
          </a:bodyPr>
          <a:lstStyle/>
          <a:p>
            <a:pPr algn="l">
              <a:lnSpc>
                <a:spcPct val="106000"/>
              </a:lnSpc>
              <a:spcBef>
                <a:spcPts val="0"/>
              </a:spcBef>
              <a:spcAft>
                <a:spcPts val="0"/>
              </a:spcAft>
            </a:pPr>
            <a:r>
              <a:rPr sz="1200" b="0">
                <a:solidFill>
                  <a:srgbClr val="1A1A1A"/>
                </a:solidFill>
                <a:latin typeface="Red Hat Text"/>
              </a:rPr>
              <a:t>Hours to days, and it rots</a:t>
            </a:r>
          </a:p>
        </p:txBody>
      </p:sp>
      <p:sp>
        <p:nvSpPr>
          <p:cNvPr id="15" name="Rounded Rectangle 14"/>
          <p:cNvSpPr/>
          <p:nvPr/>
        </p:nvSpPr>
        <p:spPr>
          <a:xfrm>
            <a:off x="841248" y="4206240"/>
            <a:ext cx="5715000" cy="530352"/>
          </a:xfrm>
          <a:prstGeom prst="roundRect">
            <a:avLst>
              <a:gd name="adj" fmla="val 6000"/>
            </a:avLst>
          </a:prstGeom>
          <a:solidFill>
            <a:srgbClr val="F5F6F8"/>
          </a:solidFill>
          <a:ln w="12700">
            <a:solidFill>
              <a:srgbClr val="DDE1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6" name="Picture 15" descr="check_steel.png"/>
          <p:cNvPicPr>
            <a:picLocks noChangeAspect="1"/>
          </p:cNvPicPr>
          <p:nvPr/>
        </p:nvPicPr>
        <p:blipFill>
          <a:blip r:embed="rId3"/>
          <a:stretch>
            <a:fillRect/>
          </a:stretch>
        </p:blipFill>
        <p:spPr>
          <a:xfrm>
            <a:off x="987552" y="4352544"/>
            <a:ext cx="237744" cy="237744"/>
          </a:xfrm>
          <a:prstGeom prst="rect">
            <a:avLst/>
          </a:prstGeom>
        </p:spPr>
      </p:pic>
      <p:sp>
        <p:nvSpPr>
          <p:cNvPr id="17" name="TextBox 16"/>
          <p:cNvSpPr txBox="1"/>
          <p:nvPr/>
        </p:nvSpPr>
        <p:spPr>
          <a:xfrm>
            <a:off x="1353312" y="4206240"/>
            <a:ext cx="5029200" cy="530352"/>
          </a:xfrm>
          <a:prstGeom prst="rect">
            <a:avLst/>
          </a:prstGeom>
          <a:noFill/>
        </p:spPr>
        <p:txBody>
          <a:bodyPr wrap="square" anchor="ctr" lIns="0" rIns="0" tIns="0" bIns="0">
            <a:spAutoFit/>
          </a:bodyPr>
          <a:lstStyle/>
          <a:p>
            <a:pPr algn="l">
              <a:lnSpc>
                <a:spcPct val="106000"/>
              </a:lnSpc>
              <a:spcBef>
                <a:spcPts val="0"/>
              </a:spcBef>
              <a:spcAft>
                <a:spcPts val="0"/>
              </a:spcAft>
            </a:pPr>
            <a:r>
              <a:rPr sz="1200" b="0">
                <a:solidFill>
                  <a:srgbClr val="1A1A1A"/>
                </a:solidFill>
                <a:latin typeface="Red Hat Text"/>
              </a:rPr>
              <a:t>What if it were a link?</a:t>
            </a:r>
          </a:p>
        </p:txBody>
      </p:sp>
      <p:sp>
        <p:nvSpPr>
          <p:cNvPr id="18" name="Rounded Rectangle 17"/>
          <p:cNvSpPr/>
          <p:nvPr/>
        </p:nvSpPr>
        <p:spPr>
          <a:xfrm>
            <a:off x="841248" y="4809744"/>
            <a:ext cx="5715000" cy="530352"/>
          </a:xfrm>
          <a:prstGeom prst="roundRect">
            <a:avLst>
              <a:gd name="adj" fmla="val 6000"/>
            </a:avLst>
          </a:prstGeom>
          <a:solidFill>
            <a:srgbClr val="F5F6F8"/>
          </a:solidFill>
          <a:ln w="12700">
            <a:solidFill>
              <a:srgbClr val="DDE1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9" name="Picture 18" descr="check_steel.png"/>
          <p:cNvPicPr>
            <a:picLocks noChangeAspect="1"/>
          </p:cNvPicPr>
          <p:nvPr/>
        </p:nvPicPr>
        <p:blipFill>
          <a:blip r:embed="rId3"/>
          <a:stretch>
            <a:fillRect/>
          </a:stretch>
        </p:blipFill>
        <p:spPr>
          <a:xfrm>
            <a:off x="987552" y="4956048"/>
            <a:ext cx="237744" cy="237744"/>
          </a:xfrm>
          <a:prstGeom prst="rect">
            <a:avLst/>
          </a:prstGeom>
        </p:spPr>
      </p:pic>
      <p:sp>
        <p:nvSpPr>
          <p:cNvPr id="20" name="TextBox 19"/>
          <p:cNvSpPr txBox="1"/>
          <p:nvPr/>
        </p:nvSpPr>
        <p:spPr>
          <a:xfrm>
            <a:off x="1353312" y="4809744"/>
            <a:ext cx="5029200" cy="530352"/>
          </a:xfrm>
          <a:prstGeom prst="rect">
            <a:avLst/>
          </a:prstGeom>
          <a:noFill/>
        </p:spPr>
        <p:txBody>
          <a:bodyPr wrap="square" anchor="ctr" lIns="0" rIns="0" tIns="0" bIns="0">
            <a:spAutoFit/>
          </a:bodyPr>
          <a:lstStyle/>
          <a:p>
            <a:pPr algn="l">
              <a:lnSpc>
                <a:spcPct val="106000"/>
              </a:lnSpc>
              <a:spcBef>
                <a:spcPts val="0"/>
              </a:spcBef>
              <a:spcAft>
                <a:spcPts val="0"/>
              </a:spcAft>
            </a:pPr>
            <a:r>
              <a:rPr sz="1200" b="0">
                <a:solidFill>
                  <a:srgbClr val="1A1A1A"/>
                </a:solidFill>
                <a:latin typeface="Red Hat Text"/>
              </a:rPr>
              <a:t>Productive today, not next week</a:t>
            </a:r>
          </a:p>
        </p:txBody>
      </p:sp>
      <p:sp>
        <p:nvSpPr>
          <p:cNvPr id="21" name="Rounded Rectangle 20"/>
          <p:cNvSpPr/>
          <p:nvPr/>
        </p:nvSpPr>
        <p:spPr>
          <a:xfrm>
            <a:off x="6812280" y="2395728"/>
            <a:ext cx="4538167" cy="2944368"/>
          </a:xfrm>
          <a:prstGeom prst="roundRect">
            <a:avLst>
              <a:gd name="adj" fmla="val 4000"/>
            </a:avLst>
          </a:prstGeom>
          <a:solidFill>
            <a:srgbClr val="FFFFFF"/>
          </a:solidFill>
          <a:ln w="15240">
            <a:solidFill>
              <a:srgbClr val="DDE1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ounded Rectangle 21"/>
          <p:cNvSpPr/>
          <p:nvPr/>
        </p:nvSpPr>
        <p:spPr>
          <a:xfrm>
            <a:off x="7013448" y="2596896"/>
            <a:ext cx="1298448" cy="310896"/>
          </a:xfrm>
          <a:prstGeom prst="roundRect">
            <a:avLst>
              <a:gd name="adj" fmla="val 50000"/>
            </a:avLst>
          </a:prstGeom>
          <a:solidFill>
            <a:srgbClr val="FCEC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7013448" y="2596896"/>
            <a:ext cx="1298448" cy="310896"/>
          </a:xfrm>
          <a:prstGeom prst="rect">
            <a:avLst/>
          </a:prstGeom>
          <a:noFill/>
        </p:spPr>
        <p:txBody>
          <a:bodyPr wrap="none" anchor="ctr" lIns="0" rIns="0" tIns="0" bIns="0">
            <a:spAutoFit/>
          </a:bodyPr>
          <a:lstStyle/>
          <a:p>
            <a:pPr algn="ctr">
              <a:lnSpc>
                <a:spcPct val="106000"/>
              </a:lnSpc>
              <a:spcBef>
                <a:spcPts val="0"/>
              </a:spcBef>
              <a:spcAft>
                <a:spcPts val="0"/>
              </a:spcAft>
            </a:pPr>
            <a:r>
              <a:rPr sz="850" b="1">
                <a:solidFill>
                  <a:srgbClr val="B80000"/>
                </a:solidFill>
                <a:latin typeface="Red Hat Display"/>
              </a:rPr>
              <a:t>MEDIA PASS</a:t>
            </a:r>
          </a:p>
        </p:txBody>
      </p:sp>
      <p:pic>
        <p:nvPicPr>
          <p:cNvPr id="24" name="Picture 23" descr="eye_slate.png"/>
          <p:cNvPicPr>
            <a:picLocks noChangeAspect="1"/>
          </p:cNvPicPr>
          <p:nvPr/>
        </p:nvPicPr>
        <p:blipFill>
          <a:blip r:embed="rId4"/>
          <a:stretch>
            <a:fillRect/>
          </a:stretch>
        </p:blipFill>
        <p:spPr>
          <a:xfrm>
            <a:off x="8843619" y="3108960"/>
            <a:ext cx="475488" cy="475488"/>
          </a:xfrm>
          <a:prstGeom prst="rect">
            <a:avLst/>
          </a:prstGeom>
        </p:spPr>
      </p:pic>
      <p:sp>
        <p:nvSpPr>
          <p:cNvPr id="25" name="TextBox 24"/>
          <p:cNvSpPr txBox="1"/>
          <p:nvPr/>
        </p:nvSpPr>
        <p:spPr>
          <a:xfrm>
            <a:off x="7050024" y="3721608"/>
            <a:ext cx="4062679" cy="1481328"/>
          </a:xfrm>
          <a:prstGeom prst="rect">
            <a:avLst/>
          </a:prstGeom>
          <a:noFill/>
        </p:spPr>
        <p:txBody>
          <a:bodyPr wrap="square" anchor="t" lIns="0" rIns="0" tIns="0" bIns="0">
            <a:spAutoFit/>
          </a:bodyPr>
          <a:lstStyle/>
          <a:p>
            <a:pPr algn="l">
              <a:lnSpc>
                <a:spcPct val="120000"/>
              </a:lnSpc>
              <a:spcBef>
                <a:spcPts val="0"/>
              </a:spcBef>
              <a:spcAft>
                <a:spcPts val="0"/>
              </a:spcAft>
            </a:pPr>
            <a:r>
              <a:rPr sz="950" b="0">
                <a:solidFill>
                  <a:srgbClr val="8A9099"/>
                </a:solidFill>
                <a:latin typeface="Red Hat Text"/>
              </a:rPr>
              <a:t>Split image — a laptop-setup checklist (JDK, Maven, DB, VPN, creds) versus a single "Open in Dev Spaces" link.</a:t>
            </a:r>
          </a:p>
        </p:txBody>
      </p:sp>
      <p:cxnSp>
        <p:nvCxnSpPr>
          <p:cNvPr id="26" name="Connector 25"/>
          <p:cNvCxnSpPr/>
          <p:nvPr/>
        </p:nvCxnSpPr>
        <p:spPr>
          <a:xfrm>
            <a:off x="841248" y="6437376"/>
            <a:ext cx="10509199" cy="0"/>
          </a:xfrm>
          <a:prstGeom prst="bentConnector3">
            <a:avLst/>
          </a:prstGeom>
          <a:ln w="12700">
            <a:solidFill>
              <a:srgbClr val="DDE1E6"/>
            </a:solidFill>
          </a:ln>
          <a:effectLst/>
        </p:spPr>
        <p:style>
          <a:lnRef idx="2">
            <a:schemeClr val="accent1"/>
          </a:lnRef>
          <a:fillRef idx="0">
            <a:schemeClr val="accent1"/>
          </a:fillRef>
          <a:effectRef idx="1">
            <a:schemeClr val="accent1"/>
          </a:effectRef>
          <a:fontRef idx="minor">
            <a:schemeClr val="tx1"/>
          </a:fontRef>
        </p:style>
      </p:cxnSp>
      <p:sp>
        <p:nvSpPr>
          <p:cNvPr id="27" name="TextBox 26"/>
          <p:cNvSpPr txBox="1"/>
          <p:nvPr/>
        </p:nvSpPr>
        <p:spPr>
          <a:xfrm>
            <a:off x="841248" y="6473952"/>
            <a:ext cx="7315200" cy="274320"/>
          </a:xfrm>
          <a:prstGeom prst="rect">
            <a:avLst/>
          </a:prstGeom>
          <a:noFill/>
        </p:spPr>
        <p:txBody>
          <a:bodyPr wrap="square" anchor="t" lIns="0" rIns="0" tIns="0" bIns="0">
            <a:spAutoFit/>
          </a:bodyPr>
          <a:lstStyle/>
          <a:p>
            <a:pPr algn="l">
              <a:lnSpc>
                <a:spcPct val="106000"/>
              </a:lnSpc>
              <a:spcBef>
                <a:spcPts val="0"/>
              </a:spcBef>
              <a:spcAft>
                <a:spcPts val="0"/>
              </a:spcAft>
            </a:pPr>
            <a:r>
              <a:rPr sz="950" b="0">
                <a:solidFill>
                  <a:srgbClr val="8A9099"/>
                </a:solidFill>
                <a:latin typeface="Red Hat Text"/>
              </a:rPr>
              <a:t>CONFIDENTIAL</a:t>
            </a:r>
          </a:p>
        </p:txBody>
      </p:sp>
      <p:sp>
        <p:nvSpPr>
          <p:cNvPr id="28" name="TextBox 27"/>
          <p:cNvSpPr txBox="1"/>
          <p:nvPr/>
        </p:nvSpPr>
        <p:spPr>
          <a:xfrm>
            <a:off x="10801807" y="6473952"/>
            <a:ext cx="548640" cy="274320"/>
          </a:xfrm>
          <a:prstGeom prst="rect">
            <a:avLst/>
          </a:prstGeom>
          <a:noFill/>
        </p:spPr>
        <p:txBody>
          <a:bodyPr wrap="square" anchor="t" lIns="0" rIns="0" tIns="0" bIns="0">
            <a:spAutoFit/>
          </a:bodyPr>
          <a:lstStyle/>
          <a:p>
            <a:pPr algn="r">
              <a:lnSpc>
                <a:spcPct val="106000"/>
              </a:lnSpc>
              <a:spcBef>
                <a:spcPts val="0"/>
              </a:spcBef>
              <a:spcAft>
                <a:spcPts val="0"/>
              </a:spcAft>
            </a:pPr>
            <a:r>
              <a:rPr sz="950" b="0">
                <a:solidFill>
                  <a:srgbClr val="8A9099"/>
                </a:solidFill>
                <a:latin typeface="Red Hat Text"/>
              </a:rPr>
              <a:t>14</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redhat_logo.jpg"/>
          <p:cNvPicPr>
            <a:picLocks noChangeAspect="1"/>
          </p:cNvPicPr>
          <p:nvPr/>
        </p:nvPicPr>
        <p:blipFill>
          <a:blip r:embed="rId2"/>
          <a:stretch>
            <a:fillRect/>
          </a:stretch>
        </p:blipFill>
        <p:spPr>
          <a:xfrm>
            <a:off x="10326319" y="475488"/>
            <a:ext cx="1024128" cy="242248"/>
          </a:xfrm>
          <a:prstGeom prst="rect">
            <a:avLst/>
          </a:prstGeom>
        </p:spPr>
      </p:pic>
      <p:sp>
        <p:nvSpPr>
          <p:cNvPr id="3" name="TextBox 2"/>
          <p:cNvSpPr txBox="1"/>
          <p:nvPr/>
        </p:nvSpPr>
        <p:spPr>
          <a:xfrm>
            <a:off x="841248" y="548640"/>
            <a:ext cx="8595360" cy="274320"/>
          </a:xfrm>
          <a:prstGeom prst="rect">
            <a:avLst/>
          </a:prstGeom>
          <a:noFill/>
        </p:spPr>
        <p:txBody>
          <a:bodyPr wrap="square" anchor="t" lIns="0" rIns="0" tIns="0" bIns="0">
            <a:spAutoFit/>
          </a:bodyPr>
          <a:lstStyle/>
          <a:p>
            <a:pPr algn="l">
              <a:lnSpc>
                <a:spcPct val="106000"/>
              </a:lnSpc>
              <a:spcBef>
                <a:spcPts val="0"/>
              </a:spcBef>
              <a:spcAft>
                <a:spcPts val="0"/>
              </a:spcAft>
            </a:pPr>
            <a:r>
              <a:rPr sz="1250" b="1" spc="220">
                <a:solidFill>
                  <a:srgbClr val="EE0000"/>
                </a:solidFill>
                <a:latin typeface="Red Hat Display"/>
              </a:rPr>
              <a:t>M03 · DEV SPACES &amp; THE INNER LOOP</a:t>
            </a:r>
          </a:p>
        </p:txBody>
      </p:sp>
      <p:sp>
        <p:nvSpPr>
          <p:cNvPr id="4" name="TextBox 3"/>
          <p:cNvSpPr txBox="1"/>
          <p:nvPr/>
        </p:nvSpPr>
        <p:spPr>
          <a:xfrm>
            <a:off x="841248" y="877824"/>
            <a:ext cx="10515600" cy="548640"/>
          </a:xfrm>
          <a:prstGeom prst="rect">
            <a:avLst/>
          </a:prstGeom>
          <a:noFill/>
        </p:spPr>
        <p:txBody>
          <a:bodyPr wrap="none" anchor="t" lIns="0" rIns="0" tIns="0" bIns="0">
            <a:spAutoFit/>
          </a:bodyPr>
          <a:lstStyle/>
          <a:p>
            <a:pPr algn="l">
              <a:lnSpc>
                <a:spcPct val="100000"/>
              </a:lnSpc>
              <a:spcBef>
                <a:spcPts val="0"/>
              </a:spcBef>
              <a:spcAft>
                <a:spcPts val="0"/>
              </a:spcAft>
            </a:pPr>
            <a:r>
              <a:rPr sz="2500" b="1">
                <a:solidFill>
                  <a:srgbClr val="1A1A1A"/>
                </a:solidFill>
                <a:latin typeface="Red Hat Display"/>
              </a:rPr>
              <a:t>Two loops, two clocks</a:t>
            </a:r>
          </a:p>
        </p:txBody>
      </p:sp>
      <p:cxnSp>
        <p:nvCxnSpPr>
          <p:cNvPr id="5" name="Connector 4"/>
          <p:cNvCxnSpPr/>
          <p:nvPr/>
        </p:nvCxnSpPr>
        <p:spPr>
          <a:xfrm>
            <a:off x="841248" y="1554480"/>
            <a:ext cx="1371600" cy="0"/>
          </a:xfrm>
          <a:prstGeom prst="bentConnector3">
            <a:avLst/>
          </a:prstGeom>
          <a:ln w="31750">
            <a:solidFill>
              <a:srgbClr val="EE0000"/>
            </a:solidFill>
          </a:ln>
          <a:effectLst/>
        </p:spPr>
        <p:style>
          <a:lnRef idx="2">
            <a:schemeClr val="accent1"/>
          </a:lnRef>
          <a:fillRef idx="0">
            <a:schemeClr val="accent1"/>
          </a:fillRef>
          <a:effectRef idx="1">
            <a:schemeClr val="accent1"/>
          </a:effectRef>
          <a:fontRef idx="minor">
            <a:schemeClr val="tx1"/>
          </a:fontRef>
        </p:style>
      </p:cxnSp>
      <p:sp>
        <p:nvSpPr>
          <p:cNvPr id="6" name="Rounded Rectangle 5"/>
          <p:cNvSpPr/>
          <p:nvPr/>
        </p:nvSpPr>
        <p:spPr>
          <a:xfrm>
            <a:off x="841248" y="2395728"/>
            <a:ext cx="5715000" cy="530352"/>
          </a:xfrm>
          <a:prstGeom prst="roundRect">
            <a:avLst>
              <a:gd name="adj" fmla="val 6000"/>
            </a:avLst>
          </a:prstGeom>
          <a:solidFill>
            <a:srgbClr val="F5F6F8"/>
          </a:solidFill>
          <a:ln w="12700">
            <a:solidFill>
              <a:srgbClr val="DDE1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check_steel.png"/>
          <p:cNvPicPr>
            <a:picLocks noChangeAspect="1"/>
          </p:cNvPicPr>
          <p:nvPr/>
        </p:nvPicPr>
        <p:blipFill>
          <a:blip r:embed="rId3"/>
          <a:stretch>
            <a:fillRect/>
          </a:stretch>
        </p:blipFill>
        <p:spPr>
          <a:xfrm>
            <a:off x="987552" y="2542032"/>
            <a:ext cx="237744" cy="237744"/>
          </a:xfrm>
          <a:prstGeom prst="rect">
            <a:avLst/>
          </a:prstGeom>
        </p:spPr>
      </p:pic>
      <p:sp>
        <p:nvSpPr>
          <p:cNvPr id="8" name="TextBox 7"/>
          <p:cNvSpPr txBox="1"/>
          <p:nvPr/>
        </p:nvSpPr>
        <p:spPr>
          <a:xfrm>
            <a:off x="1353312" y="2395728"/>
            <a:ext cx="5029200" cy="530352"/>
          </a:xfrm>
          <a:prstGeom prst="rect">
            <a:avLst/>
          </a:prstGeom>
          <a:noFill/>
        </p:spPr>
        <p:txBody>
          <a:bodyPr wrap="square" anchor="ctr" lIns="0" rIns="0" tIns="0" bIns="0">
            <a:spAutoFit/>
          </a:bodyPr>
          <a:lstStyle/>
          <a:p>
            <a:pPr algn="l">
              <a:lnSpc>
                <a:spcPct val="106000"/>
              </a:lnSpc>
              <a:spcBef>
                <a:spcPts val="0"/>
              </a:spcBef>
              <a:spcAft>
                <a:spcPts val="0"/>
              </a:spcAft>
            </a:pPr>
            <a:r>
              <a:rPr sz="1200" b="0">
                <a:solidFill>
                  <a:srgbClr val="1A1A1A"/>
                </a:solidFill>
                <a:latin typeface="Red Hat Text"/>
              </a:rPr>
              <a:t>Inner loop: edit, run, observe — seconds</a:t>
            </a:r>
          </a:p>
        </p:txBody>
      </p:sp>
      <p:sp>
        <p:nvSpPr>
          <p:cNvPr id="9" name="Rounded Rectangle 8"/>
          <p:cNvSpPr/>
          <p:nvPr/>
        </p:nvSpPr>
        <p:spPr>
          <a:xfrm>
            <a:off x="841248" y="2999232"/>
            <a:ext cx="5715000" cy="530352"/>
          </a:xfrm>
          <a:prstGeom prst="roundRect">
            <a:avLst>
              <a:gd name="adj" fmla="val 6000"/>
            </a:avLst>
          </a:prstGeom>
          <a:solidFill>
            <a:srgbClr val="F5F6F8"/>
          </a:solidFill>
          <a:ln w="12700">
            <a:solidFill>
              <a:srgbClr val="DDE1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0" name="Picture 9" descr="check_steel.png"/>
          <p:cNvPicPr>
            <a:picLocks noChangeAspect="1"/>
          </p:cNvPicPr>
          <p:nvPr/>
        </p:nvPicPr>
        <p:blipFill>
          <a:blip r:embed="rId3"/>
          <a:stretch>
            <a:fillRect/>
          </a:stretch>
        </p:blipFill>
        <p:spPr>
          <a:xfrm>
            <a:off x="987552" y="3145536"/>
            <a:ext cx="237744" cy="237744"/>
          </a:xfrm>
          <a:prstGeom prst="rect">
            <a:avLst/>
          </a:prstGeom>
        </p:spPr>
      </p:pic>
      <p:sp>
        <p:nvSpPr>
          <p:cNvPr id="11" name="TextBox 10"/>
          <p:cNvSpPr txBox="1"/>
          <p:nvPr/>
        </p:nvSpPr>
        <p:spPr>
          <a:xfrm>
            <a:off x="1353312" y="2999232"/>
            <a:ext cx="5029200" cy="530352"/>
          </a:xfrm>
          <a:prstGeom prst="rect">
            <a:avLst/>
          </a:prstGeom>
          <a:noFill/>
        </p:spPr>
        <p:txBody>
          <a:bodyPr wrap="square" anchor="ctr" lIns="0" rIns="0" tIns="0" bIns="0">
            <a:spAutoFit/>
          </a:bodyPr>
          <a:lstStyle/>
          <a:p>
            <a:pPr algn="l">
              <a:lnSpc>
                <a:spcPct val="106000"/>
              </a:lnSpc>
              <a:spcBef>
                <a:spcPts val="0"/>
              </a:spcBef>
              <a:spcAft>
                <a:spcPts val="0"/>
              </a:spcAft>
            </a:pPr>
            <a:r>
              <a:rPr sz="1200" b="0">
                <a:solidFill>
                  <a:srgbClr val="1A1A1A"/>
                </a:solidFill>
                <a:latin typeface="Red Hat Text"/>
              </a:rPr>
              <a:t>Outer loop: commit, pipeline, deploy — minutes</a:t>
            </a:r>
          </a:p>
        </p:txBody>
      </p:sp>
      <p:sp>
        <p:nvSpPr>
          <p:cNvPr id="12" name="Rounded Rectangle 11"/>
          <p:cNvSpPr/>
          <p:nvPr/>
        </p:nvSpPr>
        <p:spPr>
          <a:xfrm>
            <a:off x="841248" y="3602736"/>
            <a:ext cx="5715000" cy="530352"/>
          </a:xfrm>
          <a:prstGeom prst="roundRect">
            <a:avLst>
              <a:gd name="adj" fmla="val 6000"/>
            </a:avLst>
          </a:prstGeom>
          <a:solidFill>
            <a:srgbClr val="F5F6F8"/>
          </a:solidFill>
          <a:ln w="12700">
            <a:solidFill>
              <a:srgbClr val="DDE1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3" name="Picture 12" descr="check_steel.png"/>
          <p:cNvPicPr>
            <a:picLocks noChangeAspect="1"/>
          </p:cNvPicPr>
          <p:nvPr/>
        </p:nvPicPr>
        <p:blipFill>
          <a:blip r:embed="rId3"/>
          <a:stretch>
            <a:fillRect/>
          </a:stretch>
        </p:blipFill>
        <p:spPr>
          <a:xfrm>
            <a:off x="987552" y="3749040"/>
            <a:ext cx="237744" cy="237744"/>
          </a:xfrm>
          <a:prstGeom prst="rect">
            <a:avLst/>
          </a:prstGeom>
        </p:spPr>
      </p:pic>
      <p:sp>
        <p:nvSpPr>
          <p:cNvPr id="14" name="TextBox 13"/>
          <p:cNvSpPr txBox="1"/>
          <p:nvPr/>
        </p:nvSpPr>
        <p:spPr>
          <a:xfrm>
            <a:off x="1353312" y="3602736"/>
            <a:ext cx="5029200" cy="530352"/>
          </a:xfrm>
          <a:prstGeom prst="rect">
            <a:avLst/>
          </a:prstGeom>
          <a:noFill/>
        </p:spPr>
        <p:txBody>
          <a:bodyPr wrap="square" anchor="ctr" lIns="0" rIns="0" tIns="0" bIns="0">
            <a:spAutoFit/>
          </a:bodyPr>
          <a:lstStyle/>
          <a:p>
            <a:pPr algn="l">
              <a:lnSpc>
                <a:spcPct val="106000"/>
              </a:lnSpc>
              <a:spcBef>
                <a:spcPts val="0"/>
              </a:spcBef>
              <a:spcAft>
                <a:spcPts val="0"/>
              </a:spcAft>
            </a:pPr>
            <a:r>
              <a:rPr sz="1200" b="0">
                <a:solidFill>
                  <a:srgbClr val="1A1A1A"/>
                </a:solidFill>
                <a:latin typeface="Red Hat Text"/>
              </a:rPr>
              <a:t>This module makes the inner loop fast</a:t>
            </a:r>
          </a:p>
        </p:txBody>
      </p:sp>
      <p:sp>
        <p:nvSpPr>
          <p:cNvPr id="15" name="Rounded Rectangle 14"/>
          <p:cNvSpPr/>
          <p:nvPr/>
        </p:nvSpPr>
        <p:spPr>
          <a:xfrm>
            <a:off x="841248" y="4206240"/>
            <a:ext cx="5715000" cy="530352"/>
          </a:xfrm>
          <a:prstGeom prst="roundRect">
            <a:avLst>
              <a:gd name="adj" fmla="val 6000"/>
            </a:avLst>
          </a:prstGeom>
          <a:solidFill>
            <a:srgbClr val="F5F6F8"/>
          </a:solidFill>
          <a:ln w="12700">
            <a:solidFill>
              <a:srgbClr val="DDE1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6" name="Picture 15" descr="check_steel.png"/>
          <p:cNvPicPr>
            <a:picLocks noChangeAspect="1"/>
          </p:cNvPicPr>
          <p:nvPr/>
        </p:nvPicPr>
        <p:blipFill>
          <a:blip r:embed="rId3"/>
          <a:stretch>
            <a:fillRect/>
          </a:stretch>
        </p:blipFill>
        <p:spPr>
          <a:xfrm>
            <a:off x="987552" y="4352544"/>
            <a:ext cx="237744" cy="237744"/>
          </a:xfrm>
          <a:prstGeom prst="rect">
            <a:avLst/>
          </a:prstGeom>
        </p:spPr>
      </p:pic>
      <p:sp>
        <p:nvSpPr>
          <p:cNvPr id="17" name="TextBox 16"/>
          <p:cNvSpPr txBox="1"/>
          <p:nvPr/>
        </p:nvSpPr>
        <p:spPr>
          <a:xfrm>
            <a:off x="1353312" y="4206240"/>
            <a:ext cx="5029200" cy="530352"/>
          </a:xfrm>
          <a:prstGeom prst="rect">
            <a:avLst/>
          </a:prstGeom>
          <a:noFill/>
        </p:spPr>
        <p:txBody>
          <a:bodyPr wrap="square" anchor="ctr" lIns="0" rIns="0" tIns="0" bIns="0">
            <a:spAutoFit/>
          </a:bodyPr>
          <a:lstStyle/>
          <a:p>
            <a:pPr algn="l">
              <a:lnSpc>
                <a:spcPct val="106000"/>
              </a:lnSpc>
              <a:spcBef>
                <a:spcPts val="0"/>
              </a:spcBef>
              <a:spcAft>
                <a:spcPts val="0"/>
              </a:spcAft>
            </a:pPr>
            <a:r>
              <a:rPr sz="1200" b="0">
                <a:solidFill>
                  <a:srgbClr val="1A1A1A"/>
                </a:solidFill>
                <a:latin typeface="Red Hat Text"/>
              </a:rPr>
              <a:t>The push at the end starts the outer loop</a:t>
            </a:r>
          </a:p>
        </p:txBody>
      </p:sp>
      <p:sp>
        <p:nvSpPr>
          <p:cNvPr id="18" name="Rounded Rectangle 17"/>
          <p:cNvSpPr/>
          <p:nvPr/>
        </p:nvSpPr>
        <p:spPr>
          <a:xfrm>
            <a:off x="841248" y="4809744"/>
            <a:ext cx="5715000" cy="530352"/>
          </a:xfrm>
          <a:prstGeom prst="roundRect">
            <a:avLst>
              <a:gd name="adj" fmla="val 6000"/>
            </a:avLst>
          </a:prstGeom>
          <a:solidFill>
            <a:srgbClr val="F5F6F8"/>
          </a:solidFill>
          <a:ln w="12700">
            <a:solidFill>
              <a:srgbClr val="DDE1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9" name="Picture 18" descr="check_steel.png"/>
          <p:cNvPicPr>
            <a:picLocks noChangeAspect="1"/>
          </p:cNvPicPr>
          <p:nvPr/>
        </p:nvPicPr>
        <p:blipFill>
          <a:blip r:embed="rId3"/>
          <a:stretch>
            <a:fillRect/>
          </a:stretch>
        </p:blipFill>
        <p:spPr>
          <a:xfrm>
            <a:off x="987552" y="4956048"/>
            <a:ext cx="237744" cy="237744"/>
          </a:xfrm>
          <a:prstGeom prst="rect">
            <a:avLst/>
          </a:prstGeom>
        </p:spPr>
      </p:pic>
      <p:sp>
        <p:nvSpPr>
          <p:cNvPr id="20" name="TextBox 19"/>
          <p:cNvSpPr txBox="1"/>
          <p:nvPr/>
        </p:nvSpPr>
        <p:spPr>
          <a:xfrm>
            <a:off x="1353312" y="4809744"/>
            <a:ext cx="5029200" cy="530352"/>
          </a:xfrm>
          <a:prstGeom prst="rect">
            <a:avLst/>
          </a:prstGeom>
          <a:noFill/>
        </p:spPr>
        <p:txBody>
          <a:bodyPr wrap="square" anchor="ctr" lIns="0" rIns="0" tIns="0" bIns="0">
            <a:spAutoFit/>
          </a:bodyPr>
          <a:lstStyle/>
          <a:p>
            <a:pPr algn="l">
              <a:lnSpc>
                <a:spcPct val="106000"/>
              </a:lnSpc>
              <a:spcBef>
                <a:spcPts val="0"/>
              </a:spcBef>
              <a:spcAft>
                <a:spcPts val="0"/>
              </a:spcAft>
            </a:pPr>
            <a:r>
              <a:rPr sz="1200" b="0">
                <a:solidFill>
                  <a:srgbClr val="1A1A1A"/>
                </a:solidFill>
                <a:latin typeface="Red Hat Text"/>
              </a:rPr>
              <a:t>The platform optimizes each differently</a:t>
            </a:r>
          </a:p>
        </p:txBody>
      </p:sp>
      <p:sp>
        <p:nvSpPr>
          <p:cNvPr id="21" name="Rounded Rectangle 20"/>
          <p:cNvSpPr/>
          <p:nvPr/>
        </p:nvSpPr>
        <p:spPr>
          <a:xfrm>
            <a:off x="6812280" y="2395728"/>
            <a:ext cx="4538167" cy="2944368"/>
          </a:xfrm>
          <a:prstGeom prst="roundRect">
            <a:avLst>
              <a:gd name="adj" fmla="val 4000"/>
            </a:avLst>
          </a:prstGeom>
          <a:solidFill>
            <a:srgbClr val="FFFFFF"/>
          </a:solidFill>
          <a:ln w="15240">
            <a:solidFill>
              <a:srgbClr val="DDE1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ounded Rectangle 21"/>
          <p:cNvSpPr/>
          <p:nvPr/>
        </p:nvSpPr>
        <p:spPr>
          <a:xfrm>
            <a:off x="7013448" y="2596896"/>
            <a:ext cx="1298448" cy="310896"/>
          </a:xfrm>
          <a:prstGeom prst="roundRect">
            <a:avLst>
              <a:gd name="adj" fmla="val 50000"/>
            </a:avLst>
          </a:prstGeom>
          <a:solidFill>
            <a:srgbClr val="FCEC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7013448" y="2596896"/>
            <a:ext cx="1298448" cy="310896"/>
          </a:xfrm>
          <a:prstGeom prst="rect">
            <a:avLst/>
          </a:prstGeom>
          <a:noFill/>
        </p:spPr>
        <p:txBody>
          <a:bodyPr wrap="none" anchor="ctr" lIns="0" rIns="0" tIns="0" bIns="0">
            <a:spAutoFit/>
          </a:bodyPr>
          <a:lstStyle/>
          <a:p>
            <a:pPr algn="ctr">
              <a:lnSpc>
                <a:spcPct val="106000"/>
              </a:lnSpc>
              <a:spcBef>
                <a:spcPts val="0"/>
              </a:spcBef>
              <a:spcAft>
                <a:spcPts val="0"/>
              </a:spcAft>
            </a:pPr>
            <a:r>
              <a:rPr sz="850" b="1">
                <a:solidFill>
                  <a:srgbClr val="B80000"/>
                </a:solidFill>
                <a:latin typeface="Red Hat Display"/>
              </a:rPr>
              <a:t>MEDIA PASS</a:t>
            </a:r>
          </a:p>
        </p:txBody>
      </p:sp>
      <p:pic>
        <p:nvPicPr>
          <p:cNvPr id="24" name="Picture 23" descr="eye_slate.png"/>
          <p:cNvPicPr>
            <a:picLocks noChangeAspect="1"/>
          </p:cNvPicPr>
          <p:nvPr/>
        </p:nvPicPr>
        <p:blipFill>
          <a:blip r:embed="rId4"/>
          <a:stretch>
            <a:fillRect/>
          </a:stretch>
        </p:blipFill>
        <p:spPr>
          <a:xfrm>
            <a:off x="8843619" y="3108960"/>
            <a:ext cx="475488" cy="475488"/>
          </a:xfrm>
          <a:prstGeom prst="rect">
            <a:avLst/>
          </a:prstGeom>
        </p:spPr>
      </p:pic>
      <p:sp>
        <p:nvSpPr>
          <p:cNvPr id="25" name="TextBox 24"/>
          <p:cNvSpPr txBox="1"/>
          <p:nvPr/>
        </p:nvSpPr>
        <p:spPr>
          <a:xfrm>
            <a:off x="7050024" y="3721608"/>
            <a:ext cx="4062679" cy="1481328"/>
          </a:xfrm>
          <a:prstGeom prst="rect">
            <a:avLst/>
          </a:prstGeom>
          <a:noFill/>
        </p:spPr>
        <p:txBody>
          <a:bodyPr wrap="square" anchor="t" lIns="0" rIns="0" tIns="0" bIns="0">
            <a:spAutoFit/>
          </a:bodyPr>
          <a:lstStyle/>
          <a:p>
            <a:pPr algn="l">
              <a:lnSpc>
                <a:spcPct val="120000"/>
              </a:lnSpc>
              <a:spcBef>
                <a:spcPts val="0"/>
              </a:spcBef>
              <a:spcAft>
                <a:spcPts val="0"/>
              </a:spcAft>
            </a:pPr>
            <a:r>
              <a:rPr sz="950" b="0">
                <a:solidFill>
                  <a:srgbClr val="8A9099"/>
                </a:solidFill>
                <a:latin typeface="Red Hat Text"/>
              </a:rPr>
              <a:t>Reuse concept diagram devspaces-inner-loop-...-01-inner-outer-loop.svg — red inner loop (edit→build→run→observe) handing off via git push to the grey outer loop (pipeline→image→GitOps→prod).</a:t>
            </a:r>
          </a:p>
        </p:txBody>
      </p:sp>
      <p:cxnSp>
        <p:nvCxnSpPr>
          <p:cNvPr id="26" name="Connector 25"/>
          <p:cNvCxnSpPr/>
          <p:nvPr/>
        </p:nvCxnSpPr>
        <p:spPr>
          <a:xfrm>
            <a:off x="841248" y="6437376"/>
            <a:ext cx="10509199" cy="0"/>
          </a:xfrm>
          <a:prstGeom prst="bentConnector3">
            <a:avLst/>
          </a:prstGeom>
          <a:ln w="12700">
            <a:solidFill>
              <a:srgbClr val="DDE1E6"/>
            </a:solidFill>
          </a:ln>
          <a:effectLst/>
        </p:spPr>
        <p:style>
          <a:lnRef idx="2">
            <a:schemeClr val="accent1"/>
          </a:lnRef>
          <a:fillRef idx="0">
            <a:schemeClr val="accent1"/>
          </a:fillRef>
          <a:effectRef idx="1">
            <a:schemeClr val="accent1"/>
          </a:effectRef>
          <a:fontRef idx="minor">
            <a:schemeClr val="tx1"/>
          </a:fontRef>
        </p:style>
      </p:cxnSp>
      <p:sp>
        <p:nvSpPr>
          <p:cNvPr id="27" name="TextBox 26"/>
          <p:cNvSpPr txBox="1"/>
          <p:nvPr/>
        </p:nvSpPr>
        <p:spPr>
          <a:xfrm>
            <a:off x="841248" y="6473952"/>
            <a:ext cx="7315200" cy="274320"/>
          </a:xfrm>
          <a:prstGeom prst="rect">
            <a:avLst/>
          </a:prstGeom>
          <a:noFill/>
        </p:spPr>
        <p:txBody>
          <a:bodyPr wrap="square" anchor="t" lIns="0" rIns="0" tIns="0" bIns="0">
            <a:spAutoFit/>
          </a:bodyPr>
          <a:lstStyle/>
          <a:p>
            <a:pPr algn="l">
              <a:lnSpc>
                <a:spcPct val="106000"/>
              </a:lnSpc>
              <a:spcBef>
                <a:spcPts val="0"/>
              </a:spcBef>
              <a:spcAft>
                <a:spcPts val="0"/>
              </a:spcAft>
            </a:pPr>
            <a:r>
              <a:rPr sz="950" b="0">
                <a:solidFill>
                  <a:srgbClr val="8A9099"/>
                </a:solidFill>
                <a:latin typeface="Red Hat Text"/>
              </a:rPr>
              <a:t>CONFIDENTIAL</a:t>
            </a:r>
          </a:p>
        </p:txBody>
      </p:sp>
      <p:sp>
        <p:nvSpPr>
          <p:cNvPr id="28" name="TextBox 27"/>
          <p:cNvSpPr txBox="1"/>
          <p:nvPr/>
        </p:nvSpPr>
        <p:spPr>
          <a:xfrm>
            <a:off x="10801807" y="6473952"/>
            <a:ext cx="548640" cy="274320"/>
          </a:xfrm>
          <a:prstGeom prst="rect">
            <a:avLst/>
          </a:prstGeom>
          <a:noFill/>
        </p:spPr>
        <p:txBody>
          <a:bodyPr wrap="square" anchor="t" lIns="0" rIns="0" tIns="0" bIns="0">
            <a:spAutoFit/>
          </a:bodyPr>
          <a:lstStyle/>
          <a:p>
            <a:pPr algn="r">
              <a:lnSpc>
                <a:spcPct val="106000"/>
              </a:lnSpc>
              <a:spcBef>
                <a:spcPts val="0"/>
              </a:spcBef>
              <a:spcAft>
                <a:spcPts val="0"/>
              </a:spcAft>
            </a:pPr>
            <a:r>
              <a:rPr sz="950" b="0">
                <a:solidFill>
                  <a:srgbClr val="8A9099"/>
                </a:solidFill>
                <a:latin typeface="Red Hat Text"/>
              </a:rPr>
              <a:t>15</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redhat_logo.jpg"/>
          <p:cNvPicPr>
            <a:picLocks noChangeAspect="1"/>
          </p:cNvPicPr>
          <p:nvPr/>
        </p:nvPicPr>
        <p:blipFill>
          <a:blip r:embed="rId2"/>
          <a:stretch>
            <a:fillRect/>
          </a:stretch>
        </p:blipFill>
        <p:spPr>
          <a:xfrm>
            <a:off x="10326319" y="475488"/>
            <a:ext cx="1024128" cy="242248"/>
          </a:xfrm>
          <a:prstGeom prst="rect">
            <a:avLst/>
          </a:prstGeom>
        </p:spPr>
      </p:pic>
      <p:sp>
        <p:nvSpPr>
          <p:cNvPr id="3" name="TextBox 2"/>
          <p:cNvSpPr txBox="1"/>
          <p:nvPr/>
        </p:nvSpPr>
        <p:spPr>
          <a:xfrm>
            <a:off x="841248" y="548640"/>
            <a:ext cx="8595360" cy="274320"/>
          </a:xfrm>
          <a:prstGeom prst="rect">
            <a:avLst/>
          </a:prstGeom>
          <a:noFill/>
        </p:spPr>
        <p:txBody>
          <a:bodyPr wrap="square" anchor="t" lIns="0" rIns="0" tIns="0" bIns="0">
            <a:spAutoFit/>
          </a:bodyPr>
          <a:lstStyle/>
          <a:p>
            <a:pPr algn="l">
              <a:lnSpc>
                <a:spcPct val="106000"/>
              </a:lnSpc>
              <a:spcBef>
                <a:spcPts val="0"/>
              </a:spcBef>
              <a:spcAft>
                <a:spcPts val="0"/>
              </a:spcAft>
            </a:pPr>
            <a:r>
              <a:rPr sz="1250" b="1" spc="220">
                <a:solidFill>
                  <a:srgbClr val="EE0000"/>
                </a:solidFill>
                <a:latin typeface="Red Hat Display"/>
              </a:rPr>
              <a:t>M03 · DEV SPACES &amp; THE INNER LOOP</a:t>
            </a:r>
          </a:p>
        </p:txBody>
      </p:sp>
      <p:sp>
        <p:nvSpPr>
          <p:cNvPr id="4" name="TextBox 3"/>
          <p:cNvSpPr txBox="1"/>
          <p:nvPr/>
        </p:nvSpPr>
        <p:spPr>
          <a:xfrm>
            <a:off x="841248" y="877824"/>
            <a:ext cx="10515600" cy="548640"/>
          </a:xfrm>
          <a:prstGeom prst="rect">
            <a:avLst/>
          </a:prstGeom>
          <a:noFill/>
        </p:spPr>
        <p:txBody>
          <a:bodyPr wrap="none" anchor="t" lIns="0" rIns="0" tIns="0" bIns="0">
            <a:spAutoFit/>
          </a:bodyPr>
          <a:lstStyle/>
          <a:p>
            <a:pPr algn="l">
              <a:lnSpc>
                <a:spcPct val="100000"/>
              </a:lnSpc>
              <a:spcBef>
                <a:spcPts val="0"/>
              </a:spcBef>
              <a:spcAft>
                <a:spcPts val="0"/>
              </a:spcAft>
            </a:pPr>
            <a:r>
              <a:rPr sz="2500" b="1">
                <a:solidFill>
                  <a:srgbClr val="1A1A1A"/>
                </a:solidFill>
                <a:latin typeface="Red Hat Display"/>
              </a:rPr>
              <a:t>Why the IDE belongs in the cluster</a:t>
            </a:r>
          </a:p>
        </p:txBody>
      </p:sp>
      <p:cxnSp>
        <p:nvCxnSpPr>
          <p:cNvPr id="5" name="Connector 4"/>
          <p:cNvCxnSpPr/>
          <p:nvPr/>
        </p:nvCxnSpPr>
        <p:spPr>
          <a:xfrm>
            <a:off x="841248" y="1554480"/>
            <a:ext cx="1371600" cy="0"/>
          </a:xfrm>
          <a:prstGeom prst="bentConnector3">
            <a:avLst/>
          </a:prstGeom>
          <a:ln w="31750">
            <a:solidFill>
              <a:srgbClr val="EE0000"/>
            </a:solidFill>
          </a:ln>
          <a:effectLst/>
        </p:spPr>
        <p:style>
          <a:lnRef idx="2">
            <a:schemeClr val="accent1"/>
          </a:lnRef>
          <a:fillRef idx="0">
            <a:schemeClr val="accent1"/>
          </a:fillRef>
          <a:effectRef idx="1">
            <a:schemeClr val="accent1"/>
          </a:effectRef>
          <a:fontRef idx="minor">
            <a:schemeClr val="tx1"/>
          </a:fontRef>
        </p:style>
      </p:cxnSp>
      <p:sp>
        <p:nvSpPr>
          <p:cNvPr id="6" name="Rounded Rectangle 5"/>
          <p:cNvSpPr/>
          <p:nvPr/>
        </p:nvSpPr>
        <p:spPr>
          <a:xfrm>
            <a:off x="841248" y="2395728"/>
            <a:ext cx="5715000" cy="530352"/>
          </a:xfrm>
          <a:prstGeom prst="roundRect">
            <a:avLst>
              <a:gd name="adj" fmla="val 6000"/>
            </a:avLst>
          </a:prstGeom>
          <a:solidFill>
            <a:srgbClr val="F5F6F8"/>
          </a:solidFill>
          <a:ln w="12700">
            <a:solidFill>
              <a:srgbClr val="DDE1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check_steel.png"/>
          <p:cNvPicPr>
            <a:picLocks noChangeAspect="1"/>
          </p:cNvPicPr>
          <p:nvPr/>
        </p:nvPicPr>
        <p:blipFill>
          <a:blip r:embed="rId3"/>
          <a:stretch>
            <a:fillRect/>
          </a:stretch>
        </p:blipFill>
        <p:spPr>
          <a:xfrm>
            <a:off x="987552" y="2542032"/>
            <a:ext cx="237744" cy="237744"/>
          </a:xfrm>
          <a:prstGeom prst="rect">
            <a:avLst/>
          </a:prstGeom>
        </p:spPr>
      </p:pic>
      <p:sp>
        <p:nvSpPr>
          <p:cNvPr id="8" name="TextBox 7"/>
          <p:cNvSpPr txBox="1"/>
          <p:nvPr/>
        </p:nvSpPr>
        <p:spPr>
          <a:xfrm>
            <a:off x="1353312" y="2395728"/>
            <a:ext cx="5029200" cy="530352"/>
          </a:xfrm>
          <a:prstGeom prst="rect">
            <a:avLst/>
          </a:prstGeom>
          <a:noFill/>
        </p:spPr>
        <p:txBody>
          <a:bodyPr wrap="square" anchor="ctr" lIns="0" rIns="0" tIns="0" bIns="0">
            <a:spAutoFit/>
          </a:bodyPr>
          <a:lstStyle/>
          <a:p>
            <a:pPr algn="l">
              <a:lnSpc>
                <a:spcPct val="106000"/>
              </a:lnSpc>
              <a:spcBef>
                <a:spcPts val="0"/>
              </a:spcBef>
              <a:spcAft>
                <a:spcPts val="0"/>
              </a:spcAft>
            </a:pPr>
            <a:r>
              <a:rPr sz="1200" b="0">
                <a:solidFill>
                  <a:srgbClr val="1A1A1A"/>
                </a:solidFill>
                <a:latin typeface="Red Hat Text"/>
              </a:rPr>
              <a:t>Onboarding: a link, not a checklist</a:t>
            </a:r>
          </a:p>
        </p:txBody>
      </p:sp>
      <p:sp>
        <p:nvSpPr>
          <p:cNvPr id="9" name="Rounded Rectangle 8"/>
          <p:cNvSpPr/>
          <p:nvPr/>
        </p:nvSpPr>
        <p:spPr>
          <a:xfrm>
            <a:off x="841248" y="2999232"/>
            <a:ext cx="5715000" cy="530352"/>
          </a:xfrm>
          <a:prstGeom prst="roundRect">
            <a:avLst>
              <a:gd name="adj" fmla="val 6000"/>
            </a:avLst>
          </a:prstGeom>
          <a:solidFill>
            <a:srgbClr val="F5F6F8"/>
          </a:solidFill>
          <a:ln w="12700">
            <a:solidFill>
              <a:srgbClr val="DDE1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0" name="Picture 9" descr="check_steel.png"/>
          <p:cNvPicPr>
            <a:picLocks noChangeAspect="1"/>
          </p:cNvPicPr>
          <p:nvPr/>
        </p:nvPicPr>
        <p:blipFill>
          <a:blip r:embed="rId3"/>
          <a:stretch>
            <a:fillRect/>
          </a:stretch>
        </p:blipFill>
        <p:spPr>
          <a:xfrm>
            <a:off x="987552" y="3145536"/>
            <a:ext cx="237744" cy="237744"/>
          </a:xfrm>
          <a:prstGeom prst="rect">
            <a:avLst/>
          </a:prstGeom>
        </p:spPr>
      </p:pic>
      <p:sp>
        <p:nvSpPr>
          <p:cNvPr id="11" name="TextBox 10"/>
          <p:cNvSpPr txBox="1"/>
          <p:nvPr/>
        </p:nvSpPr>
        <p:spPr>
          <a:xfrm>
            <a:off x="1353312" y="2999232"/>
            <a:ext cx="5029200" cy="530352"/>
          </a:xfrm>
          <a:prstGeom prst="rect">
            <a:avLst/>
          </a:prstGeom>
          <a:noFill/>
        </p:spPr>
        <p:txBody>
          <a:bodyPr wrap="square" anchor="ctr" lIns="0" rIns="0" tIns="0" bIns="0">
            <a:spAutoFit/>
          </a:bodyPr>
          <a:lstStyle/>
          <a:p>
            <a:pPr algn="l">
              <a:lnSpc>
                <a:spcPct val="106000"/>
              </a:lnSpc>
              <a:spcBef>
                <a:spcPts val="0"/>
              </a:spcBef>
              <a:spcAft>
                <a:spcPts val="0"/>
              </a:spcAft>
            </a:pPr>
            <a:r>
              <a:rPr sz="1200" b="0">
                <a:solidFill>
                  <a:srgbClr val="1A1A1A"/>
                </a:solidFill>
                <a:latin typeface="Red Hat Text"/>
              </a:rPr>
              <a:t>No more "works on my machine"</a:t>
            </a:r>
          </a:p>
        </p:txBody>
      </p:sp>
      <p:sp>
        <p:nvSpPr>
          <p:cNvPr id="12" name="Rounded Rectangle 11"/>
          <p:cNvSpPr/>
          <p:nvPr/>
        </p:nvSpPr>
        <p:spPr>
          <a:xfrm>
            <a:off x="841248" y="3602736"/>
            <a:ext cx="5715000" cy="530352"/>
          </a:xfrm>
          <a:prstGeom prst="roundRect">
            <a:avLst>
              <a:gd name="adj" fmla="val 6000"/>
            </a:avLst>
          </a:prstGeom>
          <a:solidFill>
            <a:srgbClr val="F5F6F8"/>
          </a:solidFill>
          <a:ln w="12700">
            <a:solidFill>
              <a:srgbClr val="DDE1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3" name="Picture 12" descr="check_steel.png"/>
          <p:cNvPicPr>
            <a:picLocks noChangeAspect="1"/>
          </p:cNvPicPr>
          <p:nvPr/>
        </p:nvPicPr>
        <p:blipFill>
          <a:blip r:embed="rId3"/>
          <a:stretch>
            <a:fillRect/>
          </a:stretch>
        </p:blipFill>
        <p:spPr>
          <a:xfrm>
            <a:off x="987552" y="3749040"/>
            <a:ext cx="237744" cy="237744"/>
          </a:xfrm>
          <a:prstGeom prst="rect">
            <a:avLst/>
          </a:prstGeom>
        </p:spPr>
      </p:pic>
      <p:sp>
        <p:nvSpPr>
          <p:cNvPr id="14" name="TextBox 13"/>
          <p:cNvSpPr txBox="1"/>
          <p:nvPr/>
        </p:nvSpPr>
        <p:spPr>
          <a:xfrm>
            <a:off x="1353312" y="3602736"/>
            <a:ext cx="5029200" cy="530352"/>
          </a:xfrm>
          <a:prstGeom prst="rect">
            <a:avLst/>
          </a:prstGeom>
          <a:noFill/>
        </p:spPr>
        <p:txBody>
          <a:bodyPr wrap="square" anchor="ctr" lIns="0" rIns="0" tIns="0" bIns="0">
            <a:spAutoFit/>
          </a:bodyPr>
          <a:lstStyle/>
          <a:p>
            <a:pPr algn="l">
              <a:lnSpc>
                <a:spcPct val="106000"/>
              </a:lnSpc>
              <a:spcBef>
                <a:spcPts val="0"/>
              </a:spcBef>
              <a:spcAft>
                <a:spcPts val="0"/>
              </a:spcAft>
            </a:pPr>
            <a:r>
              <a:rPr sz="1200" b="0">
                <a:solidFill>
                  <a:srgbClr val="1A1A1A"/>
                </a:solidFill>
                <a:latin typeface="Red Hat Text"/>
              </a:rPr>
              <a:t>Code and data stay under cluster RBAC</a:t>
            </a:r>
          </a:p>
        </p:txBody>
      </p:sp>
      <p:sp>
        <p:nvSpPr>
          <p:cNvPr id="15" name="Rounded Rectangle 14"/>
          <p:cNvSpPr/>
          <p:nvPr/>
        </p:nvSpPr>
        <p:spPr>
          <a:xfrm>
            <a:off x="841248" y="4206240"/>
            <a:ext cx="5715000" cy="530352"/>
          </a:xfrm>
          <a:prstGeom prst="roundRect">
            <a:avLst>
              <a:gd name="adj" fmla="val 6000"/>
            </a:avLst>
          </a:prstGeom>
          <a:solidFill>
            <a:srgbClr val="F5F6F8"/>
          </a:solidFill>
          <a:ln w="12700">
            <a:solidFill>
              <a:srgbClr val="DDE1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6" name="Picture 15" descr="check_steel.png"/>
          <p:cNvPicPr>
            <a:picLocks noChangeAspect="1"/>
          </p:cNvPicPr>
          <p:nvPr/>
        </p:nvPicPr>
        <p:blipFill>
          <a:blip r:embed="rId3"/>
          <a:stretch>
            <a:fillRect/>
          </a:stretch>
        </p:blipFill>
        <p:spPr>
          <a:xfrm>
            <a:off x="987552" y="4352544"/>
            <a:ext cx="237744" cy="237744"/>
          </a:xfrm>
          <a:prstGeom prst="rect">
            <a:avLst/>
          </a:prstGeom>
        </p:spPr>
      </p:pic>
      <p:sp>
        <p:nvSpPr>
          <p:cNvPr id="17" name="TextBox 16"/>
          <p:cNvSpPr txBox="1"/>
          <p:nvPr/>
        </p:nvSpPr>
        <p:spPr>
          <a:xfrm>
            <a:off x="1353312" y="4206240"/>
            <a:ext cx="5029200" cy="530352"/>
          </a:xfrm>
          <a:prstGeom prst="rect">
            <a:avLst/>
          </a:prstGeom>
          <a:noFill/>
        </p:spPr>
        <p:txBody>
          <a:bodyPr wrap="square" anchor="ctr" lIns="0" rIns="0" tIns="0" bIns="0">
            <a:spAutoFit/>
          </a:bodyPr>
          <a:lstStyle/>
          <a:p>
            <a:pPr algn="l">
              <a:lnSpc>
                <a:spcPct val="106000"/>
              </a:lnSpc>
              <a:spcBef>
                <a:spcPts val="0"/>
              </a:spcBef>
              <a:spcAft>
                <a:spcPts val="0"/>
              </a:spcAft>
            </a:pPr>
            <a:r>
              <a:rPr sz="1200" b="0">
                <a:solidFill>
                  <a:srgbClr val="1A1A1A"/>
                </a:solidFill>
                <a:latin typeface="Red Hat Text"/>
              </a:rPr>
              <a:t>The environment is reviewed like code</a:t>
            </a:r>
          </a:p>
        </p:txBody>
      </p:sp>
      <p:sp>
        <p:nvSpPr>
          <p:cNvPr id="18" name="Rounded Rectangle 17"/>
          <p:cNvSpPr/>
          <p:nvPr/>
        </p:nvSpPr>
        <p:spPr>
          <a:xfrm>
            <a:off x="841248" y="4809744"/>
            <a:ext cx="5715000" cy="530352"/>
          </a:xfrm>
          <a:prstGeom prst="roundRect">
            <a:avLst>
              <a:gd name="adj" fmla="val 6000"/>
            </a:avLst>
          </a:prstGeom>
          <a:solidFill>
            <a:srgbClr val="F5F6F8"/>
          </a:solidFill>
          <a:ln w="12700">
            <a:solidFill>
              <a:srgbClr val="DDE1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9" name="Picture 18" descr="check_steel.png"/>
          <p:cNvPicPr>
            <a:picLocks noChangeAspect="1"/>
          </p:cNvPicPr>
          <p:nvPr/>
        </p:nvPicPr>
        <p:blipFill>
          <a:blip r:embed="rId3"/>
          <a:stretch>
            <a:fillRect/>
          </a:stretch>
        </p:blipFill>
        <p:spPr>
          <a:xfrm>
            <a:off x="987552" y="4956048"/>
            <a:ext cx="237744" cy="237744"/>
          </a:xfrm>
          <a:prstGeom prst="rect">
            <a:avLst/>
          </a:prstGeom>
        </p:spPr>
      </p:pic>
      <p:sp>
        <p:nvSpPr>
          <p:cNvPr id="20" name="TextBox 19"/>
          <p:cNvSpPr txBox="1"/>
          <p:nvPr/>
        </p:nvSpPr>
        <p:spPr>
          <a:xfrm>
            <a:off x="1353312" y="4809744"/>
            <a:ext cx="5029200" cy="530352"/>
          </a:xfrm>
          <a:prstGeom prst="rect">
            <a:avLst/>
          </a:prstGeom>
          <a:noFill/>
        </p:spPr>
        <p:txBody>
          <a:bodyPr wrap="square" anchor="ctr" lIns="0" rIns="0" tIns="0" bIns="0">
            <a:spAutoFit/>
          </a:bodyPr>
          <a:lstStyle/>
          <a:p>
            <a:pPr algn="l">
              <a:lnSpc>
                <a:spcPct val="106000"/>
              </a:lnSpc>
              <a:spcBef>
                <a:spcPts val="0"/>
              </a:spcBef>
              <a:spcAft>
                <a:spcPts val="0"/>
              </a:spcAft>
            </a:pPr>
            <a:r>
              <a:rPr sz="1200" b="0">
                <a:solidFill>
                  <a:srgbClr val="1A1A1A"/>
                </a:solidFill>
                <a:latin typeface="Red Hat Text"/>
              </a:rPr>
              <a:t>One perimeter, not a laptop fleet</a:t>
            </a:r>
          </a:p>
        </p:txBody>
      </p:sp>
      <p:sp>
        <p:nvSpPr>
          <p:cNvPr id="21" name="Rounded Rectangle 20"/>
          <p:cNvSpPr/>
          <p:nvPr/>
        </p:nvSpPr>
        <p:spPr>
          <a:xfrm>
            <a:off x="6812280" y="2395728"/>
            <a:ext cx="4538167" cy="2944368"/>
          </a:xfrm>
          <a:prstGeom prst="roundRect">
            <a:avLst>
              <a:gd name="adj" fmla="val 4000"/>
            </a:avLst>
          </a:prstGeom>
          <a:solidFill>
            <a:srgbClr val="FFFFFF"/>
          </a:solidFill>
          <a:ln w="15240">
            <a:solidFill>
              <a:srgbClr val="DDE1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ounded Rectangle 21"/>
          <p:cNvSpPr/>
          <p:nvPr/>
        </p:nvSpPr>
        <p:spPr>
          <a:xfrm>
            <a:off x="7013448" y="2596896"/>
            <a:ext cx="1298448" cy="310896"/>
          </a:xfrm>
          <a:prstGeom prst="roundRect">
            <a:avLst>
              <a:gd name="adj" fmla="val 50000"/>
            </a:avLst>
          </a:prstGeom>
          <a:solidFill>
            <a:srgbClr val="FCEC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7013448" y="2596896"/>
            <a:ext cx="1298448" cy="310896"/>
          </a:xfrm>
          <a:prstGeom prst="rect">
            <a:avLst/>
          </a:prstGeom>
          <a:noFill/>
        </p:spPr>
        <p:txBody>
          <a:bodyPr wrap="none" anchor="ctr" lIns="0" rIns="0" tIns="0" bIns="0">
            <a:spAutoFit/>
          </a:bodyPr>
          <a:lstStyle/>
          <a:p>
            <a:pPr algn="ctr">
              <a:lnSpc>
                <a:spcPct val="106000"/>
              </a:lnSpc>
              <a:spcBef>
                <a:spcPts val="0"/>
              </a:spcBef>
              <a:spcAft>
                <a:spcPts val="0"/>
              </a:spcAft>
            </a:pPr>
            <a:r>
              <a:rPr sz="850" b="1">
                <a:solidFill>
                  <a:srgbClr val="B80000"/>
                </a:solidFill>
                <a:latin typeface="Red Hat Display"/>
              </a:rPr>
              <a:t>MEDIA PASS</a:t>
            </a:r>
          </a:p>
        </p:txBody>
      </p:sp>
      <p:pic>
        <p:nvPicPr>
          <p:cNvPr id="24" name="Picture 23" descr="eye_slate.png"/>
          <p:cNvPicPr>
            <a:picLocks noChangeAspect="1"/>
          </p:cNvPicPr>
          <p:nvPr/>
        </p:nvPicPr>
        <p:blipFill>
          <a:blip r:embed="rId4"/>
          <a:stretch>
            <a:fillRect/>
          </a:stretch>
        </p:blipFill>
        <p:spPr>
          <a:xfrm>
            <a:off x="8843619" y="3108960"/>
            <a:ext cx="475488" cy="475488"/>
          </a:xfrm>
          <a:prstGeom prst="rect">
            <a:avLst/>
          </a:prstGeom>
        </p:spPr>
      </p:pic>
      <p:sp>
        <p:nvSpPr>
          <p:cNvPr id="25" name="TextBox 24"/>
          <p:cNvSpPr txBox="1"/>
          <p:nvPr/>
        </p:nvSpPr>
        <p:spPr>
          <a:xfrm>
            <a:off x="7050024" y="3721608"/>
            <a:ext cx="4062679" cy="1481328"/>
          </a:xfrm>
          <a:prstGeom prst="rect">
            <a:avLst/>
          </a:prstGeom>
          <a:noFill/>
        </p:spPr>
        <p:txBody>
          <a:bodyPr wrap="square" anchor="t" lIns="0" rIns="0" tIns="0" bIns="0">
            <a:spAutoFit/>
          </a:bodyPr>
          <a:lstStyle/>
          <a:p>
            <a:pPr algn="l">
              <a:lnSpc>
                <a:spcPct val="120000"/>
              </a:lnSpc>
              <a:spcBef>
                <a:spcPts val="0"/>
              </a:spcBef>
              <a:spcAft>
                <a:spcPts val="0"/>
              </a:spcAft>
            </a:pPr>
            <a:r>
              <a:rPr sz="950" b="0">
                <a:solidFill>
                  <a:srgbClr val="8A9099"/>
                </a:solidFill>
                <a:latin typeface="Red Hat Text"/>
              </a:rPr>
              <a:t>Three-icon row — a clock (onboarding time), two mismatched laptops with a red X (drift), a shield over a namespace box (governance).</a:t>
            </a:r>
          </a:p>
        </p:txBody>
      </p:sp>
      <p:cxnSp>
        <p:nvCxnSpPr>
          <p:cNvPr id="26" name="Connector 25"/>
          <p:cNvCxnSpPr/>
          <p:nvPr/>
        </p:nvCxnSpPr>
        <p:spPr>
          <a:xfrm>
            <a:off x="841248" y="6437376"/>
            <a:ext cx="10509199" cy="0"/>
          </a:xfrm>
          <a:prstGeom prst="bentConnector3">
            <a:avLst/>
          </a:prstGeom>
          <a:ln w="12700">
            <a:solidFill>
              <a:srgbClr val="DDE1E6"/>
            </a:solidFill>
          </a:ln>
          <a:effectLst/>
        </p:spPr>
        <p:style>
          <a:lnRef idx="2">
            <a:schemeClr val="accent1"/>
          </a:lnRef>
          <a:fillRef idx="0">
            <a:schemeClr val="accent1"/>
          </a:fillRef>
          <a:effectRef idx="1">
            <a:schemeClr val="accent1"/>
          </a:effectRef>
          <a:fontRef idx="minor">
            <a:schemeClr val="tx1"/>
          </a:fontRef>
        </p:style>
      </p:cxnSp>
      <p:sp>
        <p:nvSpPr>
          <p:cNvPr id="27" name="TextBox 26"/>
          <p:cNvSpPr txBox="1"/>
          <p:nvPr/>
        </p:nvSpPr>
        <p:spPr>
          <a:xfrm>
            <a:off x="841248" y="6473952"/>
            <a:ext cx="7315200" cy="274320"/>
          </a:xfrm>
          <a:prstGeom prst="rect">
            <a:avLst/>
          </a:prstGeom>
          <a:noFill/>
        </p:spPr>
        <p:txBody>
          <a:bodyPr wrap="square" anchor="t" lIns="0" rIns="0" tIns="0" bIns="0">
            <a:spAutoFit/>
          </a:bodyPr>
          <a:lstStyle/>
          <a:p>
            <a:pPr algn="l">
              <a:lnSpc>
                <a:spcPct val="106000"/>
              </a:lnSpc>
              <a:spcBef>
                <a:spcPts val="0"/>
              </a:spcBef>
              <a:spcAft>
                <a:spcPts val="0"/>
              </a:spcAft>
            </a:pPr>
            <a:r>
              <a:rPr sz="950" b="0">
                <a:solidFill>
                  <a:srgbClr val="8A9099"/>
                </a:solidFill>
                <a:latin typeface="Red Hat Text"/>
              </a:rPr>
              <a:t>CONFIDENTIAL</a:t>
            </a:r>
          </a:p>
        </p:txBody>
      </p:sp>
      <p:sp>
        <p:nvSpPr>
          <p:cNvPr id="28" name="TextBox 27"/>
          <p:cNvSpPr txBox="1"/>
          <p:nvPr/>
        </p:nvSpPr>
        <p:spPr>
          <a:xfrm>
            <a:off x="10801807" y="6473952"/>
            <a:ext cx="548640" cy="274320"/>
          </a:xfrm>
          <a:prstGeom prst="rect">
            <a:avLst/>
          </a:prstGeom>
          <a:noFill/>
        </p:spPr>
        <p:txBody>
          <a:bodyPr wrap="square" anchor="t" lIns="0" rIns="0" tIns="0" bIns="0">
            <a:spAutoFit/>
          </a:bodyPr>
          <a:lstStyle/>
          <a:p>
            <a:pPr algn="r">
              <a:lnSpc>
                <a:spcPct val="106000"/>
              </a:lnSpc>
              <a:spcBef>
                <a:spcPts val="0"/>
              </a:spcBef>
              <a:spcAft>
                <a:spcPts val="0"/>
              </a:spcAft>
            </a:pPr>
            <a:r>
              <a:rPr sz="950" b="0">
                <a:solidFill>
                  <a:srgbClr val="8A9099"/>
                </a:solidFill>
                <a:latin typeface="Red Hat Text"/>
              </a:rPr>
              <a:t>16</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redhat_logo.jpg"/>
          <p:cNvPicPr>
            <a:picLocks noChangeAspect="1"/>
          </p:cNvPicPr>
          <p:nvPr/>
        </p:nvPicPr>
        <p:blipFill>
          <a:blip r:embed="rId2"/>
          <a:stretch>
            <a:fillRect/>
          </a:stretch>
        </p:blipFill>
        <p:spPr>
          <a:xfrm>
            <a:off x="10326319" y="475488"/>
            <a:ext cx="1024128" cy="242248"/>
          </a:xfrm>
          <a:prstGeom prst="rect">
            <a:avLst/>
          </a:prstGeom>
        </p:spPr>
      </p:pic>
      <p:sp>
        <p:nvSpPr>
          <p:cNvPr id="3" name="TextBox 2"/>
          <p:cNvSpPr txBox="1"/>
          <p:nvPr/>
        </p:nvSpPr>
        <p:spPr>
          <a:xfrm>
            <a:off x="841248" y="548640"/>
            <a:ext cx="8595360" cy="274320"/>
          </a:xfrm>
          <a:prstGeom prst="rect">
            <a:avLst/>
          </a:prstGeom>
          <a:noFill/>
        </p:spPr>
        <p:txBody>
          <a:bodyPr wrap="square" anchor="t" lIns="0" rIns="0" tIns="0" bIns="0">
            <a:spAutoFit/>
          </a:bodyPr>
          <a:lstStyle/>
          <a:p>
            <a:pPr algn="l">
              <a:lnSpc>
                <a:spcPct val="106000"/>
              </a:lnSpc>
              <a:spcBef>
                <a:spcPts val="0"/>
              </a:spcBef>
              <a:spcAft>
                <a:spcPts val="0"/>
              </a:spcAft>
            </a:pPr>
            <a:r>
              <a:rPr sz="1250" b="1" spc="220">
                <a:solidFill>
                  <a:srgbClr val="EE0000"/>
                </a:solidFill>
                <a:latin typeface="Red Hat Display"/>
              </a:rPr>
              <a:t>M03 · DEV SPACES &amp; THE INNER LOOP</a:t>
            </a:r>
          </a:p>
        </p:txBody>
      </p:sp>
      <p:sp>
        <p:nvSpPr>
          <p:cNvPr id="4" name="TextBox 3"/>
          <p:cNvSpPr txBox="1"/>
          <p:nvPr/>
        </p:nvSpPr>
        <p:spPr>
          <a:xfrm>
            <a:off x="841248" y="877824"/>
            <a:ext cx="10515600" cy="548640"/>
          </a:xfrm>
          <a:prstGeom prst="rect">
            <a:avLst/>
          </a:prstGeom>
          <a:noFill/>
        </p:spPr>
        <p:txBody>
          <a:bodyPr wrap="none" anchor="t" lIns="0" rIns="0" tIns="0" bIns="0">
            <a:spAutoFit/>
          </a:bodyPr>
          <a:lstStyle/>
          <a:p>
            <a:pPr algn="l">
              <a:lnSpc>
                <a:spcPct val="100000"/>
              </a:lnSpc>
              <a:spcBef>
                <a:spcPts val="0"/>
              </a:spcBef>
              <a:spcAft>
                <a:spcPts val="0"/>
              </a:spcAft>
            </a:pPr>
            <a:r>
              <a:rPr sz="2500" b="1">
                <a:solidFill>
                  <a:srgbClr val="1A1A1A"/>
                </a:solidFill>
                <a:latin typeface="Red Hat Display"/>
              </a:rPr>
              <a:t>The devfile — your workspace as code</a:t>
            </a:r>
          </a:p>
        </p:txBody>
      </p:sp>
      <p:cxnSp>
        <p:nvCxnSpPr>
          <p:cNvPr id="5" name="Connector 4"/>
          <p:cNvCxnSpPr/>
          <p:nvPr/>
        </p:nvCxnSpPr>
        <p:spPr>
          <a:xfrm>
            <a:off x="841248" y="1554480"/>
            <a:ext cx="1371600" cy="0"/>
          </a:xfrm>
          <a:prstGeom prst="bentConnector3">
            <a:avLst/>
          </a:prstGeom>
          <a:ln w="31750">
            <a:solidFill>
              <a:srgbClr val="EE0000"/>
            </a:solidFill>
          </a:ln>
          <a:effectLst/>
        </p:spPr>
        <p:style>
          <a:lnRef idx="2">
            <a:schemeClr val="accent1"/>
          </a:lnRef>
          <a:fillRef idx="0">
            <a:schemeClr val="accent1"/>
          </a:fillRef>
          <a:effectRef idx="1">
            <a:schemeClr val="accent1"/>
          </a:effectRef>
          <a:fontRef idx="minor">
            <a:schemeClr val="tx1"/>
          </a:fontRef>
        </p:style>
      </p:cxnSp>
      <p:sp>
        <p:nvSpPr>
          <p:cNvPr id="6" name="Rounded Rectangle 5"/>
          <p:cNvSpPr/>
          <p:nvPr/>
        </p:nvSpPr>
        <p:spPr>
          <a:xfrm>
            <a:off x="841248" y="2395728"/>
            <a:ext cx="5715000" cy="530352"/>
          </a:xfrm>
          <a:prstGeom prst="roundRect">
            <a:avLst>
              <a:gd name="adj" fmla="val 6000"/>
            </a:avLst>
          </a:prstGeom>
          <a:solidFill>
            <a:srgbClr val="F5F6F8"/>
          </a:solidFill>
          <a:ln w="12700">
            <a:solidFill>
              <a:srgbClr val="DDE1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check_steel.png"/>
          <p:cNvPicPr>
            <a:picLocks noChangeAspect="1"/>
          </p:cNvPicPr>
          <p:nvPr/>
        </p:nvPicPr>
        <p:blipFill>
          <a:blip r:embed="rId3"/>
          <a:stretch>
            <a:fillRect/>
          </a:stretch>
        </p:blipFill>
        <p:spPr>
          <a:xfrm>
            <a:off x="987552" y="2542032"/>
            <a:ext cx="237744" cy="237744"/>
          </a:xfrm>
          <a:prstGeom prst="rect">
            <a:avLst/>
          </a:prstGeom>
        </p:spPr>
      </p:pic>
      <p:sp>
        <p:nvSpPr>
          <p:cNvPr id="8" name="TextBox 7"/>
          <p:cNvSpPr txBox="1"/>
          <p:nvPr/>
        </p:nvSpPr>
        <p:spPr>
          <a:xfrm>
            <a:off x="1353312" y="2395728"/>
            <a:ext cx="5029200" cy="530352"/>
          </a:xfrm>
          <a:prstGeom prst="rect">
            <a:avLst/>
          </a:prstGeom>
          <a:noFill/>
        </p:spPr>
        <p:txBody>
          <a:bodyPr wrap="square" anchor="ctr" lIns="0" rIns="0" tIns="0" bIns="0">
            <a:spAutoFit/>
          </a:bodyPr>
          <a:lstStyle/>
          <a:p>
            <a:pPr algn="l">
              <a:lnSpc>
                <a:spcPct val="106000"/>
              </a:lnSpc>
              <a:spcBef>
                <a:spcPts val="0"/>
              </a:spcBef>
              <a:spcAft>
                <a:spcPts val="0"/>
              </a:spcAft>
            </a:pPr>
            <a:r>
              <a:rPr sz="1200" b="0">
                <a:solidFill>
                  <a:srgbClr val="1A1A1A"/>
                </a:solidFill>
                <a:latin typeface="Red Hat Text"/>
              </a:rPr>
              <a:t>One file in the repo defines the workspace</a:t>
            </a:r>
          </a:p>
        </p:txBody>
      </p:sp>
      <p:sp>
        <p:nvSpPr>
          <p:cNvPr id="9" name="Rounded Rectangle 8"/>
          <p:cNvSpPr/>
          <p:nvPr/>
        </p:nvSpPr>
        <p:spPr>
          <a:xfrm>
            <a:off x="841248" y="2999232"/>
            <a:ext cx="5715000" cy="530352"/>
          </a:xfrm>
          <a:prstGeom prst="roundRect">
            <a:avLst>
              <a:gd name="adj" fmla="val 6000"/>
            </a:avLst>
          </a:prstGeom>
          <a:solidFill>
            <a:srgbClr val="F5F6F8"/>
          </a:solidFill>
          <a:ln w="12700">
            <a:solidFill>
              <a:srgbClr val="DDE1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0" name="Picture 9" descr="check_steel.png"/>
          <p:cNvPicPr>
            <a:picLocks noChangeAspect="1"/>
          </p:cNvPicPr>
          <p:nvPr/>
        </p:nvPicPr>
        <p:blipFill>
          <a:blip r:embed="rId3"/>
          <a:stretch>
            <a:fillRect/>
          </a:stretch>
        </p:blipFill>
        <p:spPr>
          <a:xfrm>
            <a:off x="987552" y="3145536"/>
            <a:ext cx="237744" cy="237744"/>
          </a:xfrm>
          <a:prstGeom prst="rect">
            <a:avLst/>
          </a:prstGeom>
        </p:spPr>
      </p:pic>
      <p:sp>
        <p:nvSpPr>
          <p:cNvPr id="11" name="TextBox 10"/>
          <p:cNvSpPr txBox="1"/>
          <p:nvPr/>
        </p:nvSpPr>
        <p:spPr>
          <a:xfrm>
            <a:off x="1353312" y="2999232"/>
            <a:ext cx="5029200" cy="530352"/>
          </a:xfrm>
          <a:prstGeom prst="rect">
            <a:avLst/>
          </a:prstGeom>
          <a:noFill/>
        </p:spPr>
        <p:txBody>
          <a:bodyPr wrap="square" anchor="ctr" lIns="0" rIns="0" tIns="0" bIns="0">
            <a:spAutoFit/>
          </a:bodyPr>
          <a:lstStyle/>
          <a:p>
            <a:pPr algn="l">
              <a:lnSpc>
                <a:spcPct val="106000"/>
              </a:lnSpc>
              <a:spcBef>
                <a:spcPts val="0"/>
              </a:spcBef>
              <a:spcAft>
                <a:spcPts val="0"/>
              </a:spcAft>
            </a:pPr>
            <a:r>
              <a:rPr sz="1200" b="0">
                <a:solidFill>
                  <a:srgbClr val="1A1A1A"/>
                </a:solidFill>
                <a:latin typeface="Red Hat Text"/>
              </a:rPr>
              <a:t>Components: the containers (JDK 21 + Maven)</a:t>
            </a:r>
          </a:p>
        </p:txBody>
      </p:sp>
      <p:sp>
        <p:nvSpPr>
          <p:cNvPr id="12" name="Rounded Rectangle 11"/>
          <p:cNvSpPr/>
          <p:nvPr/>
        </p:nvSpPr>
        <p:spPr>
          <a:xfrm>
            <a:off x="841248" y="3602736"/>
            <a:ext cx="5715000" cy="530352"/>
          </a:xfrm>
          <a:prstGeom prst="roundRect">
            <a:avLst>
              <a:gd name="adj" fmla="val 6000"/>
            </a:avLst>
          </a:prstGeom>
          <a:solidFill>
            <a:srgbClr val="F5F6F8"/>
          </a:solidFill>
          <a:ln w="12700">
            <a:solidFill>
              <a:srgbClr val="DDE1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3" name="Picture 12" descr="check_steel.png"/>
          <p:cNvPicPr>
            <a:picLocks noChangeAspect="1"/>
          </p:cNvPicPr>
          <p:nvPr/>
        </p:nvPicPr>
        <p:blipFill>
          <a:blip r:embed="rId3"/>
          <a:stretch>
            <a:fillRect/>
          </a:stretch>
        </p:blipFill>
        <p:spPr>
          <a:xfrm>
            <a:off x="987552" y="3749040"/>
            <a:ext cx="237744" cy="237744"/>
          </a:xfrm>
          <a:prstGeom prst="rect">
            <a:avLst/>
          </a:prstGeom>
        </p:spPr>
      </p:pic>
      <p:sp>
        <p:nvSpPr>
          <p:cNvPr id="14" name="TextBox 13"/>
          <p:cNvSpPr txBox="1"/>
          <p:nvPr/>
        </p:nvSpPr>
        <p:spPr>
          <a:xfrm>
            <a:off x="1353312" y="3602736"/>
            <a:ext cx="5029200" cy="530352"/>
          </a:xfrm>
          <a:prstGeom prst="rect">
            <a:avLst/>
          </a:prstGeom>
          <a:noFill/>
        </p:spPr>
        <p:txBody>
          <a:bodyPr wrap="square" anchor="ctr" lIns="0" rIns="0" tIns="0" bIns="0">
            <a:spAutoFit/>
          </a:bodyPr>
          <a:lstStyle/>
          <a:p>
            <a:pPr algn="l">
              <a:lnSpc>
                <a:spcPct val="106000"/>
              </a:lnSpc>
              <a:spcBef>
                <a:spcPts val="0"/>
              </a:spcBef>
              <a:spcAft>
                <a:spcPts val="0"/>
              </a:spcAft>
            </a:pPr>
            <a:r>
              <a:rPr sz="1200" b="0">
                <a:solidFill>
                  <a:srgbClr val="1A1A1A"/>
                </a:solidFill>
                <a:latin typeface="Red Hat Text"/>
              </a:rPr>
              <a:t>Commands: named tasks, discoverable</a:t>
            </a:r>
          </a:p>
        </p:txBody>
      </p:sp>
      <p:sp>
        <p:nvSpPr>
          <p:cNvPr id="15" name="Rounded Rectangle 14"/>
          <p:cNvSpPr/>
          <p:nvPr/>
        </p:nvSpPr>
        <p:spPr>
          <a:xfrm>
            <a:off x="841248" y="4206240"/>
            <a:ext cx="5715000" cy="530352"/>
          </a:xfrm>
          <a:prstGeom prst="roundRect">
            <a:avLst>
              <a:gd name="adj" fmla="val 6000"/>
            </a:avLst>
          </a:prstGeom>
          <a:solidFill>
            <a:srgbClr val="F5F6F8"/>
          </a:solidFill>
          <a:ln w="12700">
            <a:solidFill>
              <a:srgbClr val="DDE1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6" name="Picture 15" descr="check_steel.png"/>
          <p:cNvPicPr>
            <a:picLocks noChangeAspect="1"/>
          </p:cNvPicPr>
          <p:nvPr/>
        </p:nvPicPr>
        <p:blipFill>
          <a:blip r:embed="rId3"/>
          <a:stretch>
            <a:fillRect/>
          </a:stretch>
        </p:blipFill>
        <p:spPr>
          <a:xfrm>
            <a:off x="987552" y="4352544"/>
            <a:ext cx="237744" cy="237744"/>
          </a:xfrm>
          <a:prstGeom prst="rect">
            <a:avLst/>
          </a:prstGeom>
        </p:spPr>
      </p:pic>
      <p:sp>
        <p:nvSpPr>
          <p:cNvPr id="17" name="TextBox 16"/>
          <p:cNvSpPr txBox="1"/>
          <p:nvPr/>
        </p:nvSpPr>
        <p:spPr>
          <a:xfrm>
            <a:off x="1353312" y="4206240"/>
            <a:ext cx="5029200" cy="530352"/>
          </a:xfrm>
          <a:prstGeom prst="rect">
            <a:avLst/>
          </a:prstGeom>
          <a:noFill/>
        </p:spPr>
        <p:txBody>
          <a:bodyPr wrap="square" anchor="ctr" lIns="0" rIns="0" tIns="0" bIns="0">
            <a:spAutoFit/>
          </a:bodyPr>
          <a:lstStyle/>
          <a:p>
            <a:pPr algn="l">
              <a:lnSpc>
                <a:spcPct val="106000"/>
              </a:lnSpc>
              <a:spcBef>
                <a:spcPts val="0"/>
              </a:spcBef>
              <a:spcAft>
                <a:spcPts val="0"/>
              </a:spcAft>
            </a:pPr>
            <a:r>
              <a:rPr sz="1200" b="0">
                <a:solidFill>
                  <a:srgbClr val="1A1A1A"/>
                </a:solidFill>
                <a:latin typeface="Red Hat Text"/>
              </a:rPr>
              <a:t>Endpoints: ports the gateway publishes</a:t>
            </a:r>
          </a:p>
        </p:txBody>
      </p:sp>
      <p:sp>
        <p:nvSpPr>
          <p:cNvPr id="18" name="Rounded Rectangle 17"/>
          <p:cNvSpPr/>
          <p:nvPr/>
        </p:nvSpPr>
        <p:spPr>
          <a:xfrm>
            <a:off x="841248" y="4809744"/>
            <a:ext cx="5715000" cy="530352"/>
          </a:xfrm>
          <a:prstGeom prst="roundRect">
            <a:avLst>
              <a:gd name="adj" fmla="val 6000"/>
            </a:avLst>
          </a:prstGeom>
          <a:solidFill>
            <a:srgbClr val="F5F6F8"/>
          </a:solidFill>
          <a:ln w="12700">
            <a:solidFill>
              <a:srgbClr val="DDE1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9" name="Picture 18" descr="check_steel.png"/>
          <p:cNvPicPr>
            <a:picLocks noChangeAspect="1"/>
          </p:cNvPicPr>
          <p:nvPr/>
        </p:nvPicPr>
        <p:blipFill>
          <a:blip r:embed="rId3"/>
          <a:stretch>
            <a:fillRect/>
          </a:stretch>
        </p:blipFill>
        <p:spPr>
          <a:xfrm>
            <a:off x="987552" y="4956048"/>
            <a:ext cx="237744" cy="237744"/>
          </a:xfrm>
          <a:prstGeom prst="rect">
            <a:avLst/>
          </a:prstGeom>
        </p:spPr>
      </p:pic>
      <p:sp>
        <p:nvSpPr>
          <p:cNvPr id="20" name="TextBox 19"/>
          <p:cNvSpPr txBox="1"/>
          <p:nvPr/>
        </p:nvSpPr>
        <p:spPr>
          <a:xfrm>
            <a:off x="1353312" y="4809744"/>
            <a:ext cx="5029200" cy="530352"/>
          </a:xfrm>
          <a:prstGeom prst="rect">
            <a:avLst/>
          </a:prstGeom>
          <a:noFill/>
        </p:spPr>
        <p:txBody>
          <a:bodyPr wrap="square" anchor="ctr" lIns="0" rIns="0" tIns="0" bIns="0">
            <a:spAutoFit/>
          </a:bodyPr>
          <a:lstStyle/>
          <a:p>
            <a:pPr algn="l">
              <a:lnSpc>
                <a:spcPct val="106000"/>
              </a:lnSpc>
              <a:spcBef>
                <a:spcPts val="0"/>
              </a:spcBef>
              <a:spcAft>
                <a:spcPts val="0"/>
              </a:spcAft>
            </a:pPr>
            <a:r>
              <a:rPr sz="1200" b="0">
                <a:solidFill>
                  <a:srgbClr val="1A1A1A"/>
                </a:solidFill>
                <a:latin typeface="Red Hat Text"/>
              </a:rPr>
              <a:t>Change the toolchain = a pull request</a:t>
            </a:r>
          </a:p>
        </p:txBody>
      </p:sp>
      <p:sp>
        <p:nvSpPr>
          <p:cNvPr id="21" name="Rounded Rectangle 20"/>
          <p:cNvSpPr/>
          <p:nvPr/>
        </p:nvSpPr>
        <p:spPr>
          <a:xfrm>
            <a:off x="6812280" y="2395728"/>
            <a:ext cx="4538167" cy="2944368"/>
          </a:xfrm>
          <a:prstGeom prst="roundRect">
            <a:avLst>
              <a:gd name="adj" fmla="val 4000"/>
            </a:avLst>
          </a:prstGeom>
          <a:solidFill>
            <a:srgbClr val="FFFFFF"/>
          </a:solidFill>
          <a:ln w="15240">
            <a:solidFill>
              <a:srgbClr val="DDE1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ounded Rectangle 21"/>
          <p:cNvSpPr/>
          <p:nvPr/>
        </p:nvSpPr>
        <p:spPr>
          <a:xfrm>
            <a:off x="7013448" y="2596896"/>
            <a:ext cx="1298448" cy="310896"/>
          </a:xfrm>
          <a:prstGeom prst="roundRect">
            <a:avLst>
              <a:gd name="adj" fmla="val 50000"/>
            </a:avLst>
          </a:prstGeom>
          <a:solidFill>
            <a:srgbClr val="FCEC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7013448" y="2596896"/>
            <a:ext cx="1298448" cy="310896"/>
          </a:xfrm>
          <a:prstGeom prst="rect">
            <a:avLst/>
          </a:prstGeom>
          <a:noFill/>
        </p:spPr>
        <p:txBody>
          <a:bodyPr wrap="none" anchor="ctr" lIns="0" rIns="0" tIns="0" bIns="0">
            <a:spAutoFit/>
          </a:bodyPr>
          <a:lstStyle/>
          <a:p>
            <a:pPr algn="ctr">
              <a:lnSpc>
                <a:spcPct val="106000"/>
              </a:lnSpc>
              <a:spcBef>
                <a:spcPts val="0"/>
              </a:spcBef>
              <a:spcAft>
                <a:spcPts val="0"/>
              </a:spcAft>
            </a:pPr>
            <a:r>
              <a:rPr sz="850" b="1">
                <a:solidFill>
                  <a:srgbClr val="B80000"/>
                </a:solidFill>
                <a:latin typeface="Red Hat Display"/>
              </a:rPr>
              <a:t>MEDIA PASS</a:t>
            </a:r>
          </a:p>
        </p:txBody>
      </p:sp>
      <p:pic>
        <p:nvPicPr>
          <p:cNvPr id="24" name="Picture 23" descr="eye_slate.png"/>
          <p:cNvPicPr>
            <a:picLocks noChangeAspect="1"/>
          </p:cNvPicPr>
          <p:nvPr/>
        </p:nvPicPr>
        <p:blipFill>
          <a:blip r:embed="rId4"/>
          <a:stretch>
            <a:fillRect/>
          </a:stretch>
        </p:blipFill>
        <p:spPr>
          <a:xfrm>
            <a:off x="8843619" y="3108960"/>
            <a:ext cx="475488" cy="475488"/>
          </a:xfrm>
          <a:prstGeom prst="rect">
            <a:avLst/>
          </a:prstGeom>
        </p:spPr>
      </p:pic>
      <p:sp>
        <p:nvSpPr>
          <p:cNvPr id="25" name="TextBox 24"/>
          <p:cNvSpPr txBox="1"/>
          <p:nvPr/>
        </p:nvSpPr>
        <p:spPr>
          <a:xfrm>
            <a:off x="7050024" y="3721608"/>
            <a:ext cx="4062679" cy="1481328"/>
          </a:xfrm>
          <a:prstGeom prst="rect">
            <a:avLst/>
          </a:prstGeom>
          <a:noFill/>
        </p:spPr>
        <p:txBody>
          <a:bodyPr wrap="square" anchor="t" lIns="0" rIns="0" tIns="0" bIns="0">
            <a:spAutoFit/>
          </a:bodyPr>
          <a:lstStyle/>
          <a:p>
            <a:pPr algn="l">
              <a:lnSpc>
                <a:spcPct val="120000"/>
              </a:lnSpc>
              <a:spcBef>
                <a:spcPts val="0"/>
              </a:spcBef>
              <a:spcAft>
                <a:spcPts val="0"/>
              </a:spcAft>
            </a:pPr>
            <a:r>
              <a:rPr sz="950" b="0">
                <a:solidFill>
                  <a:srgbClr val="8A9099"/>
                </a:solidFill>
                <a:latin typeface="Red Hat Text"/>
              </a:rPr>
              <a:t>A devfile.yaml snippet with components/commands/endpoints annotated, arrow to a running workspace Pod (tools + cache containers) behind the che-gateway.</a:t>
            </a:r>
          </a:p>
        </p:txBody>
      </p:sp>
      <p:cxnSp>
        <p:nvCxnSpPr>
          <p:cNvPr id="26" name="Connector 25"/>
          <p:cNvCxnSpPr/>
          <p:nvPr/>
        </p:nvCxnSpPr>
        <p:spPr>
          <a:xfrm>
            <a:off x="841248" y="6437376"/>
            <a:ext cx="10509199" cy="0"/>
          </a:xfrm>
          <a:prstGeom prst="bentConnector3">
            <a:avLst/>
          </a:prstGeom>
          <a:ln w="12700">
            <a:solidFill>
              <a:srgbClr val="DDE1E6"/>
            </a:solidFill>
          </a:ln>
          <a:effectLst/>
        </p:spPr>
        <p:style>
          <a:lnRef idx="2">
            <a:schemeClr val="accent1"/>
          </a:lnRef>
          <a:fillRef idx="0">
            <a:schemeClr val="accent1"/>
          </a:fillRef>
          <a:effectRef idx="1">
            <a:schemeClr val="accent1"/>
          </a:effectRef>
          <a:fontRef idx="minor">
            <a:schemeClr val="tx1"/>
          </a:fontRef>
        </p:style>
      </p:cxnSp>
      <p:sp>
        <p:nvSpPr>
          <p:cNvPr id="27" name="TextBox 26"/>
          <p:cNvSpPr txBox="1"/>
          <p:nvPr/>
        </p:nvSpPr>
        <p:spPr>
          <a:xfrm>
            <a:off x="841248" y="6473952"/>
            <a:ext cx="7315200" cy="274320"/>
          </a:xfrm>
          <a:prstGeom prst="rect">
            <a:avLst/>
          </a:prstGeom>
          <a:noFill/>
        </p:spPr>
        <p:txBody>
          <a:bodyPr wrap="square" anchor="t" lIns="0" rIns="0" tIns="0" bIns="0">
            <a:spAutoFit/>
          </a:bodyPr>
          <a:lstStyle/>
          <a:p>
            <a:pPr algn="l">
              <a:lnSpc>
                <a:spcPct val="106000"/>
              </a:lnSpc>
              <a:spcBef>
                <a:spcPts val="0"/>
              </a:spcBef>
              <a:spcAft>
                <a:spcPts val="0"/>
              </a:spcAft>
            </a:pPr>
            <a:r>
              <a:rPr sz="950" b="0">
                <a:solidFill>
                  <a:srgbClr val="8A9099"/>
                </a:solidFill>
                <a:latin typeface="Red Hat Text"/>
              </a:rPr>
              <a:t>CONFIDENTIAL</a:t>
            </a:r>
          </a:p>
        </p:txBody>
      </p:sp>
      <p:sp>
        <p:nvSpPr>
          <p:cNvPr id="28" name="TextBox 27"/>
          <p:cNvSpPr txBox="1"/>
          <p:nvPr/>
        </p:nvSpPr>
        <p:spPr>
          <a:xfrm>
            <a:off x="10801807" y="6473952"/>
            <a:ext cx="548640" cy="274320"/>
          </a:xfrm>
          <a:prstGeom prst="rect">
            <a:avLst/>
          </a:prstGeom>
          <a:noFill/>
        </p:spPr>
        <p:txBody>
          <a:bodyPr wrap="square" anchor="t" lIns="0" rIns="0" tIns="0" bIns="0">
            <a:spAutoFit/>
          </a:bodyPr>
          <a:lstStyle/>
          <a:p>
            <a:pPr algn="r">
              <a:lnSpc>
                <a:spcPct val="106000"/>
              </a:lnSpc>
              <a:spcBef>
                <a:spcPts val="0"/>
              </a:spcBef>
              <a:spcAft>
                <a:spcPts val="0"/>
              </a:spcAft>
            </a:pPr>
            <a:r>
              <a:rPr sz="950" b="0">
                <a:solidFill>
                  <a:srgbClr val="8A9099"/>
                </a:solidFill>
                <a:latin typeface="Red Hat Text"/>
              </a:rPr>
              <a:t>17</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redhat_logo.jpg"/>
          <p:cNvPicPr>
            <a:picLocks noChangeAspect="1"/>
          </p:cNvPicPr>
          <p:nvPr/>
        </p:nvPicPr>
        <p:blipFill>
          <a:blip r:embed="rId2"/>
          <a:stretch>
            <a:fillRect/>
          </a:stretch>
        </p:blipFill>
        <p:spPr>
          <a:xfrm>
            <a:off x="10326319" y="475488"/>
            <a:ext cx="1024128" cy="242248"/>
          </a:xfrm>
          <a:prstGeom prst="rect">
            <a:avLst/>
          </a:prstGeom>
        </p:spPr>
      </p:pic>
      <p:sp>
        <p:nvSpPr>
          <p:cNvPr id="3" name="TextBox 2"/>
          <p:cNvSpPr txBox="1"/>
          <p:nvPr/>
        </p:nvSpPr>
        <p:spPr>
          <a:xfrm>
            <a:off x="841248" y="548640"/>
            <a:ext cx="8595360" cy="274320"/>
          </a:xfrm>
          <a:prstGeom prst="rect">
            <a:avLst/>
          </a:prstGeom>
          <a:noFill/>
        </p:spPr>
        <p:txBody>
          <a:bodyPr wrap="square" anchor="t" lIns="0" rIns="0" tIns="0" bIns="0">
            <a:spAutoFit/>
          </a:bodyPr>
          <a:lstStyle/>
          <a:p>
            <a:pPr algn="l">
              <a:lnSpc>
                <a:spcPct val="106000"/>
              </a:lnSpc>
              <a:spcBef>
                <a:spcPts val="0"/>
              </a:spcBef>
              <a:spcAft>
                <a:spcPts val="0"/>
              </a:spcAft>
            </a:pPr>
            <a:r>
              <a:rPr sz="1250" b="1" spc="220">
                <a:solidFill>
                  <a:srgbClr val="EE0000"/>
                </a:solidFill>
                <a:latin typeface="Red Hat Display"/>
              </a:rPr>
              <a:t>M03 · DEV SPACES &amp; THE INNER LOOP</a:t>
            </a:r>
          </a:p>
        </p:txBody>
      </p:sp>
      <p:sp>
        <p:nvSpPr>
          <p:cNvPr id="4" name="TextBox 3"/>
          <p:cNvSpPr txBox="1"/>
          <p:nvPr/>
        </p:nvSpPr>
        <p:spPr>
          <a:xfrm>
            <a:off x="841248" y="877824"/>
            <a:ext cx="10515600" cy="548640"/>
          </a:xfrm>
          <a:prstGeom prst="rect">
            <a:avLst/>
          </a:prstGeom>
          <a:noFill/>
        </p:spPr>
        <p:txBody>
          <a:bodyPr wrap="none" anchor="t" lIns="0" rIns="0" tIns="0" bIns="0">
            <a:spAutoFit/>
          </a:bodyPr>
          <a:lstStyle/>
          <a:p>
            <a:pPr algn="l">
              <a:lnSpc>
                <a:spcPct val="100000"/>
              </a:lnSpc>
              <a:spcBef>
                <a:spcPts val="0"/>
              </a:spcBef>
              <a:spcAft>
                <a:spcPts val="0"/>
              </a:spcAft>
            </a:pPr>
            <a:r>
              <a:rPr sz="2500" b="1">
                <a:solidFill>
                  <a:srgbClr val="1A1A1A"/>
                </a:solidFill>
                <a:latin typeface="Red Hat Display"/>
              </a:rPr>
              <a:t>The workspace talks to real services</a:t>
            </a:r>
          </a:p>
        </p:txBody>
      </p:sp>
      <p:cxnSp>
        <p:nvCxnSpPr>
          <p:cNvPr id="5" name="Connector 4"/>
          <p:cNvCxnSpPr/>
          <p:nvPr/>
        </p:nvCxnSpPr>
        <p:spPr>
          <a:xfrm>
            <a:off x="841248" y="1554480"/>
            <a:ext cx="1371600" cy="0"/>
          </a:xfrm>
          <a:prstGeom prst="bentConnector3">
            <a:avLst/>
          </a:prstGeom>
          <a:ln w="31750">
            <a:solidFill>
              <a:srgbClr val="EE0000"/>
            </a:solidFill>
          </a:ln>
          <a:effectLst/>
        </p:spPr>
        <p:style>
          <a:lnRef idx="2">
            <a:schemeClr val="accent1"/>
          </a:lnRef>
          <a:fillRef idx="0">
            <a:schemeClr val="accent1"/>
          </a:fillRef>
          <a:effectRef idx="1">
            <a:schemeClr val="accent1"/>
          </a:effectRef>
          <a:fontRef idx="minor">
            <a:schemeClr val="tx1"/>
          </a:fontRef>
        </p:style>
      </p:cxnSp>
      <p:sp>
        <p:nvSpPr>
          <p:cNvPr id="6" name="Rounded Rectangle 5"/>
          <p:cNvSpPr/>
          <p:nvPr/>
        </p:nvSpPr>
        <p:spPr>
          <a:xfrm>
            <a:off x="841248" y="2395728"/>
            <a:ext cx="5715000" cy="530352"/>
          </a:xfrm>
          <a:prstGeom prst="roundRect">
            <a:avLst>
              <a:gd name="adj" fmla="val 6000"/>
            </a:avLst>
          </a:prstGeom>
          <a:solidFill>
            <a:srgbClr val="F5F6F8"/>
          </a:solidFill>
          <a:ln w="12700">
            <a:solidFill>
              <a:srgbClr val="DDE1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check_steel.png"/>
          <p:cNvPicPr>
            <a:picLocks noChangeAspect="1"/>
          </p:cNvPicPr>
          <p:nvPr/>
        </p:nvPicPr>
        <p:blipFill>
          <a:blip r:embed="rId3"/>
          <a:stretch>
            <a:fillRect/>
          </a:stretch>
        </p:blipFill>
        <p:spPr>
          <a:xfrm>
            <a:off x="987552" y="2542032"/>
            <a:ext cx="237744" cy="237744"/>
          </a:xfrm>
          <a:prstGeom prst="rect">
            <a:avLst/>
          </a:prstGeom>
        </p:spPr>
      </p:pic>
      <p:sp>
        <p:nvSpPr>
          <p:cNvPr id="8" name="TextBox 7"/>
          <p:cNvSpPr txBox="1"/>
          <p:nvPr/>
        </p:nvSpPr>
        <p:spPr>
          <a:xfrm>
            <a:off x="1353312" y="2395728"/>
            <a:ext cx="5029200" cy="530352"/>
          </a:xfrm>
          <a:prstGeom prst="rect">
            <a:avLst/>
          </a:prstGeom>
          <a:noFill/>
        </p:spPr>
        <p:txBody>
          <a:bodyPr wrap="square" anchor="ctr" lIns="0" rIns="0" tIns="0" bIns="0">
            <a:spAutoFit/>
          </a:bodyPr>
          <a:lstStyle/>
          <a:p>
            <a:pPr algn="l">
              <a:lnSpc>
                <a:spcPct val="106000"/>
              </a:lnSpc>
              <a:spcBef>
                <a:spcPts val="0"/>
              </a:spcBef>
              <a:spcAft>
                <a:spcPts val="0"/>
              </a:spcAft>
            </a:pPr>
            <a:r>
              <a:rPr sz="1200" b="0">
                <a:solidFill>
                  <a:srgbClr val="1A1A1A"/>
                </a:solidFill>
                <a:latin typeface="Red Hat Text"/>
              </a:rPr>
              <a:t>Workspace runs in your-name-devspaces</a:t>
            </a:r>
          </a:p>
        </p:txBody>
      </p:sp>
      <p:sp>
        <p:nvSpPr>
          <p:cNvPr id="9" name="Rounded Rectangle 8"/>
          <p:cNvSpPr/>
          <p:nvPr/>
        </p:nvSpPr>
        <p:spPr>
          <a:xfrm>
            <a:off x="841248" y="2999232"/>
            <a:ext cx="5715000" cy="530352"/>
          </a:xfrm>
          <a:prstGeom prst="roundRect">
            <a:avLst>
              <a:gd name="adj" fmla="val 6000"/>
            </a:avLst>
          </a:prstGeom>
          <a:solidFill>
            <a:srgbClr val="F5F6F8"/>
          </a:solidFill>
          <a:ln w="12700">
            <a:solidFill>
              <a:srgbClr val="DDE1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0" name="Picture 9" descr="check_steel.png"/>
          <p:cNvPicPr>
            <a:picLocks noChangeAspect="1"/>
          </p:cNvPicPr>
          <p:nvPr/>
        </p:nvPicPr>
        <p:blipFill>
          <a:blip r:embed="rId3"/>
          <a:stretch>
            <a:fillRect/>
          </a:stretch>
        </p:blipFill>
        <p:spPr>
          <a:xfrm>
            <a:off x="987552" y="3145536"/>
            <a:ext cx="237744" cy="237744"/>
          </a:xfrm>
          <a:prstGeom prst="rect">
            <a:avLst/>
          </a:prstGeom>
        </p:spPr>
      </p:pic>
      <p:sp>
        <p:nvSpPr>
          <p:cNvPr id="11" name="TextBox 10"/>
          <p:cNvSpPr txBox="1"/>
          <p:nvPr/>
        </p:nvSpPr>
        <p:spPr>
          <a:xfrm>
            <a:off x="1353312" y="2999232"/>
            <a:ext cx="5029200" cy="530352"/>
          </a:xfrm>
          <a:prstGeom prst="rect">
            <a:avLst/>
          </a:prstGeom>
          <a:noFill/>
        </p:spPr>
        <p:txBody>
          <a:bodyPr wrap="square" anchor="ctr" lIns="0" rIns="0" tIns="0" bIns="0">
            <a:spAutoFit/>
          </a:bodyPr>
          <a:lstStyle/>
          <a:p>
            <a:pPr algn="l">
              <a:lnSpc>
                <a:spcPct val="106000"/>
              </a:lnSpc>
              <a:spcBef>
                <a:spcPts val="0"/>
              </a:spcBef>
              <a:spcAft>
                <a:spcPts val="0"/>
              </a:spcAft>
            </a:pPr>
            <a:r>
              <a:rPr sz="1200" b="0">
                <a:solidFill>
                  <a:srgbClr val="1A1A1A"/>
                </a:solidFill>
                <a:latin typeface="Red Hat Text"/>
              </a:rPr>
              <a:t>Database runs in your-name-dev</a:t>
            </a:r>
          </a:p>
        </p:txBody>
      </p:sp>
      <p:sp>
        <p:nvSpPr>
          <p:cNvPr id="12" name="Rounded Rectangle 11"/>
          <p:cNvSpPr/>
          <p:nvPr/>
        </p:nvSpPr>
        <p:spPr>
          <a:xfrm>
            <a:off x="841248" y="3602736"/>
            <a:ext cx="5715000" cy="530352"/>
          </a:xfrm>
          <a:prstGeom prst="roundRect">
            <a:avLst>
              <a:gd name="adj" fmla="val 6000"/>
            </a:avLst>
          </a:prstGeom>
          <a:solidFill>
            <a:srgbClr val="F5F6F8"/>
          </a:solidFill>
          <a:ln w="12700">
            <a:solidFill>
              <a:srgbClr val="DDE1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3" name="Picture 12" descr="check_steel.png"/>
          <p:cNvPicPr>
            <a:picLocks noChangeAspect="1"/>
          </p:cNvPicPr>
          <p:nvPr/>
        </p:nvPicPr>
        <p:blipFill>
          <a:blip r:embed="rId3"/>
          <a:stretch>
            <a:fillRect/>
          </a:stretch>
        </p:blipFill>
        <p:spPr>
          <a:xfrm>
            <a:off x="987552" y="3749040"/>
            <a:ext cx="237744" cy="237744"/>
          </a:xfrm>
          <a:prstGeom prst="rect">
            <a:avLst/>
          </a:prstGeom>
        </p:spPr>
      </p:pic>
      <p:sp>
        <p:nvSpPr>
          <p:cNvPr id="14" name="TextBox 13"/>
          <p:cNvSpPr txBox="1"/>
          <p:nvPr/>
        </p:nvSpPr>
        <p:spPr>
          <a:xfrm>
            <a:off x="1353312" y="3602736"/>
            <a:ext cx="5029200" cy="530352"/>
          </a:xfrm>
          <a:prstGeom prst="rect">
            <a:avLst/>
          </a:prstGeom>
          <a:noFill/>
        </p:spPr>
        <p:txBody>
          <a:bodyPr wrap="square" anchor="ctr" lIns="0" rIns="0" tIns="0" bIns="0">
            <a:spAutoFit/>
          </a:bodyPr>
          <a:lstStyle/>
          <a:p>
            <a:pPr algn="l">
              <a:lnSpc>
                <a:spcPct val="106000"/>
              </a:lnSpc>
              <a:spcBef>
                <a:spcPts val="0"/>
              </a:spcBef>
              <a:spcAft>
                <a:spcPts val="0"/>
              </a:spcAft>
            </a:pPr>
            <a:r>
              <a:rPr sz="1200" b="0">
                <a:solidFill>
                  <a:srgbClr val="1A1A1A"/>
                </a:solidFill>
                <a:latin typeface="Red Hat Text"/>
              </a:rPr>
              <a:t>They meet by ordinary service DNS</a:t>
            </a:r>
          </a:p>
        </p:txBody>
      </p:sp>
      <p:sp>
        <p:nvSpPr>
          <p:cNvPr id="15" name="Rounded Rectangle 14"/>
          <p:cNvSpPr/>
          <p:nvPr/>
        </p:nvSpPr>
        <p:spPr>
          <a:xfrm>
            <a:off x="841248" y="4206240"/>
            <a:ext cx="5715000" cy="530352"/>
          </a:xfrm>
          <a:prstGeom prst="roundRect">
            <a:avLst>
              <a:gd name="adj" fmla="val 6000"/>
            </a:avLst>
          </a:prstGeom>
          <a:solidFill>
            <a:srgbClr val="F5F6F8"/>
          </a:solidFill>
          <a:ln w="12700">
            <a:solidFill>
              <a:srgbClr val="DDE1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6" name="Picture 15" descr="check_steel.png"/>
          <p:cNvPicPr>
            <a:picLocks noChangeAspect="1"/>
          </p:cNvPicPr>
          <p:nvPr/>
        </p:nvPicPr>
        <p:blipFill>
          <a:blip r:embed="rId3"/>
          <a:stretch>
            <a:fillRect/>
          </a:stretch>
        </p:blipFill>
        <p:spPr>
          <a:xfrm>
            <a:off x="987552" y="4352544"/>
            <a:ext cx="237744" cy="237744"/>
          </a:xfrm>
          <a:prstGeom prst="rect">
            <a:avLst/>
          </a:prstGeom>
        </p:spPr>
      </p:pic>
      <p:sp>
        <p:nvSpPr>
          <p:cNvPr id="17" name="TextBox 16"/>
          <p:cNvSpPr txBox="1"/>
          <p:nvPr/>
        </p:nvSpPr>
        <p:spPr>
          <a:xfrm>
            <a:off x="1353312" y="4206240"/>
            <a:ext cx="5029200" cy="530352"/>
          </a:xfrm>
          <a:prstGeom prst="rect">
            <a:avLst/>
          </a:prstGeom>
          <a:noFill/>
        </p:spPr>
        <p:txBody>
          <a:bodyPr wrap="square" anchor="ctr" lIns="0" rIns="0" tIns="0" bIns="0">
            <a:spAutoFit/>
          </a:bodyPr>
          <a:lstStyle/>
          <a:p>
            <a:pPr algn="l">
              <a:lnSpc>
                <a:spcPct val="106000"/>
              </a:lnSpc>
              <a:spcBef>
                <a:spcPts val="0"/>
              </a:spcBef>
              <a:spcAft>
                <a:spcPts val="0"/>
              </a:spcAft>
            </a:pPr>
            <a:r>
              <a:rPr sz="1200" b="0">
                <a:solidFill>
                  <a:srgbClr val="1A1A1A"/>
                </a:solidFill>
                <a:latin typeface="Red Hat Text"/>
              </a:rPr>
              <a:t>Dev mode hot-reloads against the real DB</a:t>
            </a:r>
          </a:p>
        </p:txBody>
      </p:sp>
      <p:sp>
        <p:nvSpPr>
          <p:cNvPr id="18" name="Rounded Rectangle 17"/>
          <p:cNvSpPr/>
          <p:nvPr/>
        </p:nvSpPr>
        <p:spPr>
          <a:xfrm>
            <a:off x="841248" y="4809744"/>
            <a:ext cx="5715000" cy="530352"/>
          </a:xfrm>
          <a:prstGeom prst="roundRect">
            <a:avLst>
              <a:gd name="adj" fmla="val 6000"/>
            </a:avLst>
          </a:prstGeom>
          <a:solidFill>
            <a:srgbClr val="F5F6F8"/>
          </a:solidFill>
          <a:ln w="12700">
            <a:solidFill>
              <a:srgbClr val="DDE1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9" name="Picture 18" descr="check_steel.png"/>
          <p:cNvPicPr>
            <a:picLocks noChangeAspect="1"/>
          </p:cNvPicPr>
          <p:nvPr/>
        </p:nvPicPr>
        <p:blipFill>
          <a:blip r:embed="rId3"/>
          <a:stretch>
            <a:fillRect/>
          </a:stretch>
        </p:blipFill>
        <p:spPr>
          <a:xfrm>
            <a:off x="987552" y="4956048"/>
            <a:ext cx="237744" cy="237744"/>
          </a:xfrm>
          <a:prstGeom prst="rect">
            <a:avLst/>
          </a:prstGeom>
        </p:spPr>
      </p:pic>
      <p:sp>
        <p:nvSpPr>
          <p:cNvPr id="20" name="TextBox 19"/>
          <p:cNvSpPr txBox="1"/>
          <p:nvPr/>
        </p:nvSpPr>
        <p:spPr>
          <a:xfrm>
            <a:off x="1353312" y="4809744"/>
            <a:ext cx="5029200" cy="530352"/>
          </a:xfrm>
          <a:prstGeom prst="rect">
            <a:avLst/>
          </a:prstGeom>
          <a:noFill/>
        </p:spPr>
        <p:txBody>
          <a:bodyPr wrap="square" anchor="ctr" lIns="0" rIns="0" tIns="0" bIns="0">
            <a:spAutoFit/>
          </a:bodyPr>
          <a:lstStyle/>
          <a:p>
            <a:pPr algn="l">
              <a:lnSpc>
                <a:spcPct val="106000"/>
              </a:lnSpc>
              <a:spcBef>
                <a:spcPts val="0"/>
              </a:spcBef>
              <a:spcAft>
                <a:spcPts val="0"/>
              </a:spcAft>
            </a:pPr>
            <a:r>
              <a:rPr sz="1200" b="0">
                <a:solidFill>
                  <a:srgbClr val="1A1A1A"/>
                </a:solidFill>
                <a:latin typeface="Red Hat Text"/>
              </a:rPr>
              <a:t>Debug port 5005 opens automatically</a:t>
            </a:r>
          </a:p>
        </p:txBody>
      </p:sp>
      <p:sp>
        <p:nvSpPr>
          <p:cNvPr id="21" name="Rounded Rectangle 20"/>
          <p:cNvSpPr/>
          <p:nvPr/>
        </p:nvSpPr>
        <p:spPr>
          <a:xfrm>
            <a:off x="6812280" y="2395728"/>
            <a:ext cx="4538167" cy="2944368"/>
          </a:xfrm>
          <a:prstGeom prst="roundRect">
            <a:avLst>
              <a:gd name="adj" fmla="val 4000"/>
            </a:avLst>
          </a:prstGeom>
          <a:solidFill>
            <a:srgbClr val="FFFFFF"/>
          </a:solidFill>
          <a:ln w="15240">
            <a:solidFill>
              <a:srgbClr val="DDE1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ounded Rectangle 21"/>
          <p:cNvSpPr/>
          <p:nvPr/>
        </p:nvSpPr>
        <p:spPr>
          <a:xfrm>
            <a:off x="7013448" y="2596896"/>
            <a:ext cx="1298448" cy="310896"/>
          </a:xfrm>
          <a:prstGeom prst="roundRect">
            <a:avLst>
              <a:gd name="adj" fmla="val 50000"/>
            </a:avLst>
          </a:prstGeom>
          <a:solidFill>
            <a:srgbClr val="FCEC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7013448" y="2596896"/>
            <a:ext cx="1298448" cy="310896"/>
          </a:xfrm>
          <a:prstGeom prst="rect">
            <a:avLst/>
          </a:prstGeom>
          <a:noFill/>
        </p:spPr>
        <p:txBody>
          <a:bodyPr wrap="none" anchor="ctr" lIns="0" rIns="0" tIns="0" bIns="0">
            <a:spAutoFit/>
          </a:bodyPr>
          <a:lstStyle/>
          <a:p>
            <a:pPr algn="ctr">
              <a:lnSpc>
                <a:spcPct val="106000"/>
              </a:lnSpc>
              <a:spcBef>
                <a:spcPts val="0"/>
              </a:spcBef>
              <a:spcAft>
                <a:spcPts val="0"/>
              </a:spcAft>
            </a:pPr>
            <a:r>
              <a:rPr sz="850" b="1">
                <a:solidFill>
                  <a:srgbClr val="B80000"/>
                </a:solidFill>
                <a:latin typeface="Red Hat Display"/>
              </a:rPr>
              <a:t>MEDIA PASS</a:t>
            </a:r>
          </a:p>
        </p:txBody>
      </p:sp>
      <p:pic>
        <p:nvPicPr>
          <p:cNvPr id="24" name="Picture 23" descr="eye_slate.png"/>
          <p:cNvPicPr>
            <a:picLocks noChangeAspect="1"/>
          </p:cNvPicPr>
          <p:nvPr/>
        </p:nvPicPr>
        <p:blipFill>
          <a:blip r:embed="rId4"/>
          <a:stretch>
            <a:fillRect/>
          </a:stretch>
        </p:blipFill>
        <p:spPr>
          <a:xfrm>
            <a:off x="8843619" y="3108960"/>
            <a:ext cx="475488" cy="475488"/>
          </a:xfrm>
          <a:prstGeom prst="rect">
            <a:avLst/>
          </a:prstGeom>
        </p:spPr>
      </p:pic>
      <p:sp>
        <p:nvSpPr>
          <p:cNvPr id="25" name="TextBox 24"/>
          <p:cNvSpPr txBox="1"/>
          <p:nvPr/>
        </p:nvSpPr>
        <p:spPr>
          <a:xfrm>
            <a:off x="7050024" y="3721608"/>
            <a:ext cx="4062679" cy="1481328"/>
          </a:xfrm>
          <a:prstGeom prst="rect">
            <a:avLst/>
          </a:prstGeom>
          <a:noFill/>
        </p:spPr>
        <p:txBody>
          <a:bodyPr wrap="square" anchor="t" lIns="0" rIns="0" tIns="0" bIns="0">
            <a:spAutoFit/>
          </a:bodyPr>
          <a:lstStyle/>
          <a:p>
            <a:pPr algn="l">
              <a:lnSpc>
                <a:spcPct val="120000"/>
              </a:lnSpc>
              <a:spcBef>
                <a:spcPts val="0"/>
              </a:spcBef>
              <a:spcAft>
                <a:spcPts val="0"/>
              </a:spcAft>
            </a:pPr>
            <a:r>
              <a:rPr sz="950" b="0">
                <a:solidFill>
                  <a:srgbClr val="8A9099"/>
                </a:solidFill>
                <a:latin typeface="Red Hat Text"/>
              </a:rPr>
              <a:t>Reuse concept diagram devspaces-inner-loop-...-02-workspace-gateway-services.svg — browser → che-gateway (HTTPS) → tools container (dev mode :8080, debug :5005) → cross-ns DNS → claims-db.</a:t>
            </a:r>
          </a:p>
        </p:txBody>
      </p:sp>
      <p:cxnSp>
        <p:nvCxnSpPr>
          <p:cNvPr id="26" name="Connector 25"/>
          <p:cNvCxnSpPr/>
          <p:nvPr/>
        </p:nvCxnSpPr>
        <p:spPr>
          <a:xfrm>
            <a:off x="841248" y="6437376"/>
            <a:ext cx="10509199" cy="0"/>
          </a:xfrm>
          <a:prstGeom prst="bentConnector3">
            <a:avLst/>
          </a:prstGeom>
          <a:ln w="12700">
            <a:solidFill>
              <a:srgbClr val="DDE1E6"/>
            </a:solidFill>
          </a:ln>
          <a:effectLst/>
        </p:spPr>
        <p:style>
          <a:lnRef idx="2">
            <a:schemeClr val="accent1"/>
          </a:lnRef>
          <a:fillRef idx="0">
            <a:schemeClr val="accent1"/>
          </a:fillRef>
          <a:effectRef idx="1">
            <a:schemeClr val="accent1"/>
          </a:effectRef>
          <a:fontRef idx="minor">
            <a:schemeClr val="tx1"/>
          </a:fontRef>
        </p:style>
      </p:cxnSp>
      <p:sp>
        <p:nvSpPr>
          <p:cNvPr id="27" name="TextBox 26"/>
          <p:cNvSpPr txBox="1"/>
          <p:nvPr/>
        </p:nvSpPr>
        <p:spPr>
          <a:xfrm>
            <a:off x="841248" y="6473952"/>
            <a:ext cx="7315200" cy="274320"/>
          </a:xfrm>
          <a:prstGeom prst="rect">
            <a:avLst/>
          </a:prstGeom>
          <a:noFill/>
        </p:spPr>
        <p:txBody>
          <a:bodyPr wrap="square" anchor="t" lIns="0" rIns="0" tIns="0" bIns="0">
            <a:spAutoFit/>
          </a:bodyPr>
          <a:lstStyle/>
          <a:p>
            <a:pPr algn="l">
              <a:lnSpc>
                <a:spcPct val="106000"/>
              </a:lnSpc>
              <a:spcBef>
                <a:spcPts val="0"/>
              </a:spcBef>
              <a:spcAft>
                <a:spcPts val="0"/>
              </a:spcAft>
            </a:pPr>
            <a:r>
              <a:rPr sz="950" b="0">
                <a:solidFill>
                  <a:srgbClr val="8A9099"/>
                </a:solidFill>
                <a:latin typeface="Red Hat Text"/>
              </a:rPr>
              <a:t>CONFIDENTIAL</a:t>
            </a:r>
          </a:p>
        </p:txBody>
      </p:sp>
      <p:sp>
        <p:nvSpPr>
          <p:cNvPr id="28" name="TextBox 27"/>
          <p:cNvSpPr txBox="1"/>
          <p:nvPr/>
        </p:nvSpPr>
        <p:spPr>
          <a:xfrm>
            <a:off x="10801807" y="6473952"/>
            <a:ext cx="548640" cy="274320"/>
          </a:xfrm>
          <a:prstGeom prst="rect">
            <a:avLst/>
          </a:prstGeom>
          <a:noFill/>
        </p:spPr>
        <p:txBody>
          <a:bodyPr wrap="square" anchor="t" lIns="0" rIns="0" tIns="0" bIns="0">
            <a:spAutoFit/>
          </a:bodyPr>
          <a:lstStyle/>
          <a:p>
            <a:pPr algn="r">
              <a:lnSpc>
                <a:spcPct val="106000"/>
              </a:lnSpc>
              <a:spcBef>
                <a:spcPts val="0"/>
              </a:spcBef>
              <a:spcAft>
                <a:spcPts val="0"/>
              </a:spcAft>
            </a:pPr>
            <a:r>
              <a:rPr sz="950" b="0">
                <a:solidFill>
                  <a:srgbClr val="8A9099"/>
                </a:solidFill>
                <a:latin typeface="Red Hat Text"/>
              </a:rPr>
              <a:t>18</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redhat_logo.jpg"/>
          <p:cNvPicPr>
            <a:picLocks noChangeAspect="1"/>
          </p:cNvPicPr>
          <p:nvPr/>
        </p:nvPicPr>
        <p:blipFill>
          <a:blip r:embed="rId2"/>
          <a:stretch>
            <a:fillRect/>
          </a:stretch>
        </p:blipFill>
        <p:spPr>
          <a:xfrm>
            <a:off x="10326319" y="475488"/>
            <a:ext cx="1024128" cy="242248"/>
          </a:xfrm>
          <a:prstGeom prst="rect">
            <a:avLst/>
          </a:prstGeom>
        </p:spPr>
      </p:pic>
      <p:sp>
        <p:nvSpPr>
          <p:cNvPr id="3" name="TextBox 2"/>
          <p:cNvSpPr txBox="1"/>
          <p:nvPr/>
        </p:nvSpPr>
        <p:spPr>
          <a:xfrm>
            <a:off x="841248" y="548640"/>
            <a:ext cx="8595360" cy="274320"/>
          </a:xfrm>
          <a:prstGeom prst="rect">
            <a:avLst/>
          </a:prstGeom>
          <a:noFill/>
        </p:spPr>
        <p:txBody>
          <a:bodyPr wrap="square" anchor="t" lIns="0" rIns="0" tIns="0" bIns="0">
            <a:spAutoFit/>
          </a:bodyPr>
          <a:lstStyle/>
          <a:p>
            <a:pPr algn="l">
              <a:lnSpc>
                <a:spcPct val="106000"/>
              </a:lnSpc>
              <a:spcBef>
                <a:spcPts val="0"/>
              </a:spcBef>
              <a:spcAft>
                <a:spcPts val="0"/>
              </a:spcAft>
            </a:pPr>
            <a:r>
              <a:rPr sz="1250" b="1" spc="220">
                <a:solidFill>
                  <a:srgbClr val="EE0000"/>
                </a:solidFill>
                <a:latin typeface="Red Hat Display"/>
              </a:rPr>
              <a:t>M03 · DEV SPACES &amp; THE INNER LOOP</a:t>
            </a:r>
          </a:p>
        </p:txBody>
      </p:sp>
      <p:sp>
        <p:nvSpPr>
          <p:cNvPr id="4" name="TextBox 3"/>
          <p:cNvSpPr txBox="1"/>
          <p:nvPr/>
        </p:nvSpPr>
        <p:spPr>
          <a:xfrm>
            <a:off x="841248" y="877824"/>
            <a:ext cx="10515600" cy="548640"/>
          </a:xfrm>
          <a:prstGeom prst="rect">
            <a:avLst/>
          </a:prstGeom>
          <a:noFill/>
        </p:spPr>
        <p:txBody>
          <a:bodyPr wrap="none" anchor="t" lIns="0" rIns="0" tIns="0" bIns="0">
            <a:spAutoFit/>
          </a:bodyPr>
          <a:lstStyle/>
          <a:p>
            <a:pPr algn="l">
              <a:lnSpc>
                <a:spcPct val="100000"/>
              </a:lnSpc>
              <a:spcBef>
                <a:spcPts val="0"/>
              </a:spcBef>
              <a:spcAft>
                <a:spcPts val="0"/>
              </a:spcAft>
            </a:pPr>
            <a:r>
              <a:rPr sz="2500" b="1">
                <a:solidFill>
                  <a:srgbClr val="1A1A1A"/>
                </a:solidFill>
                <a:latin typeface="Red Hat Display"/>
              </a:rPr>
              <a:t>What you'll do</a:t>
            </a:r>
          </a:p>
        </p:txBody>
      </p:sp>
      <p:cxnSp>
        <p:nvCxnSpPr>
          <p:cNvPr id="5" name="Connector 4"/>
          <p:cNvCxnSpPr/>
          <p:nvPr/>
        </p:nvCxnSpPr>
        <p:spPr>
          <a:xfrm>
            <a:off x="841248" y="1554480"/>
            <a:ext cx="1371600" cy="0"/>
          </a:xfrm>
          <a:prstGeom prst="bentConnector3">
            <a:avLst/>
          </a:prstGeom>
          <a:ln w="31750">
            <a:solidFill>
              <a:srgbClr val="EE0000"/>
            </a:solidFill>
          </a:ln>
          <a:effectLst/>
        </p:spPr>
        <p:style>
          <a:lnRef idx="2">
            <a:schemeClr val="accent1"/>
          </a:lnRef>
          <a:fillRef idx="0">
            <a:schemeClr val="accent1"/>
          </a:fillRef>
          <a:effectRef idx="1">
            <a:schemeClr val="accent1"/>
          </a:effectRef>
          <a:fontRef idx="minor">
            <a:schemeClr val="tx1"/>
          </a:fontRef>
        </p:style>
      </p:cxnSp>
      <p:sp>
        <p:nvSpPr>
          <p:cNvPr id="6" name="Rounded Rectangle 5"/>
          <p:cNvSpPr/>
          <p:nvPr/>
        </p:nvSpPr>
        <p:spPr>
          <a:xfrm>
            <a:off x="841248" y="2395728"/>
            <a:ext cx="5715000" cy="530352"/>
          </a:xfrm>
          <a:prstGeom prst="roundRect">
            <a:avLst>
              <a:gd name="adj" fmla="val 6000"/>
            </a:avLst>
          </a:prstGeom>
          <a:solidFill>
            <a:srgbClr val="F5F6F8"/>
          </a:solidFill>
          <a:ln w="12700">
            <a:solidFill>
              <a:srgbClr val="DDE1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check_steel.png"/>
          <p:cNvPicPr>
            <a:picLocks noChangeAspect="1"/>
          </p:cNvPicPr>
          <p:nvPr/>
        </p:nvPicPr>
        <p:blipFill>
          <a:blip r:embed="rId3"/>
          <a:stretch>
            <a:fillRect/>
          </a:stretch>
        </p:blipFill>
        <p:spPr>
          <a:xfrm>
            <a:off x="987552" y="2542032"/>
            <a:ext cx="237744" cy="237744"/>
          </a:xfrm>
          <a:prstGeom prst="rect">
            <a:avLst/>
          </a:prstGeom>
        </p:spPr>
      </p:pic>
      <p:sp>
        <p:nvSpPr>
          <p:cNvPr id="8" name="TextBox 7"/>
          <p:cNvSpPr txBox="1"/>
          <p:nvPr/>
        </p:nvSpPr>
        <p:spPr>
          <a:xfrm>
            <a:off x="1353312" y="2395728"/>
            <a:ext cx="5029200" cy="530352"/>
          </a:xfrm>
          <a:prstGeom prst="rect">
            <a:avLst/>
          </a:prstGeom>
          <a:noFill/>
        </p:spPr>
        <p:txBody>
          <a:bodyPr wrap="square" anchor="ctr" lIns="0" rIns="0" tIns="0" bIns="0">
            <a:spAutoFit/>
          </a:bodyPr>
          <a:lstStyle/>
          <a:p>
            <a:pPr algn="l">
              <a:lnSpc>
                <a:spcPct val="106000"/>
              </a:lnSpc>
              <a:spcBef>
                <a:spcPts val="0"/>
              </a:spcBef>
              <a:spcAft>
                <a:spcPts val="0"/>
              </a:spcAft>
            </a:pPr>
            <a:r>
              <a:rPr sz="1200" b="0">
                <a:solidFill>
                  <a:srgbClr val="1A1A1A"/>
                </a:solidFill>
                <a:latin typeface="Red Hat Text"/>
              </a:rPr>
              <a:t>Open the claims service from a link</a:t>
            </a:r>
          </a:p>
        </p:txBody>
      </p:sp>
      <p:sp>
        <p:nvSpPr>
          <p:cNvPr id="9" name="Rounded Rectangle 8"/>
          <p:cNvSpPr/>
          <p:nvPr/>
        </p:nvSpPr>
        <p:spPr>
          <a:xfrm>
            <a:off x="841248" y="2999232"/>
            <a:ext cx="5715000" cy="530352"/>
          </a:xfrm>
          <a:prstGeom prst="roundRect">
            <a:avLst>
              <a:gd name="adj" fmla="val 6000"/>
            </a:avLst>
          </a:prstGeom>
          <a:solidFill>
            <a:srgbClr val="F5F6F8"/>
          </a:solidFill>
          <a:ln w="12700">
            <a:solidFill>
              <a:srgbClr val="DDE1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0" name="Picture 9" descr="check_steel.png"/>
          <p:cNvPicPr>
            <a:picLocks noChangeAspect="1"/>
          </p:cNvPicPr>
          <p:nvPr/>
        </p:nvPicPr>
        <p:blipFill>
          <a:blip r:embed="rId3"/>
          <a:stretch>
            <a:fillRect/>
          </a:stretch>
        </p:blipFill>
        <p:spPr>
          <a:xfrm>
            <a:off x="987552" y="3145536"/>
            <a:ext cx="237744" cy="237744"/>
          </a:xfrm>
          <a:prstGeom prst="rect">
            <a:avLst/>
          </a:prstGeom>
        </p:spPr>
      </p:pic>
      <p:sp>
        <p:nvSpPr>
          <p:cNvPr id="11" name="TextBox 10"/>
          <p:cNvSpPr txBox="1"/>
          <p:nvPr/>
        </p:nvSpPr>
        <p:spPr>
          <a:xfrm>
            <a:off x="1353312" y="2999232"/>
            <a:ext cx="5029200" cy="530352"/>
          </a:xfrm>
          <a:prstGeom prst="rect">
            <a:avLst/>
          </a:prstGeom>
          <a:noFill/>
        </p:spPr>
        <p:txBody>
          <a:bodyPr wrap="square" anchor="ctr" lIns="0" rIns="0" tIns="0" bIns="0">
            <a:spAutoFit/>
          </a:bodyPr>
          <a:lstStyle/>
          <a:p>
            <a:pPr algn="l">
              <a:lnSpc>
                <a:spcPct val="106000"/>
              </a:lnSpc>
              <a:spcBef>
                <a:spcPts val="0"/>
              </a:spcBef>
              <a:spcAft>
                <a:spcPts val="0"/>
              </a:spcAft>
            </a:pPr>
            <a:r>
              <a:rPr sz="1200" b="0">
                <a:solidFill>
                  <a:srgbClr val="1A1A1A"/>
                </a:solidFill>
                <a:latin typeface="Red Hat Text"/>
              </a:rPr>
              <a:t>Run dev mode against the real database</a:t>
            </a:r>
          </a:p>
        </p:txBody>
      </p:sp>
      <p:sp>
        <p:nvSpPr>
          <p:cNvPr id="12" name="Rounded Rectangle 11"/>
          <p:cNvSpPr/>
          <p:nvPr/>
        </p:nvSpPr>
        <p:spPr>
          <a:xfrm>
            <a:off x="841248" y="3602736"/>
            <a:ext cx="5715000" cy="530352"/>
          </a:xfrm>
          <a:prstGeom prst="roundRect">
            <a:avLst>
              <a:gd name="adj" fmla="val 6000"/>
            </a:avLst>
          </a:prstGeom>
          <a:solidFill>
            <a:srgbClr val="F5F6F8"/>
          </a:solidFill>
          <a:ln w="12700">
            <a:solidFill>
              <a:srgbClr val="DDE1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3" name="Picture 12" descr="check_steel.png"/>
          <p:cNvPicPr>
            <a:picLocks noChangeAspect="1"/>
          </p:cNvPicPr>
          <p:nvPr/>
        </p:nvPicPr>
        <p:blipFill>
          <a:blip r:embed="rId3"/>
          <a:stretch>
            <a:fillRect/>
          </a:stretch>
        </p:blipFill>
        <p:spPr>
          <a:xfrm>
            <a:off x="987552" y="3749040"/>
            <a:ext cx="237744" cy="237744"/>
          </a:xfrm>
          <a:prstGeom prst="rect">
            <a:avLst/>
          </a:prstGeom>
        </p:spPr>
      </p:pic>
      <p:sp>
        <p:nvSpPr>
          <p:cNvPr id="14" name="TextBox 13"/>
          <p:cNvSpPr txBox="1"/>
          <p:nvPr/>
        </p:nvSpPr>
        <p:spPr>
          <a:xfrm>
            <a:off x="1353312" y="3602736"/>
            <a:ext cx="5029200" cy="530352"/>
          </a:xfrm>
          <a:prstGeom prst="rect">
            <a:avLst/>
          </a:prstGeom>
          <a:noFill/>
        </p:spPr>
        <p:txBody>
          <a:bodyPr wrap="square" anchor="ctr" lIns="0" rIns="0" tIns="0" bIns="0">
            <a:spAutoFit/>
          </a:bodyPr>
          <a:lstStyle/>
          <a:p>
            <a:pPr algn="l">
              <a:lnSpc>
                <a:spcPct val="106000"/>
              </a:lnSpc>
              <a:spcBef>
                <a:spcPts val="0"/>
              </a:spcBef>
              <a:spcAft>
                <a:spcPts val="0"/>
              </a:spcAft>
            </a:pPr>
            <a:r>
              <a:rPr sz="1200" b="0">
                <a:solidFill>
                  <a:srgbClr val="1A1A1A"/>
                </a:solidFill>
                <a:latin typeface="Red Hat Text"/>
              </a:rPr>
              <a:t>Change an endpoint; watch it hot-reload</a:t>
            </a:r>
          </a:p>
        </p:txBody>
      </p:sp>
      <p:sp>
        <p:nvSpPr>
          <p:cNvPr id="15" name="Rounded Rectangle 14"/>
          <p:cNvSpPr/>
          <p:nvPr/>
        </p:nvSpPr>
        <p:spPr>
          <a:xfrm>
            <a:off x="841248" y="4206240"/>
            <a:ext cx="5715000" cy="530352"/>
          </a:xfrm>
          <a:prstGeom prst="roundRect">
            <a:avLst>
              <a:gd name="adj" fmla="val 6000"/>
            </a:avLst>
          </a:prstGeom>
          <a:solidFill>
            <a:srgbClr val="F5F6F8"/>
          </a:solidFill>
          <a:ln w="12700">
            <a:solidFill>
              <a:srgbClr val="DDE1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6" name="Picture 15" descr="check_steel.png"/>
          <p:cNvPicPr>
            <a:picLocks noChangeAspect="1"/>
          </p:cNvPicPr>
          <p:nvPr/>
        </p:nvPicPr>
        <p:blipFill>
          <a:blip r:embed="rId3"/>
          <a:stretch>
            <a:fillRect/>
          </a:stretch>
        </p:blipFill>
        <p:spPr>
          <a:xfrm>
            <a:off x="987552" y="4352544"/>
            <a:ext cx="237744" cy="237744"/>
          </a:xfrm>
          <a:prstGeom prst="rect">
            <a:avLst/>
          </a:prstGeom>
        </p:spPr>
      </p:pic>
      <p:sp>
        <p:nvSpPr>
          <p:cNvPr id="17" name="TextBox 16"/>
          <p:cNvSpPr txBox="1"/>
          <p:nvPr/>
        </p:nvSpPr>
        <p:spPr>
          <a:xfrm>
            <a:off x="1353312" y="4206240"/>
            <a:ext cx="5029200" cy="530352"/>
          </a:xfrm>
          <a:prstGeom prst="rect">
            <a:avLst/>
          </a:prstGeom>
          <a:noFill/>
        </p:spPr>
        <p:txBody>
          <a:bodyPr wrap="square" anchor="ctr" lIns="0" rIns="0" tIns="0" bIns="0">
            <a:spAutoFit/>
          </a:bodyPr>
          <a:lstStyle/>
          <a:p>
            <a:pPr algn="l">
              <a:lnSpc>
                <a:spcPct val="106000"/>
              </a:lnSpc>
              <a:spcBef>
                <a:spcPts val="0"/>
              </a:spcBef>
              <a:spcAft>
                <a:spcPts val="0"/>
              </a:spcAft>
            </a:pPr>
            <a:r>
              <a:rPr sz="1200" b="0">
                <a:solidFill>
                  <a:srgbClr val="1A1A1A"/>
                </a:solidFill>
                <a:latin typeface="Red Hat Text"/>
              </a:rPr>
              <a:t>Add a Valkey cache to the devfile</a:t>
            </a:r>
          </a:p>
        </p:txBody>
      </p:sp>
      <p:sp>
        <p:nvSpPr>
          <p:cNvPr id="18" name="Rounded Rectangle 17"/>
          <p:cNvSpPr/>
          <p:nvPr/>
        </p:nvSpPr>
        <p:spPr>
          <a:xfrm>
            <a:off x="841248" y="4809744"/>
            <a:ext cx="5715000" cy="530352"/>
          </a:xfrm>
          <a:prstGeom prst="roundRect">
            <a:avLst>
              <a:gd name="adj" fmla="val 6000"/>
            </a:avLst>
          </a:prstGeom>
          <a:solidFill>
            <a:srgbClr val="F5F6F8"/>
          </a:solidFill>
          <a:ln w="12700">
            <a:solidFill>
              <a:srgbClr val="DDE1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9" name="Picture 18" descr="check_steel.png"/>
          <p:cNvPicPr>
            <a:picLocks noChangeAspect="1"/>
          </p:cNvPicPr>
          <p:nvPr/>
        </p:nvPicPr>
        <p:blipFill>
          <a:blip r:embed="rId3"/>
          <a:stretch>
            <a:fillRect/>
          </a:stretch>
        </p:blipFill>
        <p:spPr>
          <a:xfrm>
            <a:off x="987552" y="4956048"/>
            <a:ext cx="237744" cy="237744"/>
          </a:xfrm>
          <a:prstGeom prst="rect">
            <a:avLst/>
          </a:prstGeom>
        </p:spPr>
      </p:pic>
      <p:sp>
        <p:nvSpPr>
          <p:cNvPr id="20" name="TextBox 19"/>
          <p:cNvSpPr txBox="1"/>
          <p:nvPr/>
        </p:nvSpPr>
        <p:spPr>
          <a:xfrm>
            <a:off x="1353312" y="4809744"/>
            <a:ext cx="5029200" cy="530352"/>
          </a:xfrm>
          <a:prstGeom prst="rect">
            <a:avLst/>
          </a:prstGeom>
          <a:noFill/>
        </p:spPr>
        <p:txBody>
          <a:bodyPr wrap="square" anchor="ctr" lIns="0" rIns="0" tIns="0" bIns="0">
            <a:spAutoFit/>
          </a:bodyPr>
          <a:lstStyle/>
          <a:p>
            <a:pPr algn="l">
              <a:lnSpc>
                <a:spcPct val="106000"/>
              </a:lnSpc>
              <a:spcBef>
                <a:spcPts val="0"/>
              </a:spcBef>
              <a:spcAft>
                <a:spcPts val="0"/>
              </a:spcAft>
            </a:pPr>
            <a:r>
              <a:rPr sz="1200" b="0">
                <a:solidFill>
                  <a:srgbClr val="1A1A1A"/>
                </a:solidFill>
                <a:latin typeface="Red Hat Text"/>
              </a:rPr>
              <a:t>Push, debug, port-forward, and ship a container</a:t>
            </a:r>
          </a:p>
        </p:txBody>
      </p:sp>
      <p:sp>
        <p:nvSpPr>
          <p:cNvPr id="21" name="Rounded Rectangle 20"/>
          <p:cNvSpPr/>
          <p:nvPr/>
        </p:nvSpPr>
        <p:spPr>
          <a:xfrm>
            <a:off x="6812280" y="2395728"/>
            <a:ext cx="4538167" cy="2944368"/>
          </a:xfrm>
          <a:prstGeom prst="roundRect">
            <a:avLst>
              <a:gd name="adj" fmla="val 4000"/>
            </a:avLst>
          </a:prstGeom>
          <a:solidFill>
            <a:srgbClr val="FFFFFF"/>
          </a:solidFill>
          <a:ln w="15240">
            <a:solidFill>
              <a:srgbClr val="DDE1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ounded Rectangle 21"/>
          <p:cNvSpPr/>
          <p:nvPr/>
        </p:nvSpPr>
        <p:spPr>
          <a:xfrm>
            <a:off x="7013448" y="2596896"/>
            <a:ext cx="1298448" cy="310896"/>
          </a:xfrm>
          <a:prstGeom prst="roundRect">
            <a:avLst>
              <a:gd name="adj" fmla="val 50000"/>
            </a:avLst>
          </a:prstGeom>
          <a:solidFill>
            <a:srgbClr val="FCEC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7013448" y="2596896"/>
            <a:ext cx="1298448" cy="310896"/>
          </a:xfrm>
          <a:prstGeom prst="rect">
            <a:avLst/>
          </a:prstGeom>
          <a:noFill/>
        </p:spPr>
        <p:txBody>
          <a:bodyPr wrap="none" anchor="ctr" lIns="0" rIns="0" tIns="0" bIns="0">
            <a:spAutoFit/>
          </a:bodyPr>
          <a:lstStyle/>
          <a:p>
            <a:pPr algn="ctr">
              <a:lnSpc>
                <a:spcPct val="106000"/>
              </a:lnSpc>
              <a:spcBef>
                <a:spcPts val="0"/>
              </a:spcBef>
              <a:spcAft>
                <a:spcPts val="0"/>
              </a:spcAft>
            </a:pPr>
            <a:r>
              <a:rPr sz="850" b="1">
                <a:solidFill>
                  <a:srgbClr val="B80000"/>
                </a:solidFill>
                <a:latin typeface="Red Hat Display"/>
              </a:rPr>
              <a:t>MEDIA PASS</a:t>
            </a:r>
          </a:p>
        </p:txBody>
      </p:sp>
      <p:pic>
        <p:nvPicPr>
          <p:cNvPr id="24" name="Picture 23" descr="eye_slate.png"/>
          <p:cNvPicPr>
            <a:picLocks noChangeAspect="1"/>
          </p:cNvPicPr>
          <p:nvPr/>
        </p:nvPicPr>
        <p:blipFill>
          <a:blip r:embed="rId4"/>
          <a:stretch>
            <a:fillRect/>
          </a:stretch>
        </p:blipFill>
        <p:spPr>
          <a:xfrm>
            <a:off x="8843619" y="3108960"/>
            <a:ext cx="475488" cy="475488"/>
          </a:xfrm>
          <a:prstGeom prst="rect">
            <a:avLst/>
          </a:prstGeom>
        </p:spPr>
      </p:pic>
      <p:sp>
        <p:nvSpPr>
          <p:cNvPr id="25" name="TextBox 24"/>
          <p:cNvSpPr txBox="1"/>
          <p:nvPr/>
        </p:nvSpPr>
        <p:spPr>
          <a:xfrm>
            <a:off x="7050024" y="3721608"/>
            <a:ext cx="4062679" cy="1481328"/>
          </a:xfrm>
          <a:prstGeom prst="rect">
            <a:avLst/>
          </a:prstGeom>
          <a:noFill/>
        </p:spPr>
        <p:txBody>
          <a:bodyPr wrap="square" anchor="t" lIns="0" rIns="0" tIns="0" bIns="0">
            <a:spAutoFit/>
          </a:bodyPr>
          <a:lstStyle/>
          <a:p>
            <a:pPr algn="l">
              <a:lnSpc>
                <a:spcPct val="120000"/>
              </a:lnSpc>
              <a:spcBef>
                <a:spcPts val="0"/>
              </a:spcBef>
              <a:spcAft>
                <a:spcPts val="0"/>
              </a:spcAft>
            </a:pPr>
            <a:r>
              <a:rPr sz="950" b="0">
                <a:solidFill>
                  <a:srgbClr val="8A9099"/>
                </a:solidFill>
                <a:latin typeface="Red Hat Text"/>
              </a:rPr>
              <a:t>Numbered arc strip: link → dev mode → hot reload → devfile edit → push → debug → port-forward → ship.</a:t>
            </a:r>
          </a:p>
        </p:txBody>
      </p:sp>
      <p:cxnSp>
        <p:nvCxnSpPr>
          <p:cNvPr id="26" name="Connector 25"/>
          <p:cNvCxnSpPr/>
          <p:nvPr/>
        </p:nvCxnSpPr>
        <p:spPr>
          <a:xfrm>
            <a:off x="841248" y="6437376"/>
            <a:ext cx="10509199" cy="0"/>
          </a:xfrm>
          <a:prstGeom prst="bentConnector3">
            <a:avLst/>
          </a:prstGeom>
          <a:ln w="12700">
            <a:solidFill>
              <a:srgbClr val="DDE1E6"/>
            </a:solidFill>
          </a:ln>
          <a:effectLst/>
        </p:spPr>
        <p:style>
          <a:lnRef idx="2">
            <a:schemeClr val="accent1"/>
          </a:lnRef>
          <a:fillRef idx="0">
            <a:schemeClr val="accent1"/>
          </a:fillRef>
          <a:effectRef idx="1">
            <a:schemeClr val="accent1"/>
          </a:effectRef>
          <a:fontRef idx="minor">
            <a:schemeClr val="tx1"/>
          </a:fontRef>
        </p:style>
      </p:cxnSp>
      <p:sp>
        <p:nvSpPr>
          <p:cNvPr id="27" name="TextBox 26"/>
          <p:cNvSpPr txBox="1"/>
          <p:nvPr/>
        </p:nvSpPr>
        <p:spPr>
          <a:xfrm>
            <a:off x="841248" y="6473952"/>
            <a:ext cx="7315200" cy="274320"/>
          </a:xfrm>
          <a:prstGeom prst="rect">
            <a:avLst/>
          </a:prstGeom>
          <a:noFill/>
        </p:spPr>
        <p:txBody>
          <a:bodyPr wrap="square" anchor="t" lIns="0" rIns="0" tIns="0" bIns="0">
            <a:spAutoFit/>
          </a:bodyPr>
          <a:lstStyle/>
          <a:p>
            <a:pPr algn="l">
              <a:lnSpc>
                <a:spcPct val="106000"/>
              </a:lnSpc>
              <a:spcBef>
                <a:spcPts val="0"/>
              </a:spcBef>
              <a:spcAft>
                <a:spcPts val="0"/>
              </a:spcAft>
            </a:pPr>
            <a:r>
              <a:rPr sz="950" b="0">
                <a:solidFill>
                  <a:srgbClr val="8A9099"/>
                </a:solidFill>
                <a:latin typeface="Red Hat Text"/>
              </a:rPr>
              <a:t>CONFIDENTIAL</a:t>
            </a:r>
          </a:p>
        </p:txBody>
      </p:sp>
      <p:sp>
        <p:nvSpPr>
          <p:cNvPr id="28" name="TextBox 27"/>
          <p:cNvSpPr txBox="1"/>
          <p:nvPr/>
        </p:nvSpPr>
        <p:spPr>
          <a:xfrm>
            <a:off x="10801807" y="6473952"/>
            <a:ext cx="548640" cy="274320"/>
          </a:xfrm>
          <a:prstGeom prst="rect">
            <a:avLst/>
          </a:prstGeom>
          <a:noFill/>
        </p:spPr>
        <p:txBody>
          <a:bodyPr wrap="square" anchor="t" lIns="0" rIns="0" tIns="0" bIns="0">
            <a:spAutoFit/>
          </a:bodyPr>
          <a:lstStyle/>
          <a:p>
            <a:pPr algn="r">
              <a:lnSpc>
                <a:spcPct val="106000"/>
              </a:lnSpc>
              <a:spcBef>
                <a:spcPts val="0"/>
              </a:spcBef>
              <a:spcAft>
                <a:spcPts val="0"/>
              </a:spcAft>
            </a:pPr>
            <a:r>
              <a:rPr sz="950" b="0">
                <a:solidFill>
                  <a:srgbClr val="8A9099"/>
                </a:solidFill>
                <a:latin typeface="Red Hat Text"/>
              </a:rPr>
              <a:t>19</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redhat_logo.jpg"/>
          <p:cNvPicPr>
            <a:picLocks noChangeAspect="1"/>
          </p:cNvPicPr>
          <p:nvPr/>
        </p:nvPicPr>
        <p:blipFill>
          <a:blip r:embed="rId2"/>
          <a:stretch>
            <a:fillRect/>
          </a:stretch>
        </p:blipFill>
        <p:spPr>
          <a:xfrm>
            <a:off x="10326319" y="475488"/>
            <a:ext cx="1024128" cy="242248"/>
          </a:xfrm>
          <a:prstGeom prst="rect">
            <a:avLst/>
          </a:prstGeom>
        </p:spPr>
      </p:pic>
      <p:sp>
        <p:nvSpPr>
          <p:cNvPr id="3" name="TextBox 2"/>
          <p:cNvSpPr txBox="1"/>
          <p:nvPr/>
        </p:nvSpPr>
        <p:spPr>
          <a:xfrm>
            <a:off x="841248" y="548640"/>
            <a:ext cx="8595360" cy="274320"/>
          </a:xfrm>
          <a:prstGeom prst="rect">
            <a:avLst/>
          </a:prstGeom>
          <a:noFill/>
        </p:spPr>
        <p:txBody>
          <a:bodyPr wrap="square" anchor="t" lIns="0" rIns="0" tIns="0" bIns="0">
            <a:spAutoFit/>
          </a:bodyPr>
          <a:lstStyle/>
          <a:p>
            <a:pPr algn="l">
              <a:lnSpc>
                <a:spcPct val="106000"/>
              </a:lnSpc>
              <a:spcBef>
                <a:spcPts val="0"/>
              </a:spcBef>
              <a:spcAft>
                <a:spcPts val="0"/>
              </a:spcAft>
            </a:pPr>
            <a:r>
              <a:rPr sz="1250" b="1" spc="220">
                <a:solidFill>
                  <a:srgbClr val="EE0000"/>
                </a:solidFill>
                <a:latin typeface="Red Hat Display"/>
              </a:rPr>
              <a:t>M03 · DEV SPACES &amp; THE INNER LOOP</a:t>
            </a:r>
          </a:p>
        </p:txBody>
      </p:sp>
      <p:sp>
        <p:nvSpPr>
          <p:cNvPr id="4" name="TextBox 3"/>
          <p:cNvSpPr txBox="1"/>
          <p:nvPr/>
        </p:nvSpPr>
        <p:spPr>
          <a:xfrm>
            <a:off x="841248" y="877824"/>
            <a:ext cx="10515600" cy="548640"/>
          </a:xfrm>
          <a:prstGeom prst="rect">
            <a:avLst/>
          </a:prstGeom>
          <a:noFill/>
        </p:spPr>
        <p:txBody>
          <a:bodyPr wrap="none" anchor="t" lIns="0" rIns="0" tIns="0" bIns="0">
            <a:spAutoFit/>
          </a:bodyPr>
          <a:lstStyle/>
          <a:p>
            <a:pPr algn="l">
              <a:lnSpc>
                <a:spcPct val="100000"/>
              </a:lnSpc>
              <a:spcBef>
                <a:spcPts val="0"/>
              </a:spcBef>
              <a:spcAft>
                <a:spcPts val="0"/>
              </a:spcAft>
            </a:pPr>
            <a:r>
              <a:rPr sz="2500" b="1">
                <a:solidFill>
                  <a:srgbClr val="1A1A1A"/>
                </a:solidFill>
                <a:latin typeface="Red Hat Display"/>
              </a:rPr>
              <a:t>Map to your org — and when not</a:t>
            </a:r>
          </a:p>
        </p:txBody>
      </p:sp>
      <p:cxnSp>
        <p:nvCxnSpPr>
          <p:cNvPr id="5" name="Connector 4"/>
          <p:cNvCxnSpPr/>
          <p:nvPr/>
        </p:nvCxnSpPr>
        <p:spPr>
          <a:xfrm>
            <a:off x="841248" y="1554480"/>
            <a:ext cx="1371600" cy="0"/>
          </a:xfrm>
          <a:prstGeom prst="bentConnector3">
            <a:avLst/>
          </a:prstGeom>
          <a:ln w="31750">
            <a:solidFill>
              <a:srgbClr val="EE0000"/>
            </a:solidFill>
          </a:ln>
          <a:effectLst/>
        </p:spPr>
        <p:style>
          <a:lnRef idx="2">
            <a:schemeClr val="accent1"/>
          </a:lnRef>
          <a:fillRef idx="0">
            <a:schemeClr val="accent1"/>
          </a:fillRef>
          <a:effectRef idx="1">
            <a:schemeClr val="accent1"/>
          </a:effectRef>
          <a:fontRef idx="minor">
            <a:schemeClr val="tx1"/>
          </a:fontRef>
        </p:style>
      </p:cxnSp>
      <p:sp>
        <p:nvSpPr>
          <p:cNvPr id="6" name="Rounded Rectangle 5"/>
          <p:cNvSpPr/>
          <p:nvPr/>
        </p:nvSpPr>
        <p:spPr>
          <a:xfrm>
            <a:off x="841248" y="2395728"/>
            <a:ext cx="5715000" cy="530352"/>
          </a:xfrm>
          <a:prstGeom prst="roundRect">
            <a:avLst>
              <a:gd name="adj" fmla="val 6000"/>
            </a:avLst>
          </a:prstGeom>
          <a:solidFill>
            <a:srgbClr val="F5F6F8"/>
          </a:solidFill>
          <a:ln w="12700">
            <a:solidFill>
              <a:srgbClr val="DDE1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check_steel.png"/>
          <p:cNvPicPr>
            <a:picLocks noChangeAspect="1"/>
          </p:cNvPicPr>
          <p:nvPr/>
        </p:nvPicPr>
        <p:blipFill>
          <a:blip r:embed="rId3"/>
          <a:stretch>
            <a:fillRect/>
          </a:stretch>
        </p:blipFill>
        <p:spPr>
          <a:xfrm>
            <a:off x="987552" y="2542032"/>
            <a:ext cx="237744" cy="237744"/>
          </a:xfrm>
          <a:prstGeom prst="rect">
            <a:avLst/>
          </a:prstGeom>
        </p:spPr>
      </p:pic>
      <p:sp>
        <p:nvSpPr>
          <p:cNvPr id="8" name="TextBox 7"/>
          <p:cNvSpPr txBox="1"/>
          <p:nvPr/>
        </p:nvSpPr>
        <p:spPr>
          <a:xfrm>
            <a:off x="1353312" y="2395728"/>
            <a:ext cx="5029200" cy="530352"/>
          </a:xfrm>
          <a:prstGeom prst="rect">
            <a:avLst/>
          </a:prstGeom>
          <a:noFill/>
        </p:spPr>
        <p:txBody>
          <a:bodyPr wrap="square" anchor="ctr" lIns="0" rIns="0" tIns="0" bIns="0">
            <a:spAutoFit/>
          </a:bodyPr>
          <a:lstStyle/>
          <a:p>
            <a:pPr algn="l">
              <a:lnSpc>
                <a:spcPct val="106000"/>
              </a:lnSpc>
              <a:spcBef>
                <a:spcPts val="0"/>
              </a:spcBef>
              <a:spcAft>
                <a:spcPts val="0"/>
              </a:spcAft>
            </a:pPr>
            <a:r>
              <a:rPr sz="1200" b="0">
                <a:solidFill>
                  <a:srgbClr val="1A1A1A"/>
                </a:solidFill>
                <a:latin typeface="Red Hat Text"/>
              </a:rPr>
              <a:t>Measure your real onboarding-to-first-PR time</a:t>
            </a:r>
          </a:p>
        </p:txBody>
      </p:sp>
      <p:sp>
        <p:nvSpPr>
          <p:cNvPr id="9" name="Rounded Rectangle 8"/>
          <p:cNvSpPr/>
          <p:nvPr/>
        </p:nvSpPr>
        <p:spPr>
          <a:xfrm>
            <a:off x="841248" y="2999232"/>
            <a:ext cx="5715000" cy="530352"/>
          </a:xfrm>
          <a:prstGeom prst="roundRect">
            <a:avLst>
              <a:gd name="adj" fmla="val 6000"/>
            </a:avLst>
          </a:prstGeom>
          <a:solidFill>
            <a:srgbClr val="F5F6F8"/>
          </a:solidFill>
          <a:ln w="12700">
            <a:solidFill>
              <a:srgbClr val="DDE1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0" name="Picture 9" descr="check_steel.png"/>
          <p:cNvPicPr>
            <a:picLocks noChangeAspect="1"/>
          </p:cNvPicPr>
          <p:nvPr/>
        </p:nvPicPr>
        <p:blipFill>
          <a:blip r:embed="rId3"/>
          <a:stretch>
            <a:fillRect/>
          </a:stretch>
        </p:blipFill>
        <p:spPr>
          <a:xfrm>
            <a:off x="987552" y="3145536"/>
            <a:ext cx="237744" cy="237744"/>
          </a:xfrm>
          <a:prstGeom prst="rect">
            <a:avLst/>
          </a:prstGeom>
        </p:spPr>
      </p:pic>
      <p:sp>
        <p:nvSpPr>
          <p:cNvPr id="11" name="TextBox 10"/>
          <p:cNvSpPr txBox="1"/>
          <p:nvPr/>
        </p:nvSpPr>
        <p:spPr>
          <a:xfrm>
            <a:off x="1353312" y="2999232"/>
            <a:ext cx="5029200" cy="530352"/>
          </a:xfrm>
          <a:prstGeom prst="rect">
            <a:avLst/>
          </a:prstGeom>
          <a:noFill/>
        </p:spPr>
        <p:txBody>
          <a:bodyPr wrap="square" anchor="ctr" lIns="0" rIns="0" tIns="0" bIns="0">
            <a:spAutoFit/>
          </a:bodyPr>
          <a:lstStyle/>
          <a:p>
            <a:pPr algn="l">
              <a:lnSpc>
                <a:spcPct val="106000"/>
              </a:lnSpc>
              <a:spcBef>
                <a:spcPts val="0"/>
              </a:spcBef>
              <a:spcAft>
                <a:spcPts val="0"/>
              </a:spcAft>
            </a:pPr>
            <a:r>
              <a:rPr sz="1200" b="0">
                <a:solidFill>
                  <a:srgbClr val="1A1A1A"/>
                </a:solidFill>
                <a:latin typeface="Red Hat Text"/>
              </a:rPr>
              <a:t>Count the laptop fleet, and its drift</a:t>
            </a:r>
          </a:p>
        </p:txBody>
      </p:sp>
      <p:sp>
        <p:nvSpPr>
          <p:cNvPr id="12" name="Rounded Rectangle 11"/>
          <p:cNvSpPr/>
          <p:nvPr/>
        </p:nvSpPr>
        <p:spPr>
          <a:xfrm>
            <a:off x="841248" y="3602736"/>
            <a:ext cx="5715000" cy="530352"/>
          </a:xfrm>
          <a:prstGeom prst="roundRect">
            <a:avLst>
              <a:gd name="adj" fmla="val 6000"/>
            </a:avLst>
          </a:prstGeom>
          <a:solidFill>
            <a:srgbClr val="F5F6F8"/>
          </a:solidFill>
          <a:ln w="12700">
            <a:solidFill>
              <a:srgbClr val="DDE1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3" name="Picture 12" descr="check_steel.png"/>
          <p:cNvPicPr>
            <a:picLocks noChangeAspect="1"/>
          </p:cNvPicPr>
          <p:nvPr/>
        </p:nvPicPr>
        <p:blipFill>
          <a:blip r:embed="rId3"/>
          <a:stretch>
            <a:fillRect/>
          </a:stretch>
        </p:blipFill>
        <p:spPr>
          <a:xfrm>
            <a:off x="987552" y="3749040"/>
            <a:ext cx="237744" cy="237744"/>
          </a:xfrm>
          <a:prstGeom prst="rect">
            <a:avLst/>
          </a:prstGeom>
        </p:spPr>
      </p:pic>
      <p:sp>
        <p:nvSpPr>
          <p:cNvPr id="14" name="TextBox 13"/>
          <p:cNvSpPr txBox="1"/>
          <p:nvPr/>
        </p:nvSpPr>
        <p:spPr>
          <a:xfrm>
            <a:off x="1353312" y="3602736"/>
            <a:ext cx="5029200" cy="530352"/>
          </a:xfrm>
          <a:prstGeom prst="rect">
            <a:avLst/>
          </a:prstGeom>
          <a:noFill/>
        </p:spPr>
        <p:txBody>
          <a:bodyPr wrap="square" anchor="ctr" lIns="0" rIns="0" tIns="0" bIns="0">
            <a:spAutoFit/>
          </a:bodyPr>
          <a:lstStyle/>
          <a:p>
            <a:pPr algn="l">
              <a:lnSpc>
                <a:spcPct val="106000"/>
              </a:lnSpc>
              <a:spcBef>
                <a:spcPts val="0"/>
              </a:spcBef>
              <a:spcAft>
                <a:spcPts val="0"/>
              </a:spcAft>
            </a:pPr>
            <a:r>
              <a:rPr sz="1200" b="0">
                <a:solidFill>
                  <a:srgbClr val="1A1A1A"/>
                </a:solidFill>
                <a:latin typeface="Red Hat Text"/>
              </a:rPr>
              <a:t>Not for air-gapped or local-hardware work</a:t>
            </a:r>
          </a:p>
        </p:txBody>
      </p:sp>
      <p:sp>
        <p:nvSpPr>
          <p:cNvPr id="15" name="Rounded Rectangle 14"/>
          <p:cNvSpPr/>
          <p:nvPr/>
        </p:nvSpPr>
        <p:spPr>
          <a:xfrm>
            <a:off x="841248" y="4206240"/>
            <a:ext cx="5715000" cy="530352"/>
          </a:xfrm>
          <a:prstGeom prst="roundRect">
            <a:avLst>
              <a:gd name="adj" fmla="val 6000"/>
            </a:avLst>
          </a:prstGeom>
          <a:solidFill>
            <a:srgbClr val="F5F6F8"/>
          </a:solidFill>
          <a:ln w="12700">
            <a:solidFill>
              <a:srgbClr val="DDE1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6" name="Picture 15" descr="check_steel.png"/>
          <p:cNvPicPr>
            <a:picLocks noChangeAspect="1"/>
          </p:cNvPicPr>
          <p:nvPr/>
        </p:nvPicPr>
        <p:blipFill>
          <a:blip r:embed="rId3"/>
          <a:stretch>
            <a:fillRect/>
          </a:stretch>
        </p:blipFill>
        <p:spPr>
          <a:xfrm>
            <a:off x="987552" y="4352544"/>
            <a:ext cx="237744" cy="237744"/>
          </a:xfrm>
          <a:prstGeom prst="rect">
            <a:avLst/>
          </a:prstGeom>
        </p:spPr>
      </p:pic>
      <p:sp>
        <p:nvSpPr>
          <p:cNvPr id="17" name="TextBox 16"/>
          <p:cNvSpPr txBox="1"/>
          <p:nvPr/>
        </p:nvSpPr>
        <p:spPr>
          <a:xfrm>
            <a:off x="1353312" y="4206240"/>
            <a:ext cx="5029200" cy="530352"/>
          </a:xfrm>
          <a:prstGeom prst="rect">
            <a:avLst/>
          </a:prstGeom>
          <a:noFill/>
        </p:spPr>
        <p:txBody>
          <a:bodyPr wrap="square" anchor="ctr" lIns="0" rIns="0" tIns="0" bIns="0">
            <a:spAutoFit/>
          </a:bodyPr>
          <a:lstStyle/>
          <a:p>
            <a:pPr algn="l">
              <a:lnSpc>
                <a:spcPct val="106000"/>
              </a:lnSpc>
              <a:spcBef>
                <a:spcPts val="0"/>
              </a:spcBef>
              <a:spcAft>
                <a:spcPts val="0"/>
              </a:spcAft>
            </a:pPr>
            <a:r>
              <a:rPr sz="1200" b="0">
                <a:solidFill>
                  <a:srgbClr val="1A1A1A"/>
                </a:solidFill>
                <a:latin typeface="Red Hat Text"/>
              </a:rPr>
              <a:t>Heavy native toolchains may still be local</a:t>
            </a:r>
          </a:p>
        </p:txBody>
      </p:sp>
      <p:sp>
        <p:nvSpPr>
          <p:cNvPr id="18" name="Rounded Rectangle 17"/>
          <p:cNvSpPr/>
          <p:nvPr/>
        </p:nvSpPr>
        <p:spPr>
          <a:xfrm>
            <a:off x="841248" y="4809744"/>
            <a:ext cx="5715000" cy="530352"/>
          </a:xfrm>
          <a:prstGeom prst="roundRect">
            <a:avLst>
              <a:gd name="adj" fmla="val 6000"/>
            </a:avLst>
          </a:prstGeom>
          <a:solidFill>
            <a:srgbClr val="F5F6F8"/>
          </a:solidFill>
          <a:ln w="12700">
            <a:solidFill>
              <a:srgbClr val="DDE1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9" name="Picture 18" descr="check_steel.png"/>
          <p:cNvPicPr>
            <a:picLocks noChangeAspect="1"/>
          </p:cNvPicPr>
          <p:nvPr/>
        </p:nvPicPr>
        <p:blipFill>
          <a:blip r:embed="rId3"/>
          <a:stretch>
            <a:fillRect/>
          </a:stretch>
        </p:blipFill>
        <p:spPr>
          <a:xfrm>
            <a:off x="987552" y="4956048"/>
            <a:ext cx="237744" cy="237744"/>
          </a:xfrm>
          <a:prstGeom prst="rect">
            <a:avLst/>
          </a:prstGeom>
        </p:spPr>
      </p:pic>
      <p:sp>
        <p:nvSpPr>
          <p:cNvPr id="20" name="TextBox 19"/>
          <p:cNvSpPr txBox="1"/>
          <p:nvPr/>
        </p:nvSpPr>
        <p:spPr>
          <a:xfrm>
            <a:off x="1353312" y="4809744"/>
            <a:ext cx="5029200" cy="530352"/>
          </a:xfrm>
          <a:prstGeom prst="rect">
            <a:avLst/>
          </a:prstGeom>
          <a:noFill/>
        </p:spPr>
        <p:txBody>
          <a:bodyPr wrap="square" anchor="ctr" lIns="0" rIns="0" tIns="0" bIns="0">
            <a:spAutoFit/>
          </a:bodyPr>
          <a:lstStyle/>
          <a:p>
            <a:pPr algn="l">
              <a:lnSpc>
                <a:spcPct val="106000"/>
              </a:lnSpc>
              <a:spcBef>
                <a:spcPts val="0"/>
              </a:spcBef>
              <a:spcAft>
                <a:spcPts val="0"/>
              </a:spcAft>
            </a:pPr>
            <a:r>
              <a:rPr sz="1200" b="0">
                <a:solidFill>
                  <a:srgbClr val="1A1A1A"/>
                </a:solidFill>
                <a:latin typeface="Red Hat Text"/>
              </a:rPr>
              <a:t>A workspace is for dev, not production</a:t>
            </a:r>
          </a:p>
        </p:txBody>
      </p:sp>
      <p:sp>
        <p:nvSpPr>
          <p:cNvPr id="21" name="Rounded Rectangle 20"/>
          <p:cNvSpPr/>
          <p:nvPr/>
        </p:nvSpPr>
        <p:spPr>
          <a:xfrm>
            <a:off x="6812280" y="2395728"/>
            <a:ext cx="4538167" cy="2944368"/>
          </a:xfrm>
          <a:prstGeom prst="roundRect">
            <a:avLst>
              <a:gd name="adj" fmla="val 4000"/>
            </a:avLst>
          </a:prstGeom>
          <a:solidFill>
            <a:srgbClr val="FFFFFF"/>
          </a:solidFill>
          <a:ln w="15240">
            <a:solidFill>
              <a:srgbClr val="DDE1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ounded Rectangle 21"/>
          <p:cNvSpPr/>
          <p:nvPr/>
        </p:nvSpPr>
        <p:spPr>
          <a:xfrm>
            <a:off x="7013448" y="2596896"/>
            <a:ext cx="1298448" cy="310896"/>
          </a:xfrm>
          <a:prstGeom prst="roundRect">
            <a:avLst>
              <a:gd name="adj" fmla="val 50000"/>
            </a:avLst>
          </a:prstGeom>
          <a:solidFill>
            <a:srgbClr val="FCEC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7013448" y="2596896"/>
            <a:ext cx="1298448" cy="310896"/>
          </a:xfrm>
          <a:prstGeom prst="rect">
            <a:avLst/>
          </a:prstGeom>
          <a:noFill/>
        </p:spPr>
        <p:txBody>
          <a:bodyPr wrap="none" anchor="ctr" lIns="0" rIns="0" tIns="0" bIns="0">
            <a:spAutoFit/>
          </a:bodyPr>
          <a:lstStyle/>
          <a:p>
            <a:pPr algn="ctr">
              <a:lnSpc>
                <a:spcPct val="106000"/>
              </a:lnSpc>
              <a:spcBef>
                <a:spcPts val="0"/>
              </a:spcBef>
              <a:spcAft>
                <a:spcPts val="0"/>
              </a:spcAft>
            </a:pPr>
            <a:r>
              <a:rPr sz="850" b="1">
                <a:solidFill>
                  <a:srgbClr val="B80000"/>
                </a:solidFill>
                <a:latin typeface="Red Hat Display"/>
              </a:rPr>
              <a:t>MEDIA PASS</a:t>
            </a:r>
          </a:p>
        </p:txBody>
      </p:sp>
      <p:pic>
        <p:nvPicPr>
          <p:cNvPr id="24" name="Picture 23" descr="eye_slate.png"/>
          <p:cNvPicPr>
            <a:picLocks noChangeAspect="1"/>
          </p:cNvPicPr>
          <p:nvPr/>
        </p:nvPicPr>
        <p:blipFill>
          <a:blip r:embed="rId4"/>
          <a:stretch>
            <a:fillRect/>
          </a:stretch>
        </p:blipFill>
        <p:spPr>
          <a:xfrm>
            <a:off x="8843619" y="3108960"/>
            <a:ext cx="475488" cy="475488"/>
          </a:xfrm>
          <a:prstGeom prst="rect">
            <a:avLst/>
          </a:prstGeom>
        </p:spPr>
      </p:pic>
      <p:sp>
        <p:nvSpPr>
          <p:cNvPr id="25" name="TextBox 24"/>
          <p:cNvSpPr txBox="1"/>
          <p:nvPr/>
        </p:nvSpPr>
        <p:spPr>
          <a:xfrm>
            <a:off x="7050024" y="3721608"/>
            <a:ext cx="4062679" cy="1481328"/>
          </a:xfrm>
          <a:prstGeom prst="rect">
            <a:avLst/>
          </a:prstGeom>
          <a:noFill/>
        </p:spPr>
        <p:txBody>
          <a:bodyPr wrap="square" anchor="t" lIns="0" rIns="0" tIns="0" bIns="0">
            <a:spAutoFit/>
          </a:bodyPr>
          <a:lstStyle/>
          <a:p>
            <a:pPr algn="l">
              <a:lnSpc>
                <a:spcPct val="120000"/>
              </a:lnSpc>
              <a:spcBef>
                <a:spcPts val="0"/>
              </a:spcBef>
              <a:spcAft>
                <a:spcPts val="0"/>
              </a:spcAft>
            </a:pPr>
            <a:r>
              <a:rPr sz="950" b="0">
                <a:solidFill>
                  <a:srgbClr val="8A9099"/>
                </a:solidFill>
                <a:latin typeface="Red Hat Text"/>
              </a:rPr>
              <a:t>Two-column "in-cluster workspace / keep it local" decision card.</a:t>
            </a:r>
          </a:p>
        </p:txBody>
      </p:sp>
      <p:cxnSp>
        <p:nvCxnSpPr>
          <p:cNvPr id="26" name="Connector 25"/>
          <p:cNvCxnSpPr/>
          <p:nvPr/>
        </p:nvCxnSpPr>
        <p:spPr>
          <a:xfrm>
            <a:off x="841248" y="6437376"/>
            <a:ext cx="10509199" cy="0"/>
          </a:xfrm>
          <a:prstGeom prst="bentConnector3">
            <a:avLst/>
          </a:prstGeom>
          <a:ln w="12700">
            <a:solidFill>
              <a:srgbClr val="DDE1E6"/>
            </a:solidFill>
          </a:ln>
          <a:effectLst/>
        </p:spPr>
        <p:style>
          <a:lnRef idx="2">
            <a:schemeClr val="accent1"/>
          </a:lnRef>
          <a:fillRef idx="0">
            <a:schemeClr val="accent1"/>
          </a:fillRef>
          <a:effectRef idx="1">
            <a:schemeClr val="accent1"/>
          </a:effectRef>
          <a:fontRef idx="minor">
            <a:schemeClr val="tx1"/>
          </a:fontRef>
        </p:style>
      </p:cxnSp>
      <p:sp>
        <p:nvSpPr>
          <p:cNvPr id="27" name="TextBox 26"/>
          <p:cNvSpPr txBox="1"/>
          <p:nvPr/>
        </p:nvSpPr>
        <p:spPr>
          <a:xfrm>
            <a:off x="841248" y="6473952"/>
            <a:ext cx="7315200" cy="274320"/>
          </a:xfrm>
          <a:prstGeom prst="rect">
            <a:avLst/>
          </a:prstGeom>
          <a:noFill/>
        </p:spPr>
        <p:txBody>
          <a:bodyPr wrap="square" anchor="t" lIns="0" rIns="0" tIns="0" bIns="0">
            <a:spAutoFit/>
          </a:bodyPr>
          <a:lstStyle/>
          <a:p>
            <a:pPr algn="l">
              <a:lnSpc>
                <a:spcPct val="106000"/>
              </a:lnSpc>
              <a:spcBef>
                <a:spcPts val="0"/>
              </a:spcBef>
              <a:spcAft>
                <a:spcPts val="0"/>
              </a:spcAft>
            </a:pPr>
            <a:r>
              <a:rPr sz="950" b="0">
                <a:solidFill>
                  <a:srgbClr val="8A9099"/>
                </a:solidFill>
                <a:latin typeface="Red Hat Text"/>
              </a:rPr>
              <a:t>CONFIDENTIAL</a:t>
            </a:r>
          </a:p>
        </p:txBody>
      </p:sp>
      <p:sp>
        <p:nvSpPr>
          <p:cNvPr id="28" name="TextBox 27"/>
          <p:cNvSpPr txBox="1"/>
          <p:nvPr/>
        </p:nvSpPr>
        <p:spPr>
          <a:xfrm>
            <a:off x="10801807" y="6473952"/>
            <a:ext cx="548640" cy="274320"/>
          </a:xfrm>
          <a:prstGeom prst="rect">
            <a:avLst/>
          </a:prstGeom>
          <a:noFill/>
        </p:spPr>
        <p:txBody>
          <a:bodyPr wrap="square" anchor="t" lIns="0" rIns="0" tIns="0" bIns="0">
            <a:spAutoFit/>
          </a:bodyPr>
          <a:lstStyle/>
          <a:p>
            <a:pPr algn="r">
              <a:lnSpc>
                <a:spcPct val="106000"/>
              </a:lnSpc>
              <a:spcBef>
                <a:spcPts val="0"/>
              </a:spcBef>
              <a:spcAft>
                <a:spcPts val="0"/>
              </a:spcAft>
            </a:pPr>
            <a:r>
              <a:rPr sz="950" b="0">
                <a:solidFill>
                  <a:srgbClr val="8A9099"/>
                </a:solidFill>
                <a:latin typeface="Red Hat Text"/>
              </a:rPr>
              <a:t>20</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redhat_logo.jpg"/>
          <p:cNvPicPr>
            <a:picLocks noChangeAspect="1"/>
          </p:cNvPicPr>
          <p:nvPr/>
        </p:nvPicPr>
        <p:blipFill>
          <a:blip r:embed="rId2"/>
          <a:stretch>
            <a:fillRect/>
          </a:stretch>
        </p:blipFill>
        <p:spPr>
          <a:xfrm>
            <a:off x="841248" y="731520"/>
            <a:ext cx="1554480" cy="367699"/>
          </a:xfrm>
          <a:prstGeom prst="rect">
            <a:avLst/>
          </a:prstGeom>
        </p:spPr>
      </p:pic>
      <p:sp>
        <p:nvSpPr>
          <p:cNvPr id="3" name="TextBox 2"/>
          <p:cNvSpPr txBox="1"/>
          <p:nvPr/>
        </p:nvSpPr>
        <p:spPr>
          <a:xfrm>
            <a:off x="841248" y="2514600"/>
            <a:ext cx="9601200" cy="274320"/>
          </a:xfrm>
          <a:prstGeom prst="rect">
            <a:avLst/>
          </a:prstGeom>
          <a:noFill/>
        </p:spPr>
        <p:txBody>
          <a:bodyPr wrap="square" anchor="t" lIns="0" rIns="0" tIns="0" bIns="0">
            <a:spAutoFit/>
          </a:bodyPr>
          <a:lstStyle/>
          <a:p>
            <a:pPr algn="l">
              <a:lnSpc>
                <a:spcPct val="106000"/>
              </a:lnSpc>
              <a:spcBef>
                <a:spcPts val="0"/>
              </a:spcBef>
              <a:spcAft>
                <a:spcPts val="0"/>
              </a:spcAft>
            </a:pPr>
            <a:r>
              <a:rPr sz="1250" b="1" spc="180">
                <a:solidFill>
                  <a:srgbClr val="2E4A62"/>
                </a:solidFill>
                <a:latin typeface="Red Hat Display"/>
              </a:rPr>
              <a:t>A · FOUNDATIONS</a:t>
            </a:r>
          </a:p>
        </p:txBody>
      </p:sp>
      <p:sp>
        <p:nvSpPr>
          <p:cNvPr id="4" name="TextBox 3"/>
          <p:cNvSpPr txBox="1"/>
          <p:nvPr/>
        </p:nvSpPr>
        <p:spPr>
          <a:xfrm>
            <a:off x="841248" y="2880360"/>
            <a:ext cx="2103120" cy="1188720"/>
          </a:xfrm>
          <a:prstGeom prst="rect">
            <a:avLst/>
          </a:prstGeom>
          <a:noFill/>
        </p:spPr>
        <p:txBody>
          <a:bodyPr wrap="none" anchor="t" lIns="0" rIns="0" tIns="0" bIns="0">
            <a:spAutoFit/>
          </a:bodyPr>
          <a:lstStyle/>
          <a:p>
            <a:pPr algn="l">
              <a:lnSpc>
                <a:spcPct val="90000"/>
              </a:lnSpc>
              <a:spcBef>
                <a:spcPts val="0"/>
              </a:spcBef>
              <a:spcAft>
                <a:spcPts val="0"/>
              </a:spcAft>
            </a:pPr>
            <a:r>
              <a:rPr sz="5200" b="1">
                <a:solidFill>
                  <a:srgbClr val="B80000"/>
                </a:solidFill>
                <a:latin typeface="Red Hat Display"/>
              </a:rPr>
              <a:t>M04</a:t>
            </a:r>
          </a:p>
        </p:txBody>
      </p:sp>
      <p:sp>
        <p:nvSpPr>
          <p:cNvPr id="5" name="TextBox 4"/>
          <p:cNvSpPr txBox="1"/>
          <p:nvPr/>
        </p:nvSpPr>
        <p:spPr>
          <a:xfrm>
            <a:off x="3127248" y="2971800"/>
            <a:ext cx="8412480" cy="1188720"/>
          </a:xfrm>
          <a:prstGeom prst="rect">
            <a:avLst/>
          </a:prstGeom>
          <a:noFill/>
        </p:spPr>
        <p:txBody>
          <a:bodyPr wrap="square" anchor="t" lIns="0" rIns="0" tIns="0" bIns="0">
            <a:spAutoFit/>
          </a:bodyPr>
          <a:lstStyle/>
          <a:p>
            <a:pPr algn="l">
              <a:lnSpc>
                <a:spcPct val="102000"/>
              </a:lnSpc>
              <a:spcBef>
                <a:spcPts val="0"/>
              </a:spcBef>
              <a:spcAft>
                <a:spcPts val="0"/>
              </a:spcAft>
            </a:pPr>
            <a:r>
              <a:rPr sz="3000" b="1">
                <a:solidFill>
                  <a:srgbClr val="1A1A1A"/>
                </a:solidFill>
                <a:latin typeface="Red Hat Display"/>
              </a:rPr>
              <a:t>Config, Secrets &amp; Multi-Environment</a:t>
            </a:r>
          </a:p>
        </p:txBody>
      </p:sp>
      <p:cxnSp>
        <p:nvCxnSpPr>
          <p:cNvPr id="6" name="Connector 5"/>
          <p:cNvCxnSpPr/>
          <p:nvPr/>
        </p:nvCxnSpPr>
        <p:spPr>
          <a:xfrm>
            <a:off x="841248" y="4443984"/>
            <a:ext cx="1463040" cy="0"/>
          </a:xfrm>
          <a:prstGeom prst="bentConnector3">
            <a:avLst/>
          </a:prstGeom>
          <a:ln w="38100">
            <a:solidFill>
              <a:srgbClr val="EE0000"/>
            </a:solidFill>
          </a:ln>
          <a:effectLst/>
        </p:spPr>
        <p:style>
          <a:lnRef idx="2">
            <a:schemeClr val="accent1"/>
          </a:lnRef>
          <a:fillRef idx="0">
            <a:schemeClr val="accent1"/>
          </a:fillRef>
          <a:effectRef idx="1">
            <a:schemeClr val="accent1"/>
          </a:effectRef>
          <a:fontRef idx="minor">
            <a:schemeClr val="tx1"/>
          </a:fontRef>
        </p:style>
      </p:cxn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redhat_logo.jpg"/>
          <p:cNvPicPr>
            <a:picLocks noChangeAspect="1"/>
          </p:cNvPicPr>
          <p:nvPr/>
        </p:nvPicPr>
        <p:blipFill>
          <a:blip r:embed="rId2"/>
          <a:stretch>
            <a:fillRect/>
          </a:stretch>
        </p:blipFill>
        <p:spPr>
          <a:xfrm>
            <a:off x="10326319" y="475488"/>
            <a:ext cx="1024128" cy="242248"/>
          </a:xfrm>
          <a:prstGeom prst="rect">
            <a:avLst/>
          </a:prstGeom>
        </p:spPr>
      </p:pic>
      <p:sp>
        <p:nvSpPr>
          <p:cNvPr id="3" name="TextBox 2"/>
          <p:cNvSpPr txBox="1"/>
          <p:nvPr/>
        </p:nvSpPr>
        <p:spPr>
          <a:xfrm>
            <a:off x="841248" y="548640"/>
            <a:ext cx="8595360" cy="274320"/>
          </a:xfrm>
          <a:prstGeom prst="rect">
            <a:avLst/>
          </a:prstGeom>
          <a:noFill/>
        </p:spPr>
        <p:txBody>
          <a:bodyPr wrap="square" anchor="t" lIns="0" rIns="0" tIns="0" bIns="0">
            <a:spAutoFit/>
          </a:bodyPr>
          <a:lstStyle/>
          <a:p>
            <a:pPr algn="l">
              <a:lnSpc>
                <a:spcPct val="106000"/>
              </a:lnSpc>
              <a:spcBef>
                <a:spcPts val="0"/>
              </a:spcBef>
              <a:spcAft>
                <a:spcPts val="0"/>
              </a:spcAft>
            </a:pPr>
            <a:r>
              <a:rPr sz="1250" b="1" spc="220">
                <a:solidFill>
                  <a:srgbClr val="EE0000"/>
                </a:solidFill>
                <a:latin typeface="Red Hat Display"/>
              </a:rPr>
              <a:t>M04 · CONFIG, SECRETS &amp; MULTI-ENVIRONMENT</a:t>
            </a:r>
          </a:p>
        </p:txBody>
      </p:sp>
      <p:sp>
        <p:nvSpPr>
          <p:cNvPr id="4" name="TextBox 3"/>
          <p:cNvSpPr txBox="1"/>
          <p:nvPr/>
        </p:nvSpPr>
        <p:spPr>
          <a:xfrm>
            <a:off x="841248" y="877824"/>
            <a:ext cx="10515600" cy="548640"/>
          </a:xfrm>
          <a:prstGeom prst="rect">
            <a:avLst/>
          </a:prstGeom>
          <a:noFill/>
        </p:spPr>
        <p:txBody>
          <a:bodyPr wrap="none" anchor="t" lIns="0" rIns="0" tIns="0" bIns="0">
            <a:spAutoFit/>
          </a:bodyPr>
          <a:lstStyle/>
          <a:p>
            <a:pPr algn="l">
              <a:lnSpc>
                <a:spcPct val="100000"/>
              </a:lnSpc>
              <a:spcBef>
                <a:spcPts val="0"/>
              </a:spcBef>
              <a:spcAft>
                <a:spcPts val="0"/>
              </a:spcAft>
            </a:pPr>
            <a:r>
              <a:rPr sz="2500" b="1">
                <a:solidFill>
                  <a:srgbClr val="1A1A1A"/>
                </a:solidFill>
                <a:latin typeface="Red Hat Display"/>
              </a:rPr>
              <a:t>It worked in staging</a:t>
            </a:r>
          </a:p>
        </p:txBody>
      </p:sp>
      <p:cxnSp>
        <p:nvCxnSpPr>
          <p:cNvPr id="5" name="Connector 4"/>
          <p:cNvCxnSpPr/>
          <p:nvPr/>
        </p:nvCxnSpPr>
        <p:spPr>
          <a:xfrm>
            <a:off x="841248" y="1554480"/>
            <a:ext cx="1371600" cy="0"/>
          </a:xfrm>
          <a:prstGeom prst="bentConnector3">
            <a:avLst/>
          </a:prstGeom>
          <a:ln w="31750">
            <a:solidFill>
              <a:srgbClr val="EE0000"/>
            </a:solidFill>
          </a:ln>
          <a:effectLst/>
        </p:spPr>
        <p:style>
          <a:lnRef idx="2">
            <a:schemeClr val="accent1"/>
          </a:lnRef>
          <a:fillRef idx="0">
            <a:schemeClr val="accent1"/>
          </a:fillRef>
          <a:effectRef idx="1">
            <a:schemeClr val="accent1"/>
          </a:effectRef>
          <a:fontRef idx="minor">
            <a:schemeClr val="tx1"/>
          </a:fontRef>
        </p:style>
      </p:cxnSp>
      <p:sp>
        <p:nvSpPr>
          <p:cNvPr id="6" name="Rounded Rectangle 5"/>
          <p:cNvSpPr/>
          <p:nvPr/>
        </p:nvSpPr>
        <p:spPr>
          <a:xfrm>
            <a:off x="841248" y="2395728"/>
            <a:ext cx="5715000" cy="530352"/>
          </a:xfrm>
          <a:prstGeom prst="roundRect">
            <a:avLst>
              <a:gd name="adj" fmla="val 6000"/>
            </a:avLst>
          </a:prstGeom>
          <a:solidFill>
            <a:srgbClr val="F5F6F8"/>
          </a:solidFill>
          <a:ln w="12700">
            <a:solidFill>
              <a:srgbClr val="DDE1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check_steel.png"/>
          <p:cNvPicPr>
            <a:picLocks noChangeAspect="1"/>
          </p:cNvPicPr>
          <p:nvPr/>
        </p:nvPicPr>
        <p:blipFill>
          <a:blip r:embed="rId3"/>
          <a:stretch>
            <a:fillRect/>
          </a:stretch>
        </p:blipFill>
        <p:spPr>
          <a:xfrm>
            <a:off x="987552" y="2542032"/>
            <a:ext cx="237744" cy="237744"/>
          </a:xfrm>
          <a:prstGeom prst="rect">
            <a:avLst/>
          </a:prstGeom>
        </p:spPr>
      </p:pic>
      <p:sp>
        <p:nvSpPr>
          <p:cNvPr id="8" name="TextBox 7"/>
          <p:cNvSpPr txBox="1"/>
          <p:nvPr/>
        </p:nvSpPr>
        <p:spPr>
          <a:xfrm>
            <a:off x="1353312" y="2395728"/>
            <a:ext cx="5029200" cy="530352"/>
          </a:xfrm>
          <a:prstGeom prst="rect">
            <a:avLst/>
          </a:prstGeom>
          <a:noFill/>
        </p:spPr>
        <p:txBody>
          <a:bodyPr wrap="square" anchor="ctr" lIns="0" rIns="0" tIns="0" bIns="0">
            <a:spAutoFit/>
          </a:bodyPr>
          <a:lstStyle/>
          <a:p>
            <a:pPr algn="l">
              <a:lnSpc>
                <a:spcPct val="106000"/>
              </a:lnSpc>
              <a:spcBef>
                <a:spcPts val="0"/>
              </a:spcBef>
              <a:spcAft>
                <a:spcPts val="0"/>
              </a:spcAft>
            </a:pPr>
            <a:r>
              <a:rPr sz="1200" b="0">
                <a:solidFill>
                  <a:srgbClr val="1A1A1A"/>
                </a:solidFill>
                <a:latin typeface="Red Hat Text"/>
              </a:rPr>
              <a:t>Change passed every check in staging</a:t>
            </a:r>
          </a:p>
        </p:txBody>
      </p:sp>
      <p:sp>
        <p:nvSpPr>
          <p:cNvPr id="9" name="Rounded Rectangle 8"/>
          <p:cNvSpPr/>
          <p:nvPr/>
        </p:nvSpPr>
        <p:spPr>
          <a:xfrm>
            <a:off x="841248" y="2999232"/>
            <a:ext cx="5715000" cy="530352"/>
          </a:xfrm>
          <a:prstGeom prst="roundRect">
            <a:avLst>
              <a:gd name="adj" fmla="val 6000"/>
            </a:avLst>
          </a:prstGeom>
          <a:solidFill>
            <a:srgbClr val="F5F6F8"/>
          </a:solidFill>
          <a:ln w="12700">
            <a:solidFill>
              <a:srgbClr val="DDE1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0" name="Picture 9" descr="check_steel.png"/>
          <p:cNvPicPr>
            <a:picLocks noChangeAspect="1"/>
          </p:cNvPicPr>
          <p:nvPr/>
        </p:nvPicPr>
        <p:blipFill>
          <a:blip r:embed="rId3"/>
          <a:stretch>
            <a:fillRect/>
          </a:stretch>
        </p:blipFill>
        <p:spPr>
          <a:xfrm>
            <a:off x="987552" y="3145536"/>
            <a:ext cx="237744" cy="237744"/>
          </a:xfrm>
          <a:prstGeom prst="rect">
            <a:avLst/>
          </a:prstGeom>
        </p:spPr>
      </p:pic>
      <p:sp>
        <p:nvSpPr>
          <p:cNvPr id="11" name="TextBox 10"/>
          <p:cNvSpPr txBox="1"/>
          <p:nvPr/>
        </p:nvSpPr>
        <p:spPr>
          <a:xfrm>
            <a:off x="1353312" y="2999232"/>
            <a:ext cx="5029200" cy="530352"/>
          </a:xfrm>
          <a:prstGeom prst="rect">
            <a:avLst/>
          </a:prstGeom>
          <a:noFill/>
        </p:spPr>
        <p:txBody>
          <a:bodyPr wrap="square" anchor="ctr" lIns="0" rIns="0" tIns="0" bIns="0">
            <a:spAutoFit/>
          </a:bodyPr>
          <a:lstStyle/>
          <a:p>
            <a:pPr algn="l">
              <a:lnSpc>
                <a:spcPct val="106000"/>
              </a:lnSpc>
              <a:spcBef>
                <a:spcPts val="0"/>
              </a:spcBef>
              <a:spcAft>
                <a:spcPts val="0"/>
              </a:spcAft>
            </a:pPr>
            <a:r>
              <a:rPr sz="1200" b="0">
                <a:solidFill>
                  <a:srgbClr val="1A1A1A"/>
                </a:solidFill>
                <a:latin typeface="Red Hat Text"/>
              </a:rPr>
              <a:t>Broke in production — again</a:t>
            </a:r>
          </a:p>
        </p:txBody>
      </p:sp>
      <p:sp>
        <p:nvSpPr>
          <p:cNvPr id="12" name="Rounded Rectangle 11"/>
          <p:cNvSpPr/>
          <p:nvPr/>
        </p:nvSpPr>
        <p:spPr>
          <a:xfrm>
            <a:off x="841248" y="3602736"/>
            <a:ext cx="5715000" cy="530352"/>
          </a:xfrm>
          <a:prstGeom prst="roundRect">
            <a:avLst>
              <a:gd name="adj" fmla="val 6000"/>
            </a:avLst>
          </a:prstGeom>
          <a:solidFill>
            <a:srgbClr val="F5F6F8"/>
          </a:solidFill>
          <a:ln w="12700">
            <a:solidFill>
              <a:srgbClr val="DDE1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3" name="Picture 12" descr="check_steel.png"/>
          <p:cNvPicPr>
            <a:picLocks noChangeAspect="1"/>
          </p:cNvPicPr>
          <p:nvPr/>
        </p:nvPicPr>
        <p:blipFill>
          <a:blip r:embed="rId3"/>
          <a:stretch>
            <a:fillRect/>
          </a:stretch>
        </p:blipFill>
        <p:spPr>
          <a:xfrm>
            <a:off x="987552" y="3749040"/>
            <a:ext cx="237744" cy="237744"/>
          </a:xfrm>
          <a:prstGeom prst="rect">
            <a:avLst/>
          </a:prstGeom>
        </p:spPr>
      </p:pic>
      <p:sp>
        <p:nvSpPr>
          <p:cNvPr id="14" name="TextBox 13"/>
          <p:cNvSpPr txBox="1"/>
          <p:nvPr/>
        </p:nvSpPr>
        <p:spPr>
          <a:xfrm>
            <a:off x="1353312" y="3602736"/>
            <a:ext cx="5029200" cy="530352"/>
          </a:xfrm>
          <a:prstGeom prst="rect">
            <a:avLst/>
          </a:prstGeom>
          <a:noFill/>
        </p:spPr>
        <p:txBody>
          <a:bodyPr wrap="square" anchor="ctr" lIns="0" rIns="0" tIns="0" bIns="0">
            <a:spAutoFit/>
          </a:bodyPr>
          <a:lstStyle/>
          <a:p>
            <a:pPr algn="l">
              <a:lnSpc>
                <a:spcPct val="106000"/>
              </a:lnSpc>
              <a:spcBef>
                <a:spcPts val="0"/>
              </a:spcBef>
              <a:spcAft>
                <a:spcPts val="0"/>
              </a:spcAft>
            </a:pPr>
            <a:r>
              <a:rPr sz="1200" b="0">
                <a:solidFill>
                  <a:srgbClr val="1A1A1A"/>
                </a:solidFill>
                <a:latin typeface="Red Hat Text"/>
              </a:rPr>
              <a:t>The code was fine</a:t>
            </a:r>
          </a:p>
        </p:txBody>
      </p:sp>
      <p:sp>
        <p:nvSpPr>
          <p:cNvPr id="15" name="Rounded Rectangle 14"/>
          <p:cNvSpPr/>
          <p:nvPr/>
        </p:nvSpPr>
        <p:spPr>
          <a:xfrm>
            <a:off x="841248" y="4206240"/>
            <a:ext cx="5715000" cy="530352"/>
          </a:xfrm>
          <a:prstGeom prst="roundRect">
            <a:avLst>
              <a:gd name="adj" fmla="val 6000"/>
            </a:avLst>
          </a:prstGeom>
          <a:solidFill>
            <a:srgbClr val="F5F6F8"/>
          </a:solidFill>
          <a:ln w="12700">
            <a:solidFill>
              <a:srgbClr val="DDE1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6" name="Picture 15" descr="check_steel.png"/>
          <p:cNvPicPr>
            <a:picLocks noChangeAspect="1"/>
          </p:cNvPicPr>
          <p:nvPr/>
        </p:nvPicPr>
        <p:blipFill>
          <a:blip r:embed="rId3"/>
          <a:stretch>
            <a:fillRect/>
          </a:stretch>
        </p:blipFill>
        <p:spPr>
          <a:xfrm>
            <a:off x="987552" y="4352544"/>
            <a:ext cx="237744" cy="237744"/>
          </a:xfrm>
          <a:prstGeom prst="rect">
            <a:avLst/>
          </a:prstGeom>
        </p:spPr>
      </p:pic>
      <p:sp>
        <p:nvSpPr>
          <p:cNvPr id="17" name="TextBox 16"/>
          <p:cNvSpPr txBox="1"/>
          <p:nvPr/>
        </p:nvSpPr>
        <p:spPr>
          <a:xfrm>
            <a:off x="1353312" y="4206240"/>
            <a:ext cx="5029200" cy="530352"/>
          </a:xfrm>
          <a:prstGeom prst="rect">
            <a:avLst/>
          </a:prstGeom>
          <a:noFill/>
        </p:spPr>
        <p:txBody>
          <a:bodyPr wrap="square" anchor="ctr" lIns="0" rIns="0" tIns="0" bIns="0">
            <a:spAutoFit/>
          </a:bodyPr>
          <a:lstStyle/>
          <a:p>
            <a:pPr algn="l">
              <a:lnSpc>
                <a:spcPct val="106000"/>
              </a:lnSpc>
              <a:spcBef>
                <a:spcPts val="0"/>
              </a:spcBef>
              <a:spcAft>
                <a:spcPts val="0"/>
              </a:spcAft>
            </a:pPr>
            <a:r>
              <a:rPr sz="1200" b="0">
                <a:solidFill>
                  <a:srgbClr val="1A1A1A"/>
                </a:solidFill>
                <a:latin typeface="Red Hat Text"/>
              </a:rPr>
              <a:t>Configuration lived in three places</a:t>
            </a:r>
          </a:p>
        </p:txBody>
      </p:sp>
      <p:sp>
        <p:nvSpPr>
          <p:cNvPr id="18" name="Rounded Rectangle 17"/>
          <p:cNvSpPr/>
          <p:nvPr/>
        </p:nvSpPr>
        <p:spPr>
          <a:xfrm>
            <a:off x="841248" y="4809744"/>
            <a:ext cx="5715000" cy="530352"/>
          </a:xfrm>
          <a:prstGeom prst="roundRect">
            <a:avLst>
              <a:gd name="adj" fmla="val 6000"/>
            </a:avLst>
          </a:prstGeom>
          <a:solidFill>
            <a:srgbClr val="F5F6F8"/>
          </a:solidFill>
          <a:ln w="12700">
            <a:solidFill>
              <a:srgbClr val="DDE1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9" name="Picture 18" descr="check_steel.png"/>
          <p:cNvPicPr>
            <a:picLocks noChangeAspect="1"/>
          </p:cNvPicPr>
          <p:nvPr/>
        </p:nvPicPr>
        <p:blipFill>
          <a:blip r:embed="rId3"/>
          <a:stretch>
            <a:fillRect/>
          </a:stretch>
        </p:blipFill>
        <p:spPr>
          <a:xfrm>
            <a:off x="987552" y="4956048"/>
            <a:ext cx="237744" cy="237744"/>
          </a:xfrm>
          <a:prstGeom prst="rect">
            <a:avLst/>
          </a:prstGeom>
        </p:spPr>
      </p:pic>
      <p:sp>
        <p:nvSpPr>
          <p:cNvPr id="20" name="TextBox 19"/>
          <p:cNvSpPr txBox="1"/>
          <p:nvPr/>
        </p:nvSpPr>
        <p:spPr>
          <a:xfrm>
            <a:off x="1353312" y="4809744"/>
            <a:ext cx="5029200" cy="530352"/>
          </a:xfrm>
          <a:prstGeom prst="rect">
            <a:avLst/>
          </a:prstGeom>
          <a:noFill/>
        </p:spPr>
        <p:txBody>
          <a:bodyPr wrap="square" anchor="ctr" lIns="0" rIns="0" tIns="0" bIns="0">
            <a:spAutoFit/>
          </a:bodyPr>
          <a:lstStyle/>
          <a:p>
            <a:pPr algn="l">
              <a:lnSpc>
                <a:spcPct val="106000"/>
              </a:lnSpc>
              <a:spcBef>
                <a:spcPts val="0"/>
              </a:spcBef>
              <a:spcAft>
                <a:spcPts val="0"/>
              </a:spcAft>
            </a:pPr>
            <a:r>
              <a:rPr sz="1200" b="0">
                <a:solidFill>
                  <a:srgbClr val="1A1A1A"/>
                </a:solidFill>
                <a:latin typeface="Red Hat Text"/>
              </a:rPr>
              <a:t>And drifted between environments</a:t>
            </a:r>
          </a:p>
        </p:txBody>
      </p:sp>
      <p:sp>
        <p:nvSpPr>
          <p:cNvPr id="21" name="Rounded Rectangle 20"/>
          <p:cNvSpPr/>
          <p:nvPr/>
        </p:nvSpPr>
        <p:spPr>
          <a:xfrm>
            <a:off x="6812280" y="2395728"/>
            <a:ext cx="4538167" cy="2944368"/>
          </a:xfrm>
          <a:prstGeom prst="roundRect">
            <a:avLst>
              <a:gd name="adj" fmla="val 4000"/>
            </a:avLst>
          </a:prstGeom>
          <a:solidFill>
            <a:srgbClr val="FFFFFF"/>
          </a:solidFill>
          <a:ln w="15240">
            <a:solidFill>
              <a:srgbClr val="DDE1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ounded Rectangle 21"/>
          <p:cNvSpPr/>
          <p:nvPr/>
        </p:nvSpPr>
        <p:spPr>
          <a:xfrm>
            <a:off x="7013448" y="2596896"/>
            <a:ext cx="1298448" cy="310896"/>
          </a:xfrm>
          <a:prstGeom prst="roundRect">
            <a:avLst>
              <a:gd name="adj" fmla="val 50000"/>
            </a:avLst>
          </a:prstGeom>
          <a:solidFill>
            <a:srgbClr val="FCEC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7013448" y="2596896"/>
            <a:ext cx="1298448" cy="310896"/>
          </a:xfrm>
          <a:prstGeom prst="rect">
            <a:avLst/>
          </a:prstGeom>
          <a:noFill/>
        </p:spPr>
        <p:txBody>
          <a:bodyPr wrap="none" anchor="ctr" lIns="0" rIns="0" tIns="0" bIns="0">
            <a:spAutoFit/>
          </a:bodyPr>
          <a:lstStyle/>
          <a:p>
            <a:pPr algn="ctr">
              <a:lnSpc>
                <a:spcPct val="106000"/>
              </a:lnSpc>
              <a:spcBef>
                <a:spcPts val="0"/>
              </a:spcBef>
              <a:spcAft>
                <a:spcPts val="0"/>
              </a:spcAft>
            </a:pPr>
            <a:r>
              <a:rPr sz="850" b="1">
                <a:solidFill>
                  <a:srgbClr val="B80000"/>
                </a:solidFill>
                <a:latin typeface="Red Hat Display"/>
              </a:rPr>
              <a:t>MEDIA PASS</a:t>
            </a:r>
          </a:p>
        </p:txBody>
      </p:sp>
      <p:pic>
        <p:nvPicPr>
          <p:cNvPr id="24" name="Picture 23" descr="eye_slate.png"/>
          <p:cNvPicPr>
            <a:picLocks noChangeAspect="1"/>
          </p:cNvPicPr>
          <p:nvPr/>
        </p:nvPicPr>
        <p:blipFill>
          <a:blip r:embed="rId4"/>
          <a:stretch>
            <a:fillRect/>
          </a:stretch>
        </p:blipFill>
        <p:spPr>
          <a:xfrm>
            <a:off x="8843619" y="3108960"/>
            <a:ext cx="475488" cy="475488"/>
          </a:xfrm>
          <a:prstGeom prst="rect">
            <a:avLst/>
          </a:prstGeom>
        </p:spPr>
      </p:pic>
      <p:sp>
        <p:nvSpPr>
          <p:cNvPr id="25" name="TextBox 24"/>
          <p:cNvSpPr txBox="1"/>
          <p:nvPr/>
        </p:nvSpPr>
        <p:spPr>
          <a:xfrm>
            <a:off x="7050024" y="3721608"/>
            <a:ext cx="4062679" cy="1481328"/>
          </a:xfrm>
          <a:prstGeom prst="rect">
            <a:avLst/>
          </a:prstGeom>
          <a:noFill/>
        </p:spPr>
        <p:txBody>
          <a:bodyPr wrap="square" anchor="t" lIns="0" rIns="0" tIns="0" bIns="0">
            <a:spAutoFit/>
          </a:bodyPr>
          <a:lstStyle/>
          <a:p>
            <a:pPr algn="l">
              <a:lnSpc>
                <a:spcPct val="120000"/>
              </a:lnSpc>
              <a:spcBef>
                <a:spcPts val="0"/>
              </a:spcBef>
              <a:spcAft>
                <a:spcPts val="0"/>
              </a:spcAft>
            </a:pPr>
            <a:r>
              <a:rPr sz="950" b="0">
                <a:solidFill>
                  <a:srgbClr val="8A9099"/>
                </a:solidFill>
                <a:latin typeface="Red Hat Text"/>
              </a:rPr>
              <a:t>Split panel — a green "staging: passed" check next to a red "production: 500" alert, with a tangle of config sources (image, env, file) between them.</a:t>
            </a:r>
          </a:p>
        </p:txBody>
      </p:sp>
      <p:cxnSp>
        <p:nvCxnSpPr>
          <p:cNvPr id="26" name="Connector 25"/>
          <p:cNvCxnSpPr/>
          <p:nvPr/>
        </p:nvCxnSpPr>
        <p:spPr>
          <a:xfrm>
            <a:off x="841248" y="6437376"/>
            <a:ext cx="10509199" cy="0"/>
          </a:xfrm>
          <a:prstGeom prst="bentConnector3">
            <a:avLst/>
          </a:prstGeom>
          <a:ln w="12700">
            <a:solidFill>
              <a:srgbClr val="DDE1E6"/>
            </a:solidFill>
          </a:ln>
          <a:effectLst/>
        </p:spPr>
        <p:style>
          <a:lnRef idx="2">
            <a:schemeClr val="accent1"/>
          </a:lnRef>
          <a:fillRef idx="0">
            <a:schemeClr val="accent1"/>
          </a:fillRef>
          <a:effectRef idx="1">
            <a:schemeClr val="accent1"/>
          </a:effectRef>
          <a:fontRef idx="minor">
            <a:schemeClr val="tx1"/>
          </a:fontRef>
        </p:style>
      </p:cxnSp>
      <p:sp>
        <p:nvSpPr>
          <p:cNvPr id="27" name="TextBox 26"/>
          <p:cNvSpPr txBox="1"/>
          <p:nvPr/>
        </p:nvSpPr>
        <p:spPr>
          <a:xfrm>
            <a:off x="841248" y="6473952"/>
            <a:ext cx="7315200" cy="274320"/>
          </a:xfrm>
          <a:prstGeom prst="rect">
            <a:avLst/>
          </a:prstGeom>
          <a:noFill/>
        </p:spPr>
        <p:txBody>
          <a:bodyPr wrap="square" anchor="t" lIns="0" rIns="0" tIns="0" bIns="0">
            <a:spAutoFit/>
          </a:bodyPr>
          <a:lstStyle/>
          <a:p>
            <a:pPr algn="l">
              <a:lnSpc>
                <a:spcPct val="106000"/>
              </a:lnSpc>
              <a:spcBef>
                <a:spcPts val="0"/>
              </a:spcBef>
              <a:spcAft>
                <a:spcPts val="0"/>
              </a:spcAft>
            </a:pPr>
            <a:r>
              <a:rPr sz="950" b="0">
                <a:solidFill>
                  <a:srgbClr val="8A9099"/>
                </a:solidFill>
                <a:latin typeface="Red Hat Text"/>
              </a:rPr>
              <a:t>CONFIDENTIAL</a:t>
            </a:r>
          </a:p>
        </p:txBody>
      </p:sp>
      <p:sp>
        <p:nvSpPr>
          <p:cNvPr id="28" name="TextBox 27"/>
          <p:cNvSpPr txBox="1"/>
          <p:nvPr/>
        </p:nvSpPr>
        <p:spPr>
          <a:xfrm>
            <a:off x="10801807" y="6473952"/>
            <a:ext cx="548640" cy="274320"/>
          </a:xfrm>
          <a:prstGeom prst="rect">
            <a:avLst/>
          </a:prstGeom>
          <a:noFill/>
        </p:spPr>
        <p:txBody>
          <a:bodyPr wrap="square" anchor="t" lIns="0" rIns="0" tIns="0" bIns="0">
            <a:spAutoFit/>
          </a:bodyPr>
          <a:lstStyle/>
          <a:p>
            <a:pPr algn="r">
              <a:lnSpc>
                <a:spcPct val="106000"/>
              </a:lnSpc>
              <a:spcBef>
                <a:spcPts val="0"/>
              </a:spcBef>
              <a:spcAft>
                <a:spcPts val="0"/>
              </a:spcAft>
            </a:pPr>
            <a:r>
              <a:rPr sz="950" b="0">
                <a:solidFill>
                  <a:srgbClr val="8A9099"/>
                </a:solidFill>
                <a:latin typeface="Red Hat Text"/>
              </a:rPr>
              <a:t>21</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redhat_logo.jpg"/>
          <p:cNvPicPr>
            <a:picLocks noChangeAspect="1"/>
          </p:cNvPicPr>
          <p:nvPr/>
        </p:nvPicPr>
        <p:blipFill>
          <a:blip r:embed="rId2"/>
          <a:stretch>
            <a:fillRect/>
          </a:stretch>
        </p:blipFill>
        <p:spPr>
          <a:xfrm>
            <a:off x="10326319" y="475488"/>
            <a:ext cx="1024128" cy="242248"/>
          </a:xfrm>
          <a:prstGeom prst="rect">
            <a:avLst/>
          </a:prstGeom>
        </p:spPr>
      </p:pic>
      <p:sp>
        <p:nvSpPr>
          <p:cNvPr id="3" name="TextBox 2"/>
          <p:cNvSpPr txBox="1"/>
          <p:nvPr/>
        </p:nvSpPr>
        <p:spPr>
          <a:xfrm>
            <a:off x="841248" y="548640"/>
            <a:ext cx="8595360" cy="274320"/>
          </a:xfrm>
          <a:prstGeom prst="rect">
            <a:avLst/>
          </a:prstGeom>
          <a:noFill/>
        </p:spPr>
        <p:txBody>
          <a:bodyPr wrap="square" anchor="t" lIns="0" rIns="0" tIns="0" bIns="0">
            <a:spAutoFit/>
          </a:bodyPr>
          <a:lstStyle/>
          <a:p>
            <a:pPr algn="l">
              <a:lnSpc>
                <a:spcPct val="106000"/>
              </a:lnSpc>
              <a:spcBef>
                <a:spcPts val="0"/>
              </a:spcBef>
              <a:spcAft>
                <a:spcPts val="0"/>
              </a:spcAft>
            </a:pPr>
            <a:r>
              <a:rPr sz="1250" b="1" spc="220">
                <a:solidFill>
                  <a:srgbClr val="EE0000"/>
                </a:solidFill>
                <a:latin typeface="Red Hat Display"/>
              </a:rPr>
              <a:t>M04 · CONFIG, SECRETS &amp; MULTI-ENVIRONMENT</a:t>
            </a:r>
          </a:p>
        </p:txBody>
      </p:sp>
      <p:sp>
        <p:nvSpPr>
          <p:cNvPr id="4" name="TextBox 3"/>
          <p:cNvSpPr txBox="1"/>
          <p:nvPr/>
        </p:nvSpPr>
        <p:spPr>
          <a:xfrm>
            <a:off x="841248" y="877824"/>
            <a:ext cx="10515600" cy="548640"/>
          </a:xfrm>
          <a:prstGeom prst="rect">
            <a:avLst/>
          </a:prstGeom>
          <a:noFill/>
        </p:spPr>
        <p:txBody>
          <a:bodyPr wrap="none" anchor="t" lIns="0" rIns="0" tIns="0" bIns="0">
            <a:spAutoFit/>
          </a:bodyPr>
          <a:lstStyle/>
          <a:p>
            <a:pPr algn="l">
              <a:lnSpc>
                <a:spcPct val="100000"/>
              </a:lnSpc>
              <a:spcBef>
                <a:spcPts val="0"/>
              </a:spcBef>
              <a:spcAft>
                <a:spcPts val="0"/>
              </a:spcAft>
            </a:pPr>
            <a:r>
              <a:rPr sz="2500" b="1">
                <a:solidFill>
                  <a:srgbClr val="1A1A1A"/>
                </a:solidFill>
                <a:latin typeface="Red Hat Display"/>
              </a:rPr>
              <a:t>Same image, different config</a:t>
            </a:r>
          </a:p>
        </p:txBody>
      </p:sp>
      <p:cxnSp>
        <p:nvCxnSpPr>
          <p:cNvPr id="5" name="Connector 4"/>
          <p:cNvCxnSpPr/>
          <p:nvPr/>
        </p:nvCxnSpPr>
        <p:spPr>
          <a:xfrm>
            <a:off x="841248" y="1554480"/>
            <a:ext cx="1371600" cy="0"/>
          </a:xfrm>
          <a:prstGeom prst="bentConnector3">
            <a:avLst/>
          </a:prstGeom>
          <a:ln w="31750">
            <a:solidFill>
              <a:srgbClr val="EE0000"/>
            </a:solidFill>
          </a:ln>
          <a:effectLst/>
        </p:spPr>
        <p:style>
          <a:lnRef idx="2">
            <a:schemeClr val="accent1"/>
          </a:lnRef>
          <a:fillRef idx="0">
            <a:schemeClr val="accent1"/>
          </a:fillRef>
          <a:effectRef idx="1">
            <a:schemeClr val="accent1"/>
          </a:effectRef>
          <a:fontRef idx="minor">
            <a:schemeClr val="tx1"/>
          </a:fontRef>
        </p:style>
      </p:cxnSp>
      <p:sp>
        <p:nvSpPr>
          <p:cNvPr id="6" name="Rounded Rectangle 5"/>
          <p:cNvSpPr/>
          <p:nvPr/>
        </p:nvSpPr>
        <p:spPr>
          <a:xfrm>
            <a:off x="841248" y="2395728"/>
            <a:ext cx="5715000" cy="530352"/>
          </a:xfrm>
          <a:prstGeom prst="roundRect">
            <a:avLst>
              <a:gd name="adj" fmla="val 6000"/>
            </a:avLst>
          </a:prstGeom>
          <a:solidFill>
            <a:srgbClr val="F5F6F8"/>
          </a:solidFill>
          <a:ln w="12700">
            <a:solidFill>
              <a:srgbClr val="DDE1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check_steel.png"/>
          <p:cNvPicPr>
            <a:picLocks noChangeAspect="1"/>
          </p:cNvPicPr>
          <p:nvPr/>
        </p:nvPicPr>
        <p:blipFill>
          <a:blip r:embed="rId3"/>
          <a:stretch>
            <a:fillRect/>
          </a:stretch>
        </p:blipFill>
        <p:spPr>
          <a:xfrm>
            <a:off x="987552" y="2542032"/>
            <a:ext cx="237744" cy="237744"/>
          </a:xfrm>
          <a:prstGeom prst="rect">
            <a:avLst/>
          </a:prstGeom>
        </p:spPr>
      </p:pic>
      <p:sp>
        <p:nvSpPr>
          <p:cNvPr id="8" name="TextBox 7"/>
          <p:cNvSpPr txBox="1"/>
          <p:nvPr/>
        </p:nvSpPr>
        <p:spPr>
          <a:xfrm>
            <a:off x="1353312" y="2395728"/>
            <a:ext cx="5029200" cy="530352"/>
          </a:xfrm>
          <a:prstGeom prst="rect">
            <a:avLst/>
          </a:prstGeom>
          <a:noFill/>
        </p:spPr>
        <p:txBody>
          <a:bodyPr wrap="square" anchor="ctr" lIns="0" rIns="0" tIns="0" bIns="0">
            <a:spAutoFit/>
          </a:bodyPr>
          <a:lstStyle/>
          <a:p>
            <a:pPr algn="l">
              <a:lnSpc>
                <a:spcPct val="106000"/>
              </a:lnSpc>
              <a:spcBef>
                <a:spcPts val="0"/>
              </a:spcBef>
              <a:spcAft>
                <a:spcPts val="0"/>
              </a:spcAft>
            </a:pPr>
            <a:r>
              <a:rPr sz="1200" b="0">
                <a:solidFill>
                  <a:srgbClr val="1A1A1A"/>
                </a:solidFill>
                <a:latin typeface="Red Hat Text"/>
              </a:rPr>
              <a:t>Build the image once — never rebuild</a:t>
            </a:r>
          </a:p>
        </p:txBody>
      </p:sp>
      <p:sp>
        <p:nvSpPr>
          <p:cNvPr id="9" name="Rounded Rectangle 8"/>
          <p:cNvSpPr/>
          <p:nvPr/>
        </p:nvSpPr>
        <p:spPr>
          <a:xfrm>
            <a:off x="841248" y="2999232"/>
            <a:ext cx="5715000" cy="530352"/>
          </a:xfrm>
          <a:prstGeom prst="roundRect">
            <a:avLst>
              <a:gd name="adj" fmla="val 6000"/>
            </a:avLst>
          </a:prstGeom>
          <a:solidFill>
            <a:srgbClr val="F5F6F8"/>
          </a:solidFill>
          <a:ln w="12700">
            <a:solidFill>
              <a:srgbClr val="DDE1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0" name="Picture 9" descr="check_steel.png"/>
          <p:cNvPicPr>
            <a:picLocks noChangeAspect="1"/>
          </p:cNvPicPr>
          <p:nvPr/>
        </p:nvPicPr>
        <p:blipFill>
          <a:blip r:embed="rId3"/>
          <a:stretch>
            <a:fillRect/>
          </a:stretch>
        </p:blipFill>
        <p:spPr>
          <a:xfrm>
            <a:off x="987552" y="3145536"/>
            <a:ext cx="237744" cy="237744"/>
          </a:xfrm>
          <a:prstGeom prst="rect">
            <a:avLst/>
          </a:prstGeom>
        </p:spPr>
      </p:pic>
      <p:sp>
        <p:nvSpPr>
          <p:cNvPr id="11" name="TextBox 10"/>
          <p:cNvSpPr txBox="1"/>
          <p:nvPr/>
        </p:nvSpPr>
        <p:spPr>
          <a:xfrm>
            <a:off x="1353312" y="2999232"/>
            <a:ext cx="5029200" cy="530352"/>
          </a:xfrm>
          <a:prstGeom prst="rect">
            <a:avLst/>
          </a:prstGeom>
          <a:noFill/>
        </p:spPr>
        <p:txBody>
          <a:bodyPr wrap="square" anchor="ctr" lIns="0" rIns="0" tIns="0" bIns="0">
            <a:spAutoFit/>
          </a:bodyPr>
          <a:lstStyle/>
          <a:p>
            <a:pPr algn="l">
              <a:lnSpc>
                <a:spcPct val="106000"/>
              </a:lnSpc>
              <a:spcBef>
                <a:spcPts val="0"/>
              </a:spcBef>
              <a:spcAft>
                <a:spcPts val="0"/>
              </a:spcAft>
            </a:pPr>
            <a:r>
              <a:rPr sz="1200" b="0">
                <a:solidFill>
                  <a:srgbClr val="1A1A1A"/>
                </a:solidFill>
                <a:latin typeface="Red Hat Text"/>
              </a:rPr>
              <a:t>Environment supplies the settings</a:t>
            </a:r>
          </a:p>
        </p:txBody>
      </p:sp>
      <p:sp>
        <p:nvSpPr>
          <p:cNvPr id="12" name="Rounded Rectangle 11"/>
          <p:cNvSpPr/>
          <p:nvPr/>
        </p:nvSpPr>
        <p:spPr>
          <a:xfrm>
            <a:off x="841248" y="3602736"/>
            <a:ext cx="5715000" cy="530352"/>
          </a:xfrm>
          <a:prstGeom prst="roundRect">
            <a:avLst>
              <a:gd name="adj" fmla="val 6000"/>
            </a:avLst>
          </a:prstGeom>
          <a:solidFill>
            <a:srgbClr val="F5F6F8"/>
          </a:solidFill>
          <a:ln w="12700">
            <a:solidFill>
              <a:srgbClr val="DDE1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3" name="Picture 12" descr="check_steel.png"/>
          <p:cNvPicPr>
            <a:picLocks noChangeAspect="1"/>
          </p:cNvPicPr>
          <p:nvPr/>
        </p:nvPicPr>
        <p:blipFill>
          <a:blip r:embed="rId3"/>
          <a:stretch>
            <a:fillRect/>
          </a:stretch>
        </p:blipFill>
        <p:spPr>
          <a:xfrm>
            <a:off x="987552" y="3749040"/>
            <a:ext cx="237744" cy="237744"/>
          </a:xfrm>
          <a:prstGeom prst="rect">
            <a:avLst/>
          </a:prstGeom>
        </p:spPr>
      </p:pic>
      <p:sp>
        <p:nvSpPr>
          <p:cNvPr id="14" name="TextBox 13"/>
          <p:cNvSpPr txBox="1"/>
          <p:nvPr/>
        </p:nvSpPr>
        <p:spPr>
          <a:xfrm>
            <a:off x="1353312" y="3602736"/>
            <a:ext cx="5029200" cy="530352"/>
          </a:xfrm>
          <a:prstGeom prst="rect">
            <a:avLst/>
          </a:prstGeom>
          <a:noFill/>
        </p:spPr>
        <p:txBody>
          <a:bodyPr wrap="square" anchor="ctr" lIns="0" rIns="0" tIns="0" bIns="0">
            <a:spAutoFit/>
          </a:bodyPr>
          <a:lstStyle/>
          <a:p>
            <a:pPr algn="l">
              <a:lnSpc>
                <a:spcPct val="106000"/>
              </a:lnSpc>
              <a:spcBef>
                <a:spcPts val="0"/>
              </a:spcBef>
              <a:spcAft>
                <a:spcPts val="0"/>
              </a:spcAft>
            </a:pPr>
            <a:r>
              <a:rPr sz="1200" b="0">
                <a:solidFill>
                  <a:srgbClr val="1A1A1A"/>
                </a:solidFill>
                <a:latin typeface="Red Hat Text"/>
              </a:rPr>
              <a:t>Four places: env, ConfigMap, Secret, file</a:t>
            </a:r>
          </a:p>
        </p:txBody>
      </p:sp>
      <p:sp>
        <p:nvSpPr>
          <p:cNvPr id="15" name="Rounded Rectangle 14"/>
          <p:cNvSpPr/>
          <p:nvPr/>
        </p:nvSpPr>
        <p:spPr>
          <a:xfrm>
            <a:off x="841248" y="4206240"/>
            <a:ext cx="5715000" cy="530352"/>
          </a:xfrm>
          <a:prstGeom prst="roundRect">
            <a:avLst>
              <a:gd name="adj" fmla="val 6000"/>
            </a:avLst>
          </a:prstGeom>
          <a:solidFill>
            <a:srgbClr val="F5F6F8"/>
          </a:solidFill>
          <a:ln w="12700">
            <a:solidFill>
              <a:srgbClr val="DDE1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6" name="Picture 15" descr="check_steel.png"/>
          <p:cNvPicPr>
            <a:picLocks noChangeAspect="1"/>
          </p:cNvPicPr>
          <p:nvPr/>
        </p:nvPicPr>
        <p:blipFill>
          <a:blip r:embed="rId3"/>
          <a:stretch>
            <a:fillRect/>
          </a:stretch>
        </p:blipFill>
        <p:spPr>
          <a:xfrm>
            <a:off x="987552" y="4352544"/>
            <a:ext cx="237744" cy="237744"/>
          </a:xfrm>
          <a:prstGeom prst="rect">
            <a:avLst/>
          </a:prstGeom>
        </p:spPr>
      </p:pic>
      <p:sp>
        <p:nvSpPr>
          <p:cNvPr id="17" name="TextBox 16"/>
          <p:cNvSpPr txBox="1"/>
          <p:nvPr/>
        </p:nvSpPr>
        <p:spPr>
          <a:xfrm>
            <a:off x="1353312" y="4206240"/>
            <a:ext cx="5029200" cy="530352"/>
          </a:xfrm>
          <a:prstGeom prst="rect">
            <a:avLst/>
          </a:prstGeom>
          <a:noFill/>
        </p:spPr>
        <p:txBody>
          <a:bodyPr wrap="square" anchor="ctr" lIns="0" rIns="0" tIns="0" bIns="0">
            <a:spAutoFit/>
          </a:bodyPr>
          <a:lstStyle/>
          <a:p>
            <a:pPr algn="l">
              <a:lnSpc>
                <a:spcPct val="106000"/>
              </a:lnSpc>
              <a:spcBef>
                <a:spcPts val="0"/>
              </a:spcBef>
              <a:spcAft>
                <a:spcPts val="0"/>
              </a:spcAft>
            </a:pPr>
            <a:r>
              <a:rPr sz="1200" b="0">
                <a:solidFill>
                  <a:srgbClr val="1A1A1A"/>
                </a:solidFill>
                <a:latin typeface="Red Hat Text"/>
              </a:rPr>
              <a:t>Promote = apply config, not rebuild</a:t>
            </a:r>
          </a:p>
        </p:txBody>
      </p:sp>
      <p:sp>
        <p:nvSpPr>
          <p:cNvPr id="18" name="Rounded Rectangle 17"/>
          <p:cNvSpPr/>
          <p:nvPr/>
        </p:nvSpPr>
        <p:spPr>
          <a:xfrm>
            <a:off x="841248" y="4809744"/>
            <a:ext cx="5715000" cy="530352"/>
          </a:xfrm>
          <a:prstGeom prst="roundRect">
            <a:avLst>
              <a:gd name="adj" fmla="val 6000"/>
            </a:avLst>
          </a:prstGeom>
          <a:solidFill>
            <a:srgbClr val="F5F6F8"/>
          </a:solidFill>
          <a:ln w="12700">
            <a:solidFill>
              <a:srgbClr val="DDE1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9" name="Picture 18" descr="check_steel.png"/>
          <p:cNvPicPr>
            <a:picLocks noChangeAspect="1"/>
          </p:cNvPicPr>
          <p:nvPr/>
        </p:nvPicPr>
        <p:blipFill>
          <a:blip r:embed="rId3"/>
          <a:stretch>
            <a:fillRect/>
          </a:stretch>
        </p:blipFill>
        <p:spPr>
          <a:xfrm>
            <a:off x="987552" y="4956048"/>
            <a:ext cx="237744" cy="237744"/>
          </a:xfrm>
          <a:prstGeom prst="rect">
            <a:avLst/>
          </a:prstGeom>
        </p:spPr>
      </p:pic>
      <p:sp>
        <p:nvSpPr>
          <p:cNvPr id="20" name="TextBox 19"/>
          <p:cNvSpPr txBox="1"/>
          <p:nvPr/>
        </p:nvSpPr>
        <p:spPr>
          <a:xfrm>
            <a:off x="1353312" y="4809744"/>
            <a:ext cx="5029200" cy="530352"/>
          </a:xfrm>
          <a:prstGeom prst="rect">
            <a:avLst/>
          </a:prstGeom>
          <a:noFill/>
        </p:spPr>
        <p:txBody>
          <a:bodyPr wrap="square" anchor="ctr" lIns="0" rIns="0" tIns="0" bIns="0">
            <a:spAutoFit/>
          </a:bodyPr>
          <a:lstStyle/>
          <a:p>
            <a:pPr algn="l">
              <a:lnSpc>
                <a:spcPct val="106000"/>
              </a:lnSpc>
              <a:spcBef>
                <a:spcPts val="0"/>
              </a:spcBef>
              <a:spcAft>
                <a:spcPts val="0"/>
              </a:spcAft>
            </a:pPr>
            <a:r>
              <a:rPr sz="1200" b="0">
                <a:solidFill>
                  <a:srgbClr val="1A1A1A"/>
                </a:solidFill>
                <a:latin typeface="Red Hat Text"/>
              </a:rPr>
              <a:t>Ship exactly what you tested</a:t>
            </a:r>
          </a:p>
        </p:txBody>
      </p:sp>
      <p:sp>
        <p:nvSpPr>
          <p:cNvPr id="21" name="Rounded Rectangle 20"/>
          <p:cNvSpPr/>
          <p:nvPr/>
        </p:nvSpPr>
        <p:spPr>
          <a:xfrm>
            <a:off x="6812280" y="2395728"/>
            <a:ext cx="4538167" cy="2944368"/>
          </a:xfrm>
          <a:prstGeom prst="roundRect">
            <a:avLst>
              <a:gd name="adj" fmla="val 4000"/>
            </a:avLst>
          </a:prstGeom>
          <a:solidFill>
            <a:srgbClr val="FFFFFF"/>
          </a:solidFill>
          <a:ln w="15240">
            <a:solidFill>
              <a:srgbClr val="DDE1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ounded Rectangle 21"/>
          <p:cNvSpPr/>
          <p:nvPr/>
        </p:nvSpPr>
        <p:spPr>
          <a:xfrm>
            <a:off x="7013448" y="2596896"/>
            <a:ext cx="1298448" cy="310896"/>
          </a:xfrm>
          <a:prstGeom prst="roundRect">
            <a:avLst>
              <a:gd name="adj" fmla="val 50000"/>
            </a:avLst>
          </a:prstGeom>
          <a:solidFill>
            <a:srgbClr val="FCEC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7013448" y="2596896"/>
            <a:ext cx="1298448" cy="310896"/>
          </a:xfrm>
          <a:prstGeom prst="rect">
            <a:avLst/>
          </a:prstGeom>
          <a:noFill/>
        </p:spPr>
        <p:txBody>
          <a:bodyPr wrap="none" anchor="ctr" lIns="0" rIns="0" tIns="0" bIns="0">
            <a:spAutoFit/>
          </a:bodyPr>
          <a:lstStyle/>
          <a:p>
            <a:pPr algn="ctr">
              <a:lnSpc>
                <a:spcPct val="106000"/>
              </a:lnSpc>
              <a:spcBef>
                <a:spcPts val="0"/>
              </a:spcBef>
              <a:spcAft>
                <a:spcPts val="0"/>
              </a:spcAft>
            </a:pPr>
            <a:r>
              <a:rPr sz="850" b="1">
                <a:solidFill>
                  <a:srgbClr val="B80000"/>
                </a:solidFill>
                <a:latin typeface="Red Hat Display"/>
              </a:rPr>
              <a:t>MEDIA PASS</a:t>
            </a:r>
          </a:p>
        </p:txBody>
      </p:sp>
      <p:pic>
        <p:nvPicPr>
          <p:cNvPr id="24" name="Picture 23" descr="eye_slate.png"/>
          <p:cNvPicPr>
            <a:picLocks noChangeAspect="1"/>
          </p:cNvPicPr>
          <p:nvPr/>
        </p:nvPicPr>
        <p:blipFill>
          <a:blip r:embed="rId4"/>
          <a:stretch>
            <a:fillRect/>
          </a:stretch>
        </p:blipFill>
        <p:spPr>
          <a:xfrm>
            <a:off x="8843619" y="3108960"/>
            <a:ext cx="475488" cy="475488"/>
          </a:xfrm>
          <a:prstGeom prst="rect">
            <a:avLst/>
          </a:prstGeom>
        </p:spPr>
      </p:pic>
      <p:sp>
        <p:nvSpPr>
          <p:cNvPr id="25" name="TextBox 24"/>
          <p:cNvSpPr txBox="1"/>
          <p:nvPr/>
        </p:nvSpPr>
        <p:spPr>
          <a:xfrm>
            <a:off x="7050024" y="3721608"/>
            <a:ext cx="4062679" cy="1481328"/>
          </a:xfrm>
          <a:prstGeom prst="rect">
            <a:avLst/>
          </a:prstGeom>
          <a:noFill/>
        </p:spPr>
        <p:txBody>
          <a:bodyPr wrap="square" anchor="t" lIns="0" rIns="0" tIns="0" bIns="0">
            <a:spAutoFit/>
          </a:bodyPr>
          <a:lstStyle/>
          <a:p>
            <a:pPr algn="l">
              <a:lnSpc>
                <a:spcPct val="120000"/>
              </a:lnSpc>
              <a:spcBef>
                <a:spcPts val="0"/>
              </a:spcBef>
              <a:spcAft>
                <a:spcPts val="0"/>
              </a:spcAft>
            </a:pPr>
            <a:r>
              <a:rPr sz="950" b="0">
                <a:solidFill>
                  <a:srgbClr val="8A9099"/>
                </a:solidFill>
                <a:latin typeface="Red Hat Text"/>
              </a:rPr>
              <a:t>Reuse concept diagram config-multienv-...-01-config-sources.svg — one immutable image fed by env / ConfigMap / Secret / mounted file.</a:t>
            </a:r>
          </a:p>
        </p:txBody>
      </p:sp>
      <p:cxnSp>
        <p:nvCxnSpPr>
          <p:cNvPr id="26" name="Connector 25"/>
          <p:cNvCxnSpPr/>
          <p:nvPr/>
        </p:nvCxnSpPr>
        <p:spPr>
          <a:xfrm>
            <a:off x="841248" y="6437376"/>
            <a:ext cx="10509199" cy="0"/>
          </a:xfrm>
          <a:prstGeom prst="bentConnector3">
            <a:avLst/>
          </a:prstGeom>
          <a:ln w="12700">
            <a:solidFill>
              <a:srgbClr val="DDE1E6"/>
            </a:solidFill>
          </a:ln>
          <a:effectLst/>
        </p:spPr>
        <p:style>
          <a:lnRef idx="2">
            <a:schemeClr val="accent1"/>
          </a:lnRef>
          <a:fillRef idx="0">
            <a:schemeClr val="accent1"/>
          </a:fillRef>
          <a:effectRef idx="1">
            <a:schemeClr val="accent1"/>
          </a:effectRef>
          <a:fontRef idx="minor">
            <a:schemeClr val="tx1"/>
          </a:fontRef>
        </p:style>
      </p:cxnSp>
      <p:sp>
        <p:nvSpPr>
          <p:cNvPr id="27" name="TextBox 26"/>
          <p:cNvSpPr txBox="1"/>
          <p:nvPr/>
        </p:nvSpPr>
        <p:spPr>
          <a:xfrm>
            <a:off x="841248" y="6473952"/>
            <a:ext cx="7315200" cy="274320"/>
          </a:xfrm>
          <a:prstGeom prst="rect">
            <a:avLst/>
          </a:prstGeom>
          <a:noFill/>
        </p:spPr>
        <p:txBody>
          <a:bodyPr wrap="square" anchor="t" lIns="0" rIns="0" tIns="0" bIns="0">
            <a:spAutoFit/>
          </a:bodyPr>
          <a:lstStyle/>
          <a:p>
            <a:pPr algn="l">
              <a:lnSpc>
                <a:spcPct val="106000"/>
              </a:lnSpc>
              <a:spcBef>
                <a:spcPts val="0"/>
              </a:spcBef>
              <a:spcAft>
                <a:spcPts val="0"/>
              </a:spcAft>
            </a:pPr>
            <a:r>
              <a:rPr sz="950" b="0">
                <a:solidFill>
                  <a:srgbClr val="8A9099"/>
                </a:solidFill>
                <a:latin typeface="Red Hat Text"/>
              </a:rPr>
              <a:t>CONFIDENTIAL</a:t>
            </a:r>
          </a:p>
        </p:txBody>
      </p:sp>
      <p:sp>
        <p:nvSpPr>
          <p:cNvPr id="28" name="TextBox 27"/>
          <p:cNvSpPr txBox="1"/>
          <p:nvPr/>
        </p:nvSpPr>
        <p:spPr>
          <a:xfrm>
            <a:off x="10801807" y="6473952"/>
            <a:ext cx="548640" cy="274320"/>
          </a:xfrm>
          <a:prstGeom prst="rect">
            <a:avLst/>
          </a:prstGeom>
          <a:noFill/>
        </p:spPr>
        <p:txBody>
          <a:bodyPr wrap="square" anchor="t" lIns="0" rIns="0" tIns="0" bIns="0">
            <a:spAutoFit/>
          </a:bodyPr>
          <a:lstStyle/>
          <a:p>
            <a:pPr algn="r">
              <a:lnSpc>
                <a:spcPct val="106000"/>
              </a:lnSpc>
              <a:spcBef>
                <a:spcPts val="0"/>
              </a:spcBef>
              <a:spcAft>
                <a:spcPts val="0"/>
              </a:spcAft>
            </a:pPr>
            <a:r>
              <a:rPr sz="950" b="0">
                <a:solidFill>
                  <a:srgbClr val="8A9099"/>
                </a:solidFill>
                <a:latin typeface="Red Hat Text"/>
              </a:rPr>
              <a:t>22</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redhat_logo.jpg"/>
          <p:cNvPicPr>
            <a:picLocks noChangeAspect="1"/>
          </p:cNvPicPr>
          <p:nvPr/>
        </p:nvPicPr>
        <p:blipFill>
          <a:blip r:embed="rId2"/>
          <a:stretch>
            <a:fillRect/>
          </a:stretch>
        </p:blipFill>
        <p:spPr>
          <a:xfrm>
            <a:off x="10326319" y="475488"/>
            <a:ext cx="1024128" cy="242248"/>
          </a:xfrm>
          <a:prstGeom prst="rect">
            <a:avLst/>
          </a:prstGeom>
        </p:spPr>
      </p:pic>
      <p:sp>
        <p:nvSpPr>
          <p:cNvPr id="3" name="TextBox 2"/>
          <p:cNvSpPr txBox="1"/>
          <p:nvPr/>
        </p:nvSpPr>
        <p:spPr>
          <a:xfrm>
            <a:off x="841248" y="548640"/>
            <a:ext cx="8595360" cy="274320"/>
          </a:xfrm>
          <a:prstGeom prst="rect">
            <a:avLst/>
          </a:prstGeom>
          <a:noFill/>
        </p:spPr>
        <p:txBody>
          <a:bodyPr wrap="square" anchor="t" lIns="0" rIns="0" tIns="0" bIns="0">
            <a:spAutoFit/>
          </a:bodyPr>
          <a:lstStyle/>
          <a:p>
            <a:pPr algn="l">
              <a:lnSpc>
                <a:spcPct val="106000"/>
              </a:lnSpc>
              <a:spcBef>
                <a:spcPts val="0"/>
              </a:spcBef>
              <a:spcAft>
                <a:spcPts val="0"/>
              </a:spcAft>
            </a:pPr>
            <a:r>
              <a:rPr sz="1250" b="1" spc="220">
                <a:solidFill>
                  <a:srgbClr val="EE0000"/>
                </a:solidFill>
                <a:latin typeface="Red Hat Display"/>
              </a:rPr>
              <a:t>M04 · CONFIG, SECRETS &amp; MULTI-ENVIRONMENT</a:t>
            </a:r>
          </a:p>
        </p:txBody>
      </p:sp>
      <p:sp>
        <p:nvSpPr>
          <p:cNvPr id="4" name="TextBox 3"/>
          <p:cNvSpPr txBox="1"/>
          <p:nvPr/>
        </p:nvSpPr>
        <p:spPr>
          <a:xfrm>
            <a:off x="841248" y="877824"/>
            <a:ext cx="10515600" cy="548640"/>
          </a:xfrm>
          <a:prstGeom prst="rect">
            <a:avLst/>
          </a:prstGeom>
          <a:noFill/>
        </p:spPr>
        <p:txBody>
          <a:bodyPr wrap="none" anchor="t" lIns="0" rIns="0" tIns="0" bIns="0">
            <a:spAutoFit/>
          </a:bodyPr>
          <a:lstStyle/>
          <a:p>
            <a:pPr algn="l">
              <a:lnSpc>
                <a:spcPct val="100000"/>
              </a:lnSpc>
              <a:spcBef>
                <a:spcPts val="0"/>
              </a:spcBef>
              <a:spcAft>
                <a:spcPts val="0"/>
              </a:spcAft>
            </a:pPr>
            <a:r>
              <a:rPr sz="2500" b="1">
                <a:solidFill>
                  <a:srgbClr val="1A1A1A"/>
                </a:solidFill>
                <a:latin typeface="Red Hat Display"/>
              </a:rPr>
              <a:t>ConfigMap vs Secret — and an honest word</a:t>
            </a:r>
          </a:p>
        </p:txBody>
      </p:sp>
      <p:cxnSp>
        <p:nvCxnSpPr>
          <p:cNvPr id="5" name="Connector 4"/>
          <p:cNvCxnSpPr/>
          <p:nvPr/>
        </p:nvCxnSpPr>
        <p:spPr>
          <a:xfrm>
            <a:off x="841248" y="1554480"/>
            <a:ext cx="1371600" cy="0"/>
          </a:xfrm>
          <a:prstGeom prst="bentConnector3">
            <a:avLst/>
          </a:prstGeom>
          <a:ln w="31750">
            <a:solidFill>
              <a:srgbClr val="EE0000"/>
            </a:solidFill>
          </a:ln>
          <a:effectLst/>
        </p:spPr>
        <p:style>
          <a:lnRef idx="2">
            <a:schemeClr val="accent1"/>
          </a:lnRef>
          <a:fillRef idx="0">
            <a:schemeClr val="accent1"/>
          </a:fillRef>
          <a:effectRef idx="1">
            <a:schemeClr val="accent1"/>
          </a:effectRef>
          <a:fontRef idx="minor">
            <a:schemeClr val="tx1"/>
          </a:fontRef>
        </p:style>
      </p:cxnSp>
      <p:sp>
        <p:nvSpPr>
          <p:cNvPr id="6" name="Rounded Rectangle 5"/>
          <p:cNvSpPr/>
          <p:nvPr/>
        </p:nvSpPr>
        <p:spPr>
          <a:xfrm>
            <a:off x="841248" y="2395728"/>
            <a:ext cx="5715000" cy="530352"/>
          </a:xfrm>
          <a:prstGeom prst="roundRect">
            <a:avLst>
              <a:gd name="adj" fmla="val 6000"/>
            </a:avLst>
          </a:prstGeom>
          <a:solidFill>
            <a:srgbClr val="F5F6F8"/>
          </a:solidFill>
          <a:ln w="12700">
            <a:solidFill>
              <a:srgbClr val="DDE1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check_steel.png"/>
          <p:cNvPicPr>
            <a:picLocks noChangeAspect="1"/>
          </p:cNvPicPr>
          <p:nvPr/>
        </p:nvPicPr>
        <p:blipFill>
          <a:blip r:embed="rId3"/>
          <a:stretch>
            <a:fillRect/>
          </a:stretch>
        </p:blipFill>
        <p:spPr>
          <a:xfrm>
            <a:off x="987552" y="2542032"/>
            <a:ext cx="237744" cy="237744"/>
          </a:xfrm>
          <a:prstGeom prst="rect">
            <a:avLst/>
          </a:prstGeom>
        </p:spPr>
      </p:pic>
      <p:sp>
        <p:nvSpPr>
          <p:cNvPr id="8" name="TextBox 7"/>
          <p:cNvSpPr txBox="1"/>
          <p:nvPr/>
        </p:nvSpPr>
        <p:spPr>
          <a:xfrm>
            <a:off x="1353312" y="2395728"/>
            <a:ext cx="5029200" cy="530352"/>
          </a:xfrm>
          <a:prstGeom prst="rect">
            <a:avLst/>
          </a:prstGeom>
          <a:noFill/>
        </p:spPr>
        <p:txBody>
          <a:bodyPr wrap="square" anchor="ctr" lIns="0" rIns="0" tIns="0" bIns="0">
            <a:spAutoFit/>
          </a:bodyPr>
          <a:lstStyle/>
          <a:p>
            <a:pPr algn="l">
              <a:lnSpc>
                <a:spcPct val="106000"/>
              </a:lnSpc>
              <a:spcBef>
                <a:spcPts val="0"/>
              </a:spcBef>
              <a:spcAft>
                <a:spcPts val="0"/>
              </a:spcAft>
            </a:pPr>
            <a:r>
              <a:rPr sz="1200" b="0">
                <a:solidFill>
                  <a:srgbClr val="1A1A1A"/>
                </a:solidFill>
                <a:latin typeface="Red Hat Text"/>
              </a:rPr>
              <a:t>ConfigMap: non-secret config, versioned separately</a:t>
            </a:r>
          </a:p>
        </p:txBody>
      </p:sp>
      <p:sp>
        <p:nvSpPr>
          <p:cNvPr id="9" name="Rounded Rectangle 8"/>
          <p:cNvSpPr/>
          <p:nvPr/>
        </p:nvSpPr>
        <p:spPr>
          <a:xfrm>
            <a:off x="841248" y="2999232"/>
            <a:ext cx="5715000" cy="530352"/>
          </a:xfrm>
          <a:prstGeom prst="roundRect">
            <a:avLst>
              <a:gd name="adj" fmla="val 6000"/>
            </a:avLst>
          </a:prstGeom>
          <a:solidFill>
            <a:srgbClr val="F5F6F8"/>
          </a:solidFill>
          <a:ln w="12700">
            <a:solidFill>
              <a:srgbClr val="DDE1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0" name="Picture 9" descr="check_steel.png"/>
          <p:cNvPicPr>
            <a:picLocks noChangeAspect="1"/>
          </p:cNvPicPr>
          <p:nvPr/>
        </p:nvPicPr>
        <p:blipFill>
          <a:blip r:embed="rId3"/>
          <a:stretch>
            <a:fillRect/>
          </a:stretch>
        </p:blipFill>
        <p:spPr>
          <a:xfrm>
            <a:off x="987552" y="3145536"/>
            <a:ext cx="237744" cy="237744"/>
          </a:xfrm>
          <a:prstGeom prst="rect">
            <a:avLst/>
          </a:prstGeom>
        </p:spPr>
      </p:pic>
      <p:sp>
        <p:nvSpPr>
          <p:cNvPr id="11" name="TextBox 10"/>
          <p:cNvSpPr txBox="1"/>
          <p:nvPr/>
        </p:nvSpPr>
        <p:spPr>
          <a:xfrm>
            <a:off x="1353312" y="2999232"/>
            <a:ext cx="5029200" cy="530352"/>
          </a:xfrm>
          <a:prstGeom prst="rect">
            <a:avLst/>
          </a:prstGeom>
          <a:noFill/>
        </p:spPr>
        <p:txBody>
          <a:bodyPr wrap="square" anchor="ctr" lIns="0" rIns="0" tIns="0" bIns="0">
            <a:spAutoFit/>
          </a:bodyPr>
          <a:lstStyle/>
          <a:p>
            <a:pPr algn="l">
              <a:lnSpc>
                <a:spcPct val="106000"/>
              </a:lnSpc>
              <a:spcBef>
                <a:spcPts val="0"/>
              </a:spcBef>
              <a:spcAft>
                <a:spcPts val="0"/>
              </a:spcAft>
            </a:pPr>
            <a:r>
              <a:rPr sz="1200" b="0">
                <a:solidFill>
                  <a:srgbClr val="1A1A1A"/>
                </a:solidFill>
                <a:latin typeface="Red Hat Text"/>
              </a:rPr>
              <a:t>Secret: credentials, separate access control</a:t>
            </a:r>
          </a:p>
        </p:txBody>
      </p:sp>
      <p:sp>
        <p:nvSpPr>
          <p:cNvPr id="12" name="Rounded Rectangle 11"/>
          <p:cNvSpPr/>
          <p:nvPr/>
        </p:nvSpPr>
        <p:spPr>
          <a:xfrm>
            <a:off x="841248" y="3602736"/>
            <a:ext cx="5715000" cy="530352"/>
          </a:xfrm>
          <a:prstGeom prst="roundRect">
            <a:avLst>
              <a:gd name="adj" fmla="val 6000"/>
            </a:avLst>
          </a:prstGeom>
          <a:solidFill>
            <a:srgbClr val="F5F6F8"/>
          </a:solidFill>
          <a:ln w="12700">
            <a:solidFill>
              <a:srgbClr val="DDE1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3" name="Picture 12" descr="check_steel.png"/>
          <p:cNvPicPr>
            <a:picLocks noChangeAspect="1"/>
          </p:cNvPicPr>
          <p:nvPr/>
        </p:nvPicPr>
        <p:blipFill>
          <a:blip r:embed="rId3"/>
          <a:stretch>
            <a:fillRect/>
          </a:stretch>
        </p:blipFill>
        <p:spPr>
          <a:xfrm>
            <a:off x="987552" y="3749040"/>
            <a:ext cx="237744" cy="237744"/>
          </a:xfrm>
          <a:prstGeom prst="rect">
            <a:avLst/>
          </a:prstGeom>
        </p:spPr>
      </p:pic>
      <p:sp>
        <p:nvSpPr>
          <p:cNvPr id="14" name="TextBox 13"/>
          <p:cNvSpPr txBox="1"/>
          <p:nvPr/>
        </p:nvSpPr>
        <p:spPr>
          <a:xfrm>
            <a:off x="1353312" y="3602736"/>
            <a:ext cx="5029200" cy="530352"/>
          </a:xfrm>
          <a:prstGeom prst="rect">
            <a:avLst/>
          </a:prstGeom>
          <a:noFill/>
        </p:spPr>
        <p:txBody>
          <a:bodyPr wrap="square" anchor="ctr" lIns="0" rIns="0" tIns="0" bIns="0">
            <a:spAutoFit/>
          </a:bodyPr>
          <a:lstStyle/>
          <a:p>
            <a:pPr algn="l">
              <a:lnSpc>
                <a:spcPct val="106000"/>
              </a:lnSpc>
              <a:spcBef>
                <a:spcPts val="0"/>
              </a:spcBef>
              <a:spcAft>
                <a:spcPts val="0"/>
              </a:spcAft>
            </a:pPr>
            <a:r>
              <a:rPr sz="1200" b="0">
                <a:solidFill>
                  <a:srgbClr val="1A1A1A"/>
                </a:solidFill>
                <a:latin typeface="Red Hat Text"/>
              </a:rPr>
              <a:t>base64 is encoding, NOT encryption</a:t>
            </a:r>
          </a:p>
        </p:txBody>
      </p:sp>
      <p:sp>
        <p:nvSpPr>
          <p:cNvPr id="15" name="Rounded Rectangle 14"/>
          <p:cNvSpPr/>
          <p:nvPr/>
        </p:nvSpPr>
        <p:spPr>
          <a:xfrm>
            <a:off x="841248" y="4206240"/>
            <a:ext cx="5715000" cy="530352"/>
          </a:xfrm>
          <a:prstGeom prst="roundRect">
            <a:avLst>
              <a:gd name="adj" fmla="val 6000"/>
            </a:avLst>
          </a:prstGeom>
          <a:solidFill>
            <a:srgbClr val="F5F6F8"/>
          </a:solidFill>
          <a:ln w="12700">
            <a:solidFill>
              <a:srgbClr val="DDE1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6" name="Picture 15" descr="check_steel.png"/>
          <p:cNvPicPr>
            <a:picLocks noChangeAspect="1"/>
          </p:cNvPicPr>
          <p:nvPr/>
        </p:nvPicPr>
        <p:blipFill>
          <a:blip r:embed="rId3"/>
          <a:stretch>
            <a:fillRect/>
          </a:stretch>
        </p:blipFill>
        <p:spPr>
          <a:xfrm>
            <a:off x="987552" y="4352544"/>
            <a:ext cx="237744" cy="237744"/>
          </a:xfrm>
          <a:prstGeom prst="rect">
            <a:avLst/>
          </a:prstGeom>
        </p:spPr>
      </p:pic>
      <p:sp>
        <p:nvSpPr>
          <p:cNvPr id="17" name="TextBox 16"/>
          <p:cNvSpPr txBox="1"/>
          <p:nvPr/>
        </p:nvSpPr>
        <p:spPr>
          <a:xfrm>
            <a:off x="1353312" y="4206240"/>
            <a:ext cx="5029200" cy="530352"/>
          </a:xfrm>
          <a:prstGeom prst="rect">
            <a:avLst/>
          </a:prstGeom>
          <a:noFill/>
        </p:spPr>
        <p:txBody>
          <a:bodyPr wrap="square" anchor="ctr" lIns="0" rIns="0" tIns="0" bIns="0">
            <a:spAutoFit/>
          </a:bodyPr>
          <a:lstStyle/>
          <a:p>
            <a:pPr algn="l">
              <a:lnSpc>
                <a:spcPct val="106000"/>
              </a:lnSpc>
              <a:spcBef>
                <a:spcPts val="0"/>
              </a:spcBef>
              <a:spcAft>
                <a:spcPts val="0"/>
              </a:spcAft>
            </a:pPr>
            <a:r>
              <a:rPr sz="1200" b="0">
                <a:solidFill>
                  <a:srgbClr val="1A1A1A"/>
                </a:solidFill>
                <a:latin typeface="Red Hat Text"/>
              </a:rPr>
              <a:t>A Secret buys RBAC + one rotation point</a:t>
            </a:r>
          </a:p>
        </p:txBody>
      </p:sp>
      <p:sp>
        <p:nvSpPr>
          <p:cNvPr id="18" name="Rounded Rectangle 17"/>
          <p:cNvSpPr/>
          <p:nvPr/>
        </p:nvSpPr>
        <p:spPr>
          <a:xfrm>
            <a:off x="841248" y="4809744"/>
            <a:ext cx="5715000" cy="530352"/>
          </a:xfrm>
          <a:prstGeom prst="roundRect">
            <a:avLst>
              <a:gd name="adj" fmla="val 6000"/>
            </a:avLst>
          </a:prstGeom>
          <a:solidFill>
            <a:srgbClr val="F5F6F8"/>
          </a:solidFill>
          <a:ln w="12700">
            <a:solidFill>
              <a:srgbClr val="DDE1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9" name="Picture 18" descr="check_steel.png"/>
          <p:cNvPicPr>
            <a:picLocks noChangeAspect="1"/>
          </p:cNvPicPr>
          <p:nvPr/>
        </p:nvPicPr>
        <p:blipFill>
          <a:blip r:embed="rId3"/>
          <a:stretch>
            <a:fillRect/>
          </a:stretch>
        </p:blipFill>
        <p:spPr>
          <a:xfrm>
            <a:off x="987552" y="4956048"/>
            <a:ext cx="237744" cy="237744"/>
          </a:xfrm>
          <a:prstGeom prst="rect">
            <a:avLst/>
          </a:prstGeom>
        </p:spPr>
      </p:pic>
      <p:sp>
        <p:nvSpPr>
          <p:cNvPr id="20" name="TextBox 19"/>
          <p:cNvSpPr txBox="1"/>
          <p:nvPr/>
        </p:nvSpPr>
        <p:spPr>
          <a:xfrm>
            <a:off x="1353312" y="4809744"/>
            <a:ext cx="5029200" cy="530352"/>
          </a:xfrm>
          <a:prstGeom prst="rect">
            <a:avLst/>
          </a:prstGeom>
          <a:noFill/>
        </p:spPr>
        <p:txBody>
          <a:bodyPr wrap="square" anchor="ctr" lIns="0" rIns="0" tIns="0" bIns="0">
            <a:spAutoFit/>
          </a:bodyPr>
          <a:lstStyle/>
          <a:p>
            <a:pPr algn="l">
              <a:lnSpc>
                <a:spcPct val="106000"/>
              </a:lnSpc>
              <a:spcBef>
                <a:spcPts val="0"/>
              </a:spcBef>
              <a:spcAft>
                <a:spcPts val="0"/>
              </a:spcAft>
            </a:pPr>
            <a:r>
              <a:rPr sz="1200" b="0">
                <a:solidFill>
                  <a:srgbClr val="1A1A1A"/>
                </a:solidFill>
                <a:latin typeface="Red Hat Text"/>
              </a:rPr>
              <a:t>Real vaults come later (External Secrets)</a:t>
            </a:r>
          </a:p>
        </p:txBody>
      </p:sp>
      <p:sp>
        <p:nvSpPr>
          <p:cNvPr id="21" name="Rounded Rectangle 20"/>
          <p:cNvSpPr/>
          <p:nvPr/>
        </p:nvSpPr>
        <p:spPr>
          <a:xfrm>
            <a:off x="6812280" y="2395728"/>
            <a:ext cx="4538167" cy="2944368"/>
          </a:xfrm>
          <a:prstGeom prst="roundRect">
            <a:avLst>
              <a:gd name="adj" fmla="val 4000"/>
            </a:avLst>
          </a:prstGeom>
          <a:solidFill>
            <a:srgbClr val="FFFFFF"/>
          </a:solidFill>
          <a:ln w="15240">
            <a:solidFill>
              <a:srgbClr val="DDE1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ounded Rectangle 21"/>
          <p:cNvSpPr/>
          <p:nvPr/>
        </p:nvSpPr>
        <p:spPr>
          <a:xfrm>
            <a:off x="7013448" y="2596896"/>
            <a:ext cx="1298448" cy="310896"/>
          </a:xfrm>
          <a:prstGeom prst="roundRect">
            <a:avLst>
              <a:gd name="adj" fmla="val 50000"/>
            </a:avLst>
          </a:prstGeom>
          <a:solidFill>
            <a:srgbClr val="FCEC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7013448" y="2596896"/>
            <a:ext cx="1298448" cy="310896"/>
          </a:xfrm>
          <a:prstGeom prst="rect">
            <a:avLst/>
          </a:prstGeom>
          <a:noFill/>
        </p:spPr>
        <p:txBody>
          <a:bodyPr wrap="none" anchor="ctr" lIns="0" rIns="0" tIns="0" bIns="0">
            <a:spAutoFit/>
          </a:bodyPr>
          <a:lstStyle/>
          <a:p>
            <a:pPr algn="ctr">
              <a:lnSpc>
                <a:spcPct val="106000"/>
              </a:lnSpc>
              <a:spcBef>
                <a:spcPts val="0"/>
              </a:spcBef>
              <a:spcAft>
                <a:spcPts val="0"/>
              </a:spcAft>
            </a:pPr>
            <a:r>
              <a:rPr sz="850" b="1">
                <a:solidFill>
                  <a:srgbClr val="B80000"/>
                </a:solidFill>
                <a:latin typeface="Red Hat Display"/>
              </a:rPr>
              <a:t>MEDIA PASS</a:t>
            </a:r>
          </a:p>
        </p:txBody>
      </p:sp>
      <p:pic>
        <p:nvPicPr>
          <p:cNvPr id="24" name="Picture 23" descr="eye_slate.png"/>
          <p:cNvPicPr>
            <a:picLocks noChangeAspect="1"/>
          </p:cNvPicPr>
          <p:nvPr/>
        </p:nvPicPr>
        <p:blipFill>
          <a:blip r:embed="rId4"/>
          <a:stretch>
            <a:fillRect/>
          </a:stretch>
        </p:blipFill>
        <p:spPr>
          <a:xfrm>
            <a:off x="8843619" y="3108960"/>
            <a:ext cx="475488" cy="475488"/>
          </a:xfrm>
          <a:prstGeom prst="rect">
            <a:avLst/>
          </a:prstGeom>
        </p:spPr>
      </p:pic>
      <p:sp>
        <p:nvSpPr>
          <p:cNvPr id="25" name="TextBox 24"/>
          <p:cNvSpPr txBox="1"/>
          <p:nvPr/>
        </p:nvSpPr>
        <p:spPr>
          <a:xfrm>
            <a:off x="7050024" y="3721608"/>
            <a:ext cx="4062679" cy="1481328"/>
          </a:xfrm>
          <a:prstGeom prst="rect">
            <a:avLst/>
          </a:prstGeom>
          <a:noFill/>
        </p:spPr>
        <p:txBody>
          <a:bodyPr wrap="square" anchor="t" lIns="0" rIns="0" tIns="0" bIns="0">
            <a:spAutoFit/>
          </a:bodyPr>
          <a:lstStyle/>
          <a:p>
            <a:pPr algn="l">
              <a:lnSpc>
                <a:spcPct val="120000"/>
              </a:lnSpc>
              <a:spcBef>
                <a:spcPts val="0"/>
              </a:spcBef>
              <a:spcAft>
                <a:spcPts val="0"/>
              </a:spcAft>
            </a:pPr>
            <a:r>
              <a:rPr sz="950" b="0">
                <a:solidFill>
                  <a:srgbClr val="8A9099"/>
                </a:solidFill>
                <a:latin typeface="Red Hat Text"/>
              </a:rPr>
              <a:t>Two cards side by side — ConfigMap (host, port, log level) and Secret (base64 blob with a "decodes in one command" callout).</a:t>
            </a:r>
          </a:p>
        </p:txBody>
      </p:sp>
      <p:cxnSp>
        <p:nvCxnSpPr>
          <p:cNvPr id="26" name="Connector 25"/>
          <p:cNvCxnSpPr/>
          <p:nvPr/>
        </p:nvCxnSpPr>
        <p:spPr>
          <a:xfrm>
            <a:off x="841248" y="6437376"/>
            <a:ext cx="10509199" cy="0"/>
          </a:xfrm>
          <a:prstGeom prst="bentConnector3">
            <a:avLst/>
          </a:prstGeom>
          <a:ln w="12700">
            <a:solidFill>
              <a:srgbClr val="DDE1E6"/>
            </a:solidFill>
          </a:ln>
          <a:effectLst/>
        </p:spPr>
        <p:style>
          <a:lnRef idx="2">
            <a:schemeClr val="accent1"/>
          </a:lnRef>
          <a:fillRef idx="0">
            <a:schemeClr val="accent1"/>
          </a:fillRef>
          <a:effectRef idx="1">
            <a:schemeClr val="accent1"/>
          </a:effectRef>
          <a:fontRef idx="minor">
            <a:schemeClr val="tx1"/>
          </a:fontRef>
        </p:style>
      </p:cxnSp>
      <p:sp>
        <p:nvSpPr>
          <p:cNvPr id="27" name="TextBox 26"/>
          <p:cNvSpPr txBox="1"/>
          <p:nvPr/>
        </p:nvSpPr>
        <p:spPr>
          <a:xfrm>
            <a:off x="841248" y="6473952"/>
            <a:ext cx="7315200" cy="274320"/>
          </a:xfrm>
          <a:prstGeom prst="rect">
            <a:avLst/>
          </a:prstGeom>
          <a:noFill/>
        </p:spPr>
        <p:txBody>
          <a:bodyPr wrap="square" anchor="t" lIns="0" rIns="0" tIns="0" bIns="0">
            <a:spAutoFit/>
          </a:bodyPr>
          <a:lstStyle/>
          <a:p>
            <a:pPr algn="l">
              <a:lnSpc>
                <a:spcPct val="106000"/>
              </a:lnSpc>
              <a:spcBef>
                <a:spcPts val="0"/>
              </a:spcBef>
              <a:spcAft>
                <a:spcPts val="0"/>
              </a:spcAft>
            </a:pPr>
            <a:r>
              <a:rPr sz="950" b="0">
                <a:solidFill>
                  <a:srgbClr val="8A9099"/>
                </a:solidFill>
                <a:latin typeface="Red Hat Text"/>
              </a:rPr>
              <a:t>CONFIDENTIAL</a:t>
            </a:r>
          </a:p>
        </p:txBody>
      </p:sp>
      <p:sp>
        <p:nvSpPr>
          <p:cNvPr id="28" name="TextBox 27"/>
          <p:cNvSpPr txBox="1"/>
          <p:nvPr/>
        </p:nvSpPr>
        <p:spPr>
          <a:xfrm>
            <a:off x="10801807" y="6473952"/>
            <a:ext cx="548640" cy="274320"/>
          </a:xfrm>
          <a:prstGeom prst="rect">
            <a:avLst/>
          </a:prstGeom>
          <a:noFill/>
        </p:spPr>
        <p:txBody>
          <a:bodyPr wrap="square" anchor="t" lIns="0" rIns="0" tIns="0" bIns="0">
            <a:spAutoFit/>
          </a:bodyPr>
          <a:lstStyle/>
          <a:p>
            <a:pPr algn="r">
              <a:lnSpc>
                <a:spcPct val="106000"/>
              </a:lnSpc>
              <a:spcBef>
                <a:spcPts val="0"/>
              </a:spcBef>
              <a:spcAft>
                <a:spcPts val="0"/>
              </a:spcAft>
            </a:pPr>
            <a:r>
              <a:rPr sz="950" b="0">
                <a:solidFill>
                  <a:srgbClr val="8A9099"/>
                </a:solidFill>
                <a:latin typeface="Red Hat Text"/>
              </a:rPr>
              <a:t>23</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redhat_logo.jpg"/>
          <p:cNvPicPr>
            <a:picLocks noChangeAspect="1"/>
          </p:cNvPicPr>
          <p:nvPr/>
        </p:nvPicPr>
        <p:blipFill>
          <a:blip r:embed="rId2"/>
          <a:stretch>
            <a:fillRect/>
          </a:stretch>
        </p:blipFill>
        <p:spPr>
          <a:xfrm>
            <a:off x="10326319" y="475488"/>
            <a:ext cx="1024128" cy="242248"/>
          </a:xfrm>
          <a:prstGeom prst="rect">
            <a:avLst/>
          </a:prstGeom>
        </p:spPr>
      </p:pic>
      <p:sp>
        <p:nvSpPr>
          <p:cNvPr id="3" name="TextBox 2"/>
          <p:cNvSpPr txBox="1"/>
          <p:nvPr/>
        </p:nvSpPr>
        <p:spPr>
          <a:xfrm>
            <a:off x="841248" y="548640"/>
            <a:ext cx="8595360" cy="274320"/>
          </a:xfrm>
          <a:prstGeom prst="rect">
            <a:avLst/>
          </a:prstGeom>
          <a:noFill/>
        </p:spPr>
        <p:txBody>
          <a:bodyPr wrap="square" anchor="t" lIns="0" rIns="0" tIns="0" bIns="0">
            <a:spAutoFit/>
          </a:bodyPr>
          <a:lstStyle/>
          <a:p>
            <a:pPr algn="l">
              <a:lnSpc>
                <a:spcPct val="106000"/>
              </a:lnSpc>
              <a:spcBef>
                <a:spcPts val="0"/>
              </a:spcBef>
              <a:spcAft>
                <a:spcPts val="0"/>
              </a:spcAft>
            </a:pPr>
            <a:r>
              <a:rPr sz="1250" b="1" spc="220">
                <a:solidFill>
                  <a:srgbClr val="EE0000"/>
                </a:solidFill>
                <a:latin typeface="Red Hat Display"/>
              </a:rPr>
              <a:t>M04 · CONFIG, SECRETS &amp; MULTI-ENVIRONMENT</a:t>
            </a:r>
          </a:p>
        </p:txBody>
      </p:sp>
      <p:sp>
        <p:nvSpPr>
          <p:cNvPr id="4" name="TextBox 3"/>
          <p:cNvSpPr txBox="1"/>
          <p:nvPr/>
        </p:nvSpPr>
        <p:spPr>
          <a:xfrm>
            <a:off x="841248" y="877824"/>
            <a:ext cx="10515600" cy="548640"/>
          </a:xfrm>
          <a:prstGeom prst="rect">
            <a:avLst/>
          </a:prstGeom>
          <a:noFill/>
        </p:spPr>
        <p:txBody>
          <a:bodyPr wrap="none" anchor="t" lIns="0" rIns="0" tIns="0" bIns="0">
            <a:spAutoFit/>
          </a:bodyPr>
          <a:lstStyle/>
          <a:p>
            <a:pPr algn="l">
              <a:lnSpc>
                <a:spcPct val="100000"/>
              </a:lnSpc>
              <a:spcBef>
                <a:spcPts val="0"/>
              </a:spcBef>
              <a:spcAft>
                <a:spcPts val="0"/>
              </a:spcAft>
            </a:pPr>
            <a:r>
              <a:rPr sz="2500" b="1">
                <a:solidFill>
                  <a:srgbClr val="1A1A1A"/>
                </a:solidFill>
                <a:latin typeface="Red Hat Display"/>
              </a:rPr>
              <a:t>Probes</a:t>
            </a:r>
          </a:p>
        </p:txBody>
      </p:sp>
      <p:cxnSp>
        <p:nvCxnSpPr>
          <p:cNvPr id="5" name="Connector 4"/>
          <p:cNvCxnSpPr/>
          <p:nvPr/>
        </p:nvCxnSpPr>
        <p:spPr>
          <a:xfrm>
            <a:off x="841248" y="1554480"/>
            <a:ext cx="1371600" cy="0"/>
          </a:xfrm>
          <a:prstGeom prst="bentConnector3">
            <a:avLst/>
          </a:prstGeom>
          <a:ln w="31750">
            <a:solidFill>
              <a:srgbClr val="EE0000"/>
            </a:solidFill>
          </a:ln>
          <a:effectLst/>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841248" y="1664208"/>
            <a:ext cx="10515600" cy="365760"/>
          </a:xfrm>
          <a:prstGeom prst="rect">
            <a:avLst/>
          </a:prstGeom>
          <a:noFill/>
        </p:spPr>
        <p:txBody>
          <a:bodyPr wrap="square" anchor="t" lIns="0" rIns="0" tIns="0" bIns="0">
            <a:spAutoFit/>
          </a:bodyPr>
          <a:lstStyle/>
          <a:p>
            <a:pPr algn="l">
              <a:lnSpc>
                <a:spcPct val="106000"/>
              </a:lnSpc>
              <a:spcBef>
                <a:spcPts val="0"/>
              </a:spcBef>
              <a:spcAft>
                <a:spcPts val="0"/>
              </a:spcAft>
            </a:pPr>
            <a:r>
              <a:rPr sz="1350" b="0">
                <a:solidFill>
                  <a:srgbClr val="555960"/>
                </a:solidFill>
                <a:latin typeface="Red Hat Text"/>
              </a:rPr>
              <a:t>how the platform knows you're healthy</a:t>
            </a:r>
          </a:p>
        </p:txBody>
      </p:sp>
      <p:sp>
        <p:nvSpPr>
          <p:cNvPr id="7" name="Rounded Rectangle 6"/>
          <p:cNvSpPr/>
          <p:nvPr/>
        </p:nvSpPr>
        <p:spPr>
          <a:xfrm>
            <a:off x="841248" y="2670048"/>
            <a:ext cx="5715000" cy="530352"/>
          </a:xfrm>
          <a:prstGeom prst="roundRect">
            <a:avLst>
              <a:gd name="adj" fmla="val 6000"/>
            </a:avLst>
          </a:prstGeom>
          <a:solidFill>
            <a:srgbClr val="F5F6F8"/>
          </a:solidFill>
          <a:ln w="12700">
            <a:solidFill>
              <a:srgbClr val="DDE1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check_steel.png"/>
          <p:cNvPicPr>
            <a:picLocks noChangeAspect="1"/>
          </p:cNvPicPr>
          <p:nvPr/>
        </p:nvPicPr>
        <p:blipFill>
          <a:blip r:embed="rId3"/>
          <a:stretch>
            <a:fillRect/>
          </a:stretch>
        </p:blipFill>
        <p:spPr>
          <a:xfrm>
            <a:off x="987552" y="2816352"/>
            <a:ext cx="237744" cy="237744"/>
          </a:xfrm>
          <a:prstGeom prst="rect">
            <a:avLst/>
          </a:prstGeom>
        </p:spPr>
      </p:pic>
      <p:sp>
        <p:nvSpPr>
          <p:cNvPr id="9" name="TextBox 8"/>
          <p:cNvSpPr txBox="1"/>
          <p:nvPr/>
        </p:nvSpPr>
        <p:spPr>
          <a:xfrm>
            <a:off x="1353312" y="2670048"/>
            <a:ext cx="5029200" cy="530352"/>
          </a:xfrm>
          <a:prstGeom prst="rect">
            <a:avLst/>
          </a:prstGeom>
          <a:noFill/>
        </p:spPr>
        <p:txBody>
          <a:bodyPr wrap="square" anchor="ctr" lIns="0" rIns="0" tIns="0" bIns="0">
            <a:spAutoFit/>
          </a:bodyPr>
          <a:lstStyle/>
          <a:p>
            <a:pPr algn="l">
              <a:lnSpc>
                <a:spcPct val="106000"/>
              </a:lnSpc>
              <a:spcBef>
                <a:spcPts val="0"/>
              </a:spcBef>
              <a:spcAft>
                <a:spcPts val="0"/>
              </a:spcAft>
            </a:pPr>
            <a:r>
              <a:rPr sz="1200" b="0">
                <a:solidFill>
                  <a:srgbClr val="1A1A1A"/>
                </a:solidFill>
                <a:latin typeface="Red Hat Text"/>
              </a:rPr>
              <a:t>Startup: has it finished booting?</a:t>
            </a:r>
          </a:p>
        </p:txBody>
      </p:sp>
      <p:sp>
        <p:nvSpPr>
          <p:cNvPr id="10" name="Rounded Rectangle 9"/>
          <p:cNvSpPr/>
          <p:nvPr/>
        </p:nvSpPr>
        <p:spPr>
          <a:xfrm>
            <a:off x="841248" y="3273552"/>
            <a:ext cx="5715000" cy="530352"/>
          </a:xfrm>
          <a:prstGeom prst="roundRect">
            <a:avLst>
              <a:gd name="adj" fmla="val 6000"/>
            </a:avLst>
          </a:prstGeom>
          <a:solidFill>
            <a:srgbClr val="F5F6F8"/>
          </a:solidFill>
          <a:ln w="12700">
            <a:solidFill>
              <a:srgbClr val="DDE1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1" name="Picture 10" descr="check_steel.png"/>
          <p:cNvPicPr>
            <a:picLocks noChangeAspect="1"/>
          </p:cNvPicPr>
          <p:nvPr/>
        </p:nvPicPr>
        <p:blipFill>
          <a:blip r:embed="rId3"/>
          <a:stretch>
            <a:fillRect/>
          </a:stretch>
        </p:blipFill>
        <p:spPr>
          <a:xfrm>
            <a:off x="987552" y="3419856"/>
            <a:ext cx="237744" cy="237744"/>
          </a:xfrm>
          <a:prstGeom prst="rect">
            <a:avLst/>
          </a:prstGeom>
        </p:spPr>
      </p:pic>
      <p:sp>
        <p:nvSpPr>
          <p:cNvPr id="12" name="TextBox 11"/>
          <p:cNvSpPr txBox="1"/>
          <p:nvPr/>
        </p:nvSpPr>
        <p:spPr>
          <a:xfrm>
            <a:off x="1353312" y="3273552"/>
            <a:ext cx="5029200" cy="530352"/>
          </a:xfrm>
          <a:prstGeom prst="rect">
            <a:avLst/>
          </a:prstGeom>
          <a:noFill/>
        </p:spPr>
        <p:txBody>
          <a:bodyPr wrap="square" anchor="ctr" lIns="0" rIns="0" tIns="0" bIns="0">
            <a:spAutoFit/>
          </a:bodyPr>
          <a:lstStyle/>
          <a:p>
            <a:pPr algn="l">
              <a:lnSpc>
                <a:spcPct val="106000"/>
              </a:lnSpc>
              <a:spcBef>
                <a:spcPts val="0"/>
              </a:spcBef>
              <a:spcAft>
                <a:spcPts val="0"/>
              </a:spcAft>
            </a:pPr>
            <a:r>
              <a:rPr sz="1200" b="0">
                <a:solidFill>
                  <a:srgbClr val="1A1A1A"/>
                </a:solidFill>
                <a:latin typeface="Red Hat Text"/>
              </a:rPr>
              <a:t>Readiness: can it take traffic now?</a:t>
            </a:r>
          </a:p>
        </p:txBody>
      </p:sp>
      <p:sp>
        <p:nvSpPr>
          <p:cNvPr id="13" name="Rounded Rectangle 12"/>
          <p:cNvSpPr/>
          <p:nvPr/>
        </p:nvSpPr>
        <p:spPr>
          <a:xfrm>
            <a:off x="841248" y="3877056"/>
            <a:ext cx="5715000" cy="530352"/>
          </a:xfrm>
          <a:prstGeom prst="roundRect">
            <a:avLst>
              <a:gd name="adj" fmla="val 6000"/>
            </a:avLst>
          </a:prstGeom>
          <a:solidFill>
            <a:srgbClr val="F5F6F8"/>
          </a:solidFill>
          <a:ln w="12700">
            <a:solidFill>
              <a:srgbClr val="DDE1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4" name="Picture 13" descr="check_steel.png"/>
          <p:cNvPicPr>
            <a:picLocks noChangeAspect="1"/>
          </p:cNvPicPr>
          <p:nvPr/>
        </p:nvPicPr>
        <p:blipFill>
          <a:blip r:embed="rId3"/>
          <a:stretch>
            <a:fillRect/>
          </a:stretch>
        </p:blipFill>
        <p:spPr>
          <a:xfrm>
            <a:off x="987552" y="4023360"/>
            <a:ext cx="237744" cy="237744"/>
          </a:xfrm>
          <a:prstGeom prst="rect">
            <a:avLst/>
          </a:prstGeom>
        </p:spPr>
      </p:pic>
      <p:sp>
        <p:nvSpPr>
          <p:cNvPr id="15" name="TextBox 14"/>
          <p:cNvSpPr txBox="1"/>
          <p:nvPr/>
        </p:nvSpPr>
        <p:spPr>
          <a:xfrm>
            <a:off x="1353312" y="3877056"/>
            <a:ext cx="5029200" cy="530352"/>
          </a:xfrm>
          <a:prstGeom prst="rect">
            <a:avLst/>
          </a:prstGeom>
          <a:noFill/>
        </p:spPr>
        <p:txBody>
          <a:bodyPr wrap="square" anchor="ctr" lIns="0" rIns="0" tIns="0" bIns="0">
            <a:spAutoFit/>
          </a:bodyPr>
          <a:lstStyle/>
          <a:p>
            <a:pPr algn="l">
              <a:lnSpc>
                <a:spcPct val="106000"/>
              </a:lnSpc>
              <a:spcBef>
                <a:spcPts val="0"/>
              </a:spcBef>
              <a:spcAft>
                <a:spcPts val="0"/>
              </a:spcAft>
            </a:pPr>
            <a:r>
              <a:rPr sz="1200" b="0">
                <a:solidFill>
                  <a:srgbClr val="1A1A1A"/>
                </a:solidFill>
                <a:latin typeface="Red Hat Text"/>
              </a:rPr>
              <a:t>Liveness: is it wedged? restart it</a:t>
            </a:r>
          </a:p>
        </p:txBody>
      </p:sp>
      <p:sp>
        <p:nvSpPr>
          <p:cNvPr id="16" name="Rounded Rectangle 15"/>
          <p:cNvSpPr/>
          <p:nvPr/>
        </p:nvSpPr>
        <p:spPr>
          <a:xfrm>
            <a:off x="841248" y="4480560"/>
            <a:ext cx="5715000" cy="530352"/>
          </a:xfrm>
          <a:prstGeom prst="roundRect">
            <a:avLst>
              <a:gd name="adj" fmla="val 6000"/>
            </a:avLst>
          </a:prstGeom>
          <a:solidFill>
            <a:srgbClr val="F5F6F8"/>
          </a:solidFill>
          <a:ln w="12700">
            <a:solidFill>
              <a:srgbClr val="DDE1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7" name="Picture 16" descr="check_steel.png"/>
          <p:cNvPicPr>
            <a:picLocks noChangeAspect="1"/>
          </p:cNvPicPr>
          <p:nvPr/>
        </p:nvPicPr>
        <p:blipFill>
          <a:blip r:embed="rId3"/>
          <a:stretch>
            <a:fillRect/>
          </a:stretch>
        </p:blipFill>
        <p:spPr>
          <a:xfrm>
            <a:off x="987552" y="4626864"/>
            <a:ext cx="237744" cy="237744"/>
          </a:xfrm>
          <a:prstGeom prst="rect">
            <a:avLst/>
          </a:prstGeom>
        </p:spPr>
      </p:pic>
      <p:sp>
        <p:nvSpPr>
          <p:cNvPr id="18" name="TextBox 17"/>
          <p:cNvSpPr txBox="1"/>
          <p:nvPr/>
        </p:nvSpPr>
        <p:spPr>
          <a:xfrm>
            <a:off x="1353312" y="4480560"/>
            <a:ext cx="5029200" cy="530352"/>
          </a:xfrm>
          <a:prstGeom prst="rect">
            <a:avLst/>
          </a:prstGeom>
          <a:noFill/>
        </p:spPr>
        <p:txBody>
          <a:bodyPr wrap="square" anchor="ctr" lIns="0" rIns="0" tIns="0" bIns="0">
            <a:spAutoFit/>
          </a:bodyPr>
          <a:lstStyle/>
          <a:p>
            <a:pPr algn="l">
              <a:lnSpc>
                <a:spcPct val="106000"/>
              </a:lnSpc>
              <a:spcBef>
                <a:spcPts val="0"/>
              </a:spcBef>
              <a:spcAft>
                <a:spcPts val="0"/>
              </a:spcAft>
            </a:pPr>
            <a:r>
              <a:rPr sz="1200" b="0">
                <a:solidFill>
                  <a:srgbClr val="1A1A1A"/>
                </a:solidFill>
                <a:latin typeface="Red Hat Text"/>
              </a:rPr>
              <a:t>Readiness failure = removed from endpoints</a:t>
            </a:r>
          </a:p>
        </p:txBody>
      </p:sp>
      <p:sp>
        <p:nvSpPr>
          <p:cNvPr id="19" name="Rounded Rectangle 18"/>
          <p:cNvSpPr/>
          <p:nvPr/>
        </p:nvSpPr>
        <p:spPr>
          <a:xfrm>
            <a:off x="841248" y="5084064"/>
            <a:ext cx="5715000" cy="530352"/>
          </a:xfrm>
          <a:prstGeom prst="roundRect">
            <a:avLst>
              <a:gd name="adj" fmla="val 6000"/>
            </a:avLst>
          </a:prstGeom>
          <a:solidFill>
            <a:srgbClr val="F5F6F8"/>
          </a:solidFill>
          <a:ln w="12700">
            <a:solidFill>
              <a:srgbClr val="DDE1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0" name="Picture 19" descr="check_steel.png"/>
          <p:cNvPicPr>
            <a:picLocks noChangeAspect="1"/>
          </p:cNvPicPr>
          <p:nvPr/>
        </p:nvPicPr>
        <p:blipFill>
          <a:blip r:embed="rId3"/>
          <a:stretch>
            <a:fillRect/>
          </a:stretch>
        </p:blipFill>
        <p:spPr>
          <a:xfrm>
            <a:off x="987552" y="5230368"/>
            <a:ext cx="237744" cy="237744"/>
          </a:xfrm>
          <a:prstGeom prst="rect">
            <a:avLst/>
          </a:prstGeom>
        </p:spPr>
      </p:pic>
      <p:sp>
        <p:nvSpPr>
          <p:cNvPr id="21" name="TextBox 20"/>
          <p:cNvSpPr txBox="1"/>
          <p:nvPr/>
        </p:nvSpPr>
        <p:spPr>
          <a:xfrm>
            <a:off x="1353312" y="5084064"/>
            <a:ext cx="5029200" cy="530352"/>
          </a:xfrm>
          <a:prstGeom prst="rect">
            <a:avLst/>
          </a:prstGeom>
          <a:noFill/>
        </p:spPr>
        <p:txBody>
          <a:bodyPr wrap="square" anchor="ctr" lIns="0" rIns="0" tIns="0" bIns="0">
            <a:spAutoFit/>
          </a:bodyPr>
          <a:lstStyle/>
          <a:p>
            <a:pPr algn="l">
              <a:lnSpc>
                <a:spcPct val="106000"/>
              </a:lnSpc>
              <a:spcBef>
                <a:spcPts val="0"/>
              </a:spcBef>
              <a:spcAft>
                <a:spcPts val="0"/>
              </a:spcAft>
            </a:pPr>
            <a:r>
              <a:rPr sz="1200" b="0">
                <a:solidFill>
                  <a:srgbClr val="1A1A1A"/>
                </a:solidFill>
                <a:latin typeface="Red Hat Text"/>
              </a:rPr>
              <a:t>No ready pods = Route holds traffic (503)</a:t>
            </a:r>
          </a:p>
        </p:txBody>
      </p:sp>
      <p:sp>
        <p:nvSpPr>
          <p:cNvPr id="22" name="Rounded Rectangle 21"/>
          <p:cNvSpPr/>
          <p:nvPr/>
        </p:nvSpPr>
        <p:spPr>
          <a:xfrm>
            <a:off x="6812280" y="2670048"/>
            <a:ext cx="4538167" cy="2944368"/>
          </a:xfrm>
          <a:prstGeom prst="roundRect">
            <a:avLst>
              <a:gd name="adj" fmla="val 4000"/>
            </a:avLst>
          </a:prstGeom>
          <a:solidFill>
            <a:srgbClr val="FFFFFF"/>
          </a:solidFill>
          <a:ln w="15240">
            <a:solidFill>
              <a:srgbClr val="DDE1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ounded Rectangle 22"/>
          <p:cNvSpPr/>
          <p:nvPr/>
        </p:nvSpPr>
        <p:spPr>
          <a:xfrm>
            <a:off x="7013448" y="2871216"/>
            <a:ext cx="1298448" cy="310896"/>
          </a:xfrm>
          <a:prstGeom prst="roundRect">
            <a:avLst>
              <a:gd name="adj" fmla="val 50000"/>
            </a:avLst>
          </a:prstGeom>
          <a:solidFill>
            <a:srgbClr val="FCEC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7013448" y="2871216"/>
            <a:ext cx="1298448" cy="310896"/>
          </a:xfrm>
          <a:prstGeom prst="rect">
            <a:avLst/>
          </a:prstGeom>
          <a:noFill/>
        </p:spPr>
        <p:txBody>
          <a:bodyPr wrap="none" anchor="ctr" lIns="0" rIns="0" tIns="0" bIns="0">
            <a:spAutoFit/>
          </a:bodyPr>
          <a:lstStyle/>
          <a:p>
            <a:pPr algn="ctr">
              <a:lnSpc>
                <a:spcPct val="106000"/>
              </a:lnSpc>
              <a:spcBef>
                <a:spcPts val="0"/>
              </a:spcBef>
              <a:spcAft>
                <a:spcPts val="0"/>
              </a:spcAft>
            </a:pPr>
            <a:r>
              <a:rPr sz="850" b="1">
                <a:solidFill>
                  <a:srgbClr val="B80000"/>
                </a:solidFill>
                <a:latin typeface="Red Hat Display"/>
              </a:rPr>
              <a:t>MEDIA PASS</a:t>
            </a:r>
          </a:p>
        </p:txBody>
      </p:sp>
      <p:pic>
        <p:nvPicPr>
          <p:cNvPr id="25" name="Picture 24" descr="eye_slate.png"/>
          <p:cNvPicPr>
            <a:picLocks noChangeAspect="1"/>
          </p:cNvPicPr>
          <p:nvPr/>
        </p:nvPicPr>
        <p:blipFill>
          <a:blip r:embed="rId4"/>
          <a:stretch>
            <a:fillRect/>
          </a:stretch>
        </p:blipFill>
        <p:spPr>
          <a:xfrm>
            <a:off x="8843619" y="3383280"/>
            <a:ext cx="475488" cy="475488"/>
          </a:xfrm>
          <a:prstGeom prst="rect">
            <a:avLst/>
          </a:prstGeom>
        </p:spPr>
      </p:pic>
      <p:sp>
        <p:nvSpPr>
          <p:cNvPr id="26" name="TextBox 25"/>
          <p:cNvSpPr txBox="1"/>
          <p:nvPr/>
        </p:nvSpPr>
        <p:spPr>
          <a:xfrm>
            <a:off x="7050024" y="3995928"/>
            <a:ext cx="4062679" cy="1481328"/>
          </a:xfrm>
          <a:prstGeom prst="rect">
            <a:avLst/>
          </a:prstGeom>
          <a:noFill/>
        </p:spPr>
        <p:txBody>
          <a:bodyPr wrap="square" anchor="t" lIns="0" rIns="0" tIns="0" bIns="0">
            <a:spAutoFit/>
          </a:bodyPr>
          <a:lstStyle/>
          <a:p>
            <a:pPr algn="l">
              <a:lnSpc>
                <a:spcPct val="120000"/>
              </a:lnSpc>
              <a:spcBef>
                <a:spcPts val="0"/>
              </a:spcBef>
              <a:spcAft>
                <a:spcPts val="0"/>
              </a:spcAft>
            </a:pPr>
            <a:r>
              <a:rPr sz="950" b="0">
                <a:solidFill>
                  <a:srgbClr val="8A9099"/>
                </a:solidFill>
                <a:latin typeface="Red Hat Text"/>
              </a:rPr>
              <a:t>Reuse concept diagram config-multienv-...-02-readiness-gate.svg — a Route routing to a passing pod and NOT to a failing one (503).</a:t>
            </a:r>
          </a:p>
        </p:txBody>
      </p:sp>
      <p:cxnSp>
        <p:nvCxnSpPr>
          <p:cNvPr id="27" name="Connector 26"/>
          <p:cNvCxnSpPr/>
          <p:nvPr/>
        </p:nvCxnSpPr>
        <p:spPr>
          <a:xfrm>
            <a:off x="841248" y="6437376"/>
            <a:ext cx="10509199" cy="0"/>
          </a:xfrm>
          <a:prstGeom prst="bentConnector3">
            <a:avLst/>
          </a:prstGeom>
          <a:ln w="12700">
            <a:solidFill>
              <a:srgbClr val="DDE1E6"/>
            </a:solidFill>
          </a:ln>
          <a:effectLst/>
        </p:spPr>
        <p:style>
          <a:lnRef idx="2">
            <a:schemeClr val="accent1"/>
          </a:lnRef>
          <a:fillRef idx="0">
            <a:schemeClr val="accent1"/>
          </a:fillRef>
          <a:effectRef idx="1">
            <a:schemeClr val="accent1"/>
          </a:effectRef>
          <a:fontRef idx="minor">
            <a:schemeClr val="tx1"/>
          </a:fontRef>
        </p:style>
      </p:cxnSp>
      <p:sp>
        <p:nvSpPr>
          <p:cNvPr id="28" name="TextBox 27"/>
          <p:cNvSpPr txBox="1"/>
          <p:nvPr/>
        </p:nvSpPr>
        <p:spPr>
          <a:xfrm>
            <a:off x="841248" y="6473952"/>
            <a:ext cx="7315200" cy="274320"/>
          </a:xfrm>
          <a:prstGeom prst="rect">
            <a:avLst/>
          </a:prstGeom>
          <a:noFill/>
        </p:spPr>
        <p:txBody>
          <a:bodyPr wrap="square" anchor="t" lIns="0" rIns="0" tIns="0" bIns="0">
            <a:spAutoFit/>
          </a:bodyPr>
          <a:lstStyle/>
          <a:p>
            <a:pPr algn="l">
              <a:lnSpc>
                <a:spcPct val="106000"/>
              </a:lnSpc>
              <a:spcBef>
                <a:spcPts val="0"/>
              </a:spcBef>
              <a:spcAft>
                <a:spcPts val="0"/>
              </a:spcAft>
            </a:pPr>
            <a:r>
              <a:rPr sz="950" b="0">
                <a:solidFill>
                  <a:srgbClr val="8A9099"/>
                </a:solidFill>
                <a:latin typeface="Red Hat Text"/>
              </a:rPr>
              <a:t>CONFIDENTIAL</a:t>
            </a:r>
          </a:p>
        </p:txBody>
      </p:sp>
      <p:sp>
        <p:nvSpPr>
          <p:cNvPr id="29" name="TextBox 28"/>
          <p:cNvSpPr txBox="1"/>
          <p:nvPr/>
        </p:nvSpPr>
        <p:spPr>
          <a:xfrm>
            <a:off x="10801807" y="6473952"/>
            <a:ext cx="548640" cy="274320"/>
          </a:xfrm>
          <a:prstGeom prst="rect">
            <a:avLst/>
          </a:prstGeom>
          <a:noFill/>
        </p:spPr>
        <p:txBody>
          <a:bodyPr wrap="square" anchor="t" lIns="0" rIns="0" tIns="0" bIns="0">
            <a:spAutoFit/>
          </a:bodyPr>
          <a:lstStyle/>
          <a:p>
            <a:pPr algn="r">
              <a:lnSpc>
                <a:spcPct val="106000"/>
              </a:lnSpc>
              <a:spcBef>
                <a:spcPts val="0"/>
              </a:spcBef>
              <a:spcAft>
                <a:spcPts val="0"/>
              </a:spcAft>
            </a:pPr>
            <a:r>
              <a:rPr sz="950" b="0">
                <a:solidFill>
                  <a:srgbClr val="8A9099"/>
                </a:solidFill>
                <a:latin typeface="Red Hat Text"/>
              </a:rPr>
              <a:t>24</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redhat_logo.jpg"/>
          <p:cNvPicPr>
            <a:picLocks noChangeAspect="1"/>
          </p:cNvPicPr>
          <p:nvPr/>
        </p:nvPicPr>
        <p:blipFill>
          <a:blip r:embed="rId2"/>
          <a:stretch>
            <a:fillRect/>
          </a:stretch>
        </p:blipFill>
        <p:spPr>
          <a:xfrm>
            <a:off x="10326319" y="475488"/>
            <a:ext cx="1024128" cy="242248"/>
          </a:xfrm>
          <a:prstGeom prst="rect">
            <a:avLst/>
          </a:prstGeom>
        </p:spPr>
      </p:pic>
      <p:sp>
        <p:nvSpPr>
          <p:cNvPr id="3" name="TextBox 2"/>
          <p:cNvSpPr txBox="1"/>
          <p:nvPr/>
        </p:nvSpPr>
        <p:spPr>
          <a:xfrm>
            <a:off x="841248" y="548640"/>
            <a:ext cx="8595360" cy="274320"/>
          </a:xfrm>
          <a:prstGeom prst="rect">
            <a:avLst/>
          </a:prstGeom>
          <a:noFill/>
        </p:spPr>
        <p:txBody>
          <a:bodyPr wrap="square" anchor="t" lIns="0" rIns="0" tIns="0" bIns="0">
            <a:spAutoFit/>
          </a:bodyPr>
          <a:lstStyle/>
          <a:p>
            <a:pPr algn="l">
              <a:lnSpc>
                <a:spcPct val="106000"/>
              </a:lnSpc>
              <a:spcBef>
                <a:spcPts val="0"/>
              </a:spcBef>
              <a:spcAft>
                <a:spcPts val="0"/>
              </a:spcAft>
            </a:pPr>
            <a:r>
              <a:rPr sz="1250" b="1" spc="220">
                <a:solidFill>
                  <a:srgbClr val="EE0000"/>
                </a:solidFill>
                <a:latin typeface="Red Hat Display"/>
              </a:rPr>
              <a:t>M04 · CONFIG, SECRETS &amp; MULTI-ENVIRONMENT</a:t>
            </a:r>
          </a:p>
        </p:txBody>
      </p:sp>
      <p:sp>
        <p:nvSpPr>
          <p:cNvPr id="4" name="TextBox 3"/>
          <p:cNvSpPr txBox="1"/>
          <p:nvPr/>
        </p:nvSpPr>
        <p:spPr>
          <a:xfrm>
            <a:off x="841248" y="877824"/>
            <a:ext cx="10515600" cy="548640"/>
          </a:xfrm>
          <a:prstGeom prst="rect">
            <a:avLst/>
          </a:prstGeom>
          <a:noFill/>
        </p:spPr>
        <p:txBody>
          <a:bodyPr wrap="none" anchor="t" lIns="0" rIns="0" tIns="0" bIns="0">
            <a:spAutoFit/>
          </a:bodyPr>
          <a:lstStyle/>
          <a:p>
            <a:pPr algn="l">
              <a:lnSpc>
                <a:spcPct val="100000"/>
              </a:lnSpc>
              <a:spcBef>
                <a:spcPts val="0"/>
              </a:spcBef>
              <a:spcAft>
                <a:spcPts val="0"/>
              </a:spcAft>
            </a:pPr>
            <a:r>
              <a:rPr sz="2500" b="1">
                <a:solidFill>
                  <a:srgbClr val="1A1A1A"/>
                </a:solidFill>
                <a:latin typeface="Red Hat Display"/>
              </a:rPr>
              <a:t>Requests, limits, and the quota</a:t>
            </a:r>
          </a:p>
        </p:txBody>
      </p:sp>
      <p:cxnSp>
        <p:nvCxnSpPr>
          <p:cNvPr id="5" name="Connector 4"/>
          <p:cNvCxnSpPr/>
          <p:nvPr/>
        </p:nvCxnSpPr>
        <p:spPr>
          <a:xfrm>
            <a:off x="841248" y="1554480"/>
            <a:ext cx="1371600" cy="0"/>
          </a:xfrm>
          <a:prstGeom prst="bentConnector3">
            <a:avLst/>
          </a:prstGeom>
          <a:ln w="31750">
            <a:solidFill>
              <a:srgbClr val="EE0000"/>
            </a:solidFill>
          </a:ln>
          <a:effectLst/>
        </p:spPr>
        <p:style>
          <a:lnRef idx="2">
            <a:schemeClr val="accent1"/>
          </a:lnRef>
          <a:fillRef idx="0">
            <a:schemeClr val="accent1"/>
          </a:fillRef>
          <a:effectRef idx="1">
            <a:schemeClr val="accent1"/>
          </a:effectRef>
          <a:fontRef idx="minor">
            <a:schemeClr val="tx1"/>
          </a:fontRef>
        </p:style>
      </p:cxnSp>
      <p:sp>
        <p:nvSpPr>
          <p:cNvPr id="6" name="Rounded Rectangle 5"/>
          <p:cNvSpPr/>
          <p:nvPr/>
        </p:nvSpPr>
        <p:spPr>
          <a:xfrm>
            <a:off x="841248" y="2395728"/>
            <a:ext cx="5715000" cy="530352"/>
          </a:xfrm>
          <a:prstGeom prst="roundRect">
            <a:avLst>
              <a:gd name="adj" fmla="val 6000"/>
            </a:avLst>
          </a:prstGeom>
          <a:solidFill>
            <a:srgbClr val="F5F6F8"/>
          </a:solidFill>
          <a:ln w="12700">
            <a:solidFill>
              <a:srgbClr val="DDE1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check_steel.png"/>
          <p:cNvPicPr>
            <a:picLocks noChangeAspect="1"/>
          </p:cNvPicPr>
          <p:nvPr/>
        </p:nvPicPr>
        <p:blipFill>
          <a:blip r:embed="rId3"/>
          <a:stretch>
            <a:fillRect/>
          </a:stretch>
        </p:blipFill>
        <p:spPr>
          <a:xfrm>
            <a:off x="987552" y="2542032"/>
            <a:ext cx="237744" cy="237744"/>
          </a:xfrm>
          <a:prstGeom prst="rect">
            <a:avLst/>
          </a:prstGeom>
        </p:spPr>
      </p:pic>
      <p:sp>
        <p:nvSpPr>
          <p:cNvPr id="8" name="TextBox 7"/>
          <p:cNvSpPr txBox="1"/>
          <p:nvPr/>
        </p:nvSpPr>
        <p:spPr>
          <a:xfrm>
            <a:off x="1353312" y="2395728"/>
            <a:ext cx="5029200" cy="530352"/>
          </a:xfrm>
          <a:prstGeom prst="rect">
            <a:avLst/>
          </a:prstGeom>
          <a:noFill/>
        </p:spPr>
        <p:txBody>
          <a:bodyPr wrap="square" anchor="ctr" lIns="0" rIns="0" tIns="0" bIns="0">
            <a:spAutoFit/>
          </a:bodyPr>
          <a:lstStyle/>
          <a:p>
            <a:pPr algn="l">
              <a:lnSpc>
                <a:spcPct val="106000"/>
              </a:lnSpc>
              <a:spcBef>
                <a:spcPts val="0"/>
              </a:spcBef>
              <a:spcAft>
                <a:spcPts val="0"/>
              </a:spcAft>
            </a:pPr>
            <a:r>
              <a:rPr sz="1200" b="0">
                <a:solidFill>
                  <a:srgbClr val="1A1A1A"/>
                </a:solidFill>
                <a:latin typeface="Red Hat Text"/>
              </a:rPr>
              <a:t>Request = reserved; limit = ceiling</a:t>
            </a:r>
          </a:p>
        </p:txBody>
      </p:sp>
      <p:sp>
        <p:nvSpPr>
          <p:cNvPr id="9" name="Rounded Rectangle 8"/>
          <p:cNvSpPr/>
          <p:nvPr/>
        </p:nvSpPr>
        <p:spPr>
          <a:xfrm>
            <a:off x="841248" y="2999232"/>
            <a:ext cx="5715000" cy="530352"/>
          </a:xfrm>
          <a:prstGeom prst="roundRect">
            <a:avLst>
              <a:gd name="adj" fmla="val 6000"/>
            </a:avLst>
          </a:prstGeom>
          <a:solidFill>
            <a:srgbClr val="F5F6F8"/>
          </a:solidFill>
          <a:ln w="12700">
            <a:solidFill>
              <a:srgbClr val="DDE1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0" name="Picture 9" descr="check_steel.png"/>
          <p:cNvPicPr>
            <a:picLocks noChangeAspect="1"/>
          </p:cNvPicPr>
          <p:nvPr/>
        </p:nvPicPr>
        <p:blipFill>
          <a:blip r:embed="rId3"/>
          <a:stretch>
            <a:fillRect/>
          </a:stretch>
        </p:blipFill>
        <p:spPr>
          <a:xfrm>
            <a:off x="987552" y="3145536"/>
            <a:ext cx="237744" cy="237744"/>
          </a:xfrm>
          <a:prstGeom prst="rect">
            <a:avLst/>
          </a:prstGeom>
        </p:spPr>
      </p:pic>
      <p:sp>
        <p:nvSpPr>
          <p:cNvPr id="11" name="TextBox 10"/>
          <p:cNvSpPr txBox="1"/>
          <p:nvPr/>
        </p:nvSpPr>
        <p:spPr>
          <a:xfrm>
            <a:off x="1353312" y="2999232"/>
            <a:ext cx="5029200" cy="530352"/>
          </a:xfrm>
          <a:prstGeom prst="rect">
            <a:avLst/>
          </a:prstGeom>
          <a:noFill/>
        </p:spPr>
        <p:txBody>
          <a:bodyPr wrap="square" anchor="ctr" lIns="0" rIns="0" tIns="0" bIns="0">
            <a:spAutoFit/>
          </a:bodyPr>
          <a:lstStyle/>
          <a:p>
            <a:pPr algn="l">
              <a:lnSpc>
                <a:spcPct val="106000"/>
              </a:lnSpc>
              <a:spcBef>
                <a:spcPts val="0"/>
              </a:spcBef>
              <a:spcAft>
                <a:spcPts val="0"/>
              </a:spcAft>
            </a:pPr>
            <a:r>
              <a:rPr sz="1200" b="0">
                <a:solidFill>
                  <a:srgbClr val="1A1A1A"/>
                </a:solidFill>
                <a:latin typeface="Red Hat Text"/>
              </a:rPr>
              <a:t>LimitRange fills in sensible defaults</a:t>
            </a:r>
          </a:p>
        </p:txBody>
      </p:sp>
      <p:sp>
        <p:nvSpPr>
          <p:cNvPr id="12" name="Rounded Rectangle 11"/>
          <p:cNvSpPr/>
          <p:nvPr/>
        </p:nvSpPr>
        <p:spPr>
          <a:xfrm>
            <a:off x="841248" y="3602736"/>
            <a:ext cx="5715000" cy="530352"/>
          </a:xfrm>
          <a:prstGeom prst="roundRect">
            <a:avLst>
              <a:gd name="adj" fmla="val 6000"/>
            </a:avLst>
          </a:prstGeom>
          <a:solidFill>
            <a:srgbClr val="F5F6F8"/>
          </a:solidFill>
          <a:ln w="12700">
            <a:solidFill>
              <a:srgbClr val="DDE1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3" name="Picture 12" descr="check_steel.png"/>
          <p:cNvPicPr>
            <a:picLocks noChangeAspect="1"/>
          </p:cNvPicPr>
          <p:nvPr/>
        </p:nvPicPr>
        <p:blipFill>
          <a:blip r:embed="rId3"/>
          <a:stretch>
            <a:fillRect/>
          </a:stretch>
        </p:blipFill>
        <p:spPr>
          <a:xfrm>
            <a:off x="987552" y="3749040"/>
            <a:ext cx="237744" cy="237744"/>
          </a:xfrm>
          <a:prstGeom prst="rect">
            <a:avLst/>
          </a:prstGeom>
        </p:spPr>
      </p:pic>
      <p:sp>
        <p:nvSpPr>
          <p:cNvPr id="14" name="TextBox 13"/>
          <p:cNvSpPr txBox="1"/>
          <p:nvPr/>
        </p:nvSpPr>
        <p:spPr>
          <a:xfrm>
            <a:off x="1353312" y="3602736"/>
            <a:ext cx="5029200" cy="530352"/>
          </a:xfrm>
          <a:prstGeom prst="rect">
            <a:avLst/>
          </a:prstGeom>
          <a:noFill/>
        </p:spPr>
        <p:txBody>
          <a:bodyPr wrap="square" anchor="ctr" lIns="0" rIns="0" tIns="0" bIns="0">
            <a:spAutoFit/>
          </a:bodyPr>
          <a:lstStyle/>
          <a:p>
            <a:pPr algn="l">
              <a:lnSpc>
                <a:spcPct val="106000"/>
              </a:lnSpc>
              <a:spcBef>
                <a:spcPts val="0"/>
              </a:spcBef>
              <a:spcAft>
                <a:spcPts val="0"/>
              </a:spcAft>
            </a:pPr>
            <a:r>
              <a:rPr sz="1200" b="0">
                <a:solidFill>
                  <a:srgbClr val="1A1A1A"/>
                </a:solidFill>
                <a:latin typeface="Red Hat Text"/>
              </a:rPr>
              <a:t>ResourceQuota caps the namespace total</a:t>
            </a:r>
          </a:p>
        </p:txBody>
      </p:sp>
      <p:sp>
        <p:nvSpPr>
          <p:cNvPr id="15" name="Rounded Rectangle 14"/>
          <p:cNvSpPr/>
          <p:nvPr/>
        </p:nvSpPr>
        <p:spPr>
          <a:xfrm>
            <a:off x="841248" y="4206240"/>
            <a:ext cx="5715000" cy="530352"/>
          </a:xfrm>
          <a:prstGeom prst="roundRect">
            <a:avLst>
              <a:gd name="adj" fmla="val 6000"/>
            </a:avLst>
          </a:prstGeom>
          <a:solidFill>
            <a:srgbClr val="F5F6F8"/>
          </a:solidFill>
          <a:ln w="12700">
            <a:solidFill>
              <a:srgbClr val="DDE1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6" name="Picture 15" descr="check_steel.png"/>
          <p:cNvPicPr>
            <a:picLocks noChangeAspect="1"/>
          </p:cNvPicPr>
          <p:nvPr/>
        </p:nvPicPr>
        <p:blipFill>
          <a:blip r:embed="rId3"/>
          <a:stretch>
            <a:fillRect/>
          </a:stretch>
        </p:blipFill>
        <p:spPr>
          <a:xfrm>
            <a:off x="987552" y="4352544"/>
            <a:ext cx="237744" cy="237744"/>
          </a:xfrm>
          <a:prstGeom prst="rect">
            <a:avLst/>
          </a:prstGeom>
        </p:spPr>
      </p:pic>
      <p:sp>
        <p:nvSpPr>
          <p:cNvPr id="17" name="TextBox 16"/>
          <p:cNvSpPr txBox="1"/>
          <p:nvPr/>
        </p:nvSpPr>
        <p:spPr>
          <a:xfrm>
            <a:off x="1353312" y="4206240"/>
            <a:ext cx="5029200" cy="530352"/>
          </a:xfrm>
          <a:prstGeom prst="rect">
            <a:avLst/>
          </a:prstGeom>
          <a:noFill/>
        </p:spPr>
        <p:txBody>
          <a:bodyPr wrap="square" anchor="ctr" lIns="0" rIns="0" tIns="0" bIns="0">
            <a:spAutoFit/>
          </a:bodyPr>
          <a:lstStyle/>
          <a:p>
            <a:pPr algn="l">
              <a:lnSpc>
                <a:spcPct val="106000"/>
              </a:lnSpc>
              <a:spcBef>
                <a:spcPts val="0"/>
              </a:spcBef>
              <a:spcAft>
                <a:spcPts val="0"/>
              </a:spcAft>
            </a:pPr>
            <a:r>
              <a:rPr sz="1200" b="0">
                <a:solidFill>
                  <a:srgbClr val="1A1A1A"/>
                </a:solidFill>
                <a:latin typeface="Red Hat Text"/>
              </a:rPr>
              <a:t>Ask for too much → scheduling refused</a:t>
            </a:r>
          </a:p>
        </p:txBody>
      </p:sp>
      <p:sp>
        <p:nvSpPr>
          <p:cNvPr id="18" name="Rounded Rectangle 17"/>
          <p:cNvSpPr/>
          <p:nvPr/>
        </p:nvSpPr>
        <p:spPr>
          <a:xfrm>
            <a:off x="841248" y="4809744"/>
            <a:ext cx="5715000" cy="530352"/>
          </a:xfrm>
          <a:prstGeom prst="roundRect">
            <a:avLst>
              <a:gd name="adj" fmla="val 6000"/>
            </a:avLst>
          </a:prstGeom>
          <a:solidFill>
            <a:srgbClr val="F5F6F8"/>
          </a:solidFill>
          <a:ln w="12700">
            <a:solidFill>
              <a:srgbClr val="DDE1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9" name="Picture 18" descr="check_steel.png"/>
          <p:cNvPicPr>
            <a:picLocks noChangeAspect="1"/>
          </p:cNvPicPr>
          <p:nvPr/>
        </p:nvPicPr>
        <p:blipFill>
          <a:blip r:embed="rId3"/>
          <a:stretch>
            <a:fillRect/>
          </a:stretch>
        </p:blipFill>
        <p:spPr>
          <a:xfrm>
            <a:off x="987552" y="4956048"/>
            <a:ext cx="237744" cy="237744"/>
          </a:xfrm>
          <a:prstGeom prst="rect">
            <a:avLst/>
          </a:prstGeom>
        </p:spPr>
      </p:pic>
      <p:sp>
        <p:nvSpPr>
          <p:cNvPr id="20" name="TextBox 19"/>
          <p:cNvSpPr txBox="1"/>
          <p:nvPr/>
        </p:nvSpPr>
        <p:spPr>
          <a:xfrm>
            <a:off x="1353312" y="4809744"/>
            <a:ext cx="5029200" cy="530352"/>
          </a:xfrm>
          <a:prstGeom prst="rect">
            <a:avLst/>
          </a:prstGeom>
          <a:noFill/>
        </p:spPr>
        <p:txBody>
          <a:bodyPr wrap="square" anchor="ctr" lIns="0" rIns="0" tIns="0" bIns="0">
            <a:spAutoFit/>
          </a:bodyPr>
          <a:lstStyle/>
          <a:p>
            <a:pPr algn="l">
              <a:lnSpc>
                <a:spcPct val="106000"/>
              </a:lnSpc>
              <a:spcBef>
                <a:spcPts val="0"/>
              </a:spcBef>
              <a:spcAft>
                <a:spcPts val="0"/>
              </a:spcAft>
            </a:pPr>
            <a:r>
              <a:rPr sz="1200" b="0">
                <a:solidFill>
                  <a:srgbClr val="1A1A1A"/>
                </a:solidFill>
                <a:latin typeface="Red Hat Text"/>
              </a:rPr>
              <a:t>Right-size requests; don't fight the room</a:t>
            </a:r>
          </a:p>
        </p:txBody>
      </p:sp>
      <p:sp>
        <p:nvSpPr>
          <p:cNvPr id="21" name="Rounded Rectangle 20"/>
          <p:cNvSpPr/>
          <p:nvPr/>
        </p:nvSpPr>
        <p:spPr>
          <a:xfrm>
            <a:off x="6812280" y="2395728"/>
            <a:ext cx="4538167" cy="2944368"/>
          </a:xfrm>
          <a:prstGeom prst="roundRect">
            <a:avLst>
              <a:gd name="adj" fmla="val 4000"/>
            </a:avLst>
          </a:prstGeom>
          <a:solidFill>
            <a:srgbClr val="FFFFFF"/>
          </a:solidFill>
          <a:ln w="15240">
            <a:solidFill>
              <a:srgbClr val="DDE1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ounded Rectangle 21"/>
          <p:cNvSpPr/>
          <p:nvPr/>
        </p:nvSpPr>
        <p:spPr>
          <a:xfrm>
            <a:off x="7013448" y="2596896"/>
            <a:ext cx="1298448" cy="310896"/>
          </a:xfrm>
          <a:prstGeom prst="roundRect">
            <a:avLst>
              <a:gd name="adj" fmla="val 50000"/>
            </a:avLst>
          </a:prstGeom>
          <a:solidFill>
            <a:srgbClr val="FCEC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7013448" y="2596896"/>
            <a:ext cx="1298448" cy="310896"/>
          </a:xfrm>
          <a:prstGeom prst="rect">
            <a:avLst/>
          </a:prstGeom>
          <a:noFill/>
        </p:spPr>
        <p:txBody>
          <a:bodyPr wrap="none" anchor="ctr" lIns="0" rIns="0" tIns="0" bIns="0">
            <a:spAutoFit/>
          </a:bodyPr>
          <a:lstStyle/>
          <a:p>
            <a:pPr algn="ctr">
              <a:lnSpc>
                <a:spcPct val="106000"/>
              </a:lnSpc>
              <a:spcBef>
                <a:spcPts val="0"/>
              </a:spcBef>
              <a:spcAft>
                <a:spcPts val="0"/>
              </a:spcAft>
            </a:pPr>
            <a:r>
              <a:rPr sz="850" b="1">
                <a:solidFill>
                  <a:srgbClr val="B80000"/>
                </a:solidFill>
                <a:latin typeface="Red Hat Display"/>
              </a:rPr>
              <a:t>MEDIA PASS</a:t>
            </a:r>
          </a:p>
        </p:txBody>
      </p:sp>
      <p:pic>
        <p:nvPicPr>
          <p:cNvPr id="24" name="Picture 23" descr="eye_slate.png"/>
          <p:cNvPicPr>
            <a:picLocks noChangeAspect="1"/>
          </p:cNvPicPr>
          <p:nvPr/>
        </p:nvPicPr>
        <p:blipFill>
          <a:blip r:embed="rId4"/>
          <a:stretch>
            <a:fillRect/>
          </a:stretch>
        </p:blipFill>
        <p:spPr>
          <a:xfrm>
            <a:off x="8843619" y="3108960"/>
            <a:ext cx="475488" cy="475488"/>
          </a:xfrm>
          <a:prstGeom prst="rect">
            <a:avLst/>
          </a:prstGeom>
        </p:spPr>
      </p:pic>
      <p:sp>
        <p:nvSpPr>
          <p:cNvPr id="25" name="TextBox 24"/>
          <p:cNvSpPr txBox="1"/>
          <p:nvPr/>
        </p:nvSpPr>
        <p:spPr>
          <a:xfrm>
            <a:off x="7050024" y="3721608"/>
            <a:ext cx="4062679" cy="1481328"/>
          </a:xfrm>
          <a:prstGeom prst="rect">
            <a:avLst/>
          </a:prstGeom>
          <a:noFill/>
        </p:spPr>
        <p:txBody>
          <a:bodyPr wrap="square" anchor="t" lIns="0" rIns="0" tIns="0" bIns="0">
            <a:spAutoFit/>
          </a:bodyPr>
          <a:lstStyle/>
          <a:p>
            <a:pPr algn="l">
              <a:lnSpc>
                <a:spcPct val="120000"/>
              </a:lnSpc>
              <a:spcBef>
                <a:spcPts val="0"/>
              </a:spcBef>
              <a:spcAft>
                <a:spcPts val="0"/>
              </a:spcAft>
            </a:pPr>
            <a:r>
              <a:rPr sz="950" b="0">
                <a:solidFill>
                  <a:srgbClr val="8A9099"/>
                </a:solidFill>
                <a:latin typeface="Red Hat Text"/>
              </a:rPr>
              <a:t>A namespace box with a quota meter (requests.cpu 3 cores), a normal pod fitting and an oversized pod bouncing off with an "exceeded quota" tag.</a:t>
            </a:r>
          </a:p>
        </p:txBody>
      </p:sp>
      <p:cxnSp>
        <p:nvCxnSpPr>
          <p:cNvPr id="26" name="Connector 25"/>
          <p:cNvCxnSpPr/>
          <p:nvPr/>
        </p:nvCxnSpPr>
        <p:spPr>
          <a:xfrm>
            <a:off x="841248" y="6437376"/>
            <a:ext cx="10509199" cy="0"/>
          </a:xfrm>
          <a:prstGeom prst="bentConnector3">
            <a:avLst/>
          </a:prstGeom>
          <a:ln w="12700">
            <a:solidFill>
              <a:srgbClr val="DDE1E6"/>
            </a:solidFill>
          </a:ln>
          <a:effectLst/>
        </p:spPr>
        <p:style>
          <a:lnRef idx="2">
            <a:schemeClr val="accent1"/>
          </a:lnRef>
          <a:fillRef idx="0">
            <a:schemeClr val="accent1"/>
          </a:fillRef>
          <a:effectRef idx="1">
            <a:schemeClr val="accent1"/>
          </a:effectRef>
          <a:fontRef idx="minor">
            <a:schemeClr val="tx1"/>
          </a:fontRef>
        </p:style>
      </p:cxnSp>
      <p:sp>
        <p:nvSpPr>
          <p:cNvPr id="27" name="TextBox 26"/>
          <p:cNvSpPr txBox="1"/>
          <p:nvPr/>
        </p:nvSpPr>
        <p:spPr>
          <a:xfrm>
            <a:off x="841248" y="6473952"/>
            <a:ext cx="7315200" cy="274320"/>
          </a:xfrm>
          <a:prstGeom prst="rect">
            <a:avLst/>
          </a:prstGeom>
          <a:noFill/>
        </p:spPr>
        <p:txBody>
          <a:bodyPr wrap="square" anchor="t" lIns="0" rIns="0" tIns="0" bIns="0">
            <a:spAutoFit/>
          </a:bodyPr>
          <a:lstStyle/>
          <a:p>
            <a:pPr algn="l">
              <a:lnSpc>
                <a:spcPct val="106000"/>
              </a:lnSpc>
              <a:spcBef>
                <a:spcPts val="0"/>
              </a:spcBef>
              <a:spcAft>
                <a:spcPts val="0"/>
              </a:spcAft>
            </a:pPr>
            <a:r>
              <a:rPr sz="950" b="0">
                <a:solidFill>
                  <a:srgbClr val="8A9099"/>
                </a:solidFill>
                <a:latin typeface="Red Hat Text"/>
              </a:rPr>
              <a:t>CONFIDENTIAL</a:t>
            </a:r>
          </a:p>
        </p:txBody>
      </p:sp>
      <p:sp>
        <p:nvSpPr>
          <p:cNvPr id="28" name="TextBox 27"/>
          <p:cNvSpPr txBox="1"/>
          <p:nvPr/>
        </p:nvSpPr>
        <p:spPr>
          <a:xfrm>
            <a:off x="10801807" y="6473952"/>
            <a:ext cx="548640" cy="274320"/>
          </a:xfrm>
          <a:prstGeom prst="rect">
            <a:avLst/>
          </a:prstGeom>
          <a:noFill/>
        </p:spPr>
        <p:txBody>
          <a:bodyPr wrap="square" anchor="t" lIns="0" rIns="0" tIns="0" bIns="0">
            <a:spAutoFit/>
          </a:bodyPr>
          <a:lstStyle/>
          <a:p>
            <a:pPr algn="r">
              <a:lnSpc>
                <a:spcPct val="106000"/>
              </a:lnSpc>
              <a:spcBef>
                <a:spcPts val="0"/>
              </a:spcBef>
              <a:spcAft>
                <a:spcPts val="0"/>
              </a:spcAft>
            </a:pPr>
            <a:r>
              <a:rPr sz="950" b="0">
                <a:solidFill>
                  <a:srgbClr val="8A9099"/>
                </a:solidFill>
                <a:latin typeface="Red Hat Text"/>
              </a:rPr>
              <a:t>25</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redhat_logo.jpg"/>
          <p:cNvPicPr>
            <a:picLocks noChangeAspect="1"/>
          </p:cNvPicPr>
          <p:nvPr/>
        </p:nvPicPr>
        <p:blipFill>
          <a:blip r:embed="rId2"/>
          <a:stretch>
            <a:fillRect/>
          </a:stretch>
        </p:blipFill>
        <p:spPr>
          <a:xfrm>
            <a:off x="10326319" y="475488"/>
            <a:ext cx="1024128" cy="242248"/>
          </a:xfrm>
          <a:prstGeom prst="rect">
            <a:avLst/>
          </a:prstGeom>
        </p:spPr>
      </p:pic>
      <p:sp>
        <p:nvSpPr>
          <p:cNvPr id="3" name="TextBox 2"/>
          <p:cNvSpPr txBox="1"/>
          <p:nvPr/>
        </p:nvSpPr>
        <p:spPr>
          <a:xfrm>
            <a:off x="841248" y="548640"/>
            <a:ext cx="8595360" cy="274320"/>
          </a:xfrm>
          <a:prstGeom prst="rect">
            <a:avLst/>
          </a:prstGeom>
          <a:noFill/>
        </p:spPr>
        <p:txBody>
          <a:bodyPr wrap="square" anchor="t" lIns="0" rIns="0" tIns="0" bIns="0">
            <a:spAutoFit/>
          </a:bodyPr>
          <a:lstStyle/>
          <a:p>
            <a:pPr algn="l">
              <a:lnSpc>
                <a:spcPct val="106000"/>
              </a:lnSpc>
              <a:spcBef>
                <a:spcPts val="0"/>
              </a:spcBef>
              <a:spcAft>
                <a:spcPts val="0"/>
              </a:spcAft>
            </a:pPr>
            <a:r>
              <a:rPr sz="1250" b="1" spc="220">
                <a:solidFill>
                  <a:srgbClr val="EE0000"/>
                </a:solidFill>
                <a:latin typeface="Red Hat Display"/>
              </a:rPr>
              <a:t>M04 · CONFIG, SECRETS &amp; MULTI-ENVIRONMENT</a:t>
            </a:r>
          </a:p>
        </p:txBody>
      </p:sp>
      <p:sp>
        <p:nvSpPr>
          <p:cNvPr id="4" name="TextBox 3"/>
          <p:cNvSpPr txBox="1"/>
          <p:nvPr/>
        </p:nvSpPr>
        <p:spPr>
          <a:xfrm>
            <a:off x="841248" y="877824"/>
            <a:ext cx="10515600" cy="548640"/>
          </a:xfrm>
          <a:prstGeom prst="rect">
            <a:avLst/>
          </a:prstGeom>
          <a:noFill/>
        </p:spPr>
        <p:txBody>
          <a:bodyPr wrap="none" anchor="t" lIns="0" rIns="0" tIns="0" bIns="0">
            <a:spAutoFit/>
          </a:bodyPr>
          <a:lstStyle/>
          <a:p>
            <a:pPr algn="l">
              <a:lnSpc>
                <a:spcPct val="100000"/>
              </a:lnSpc>
              <a:spcBef>
                <a:spcPts val="0"/>
              </a:spcBef>
              <a:spcAft>
                <a:spcPts val="0"/>
              </a:spcAft>
            </a:pPr>
            <a:r>
              <a:rPr sz="2500" b="1">
                <a:solidFill>
                  <a:srgbClr val="1A1A1A"/>
                </a:solidFill>
                <a:latin typeface="Red Hat Display"/>
              </a:rPr>
              <a:t>Promotion — one base, three overlays</a:t>
            </a:r>
          </a:p>
        </p:txBody>
      </p:sp>
      <p:cxnSp>
        <p:nvCxnSpPr>
          <p:cNvPr id="5" name="Connector 4"/>
          <p:cNvCxnSpPr/>
          <p:nvPr/>
        </p:nvCxnSpPr>
        <p:spPr>
          <a:xfrm>
            <a:off x="841248" y="1554480"/>
            <a:ext cx="1371600" cy="0"/>
          </a:xfrm>
          <a:prstGeom prst="bentConnector3">
            <a:avLst/>
          </a:prstGeom>
          <a:ln w="31750">
            <a:solidFill>
              <a:srgbClr val="EE0000"/>
            </a:solidFill>
          </a:ln>
          <a:effectLst/>
        </p:spPr>
        <p:style>
          <a:lnRef idx="2">
            <a:schemeClr val="accent1"/>
          </a:lnRef>
          <a:fillRef idx="0">
            <a:schemeClr val="accent1"/>
          </a:fillRef>
          <a:effectRef idx="1">
            <a:schemeClr val="accent1"/>
          </a:effectRef>
          <a:fontRef idx="minor">
            <a:schemeClr val="tx1"/>
          </a:fontRef>
        </p:style>
      </p:cxnSp>
      <p:sp>
        <p:nvSpPr>
          <p:cNvPr id="6" name="Rounded Rectangle 5"/>
          <p:cNvSpPr/>
          <p:nvPr/>
        </p:nvSpPr>
        <p:spPr>
          <a:xfrm>
            <a:off x="841248" y="2395728"/>
            <a:ext cx="5715000" cy="530352"/>
          </a:xfrm>
          <a:prstGeom prst="roundRect">
            <a:avLst>
              <a:gd name="adj" fmla="val 6000"/>
            </a:avLst>
          </a:prstGeom>
          <a:solidFill>
            <a:srgbClr val="F5F6F8"/>
          </a:solidFill>
          <a:ln w="12700">
            <a:solidFill>
              <a:srgbClr val="DDE1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check_steel.png"/>
          <p:cNvPicPr>
            <a:picLocks noChangeAspect="1"/>
          </p:cNvPicPr>
          <p:nvPr/>
        </p:nvPicPr>
        <p:blipFill>
          <a:blip r:embed="rId3"/>
          <a:stretch>
            <a:fillRect/>
          </a:stretch>
        </p:blipFill>
        <p:spPr>
          <a:xfrm>
            <a:off x="987552" y="2542032"/>
            <a:ext cx="237744" cy="237744"/>
          </a:xfrm>
          <a:prstGeom prst="rect">
            <a:avLst/>
          </a:prstGeom>
        </p:spPr>
      </p:pic>
      <p:sp>
        <p:nvSpPr>
          <p:cNvPr id="8" name="TextBox 7"/>
          <p:cNvSpPr txBox="1"/>
          <p:nvPr/>
        </p:nvSpPr>
        <p:spPr>
          <a:xfrm>
            <a:off x="1353312" y="2395728"/>
            <a:ext cx="5029200" cy="530352"/>
          </a:xfrm>
          <a:prstGeom prst="rect">
            <a:avLst/>
          </a:prstGeom>
          <a:noFill/>
        </p:spPr>
        <p:txBody>
          <a:bodyPr wrap="square" anchor="ctr" lIns="0" rIns="0" tIns="0" bIns="0">
            <a:spAutoFit/>
          </a:bodyPr>
          <a:lstStyle/>
          <a:p>
            <a:pPr algn="l">
              <a:lnSpc>
                <a:spcPct val="106000"/>
              </a:lnSpc>
              <a:spcBef>
                <a:spcPts val="0"/>
              </a:spcBef>
              <a:spcAft>
                <a:spcPts val="0"/>
              </a:spcAft>
            </a:pPr>
            <a:r>
              <a:rPr sz="1200" b="0">
                <a:solidFill>
                  <a:srgbClr val="1A1A1A"/>
                </a:solidFill>
                <a:latin typeface="Red Hat Text"/>
              </a:rPr>
              <a:t>One Kustomize base, three overlays</a:t>
            </a:r>
          </a:p>
        </p:txBody>
      </p:sp>
      <p:sp>
        <p:nvSpPr>
          <p:cNvPr id="9" name="Rounded Rectangle 8"/>
          <p:cNvSpPr/>
          <p:nvPr/>
        </p:nvSpPr>
        <p:spPr>
          <a:xfrm>
            <a:off x="841248" y="2999232"/>
            <a:ext cx="5715000" cy="530352"/>
          </a:xfrm>
          <a:prstGeom prst="roundRect">
            <a:avLst>
              <a:gd name="adj" fmla="val 6000"/>
            </a:avLst>
          </a:prstGeom>
          <a:solidFill>
            <a:srgbClr val="F5F6F8"/>
          </a:solidFill>
          <a:ln w="12700">
            <a:solidFill>
              <a:srgbClr val="DDE1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0" name="Picture 9" descr="check_steel.png"/>
          <p:cNvPicPr>
            <a:picLocks noChangeAspect="1"/>
          </p:cNvPicPr>
          <p:nvPr/>
        </p:nvPicPr>
        <p:blipFill>
          <a:blip r:embed="rId3"/>
          <a:stretch>
            <a:fillRect/>
          </a:stretch>
        </p:blipFill>
        <p:spPr>
          <a:xfrm>
            <a:off x="987552" y="3145536"/>
            <a:ext cx="237744" cy="237744"/>
          </a:xfrm>
          <a:prstGeom prst="rect">
            <a:avLst/>
          </a:prstGeom>
        </p:spPr>
      </p:pic>
      <p:sp>
        <p:nvSpPr>
          <p:cNvPr id="11" name="TextBox 10"/>
          <p:cNvSpPr txBox="1"/>
          <p:nvPr/>
        </p:nvSpPr>
        <p:spPr>
          <a:xfrm>
            <a:off x="1353312" y="2999232"/>
            <a:ext cx="5029200" cy="530352"/>
          </a:xfrm>
          <a:prstGeom prst="rect">
            <a:avLst/>
          </a:prstGeom>
          <a:noFill/>
        </p:spPr>
        <p:txBody>
          <a:bodyPr wrap="square" anchor="ctr" lIns="0" rIns="0" tIns="0" bIns="0">
            <a:spAutoFit/>
          </a:bodyPr>
          <a:lstStyle/>
          <a:p>
            <a:pPr algn="l">
              <a:lnSpc>
                <a:spcPct val="106000"/>
              </a:lnSpc>
              <a:spcBef>
                <a:spcPts val="0"/>
              </a:spcBef>
              <a:spcAft>
                <a:spcPts val="0"/>
              </a:spcAft>
            </a:pPr>
            <a:r>
              <a:rPr sz="1200" b="0">
                <a:solidFill>
                  <a:srgbClr val="1A1A1A"/>
                </a:solidFill>
                <a:latin typeface="Red Hat Text"/>
              </a:rPr>
              <a:t>dev / stage / prod change only config</a:t>
            </a:r>
          </a:p>
        </p:txBody>
      </p:sp>
      <p:sp>
        <p:nvSpPr>
          <p:cNvPr id="12" name="Rounded Rectangle 11"/>
          <p:cNvSpPr/>
          <p:nvPr/>
        </p:nvSpPr>
        <p:spPr>
          <a:xfrm>
            <a:off x="841248" y="3602736"/>
            <a:ext cx="5715000" cy="530352"/>
          </a:xfrm>
          <a:prstGeom prst="roundRect">
            <a:avLst>
              <a:gd name="adj" fmla="val 6000"/>
            </a:avLst>
          </a:prstGeom>
          <a:solidFill>
            <a:srgbClr val="F5F6F8"/>
          </a:solidFill>
          <a:ln w="12700">
            <a:solidFill>
              <a:srgbClr val="DDE1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3" name="Picture 12" descr="check_steel.png"/>
          <p:cNvPicPr>
            <a:picLocks noChangeAspect="1"/>
          </p:cNvPicPr>
          <p:nvPr/>
        </p:nvPicPr>
        <p:blipFill>
          <a:blip r:embed="rId3"/>
          <a:stretch>
            <a:fillRect/>
          </a:stretch>
        </p:blipFill>
        <p:spPr>
          <a:xfrm>
            <a:off x="987552" y="3749040"/>
            <a:ext cx="237744" cy="237744"/>
          </a:xfrm>
          <a:prstGeom prst="rect">
            <a:avLst/>
          </a:prstGeom>
        </p:spPr>
      </p:pic>
      <p:sp>
        <p:nvSpPr>
          <p:cNvPr id="14" name="TextBox 13"/>
          <p:cNvSpPr txBox="1"/>
          <p:nvPr/>
        </p:nvSpPr>
        <p:spPr>
          <a:xfrm>
            <a:off x="1353312" y="3602736"/>
            <a:ext cx="5029200" cy="530352"/>
          </a:xfrm>
          <a:prstGeom prst="rect">
            <a:avLst/>
          </a:prstGeom>
          <a:noFill/>
        </p:spPr>
        <p:txBody>
          <a:bodyPr wrap="square" anchor="ctr" lIns="0" rIns="0" tIns="0" bIns="0">
            <a:spAutoFit/>
          </a:bodyPr>
          <a:lstStyle/>
          <a:p>
            <a:pPr algn="l">
              <a:lnSpc>
                <a:spcPct val="106000"/>
              </a:lnSpc>
              <a:spcBef>
                <a:spcPts val="0"/>
              </a:spcBef>
              <a:spcAft>
                <a:spcPts val="0"/>
              </a:spcAft>
            </a:pPr>
            <a:r>
              <a:rPr sz="1200" b="0">
                <a:solidFill>
                  <a:srgbClr val="1A1A1A"/>
                </a:solidFill>
                <a:latin typeface="Red Hat Text"/>
              </a:rPr>
              <a:t>Same image digest in every environment</a:t>
            </a:r>
          </a:p>
        </p:txBody>
      </p:sp>
      <p:sp>
        <p:nvSpPr>
          <p:cNvPr id="15" name="Rounded Rectangle 14"/>
          <p:cNvSpPr/>
          <p:nvPr/>
        </p:nvSpPr>
        <p:spPr>
          <a:xfrm>
            <a:off x="841248" y="4206240"/>
            <a:ext cx="5715000" cy="530352"/>
          </a:xfrm>
          <a:prstGeom prst="roundRect">
            <a:avLst>
              <a:gd name="adj" fmla="val 6000"/>
            </a:avLst>
          </a:prstGeom>
          <a:solidFill>
            <a:srgbClr val="F5F6F8"/>
          </a:solidFill>
          <a:ln w="12700">
            <a:solidFill>
              <a:srgbClr val="DDE1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6" name="Picture 15" descr="check_steel.png"/>
          <p:cNvPicPr>
            <a:picLocks noChangeAspect="1"/>
          </p:cNvPicPr>
          <p:nvPr/>
        </p:nvPicPr>
        <p:blipFill>
          <a:blip r:embed="rId3"/>
          <a:stretch>
            <a:fillRect/>
          </a:stretch>
        </p:blipFill>
        <p:spPr>
          <a:xfrm>
            <a:off x="987552" y="4352544"/>
            <a:ext cx="237744" cy="237744"/>
          </a:xfrm>
          <a:prstGeom prst="rect">
            <a:avLst/>
          </a:prstGeom>
        </p:spPr>
      </p:pic>
      <p:sp>
        <p:nvSpPr>
          <p:cNvPr id="17" name="TextBox 16"/>
          <p:cNvSpPr txBox="1"/>
          <p:nvPr/>
        </p:nvSpPr>
        <p:spPr>
          <a:xfrm>
            <a:off x="1353312" y="4206240"/>
            <a:ext cx="5029200" cy="530352"/>
          </a:xfrm>
          <a:prstGeom prst="rect">
            <a:avLst/>
          </a:prstGeom>
          <a:noFill/>
        </p:spPr>
        <p:txBody>
          <a:bodyPr wrap="square" anchor="ctr" lIns="0" rIns="0" tIns="0" bIns="0">
            <a:spAutoFit/>
          </a:bodyPr>
          <a:lstStyle/>
          <a:p>
            <a:pPr algn="l">
              <a:lnSpc>
                <a:spcPct val="106000"/>
              </a:lnSpc>
              <a:spcBef>
                <a:spcPts val="0"/>
              </a:spcBef>
              <a:spcAft>
                <a:spcPts val="0"/>
              </a:spcAft>
            </a:pPr>
            <a:r>
              <a:rPr sz="1200" b="0">
                <a:solidFill>
                  <a:srgbClr val="1A1A1A"/>
                </a:solidFill>
                <a:latin typeface="Red Hat Text"/>
              </a:rPr>
              <a:t>Replicas + settings differ, bytes don't</a:t>
            </a:r>
          </a:p>
        </p:txBody>
      </p:sp>
      <p:sp>
        <p:nvSpPr>
          <p:cNvPr id="18" name="Rounded Rectangle 17"/>
          <p:cNvSpPr/>
          <p:nvPr/>
        </p:nvSpPr>
        <p:spPr>
          <a:xfrm>
            <a:off x="841248" y="4809744"/>
            <a:ext cx="5715000" cy="530352"/>
          </a:xfrm>
          <a:prstGeom prst="roundRect">
            <a:avLst>
              <a:gd name="adj" fmla="val 6000"/>
            </a:avLst>
          </a:prstGeom>
          <a:solidFill>
            <a:srgbClr val="F5F6F8"/>
          </a:solidFill>
          <a:ln w="12700">
            <a:solidFill>
              <a:srgbClr val="DDE1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9" name="Picture 18" descr="check_steel.png"/>
          <p:cNvPicPr>
            <a:picLocks noChangeAspect="1"/>
          </p:cNvPicPr>
          <p:nvPr/>
        </p:nvPicPr>
        <p:blipFill>
          <a:blip r:embed="rId3"/>
          <a:stretch>
            <a:fillRect/>
          </a:stretch>
        </p:blipFill>
        <p:spPr>
          <a:xfrm>
            <a:off x="987552" y="4956048"/>
            <a:ext cx="237744" cy="237744"/>
          </a:xfrm>
          <a:prstGeom prst="rect">
            <a:avLst/>
          </a:prstGeom>
        </p:spPr>
      </p:pic>
      <p:sp>
        <p:nvSpPr>
          <p:cNvPr id="20" name="TextBox 19"/>
          <p:cNvSpPr txBox="1"/>
          <p:nvPr/>
        </p:nvSpPr>
        <p:spPr>
          <a:xfrm>
            <a:off x="1353312" y="4809744"/>
            <a:ext cx="5029200" cy="530352"/>
          </a:xfrm>
          <a:prstGeom prst="rect">
            <a:avLst/>
          </a:prstGeom>
          <a:noFill/>
        </p:spPr>
        <p:txBody>
          <a:bodyPr wrap="square" anchor="ctr" lIns="0" rIns="0" tIns="0" bIns="0">
            <a:spAutoFit/>
          </a:bodyPr>
          <a:lstStyle/>
          <a:p>
            <a:pPr algn="l">
              <a:lnSpc>
                <a:spcPct val="106000"/>
              </a:lnSpc>
              <a:spcBef>
                <a:spcPts val="0"/>
              </a:spcBef>
              <a:spcAft>
                <a:spcPts val="0"/>
              </a:spcAft>
            </a:pPr>
            <a:r>
              <a:rPr sz="1200" b="0">
                <a:solidFill>
                  <a:srgbClr val="1A1A1A"/>
                </a:solidFill>
                <a:latin typeface="Red Hat Text"/>
              </a:rPr>
              <a:t>"Tested what we shipped," provably</a:t>
            </a:r>
          </a:p>
        </p:txBody>
      </p:sp>
      <p:sp>
        <p:nvSpPr>
          <p:cNvPr id="21" name="Rounded Rectangle 20"/>
          <p:cNvSpPr/>
          <p:nvPr/>
        </p:nvSpPr>
        <p:spPr>
          <a:xfrm>
            <a:off x="6812280" y="2395728"/>
            <a:ext cx="4538167" cy="2944368"/>
          </a:xfrm>
          <a:prstGeom prst="roundRect">
            <a:avLst>
              <a:gd name="adj" fmla="val 4000"/>
            </a:avLst>
          </a:prstGeom>
          <a:solidFill>
            <a:srgbClr val="FFFFFF"/>
          </a:solidFill>
          <a:ln w="15240">
            <a:solidFill>
              <a:srgbClr val="DDE1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ounded Rectangle 21"/>
          <p:cNvSpPr/>
          <p:nvPr/>
        </p:nvSpPr>
        <p:spPr>
          <a:xfrm>
            <a:off x="7013448" y="2596896"/>
            <a:ext cx="1298448" cy="310896"/>
          </a:xfrm>
          <a:prstGeom prst="roundRect">
            <a:avLst>
              <a:gd name="adj" fmla="val 50000"/>
            </a:avLst>
          </a:prstGeom>
          <a:solidFill>
            <a:srgbClr val="FCEC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7013448" y="2596896"/>
            <a:ext cx="1298448" cy="310896"/>
          </a:xfrm>
          <a:prstGeom prst="rect">
            <a:avLst/>
          </a:prstGeom>
          <a:noFill/>
        </p:spPr>
        <p:txBody>
          <a:bodyPr wrap="none" anchor="ctr" lIns="0" rIns="0" tIns="0" bIns="0">
            <a:spAutoFit/>
          </a:bodyPr>
          <a:lstStyle/>
          <a:p>
            <a:pPr algn="ctr">
              <a:lnSpc>
                <a:spcPct val="106000"/>
              </a:lnSpc>
              <a:spcBef>
                <a:spcPts val="0"/>
              </a:spcBef>
              <a:spcAft>
                <a:spcPts val="0"/>
              </a:spcAft>
            </a:pPr>
            <a:r>
              <a:rPr sz="850" b="1">
                <a:solidFill>
                  <a:srgbClr val="B80000"/>
                </a:solidFill>
                <a:latin typeface="Red Hat Display"/>
              </a:rPr>
              <a:t>MEDIA PASS</a:t>
            </a:r>
          </a:p>
        </p:txBody>
      </p:sp>
      <p:pic>
        <p:nvPicPr>
          <p:cNvPr id="24" name="Picture 23" descr="eye_slate.png"/>
          <p:cNvPicPr>
            <a:picLocks noChangeAspect="1"/>
          </p:cNvPicPr>
          <p:nvPr/>
        </p:nvPicPr>
        <p:blipFill>
          <a:blip r:embed="rId4"/>
          <a:stretch>
            <a:fillRect/>
          </a:stretch>
        </p:blipFill>
        <p:spPr>
          <a:xfrm>
            <a:off x="8843619" y="3108960"/>
            <a:ext cx="475488" cy="475488"/>
          </a:xfrm>
          <a:prstGeom prst="rect">
            <a:avLst/>
          </a:prstGeom>
        </p:spPr>
      </p:pic>
      <p:sp>
        <p:nvSpPr>
          <p:cNvPr id="25" name="TextBox 24"/>
          <p:cNvSpPr txBox="1"/>
          <p:nvPr/>
        </p:nvSpPr>
        <p:spPr>
          <a:xfrm>
            <a:off x="7050024" y="3721608"/>
            <a:ext cx="4062679" cy="1481328"/>
          </a:xfrm>
          <a:prstGeom prst="rect">
            <a:avLst/>
          </a:prstGeom>
          <a:noFill/>
        </p:spPr>
        <p:txBody>
          <a:bodyPr wrap="square" anchor="t" lIns="0" rIns="0" tIns="0" bIns="0">
            <a:spAutoFit/>
          </a:bodyPr>
          <a:lstStyle/>
          <a:p>
            <a:pPr algn="l">
              <a:lnSpc>
                <a:spcPct val="120000"/>
              </a:lnSpc>
              <a:spcBef>
                <a:spcPts val="0"/>
              </a:spcBef>
              <a:spcAft>
                <a:spcPts val="0"/>
              </a:spcAft>
            </a:pPr>
            <a:r>
              <a:rPr sz="950" b="0">
                <a:solidFill>
                  <a:srgbClr val="8A9099"/>
                </a:solidFill>
                <a:latin typeface="Red Hat Text"/>
              </a:rPr>
              <a:t>Reuse concept diagram config-multienv-...-03-promotion-overlays.svg — one base fanning into dev/stage/prod overlays, all carrying the same image digest.</a:t>
            </a:r>
          </a:p>
        </p:txBody>
      </p:sp>
      <p:cxnSp>
        <p:nvCxnSpPr>
          <p:cNvPr id="26" name="Connector 25"/>
          <p:cNvCxnSpPr/>
          <p:nvPr/>
        </p:nvCxnSpPr>
        <p:spPr>
          <a:xfrm>
            <a:off x="841248" y="6437376"/>
            <a:ext cx="10509199" cy="0"/>
          </a:xfrm>
          <a:prstGeom prst="bentConnector3">
            <a:avLst/>
          </a:prstGeom>
          <a:ln w="12700">
            <a:solidFill>
              <a:srgbClr val="DDE1E6"/>
            </a:solidFill>
          </a:ln>
          <a:effectLst/>
        </p:spPr>
        <p:style>
          <a:lnRef idx="2">
            <a:schemeClr val="accent1"/>
          </a:lnRef>
          <a:fillRef idx="0">
            <a:schemeClr val="accent1"/>
          </a:fillRef>
          <a:effectRef idx="1">
            <a:schemeClr val="accent1"/>
          </a:effectRef>
          <a:fontRef idx="minor">
            <a:schemeClr val="tx1"/>
          </a:fontRef>
        </p:style>
      </p:cxnSp>
      <p:sp>
        <p:nvSpPr>
          <p:cNvPr id="27" name="TextBox 26"/>
          <p:cNvSpPr txBox="1"/>
          <p:nvPr/>
        </p:nvSpPr>
        <p:spPr>
          <a:xfrm>
            <a:off x="841248" y="6473952"/>
            <a:ext cx="7315200" cy="274320"/>
          </a:xfrm>
          <a:prstGeom prst="rect">
            <a:avLst/>
          </a:prstGeom>
          <a:noFill/>
        </p:spPr>
        <p:txBody>
          <a:bodyPr wrap="square" anchor="t" lIns="0" rIns="0" tIns="0" bIns="0">
            <a:spAutoFit/>
          </a:bodyPr>
          <a:lstStyle/>
          <a:p>
            <a:pPr algn="l">
              <a:lnSpc>
                <a:spcPct val="106000"/>
              </a:lnSpc>
              <a:spcBef>
                <a:spcPts val="0"/>
              </a:spcBef>
              <a:spcAft>
                <a:spcPts val="0"/>
              </a:spcAft>
            </a:pPr>
            <a:r>
              <a:rPr sz="950" b="0">
                <a:solidFill>
                  <a:srgbClr val="8A9099"/>
                </a:solidFill>
                <a:latin typeface="Red Hat Text"/>
              </a:rPr>
              <a:t>CONFIDENTIAL</a:t>
            </a:r>
          </a:p>
        </p:txBody>
      </p:sp>
      <p:sp>
        <p:nvSpPr>
          <p:cNvPr id="28" name="TextBox 27"/>
          <p:cNvSpPr txBox="1"/>
          <p:nvPr/>
        </p:nvSpPr>
        <p:spPr>
          <a:xfrm>
            <a:off x="10801807" y="6473952"/>
            <a:ext cx="548640" cy="274320"/>
          </a:xfrm>
          <a:prstGeom prst="rect">
            <a:avLst/>
          </a:prstGeom>
          <a:noFill/>
        </p:spPr>
        <p:txBody>
          <a:bodyPr wrap="square" anchor="t" lIns="0" rIns="0" tIns="0" bIns="0">
            <a:spAutoFit/>
          </a:bodyPr>
          <a:lstStyle/>
          <a:p>
            <a:pPr algn="r">
              <a:lnSpc>
                <a:spcPct val="106000"/>
              </a:lnSpc>
              <a:spcBef>
                <a:spcPts val="0"/>
              </a:spcBef>
              <a:spcAft>
                <a:spcPts val="0"/>
              </a:spcAft>
            </a:pPr>
            <a:r>
              <a:rPr sz="950" b="0">
                <a:solidFill>
                  <a:srgbClr val="8A9099"/>
                </a:solidFill>
                <a:latin typeface="Red Hat Text"/>
              </a:rPr>
              <a:t>26</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redhat_logo.jpg"/>
          <p:cNvPicPr>
            <a:picLocks noChangeAspect="1"/>
          </p:cNvPicPr>
          <p:nvPr/>
        </p:nvPicPr>
        <p:blipFill>
          <a:blip r:embed="rId2"/>
          <a:stretch>
            <a:fillRect/>
          </a:stretch>
        </p:blipFill>
        <p:spPr>
          <a:xfrm>
            <a:off x="10326319" y="475488"/>
            <a:ext cx="1024128" cy="242248"/>
          </a:xfrm>
          <a:prstGeom prst="rect">
            <a:avLst/>
          </a:prstGeom>
        </p:spPr>
      </p:pic>
      <p:sp>
        <p:nvSpPr>
          <p:cNvPr id="3" name="TextBox 2"/>
          <p:cNvSpPr txBox="1"/>
          <p:nvPr/>
        </p:nvSpPr>
        <p:spPr>
          <a:xfrm>
            <a:off x="841248" y="548640"/>
            <a:ext cx="8595360" cy="274320"/>
          </a:xfrm>
          <a:prstGeom prst="rect">
            <a:avLst/>
          </a:prstGeom>
          <a:noFill/>
        </p:spPr>
        <p:txBody>
          <a:bodyPr wrap="square" anchor="t" lIns="0" rIns="0" tIns="0" bIns="0">
            <a:spAutoFit/>
          </a:bodyPr>
          <a:lstStyle/>
          <a:p>
            <a:pPr algn="l">
              <a:lnSpc>
                <a:spcPct val="106000"/>
              </a:lnSpc>
              <a:spcBef>
                <a:spcPts val="0"/>
              </a:spcBef>
              <a:spcAft>
                <a:spcPts val="0"/>
              </a:spcAft>
            </a:pPr>
            <a:r>
              <a:rPr sz="1250" b="1" spc="220">
                <a:solidFill>
                  <a:srgbClr val="EE0000"/>
                </a:solidFill>
                <a:latin typeface="Red Hat Display"/>
              </a:rPr>
              <a:t>M04 · CONFIG, SECRETS &amp; MULTI-ENVIRONMENT</a:t>
            </a:r>
          </a:p>
        </p:txBody>
      </p:sp>
      <p:sp>
        <p:nvSpPr>
          <p:cNvPr id="4" name="TextBox 3"/>
          <p:cNvSpPr txBox="1"/>
          <p:nvPr/>
        </p:nvSpPr>
        <p:spPr>
          <a:xfrm>
            <a:off x="841248" y="877824"/>
            <a:ext cx="10515600" cy="548640"/>
          </a:xfrm>
          <a:prstGeom prst="rect">
            <a:avLst/>
          </a:prstGeom>
          <a:noFill/>
        </p:spPr>
        <p:txBody>
          <a:bodyPr wrap="none" anchor="t" lIns="0" rIns="0" tIns="0" bIns="0">
            <a:spAutoFit/>
          </a:bodyPr>
          <a:lstStyle/>
          <a:p>
            <a:pPr algn="l">
              <a:lnSpc>
                <a:spcPct val="100000"/>
              </a:lnSpc>
              <a:spcBef>
                <a:spcPts val="0"/>
              </a:spcBef>
              <a:spcAft>
                <a:spcPts val="0"/>
              </a:spcAft>
            </a:pPr>
            <a:r>
              <a:rPr sz="2500" b="1">
                <a:solidFill>
                  <a:srgbClr val="1A1A1A"/>
                </a:solidFill>
                <a:latin typeface="Red Hat Display"/>
              </a:rPr>
              <a:t>What you'll do</a:t>
            </a:r>
          </a:p>
        </p:txBody>
      </p:sp>
      <p:cxnSp>
        <p:nvCxnSpPr>
          <p:cNvPr id="5" name="Connector 4"/>
          <p:cNvCxnSpPr/>
          <p:nvPr/>
        </p:nvCxnSpPr>
        <p:spPr>
          <a:xfrm>
            <a:off x="841248" y="1554480"/>
            <a:ext cx="1371600" cy="0"/>
          </a:xfrm>
          <a:prstGeom prst="bentConnector3">
            <a:avLst/>
          </a:prstGeom>
          <a:ln w="31750">
            <a:solidFill>
              <a:srgbClr val="EE0000"/>
            </a:solidFill>
          </a:ln>
          <a:effectLst/>
        </p:spPr>
        <p:style>
          <a:lnRef idx="2">
            <a:schemeClr val="accent1"/>
          </a:lnRef>
          <a:fillRef idx="0">
            <a:schemeClr val="accent1"/>
          </a:fillRef>
          <a:effectRef idx="1">
            <a:schemeClr val="accent1"/>
          </a:effectRef>
          <a:fontRef idx="minor">
            <a:schemeClr val="tx1"/>
          </a:fontRef>
        </p:style>
      </p:cxnSp>
      <p:sp>
        <p:nvSpPr>
          <p:cNvPr id="6" name="Rounded Rectangle 5"/>
          <p:cNvSpPr/>
          <p:nvPr/>
        </p:nvSpPr>
        <p:spPr>
          <a:xfrm>
            <a:off x="841248" y="2395728"/>
            <a:ext cx="5715000" cy="530352"/>
          </a:xfrm>
          <a:prstGeom prst="roundRect">
            <a:avLst>
              <a:gd name="adj" fmla="val 6000"/>
            </a:avLst>
          </a:prstGeom>
          <a:solidFill>
            <a:srgbClr val="F5F6F8"/>
          </a:solidFill>
          <a:ln w="12700">
            <a:solidFill>
              <a:srgbClr val="DDE1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check_steel.png"/>
          <p:cNvPicPr>
            <a:picLocks noChangeAspect="1"/>
          </p:cNvPicPr>
          <p:nvPr/>
        </p:nvPicPr>
        <p:blipFill>
          <a:blip r:embed="rId3"/>
          <a:stretch>
            <a:fillRect/>
          </a:stretch>
        </p:blipFill>
        <p:spPr>
          <a:xfrm>
            <a:off x="987552" y="2542032"/>
            <a:ext cx="237744" cy="237744"/>
          </a:xfrm>
          <a:prstGeom prst="rect">
            <a:avLst/>
          </a:prstGeom>
        </p:spPr>
      </p:pic>
      <p:sp>
        <p:nvSpPr>
          <p:cNvPr id="8" name="TextBox 7"/>
          <p:cNvSpPr txBox="1"/>
          <p:nvPr/>
        </p:nvSpPr>
        <p:spPr>
          <a:xfrm>
            <a:off x="1353312" y="2395728"/>
            <a:ext cx="5029200" cy="530352"/>
          </a:xfrm>
          <a:prstGeom prst="rect">
            <a:avLst/>
          </a:prstGeom>
          <a:noFill/>
        </p:spPr>
        <p:txBody>
          <a:bodyPr wrap="square" anchor="ctr" lIns="0" rIns="0" tIns="0" bIns="0">
            <a:spAutoFit/>
          </a:bodyPr>
          <a:lstStyle/>
          <a:p>
            <a:pPr algn="l">
              <a:lnSpc>
                <a:spcPct val="106000"/>
              </a:lnSpc>
              <a:spcBef>
                <a:spcPts val="0"/>
              </a:spcBef>
              <a:spcAft>
                <a:spcPts val="0"/>
              </a:spcAft>
            </a:pPr>
            <a:r>
              <a:rPr sz="1200" b="0">
                <a:solidFill>
                  <a:srgbClr val="1A1A1A"/>
                </a:solidFill>
                <a:latin typeface="Red Hat Text"/>
              </a:rPr>
              <a:t>Break the app with a bad setting; read it</a:t>
            </a:r>
          </a:p>
        </p:txBody>
      </p:sp>
      <p:sp>
        <p:nvSpPr>
          <p:cNvPr id="9" name="Rounded Rectangle 8"/>
          <p:cNvSpPr/>
          <p:nvPr/>
        </p:nvSpPr>
        <p:spPr>
          <a:xfrm>
            <a:off x="841248" y="2999232"/>
            <a:ext cx="5715000" cy="530352"/>
          </a:xfrm>
          <a:prstGeom prst="roundRect">
            <a:avLst>
              <a:gd name="adj" fmla="val 6000"/>
            </a:avLst>
          </a:prstGeom>
          <a:solidFill>
            <a:srgbClr val="F5F6F8"/>
          </a:solidFill>
          <a:ln w="12700">
            <a:solidFill>
              <a:srgbClr val="DDE1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0" name="Picture 9" descr="check_steel.png"/>
          <p:cNvPicPr>
            <a:picLocks noChangeAspect="1"/>
          </p:cNvPicPr>
          <p:nvPr/>
        </p:nvPicPr>
        <p:blipFill>
          <a:blip r:embed="rId3"/>
          <a:stretch>
            <a:fillRect/>
          </a:stretch>
        </p:blipFill>
        <p:spPr>
          <a:xfrm>
            <a:off x="987552" y="3145536"/>
            <a:ext cx="237744" cy="237744"/>
          </a:xfrm>
          <a:prstGeom prst="rect">
            <a:avLst/>
          </a:prstGeom>
        </p:spPr>
      </p:pic>
      <p:sp>
        <p:nvSpPr>
          <p:cNvPr id="11" name="TextBox 10"/>
          <p:cNvSpPr txBox="1"/>
          <p:nvPr/>
        </p:nvSpPr>
        <p:spPr>
          <a:xfrm>
            <a:off x="1353312" y="2999232"/>
            <a:ext cx="5029200" cy="530352"/>
          </a:xfrm>
          <a:prstGeom prst="rect">
            <a:avLst/>
          </a:prstGeom>
          <a:noFill/>
        </p:spPr>
        <p:txBody>
          <a:bodyPr wrap="square" anchor="ctr" lIns="0" rIns="0" tIns="0" bIns="0">
            <a:spAutoFit/>
          </a:bodyPr>
          <a:lstStyle/>
          <a:p>
            <a:pPr algn="l">
              <a:lnSpc>
                <a:spcPct val="106000"/>
              </a:lnSpc>
              <a:spcBef>
                <a:spcPts val="0"/>
              </a:spcBef>
              <a:spcAft>
                <a:spcPts val="0"/>
              </a:spcAft>
            </a:pPr>
            <a:r>
              <a:rPr sz="1200" b="0">
                <a:solidFill>
                  <a:srgbClr val="1A1A1A"/>
                </a:solidFill>
                <a:latin typeface="Red Hat Text"/>
              </a:rPr>
              <a:t>Move config to a ConfigMap, creds to a Secret</a:t>
            </a:r>
          </a:p>
        </p:txBody>
      </p:sp>
      <p:sp>
        <p:nvSpPr>
          <p:cNvPr id="12" name="Rounded Rectangle 11"/>
          <p:cNvSpPr/>
          <p:nvPr/>
        </p:nvSpPr>
        <p:spPr>
          <a:xfrm>
            <a:off x="841248" y="3602736"/>
            <a:ext cx="5715000" cy="530352"/>
          </a:xfrm>
          <a:prstGeom prst="roundRect">
            <a:avLst>
              <a:gd name="adj" fmla="val 6000"/>
            </a:avLst>
          </a:prstGeom>
          <a:solidFill>
            <a:srgbClr val="F5F6F8"/>
          </a:solidFill>
          <a:ln w="12700">
            <a:solidFill>
              <a:srgbClr val="DDE1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3" name="Picture 12" descr="check_steel.png"/>
          <p:cNvPicPr>
            <a:picLocks noChangeAspect="1"/>
          </p:cNvPicPr>
          <p:nvPr/>
        </p:nvPicPr>
        <p:blipFill>
          <a:blip r:embed="rId3"/>
          <a:stretch>
            <a:fillRect/>
          </a:stretch>
        </p:blipFill>
        <p:spPr>
          <a:xfrm>
            <a:off x="987552" y="3749040"/>
            <a:ext cx="237744" cy="237744"/>
          </a:xfrm>
          <a:prstGeom prst="rect">
            <a:avLst/>
          </a:prstGeom>
        </p:spPr>
      </p:pic>
      <p:sp>
        <p:nvSpPr>
          <p:cNvPr id="14" name="TextBox 13"/>
          <p:cNvSpPr txBox="1"/>
          <p:nvPr/>
        </p:nvSpPr>
        <p:spPr>
          <a:xfrm>
            <a:off x="1353312" y="3602736"/>
            <a:ext cx="5029200" cy="530352"/>
          </a:xfrm>
          <a:prstGeom prst="rect">
            <a:avLst/>
          </a:prstGeom>
          <a:noFill/>
        </p:spPr>
        <p:txBody>
          <a:bodyPr wrap="square" anchor="ctr" lIns="0" rIns="0" tIns="0" bIns="0">
            <a:spAutoFit/>
          </a:bodyPr>
          <a:lstStyle/>
          <a:p>
            <a:pPr algn="l">
              <a:lnSpc>
                <a:spcPct val="106000"/>
              </a:lnSpc>
              <a:spcBef>
                <a:spcPts val="0"/>
              </a:spcBef>
              <a:spcAft>
                <a:spcPts val="0"/>
              </a:spcAft>
            </a:pPr>
            <a:r>
              <a:rPr sz="1200" b="0">
                <a:solidFill>
                  <a:srgbClr val="1A1A1A"/>
                </a:solidFill>
                <a:latin typeface="Red Hat Text"/>
              </a:rPr>
              <a:t>Add probes; watch readiness hold traffic</a:t>
            </a:r>
          </a:p>
        </p:txBody>
      </p:sp>
      <p:sp>
        <p:nvSpPr>
          <p:cNvPr id="15" name="Rounded Rectangle 14"/>
          <p:cNvSpPr/>
          <p:nvPr/>
        </p:nvSpPr>
        <p:spPr>
          <a:xfrm>
            <a:off x="841248" y="4206240"/>
            <a:ext cx="5715000" cy="530352"/>
          </a:xfrm>
          <a:prstGeom prst="roundRect">
            <a:avLst>
              <a:gd name="adj" fmla="val 6000"/>
            </a:avLst>
          </a:prstGeom>
          <a:solidFill>
            <a:srgbClr val="F5F6F8"/>
          </a:solidFill>
          <a:ln w="12700">
            <a:solidFill>
              <a:srgbClr val="DDE1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6" name="Picture 15" descr="check_steel.png"/>
          <p:cNvPicPr>
            <a:picLocks noChangeAspect="1"/>
          </p:cNvPicPr>
          <p:nvPr/>
        </p:nvPicPr>
        <p:blipFill>
          <a:blip r:embed="rId3"/>
          <a:stretch>
            <a:fillRect/>
          </a:stretch>
        </p:blipFill>
        <p:spPr>
          <a:xfrm>
            <a:off x="987552" y="4352544"/>
            <a:ext cx="237744" cy="237744"/>
          </a:xfrm>
          <a:prstGeom prst="rect">
            <a:avLst/>
          </a:prstGeom>
        </p:spPr>
      </p:pic>
      <p:sp>
        <p:nvSpPr>
          <p:cNvPr id="17" name="TextBox 16"/>
          <p:cNvSpPr txBox="1"/>
          <p:nvPr/>
        </p:nvSpPr>
        <p:spPr>
          <a:xfrm>
            <a:off x="1353312" y="4206240"/>
            <a:ext cx="5029200" cy="530352"/>
          </a:xfrm>
          <a:prstGeom prst="rect">
            <a:avLst/>
          </a:prstGeom>
          <a:noFill/>
        </p:spPr>
        <p:txBody>
          <a:bodyPr wrap="square" anchor="ctr" lIns="0" rIns="0" tIns="0" bIns="0">
            <a:spAutoFit/>
          </a:bodyPr>
          <a:lstStyle/>
          <a:p>
            <a:pPr algn="l">
              <a:lnSpc>
                <a:spcPct val="106000"/>
              </a:lnSpc>
              <a:spcBef>
                <a:spcPts val="0"/>
              </a:spcBef>
              <a:spcAft>
                <a:spcPts val="0"/>
              </a:spcAft>
            </a:pPr>
            <a:r>
              <a:rPr sz="1200" b="0">
                <a:solidFill>
                  <a:srgbClr val="1A1A1A"/>
                </a:solidFill>
                <a:latin typeface="Red Hat Text"/>
              </a:rPr>
              <a:t>Set requests/limits; bust the quota</a:t>
            </a:r>
          </a:p>
        </p:txBody>
      </p:sp>
      <p:sp>
        <p:nvSpPr>
          <p:cNvPr id="18" name="Rounded Rectangle 17"/>
          <p:cNvSpPr/>
          <p:nvPr/>
        </p:nvSpPr>
        <p:spPr>
          <a:xfrm>
            <a:off x="841248" y="4809744"/>
            <a:ext cx="5715000" cy="530352"/>
          </a:xfrm>
          <a:prstGeom prst="roundRect">
            <a:avLst>
              <a:gd name="adj" fmla="val 6000"/>
            </a:avLst>
          </a:prstGeom>
          <a:solidFill>
            <a:srgbClr val="F5F6F8"/>
          </a:solidFill>
          <a:ln w="12700">
            <a:solidFill>
              <a:srgbClr val="DDE1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9" name="Picture 18" descr="check_steel.png"/>
          <p:cNvPicPr>
            <a:picLocks noChangeAspect="1"/>
          </p:cNvPicPr>
          <p:nvPr/>
        </p:nvPicPr>
        <p:blipFill>
          <a:blip r:embed="rId3"/>
          <a:stretch>
            <a:fillRect/>
          </a:stretch>
        </p:blipFill>
        <p:spPr>
          <a:xfrm>
            <a:off x="987552" y="4956048"/>
            <a:ext cx="237744" cy="237744"/>
          </a:xfrm>
          <a:prstGeom prst="rect">
            <a:avLst/>
          </a:prstGeom>
        </p:spPr>
      </p:pic>
      <p:sp>
        <p:nvSpPr>
          <p:cNvPr id="20" name="TextBox 19"/>
          <p:cNvSpPr txBox="1"/>
          <p:nvPr/>
        </p:nvSpPr>
        <p:spPr>
          <a:xfrm>
            <a:off x="1353312" y="4809744"/>
            <a:ext cx="5029200" cy="530352"/>
          </a:xfrm>
          <a:prstGeom prst="rect">
            <a:avLst/>
          </a:prstGeom>
          <a:noFill/>
        </p:spPr>
        <p:txBody>
          <a:bodyPr wrap="square" anchor="ctr" lIns="0" rIns="0" tIns="0" bIns="0">
            <a:spAutoFit/>
          </a:bodyPr>
          <a:lstStyle/>
          <a:p>
            <a:pPr algn="l">
              <a:lnSpc>
                <a:spcPct val="106000"/>
              </a:lnSpc>
              <a:spcBef>
                <a:spcPts val="0"/>
              </a:spcBef>
              <a:spcAft>
                <a:spcPts val="0"/>
              </a:spcAft>
            </a:pPr>
            <a:r>
              <a:rPr sz="1200" b="0">
                <a:solidFill>
                  <a:srgbClr val="1A1A1A"/>
                </a:solidFill>
                <a:latin typeface="Red Hat Text"/>
              </a:rPr>
              <a:t>Promote the same image to stage and prod</a:t>
            </a:r>
          </a:p>
        </p:txBody>
      </p:sp>
      <p:sp>
        <p:nvSpPr>
          <p:cNvPr id="21" name="Rounded Rectangle 20"/>
          <p:cNvSpPr/>
          <p:nvPr/>
        </p:nvSpPr>
        <p:spPr>
          <a:xfrm>
            <a:off x="6812280" y="2395728"/>
            <a:ext cx="4538167" cy="2944368"/>
          </a:xfrm>
          <a:prstGeom prst="roundRect">
            <a:avLst>
              <a:gd name="adj" fmla="val 4000"/>
            </a:avLst>
          </a:prstGeom>
          <a:solidFill>
            <a:srgbClr val="FFFFFF"/>
          </a:solidFill>
          <a:ln w="15240">
            <a:solidFill>
              <a:srgbClr val="DDE1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ounded Rectangle 21"/>
          <p:cNvSpPr/>
          <p:nvPr/>
        </p:nvSpPr>
        <p:spPr>
          <a:xfrm>
            <a:off x="7013448" y="2596896"/>
            <a:ext cx="1298448" cy="310896"/>
          </a:xfrm>
          <a:prstGeom prst="roundRect">
            <a:avLst>
              <a:gd name="adj" fmla="val 50000"/>
            </a:avLst>
          </a:prstGeom>
          <a:solidFill>
            <a:srgbClr val="FCEC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7013448" y="2596896"/>
            <a:ext cx="1298448" cy="310896"/>
          </a:xfrm>
          <a:prstGeom prst="rect">
            <a:avLst/>
          </a:prstGeom>
          <a:noFill/>
        </p:spPr>
        <p:txBody>
          <a:bodyPr wrap="none" anchor="ctr" lIns="0" rIns="0" tIns="0" bIns="0">
            <a:spAutoFit/>
          </a:bodyPr>
          <a:lstStyle/>
          <a:p>
            <a:pPr algn="ctr">
              <a:lnSpc>
                <a:spcPct val="106000"/>
              </a:lnSpc>
              <a:spcBef>
                <a:spcPts val="0"/>
              </a:spcBef>
              <a:spcAft>
                <a:spcPts val="0"/>
              </a:spcAft>
            </a:pPr>
            <a:r>
              <a:rPr sz="850" b="1">
                <a:solidFill>
                  <a:srgbClr val="B80000"/>
                </a:solidFill>
                <a:latin typeface="Red Hat Display"/>
              </a:rPr>
              <a:t>MEDIA PASS</a:t>
            </a:r>
          </a:p>
        </p:txBody>
      </p:sp>
      <p:pic>
        <p:nvPicPr>
          <p:cNvPr id="24" name="Picture 23" descr="eye_slate.png"/>
          <p:cNvPicPr>
            <a:picLocks noChangeAspect="1"/>
          </p:cNvPicPr>
          <p:nvPr/>
        </p:nvPicPr>
        <p:blipFill>
          <a:blip r:embed="rId4"/>
          <a:stretch>
            <a:fillRect/>
          </a:stretch>
        </p:blipFill>
        <p:spPr>
          <a:xfrm>
            <a:off x="8843619" y="3108960"/>
            <a:ext cx="475488" cy="475488"/>
          </a:xfrm>
          <a:prstGeom prst="rect">
            <a:avLst/>
          </a:prstGeom>
        </p:spPr>
      </p:pic>
      <p:sp>
        <p:nvSpPr>
          <p:cNvPr id="25" name="TextBox 24"/>
          <p:cNvSpPr txBox="1"/>
          <p:nvPr/>
        </p:nvSpPr>
        <p:spPr>
          <a:xfrm>
            <a:off x="7050024" y="3721608"/>
            <a:ext cx="4062679" cy="1481328"/>
          </a:xfrm>
          <a:prstGeom prst="rect">
            <a:avLst/>
          </a:prstGeom>
          <a:noFill/>
        </p:spPr>
        <p:txBody>
          <a:bodyPr wrap="square" anchor="t" lIns="0" rIns="0" tIns="0" bIns="0">
            <a:spAutoFit/>
          </a:bodyPr>
          <a:lstStyle/>
          <a:p>
            <a:pPr algn="l">
              <a:lnSpc>
                <a:spcPct val="120000"/>
              </a:lnSpc>
              <a:spcBef>
                <a:spcPts val="0"/>
              </a:spcBef>
              <a:spcAft>
                <a:spcPts val="0"/>
              </a:spcAft>
            </a:pPr>
            <a:r>
              <a:rPr sz="950" b="0">
                <a:solidFill>
                  <a:srgbClr val="8A9099"/>
                </a:solidFill>
                <a:latin typeface="Red Hat Text"/>
              </a:rPr>
              <a:t>Numbered arc strip: break → ConfigMap → Secret → probes → quota → promote.</a:t>
            </a:r>
          </a:p>
        </p:txBody>
      </p:sp>
      <p:cxnSp>
        <p:nvCxnSpPr>
          <p:cNvPr id="26" name="Connector 25"/>
          <p:cNvCxnSpPr/>
          <p:nvPr/>
        </p:nvCxnSpPr>
        <p:spPr>
          <a:xfrm>
            <a:off x="841248" y="6437376"/>
            <a:ext cx="10509199" cy="0"/>
          </a:xfrm>
          <a:prstGeom prst="bentConnector3">
            <a:avLst/>
          </a:prstGeom>
          <a:ln w="12700">
            <a:solidFill>
              <a:srgbClr val="DDE1E6"/>
            </a:solidFill>
          </a:ln>
          <a:effectLst/>
        </p:spPr>
        <p:style>
          <a:lnRef idx="2">
            <a:schemeClr val="accent1"/>
          </a:lnRef>
          <a:fillRef idx="0">
            <a:schemeClr val="accent1"/>
          </a:fillRef>
          <a:effectRef idx="1">
            <a:schemeClr val="accent1"/>
          </a:effectRef>
          <a:fontRef idx="minor">
            <a:schemeClr val="tx1"/>
          </a:fontRef>
        </p:style>
      </p:cxnSp>
      <p:sp>
        <p:nvSpPr>
          <p:cNvPr id="27" name="TextBox 26"/>
          <p:cNvSpPr txBox="1"/>
          <p:nvPr/>
        </p:nvSpPr>
        <p:spPr>
          <a:xfrm>
            <a:off x="841248" y="6473952"/>
            <a:ext cx="7315200" cy="274320"/>
          </a:xfrm>
          <a:prstGeom prst="rect">
            <a:avLst/>
          </a:prstGeom>
          <a:noFill/>
        </p:spPr>
        <p:txBody>
          <a:bodyPr wrap="square" anchor="t" lIns="0" rIns="0" tIns="0" bIns="0">
            <a:spAutoFit/>
          </a:bodyPr>
          <a:lstStyle/>
          <a:p>
            <a:pPr algn="l">
              <a:lnSpc>
                <a:spcPct val="106000"/>
              </a:lnSpc>
              <a:spcBef>
                <a:spcPts val="0"/>
              </a:spcBef>
              <a:spcAft>
                <a:spcPts val="0"/>
              </a:spcAft>
            </a:pPr>
            <a:r>
              <a:rPr sz="950" b="0">
                <a:solidFill>
                  <a:srgbClr val="8A9099"/>
                </a:solidFill>
                <a:latin typeface="Red Hat Text"/>
              </a:rPr>
              <a:t>CONFIDENTIAL</a:t>
            </a:r>
          </a:p>
        </p:txBody>
      </p:sp>
      <p:sp>
        <p:nvSpPr>
          <p:cNvPr id="28" name="TextBox 27"/>
          <p:cNvSpPr txBox="1"/>
          <p:nvPr/>
        </p:nvSpPr>
        <p:spPr>
          <a:xfrm>
            <a:off x="10801807" y="6473952"/>
            <a:ext cx="548640" cy="274320"/>
          </a:xfrm>
          <a:prstGeom prst="rect">
            <a:avLst/>
          </a:prstGeom>
          <a:noFill/>
        </p:spPr>
        <p:txBody>
          <a:bodyPr wrap="square" anchor="t" lIns="0" rIns="0" tIns="0" bIns="0">
            <a:spAutoFit/>
          </a:bodyPr>
          <a:lstStyle/>
          <a:p>
            <a:pPr algn="r">
              <a:lnSpc>
                <a:spcPct val="106000"/>
              </a:lnSpc>
              <a:spcBef>
                <a:spcPts val="0"/>
              </a:spcBef>
              <a:spcAft>
                <a:spcPts val="0"/>
              </a:spcAft>
            </a:pPr>
            <a:r>
              <a:rPr sz="950" b="0">
                <a:solidFill>
                  <a:srgbClr val="8A9099"/>
                </a:solidFill>
                <a:latin typeface="Red Hat Text"/>
              </a:rPr>
              <a:t>27</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redhat_logo.jpg"/>
          <p:cNvPicPr>
            <a:picLocks noChangeAspect="1"/>
          </p:cNvPicPr>
          <p:nvPr/>
        </p:nvPicPr>
        <p:blipFill>
          <a:blip r:embed="rId2"/>
          <a:stretch>
            <a:fillRect/>
          </a:stretch>
        </p:blipFill>
        <p:spPr>
          <a:xfrm>
            <a:off x="10326319" y="475488"/>
            <a:ext cx="1024128" cy="242248"/>
          </a:xfrm>
          <a:prstGeom prst="rect">
            <a:avLst/>
          </a:prstGeom>
        </p:spPr>
      </p:pic>
      <p:sp>
        <p:nvSpPr>
          <p:cNvPr id="3" name="TextBox 2"/>
          <p:cNvSpPr txBox="1"/>
          <p:nvPr/>
        </p:nvSpPr>
        <p:spPr>
          <a:xfrm>
            <a:off x="841248" y="548640"/>
            <a:ext cx="8595360" cy="274320"/>
          </a:xfrm>
          <a:prstGeom prst="rect">
            <a:avLst/>
          </a:prstGeom>
          <a:noFill/>
        </p:spPr>
        <p:txBody>
          <a:bodyPr wrap="square" anchor="t" lIns="0" rIns="0" tIns="0" bIns="0">
            <a:spAutoFit/>
          </a:bodyPr>
          <a:lstStyle/>
          <a:p>
            <a:pPr algn="l">
              <a:lnSpc>
                <a:spcPct val="106000"/>
              </a:lnSpc>
              <a:spcBef>
                <a:spcPts val="0"/>
              </a:spcBef>
              <a:spcAft>
                <a:spcPts val="0"/>
              </a:spcAft>
            </a:pPr>
            <a:r>
              <a:rPr sz="1250" b="1" spc="220">
                <a:solidFill>
                  <a:srgbClr val="EE0000"/>
                </a:solidFill>
                <a:latin typeface="Red Hat Display"/>
              </a:rPr>
              <a:t>M04 · CONFIG, SECRETS &amp; MULTI-ENVIRONMENT</a:t>
            </a:r>
          </a:p>
        </p:txBody>
      </p:sp>
      <p:sp>
        <p:nvSpPr>
          <p:cNvPr id="4" name="TextBox 3"/>
          <p:cNvSpPr txBox="1"/>
          <p:nvPr/>
        </p:nvSpPr>
        <p:spPr>
          <a:xfrm>
            <a:off x="841248" y="877824"/>
            <a:ext cx="10515600" cy="548640"/>
          </a:xfrm>
          <a:prstGeom prst="rect">
            <a:avLst/>
          </a:prstGeom>
          <a:noFill/>
        </p:spPr>
        <p:txBody>
          <a:bodyPr wrap="none" anchor="t" lIns="0" rIns="0" tIns="0" bIns="0">
            <a:spAutoFit/>
          </a:bodyPr>
          <a:lstStyle/>
          <a:p>
            <a:pPr algn="l">
              <a:lnSpc>
                <a:spcPct val="100000"/>
              </a:lnSpc>
              <a:spcBef>
                <a:spcPts val="0"/>
              </a:spcBef>
              <a:spcAft>
                <a:spcPts val="0"/>
              </a:spcAft>
            </a:pPr>
            <a:r>
              <a:rPr sz="2500" b="1">
                <a:solidFill>
                  <a:srgbClr val="1A1A1A"/>
                </a:solidFill>
                <a:latin typeface="Red Hat Display"/>
              </a:rPr>
              <a:t>Map to your org — and when not</a:t>
            </a:r>
          </a:p>
        </p:txBody>
      </p:sp>
      <p:cxnSp>
        <p:nvCxnSpPr>
          <p:cNvPr id="5" name="Connector 4"/>
          <p:cNvCxnSpPr/>
          <p:nvPr/>
        </p:nvCxnSpPr>
        <p:spPr>
          <a:xfrm>
            <a:off x="841248" y="1554480"/>
            <a:ext cx="1371600" cy="0"/>
          </a:xfrm>
          <a:prstGeom prst="bentConnector3">
            <a:avLst/>
          </a:prstGeom>
          <a:ln w="31750">
            <a:solidFill>
              <a:srgbClr val="EE0000"/>
            </a:solidFill>
          </a:ln>
          <a:effectLst/>
        </p:spPr>
        <p:style>
          <a:lnRef idx="2">
            <a:schemeClr val="accent1"/>
          </a:lnRef>
          <a:fillRef idx="0">
            <a:schemeClr val="accent1"/>
          </a:fillRef>
          <a:effectRef idx="1">
            <a:schemeClr val="accent1"/>
          </a:effectRef>
          <a:fontRef idx="minor">
            <a:schemeClr val="tx1"/>
          </a:fontRef>
        </p:style>
      </p:cxnSp>
      <p:sp>
        <p:nvSpPr>
          <p:cNvPr id="6" name="Rounded Rectangle 5"/>
          <p:cNvSpPr/>
          <p:nvPr/>
        </p:nvSpPr>
        <p:spPr>
          <a:xfrm>
            <a:off x="841248" y="2395728"/>
            <a:ext cx="5715000" cy="530352"/>
          </a:xfrm>
          <a:prstGeom prst="roundRect">
            <a:avLst>
              <a:gd name="adj" fmla="val 6000"/>
            </a:avLst>
          </a:prstGeom>
          <a:solidFill>
            <a:srgbClr val="F5F6F8"/>
          </a:solidFill>
          <a:ln w="12700">
            <a:solidFill>
              <a:srgbClr val="DDE1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check_steel.png"/>
          <p:cNvPicPr>
            <a:picLocks noChangeAspect="1"/>
          </p:cNvPicPr>
          <p:nvPr/>
        </p:nvPicPr>
        <p:blipFill>
          <a:blip r:embed="rId3"/>
          <a:stretch>
            <a:fillRect/>
          </a:stretch>
        </p:blipFill>
        <p:spPr>
          <a:xfrm>
            <a:off x="987552" y="2542032"/>
            <a:ext cx="237744" cy="237744"/>
          </a:xfrm>
          <a:prstGeom prst="rect">
            <a:avLst/>
          </a:prstGeom>
        </p:spPr>
      </p:pic>
      <p:sp>
        <p:nvSpPr>
          <p:cNvPr id="8" name="TextBox 7"/>
          <p:cNvSpPr txBox="1"/>
          <p:nvPr/>
        </p:nvSpPr>
        <p:spPr>
          <a:xfrm>
            <a:off x="1353312" y="2395728"/>
            <a:ext cx="5029200" cy="530352"/>
          </a:xfrm>
          <a:prstGeom prst="rect">
            <a:avLst/>
          </a:prstGeom>
          <a:noFill/>
        </p:spPr>
        <p:txBody>
          <a:bodyPr wrap="square" anchor="ctr" lIns="0" rIns="0" tIns="0" bIns="0">
            <a:spAutoFit/>
          </a:bodyPr>
          <a:lstStyle/>
          <a:p>
            <a:pPr algn="l">
              <a:lnSpc>
                <a:spcPct val="106000"/>
              </a:lnSpc>
              <a:spcBef>
                <a:spcPts val="0"/>
              </a:spcBef>
              <a:spcAft>
                <a:spcPts val="0"/>
              </a:spcAft>
            </a:pPr>
            <a:r>
              <a:rPr sz="1200" b="0">
                <a:solidFill>
                  <a:srgbClr val="1A1A1A"/>
                </a:solidFill>
                <a:latin typeface="Red Hat Text"/>
              </a:rPr>
              <a:t>Where does your config actually live?</a:t>
            </a:r>
          </a:p>
        </p:txBody>
      </p:sp>
      <p:sp>
        <p:nvSpPr>
          <p:cNvPr id="9" name="Rounded Rectangle 8"/>
          <p:cNvSpPr/>
          <p:nvPr/>
        </p:nvSpPr>
        <p:spPr>
          <a:xfrm>
            <a:off x="841248" y="2999232"/>
            <a:ext cx="5715000" cy="530352"/>
          </a:xfrm>
          <a:prstGeom prst="roundRect">
            <a:avLst>
              <a:gd name="adj" fmla="val 6000"/>
            </a:avLst>
          </a:prstGeom>
          <a:solidFill>
            <a:srgbClr val="F5F6F8"/>
          </a:solidFill>
          <a:ln w="12700">
            <a:solidFill>
              <a:srgbClr val="DDE1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0" name="Picture 9" descr="check_steel.png"/>
          <p:cNvPicPr>
            <a:picLocks noChangeAspect="1"/>
          </p:cNvPicPr>
          <p:nvPr/>
        </p:nvPicPr>
        <p:blipFill>
          <a:blip r:embed="rId3"/>
          <a:stretch>
            <a:fillRect/>
          </a:stretch>
        </p:blipFill>
        <p:spPr>
          <a:xfrm>
            <a:off x="987552" y="3145536"/>
            <a:ext cx="237744" cy="237744"/>
          </a:xfrm>
          <a:prstGeom prst="rect">
            <a:avLst/>
          </a:prstGeom>
        </p:spPr>
      </p:pic>
      <p:sp>
        <p:nvSpPr>
          <p:cNvPr id="11" name="TextBox 10"/>
          <p:cNvSpPr txBox="1"/>
          <p:nvPr/>
        </p:nvSpPr>
        <p:spPr>
          <a:xfrm>
            <a:off x="1353312" y="2999232"/>
            <a:ext cx="5029200" cy="530352"/>
          </a:xfrm>
          <a:prstGeom prst="rect">
            <a:avLst/>
          </a:prstGeom>
          <a:noFill/>
        </p:spPr>
        <p:txBody>
          <a:bodyPr wrap="square" anchor="ctr" lIns="0" rIns="0" tIns="0" bIns="0">
            <a:spAutoFit/>
          </a:bodyPr>
          <a:lstStyle/>
          <a:p>
            <a:pPr algn="l">
              <a:lnSpc>
                <a:spcPct val="106000"/>
              </a:lnSpc>
              <a:spcBef>
                <a:spcPts val="0"/>
              </a:spcBef>
              <a:spcAft>
                <a:spcPts val="0"/>
              </a:spcAft>
            </a:pPr>
            <a:r>
              <a:rPr sz="1200" b="0">
                <a:solidFill>
                  <a:srgbClr val="1A1A1A"/>
                </a:solidFill>
                <a:latin typeface="Red Hat Text"/>
              </a:rPr>
              <a:t>Who can read production secrets right now?</a:t>
            </a:r>
          </a:p>
        </p:txBody>
      </p:sp>
      <p:sp>
        <p:nvSpPr>
          <p:cNvPr id="12" name="Rounded Rectangle 11"/>
          <p:cNvSpPr/>
          <p:nvPr/>
        </p:nvSpPr>
        <p:spPr>
          <a:xfrm>
            <a:off x="841248" y="3602736"/>
            <a:ext cx="5715000" cy="530352"/>
          </a:xfrm>
          <a:prstGeom prst="roundRect">
            <a:avLst>
              <a:gd name="adj" fmla="val 6000"/>
            </a:avLst>
          </a:prstGeom>
          <a:solidFill>
            <a:srgbClr val="F5F6F8"/>
          </a:solidFill>
          <a:ln w="12700">
            <a:solidFill>
              <a:srgbClr val="DDE1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3" name="Picture 12" descr="check_steel.png"/>
          <p:cNvPicPr>
            <a:picLocks noChangeAspect="1"/>
          </p:cNvPicPr>
          <p:nvPr/>
        </p:nvPicPr>
        <p:blipFill>
          <a:blip r:embed="rId3"/>
          <a:stretch>
            <a:fillRect/>
          </a:stretch>
        </p:blipFill>
        <p:spPr>
          <a:xfrm>
            <a:off x="987552" y="3749040"/>
            <a:ext cx="237744" cy="237744"/>
          </a:xfrm>
          <a:prstGeom prst="rect">
            <a:avLst/>
          </a:prstGeom>
        </p:spPr>
      </p:pic>
      <p:sp>
        <p:nvSpPr>
          <p:cNvPr id="14" name="TextBox 13"/>
          <p:cNvSpPr txBox="1"/>
          <p:nvPr/>
        </p:nvSpPr>
        <p:spPr>
          <a:xfrm>
            <a:off x="1353312" y="3602736"/>
            <a:ext cx="5029200" cy="530352"/>
          </a:xfrm>
          <a:prstGeom prst="rect">
            <a:avLst/>
          </a:prstGeom>
          <a:noFill/>
        </p:spPr>
        <p:txBody>
          <a:bodyPr wrap="square" anchor="ctr" lIns="0" rIns="0" tIns="0" bIns="0">
            <a:spAutoFit/>
          </a:bodyPr>
          <a:lstStyle/>
          <a:p>
            <a:pPr algn="l">
              <a:lnSpc>
                <a:spcPct val="106000"/>
              </a:lnSpc>
              <a:spcBef>
                <a:spcPts val="0"/>
              </a:spcBef>
              <a:spcAft>
                <a:spcPts val="0"/>
              </a:spcAft>
            </a:pPr>
            <a:r>
              <a:rPr sz="1200" b="0">
                <a:solidFill>
                  <a:srgbClr val="1A1A1A"/>
                </a:solidFill>
                <a:latin typeface="Red Hat Text"/>
              </a:rPr>
              <a:t>Env-var sprawl is its own mess</a:t>
            </a:r>
          </a:p>
        </p:txBody>
      </p:sp>
      <p:sp>
        <p:nvSpPr>
          <p:cNvPr id="15" name="Rounded Rectangle 14"/>
          <p:cNvSpPr/>
          <p:nvPr/>
        </p:nvSpPr>
        <p:spPr>
          <a:xfrm>
            <a:off x="841248" y="4206240"/>
            <a:ext cx="5715000" cy="530352"/>
          </a:xfrm>
          <a:prstGeom prst="roundRect">
            <a:avLst>
              <a:gd name="adj" fmla="val 6000"/>
            </a:avLst>
          </a:prstGeom>
          <a:solidFill>
            <a:srgbClr val="F5F6F8"/>
          </a:solidFill>
          <a:ln w="12700">
            <a:solidFill>
              <a:srgbClr val="DDE1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6" name="Picture 15" descr="check_steel.png"/>
          <p:cNvPicPr>
            <a:picLocks noChangeAspect="1"/>
          </p:cNvPicPr>
          <p:nvPr/>
        </p:nvPicPr>
        <p:blipFill>
          <a:blip r:embed="rId3"/>
          <a:stretch>
            <a:fillRect/>
          </a:stretch>
        </p:blipFill>
        <p:spPr>
          <a:xfrm>
            <a:off x="987552" y="4352544"/>
            <a:ext cx="237744" cy="237744"/>
          </a:xfrm>
          <a:prstGeom prst="rect">
            <a:avLst/>
          </a:prstGeom>
        </p:spPr>
      </p:pic>
      <p:sp>
        <p:nvSpPr>
          <p:cNvPr id="17" name="TextBox 16"/>
          <p:cNvSpPr txBox="1"/>
          <p:nvPr/>
        </p:nvSpPr>
        <p:spPr>
          <a:xfrm>
            <a:off x="1353312" y="4206240"/>
            <a:ext cx="5029200" cy="530352"/>
          </a:xfrm>
          <a:prstGeom prst="rect">
            <a:avLst/>
          </a:prstGeom>
          <a:noFill/>
        </p:spPr>
        <p:txBody>
          <a:bodyPr wrap="square" anchor="ctr" lIns="0" rIns="0" tIns="0" bIns="0">
            <a:spAutoFit/>
          </a:bodyPr>
          <a:lstStyle/>
          <a:p>
            <a:pPr algn="l">
              <a:lnSpc>
                <a:spcPct val="106000"/>
              </a:lnSpc>
              <a:spcBef>
                <a:spcPts val="0"/>
              </a:spcBef>
              <a:spcAft>
                <a:spcPts val="0"/>
              </a:spcAft>
            </a:pPr>
            <a:r>
              <a:rPr sz="1200" b="0">
                <a:solidFill>
                  <a:srgbClr val="1A1A1A"/>
                </a:solidFill>
                <a:latin typeface="Red Hat Text"/>
              </a:rPr>
              <a:t>A Secret is not a vault</a:t>
            </a:r>
          </a:p>
        </p:txBody>
      </p:sp>
      <p:sp>
        <p:nvSpPr>
          <p:cNvPr id="18" name="Rounded Rectangle 17"/>
          <p:cNvSpPr/>
          <p:nvPr/>
        </p:nvSpPr>
        <p:spPr>
          <a:xfrm>
            <a:off x="841248" y="4809744"/>
            <a:ext cx="5715000" cy="530352"/>
          </a:xfrm>
          <a:prstGeom prst="roundRect">
            <a:avLst>
              <a:gd name="adj" fmla="val 6000"/>
            </a:avLst>
          </a:prstGeom>
          <a:solidFill>
            <a:srgbClr val="F5F6F8"/>
          </a:solidFill>
          <a:ln w="12700">
            <a:solidFill>
              <a:srgbClr val="DDE1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9" name="Picture 18" descr="check_steel.png"/>
          <p:cNvPicPr>
            <a:picLocks noChangeAspect="1"/>
          </p:cNvPicPr>
          <p:nvPr/>
        </p:nvPicPr>
        <p:blipFill>
          <a:blip r:embed="rId3"/>
          <a:stretch>
            <a:fillRect/>
          </a:stretch>
        </p:blipFill>
        <p:spPr>
          <a:xfrm>
            <a:off x="987552" y="4956048"/>
            <a:ext cx="237744" cy="237744"/>
          </a:xfrm>
          <a:prstGeom prst="rect">
            <a:avLst/>
          </a:prstGeom>
        </p:spPr>
      </p:pic>
      <p:sp>
        <p:nvSpPr>
          <p:cNvPr id="20" name="TextBox 19"/>
          <p:cNvSpPr txBox="1"/>
          <p:nvPr/>
        </p:nvSpPr>
        <p:spPr>
          <a:xfrm>
            <a:off x="1353312" y="4809744"/>
            <a:ext cx="5029200" cy="530352"/>
          </a:xfrm>
          <a:prstGeom prst="rect">
            <a:avLst/>
          </a:prstGeom>
          <a:noFill/>
        </p:spPr>
        <p:txBody>
          <a:bodyPr wrap="square" anchor="ctr" lIns="0" rIns="0" tIns="0" bIns="0">
            <a:spAutoFit/>
          </a:bodyPr>
          <a:lstStyle/>
          <a:p>
            <a:pPr algn="l">
              <a:lnSpc>
                <a:spcPct val="106000"/>
              </a:lnSpc>
              <a:spcBef>
                <a:spcPts val="0"/>
              </a:spcBef>
              <a:spcAft>
                <a:spcPts val="0"/>
              </a:spcAft>
            </a:pPr>
            <a:r>
              <a:rPr sz="1200" b="0">
                <a:solidFill>
                  <a:srgbClr val="1A1A1A"/>
                </a:solidFill>
                <a:latin typeface="Red Hat Text"/>
              </a:rPr>
              <a:t>Three overlays for two settings = overkill</a:t>
            </a:r>
          </a:p>
        </p:txBody>
      </p:sp>
      <p:sp>
        <p:nvSpPr>
          <p:cNvPr id="21" name="Rounded Rectangle 20"/>
          <p:cNvSpPr/>
          <p:nvPr/>
        </p:nvSpPr>
        <p:spPr>
          <a:xfrm>
            <a:off x="6812280" y="2395728"/>
            <a:ext cx="4538167" cy="2944368"/>
          </a:xfrm>
          <a:prstGeom prst="roundRect">
            <a:avLst>
              <a:gd name="adj" fmla="val 4000"/>
            </a:avLst>
          </a:prstGeom>
          <a:solidFill>
            <a:srgbClr val="FFFFFF"/>
          </a:solidFill>
          <a:ln w="15240">
            <a:solidFill>
              <a:srgbClr val="DDE1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ounded Rectangle 21"/>
          <p:cNvSpPr/>
          <p:nvPr/>
        </p:nvSpPr>
        <p:spPr>
          <a:xfrm>
            <a:off x="7013448" y="2596896"/>
            <a:ext cx="1298448" cy="310896"/>
          </a:xfrm>
          <a:prstGeom prst="roundRect">
            <a:avLst>
              <a:gd name="adj" fmla="val 50000"/>
            </a:avLst>
          </a:prstGeom>
          <a:solidFill>
            <a:srgbClr val="FCEC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7013448" y="2596896"/>
            <a:ext cx="1298448" cy="310896"/>
          </a:xfrm>
          <a:prstGeom prst="rect">
            <a:avLst/>
          </a:prstGeom>
          <a:noFill/>
        </p:spPr>
        <p:txBody>
          <a:bodyPr wrap="none" anchor="ctr" lIns="0" rIns="0" tIns="0" bIns="0">
            <a:spAutoFit/>
          </a:bodyPr>
          <a:lstStyle/>
          <a:p>
            <a:pPr algn="ctr">
              <a:lnSpc>
                <a:spcPct val="106000"/>
              </a:lnSpc>
              <a:spcBef>
                <a:spcPts val="0"/>
              </a:spcBef>
              <a:spcAft>
                <a:spcPts val="0"/>
              </a:spcAft>
            </a:pPr>
            <a:r>
              <a:rPr sz="850" b="1">
                <a:solidFill>
                  <a:srgbClr val="B80000"/>
                </a:solidFill>
                <a:latin typeface="Red Hat Display"/>
              </a:rPr>
              <a:t>MEDIA PASS</a:t>
            </a:r>
          </a:p>
        </p:txBody>
      </p:sp>
      <p:pic>
        <p:nvPicPr>
          <p:cNvPr id="24" name="Picture 23" descr="eye_slate.png"/>
          <p:cNvPicPr>
            <a:picLocks noChangeAspect="1"/>
          </p:cNvPicPr>
          <p:nvPr/>
        </p:nvPicPr>
        <p:blipFill>
          <a:blip r:embed="rId4"/>
          <a:stretch>
            <a:fillRect/>
          </a:stretch>
        </p:blipFill>
        <p:spPr>
          <a:xfrm>
            <a:off x="8843619" y="3108960"/>
            <a:ext cx="475488" cy="475488"/>
          </a:xfrm>
          <a:prstGeom prst="rect">
            <a:avLst/>
          </a:prstGeom>
        </p:spPr>
      </p:pic>
      <p:sp>
        <p:nvSpPr>
          <p:cNvPr id="25" name="TextBox 24"/>
          <p:cNvSpPr txBox="1"/>
          <p:nvPr/>
        </p:nvSpPr>
        <p:spPr>
          <a:xfrm>
            <a:off x="7050024" y="3721608"/>
            <a:ext cx="4062679" cy="1481328"/>
          </a:xfrm>
          <a:prstGeom prst="rect">
            <a:avLst/>
          </a:prstGeom>
          <a:noFill/>
        </p:spPr>
        <p:txBody>
          <a:bodyPr wrap="square" anchor="t" lIns="0" rIns="0" tIns="0" bIns="0">
            <a:spAutoFit/>
          </a:bodyPr>
          <a:lstStyle/>
          <a:p>
            <a:pPr algn="l">
              <a:lnSpc>
                <a:spcPct val="120000"/>
              </a:lnSpc>
              <a:spcBef>
                <a:spcPts val="0"/>
              </a:spcBef>
              <a:spcAft>
                <a:spcPts val="0"/>
              </a:spcAft>
            </a:pPr>
            <a:r>
              <a:rPr sz="950" b="0">
                <a:solidFill>
                  <a:srgbClr val="8A9099"/>
                </a:solidFill>
                <a:latin typeface="Red Hat Text"/>
              </a:rPr>
              <a:t>Two-column "externalize / keep it simple" decision card, with a small "base64 ≠ encryption" caution stamp.</a:t>
            </a:r>
          </a:p>
        </p:txBody>
      </p:sp>
      <p:cxnSp>
        <p:nvCxnSpPr>
          <p:cNvPr id="26" name="Connector 25"/>
          <p:cNvCxnSpPr/>
          <p:nvPr/>
        </p:nvCxnSpPr>
        <p:spPr>
          <a:xfrm>
            <a:off x="841248" y="6437376"/>
            <a:ext cx="10509199" cy="0"/>
          </a:xfrm>
          <a:prstGeom prst="bentConnector3">
            <a:avLst/>
          </a:prstGeom>
          <a:ln w="12700">
            <a:solidFill>
              <a:srgbClr val="DDE1E6"/>
            </a:solidFill>
          </a:ln>
          <a:effectLst/>
        </p:spPr>
        <p:style>
          <a:lnRef idx="2">
            <a:schemeClr val="accent1"/>
          </a:lnRef>
          <a:fillRef idx="0">
            <a:schemeClr val="accent1"/>
          </a:fillRef>
          <a:effectRef idx="1">
            <a:schemeClr val="accent1"/>
          </a:effectRef>
          <a:fontRef idx="minor">
            <a:schemeClr val="tx1"/>
          </a:fontRef>
        </p:style>
      </p:cxnSp>
      <p:sp>
        <p:nvSpPr>
          <p:cNvPr id="27" name="TextBox 26"/>
          <p:cNvSpPr txBox="1"/>
          <p:nvPr/>
        </p:nvSpPr>
        <p:spPr>
          <a:xfrm>
            <a:off x="841248" y="6473952"/>
            <a:ext cx="7315200" cy="274320"/>
          </a:xfrm>
          <a:prstGeom prst="rect">
            <a:avLst/>
          </a:prstGeom>
          <a:noFill/>
        </p:spPr>
        <p:txBody>
          <a:bodyPr wrap="square" anchor="t" lIns="0" rIns="0" tIns="0" bIns="0">
            <a:spAutoFit/>
          </a:bodyPr>
          <a:lstStyle/>
          <a:p>
            <a:pPr algn="l">
              <a:lnSpc>
                <a:spcPct val="106000"/>
              </a:lnSpc>
              <a:spcBef>
                <a:spcPts val="0"/>
              </a:spcBef>
              <a:spcAft>
                <a:spcPts val="0"/>
              </a:spcAft>
            </a:pPr>
            <a:r>
              <a:rPr sz="950" b="0">
                <a:solidFill>
                  <a:srgbClr val="8A9099"/>
                </a:solidFill>
                <a:latin typeface="Red Hat Text"/>
              </a:rPr>
              <a:t>CONFIDENTIAL</a:t>
            </a:r>
          </a:p>
        </p:txBody>
      </p:sp>
      <p:sp>
        <p:nvSpPr>
          <p:cNvPr id="28" name="TextBox 27"/>
          <p:cNvSpPr txBox="1"/>
          <p:nvPr/>
        </p:nvSpPr>
        <p:spPr>
          <a:xfrm>
            <a:off x="10801807" y="6473952"/>
            <a:ext cx="548640" cy="274320"/>
          </a:xfrm>
          <a:prstGeom prst="rect">
            <a:avLst/>
          </a:prstGeom>
          <a:noFill/>
        </p:spPr>
        <p:txBody>
          <a:bodyPr wrap="square" anchor="t" lIns="0" rIns="0" tIns="0" bIns="0">
            <a:spAutoFit/>
          </a:bodyPr>
          <a:lstStyle/>
          <a:p>
            <a:pPr algn="r">
              <a:lnSpc>
                <a:spcPct val="106000"/>
              </a:lnSpc>
              <a:spcBef>
                <a:spcPts val="0"/>
              </a:spcBef>
              <a:spcAft>
                <a:spcPts val="0"/>
              </a:spcAft>
            </a:pPr>
            <a:r>
              <a:rPr sz="950" b="0">
                <a:solidFill>
                  <a:srgbClr val="8A9099"/>
                </a:solidFill>
                <a:latin typeface="Red Hat Text"/>
              </a:rPr>
              <a:t>28</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redhat_logo.jpg"/>
          <p:cNvPicPr>
            <a:picLocks noChangeAspect="1"/>
          </p:cNvPicPr>
          <p:nvPr/>
        </p:nvPicPr>
        <p:blipFill>
          <a:blip r:embed="rId2"/>
          <a:stretch>
            <a:fillRect/>
          </a:stretch>
        </p:blipFill>
        <p:spPr>
          <a:xfrm>
            <a:off x="841248" y="731520"/>
            <a:ext cx="1554480" cy="367699"/>
          </a:xfrm>
          <a:prstGeom prst="rect">
            <a:avLst/>
          </a:prstGeom>
        </p:spPr>
      </p:pic>
      <p:sp>
        <p:nvSpPr>
          <p:cNvPr id="3" name="TextBox 2"/>
          <p:cNvSpPr txBox="1"/>
          <p:nvPr/>
        </p:nvSpPr>
        <p:spPr>
          <a:xfrm>
            <a:off x="841248" y="2514600"/>
            <a:ext cx="9601200" cy="274320"/>
          </a:xfrm>
          <a:prstGeom prst="rect">
            <a:avLst/>
          </a:prstGeom>
          <a:noFill/>
        </p:spPr>
        <p:txBody>
          <a:bodyPr wrap="square" anchor="t" lIns="0" rIns="0" tIns="0" bIns="0">
            <a:spAutoFit/>
          </a:bodyPr>
          <a:lstStyle/>
          <a:p>
            <a:pPr algn="l">
              <a:lnSpc>
                <a:spcPct val="106000"/>
              </a:lnSpc>
              <a:spcBef>
                <a:spcPts val="0"/>
              </a:spcBef>
              <a:spcAft>
                <a:spcPts val="0"/>
              </a:spcAft>
            </a:pPr>
            <a:r>
              <a:rPr sz="1250" b="1" spc="180">
                <a:solidFill>
                  <a:srgbClr val="2E4A62"/>
                </a:solidFill>
                <a:latin typeface="Red Hat Display"/>
              </a:rPr>
              <a:t>A · FOUNDATIONS</a:t>
            </a:r>
          </a:p>
        </p:txBody>
      </p:sp>
      <p:sp>
        <p:nvSpPr>
          <p:cNvPr id="4" name="TextBox 3"/>
          <p:cNvSpPr txBox="1"/>
          <p:nvPr/>
        </p:nvSpPr>
        <p:spPr>
          <a:xfrm>
            <a:off x="841248" y="2880360"/>
            <a:ext cx="2103120" cy="1188720"/>
          </a:xfrm>
          <a:prstGeom prst="rect">
            <a:avLst/>
          </a:prstGeom>
          <a:noFill/>
        </p:spPr>
        <p:txBody>
          <a:bodyPr wrap="none" anchor="t" lIns="0" rIns="0" tIns="0" bIns="0">
            <a:spAutoFit/>
          </a:bodyPr>
          <a:lstStyle/>
          <a:p>
            <a:pPr algn="l">
              <a:lnSpc>
                <a:spcPct val="90000"/>
              </a:lnSpc>
              <a:spcBef>
                <a:spcPts val="0"/>
              </a:spcBef>
              <a:spcAft>
                <a:spcPts val="0"/>
              </a:spcAft>
            </a:pPr>
            <a:r>
              <a:rPr sz="5200" b="1">
                <a:solidFill>
                  <a:srgbClr val="B80000"/>
                </a:solidFill>
                <a:latin typeface="Red Hat Display"/>
              </a:rPr>
              <a:t>M05</a:t>
            </a:r>
          </a:p>
        </p:txBody>
      </p:sp>
      <p:sp>
        <p:nvSpPr>
          <p:cNvPr id="5" name="TextBox 4"/>
          <p:cNvSpPr txBox="1"/>
          <p:nvPr/>
        </p:nvSpPr>
        <p:spPr>
          <a:xfrm>
            <a:off x="3127248" y="2971800"/>
            <a:ext cx="8412480" cy="1188720"/>
          </a:xfrm>
          <a:prstGeom prst="rect">
            <a:avLst/>
          </a:prstGeom>
          <a:noFill/>
        </p:spPr>
        <p:txBody>
          <a:bodyPr wrap="square" anchor="t" lIns="0" rIns="0" tIns="0" bIns="0">
            <a:spAutoFit/>
          </a:bodyPr>
          <a:lstStyle/>
          <a:p>
            <a:pPr algn="l">
              <a:lnSpc>
                <a:spcPct val="102000"/>
              </a:lnSpc>
              <a:spcBef>
                <a:spcPts val="0"/>
              </a:spcBef>
              <a:spcAft>
                <a:spcPts val="0"/>
              </a:spcAft>
            </a:pPr>
            <a:r>
              <a:rPr sz="3000" b="1">
                <a:solidFill>
                  <a:srgbClr val="1A1A1A"/>
                </a:solidFill>
                <a:latin typeface="Red Hat Display"/>
              </a:rPr>
              <a:t>Storage &amp; Stateful Apps</a:t>
            </a:r>
          </a:p>
        </p:txBody>
      </p:sp>
      <p:cxnSp>
        <p:nvCxnSpPr>
          <p:cNvPr id="6" name="Connector 5"/>
          <p:cNvCxnSpPr/>
          <p:nvPr/>
        </p:nvCxnSpPr>
        <p:spPr>
          <a:xfrm>
            <a:off x="841248" y="4443984"/>
            <a:ext cx="1463040" cy="0"/>
          </a:xfrm>
          <a:prstGeom prst="bentConnector3">
            <a:avLst/>
          </a:prstGeom>
          <a:ln w="38100">
            <a:solidFill>
              <a:srgbClr val="EE0000"/>
            </a:solidFill>
          </a:ln>
          <a:effectLst/>
        </p:spPr>
        <p:style>
          <a:lnRef idx="2">
            <a:schemeClr val="accent1"/>
          </a:lnRef>
          <a:fillRef idx="0">
            <a:schemeClr val="accent1"/>
          </a:fillRef>
          <a:effectRef idx="1">
            <a:schemeClr val="accent1"/>
          </a:effectRef>
          <a:fontRef idx="minor">
            <a:schemeClr val="tx1"/>
          </a:fontRef>
        </p:style>
      </p:cxn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redhat_logo.jpg"/>
          <p:cNvPicPr>
            <a:picLocks noChangeAspect="1"/>
          </p:cNvPicPr>
          <p:nvPr/>
        </p:nvPicPr>
        <p:blipFill>
          <a:blip r:embed="rId2"/>
          <a:stretch>
            <a:fillRect/>
          </a:stretch>
        </p:blipFill>
        <p:spPr>
          <a:xfrm>
            <a:off x="10326319" y="475488"/>
            <a:ext cx="1024128" cy="242248"/>
          </a:xfrm>
          <a:prstGeom prst="rect">
            <a:avLst/>
          </a:prstGeom>
        </p:spPr>
      </p:pic>
      <p:sp>
        <p:nvSpPr>
          <p:cNvPr id="3" name="TextBox 2"/>
          <p:cNvSpPr txBox="1"/>
          <p:nvPr/>
        </p:nvSpPr>
        <p:spPr>
          <a:xfrm>
            <a:off x="841248" y="548640"/>
            <a:ext cx="8595360" cy="274320"/>
          </a:xfrm>
          <a:prstGeom prst="rect">
            <a:avLst/>
          </a:prstGeom>
          <a:noFill/>
        </p:spPr>
        <p:txBody>
          <a:bodyPr wrap="square" anchor="t" lIns="0" rIns="0" tIns="0" bIns="0">
            <a:spAutoFit/>
          </a:bodyPr>
          <a:lstStyle/>
          <a:p>
            <a:pPr algn="l">
              <a:lnSpc>
                <a:spcPct val="106000"/>
              </a:lnSpc>
              <a:spcBef>
                <a:spcPts val="0"/>
              </a:spcBef>
              <a:spcAft>
                <a:spcPts val="0"/>
              </a:spcAft>
            </a:pPr>
            <a:r>
              <a:rPr sz="1250" b="1" spc="220">
                <a:solidFill>
                  <a:srgbClr val="EE0000"/>
                </a:solidFill>
                <a:latin typeface="Red Hat Display"/>
              </a:rPr>
              <a:t>M05 · STORAGE &amp; STATEFUL APPS</a:t>
            </a:r>
          </a:p>
        </p:txBody>
      </p:sp>
      <p:sp>
        <p:nvSpPr>
          <p:cNvPr id="4" name="TextBox 3"/>
          <p:cNvSpPr txBox="1"/>
          <p:nvPr/>
        </p:nvSpPr>
        <p:spPr>
          <a:xfrm>
            <a:off x="841248" y="877824"/>
            <a:ext cx="10515600" cy="548640"/>
          </a:xfrm>
          <a:prstGeom prst="rect">
            <a:avLst/>
          </a:prstGeom>
          <a:noFill/>
        </p:spPr>
        <p:txBody>
          <a:bodyPr wrap="none" anchor="t" lIns="0" rIns="0" tIns="0" bIns="0">
            <a:spAutoFit/>
          </a:bodyPr>
          <a:lstStyle/>
          <a:p>
            <a:pPr algn="l">
              <a:lnSpc>
                <a:spcPct val="100000"/>
              </a:lnSpc>
              <a:spcBef>
                <a:spcPts val="0"/>
              </a:spcBef>
              <a:spcAft>
                <a:spcPts val="0"/>
              </a:spcAft>
            </a:pPr>
            <a:r>
              <a:rPr sz="2500" b="1">
                <a:solidFill>
                  <a:srgbClr val="1A1A1A"/>
                </a:solidFill>
                <a:latin typeface="Red Hat Display"/>
              </a:rPr>
              <a:t>The database that was a time bomb</a:t>
            </a:r>
          </a:p>
        </p:txBody>
      </p:sp>
      <p:cxnSp>
        <p:nvCxnSpPr>
          <p:cNvPr id="5" name="Connector 4"/>
          <p:cNvCxnSpPr/>
          <p:nvPr/>
        </p:nvCxnSpPr>
        <p:spPr>
          <a:xfrm>
            <a:off x="841248" y="1554480"/>
            <a:ext cx="1371600" cy="0"/>
          </a:xfrm>
          <a:prstGeom prst="bentConnector3">
            <a:avLst/>
          </a:prstGeom>
          <a:ln w="31750">
            <a:solidFill>
              <a:srgbClr val="EE0000"/>
            </a:solidFill>
          </a:ln>
          <a:effectLst/>
        </p:spPr>
        <p:style>
          <a:lnRef idx="2">
            <a:schemeClr val="accent1"/>
          </a:lnRef>
          <a:fillRef idx="0">
            <a:schemeClr val="accent1"/>
          </a:fillRef>
          <a:effectRef idx="1">
            <a:schemeClr val="accent1"/>
          </a:effectRef>
          <a:fontRef idx="minor">
            <a:schemeClr val="tx1"/>
          </a:fontRef>
        </p:style>
      </p:cxnSp>
      <p:sp>
        <p:nvSpPr>
          <p:cNvPr id="6" name="Rounded Rectangle 5"/>
          <p:cNvSpPr/>
          <p:nvPr/>
        </p:nvSpPr>
        <p:spPr>
          <a:xfrm>
            <a:off x="841248" y="2395728"/>
            <a:ext cx="5715000" cy="530352"/>
          </a:xfrm>
          <a:prstGeom prst="roundRect">
            <a:avLst>
              <a:gd name="adj" fmla="val 6000"/>
            </a:avLst>
          </a:prstGeom>
          <a:solidFill>
            <a:srgbClr val="F5F6F8"/>
          </a:solidFill>
          <a:ln w="12700">
            <a:solidFill>
              <a:srgbClr val="DDE1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check_steel.png"/>
          <p:cNvPicPr>
            <a:picLocks noChangeAspect="1"/>
          </p:cNvPicPr>
          <p:nvPr/>
        </p:nvPicPr>
        <p:blipFill>
          <a:blip r:embed="rId3"/>
          <a:stretch>
            <a:fillRect/>
          </a:stretch>
        </p:blipFill>
        <p:spPr>
          <a:xfrm>
            <a:off x="987552" y="2542032"/>
            <a:ext cx="237744" cy="237744"/>
          </a:xfrm>
          <a:prstGeom prst="rect">
            <a:avLst/>
          </a:prstGeom>
        </p:spPr>
      </p:pic>
      <p:sp>
        <p:nvSpPr>
          <p:cNvPr id="8" name="TextBox 7"/>
          <p:cNvSpPr txBox="1"/>
          <p:nvPr/>
        </p:nvSpPr>
        <p:spPr>
          <a:xfrm>
            <a:off x="1353312" y="2395728"/>
            <a:ext cx="5029200" cy="530352"/>
          </a:xfrm>
          <a:prstGeom prst="rect">
            <a:avLst/>
          </a:prstGeom>
          <a:noFill/>
        </p:spPr>
        <p:txBody>
          <a:bodyPr wrap="square" anchor="ctr" lIns="0" rIns="0" tIns="0" bIns="0">
            <a:spAutoFit/>
          </a:bodyPr>
          <a:lstStyle/>
          <a:p>
            <a:pPr algn="l">
              <a:lnSpc>
                <a:spcPct val="106000"/>
              </a:lnSpc>
              <a:spcBef>
                <a:spcPts val="0"/>
              </a:spcBef>
              <a:spcAft>
                <a:spcPts val="0"/>
              </a:spcAft>
            </a:pPr>
            <a:r>
              <a:rPr sz="1200" b="0">
                <a:solidFill>
                  <a:srgbClr val="1A1A1A"/>
                </a:solidFill>
                <a:latin typeface="Red Hat Text"/>
              </a:rPr>
              <a:t>Parasol's claims DB ran all week</a:t>
            </a:r>
          </a:p>
        </p:txBody>
      </p:sp>
      <p:sp>
        <p:nvSpPr>
          <p:cNvPr id="9" name="Rounded Rectangle 8"/>
          <p:cNvSpPr/>
          <p:nvPr/>
        </p:nvSpPr>
        <p:spPr>
          <a:xfrm>
            <a:off x="841248" y="2999232"/>
            <a:ext cx="5715000" cy="530352"/>
          </a:xfrm>
          <a:prstGeom prst="roundRect">
            <a:avLst>
              <a:gd name="adj" fmla="val 6000"/>
            </a:avLst>
          </a:prstGeom>
          <a:solidFill>
            <a:srgbClr val="F5F6F8"/>
          </a:solidFill>
          <a:ln w="12700">
            <a:solidFill>
              <a:srgbClr val="DDE1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0" name="Picture 9" descr="check_steel.png"/>
          <p:cNvPicPr>
            <a:picLocks noChangeAspect="1"/>
          </p:cNvPicPr>
          <p:nvPr/>
        </p:nvPicPr>
        <p:blipFill>
          <a:blip r:embed="rId3"/>
          <a:stretch>
            <a:fillRect/>
          </a:stretch>
        </p:blipFill>
        <p:spPr>
          <a:xfrm>
            <a:off x="987552" y="3145536"/>
            <a:ext cx="237744" cy="237744"/>
          </a:xfrm>
          <a:prstGeom prst="rect">
            <a:avLst/>
          </a:prstGeom>
        </p:spPr>
      </p:pic>
      <p:sp>
        <p:nvSpPr>
          <p:cNvPr id="11" name="TextBox 10"/>
          <p:cNvSpPr txBox="1"/>
          <p:nvPr/>
        </p:nvSpPr>
        <p:spPr>
          <a:xfrm>
            <a:off x="1353312" y="2999232"/>
            <a:ext cx="5029200" cy="530352"/>
          </a:xfrm>
          <a:prstGeom prst="rect">
            <a:avLst/>
          </a:prstGeom>
          <a:noFill/>
        </p:spPr>
        <p:txBody>
          <a:bodyPr wrap="square" anchor="ctr" lIns="0" rIns="0" tIns="0" bIns="0">
            <a:spAutoFit/>
          </a:bodyPr>
          <a:lstStyle/>
          <a:p>
            <a:pPr algn="l">
              <a:lnSpc>
                <a:spcPct val="106000"/>
              </a:lnSpc>
              <a:spcBef>
                <a:spcPts val="0"/>
              </a:spcBef>
              <a:spcAft>
                <a:spcPts val="0"/>
              </a:spcAft>
            </a:pPr>
            <a:r>
              <a:rPr sz="1200" b="0">
                <a:solidFill>
                  <a:srgbClr val="1A1A1A"/>
                </a:solidFill>
                <a:latin typeface="Red Hat Text"/>
              </a:rPr>
              <a:t>Its data lived in an emptyDir</a:t>
            </a:r>
          </a:p>
        </p:txBody>
      </p:sp>
      <p:sp>
        <p:nvSpPr>
          <p:cNvPr id="12" name="Rounded Rectangle 11"/>
          <p:cNvSpPr/>
          <p:nvPr/>
        </p:nvSpPr>
        <p:spPr>
          <a:xfrm>
            <a:off x="841248" y="3602736"/>
            <a:ext cx="5715000" cy="530352"/>
          </a:xfrm>
          <a:prstGeom prst="roundRect">
            <a:avLst>
              <a:gd name="adj" fmla="val 6000"/>
            </a:avLst>
          </a:prstGeom>
          <a:solidFill>
            <a:srgbClr val="F5F6F8"/>
          </a:solidFill>
          <a:ln w="12700">
            <a:solidFill>
              <a:srgbClr val="DDE1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3" name="Picture 12" descr="check_steel.png"/>
          <p:cNvPicPr>
            <a:picLocks noChangeAspect="1"/>
          </p:cNvPicPr>
          <p:nvPr/>
        </p:nvPicPr>
        <p:blipFill>
          <a:blip r:embed="rId3"/>
          <a:stretch>
            <a:fillRect/>
          </a:stretch>
        </p:blipFill>
        <p:spPr>
          <a:xfrm>
            <a:off x="987552" y="3749040"/>
            <a:ext cx="237744" cy="237744"/>
          </a:xfrm>
          <a:prstGeom prst="rect">
            <a:avLst/>
          </a:prstGeom>
        </p:spPr>
      </p:pic>
      <p:sp>
        <p:nvSpPr>
          <p:cNvPr id="14" name="TextBox 13"/>
          <p:cNvSpPr txBox="1"/>
          <p:nvPr/>
        </p:nvSpPr>
        <p:spPr>
          <a:xfrm>
            <a:off x="1353312" y="3602736"/>
            <a:ext cx="5029200" cy="530352"/>
          </a:xfrm>
          <a:prstGeom prst="rect">
            <a:avLst/>
          </a:prstGeom>
          <a:noFill/>
        </p:spPr>
        <p:txBody>
          <a:bodyPr wrap="square" anchor="ctr" lIns="0" rIns="0" tIns="0" bIns="0">
            <a:spAutoFit/>
          </a:bodyPr>
          <a:lstStyle/>
          <a:p>
            <a:pPr algn="l">
              <a:lnSpc>
                <a:spcPct val="106000"/>
              </a:lnSpc>
              <a:spcBef>
                <a:spcPts val="0"/>
              </a:spcBef>
              <a:spcAft>
                <a:spcPts val="0"/>
              </a:spcAft>
            </a:pPr>
            <a:r>
              <a:rPr sz="1200" b="0">
                <a:solidFill>
                  <a:srgbClr val="1A1A1A"/>
                </a:solidFill>
                <a:latin typeface="Red Hat Text"/>
              </a:rPr>
              <a:t>One Pod restart wipes everything</a:t>
            </a:r>
          </a:p>
        </p:txBody>
      </p:sp>
      <p:sp>
        <p:nvSpPr>
          <p:cNvPr id="15" name="Rounded Rectangle 14"/>
          <p:cNvSpPr/>
          <p:nvPr/>
        </p:nvSpPr>
        <p:spPr>
          <a:xfrm>
            <a:off x="841248" y="4206240"/>
            <a:ext cx="5715000" cy="530352"/>
          </a:xfrm>
          <a:prstGeom prst="roundRect">
            <a:avLst>
              <a:gd name="adj" fmla="val 6000"/>
            </a:avLst>
          </a:prstGeom>
          <a:solidFill>
            <a:srgbClr val="F5F6F8"/>
          </a:solidFill>
          <a:ln w="12700">
            <a:solidFill>
              <a:srgbClr val="DDE1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6" name="Picture 15" descr="check_steel.png"/>
          <p:cNvPicPr>
            <a:picLocks noChangeAspect="1"/>
          </p:cNvPicPr>
          <p:nvPr/>
        </p:nvPicPr>
        <p:blipFill>
          <a:blip r:embed="rId3"/>
          <a:stretch>
            <a:fillRect/>
          </a:stretch>
        </p:blipFill>
        <p:spPr>
          <a:xfrm>
            <a:off x="987552" y="4352544"/>
            <a:ext cx="237744" cy="237744"/>
          </a:xfrm>
          <a:prstGeom prst="rect">
            <a:avLst/>
          </a:prstGeom>
        </p:spPr>
      </p:pic>
      <p:sp>
        <p:nvSpPr>
          <p:cNvPr id="17" name="TextBox 16"/>
          <p:cNvSpPr txBox="1"/>
          <p:nvPr/>
        </p:nvSpPr>
        <p:spPr>
          <a:xfrm>
            <a:off x="1353312" y="4206240"/>
            <a:ext cx="5029200" cy="530352"/>
          </a:xfrm>
          <a:prstGeom prst="rect">
            <a:avLst/>
          </a:prstGeom>
          <a:noFill/>
        </p:spPr>
        <p:txBody>
          <a:bodyPr wrap="square" anchor="ctr" lIns="0" rIns="0" tIns="0" bIns="0">
            <a:spAutoFit/>
          </a:bodyPr>
          <a:lstStyle/>
          <a:p>
            <a:pPr algn="l">
              <a:lnSpc>
                <a:spcPct val="106000"/>
              </a:lnSpc>
              <a:spcBef>
                <a:spcPts val="0"/>
              </a:spcBef>
              <a:spcAft>
                <a:spcPts val="0"/>
              </a:spcAft>
            </a:pPr>
            <a:r>
              <a:rPr sz="1200" b="0">
                <a:solidFill>
                  <a:srgbClr val="1A1A1A"/>
                </a:solidFill>
                <a:latin typeface="Red Hat Text"/>
              </a:rPr>
              <a:t>Routine churn, total data loss</a:t>
            </a:r>
          </a:p>
        </p:txBody>
      </p:sp>
      <p:sp>
        <p:nvSpPr>
          <p:cNvPr id="18" name="Rounded Rectangle 17"/>
          <p:cNvSpPr/>
          <p:nvPr/>
        </p:nvSpPr>
        <p:spPr>
          <a:xfrm>
            <a:off x="841248" y="4809744"/>
            <a:ext cx="5715000" cy="530352"/>
          </a:xfrm>
          <a:prstGeom prst="roundRect">
            <a:avLst>
              <a:gd name="adj" fmla="val 6000"/>
            </a:avLst>
          </a:prstGeom>
          <a:solidFill>
            <a:srgbClr val="F5F6F8"/>
          </a:solidFill>
          <a:ln w="12700">
            <a:solidFill>
              <a:srgbClr val="DDE1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9" name="Picture 18" descr="check_steel.png"/>
          <p:cNvPicPr>
            <a:picLocks noChangeAspect="1"/>
          </p:cNvPicPr>
          <p:nvPr/>
        </p:nvPicPr>
        <p:blipFill>
          <a:blip r:embed="rId3"/>
          <a:stretch>
            <a:fillRect/>
          </a:stretch>
        </p:blipFill>
        <p:spPr>
          <a:xfrm>
            <a:off x="987552" y="4956048"/>
            <a:ext cx="237744" cy="237744"/>
          </a:xfrm>
          <a:prstGeom prst="rect">
            <a:avLst/>
          </a:prstGeom>
        </p:spPr>
      </p:pic>
      <p:sp>
        <p:nvSpPr>
          <p:cNvPr id="20" name="TextBox 19"/>
          <p:cNvSpPr txBox="1"/>
          <p:nvPr/>
        </p:nvSpPr>
        <p:spPr>
          <a:xfrm>
            <a:off x="1353312" y="4809744"/>
            <a:ext cx="5029200" cy="530352"/>
          </a:xfrm>
          <a:prstGeom prst="rect">
            <a:avLst/>
          </a:prstGeom>
          <a:noFill/>
        </p:spPr>
        <p:txBody>
          <a:bodyPr wrap="square" anchor="ctr" lIns="0" rIns="0" tIns="0" bIns="0">
            <a:spAutoFit/>
          </a:bodyPr>
          <a:lstStyle/>
          <a:p>
            <a:pPr algn="l">
              <a:lnSpc>
                <a:spcPct val="106000"/>
              </a:lnSpc>
              <a:spcBef>
                <a:spcPts val="0"/>
              </a:spcBef>
              <a:spcAft>
                <a:spcPts val="0"/>
              </a:spcAft>
            </a:pPr>
            <a:r>
              <a:rPr sz="1200" b="0">
                <a:solidFill>
                  <a:srgbClr val="1A1A1A"/>
                </a:solidFill>
                <a:latin typeface="Red Hat Text"/>
              </a:rPr>
              <a:t>Persistence is the missing piece</a:t>
            </a:r>
          </a:p>
        </p:txBody>
      </p:sp>
      <p:sp>
        <p:nvSpPr>
          <p:cNvPr id="21" name="Rounded Rectangle 20"/>
          <p:cNvSpPr/>
          <p:nvPr/>
        </p:nvSpPr>
        <p:spPr>
          <a:xfrm>
            <a:off x="6812280" y="2395728"/>
            <a:ext cx="4538167" cy="2944368"/>
          </a:xfrm>
          <a:prstGeom prst="roundRect">
            <a:avLst>
              <a:gd name="adj" fmla="val 4000"/>
            </a:avLst>
          </a:prstGeom>
          <a:solidFill>
            <a:srgbClr val="FFFFFF"/>
          </a:solidFill>
          <a:ln w="15240">
            <a:solidFill>
              <a:srgbClr val="DDE1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ounded Rectangle 21"/>
          <p:cNvSpPr/>
          <p:nvPr/>
        </p:nvSpPr>
        <p:spPr>
          <a:xfrm>
            <a:off x="7013448" y="2596896"/>
            <a:ext cx="1298448" cy="310896"/>
          </a:xfrm>
          <a:prstGeom prst="roundRect">
            <a:avLst>
              <a:gd name="adj" fmla="val 50000"/>
            </a:avLst>
          </a:prstGeom>
          <a:solidFill>
            <a:srgbClr val="FCEC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7013448" y="2596896"/>
            <a:ext cx="1298448" cy="310896"/>
          </a:xfrm>
          <a:prstGeom prst="rect">
            <a:avLst/>
          </a:prstGeom>
          <a:noFill/>
        </p:spPr>
        <p:txBody>
          <a:bodyPr wrap="none" anchor="ctr" lIns="0" rIns="0" tIns="0" bIns="0">
            <a:spAutoFit/>
          </a:bodyPr>
          <a:lstStyle/>
          <a:p>
            <a:pPr algn="ctr">
              <a:lnSpc>
                <a:spcPct val="106000"/>
              </a:lnSpc>
              <a:spcBef>
                <a:spcPts val="0"/>
              </a:spcBef>
              <a:spcAft>
                <a:spcPts val="0"/>
              </a:spcAft>
            </a:pPr>
            <a:r>
              <a:rPr sz="850" b="1">
                <a:solidFill>
                  <a:srgbClr val="B80000"/>
                </a:solidFill>
                <a:latin typeface="Red Hat Display"/>
              </a:rPr>
              <a:t>MEDIA PASS</a:t>
            </a:r>
          </a:p>
        </p:txBody>
      </p:sp>
      <p:pic>
        <p:nvPicPr>
          <p:cNvPr id="24" name="Picture 23" descr="eye_slate.png"/>
          <p:cNvPicPr>
            <a:picLocks noChangeAspect="1"/>
          </p:cNvPicPr>
          <p:nvPr/>
        </p:nvPicPr>
        <p:blipFill>
          <a:blip r:embed="rId4"/>
          <a:stretch>
            <a:fillRect/>
          </a:stretch>
        </p:blipFill>
        <p:spPr>
          <a:xfrm>
            <a:off x="8843619" y="3108960"/>
            <a:ext cx="475488" cy="475488"/>
          </a:xfrm>
          <a:prstGeom prst="rect">
            <a:avLst/>
          </a:prstGeom>
        </p:spPr>
      </p:pic>
      <p:sp>
        <p:nvSpPr>
          <p:cNvPr id="25" name="TextBox 24"/>
          <p:cNvSpPr txBox="1"/>
          <p:nvPr/>
        </p:nvSpPr>
        <p:spPr>
          <a:xfrm>
            <a:off x="7050024" y="3721608"/>
            <a:ext cx="4062679" cy="1481328"/>
          </a:xfrm>
          <a:prstGeom prst="rect">
            <a:avLst/>
          </a:prstGeom>
          <a:noFill/>
        </p:spPr>
        <p:txBody>
          <a:bodyPr wrap="square" anchor="t" lIns="0" rIns="0" tIns="0" bIns="0">
            <a:spAutoFit/>
          </a:bodyPr>
          <a:lstStyle/>
          <a:p>
            <a:pPr algn="l">
              <a:lnSpc>
                <a:spcPct val="120000"/>
              </a:lnSpc>
              <a:spcBef>
                <a:spcPts val="0"/>
              </a:spcBef>
              <a:spcAft>
                <a:spcPts val="0"/>
              </a:spcAft>
            </a:pPr>
            <a:r>
              <a:rPr sz="950" b="0">
                <a:solidFill>
                  <a:srgbClr val="8A9099"/>
                </a:solidFill>
                <a:latin typeface="Red Hat Text"/>
              </a:rPr>
              <a:t>A single "Pod restart" arrow turning a database full of claims into an empty one, red X over the lost data.</a:t>
            </a:r>
          </a:p>
        </p:txBody>
      </p:sp>
      <p:cxnSp>
        <p:nvCxnSpPr>
          <p:cNvPr id="26" name="Connector 25"/>
          <p:cNvCxnSpPr/>
          <p:nvPr/>
        </p:nvCxnSpPr>
        <p:spPr>
          <a:xfrm>
            <a:off x="841248" y="6437376"/>
            <a:ext cx="10509199" cy="0"/>
          </a:xfrm>
          <a:prstGeom prst="bentConnector3">
            <a:avLst/>
          </a:prstGeom>
          <a:ln w="12700">
            <a:solidFill>
              <a:srgbClr val="DDE1E6"/>
            </a:solidFill>
          </a:ln>
          <a:effectLst/>
        </p:spPr>
        <p:style>
          <a:lnRef idx="2">
            <a:schemeClr val="accent1"/>
          </a:lnRef>
          <a:fillRef idx="0">
            <a:schemeClr val="accent1"/>
          </a:fillRef>
          <a:effectRef idx="1">
            <a:schemeClr val="accent1"/>
          </a:effectRef>
          <a:fontRef idx="minor">
            <a:schemeClr val="tx1"/>
          </a:fontRef>
        </p:style>
      </p:cxnSp>
      <p:sp>
        <p:nvSpPr>
          <p:cNvPr id="27" name="TextBox 26"/>
          <p:cNvSpPr txBox="1"/>
          <p:nvPr/>
        </p:nvSpPr>
        <p:spPr>
          <a:xfrm>
            <a:off x="841248" y="6473952"/>
            <a:ext cx="7315200" cy="274320"/>
          </a:xfrm>
          <a:prstGeom prst="rect">
            <a:avLst/>
          </a:prstGeom>
          <a:noFill/>
        </p:spPr>
        <p:txBody>
          <a:bodyPr wrap="square" anchor="t" lIns="0" rIns="0" tIns="0" bIns="0">
            <a:spAutoFit/>
          </a:bodyPr>
          <a:lstStyle/>
          <a:p>
            <a:pPr algn="l">
              <a:lnSpc>
                <a:spcPct val="106000"/>
              </a:lnSpc>
              <a:spcBef>
                <a:spcPts val="0"/>
              </a:spcBef>
              <a:spcAft>
                <a:spcPts val="0"/>
              </a:spcAft>
            </a:pPr>
            <a:r>
              <a:rPr sz="950" b="0">
                <a:solidFill>
                  <a:srgbClr val="8A9099"/>
                </a:solidFill>
                <a:latin typeface="Red Hat Text"/>
              </a:rPr>
              <a:t>CONFIDENTIAL</a:t>
            </a:r>
          </a:p>
        </p:txBody>
      </p:sp>
      <p:sp>
        <p:nvSpPr>
          <p:cNvPr id="28" name="TextBox 27"/>
          <p:cNvSpPr txBox="1"/>
          <p:nvPr/>
        </p:nvSpPr>
        <p:spPr>
          <a:xfrm>
            <a:off x="10801807" y="6473952"/>
            <a:ext cx="548640" cy="274320"/>
          </a:xfrm>
          <a:prstGeom prst="rect">
            <a:avLst/>
          </a:prstGeom>
          <a:noFill/>
        </p:spPr>
        <p:txBody>
          <a:bodyPr wrap="square" anchor="t" lIns="0" rIns="0" tIns="0" bIns="0">
            <a:spAutoFit/>
          </a:bodyPr>
          <a:lstStyle/>
          <a:p>
            <a:pPr algn="r">
              <a:lnSpc>
                <a:spcPct val="106000"/>
              </a:lnSpc>
              <a:spcBef>
                <a:spcPts val="0"/>
              </a:spcBef>
              <a:spcAft>
                <a:spcPts val="0"/>
              </a:spcAft>
            </a:pPr>
            <a:r>
              <a:rPr sz="950" b="0">
                <a:solidFill>
                  <a:srgbClr val="8A9099"/>
                </a:solidFill>
                <a:latin typeface="Red Hat Text"/>
              </a:rPr>
              <a:t>29</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redhat_logo.jpg"/>
          <p:cNvPicPr>
            <a:picLocks noChangeAspect="1"/>
          </p:cNvPicPr>
          <p:nvPr/>
        </p:nvPicPr>
        <p:blipFill>
          <a:blip r:embed="rId2"/>
          <a:stretch>
            <a:fillRect/>
          </a:stretch>
        </p:blipFill>
        <p:spPr>
          <a:xfrm>
            <a:off x="10326319" y="475488"/>
            <a:ext cx="1024128" cy="242248"/>
          </a:xfrm>
          <a:prstGeom prst="rect">
            <a:avLst/>
          </a:prstGeom>
        </p:spPr>
      </p:pic>
      <p:sp>
        <p:nvSpPr>
          <p:cNvPr id="3" name="TextBox 2"/>
          <p:cNvSpPr txBox="1"/>
          <p:nvPr/>
        </p:nvSpPr>
        <p:spPr>
          <a:xfrm>
            <a:off x="841248" y="548640"/>
            <a:ext cx="8595360" cy="274320"/>
          </a:xfrm>
          <a:prstGeom prst="rect">
            <a:avLst/>
          </a:prstGeom>
          <a:noFill/>
        </p:spPr>
        <p:txBody>
          <a:bodyPr wrap="square" anchor="t" lIns="0" rIns="0" tIns="0" bIns="0">
            <a:spAutoFit/>
          </a:bodyPr>
          <a:lstStyle/>
          <a:p>
            <a:pPr algn="l">
              <a:lnSpc>
                <a:spcPct val="106000"/>
              </a:lnSpc>
              <a:spcBef>
                <a:spcPts val="0"/>
              </a:spcBef>
              <a:spcAft>
                <a:spcPts val="0"/>
              </a:spcAft>
            </a:pPr>
            <a:r>
              <a:rPr sz="1250" b="1" spc="220">
                <a:solidFill>
                  <a:srgbClr val="EE0000"/>
                </a:solidFill>
                <a:latin typeface="Red Hat Display"/>
              </a:rPr>
              <a:t>M05 · STORAGE &amp; STATEFUL APPS</a:t>
            </a:r>
          </a:p>
        </p:txBody>
      </p:sp>
      <p:sp>
        <p:nvSpPr>
          <p:cNvPr id="4" name="TextBox 3"/>
          <p:cNvSpPr txBox="1"/>
          <p:nvPr/>
        </p:nvSpPr>
        <p:spPr>
          <a:xfrm>
            <a:off x="841248" y="877824"/>
            <a:ext cx="10515600" cy="548640"/>
          </a:xfrm>
          <a:prstGeom prst="rect">
            <a:avLst/>
          </a:prstGeom>
          <a:noFill/>
        </p:spPr>
        <p:txBody>
          <a:bodyPr wrap="none" anchor="t" lIns="0" rIns="0" tIns="0" bIns="0">
            <a:spAutoFit/>
          </a:bodyPr>
          <a:lstStyle/>
          <a:p>
            <a:pPr algn="l">
              <a:lnSpc>
                <a:spcPct val="100000"/>
              </a:lnSpc>
              <a:spcBef>
                <a:spcPts val="0"/>
              </a:spcBef>
              <a:spcAft>
                <a:spcPts val="0"/>
              </a:spcAft>
            </a:pPr>
            <a:r>
              <a:rPr sz="2500" b="1">
                <a:solidFill>
                  <a:srgbClr val="1A1A1A"/>
                </a:solidFill>
                <a:latin typeface="Red Hat Display"/>
              </a:rPr>
              <a:t>The storage abstraction chain</a:t>
            </a:r>
          </a:p>
        </p:txBody>
      </p:sp>
      <p:cxnSp>
        <p:nvCxnSpPr>
          <p:cNvPr id="5" name="Connector 4"/>
          <p:cNvCxnSpPr/>
          <p:nvPr/>
        </p:nvCxnSpPr>
        <p:spPr>
          <a:xfrm>
            <a:off x="841248" y="1554480"/>
            <a:ext cx="1371600" cy="0"/>
          </a:xfrm>
          <a:prstGeom prst="bentConnector3">
            <a:avLst/>
          </a:prstGeom>
          <a:ln w="31750">
            <a:solidFill>
              <a:srgbClr val="EE0000"/>
            </a:solidFill>
          </a:ln>
          <a:effectLst/>
        </p:spPr>
        <p:style>
          <a:lnRef idx="2">
            <a:schemeClr val="accent1"/>
          </a:lnRef>
          <a:fillRef idx="0">
            <a:schemeClr val="accent1"/>
          </a:fillRef>
          <a:effectRef idx="1">
            <a:schemeClr val="accent1"/>
          </a:effectRef>
          <a:fontRef idx="minor">
            <a:schemeClr val="tx1"/>
          </a:fontRef>
        </p:style>
      </p:cxnSp>
      <p:sp>
        <p:nvSpPr>
          <p:cNvPr id="6" name="Rounded Rectangle 5"/>
          <p:cNvSpPr/>
          <p:nvPr/>
        </p:nvSpPr>
        <p:spPr>
          <a:xfrm>
            <a:off x="841248" y="2395728"/>
            <a:ext cx="5715000" cy="530352"/>
          </a:xfrm>
          <a:prstGeom prst="roundRect">
            <a:avLst>
              <a:gd name="adj" fmla="val 6000"/>
            </a:avLst>
          </a:prstGeom>
          <a:solidFill>
            <a:srgbClr val="F5F6F8"/>
          </a:solidFill>
          <a:ln w="12700">
            <a:solidFill>
              <a:srgbClr val="DDE1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check_steel.png"/>
          <p:cNvPicPr>
            <a:picLocks noChangeAspect="1"/>
          </p:cNvPicPr>
          <p:nvPr/>
        </p:nvPicPr>
        <p:blipFill>
          <a:blip r:embed="rId3"/>
          <a:stretch>
            <a:fillRect/>
          </a:stretch>
        </p:blipFill>
        <p:spPr>
          <a:xfrm>
            <a:off x="987552" y="2542032"/>
            <a:ext cx="237744" cy="237744"/>
          </a:xfrm>
          <a:prstGeom prst="rect">
            <a:avLst/>
          </a:prstGeom>
        </p:spPr>
      </p:pic>
      <p:sp>
        <p:nvSpPr>
          <p:cNvPr id="8" name="TextBox 7"/>
          <p:cNvSpPr txBox="1"/>
          <p:nvPr/>
        </p:nvSpPr>
        <p:spPr>
          <a:xfrm>
            <a:off x="1353312" y="2395728"/>
            <a:ext cx="5029200" cy="530352"/>
          </a:xfrm>
          <a:prstGeom prst="rect">
            <a:avLst/>
          </a:prstGeom>
          <a:noFill/>
        </p:spPr>
        <p:txBody>
          <a:bodyPr wrap="square" anchor="ctr" lIns="0" rIns="0" tIns="0" bIns="0">
            <a:spAutoFit/>
          </a:bodyPr>
          <a:lstStyle/>
          <a:p>
            <a:pPr algn="l">
              <a:lnSpc>
                <a:spcPct val="106000"/>
              </a:lnSpc>
              <a:spcBef>
                <a:spcPts val="0"/>
              </a:spcBef>
              <a:spcAft>
                <a:spcPts val="0"/>
              </a:spcAft>
            </a:pPr>
            <a:r>
              <a:rPr sz="1200" b="0">
                <a:solidFill>
                  <a:srgbClr val="1A1A1A"/>
                </a:solidFill>
                <a:latin typeface="Red Hat Text"/>
              </a:rPr>
              <a:t>PVC: what your app asks for</a:t>
            </a:r>
          </a:p>
        </p:txBody>
      </p:sp>
      <p:sp>
        <p:nvSpPr>
          <p:cNvPr id="9" name="Rounded Rectangle 8"/>
          <p:cNvSpPr/>
          <p:nvPr/>
        </p:nvSpPr>
        <p:spPr>
          <a:xfrm>
            <a:off x="841248" y="2999232"/>
            <a:ext cx="5715000" cy="530352"/>
          </a:xfrm>
          <a:prstGeom prst="roundRect">
            <a:avLst>
              <a:gd name="adj" fmla="val 6000"/>
            </a:avLst>
          </a:prstGeom>
          <a:solidFill>
            <a:srgbClr val="F5F6F8"/>
          </a:solidFill>
          <a:ln w="12700">
            <a:solidFill>
              <a:srgbClr val="DDE1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0" name="Picture 9" descr="check_steel.png"/>
          <p:cNvPicPr>
            <a:picLocks noChangeAspect="1"/>
          </p:cNvPicPr>
          <p:nvPr/>
        </p:nvPicPr>
        <p:blipFill>
          <a:blip r:embed="rId3"/>
          <a:stretch>
            <a:fillRect/>
          </a:stretch>
        </p:blipFill>
        <p:spPr>
          <a:xfrm>
            <a:off x="987552" y="3145536"/>
            <a:ext cx="237744" cy="237744"/>
          </a:xfrm>
          <a:prstGeom prst="rect">
            <a:avLst/>
          </a:prstGeom>
        </p:spPr>
      </p:pic>
      <p:sp>
        <p:nvSpPr>
          <p:cNvPr id="11" name="TextBox 10"/>
          <p:cNvSpPr txBox="1"/>
          <p:nvPr/>
        </p:nvSpPr>
        <p:spPr>
          <a:xfrm>
            <a:off x="1353312" y="2999232"/>
            <a:ext cx="5029200" cy="530352"/>
          </a:xfrm>
          <a:prstGeom prst="rect">
            <a:avLst/>
          </a:prstGeom>
          <a:noFill/>
        </p:spPr>
        <p:txBody>
          <a:bodyPr wrap="square" anchor="ctr" lIns="0" rIns="0" tIns="0" bIns="0">
            <a:spAutoFit/>
          </a:bodyPr>
          <a:lstStyle/>
          <a:p>
            <a:pPr algn="l">
              <a:lnSpc>
                <a:spcPct val="106000"/>
              </a:lnSpc>
              <a:spcBef>
                <a:spcPts val="0"/>
              </a:spcBef>
              <a:spcAft>
                <a:spcPts val="0"/>
              </a:spcAft>
            </a:pPr>
            <a:r>
              <a:rPr sz="1200" b="0">
                <a:solidFill>
                  <a:srgbClr val="1A1A1A"/>
                </a:solidFill>
                <a:latin typeface="Red Hat Text"/>
              </a:rPr>
              <a:t>PV: what the platform provisioned</a:t>
            </a:r>
          </a:p>
        </p:txBody>
      </p:sp>
      <p:sp>
        <p:nvSpPr>
          <p:cNvPr id="12" name="Rounded Rectangle 11"/>
          <p:cNvSpPr/>
          <p:nvPr/>
        </p:nvSpPr>
        <p:spPr>
          <a:xfrm>
            <a:off x="841248" y="3602736"/>
            <a:ext cx="5715000" cy="530352"/>
          </a:xfrm>
          <a:prstGeom prst="roundRect">
            <a:avLst>
              <a:gd name="adj" fmla="val 6000"/>
            </a:avLst>
          </a:prstGeom>
          <a:solidFill>
            <a:srgbClr val="F5F6F8"/>
          </a:solidFill>
          <a:ln w="12700">
            <a:solidFill>
              <a:srgbClr val="DDE1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3" name="Picture 12" descr="check_steel.png"/>
          <p:cNvPicPr>
            <a:picLocks noChangeAspect="1"/>
          </p:cNvPicPr>
          <p:nvPr/>
        </p:nvPicPr>
        <p:blipFill>
          <a:blip r:embed="rId3"/>
          <a:stretch>
            <a:fillRect/>
          </a:stretch>
        </p:blipFill>
        <p:spPr>
          <a:xfrm>
            <a:off x="987552" y="3749040"/>
            <a:ext cx="237744" cy="237744"/>
          </a:xfrm>
          <a:prstGeom prst="rect">
            <a:avLst/>
          </a:prstGeom>
        </p:spPr>
      </p:pic>
      <p:sp>
        <p:nvSpPr>
          <p:cNvPr id="14" name="TextBox 13"/>
          <p:cNvSpPr txBox="1"/>
          <p:nvPr/>
        </p:nvSpPr>
        <p:spPr>
          <a:xfrm>
            <a:off x="1353312" y="3602736"/>
            <a:ext cx="5029200" cy="530352"/>
          </a:xfrm>
          <a:prstGeom prst="rect">
            <a:avLst/>
          </a:prstGeom>
          <a:noFill/>
        </p:spPr>
        <p:txBody>
          <a:bodyPr wrap="square" anchor="ctr" lIns="0" rIns="0" tIns="0" bIns="0">
            <a:spAutoFit/>
          </a:bodyPr>
          <a:lstStyle/>
          <a:p>
            <a:pPr algn="l">
              <a:lnSpc>
                <a:spcPct val="106000"/>
              </a:lnSpc>
              <a:spcBef>
                <a:spcPts val="0"/>
              </a:spcBef>
              <a:spcAft>
                <a:spcPts val="0"/>
              </a:spcAft>
            </a:pPr>
            <a:r>
              <a:rPr sz="1200" b="0">
                <a:solidFill>
                  <a:srgbClr val="1A1A1A"/>
                </a:solidFill>
                <a:latin typeface="Red Hat Text"/>
              </a:rPr>
              <a:t>StorageClass: the recipe it followed</a:t>
            </a:r>
          </a:p>
        </p:txBody>
      </p:sp>
      <p:sp>
        <p:nvSpPr>
          <p:cNvPr id="15" name="Rounded Rectangle 14"/>
          <p:cNvSpPr/>
          <p:nvPr/>
        </p:nvSpPr>
        <p:spPr>
          <a:xfrm>
            <a:off x="841248" y="4206240"/>
            <a:ext cx="5715000" cy="530352"/>
          </a:xfrm>
          <a:prstGeom prst="roundRect">
            <a:avLst>
              <a:gd name="adj" fmla="val 6000"/>
            </a:avLst>
          </a:prstGeom>
          <a:solidFill>
            <a:srgbClr val="F5F6F8"/>
          </a:solidFill>
          <a:ln w="12700">
            <a:solidFill>
              <a:srgbClr val="DDE1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6" name="Picture 15" descr="check_steel.png"/>
          <p:cNvPicPr>
            <a:picLocks noChangeAspect="1"/>
          </p:cNvPicPr>
          <p:nvPr/>
        </p:nvPicPr>
        <p:blipFill>
          <a:blip r:embed="rId3"/>
          <a:stretch>
            <a:fillRect/>
          </a:stretch>
        </p:blipFill>
        <p:spPr>
          <a:xfrm>
            <a:off x="987552" y="4352544"/>
            <a:ext cx="237744" cy="237744"/>
          </a:xfrm>
          <a:prstGeom prst="rect">
            <a:avLst/>
          </a:prstGeom>
        </p:spPr>
      </p:pic>
      <p:sp>
        <p:nvSpPr>
          <p:cNvPr id="17" name="TextBox 16"/>
          <p:cNvSpPr txBox="1"/>
          <p:nvPr/>
        </p:nvSpPr>
        <p:spPr>
          <a:xfrm>
            <a:off x="1353312" y="4206240"/>
            <a:ext cx="5029200" cy="530352"/>
          </a:xfrm>
          <a:prstGeom prst="rect">
            <a:avLst/>
          </a:prstGeom>
          <a:noFill/>
        </p:spPr>
        <p:txBody>
          <a:bodyPr wrap="square" anchor="ctr" lIns="0" rIns="0" tIns="0" bIns="0">
            <a:spAutoFit/>
          </a:bodyPr>
          <a:lstStyle/>
          <a:p>
            <a:pPr algn="l">
              <a:lnSpc>
                <a:spcPct val="106000"/>
              </a:lnSpc>
              <a:spcBef>
                <a:spcPts val="0"/>
              </a:spcBef>
              <a:spcAft>
                <a:spcPts val="0"/>
              </a:spcAft>
            </a:pPr>
            <a:r>
              <a:rPr sz="1200" b="0">
                <a:solidFill>
                  <a:srgbClr val="1A1A1A"/>
                </a:solidFill>
                <a:latin typeface="Red Hat Text"/>
              </a:rPr>
              <a:t>Dynamic provisioning: request becomes disk</a:t>
            </a:r>
          </a:p>
        </p:txBody>
      </p:sp>
      <p:sp>
        <p:nvSpPr>
          <p:cNvPr id="18" name="Rounded Rectangle 17"/>
          <p:cNvSpPr/>
          <p:nvPr/>
        </p:nvSpPr>
        <p:spPr>
          <a:xfrm>
            <a:off x="841248" y="4809744"/>
            <a:ext cx="5715000" cy="530352"/>
          </a:xfrm>
          <a:prstGeom prst="roundRect">
            <a:avLst>
              <a:gd name="adj" fmla="val 6000"/>
            </a:avLst>
          </a:prstGeom>
          <a:solidFill>
            <a:srgbClr val="F5F6F8"/>
          </a:solidFill>
          <a:ln w="12700">
            <a:solidFill>
              <a:srgbClr val="DDE1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9" name="Picture 18" descr="check_steel.png"/>
          <p:cNvPicPr>
            <a:picLocks noChangeAspect="1"/>
          </p:cNvPicPr>
          <p:nvPr/>
        </p:nvPicPr>
        <p:blipFill>
          <a:blip r:embed="rId3"/>
          <a:stretch>
            <a:fillRect/>
          </a:stretch>
        </p:blipFill>
        <p:spPr>
          <a:xfrm>
            <a:off x="987552" y="4956048"/>
            <a:ext cx="237744" cy="237744"/>
          </a:xfrm>
          <a:prstGeom prst="rect">
            <a:avLst/>
          </a:prstGeom>
        </p:spPr>
      </p:pic>
      <p:sp>
        <p:nvSpPr>
          <p:cNvPr id="20" name="TextBox 19"/>
          <p:cNvSpPr txBox="1"/>
          <p:nvPr/>
        </p:nvSpPr>
        <p:spPr>
          <a:xfrm>
            <a:off x="1353312" y="4809744"/>
            <a:ext cx="5029200" cy="530352"/>
          </a:xfrm>
          <a:prstGeom prst="rect">
            <a:avLst/>
          </a:prstGeom>
          <a:noFill/>
        </p:spPr>
        <p:txBody>
          <a:bodyPr wrap="square" anchor="ctr" lIns="0" rIns="0" tIns="0" bIns="0">
            <a:spAutoFit/>
          </a:bodyPr>
          <a:lstStyle/>
          <a:p>
            <a:pPr algn="l">
              <a:lnSpc>
                <a:spcPct val="106000"/>
              </a:lnSpc>
              <a:spcBef>
                <a:spcPts val="0"/>
              </a:spcBef>
              <a:spcAft>
                <a:spcPts val="0"/>
              </a:spcAft>
            </a:pPr>
            <a:r>
              <a:rPr sz="1200" b="0">
                <a:solidFill>
                  <a:srgbClr val="1A1A1A"/>
                </a:solidFill>
                <a:latin typeface="Red Hat Text"/>
              </a:rPr>
              <a:t>You write PVCs, never disks</a:t>
            </a:r>
          </a:p>
        </p:txBody>
      </p:sp>
      <p:sp>
        <p:nvSpPr>
          <p:cNvPr id="21" name="Rounded Rectangle 20"/>
          <p:cNvSpPr/>
          <p:nvPr/>
        </p:nvSpPr>
        <p:spPr>
          <a:xfrm>
            <a:off x="6812280" y="2395728"/>
            <a:ext cx="4538167" cy="2944368"/>
          </a:xfrm>
          <a:prstGeom prst="roundRect">
            <a:avLst>
              <a:gd name="adj" fmla="val 4000"/>
            </a:avLst>
          </a:prstGeom>
          <a:solidFill>
            <a:srgbClr val="FFFFFF"/>
          </a:solidFill>
          <a:ln w="15240">
            <a:solidFill>
              <a:srgbClr val="DDE1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ounded Rectangle 21"/>
          <p:cNvSpPr/>
          <p:nvPr/>
        </p:nvSpPr>
        <p:spPr>
          <a:xfrm>
            <a:off x="7013448" y="2596896"/>
            <a:ext cx="1298448" cy="310896"/>
          </a:xfrm>
          <a:prstGeom prst="roundRect">
            <a:avLst>
              <a:gd name="adj" fmla="val 50000"/>
            </a:avLst>
          </a:prstGeom>
          <a:solidFill>
            <a:srgbClr val="FCEC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7013448" y="2596896"/>
            <a:ext cx="1298448" cy="310896"/>
          </a:xfrm>
          <a:prstGeom prst="rect">
            <a:avLst/>
          </a:prstGeom>
          <a:noFill/>
        </p:spPr>
        <p:txBody>
          <a:bodyPr wrap="none" anchor="ctr" lIns="0" rIns="0" tIns="0" bIns="0">
            <a:spAutoFit/>
          </a:bodyPr>
          <a:lstStyle/>
          <a:p>
            <a:pPr algn="ctr">
              <a:lnSpc>
                <a:spcPct val="106000"/>
              </a:lnSpc>
              <a:spcBef>
                <a:spcPts val="0"/>
              </a:spcBef>
              <a:spcAft>
                <a:spcPts val="0"/>
              </a:spcAft>
            </a:pPr>
            <a:r>
              <a:rPr sz="850" b="1">
                <a:solidFill>
                  <a:srgbClr val="B80000"/>
                </a:solidFill>
                <a:latin typeface="Red Hat Display"/>
              </a:rPr>
              <a:t>MEDIA PASS</a:t>
            </a:r>
          </a:p>
        </p:txBody>
      </p:sp>
      <p:pic>
        <p:nvPicPr>
          <p:cNvPr id="24" name="Picture 23" descr="eye_slate.png"/>
          <p:cNvPicPr>
            <a:picLocks noChangeAspect="1"/>
          </p:cNvPicPr>
          <p:nvPr/>
        </p:nvPicPr>
        <p:blipFill>
          <a:blip r:embed="rId4"/>
          <a:stretch>
            <a:fillRect/>
          </a:stretch>
        </p:blipFill>
        <p:spPr>
          <a:xfrm>
            <a:off x="8843619" y="3108960"/>
            <a:ext cx="475488" cy="475488"/>
          </a:xfrm>
          <a:prstGeom prst="rect">
            <a:avLst/>
          </a:prstGeom>
        </p:spPr>
      </p:pic>
      <p:sp>
        <p:nvSpPr>
          <p:cNvPr id="25" name="TextBox 24"/>
          <p:cNvSpPr txBox="1"/>
          <p:nvPr/>
        </p:nvSpPr>
        <p:spPr>
          <a:xfrm>
            <a:off x="7050024" y="3721608"/>
            <a:ext cx="4062679" cy="1481328"/>
          </a:xfrm>
          <a:prstGeom prst="rect">
            <a:avLst/>
          </a:prstGeom>
          <a:noFill/>
        </p:spPr>
        <p:txBody>
          <a:bodyPr wrap="square" anchor="t" lIns="0" rIns="0" tIns="0" bIns="0">
            <a:spAutoFit/>
          </a:bodyPr>
          <a:lstStyle/>
          <a:p>
            <a:pPr algn="l">
              <a:lnSpc>
                <a:spcPct val="120000"/>
              </a:lnSpc>
              <a:spcBef>
                <a:spcPts val="0"/>
              </a:spcBef>
              <a:spcAft>
                <a:spcPts val="0"/>
              </a:spcAft>
            </a:pPr>
            <a:r>
              <a:rPr sz="950" b="0">
                <a:solidFill>
                  <a:srgbClr val="8A9099"/>
                </a:solidFill>
                <a:latin typeface="Red Hat Text"/>
              </a:rPr>
              <a:t>Reuse concept diagram storage-stateful-...-01-storage-chain.svg — Pod → PVC (namespace) → PV (cluster) → StorageClass → storage backend (Ceph).</a:t>
            </a:r>
          </a:p>
        </p:txBody>
      </p:sp>
      <p:cxnSp>
        <p:nvCxnSpPr>
          <p:cNvPr id="26" name="Connector 25"/>
          <p:cNvCxnSpPr/>
          <p:nvPr/>
        </p:nvCxnSpPr>
        <p:spPr>
          <a:xfrm>
            <a:off x="841248" y="6437376"/>
            <a:ext cx="10509199" cy="0"/>
          </a:xfrm>
          <a:prstGeom prst="bentConnector3">
            <a:avLst/>
          </a:prstGeom>
          <a:ln w="12700">
            <a:solidFill>
              <a:srgbClr val="DDE1E6"/>
            </a:solidFill>
          </a:ln>
          <a:effectLst/>
        </p:spPr>
        <p:style>
          <a:lnRef idx="2">
            <a:schemeClr val="accent1"/>
          </a:lnRef>
          <a:fillRef idx="0">
            <a:schemeClr val="accent1"/>
          </a:fillRef>
          <a:effectRef idx="1">
            <a:schemeClr val="accent1"/>
          </a:effectRef>
          <a:fontRef idx="minor">
            <a:schemeClr val="tx1"/>
          </a:fontRef>
        </p:style>
      </p:cxnSp>
      <p:sp>
        <p:nvSpPr>
          <p:cNvPr id="27" name="TextBox 26"/>
          <p:cNvSpPr txBox="1"/>
          <p:nvPr/>
        </p:nvSpPr>
        <p:spPr>
          <a:xfrm>
            <a:off x="841248" y="6473952"/>
            <a:ext cx="7315200" cy="274320"/>
          </a:xfrm>
          <a:prstGeom prst="rect">
            <a:avLst/>
          </a:prstGeom>
          <a:noFill/>
        </p:spPr>
        <p:txBody>
          <a:bodyPr wrap="square" anchor="t" lIns="0" rIns="0" tIns="0" bIns="0">
            <a:spAutoFit/>
          </a:bodyPr>
          <a:lstStyle/>
          <a:p>
            <a:pPr algn="l">
              <a:lnSpc>
                <a:spcPct val="106000"/>
              </a:lnSpc>
              <a:spcBef>
                <a:spcPts val="0"/>
              </a:spcBef>
              <a:spcAft>
                <a:spcPts val="0"/>
              </a:spcAft>
            </a:pPr>
            <a:r>
              <a:rPr sz="950" b="0">
                <a:solidFill>
                  <a:srgbClr val="8A9099"/>
                </a:solidFill>
                <a:latin typeface="Red Hat Text"/>
              </a:rPr>
              <a:t>CONFIDENTIAL</a:t>
            </a:r>
          </a:p>
        </p:txBody>
      </p:sp>
      <p:sp>
        <p:nvSpPr>
          <p:cNvPr id="28" name="TextBox 27"/>
          <p:cNvSpPr txBox="1"/>
          <p:nvPr/>
        </p:nvSpPr>
        <p:spPr>
          <a:xfrm>
            <a:off x="10801807" y="6473952"/>
            <a:ext cx="548640" cy="274320"/>
          </a:xfrm>
          <a:prstGeom prst="rect">
            <a:avLst/>
          </a:prstGeom>
          <a:noFill/>
        </p:spPr>
        <p:txBody>
          <a:bodyPr wrap="square" anchor="t" lIns="0" rIns="0" tIns="0" bIns="0">
            <a:spAutoFit/>
          </a:bodyPr>
          <a:lstStyle/>
          <a:p>
            <a:pPr algn="r">
              <a:lnSpc>
                <a:spcPct val="106000"/>
              </a:lnSpc>
              <a:spcBef>
                <a:spcPts val="0"/>
              </a:spcBef>
              <a:spcAft>
                <a:spcPts val="0"/>
              </a:spcAft>
            </a:pPr>
            <a:r>
              <a:rPr sz="950" b="0">
                <a:solidFill>
                  <a:srgbClr val="8A9099"/>
                </a:solidFill>
                <a:latin typeface="Red Hat Text"/>
              </a:rPr>
              <a:t>30</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redhat_logo.jpg"/>
          <p:cNvPicPr>
            <a:picLocks noChangeAspect="1"/>
          </p:cNvPicPr>
          <p:nvPr/>
        </p:nvPicPr>
        <p:blipFill>
          <a:blip r:embed="rId2"/>
          <a:stretch>
            <a:fillRect/>
          </a:stretch>
        </p:blipFill>
        <p:spPr>
          <a:xfrm>
            <a:off x="10326319" y="475488"/>
            <a:ext cx="1024128" cy="242248"/>
          </a:xfrm>
          <a:prstGeom prst="rect">
            <a:avLst/>
          </a:prstGeom>
        </p:spPr>
      </p:pic>
      <p:sp>
        <p:nvSpPr>
          <p:cNvPr id="3" name="TextBox 2"/>
          <p:cNvSpPr txBox="1"/>
          <p:nvPr/>
        </p:nvSpPr>
        <p:spPr>
          <a:xfrm>
            <a:off x="841248" y="548640"/>
            <a:ext cx="8595360" cy="274320"/>
          </a:xfrm>
          <a:prstGeom prst="rect">
            <a:avLst/>
          </a:prstGeom>
          <a:noFill/>
        </p:spPr>
        <p:txBody>
          <a:bodyPr wrap="square" anchor="t" lIns="0" rIns="0" tIns="0" bIns="0">
            <a:spAutoFit/>
          </a:bodyPr>
          <a:lstStyle/>
          <a:p>
            <a:pPr algn="l">
              <a:lnSpc>
                <a:spcPct val="106000"/>
              </a:lnSpc>
              <a:spcBef>
                <a:spcPts val="0"/>
              </a:spcBef>
              <a:spcAft>
                <a:spcPts val="0"/>
              </a:spcAft>
            </a:pPr>
            <a:r>
              <a:rPr sz="1250" b="1" spc="220">
                <a:solidFill>
                  <a:srgbClr val="EE0000"/>
                </a:solidFill>
                <a:latin typeface="Red Hat Display"/>
              </a:rPr>
              <a:t>M05 · STORAGE &amp; STATEFUL APPS</a:t>
            </a:r>
          </a:p>
        </p:txBody>
      </p:sp>
      <p:sp>
        <p:nvSpPr>
          <p:cNvPr id="4" name="TextBox 3"/>
          <p:cNvSpPr txBox="1"/>
          <p:nvPr/>
        </p:nvSpPr>
        <p:spPr>
          <a:xfrm>
            <a:off x="841248" y="877824"/>
            <a:ext cx="10515600" cy="548640"/>
          </a:xfrm>
          <a:prstGeom prst="rect">
            <a:avLst/>
          </a:prstGeom>
          <a:noFill/>
        </p:spPr>
        <p:txBody>
          <a:bodyPr wrap="none" anchor="t" lIns="0" rIns="0" tIns="0" bIns="0">
            <a:spAutoFit/>
          </a:bodyPr>
          <a:lstStyle/>
          <a:p>
            <a:pPr algn="l">
              <a:lnSpc>
                <a:spcPct val="100000"/>
              </a:lnSpc>
              <a:spcBef>
                <a:spcPts val="0"/>
              </a:spcBef>
              <a:spcAft>
                <a:spcPts val="0"/>
              </a:spcAft>
            </a:pPr>
            <a:r>
              <a:rPr sz="2500" b="1">
                <a:solidFill>
                  <a:srgbClr val="1A1A1A"/>
                </a:solidFill>
                <a:latin typeface="Red Hat Display"/>
              </a:rPr>
              <a:t>Ephemeral vs persistent is a property of</a:t>
            </a:r>
          </a:p>
        </p:txBody>
      </p:sp>
      <p:cxnSp>
        <p:nvCxnSpPr>
          <p:cNvPr id="5" name="Connector 4"/>
          <p:cNvCxnSpPr/>
          <p:nvPr/>
        </p:nvCxnSpPr>
        <p:spPr>
          <a:xfrm>
            <a:off x="841248" y="1554480"/>
            <a:ext cx="1371600" cy="0"/>
          </a:xfrm>
          <a:prstGeom prst="bentConnector3">
            <a:avLst/>
          </a:prstGeom>
          <a:ln w="31750">
            <a:solidFill>
              <a:srgbClr val="EE0000"/>
            </a:solidFill>
          </a:ln>
          <a:effectLst/>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841248" y="1664208"/>
            <a:ext cx="10515600" cy="365760"/>
          </a:xfrm>
          <a:prstGeom prst="rect">
            <a:avLst/>
          </a:prstGeom>
          <a:noFill/>
        </p:spPr>
        <p:txBody>
          <a:bodyPr wrap="square" anchor="t" lIns="0" rIns="0" tIns="0" bIns="0">
            <a:spAutoFit/>
          </a:bodyPr>
          <a:lstStyle/>
          <a:p>
            <a:pPr algn="l">
              <a:lnSpc>
                <a:spcPct val="106000"/>
              </a:lnSpc>
              <a:spcBef>
                <a:spcPts val="0"/>
              </a:spcBef>
              <a:spcAft>
                <a:spcPts val="0"/>
              </a:spcAft>
            </a:pPr>
            <a:r>
              <a:rPr sz="1350" b="0">
                <a:solidFill>
                  <a:srgbClr val="555960"/>
                </a:solidFill>
                <a:latin typeface="Red Hat Text"/>
              </a:rPr>
              <a:t>the volume</a:t>
            </a:r>
          </a:p>
        </p:txBody>
      </p:sp>
      <p:sp>
        <p:nvSpPr>
          <p:cNvPr id="7" name="Rounded Rectangle 6"/>
          <p:cNvSpPr/>
          <p:nvPr/>
        </p:nvSpPr>
        <p:spPr>
          <a:xfrm>
            <a:off x="841248" y="2670048"/>
            <a:ext cx="5715000" cy="530352"/>
          </a:xfrm>
          <a:prstGeom prst="roundRect">
            <a:avLst>
              <a:gd name="adj" fmla="val 6000"/>
            </a:avLst>
          </a:prstGeom>
          <a:solidFill>
            <a:srgbClr val="F5F6F8"/>
          </a:solidFill>
          <a:ln w="12700">
            <a:solidFill>
              <a:srgbClr val="DDE1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check_steel.png"/>
          <p:cNvPicPr>
            <a:picLocks noChangeAspect="1"/>
          </p:cNvPicPr>
          <p:nvPr/>
        </p:nvPicPr>
        <p:blipFill>
          <a:blip r:embed="rId3"/>
          <a:stretch>
            <a:fillRect/>
          </a:stretch>
        </p:blipFill>
        <p:spPr>
          <a:xfrm>
            <a:off x="987552" y="2816352"/>
            <a:ext cx="237744" cy="237744"/>
          </a:xfrm>
          <a:prstGeom prst="rect">
            <a:avLst/>
          </a:prstGeom>
        </p:spPr>
      </p:pic>
      <p:sp>
        <p:nvSpPr>
          <p:cNvPr id="9" name="TextBox 8"/>
          <p:cNvSpPr txBox="1"/>
          <p:nvPr/>
        </p:nvSpPr>
        <p:spPr>
          <a:xfrm>
            <a:off x="1353312" y="2670048"/>
            <a:ext cx="5029200" cy="530352"/>
          </a:xfrm>
          <a:prstGeom prst="rect">
            <a:avLst/>
          </a:prstGeom>
          <a:noFill/>
        </p:spPr>
        <p:txBody>
          <a:bodyPr wrap="square" anchor="ctr" lIns="0" rIns="0" tIns="0" bIns="0">
            <a:spAutoFit/>
          </a:bodyPr>
          <a:lstStyle/>
          <a:p>
            <a:pPr algn="l">
              <a:lnSpc>
                <a:spcPct val="106000"/>
              </a:lnSpc>
              <a:spcBef>
                <a:spcPts val="0"/>
              </a:spcBef>
              <a:spcAft>
                <a:spcPts val="0"/>
              </a:spcAft>
            </a:pPr>
            <a:r>
              <a:rPr sz="1200" b="0">
                <a:solidFill>
                  <a:srgbClr val="1A1A1A"/>
                </a:solidFill>
                <a:latin typeface="Red Hat Text"/>
              </a:rPr>
              <a:t>emptyDir: lives and dies with the Pod</a:t>
            </a:r>
          </a:p>
        </p:txBody>
      </p:sp>
      <p:sp>
        <p:nvSpPr>
          <p:cNvPr id="10" name="Rounded Rectangle 9"/>
          <p:cNvSpPr/>
          <p:nvPr/>
        </p:nvSpPr>
        <p:spPr>
          <a:xfrm>
            <a:off x="841248" y="3273552"/>
            <a:ext cx="5715000" cy="530352"/>
          </a:xfrm>
          <a:prstGeom prst="roundRect">
            <a:avLst>
              <a:gd name="adj" fmla="val 6000"/>
            </a:avLst>
          </a:prstGeom>
          <a:solidFill>
            <a:srgbClr val="F5F6F8"/>
          </a:solidFill>
          <a:ln w="12700">
            <a:solidFill>
              <a:srgbClr val="DDE1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1" name="Picture 10" descr="check_steel.png"/>
          <p:cNvPicPr>
            <a:picLocks noChangeAspect="1"/>
          </p:cNvPicPr>
          <p:nvPr/>
        </p:nvPicPr>
        <p:blipFill>
          <a:blip r:embed="rId3"/>
          <a:stretch>
            <a:fillRect/>
          </a:stretch>
        </p:blipFill>
        <p:spPr>
          <a:xfrm>
            <a:off x="987552" y="3419856"/>
            <a:ext cx="237744" cy="237744"/>
          </a:xfrm>
          <a:prstGeom prst="rect">
            <a:avLst/>
          </a:prstGeom>
        </p:spPr>
      </p:pic>
      <p:sp>
        <p:nvSpPr>
          <p:cNvPr id="12" name="TextBox 11"/>
          <p:cNvSpPr txBox="1"/>
          <p:nvPr/>
        </p:nvSpPr>
        <p:spPr>
          <a:xfrm>
            <a:off x="1353312" y="3273552"/>
            <a:ext cx="5029200" cy="530352"/>
          </a:xfrm>
          <a:prstGeom prst="rect">
            <a:avLst/>
          </a:prstGeom>
          <a:noFill/>
        </p:spPr>
        <p:txBody>
          <a:bodyPr wrap="square" anchor="ctr" lIns="0" rIns="0" tIns="0" bIns="0">
            <a:spAutoFit/>
          </a:bodyPr>
          <a:lstStyle/>
          <a:p>
            <a:pPr algn="l">
              <a:lnSpc>
                <a:spcPct val="106000"/>
              </a:lnSpc>
              <a:spcBef>
                <a:spcPts val="0"/>
              </a:spcBef>
              <a:spcAft>
                <a:spcPts val="0"/>
              </a:spcAft>
            </a:pPr>
            <a:r>
              <a:rPr sz="1200" b="0">
                <a:solidFill>
                  <a:srgbClr val="1A1A1A"/>
                </a:solidFill>
                <a:latin typeface="Red Hat Text"/>
              </a:rPr>
              <a:t>PVC: outlives the Pod, cluster-managed</a:t>
            </a:r>
          </a:p>
        </p:txBody>
      </p:sp>
      <p:sp>
        <p:nvSpPr>
          <p:cNvPr id="13" name="Rounded Rectangle 12"/>
          <p:cNvSpPr/>
          <p:nvPr/>
        </p:nvSpPr>
        <p:spPr>
          <a:xfrm>
            <a:off x="841248" y="3877056"/>
            <a:ext cx="5715000" cy="530352"/>
          </a:xfrm>
          <a:prstGeom prst="roundRect">
            <a:avLst>
              <a:gd name="adj" fmla="val 6000"/>
            </a:avLst>
          </a:prstGeom>
          <a:solidFill>
            <a:srgbClr val="F5F6F8"/>
          </a:solidFill>
          <a:ln w="12700">
            <a:solidFill>
              <a:srgbClr val="DDE1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4" name="Picture 13" descr="check_steel.png"/>
          <p:cNvPicPr>
            <a:picLocks noChangeAspect="1"/>
          </p:cNvPicPr>
          <p:nvPr/>
        </p:nvPicPr>
        <p:blipFill>
          <a:blip r:embed="rId3"/>
          <a:stretch>
            <a:fillRect/>
          </a:stretch>
        </p:blipFill>
        <p:spPr>
          <a:xfrm>
            <a:off x="987552" y="4023360"/>
            <a:ext cx="237744" cy="237744"/>
          </a:xfrm>
          <a:prstGeom prst="rect">
            <a:avLst/>
          </a:prstGeom>
        </p:spPr>
      </p:pic>
      <p:sp>
        <p:nvSpPr>
          <p:cNvPr id="15" name="TextBox 14"/>
          <p:cNvSpPr txBox="1"/>
          <p:nvPr/>
        </p:nvSpPr>
        <p:spPr>
          <a:xfrm>
            <a:off x="1353312" y="3877056"/>
            <a:ext cx="5029200" cy="530352"/>
          </a:xfrm>
          <a:prstGeom prst="rect">
            <a:avLst/>
          </a:prstGeom>
          <a:noFill/>
        </p:spPr>
        <p:txBody>
          <a:bodyPr wrap="square" anchor="ctr" lIns="0" rIns="0" tIns="0" bIns="0">
            <a:spAutoFit/>
          </a:bodyPr>
          <a:lstStyle/>
          <a:p>
            <a:pPr algn="l">
              <a:lnSpc>
                <a:spcPct val="106000"/>
              </a:lnSpc>
              <a:spcBef>
                <a:spcPts val="0"/>
              </a:spcBef>
              <a:spcAft>
                <a:spcPts val="0"/>
              </a:spcAft>
            </a:pPr>
            <a:r>
              <a:rPr sz="1200" b="0">
                <a:solidFill>
                  <a:srgbClr val="1A1A1A"/>
                </a:solidFill>
                <a:latin typeface="Red Hat Text"/>
              </a:rPr>
              <a:t>Same app, same DB, different volume</a:t>
            </a:r>
          </a:p>
        </p:txBody>
      </p:sp>
      <p:sp>
        <p:nvSpPr>
          <p:cNvPr id="16" name="Rounded Rectangle 15"/>
          <p:cNvSpPr/>
          <p:nvPr/>
        </p:nvSpPr>
        <p:spPr>
          <a:xfrm>
            <a:off x="841248" y="4480560"/>
            <a:ext cx="5715000" cy="530352"/>
          </a:xfrm>
          <a:prstGeom prst="roundRect">
            <a:avLst>
              <a:gd name="adj" fmla="val 6000"/>
            </a:avLst>
          </a:prstGeom>
          <a:solidFill>
            <a:srgbClr val="F5F6F8"/>
          </a:solidFill>
          <a:ln w="12700">
            <a:solidFill>
              <a:srgbClr val="DDE1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7" name="Picture 16" descr="check_steel.png"/>
          <p:cNvPicPr>
            <a:picLocks noChangeAspect="1"/>
          </p:cNvPicPr>
          <p:nvPr/>
        </p:nvPicPr>
        <p:blipFill>
          <a:blip r:embed="rId3"/>
          <a:stretch>
            <a:fillRect/>
          </a:stretch>
        </p:blipFill>
        <p:spPr>
          <a:xfrm>
            <a:off x="987552" y="4626864"/>
            <a:ext cx="237744" cy="237744"/>
          </a:xfrm>
          <a:prstGeom prst="rect">
            <a:avLst/>
          </a:prstGeom>
        </p:spPr>
      </p:pic>
      <p:sp>
        <p:nvSpPr>
          <p:cNvPr id="18" name="TextBox 17"/>
          <p:cNvSpPr txBox="1"/>
          <p:nvPr/>
        </p:nvSpPr>
        <p:spPr>
          <a:xfrm>
            <a:off x="1353312" y="4480560"/>
            <a:ext cx="5029200" cy="530352"/>
          </a:xfrm>
          <a:prstGeom prst="rect">
            <a:avLst/>
          </a:prstGeom>
          <a:noFill/>
        </p:spPr>
        <p:txBody>
          <a:bodyPr wrap="square" anchor="ctr" lIns="0" rIns="0" tIns="0" bIns="0">
            <a:spAutoFit/>
          </a:bodyPr>
          <a:lstStyle/>
          <a:p>
            <a:pPr algn="l">
              <a:lnSpc>
                <a:spcPct val="106000"/>
              </a:lnSpc>
              <a:spcBef>
                <a:spcPts val="0"/>
              </a:spcBef>
              <a:spcAft>
                <a:spcPts val="0"/>
              </a:spcAft>
            </a:pPr>
            <a:r>
              <a:rPr sz="1200" b="0">
                <a:solidFill>
                  <a:srgbClr val="1A1A1A"/>
                </a:solidFill>
                <a:latin typeface="Red Hat Text"/>
              </a:rPr>
              <a:t>Change the volume, change the outcome</a:t>
            </a:r>
          </a:p>
        </p:txBody>
      </p:sp>
      <p:sp>
        <p:nvSpPr>
          <p:cNvPr id="19" name="Rounded Rectangle 18"/>
          <p:cNvSpPr/>
          <p:nvPr/>
        </p:nvSpPr>
        <p:spPr>
          <a:xfrm>
            <a:off x="841248" y="5084064"/>
            <a:ext cx="5715000" cy="530352"/>
          </a:xfrm>
          <a:prstGeom prst="roundRect">
            <a:avLst>
              <a:gd name="adj" fmla="val 6000"/>
            </a:avLst>
          </a:prstGeom>
          <a:solidFill>
            <a:srgbClr val="F5F6F8"/>
          </a:solidFill>
          <a:ln w="12700">
            <a:solidFill>
              <a:srgbClr val="DDE1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0" name="Picture 19" descr="check_steel.png"/>
          <p:cNvPicPr>
            <a:picLocks noChangeAspect="1"/>
          </p:cNvPicPr>
          <p:nvPr/>
        </p:nvPicPr>
        <p:blipFill>
          <a:blip r:embed="rId3"/>
          <a:stretch>
            <a:fillRect/>
          </a:stretch>
        </p:blipFill>
        <p:spPr>
          <a:xfrm>
            <a:off x="987552" y="5230368"/>
            <a:ext cx="237744" cy="237744"/>
          </a:xfrm>
          <a:prstGeom prst="rect">
            <a:avLst/>
          </a:prstGeom>
        </p:spPr>
      </p:pic>
      <p:sp>
        <p:nvSpPr>
          <p:cNvPr id="21" name="TextBox 20"/>
          <p:cNvSpPr txBox="1"/>
          <p:nvPr/>
        </p:nvSpPr>
        <p:spPr>
          <a:xfrm>
            <a:off x="1353312" y="5084064"/>
            <a:ext cx="5029200" cy="530352"/>
          </a:xfrm>
          <a:prstGeom prst="rect">
            <a:avLst/>
          </a:prstGeom>
          <a:noFill/>
        </p:spPr>
        <p:txBody>
          <a:bodyPr wrap="square" anchor="ctr" lIns="0" rIns="0" tIns="0" bIns="0">
            <a:spAutoFit/>
          </a:bodyPr>
          <a:lstStyle/>
          <a:p>
            <a:pPr algn="l">
              <a:lnSpc>
                <a:spcPct val="106000"/>
              </a:lnSpc>
              <a:spcBef>
                <a:spcPts val="0"/>
              </a:spcBef>
              <a:spcAft>
                <a:spcPts val="0"/>
              </a:spcAft>
            </a:pPr>
            <a:r>
              <a:rPr sz="1200" b="0">
                <a:solidFill>
                  <a:srgbClr val="1A1A1A"/>
                </a:solidFill>
                <a:latin typeface="Red Hat Text"/>
              </a:rPr>
              <a:t>WaitForFirstConsumer: Pending is not broken</a:t>
            </a:r>
          </a:p>
        </p:txBody>
      </p:sp>
      <p:sp>
        <p:nvSpPr>
          <p:cNvPr id="22" name="Rounded Rectangle 21"/>
          <p:cNvSpPr/>
          <p:nvPr/>
        </p:nvSpPr>
        <p:spPr>
          <a:xfrm>
            <a:off x="6812280" y="2670048"/>
            <a:ext cx="4538167" cy="2944368"/>
          </a:xfrm>
          <a:prstGeom prst="roundRect">
            <a:avLst>
              <a:gd name="adj" fmla="val 4000"/>
            </a:avLst>
          </a:prstGeom>
          <a:solidFill>
            <a:srgbClr val="FFFFFF"/>
          </a:solidFill>
          <a:ln w="15240">
            <a:solidFill>
              <a:srgbClr val="DDE1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ounded Rectangle 22"/>
          <p:cNvSpPr/>
          <p:nvPr/>
        </p:nvSpPr>
        <p:spPr>
          <a:xfrm>
            <a:off x="7013448" y="2871216"/>
            <a:ext cx="1298448" cy="310896"/>
          </a:xfrm>
          <a:prstGeom prst="roundRect">
            <a:avLst>
              <a:gd name="adj" fmla="val 50000"/>
            </a:avLst>
          </a:prstGeom>
          <a:solidFill>
            <a:srgbClr val="FCEC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7013448" y="2871216"/>
            <a:ext cx="1298448" cy="310896"/>
          </a:xfrm>
          <a:prstGeom prst="rect">
            <a:avLst/>
          </a:prstGeom>
          <a:noFill/>
        </p:spPr>
        <p:txBody>
          <a:bodyPr wrap="none" anchor="ctr" lIns="0" rIns="0" tIns="0" bIns="0">
            <a:spAutoFit/>
          </a:bodyPr>
          <a:lstStyle/>
          <a:p>
            <a:pPr algn="ctr">
              <a:lnSpc>
                <a:spcPct val="106000"/>
              </a:lnSpc>
              <a:spcBef>
                <a:spcPts val="0"/>
              </a:spcBef>
              <a:spcAft>
                <a:spcPts val="0"/>
              </a:spcAft>
            </a:pPr>
            <a:r>
              <a:rPr sz="850" b="1">
                <a:solidFill>
                  <a:srgbClr val="B80000"/>
                </a:solidFill>
                <a:latin typeface="Red Hat Display"/>
              </a:rPr>
              <a:t>MEDIA PASS</a:t>
            </a:r>
          </a:p>
        </p:txBody>
      </p:sp>
      <p:pic>
        <p:nvPicPr>
          <p:cNvPr id="25" name="Picture 24" descr="eye_slate.png"/>
          <p:cNvPicPr>
            <a:picLocks noChangeAspect="1"/>
          </p:cNvPicPr>
          <p:nvPr/>
        </p:nvPicPr>
        <p:blipFill>
          <a:blip r:embed="rId4"/>
          <a:stretch>
            <a:fillRect/>
          </a:stretch>
        </p:blipFill>
        <p:spPr>
          <a:xfrm>
            <a:off x="8843619" y="3383280"/>
            <a:ext cx="475488" cy="475488"/>
          </a:xfrm>
          <a:prstGeom prst="rect">
            <a:avLst/>
          </a:prstGeom>
        </p:spPr>
      </p:pic>
      <p:sp>
        <p:nvSpPr>
          <p:cNvPr id="26" name="TextBox 25"/>
          <p:cNvSpPr txBox="1"/>
          <p:nvPr/>
        </p:nvSpPr>
        <p:spPr>
          <a:xfrm>
            <a:off x="7050024" y="3995928"/>
            <a:ext cx="4062679" cy="1481328"/>
          </a:xfrm>
          <a:prstGeom prst="rect">
            <a:avLst/>
          </a:prstGeom>
          <a:noFill/>
        </p:spPr>
        <p:txBody>
          <a:bodyPr wrap="square" anchor="t" lIns="0" rIns="0" tIns="0" bIns="0">
            <a:spAutoFit/>
          </a:bodyPr>
          <a:lstStyle/>
          <a:p>
            <a:pPr algn="l">
              <a:lnSpc>
                <a:spcPct val="120000"/>
              </a:lnSpc>
              <a:spcBef>
                <a:spcPts val="0"/>
              </a:spcBef>
              <a:spcAft>
                <a:spcPts val="0"/>
              </a:spcAft>
            </a:pPr>
            <a:r>
              <a:rPr sz="950" b="0">
                <a:solidFill>
                  <a:srgbClr val="8A9099"/>
                </a:solidFill>
                <a:latin typeface="Red Hat Text"/>
              </a:rPr>
              <a:t>Two identical DB Pods side by side — one on emptyDir (restart → empty), one on a PVC (restart → intact).</a:t>
            </a:r>
          </a:p>
        </p:txBody>
      </p:sp>
      <p:cxnSp>
        <p:nvCxnSpPr>
          <p:cNvPr id="27" name="Connector 26"/>
          <p:cNvCxnSpPr/>
          <p:nvPr/>
        </p:nvCxnSpPr>
        <p:spPr>
          <a:xfrm>
            <a:off x="841248" y="6437376"/>
            <a:ext cx="10509199" cy="0"/>
          </a:xfrm>
          <a:prstGeom prst="bentConnector3">
            <a:avLst/>
          </a:prstGeom>
          <a:ln w="12700">
            <a:solidFill>
              <a:srgbClr val="DDE1E6"/>
            </a:solidFill>
          </a:ln>
          <a:effectLst/>
        </p:spPr>
        <p:style>
          <a:lnRef idx="2">
            <a:schemeClr val="accent1"/>
          </a:lnRef>
          <a:fillRef idx="0">
            <a:schemeClr val="accent1"/>
          </a:fillRef>
          <a:effectRef idx="1">
            <a:schemeClr val="accent1"/>
          </a:effectRef>
          <a:fontRef idx="minor">
            <a:schemeClr val="tx1"/>
          </a:fontRef>
        </p:style>
      </p:cxnSp>
      <p:sp>
        <p:nvSpPr>
          <p:cNvPr id="28" name="TextBox 27"/>
          <p:cNvSpPr txBox="1"/>
          <p:nvPr/>
        </p:nvSpPr>
        <p:spPr>
          <a:xfrm>
            <a:off x="841248" y="6473952"/>
            <a:ext cx="7315200" cy="274320"/>
          </a:xfrm>
          <a:prstGeom prst="rect">
            <a:avLst/>
          </a:prstGeom>
          <a:noFill/>
        </p:spPr>
        <p:txBody>
          <a:bodyPr wrap="square" anchor="t" lIns="0" rIns="0" tIns="0" bIns="0">
            <a:spAutoFit/>
          </a:bodyPr>
          <a:lstStyle/>
          <a:p>
            <a:pPr algn="l">
              <a:lnSpc>
                <a:spcPct val="106000"/>
              </a:lnSpc>
              <a:spcBef>
                <a:spcPts val="0"/>
              </a:spcBef>
              <a:spcAft>
                <a:spcPts val="0"/>
              </a:spcAft>
            </a:pPr>
            <a:r>
              <a:rPr sz="950" b="0">
                <a:solidFill>
                  <a:srgbClr val="8A9099"/>
                </a:solidFill>
                <a:latin typeface="Red Hat Text"/>
              </a:rPr>
              <a:t>CONFIDENTIAL</a:t>
            </a:r>
          </a:p>
        </p:txBody>
      </p:sp>
      <p:sp>
        <p:nvSpPr>
          <p:cNvPr id="29" name="TextBox 28"/>
          <p:cNvSpPr txBox="1"/>
          <p:nvPr/>
        </p:nvSpPr>
        <p:spPr>
          <a:xfrm>
            <a:off x="10801807" y="6473952"/>
            <a:ext cx="548640" cy="274320"/>
          </a:xfrm>
          <a:prstGeom prst="rect">
            <a:avLst/>
          </a:prstGeom>
          <a:noFill/>
        </p:spPr>
        <p:txBody>
          <a:bodyPr wrap="square" anchor="t" lIns="0" rIns="0" tIns="0" bIns="0">
            <a:spAutoFit/>
          </a:bodyPr>
          <a:lstStyle/>
          <a:p>
            <a:pPr algn="r">
              <a:lnSpc>
                <a:spcPct val="106000"/>
              </a:lnSpc>
              <a:spcBef>
                <a:spcPts val="0"/>
              </a:spcBef>
              <a:spcAft>
                <a:spcPts val="0"/>
              </a:spcAft>
            </a:pPr>
            <a:r>
              <a:rPr sz="950" b="0">
                <a:solidFill>
                  <a:srgbClr val="8A9099"/>
                </a:solidFill>
                <a:latin typeface="Red Hat Text"/>
              </a:rPr>
              <a:t>31</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redhat_logo.jpg"/>
          <p:cNvPicPr>
            <a:picLocks noChangeAspect="1"/>
          </p:cNvPicPr>
          <p:nvPr/>
        </p:nvPicPr>
        <p:blipFill>
          <a:blip r:embed="rId2"/>
          <a:stretch>
            <a:fillRect/>
          </a:stretch>
        </p:blipFill>
        <p:spPr>
          <a:xfrm>
            <a:off x="10326319" y="475488"/>
            <a:ext cx="1024128" cy="242248"/>
          </a:xfrm>
          <a:prstGeom prst="rect">
            <a:avLst/>
          </a:prstGeom>
        </p:spPr>
      </p:pic>
      <p:sp>
        <p:nvSpPr>
          <p:cNvPr id="3" name="TextBox 2"/>
          <p:cNvSpPr txBox="1"/>
          <p:nvPr/>
        </p:nvSpPr>
        <p:spPr>
          <a:xfrm>
            <a:off x="841248" y="548640"/>
            <a:ext cx="8595360" cy="274320"/>
          </a:xfrm>
          <a:prstGeom prst="rect">
            <a:avLst/>
          </a:prstGeom>
          <a:noFill/>
        </p:spPr>
        <p:txBody>
          <a:bodyPr wrap="square" anchor="t" lIns="0" rIns="0" tIns="0" bIns="0">
            <a:spAutoFit/>
          </a:bodyPr>
          <a:lstStyle/>
          <a:p>
            <a:pPr algn="l">
              <a:lnSpc>
                <a:spcPct val="106000"/>
              </a:lnSpc>
              <a:spcBef>
                <a:spcPts val="0"/>
              </a:spcBef>
              <a:spcAft>
                <a:spcPts val="0"/>
              </a:spcAft>
            </a:pPr>
            <a:r>
              <a:rPr sz="1250" b="1" spc="220">
                <a:solidFill>
                  <a:srgbClr val="EE0000"/>
                </a:solidFill>
                <a:latin typeface="Red Hat Display"/>
              </a:rPr>
              <a:t>M05 · STORAGE &amp; STATEFUL APPS</a:t>
            </a:r>
          </a:p>
        </p:txBody>
      </p:sp>
      <p:sp>
        <p:nvSpPr>
          <p:cNvPr id="4" name="TextBox 3"/>
          <p:cNvSpPr txBox="1"/>
          <p:nvPr/>
        </p:nvSpPr>
        <p:spPr>
          <a:xfrm>
            <a:off x="841248" y="877824"/>
            <a:ext cx="10515600" cy="548640"/>
          </a:xfrm>
          <a:prstGeom prst="rect">
            <a:avLst/>
          </a:prstGeom>
          <a:noFill/>
        </p:spPr>
        <p:txBody>
          <a:bodyPr wrap="none" anchor="t" lIns="0" rIns="0" tIns="0" bIns="0">
            <a:spAutoFit/>
          </a:bodyPr>
          <a:lstStyle/>
          <a:p>
            <a:pPr algn="l">
              <a:lnSpc>
                <a:spcPct val="100000"/>
              </a:lnSpc>
              <a:spcBef>
                <a:spcPts val="0"/>
              </a:spcBef>
              <a:spcAft>
                <a:spcPts val="0"/>
              </a:spcAft>
            </a:pPr>
            <a:r>
              <a:rPr sz="2500" b="1">
                <a:solidFill>
                  <a:srgbClr val="1A1A1A"/>
                </a:solidFill>
                <a:latin typeface="Red Hat Display"/>
              </a:rPr>
              <a:t>Access modes — don't assume</a:t>
            </a:r>
          </a:p>
        </p:txBody>
      </p:sp>
      <p:cxnSp>
        <p:nvCxnSpPr>
          <p:cNvPr id="5" name="Connector 4"/>
          <p:cNvCxnSpPr/>
          <p:nvPr/>
        </p:nvCxnSpPr>
        <p:spPr>
          <a:xfrm>
            <a:off x="841248" y="1554480"/>
            <a:ext cx="1371600" cy="0"/>
          </a:xfrm>
          <a:prstGeom prst="bentConnector3">
            <a:avLst/>
          </a:prstGeom>
          <a:ln w="31750">
            <a:solidFill>
              <a:srgbClr val="EE0000"/>
            </a:solidFill>
          </a:ln>
          <a:effectLst/>
        </p:spPr>
        <p:style>
          <a:lnRef idx="2">
            <a:schemeClr val="accent1"/>
          </a:lnRef>
          <a:fillRef idx="0">
            <a:schemeClr val="accent1"/>
          </a:fillRef>
          <a:effectRef idx="1">
            <a:schemeClr val="accent1"/>
          </a:effectRef>
          <a:fontRef idx="minor">
            <a:schemeClr val="tx1"/>
          </a:fontRef>
        </p:style>
      </p:cxnSp>
      <p:sp>
        <p:nvSpPr>
          <p:cNvPr id="6" name="Rounded Rectangle 5"/>
          <p:cNvSpPr/>
          <p:nvPr/>
        </p:nvSpPr>
        <p:spPr>
          <a:xfrm>
            <a:off x="841248" y="2395728"/>
            <a:ext cx="5715000" cy="530352"/>
          </a:xfrm>
          <a:prstGeom prst="roundRect">
            <a:avLst>
              <a:gd name="adj" fmla="val 6000"/>
            </a:avLst>
          </a:prstGeom>
          <a:solidFill>
            <a:srgbClr val="F5F6F8"/>
          </a:solidFill>
          <a:ln w="12700">
            <a:solidFill>
              <a:srgbClr val="DDE1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check_steel.png"/>
          <p:cNvPicPr>
            <a:picLocks noChangeAspect="1"/>
          </p:cNvPicPr>
          <p:nvPr/>
        </p:nvPicPr>
        <p:blipFill>
          <a:blip r:embed="rId3"/>
          <a:stretch>
            <a:fillRect/>
          </a:stretch>
        </p:blipFill>
        <p:spPr>
          <a:xfrm>
            <a:off x="987552" y="2542032"/>
            <a:ext cx="237744" cy="237744"/>
          </a:xfrm>
          <a:prstGeom prst="rect">
            <a:avLst/>
          </a:prstGeom>
        </p:spPr>
      </p:pic>
      <p:sp>
        <p:nvSpPr>
          <p:cNvPr id="8" name="TextBox 7"/>
          <p:cNvSpPr txBox="1"/>
          <p:nvPr/>
        </p:nvSpPr>
        <p:spPr>
          <a:xfrm>
            <a:off x="1353312" y="2395728"/>
            <a:ext cx="5029200" cy="530352"/>
          </a:xfrm>
          <a:prstGeom prst="rect">
            <a:avLst/>
          </a:prstGeom>
          <a:noFill/>
        </p:spPr>
        <p:txBody>
          <a:bodyPr wrap="square" anchor="ctr" lIns="0" rIns="0" tIns="0" bIns="0">
            <a:spAutoFit/>
          </a:bodyPr>
          <a:lstStyle/>
          <a:p>
            <a:pPr algn="l">
              <a:lnSpc>
                <a:spcPct val="106000"/>
              </a:lnSpc>
              <a:spcBef>
                <a:spcPts val="0"/>
              </a:spcBef>
              <a:spcAft>
                <a:spcPts val="0"/>
              </a:spcAft>
            </a:pPr>
            <a:r>
              <a:rPr sz="1200" b="0">
                <a:solidFill>
                  <a:srgbClr val="1A1A1A"/>
                </a:solidFill>
                <a:latin typeface="Red Hat Text"/>
              </a:rPr>
              <a:t>RWO: one node writes at a time</a:t>
            </a:r>
          </a:p>
        </p:txBody>
      </p:sp>
      <p:sp>
        <p:nvSpPr>
          <p:cNvPr id="9" name="Rounded Rectangle 8"/>
          <p:cNvSpPr/>
          <p:nvPr/>
        </p:nvSpPr>
        <p:spPr>
          <a:xfrm>
            <a:off x="841248" y="2999232"/>
            <a:ext cx="5715000" cy="530352"/>
          </a:xfrm>
          <a:prstGeom prst="roundRect">
            <a:avLst>
              <a:gd name="adj" fmla="val 6000"/>
            </a:avLst>
          </a:prstGeom>
          <a:solidFill>
            <a:srgbClr val="F5F6F8"/>
          </a:solidFill>
          <a:ln w="12700">
            <a:solidFill>
              <a:srgbClr val="DDE1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0" name="Picture 9" descr="check_steel.png"/>
          <p:cNvPicPr>
            <a:picLocks noChangeAspect="1"/>
          </p:cNvPicPr>
          <p:nvPr/>
        </p:nvPicPr>
        <p:blipFill>
          <a:blip r:embed="rId3"/>
          <a:stretch>
            <a:fillRect/>
          </a:stretch>
        </p:blipFill>
        <p:spPr>
          <a:xfrm>
            <a:off x="987552" y="3145536"/>
            <a:ext cx="237744" cy="237744"/>
          </a:xfrm>
          <a:prstGeom prst="rect">
            <a:avLst/>
          </a:prstGeom>
        </p:spPr>
      </p:pic>
      <p:sp>
        <p:nvSpPr>
          <p:cNvPr id="11" name="TextBox 10"/>
          <p:cNvSpPr txBox="1"/>
          <p:nvPr/>
        </p:nvSpPr>
        <p:spPr>
          <a:xfrm>
            <a:off x="1353312" y="2999232"/>
            <a:ext cx="5029200" cy="530352"/>
          </a:xfrm>
          <a:prstGeom prst="rect">
            <a:avLst/>
          </a:prstGeom>
          <a:noFill/>
        </p:spPr>
        <p:txBody>
          <a:bodyPr wrap="square" anchor="ctr" lIns="0" rIns="0" tIns="0" bIns="0">
            <a:spAutoFit/>
          </a:bodyPr>
          <a:lstStyle/>
          <a:p>
            <a:pPr algn="l">
              <a:lnSpc>
                <a:spcPct val="106000"/>
              </a:lnSpc>
              <a:spcBef>
                <a:spcPts val="0"/>
              </a:spcBef>
              <a:spcAft>
                <a:spcPts val="0"/>
              </a:spcAft>
            </a:pPr>
            <a:r>
              <a:rPr sz="1200" b="0">
                <a:solidFill>
                  <a:srgbClr val="1A1A1A"/>
                </a:solidFill>
                <a:latin typeface="Red Hat Text"/>
              </a:rPr>
              <a:t>RWX: many nodes write at once</a:t>
            </a:r>
          </a:p>
        </p:txBody>
      </p:sp>
      <p:sp>
        <p:nvSpPr>
          <p:cNvPr id="12" name="Rounded Rectangle 11"/>
          <p:cNvSpPr/>
          <p:nvPr/>
        </p:nvSpPr>
        <p:spPr>
          <a:xfrm>
            <a:off x="841248" y="3602736"/>
            <a:ext cx="5715000" cy="530352"/>
          </a:xfrm>
          <a:prstGeom prst="roundRect">
            <a:avLst>
              <a:gd name="adj" fmla="val 6000"/>
            </a:avLst>
          </a:prstGeom>
          <a:solidFill>
            <a:srgbClr val="F5F6F8"/>
          </a:solidFill>
          <a:ln w="12700">
            <a:solidFill>
              <a:srgbClr val="DDE1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3" name="Picture 12" descr="check_steel.png"/>
          <p:cNvPicPr>
            <a:picLocks noChangeAspect="1"/>
          </p:cNvPicPr>
          <p:nvPr/>
        </p:nvPicPr>
        <p:blipFill>
          <a:blip r:embed="rId3"/>
          <a:stretch>
            <a:fillRect/>
          </a:stretch>
        </p:blipFill>
        <p:spPr>
          <a:xfrm>
            <a:off x="987552" y="3749040"/>
            <a:ext cx="237744" cy="237744"/>
          </a:xfrm>
          <a:prstGeom prst="rect">
            <a:avLst/>
          </a:prstGeom>
        </p:spPr>
      </p:pic>
      <p:sp>
        <p:nvSpPr>
          <p:cNvPr id="14" name="TextBox 13"/>
          <p:cNvSpPr txBox="1"/>
          <p:nvPr/>
        </p:nvSpPr>
        <p:spPr>
          <a:xfrm>
            <a:off x="1353312" y="3602736"/>
            <a:ext cx="5029200" cy="530352"/>
          </a:xfrm>
          <a:prstGeom prst="rect">
            <a:avLst/>
          </a:prstGeom>
          <a:noFill/>
        </p:spPr>
        <p:txBody>
          <a:bodyPr wrap="square" anchor="ctr" lIns="0" rIns="0" tIns="0" bIns="0">
            <a:spAutoFit/>
          </a:bodyPr>
          <a:lstStyle/>
          <a:p>
            <a:pPr algn="l">
              <a:lnSpc>
                <a:spcPct val="106000"/>
              </a:lnSpc>
              <a:spcBef>
                <a:spcPts val="0"/>
              </a:spcBef>
              <a:spcAft>
                <a:spcPts val="0"/>
              </a:spcAft>
            </a:pPr>
            <a:r>
              <a:rPr sz="1200" b="0">
                <a:solidFill>
                  <a:srgbClr val="1A1A1A"/>
                </a:solidFill>
                <a:latin typeface="Red Hat Text"/>
              </a:rPr>
              <a:t>ROX: many read-only mounts</a:t>
            </a:r>
          </a:p>
        </p:txBody>
      </p:sp>
      <p:sp>
        <p:nvSpPr>
          <p:cNvPr id="15" name="Rounded Rectangle 14"/>
          <p:cNvSpPr/>
          <p:nvPr/>
        </p:nvSpPr>
        <p:spPr>
          <a:xfrm>
            <a:off x="841248" y="4206240"/>
            <a:ext cx="5715000" cy="530352"/>
          </a:xfrm>
          <a:prstGeom prst="roundRect">
            <a:avLst>
              <a:gd name="adj" fmla="val 6000"/>
            </a:avLst>
          </a:prstGeom>
          <a:solidFill>
            <a:srgbClr val="F5F6F8"/>
          </a:solidFill>
          <a:ln w="12700">
            <a:solidFill>
              <a:srgbClr val="DDE1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6" name="Picture 15" descr="check_steel.png"/>
          <p:cNvPicPr>
            <a:picLocks noChangeAspect="1"/>
          </p:cNvPicPr>
          <p:nvPr/>
        </p:nvPicPr>
        <p:blipFill>
          <a:blip r:embed="rId3"/>
          <a:stretch>
            <a:fillRect/>
          </a:stretch>
        </p:blipFill>
        <p:spPr>
          <a:xfrm>
            <a:off x="987552" y="4352544"/>
            <a:ext cx="237744" cy="237744"/>
          </a:xfrm>
          <a:prstGeom prst="rect">
            <a:avLst/>
          </a:prstGeom>
        </p:spPr>
      </p:pic>
      <p:sp>
        <p:nvSpPr>
          <p:cNvPr id="17" name="TextBox 16"/>
          <p:cNvSpPr txBox="1"/>
          <p:nvPr/>
        </p:nvSpPr>
        <p:spPr>
          <a:xfrm>
            <a:off x="1353312" y="4206240"/>
            <a:ext cx="5029200" cy="530352"/>
          </a:xfrm>
          <a:prstGeom prst="rect">
            <a:avLst/>
          </a:prstGeom>
          <a:noFill/>
        </p:spPr>
        <p:txBody>
          <a:bodyPr wrap="square" anchor="ctr" lIns="0" rIns="0" tIns="0" bIns="0">
            <a:spAutoFit/>
          </a:bodyPr>
          <a:lstStyle/>
          <a:p>
            <a:pPr algn="l">
              <a:lnSpc>
                <a:spcPct val="106000"/>
              </a:lnSpc>
              <a:spcBef>
                <a:spcPts val="0"/>
              </a:spcBef>
              <a:spcAft>
                <a:spcPts val="0"/>
              </a:spcAft>
            </a:pPr>
            <a:r>
              <a:rPr sz="1200" b="0">
                <a:solidFill>
                  <a:srgbClr val="1A1A1A"/>
                </a:solidFill>
                <a:latin typeface="Red Hat Text"/>
              </a:rPr>
              <a:t>Not every backend offers RWX</a:t>
            </a:r>
          </a:p>
        </p:txBody>
      </p:sp>
      <p:sp>
        <p:nvSpPr>
          <p:cNvPr id="18" name="Rounded Rectangle 17"/>
          <p:cNvSpPr/>
          <p:nvPr/>
        </p:nvSpPr>
        <p:spPr>
          <a:xfrm>
            <a:off x="841248" y="4809744"/>
            <a:ext cx="5715000" cy="530352"/>
          </a:xfrm>
          <a:prstGeom prst="roundRect">
            <a:avLst>
              <a:gd name="adj" fmla="val 6000"/>
            </a:avLst>
          </a:prstGeom>
          <a:solidFill>
            <a:srgbClr val="F5F6F8"/>
          </a:solidFill>
          <a:ln w="12700">
            <a:solidFill>
              <a:srgbClr val="DDE1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9" name="Picture 18" descr="check_steel.png"/>
          <p:cNvPicPr>
            <a:picLocks noChangeAspect="1"/>
          </p:cNvPicPr>
          <p:nvPr/>
        </p:nvPicPr>
        <p:blipFill>
          <a:blip r:embed="rId3"/>
          <a:stretch>
            <a:fillRect/>
          </a:stretch>
        </p:blipFill>
        <p:spPr>
          <a:xfrm>
            <a:off x="987552" y="4956048"/>
            <a:ext cx="237744" cy="237744"/>
          </a:xfrm>
          <a:prstGeom prst="rect">
            <a:avLst/>
          </a:prstGeom>
        </p:spPr>
      </p:pic>
      <p:sp>
        <p:nvSpPr>
          <p:cNvPr id="20" name="TextBox 19"/>
          <p:cNvSpPr txBox="1"/>
          <p:nvPr/>
        </p:nvSpPr>
        <p:spPr>
          <a:xfrm>
            <a:off x="1353312" y="4809744"/>
            <a:ext cx="5029200" cy="530352"/>
          </a:xfrm>
          <a:prstGeom prst="rect">
            <a:avLst/>
          </a:prstGeom>
          <a:noFill/>
        </p:spPr>
        <p:txBody>
          <a:bodyPr wrap="square" anchor="ctr" lIns="0" rIns="0" tIns="0" bIns="0">
            <a:spAutoFit/>
          </a:bodyPr>
          <a:lstStyle/>
          <a:p>
            <a:pPr algn="l">
              <a:lnSpc>
                <a:spcPct val="106000"/>
              </a:lnSpc>
              <a:spcBef>
                <a:spcPts val="0"/>
              </a:spcBef>
              <a:spcAft>
                <a:spcPts val="0"/>
              </a:spcAft>
            </a:pPr>
            <a:r>
              <a:rPr sz="1200" b="0">
                <a:solidFill>
                  <a:srgbClr val="1A1A1A"/>
                </a:solidFill>
                <a:latin typeface="Red Hat Text"/>
              </a:rPr>
              <a:t>Read your StorageClasses, don't guess</a:t>
            </a:r>
          </a:p>
        </p:txBody>
      </p:sp>
      <p:sp>
        <p:nvSpPr>
          <p:cNvPr id="21" name="Rounded Rectangle 20"/>
          <p:cNvSpPr/>
          <p:nvPr/>
        </p:nvSpPr>
        <p:spPr>
          <a:xfrm>
            <a:off x="6812280" y="2395728"/>
            <a:ext cx="4538167" cy="2944368"/>
          </a:xfrm>
          <a:prstGeom prst="roundRect">
            <a:avLst>
              <a:gd name="adj" fmla="val 4000"/>
            </a:avLst>
          </a:prstGeom>
          <a:solidFill>
            <a:srgbClr val="FFFFFF"/>
          </a:solidFill>
          <a:ln w="15240">
            <a:solidFill>
              <a:srgbClr val="DDE1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ounded Rectangle 21"/>
          <p:cNvSpPr/>
          <p:nvPr/>
        </p:nvSpPr>
        <p:spPr>
          <a:xfrm>
            <a:off x="7013448" y="2596896"/>
            <a:ext cx="1298448" cy="310896"/>
          </a:xfrm>
          <a:prstGeom prst="roundRect">
            <a:avLst>
              <a:gd name="adj" fmla="val 50000"/>
            </a:avLst>
          </a:prstGeom>
          <a:solidFill>
            <a:srgbClr val="FCEC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7013448" y="2596896"/>
            <a:ext cx="1298448" cy="310896"/>
          </a:xfrm>
          <a:prstGeom prst="rect">
            <a:avLst/>
          </a:prstGeom>
          <a:noFill/>
        </p:spPr>
        <p:txBody>
          <a:bodyPr wrap="none" anchor="ctr" lIns="0" rIns="0" tIns="0" bIns="0">
            <a:spAutoFit/>
          </a:bodyPr>
          <a:lstStyle/>
          <a:p>
            <a:pPr algn="ctr">
              <a:lnSpc>
                <a:spcPct val="106000"/>
              </a:lnSpc>
              <a:spcBef>
                <a:spcPts val="0"/>
              </a:spcBef>
              <a:spcAft>
                <a:spcPts val="0"/>
              </a:spcAft>
            </a:pPr>
            <a:r>
              <a:rPr sz="850" b="1">
                <a:solidFill>
                  <a:srgbClr val="B80000"/>
                </a:solidFill>
                <a:latin typeface="Red Hat Display"/>
              </a:rPr>
              <a:t>MEDIA PASS</a:t>
            </a:r>
          </a:p>
        </p:txBody>
      </p:sp>
      <p:pic>
        <p:nvPicPr>
          <p:cNvPr id="24" name="Picture 23" descr="eye_slate.png"/>
          <p:cNvPicPr>
            <a:picLocks noChangeAspect="1"/>
          </p:cNvPicPr>
          <p:nvPr/>
        </p:nvPicPr>
        <p:blipFill>
          <a:blip r:embed="rId4"/>
          <a:stretch>
            <a:fillRect/>
          </a:stretch>
        </p:blipFill>
        <p:spPr>
          <a:xfrm>
            <a:off x="8843619" y="3108960"/>
            <a:ext cx="475488" cy="475488"/>
          </a:xfrm>
          <a:prstGeom prst="rect">
            <a:avLst/>
          </a:prstGeom>
        </p:spPr>
      </p:pic>
      <p:sp>
        <p:nvSpPr>
          <p:cNvPr id="25" name="TextBox 24"/>
          <p:cNvSpPr txBox="1"/>
          <p:nvPr/>
        </p:nvSpPr>
        <p:spPr>
          <a:xfrm>
            <a:off x="7050024" y="3721608"/>
            <a:ext cx="4062679" cy="1481328"/>
          </a:xfrm>
          <a:prstGeom prst="rect">
            <a:avLst/>
          </a:prstGeom>
          <a:noFill/>
        </p:spPr>
        <p:txBody>
          <a:bodyPr wrap="square" anchor="t" lIns="0" rIns="0" tIns="0" bIns="0">
            <a:spAutoFit/>
          </a:bodyPr>
          <a:lstStyle/>
          <a:p>
            <a:pPr algn="l">
              <a:lnSpc>
                <a:spcPct val="120000"/>
              </a:lnSpc>
              <a:spcBef>
                <a:spcPts val="0"/>
              </a:spcBef>
              <a:spcAft>
                <a:spcPts val="0"/>
              </a:spcAft>
            </a:pPr>
            <a:r>
              <a:rPr sz="950" b="0">
                <a:solidFill>
                  <a:srgbClr val="8A9099"/>
                </a:solidFill>
                <a:latin typeface="Red Hat Text"/>
              </a:rPr>
              <a:t>RWO/RWX/ROX three-panel with node/Pod icons; a checklist "what does MY cluster support? → oc get sc".</a:t>
            </a:r>
          </a:p>
        </p:txBody>
      </p:sp>
      <p:cxnSp>
        <p:nvCxnSpPr>
          <p:cNvPr id="26" name="Connector 25"/>
          <p:cNvCxnSpPr/>
          <p:nvPr/>
        </p:nvCxnSpPr>
        <p:spPr>
          <a:xfrm>
            <a:off x="841248" y="6437376"/>
            <a:ext cx="10509199" cy="0"/>
          </a:xfrm>
          <a:prstGeom prst="bentConnector3">
            <a:avLst/>
          </a:prstGeom>
          <a:ln w="12700">
            <a:solidFill>
              <a:srgbClr val="DDE1E6"/>
            </a:solidFill>
          </a:ln>
          <a:effectLst/>
        </p:spPr>
        <p:style>
          <a:lnRef idx="2">
            <a:schemeClr val="accent1"/>
          </a:lnRef>
          <a:fillRef idx="0">
            <a:schemeClr val="accent1"/>
          </a:fillRef>
          <a:effectRef idx="1">
            <a:schemeClr val="accent1"/>
          </a:effectRef>
          <a:fontRef idx="minor">
            <a:schemeClr val="tx1"/>
          </a:fontRef>
        </p:style>
      </p:cxnSp>
      <p:sp>
        <p:nvSpPr>
          <p:cNvPr id="27" name="TextBox 26"/>
          <p:cNvSpPr txBox="1"/>
          <p:nvPr/>
        </p:nvSpPr>
        <p:spPr>
          <a:xfrm>
            <a:off x="841248" y="6473952"/>
            <a:ext cx="7315200" cy="274320"/>
          </a:xfrm>
          <a:prstGeom prst="rect">
            <a:avLst/>
          </a:prstGeom>
          <a:noFill/>
        </p:spPr>
        <p:txBody>
          <a:bodyPr wrap="square" anchor="t" lIns="0" rIns="0" tIns="0" bIns="0">
            <a:spAutoFit/>
          </a:bodyPr>
          <a:lstStyle/>
          <a:p>
            <a:pPr algn="l">
              <a:lnSpc>
                <a:spcPct val="106000"/>
              </a:lnSpc>
              <a:spcBef>
                <a:spcPts val="0"/>
              </a:spcBef>
              <a:spcAft>
                <a:spcPts val="0"/>
              </a:spcAft>
            </a:pPr>
            <a:r>
              <a:rPr sz="950" b="0">
                <a:solidFill>
                  <a:srgbClr val="8A9099"/>
                </a:solidFill>
                <a:latin typeface="Red Hat Text"/>
              </a:rPr>
              <a:t>CONFIDENTIAL</a:t>
            </a:r>
          </a:p>
        </p:txBody>
      </p:sp>
      <p:sp>
        <p:nvSpPr>
          <p:cNvPr id="28" name="TextBox 27"/>
          <p:cNvSpPr txBox="1"/>
          <p:nvPr/>
        </p:nvSpPr>
        <p:spPr>
          <a:xfrm>
            <a:off x="10801807" y="6473952"/>
            <a:ext cx="548640" cy="274320"/>
          </a:xfrm>
          <a:prstGeom prst="rect">
            <a:avLst/>
          </a:prstGeom>
          <a:noFill/>
        </p:spPr>
        <p:txBody>
          <a:bodyPr wrap="square" anchor="t" lIns="0" rIns="0" tIns="0" bIns="0">
            <a:spAutoFit/>
          </a:bodyPr>
          <a:lstStyle/>
          <a:p>
            <a:pPr algn="r">
              <a:lnSpc>
                <a:spcPct val="106000"/>
              </a:lnSpc>
              <a:spcBef>
                <a:spcPts val="0"/>
              </a:spcBef>
              <a:spcAft>
                <a:spcPts val="0"/>
              </a:spcAft>
            </a:pPr>
            <a:r>
              <a:rPr sz="950" b="0">
                <a:solidFill>
                  <a:srgbClr val="8A9099"/>
                </a:solidFill>
                <a:latin typeface="Red Hat Text"/>
              </a:rPr>
              <a:t>32</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redhat_logo.jpg"/>
          <p:cNvPicPr>
            <a:picLocks noChangeAspect="1"/>
          </p:cNvPicPr>
          <p:nvPr/>
        </p:nvPicPr>
        <p:blipFill>
          <a:blip r:embed="rId2"/>
          <a:stretch>
            <a:fillRect/>
          </a:stretch>
        </p:blipFill>
        <p:spPr>
          <a:xfrm>
            <a:off x="10326319" y="475488"/>
            <a:ext cx="1024128" cy="242248"/>
          </a:xfrm>
          <a:prstGeom prst="rect">
            <a:avLst/>
          </a:prstGeom>
        </p:spPr>
      </p:pic>
      <p:sp>
        <p:nvSpPr>
          <p:cNvPr id="3" name="TextBox 2"/>
          <p:cNvSpPr txBox="1"/>
          <p:nvPr/>
        </p:nvSpPr>
        <p:spPr>
          <a:xfrm>
            <a:off x="841248" y="548640"/>
            <a:ext cx="8595360" cy="274320"/>
          </a:xfrm>
          <a:prstGeom prst="rect">
            <a:avLst/>
          </a:prstGeom>
          <a:noFill/>
        </p:spPr>
        <p:txBody>
          <a:bodyPr wrap="square" anchor="t" lIns="0" rIns="0" tIns="0" bIns="0">
            <a:spAutoFit/>
          </a:bodyPr>
          <a:lstStyle/>
          <a:p>
            <a:pPr algn="l">
              <a:lnSpc>
                <a:spcPct val="106000"/>
              </a:lnSpc>
              <a:spcBef>
                <a:spcPts val="0"/>
              </a:spcBef>
              <a:spcAft>
                <a:spcPts val="0"/>
              </a:spcAft>
            </a:pPr>
            <a:r>
              <a:rPr sz="1250" b="1" spc="220">
                <a:solidFill>
                  <a:srgbClr val="EE0000"/>
                </a:solidFill>
                <a:latin typeface="Red Hat Display"/>
              </a:rPr>
              <a:t>M05 · STORAGE &amp; STATEFUL APPS</a:t>
            </a:r>
          </a:p>
        </p:txBody>
      </p:sp>
      <p:sp>
        <p:nvSpPr>
          <p:cNvPr id="4" name="TextBox 3"/>
          <p:cNvSpPr txBox="1"/>
          <p:nvPr/>
        </p:nvSpPr>
        <p:spPr>
          <a:xfrm>
            <a:off x="841248" y="877824"/>
            <a:ext cx="10515600" cy="548640"/>
          </a:xfrm>
          <a:prstGeom prst="rect">
            <a:avLst/>
          </a:prstGeom>
          <a:noFill/>
        </p:spPr>
        <p:txBody>
          <a:bodyPr wrap="none" anchor="t" lIns="0" rIns="0" tIns="0" bIns="0">
            <a:spAutoFit/>
          </a:bodyPr>
          <a:lstStyle/>
          <a:p>
            <a:pPr algn="l">
              <a:lnSpc>
                <a:spcPct val="100000"/>
              </a:lnSpc>
              <a:spcBef>
                <a:spcPts val="0"/>
              </a:spcBef>
              <a:spcAft>
                <a:spcPts val="0"/>
              </a:spcAft>
            </a:pPr>
            <a:r>
              <a:rPr sz="2500" b="1">
                <a:solidFill>
                  <a:srgbClr val="1A1A1A"/>
                </a:solidFill>
                <a:latin typeface="Red Hat Display"/>
              </a:rPr>
              <a:t>StatefulSet</a:t>
            </a:r>
          </a:p>
        </p:txBody>
      </p:sp>
      <p:cxnSp>
        <p:nvCxnSpPr>
          <p:cNvPr id="5" name="Connector 4"/>
          <p:cNvCxnSpPr/>
          <p:nvPr/>
        </p:nvCxnSpPr>
        <p:spPr>
          <a:xfrm>
            <a:off x="841248" y="1554480"/>
            <a:ext cx="1371600" cy="0"/>
          </a:xfrm>
          <a:prstGeom prst="bentConnector3">
            <a:avLst/>
          </a:prstGeom>
          <a:ln w="31750">
            <a:solidFill>
              <a:srgbClr val="EE0000"/>
            </a:solidFill>
          </a:ln>
          <a:effectLst/>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841248" y="1664208"/>
            <a:ext cx="10515600" cy="365760"/>
          </a:xfrm>
          <a:prstGeom prst="rect">
            <a:avLst/>
          </a:prstGeom>
          <a:noFill/>
        </p:spPr>
        <p:txBody>
          <a:bodyPr wrap="square" anchor="t" lIns="0" rIns="0" tIns="0" bIns="0">
            <a:spAutoFit/>
          </a:bodyPr>
          <a:lstStyle/>
          <a:p>
            <a:pPr algn="l">
              <a:lnSpc>
                <a:spcPct val="106000"/>
              </a:lnSpc>
              <a:spcBef>
                <a:spcPts val="0"/>
              </a:spcBef>
              <a:spcAft>
                <a:spcPts val="0"/>
              </a:spcAft>
            </a:pPr>
            <a:r>
              <a:rPr sz="1350" b="0">
                <a:solidFill>
                  <a:srgbClr val="555960"/>
                </a:solidFill>
                <a:latin typeface="Red Hat Text"/>
              </a:rPr>
              <a:t>identity and storage travel together</a:t>
            </a:r>
          </a:p>
        </p:txBody>
      </p:sp>
      <p:sp>
        <p:nvSpPr>
          <p:cNvPr id="7" name="Rounded Rectangle 6"/>
          <p:cNvSpPr/>
          <p:nvPr/>
        </p:nvSpPr>
        <p:spPr>
          <a:xfrm>
            <a:off x="841248" y="2670048"/>
            <a:ext cx="5715000" cy="530352"/>
          </a:xfrm>
          <a:prstGeom prst="roundRect">
            <a:avLst>
              <a:gd name="adj" fmla="val 6000"/>
            </a:avLst>
          </a:prstGeom>
          <a:solidFill>
            <a:srgbClr val="F5F6F8"/>
          </a:solidFill>
          <a:ln w="12700">
            <a:solidFill>
              <a:srgbClr val="DDE1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check_steel.png"/>
          <p:cNvPicPr>
            <a:picLocks noChangeAspect="1"/>
          </p:cNvPicPr>
          <p:nvPr/>
        </p:nvPicPr>
        <p:blipFill>
          <a:blip r:embed="rId3"/>
          <a:stretch>
            <a:fillRect/>
          </a:stretch>
        </p:blipFill>
        <p:spPr>
          <a:xfrm>
            <a:off x="987552" y="2816352"/>
            <a:ext cx="237744" cy="237744"/>
          </a:xfrm>
          <a:prstGeom prst="rect">
            <a:avLst/>
          </a:prstGeom>
        </p:spPr>
      </p:pic>
      <p:sp>
        <p:nvSpPr>
          <p:cNvPr id="9" name="TextBox 8"/>
          <p:cNvSpPr txBox="1"/>
          <p:nvPr/>
        </p:nvSpPr>
        <p:spPr>
          <a:xfrm>
            <a:off x="1353312" y="2670048"/>
            <a:ext cx="5029200" cy="530352"/>
          </a:xfrm>
          <a:prstGeom prst="rect">
            <a:avLst/>
          </a:prstGeom>
          <a:noFill/>
        </p:spPr>
        <p:txBody>
          <a:bodyPr wrap="square" anchor="ctr" lIns="0" rIns="0" tIns="0" bIns="0">
            <a:spAutoFit/>
          </a:bodyPr>
          <a:lstStyle/>
          <a:p>
            <a:pPr algn="l">
              <a:lnSpc>
                <a:spcPct val="106000"/>
              </a:lnSpc>
              <a:spcBef>
                <a:spcPts val="0"/>
              </a:spcBef>
              <a:spcAft>
                <a:spcPts val="0"/>
              </a:spcAft>
            </a:pPr>
            <a:r>
              <a:rPr sz="1200" b="0">
                <a:solidFill>
                  <a:srgbClr val="1A1A1A"/>
                </a:solidFill>
                <a:latin typeface="Red Hat Text"/>
              </a:rPr>
              <a:t>Stable names: pg-sts-0, pg-sts-1</a:t>
            </a:r>
          </a:p>
        </p:txBody>
      </p:sp>
      <p:sp>
        <p:nvSpPr>
          <p:cNvPr id="10" name="Rounded Rectangle 9"/>
          <p:cNvSpPr/>
          <p:nvPr/>
        </p:nvSpPr>
        <p:spPr>
          <a:xfrm>
            <a:off x="841248" y="3273552"/>
            <a:ext cx="5715000" cy="530352"/>
          </a:xfrm>
          <a:prstGeom prst="roundRect">
            <a:avLst>
              <a:gd name="adj" fmla="val 6000"/>
            </a:avLst>
          </a:prstGeom>
          <a:solidFill>
            <a:srgbClr val="F5F6F8"/>
          </a:solidFill>
          <a:ln w="12700">
            <a:solidFill>
              <a:srgbClr val="DDE1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1" name="Picture 10" descr="check_steel.png"/>
          <p:cNvPicPr>
            <a:picLocks noChangeAspect="1"/>
          </p:cNvPicPr>
          <p:nvPr/>
        </p:nvPicPr>
        <p:blipFill>
          <a:blip r:embed="rId3"/>
          <a:stretch>
            <a:fillRect/>
          </a:stretch>
        </p:blipFill>
        <p:spPr>
          <a:xfrm>
            <a:off x="987552" y="3419856"/>
            <a:ext cx="237744" cy="237744"/>
          </a:xfrm>
          <a:prstGeom prst="rect">
            <a:avLst/>
          </a:prstGeom>
        </p:spPr>
      </p:pic>
      <p:sp>
        <p:nvSpPr>
          <p:cNvPr id="12" name="TextBox 11"/>
          <p:cNvSpPr txBox="1"/>
          <p:nvPr/>
        </p:nvSpPr>
        <p:spPr>
          <a:xfrm>
            <a:off x="1353312" y="3273552"/>
            <a:ext cx="5029200" cy="530352"/>
          </a:xfrm>
          <a:prstGeom prst="rect">
            <a:avLst/>
          </a:prstGeom>
          <a:noFill/>
        </p:spPr>
        <p:txBody>
          <a:bodyPr wrap="square" anchor="ctr" lIns="0" rIns="0" tIns="0" bIns="0">
            <a:spAutoFit/>
          </a:bodyPr>
          <a:lstStyle/>
          <a:p>
            <a:pPr algn="l">
              <a:lnSpc>
                <a:spcPct val="106000"/>
              </a:lnSpc>
              <a:spcBef>
                <a:spcPts val="0"/>
              </a:spcBef>
              <a:spcAft>
                <a:spcPts val="0"/>
              </a:spcAft>
            </a:pPr>
            <a:r>
              <a:rPr sz="1200" b="0">
                <a:solidFill>
                  <a:srgbClr val="1A1A1A"/>
                </a:solidFill>
                <a:latin typeface="Red Hat Text"/>
              </a:rPr>
              <a:t>Headless Service: per-Pod DNS</a:t>
            </a:r>
          </a:p>
        </p:txBody>
      </p:sp>
      <p:sp>
        <p:nvSpPr>
          <p:cNvPr id="13" name="Rounded Rectangle 12"/>
          <p:cNvSpPr/>
          <p:nvPr/>
        </p:nvSpPr>
        <p:spPr>
          <a:xfrm>
            <a:off x="841248" y="3877056"/>
            <a:ext cx="5715000" cy="530352"/>
          </a:xfrm>
          <a:prstGeom prst="roundRect">
            <a:avLst>
              <a:gd name="adj" fmla="val 6000"/>
            </a:avLst>
          </a:prstGeom>
          <a:solidFill>
            <a:srgbClr val="F5F6F8"/>
          </a:solidFill>
          <a:ln w="12700">
            <a:solidFill>
              <a:srgbClr val="DDE1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4" name="Picture 13" descr="check_steel.png"/>
          <p:cNvPicPr>
            <a:picLocks noChangeAspect="1"/>
          </p:cNvPicPr>
          <p:nvPr/>
        </p:nvPicPr>
        <p:blipFill>
          <a:blip r:embed="rId3"/>
          <a:stretch>
            <a:fillRect/>
          </a:stretch>
        </p:blipFill>
        <p:spPr>
          <a:xfrm>
            <a:off x="987552" y="4023360"/>
            <a:ext cx="237744" cy="237744"/>
          </a:xfrm>
          <a:prstGeom prst="rect">
            <a:avLst/>
          </a:prstGeom>
        </p:spPr>
      </p:pic>
      <p:sp>
        <p:nvSpPr>
          <p:cNvPr id="15" name="TextBox 14"/>
          <p:cNvSpPr txBox="1"/>
          <p:nvPr/>
        </p:nvSpPr>
        <p:spPr>
          <a:xfrm>
            <a:off x="1353312" y="3877056"/>
            <a:ext cx="5029200" cy="530352"/>
          </a:xfrm>
          <a:prstGeom prst="rect">
            <a:avLst/>
          </a:prstGeom>
          <a:noFill/>
        </p:spPr>
        <p:txBody>
          <a:bodyPr wrap="square" anchor="ctr" lIns="0" rIns="0" tIns="0" bIns="0">
            <a:spAutoFit/>
          </a:bodyPr>
          <a:lstStyle/>
          <a:p>
            <a:pPr algn="l">
              <a:lnSpc>
                <a:spcPct val="106000"/>
              </a:lnSpc>
              <a:spcBef>
                <a:spcPts val="0"/>
              </a:spcBef>
              <a:spcAft>
                <a:spcPts val="0"/>
              </a:spcAft>
            </a:pPr>
            <a:r>
              <a:rPr sz="1200" b="0">
                <a:solidFill>
                  <a:srgbClr val="1A1A1A"/>
                </a:solidFill>
                <a:latin typeface="Red Hat Text"/>
              </a:rPr>
              <a:t>volumeClaimTemplate: one PVC per Pod</a:t>
            </a:r>
          </a:p>
        </p:txBody>
      </p:sp>
      <p:sp>
        <p:nvSpPr>
          <p:cNvPr id="16" name="Rounded Rectangle 15"/>
          <p:cNvSpPr/>
          <p:nvPr/>
        </p:nvSpPr>
        <p:spPr>
          <a:xfrm>
            <a:off x="841248" y="4480560"/>
            <a:ext cx="5715000" cy="530352"/>
          </a:xfrm>
          <a:prstGeom prst="roundRect">
            <a:avLst>
              <a:gd name="adj" fmla="val 6000"/>
            </a:avLst>
          </a:prstGeom>
          <a:solidFill>
            <a:srgbClr val="F5F6F8"/>
          </a:solidFill>
          <a:ln w="12700">
            <a:solidFill>
              <a:srgbClr val="DDE1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7" name="Picture 16" descr="check_steel.png"/>
          <p:cNvPicPr>
            <a:picLocks noChangeAspect="1"/>
          </p:cNvPicPr>
          <p:nvPr/>
        </p:nvPicPr>
        <p:blipFill>
          <a:blip r:embed="rId3"/>
          <a:stretch>
            <a:fillRect/>
          </a:stretch>
        </p:blipFill>
        <p:spPr>
          <a:xfrm>
            <a:off x="987552" y="4626864"/>
            <a:ext cx="237744" cy="237744"/>
          </a:xfrm>
          <a:prstGeom prst="rect">
            <a:avLst/>
          </a:prstGeom>
        </p:spPr>
      </p:pic>
      <p:sp>
        <p:nvSpPr>
          <p:cNvPr id="18" name="TextBox 17"/>
          <p:cNvSpPr txBox="1"/>
          <p:nvPr/>
        </p:nvSpPr>
        <p:spPr>
          <a:xfrm>
            <a:off x="1353312" y="4480560"/>
            <a:ext cx="5029200" cy="530352"/>
          </a:xfrm>
          <a:prstGeom prst="rect">
            <a:avLst/>
          </a:prstGeom>
          <a:noFill/>
        </p:spPr>
        <p:txBody>
          <a:bodyPr wrap="square" anchor="ctr" lIns="0" rIns="0" tIns="0" bIns="0">
            <a:spAutoFit/>
          </a:bodyPr>
          <a:lstStyle/>
          <a:p>
            <a:pPr algn="l">
              <a:lnSpc>
                <a:spcPct val="106000"/>
              </a:lnSpc>
              <a:spcBef>
                <a:spcPts val="0"/>
              </a:spcBef>
              <a:spcAft>
                <a:spcPts val="0"/>
              </a:spcAft>
            </a:pPr>
            <a:r>
              <a:rPr sz="1200" b="0">
                <a:solidFill>
                  <a:srgbClr val="1A1A1A"/>
                </a:solidFill>
                <a:latin typeface="Red Hat Text"/>
              </a:rPr>
              <a:t>Ordered lifecycle, partitioned updates</a:t>
            </a:r>
          </a:p>
        </p:txBody>
      </p:sp>
      <p:sp>
        <p:nvSpPr>
          <p:cNvPr id="19" name="Rounded Rectangle 18"/>
          <p:cNvSpPr/>
          <p:nvPr/>
        </p:nvSpPr>
        <p:spPr>
          <a:xfrm>
            <a:off x="841248" y="5084064"/>
            <a:ext cx="5715000" cy="530352"/>
          </a:xfrm>
          <a:prstGeom prst="roundRect">
            <a:avLst>
              <a:gd name="adj" fmla="val 6000"/>
            </a:avLst>
          </a:prstGeom>
          <a:solidFill>
            <a:srgbClr val="F5F6F8"/>
          </a:solidFill>
          <a:ln w="12700">
            <a:solidFill>
              <a:srgbClr val="DDE1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0" name="Picture 19" descr="check_steel.png"/>
          <p:cNvPicPr>
            <a:picLocks noChangeAspect="1"/>
          </p:cNvPicPr>
          <p:nvPr/>
        </p:nvPicPr>
        <p:blipFill>
          <a:blip r:embed="rId3"/>
          <a:stretch>
            <a:fillRect/>
          </a:stretch>
        </p:blipFill>
        <p:spPr>
          <a:xfrm>
            <a:off x="987552" y="5230368"/>
            <a:ext cx="237744" cy="237744"/>
          </a:xfrm>
          <a:prstGeom prst="rect">
            <a:avLst/>
          </a:prstGeom>
        </p:spPr>
      </p:pic>
      <p:sp>
        <p:nvSpPr>
          <p:cNvPr id="21" name="TextBox 20"/>
          <p:cNvSpPr txBox="1"/>
          <p:nvPr/>
        </p:nvSpPr>
        <p:spPr>
          <a:xfrm>
            <a:off x="1353312" y="5084064"/>
            <a:ext cx="5029200" cy="530352"/>
          </a:xfrm>
          <a:prstGeom prst="rect">
            <a:avLst/>
          </a:prstGeom>
          <a:noFill/>
        </p:spPr>
        <p:txBody>
          <a:bodyPr wrap="square" anchor="ctr" lIns="0" rIns="0" tIns="0" bIns="0">
            <a:spAutoFit/>
          </a:bodyPr>
          <a:lstStyle/>
          <a:p>
            <a:pPr algn="l">
              <a:lnSpc>
                <a:spcPct val="106000"/>
              </a:lnSpc>
              <a:spcBef>
                <a:spcPts val="0"/>
              </a:spcBef>
              <a:spcAft>
                <a:spcPts val="0"/>
              </a:spcAft>
            </a:pPr>
            <a:r>
              <a:rPr sz="1200" b="0">
                <a:solidFill>
                  <a:srgbClr val="1A1A1A"/>
                </a:solidFill>
                <a:latin typeface="Red Hat Text"/>
              </a:rPr>
              <a:t>Not automatically a replicated database</a:t>
            </a:r>
          </a:p>
        </p:txBody>
      </p:sp>
      <p:sp>
        <p:nvSpPr>
          <p:cNvPr id="22" name="Rounded Rectangle 21"/>
          <p:cNvSpPr/>
          <p:nvPr/>
        </p:nvSpPr>
        <p:spPr>
          <a:xfrm>
            <a:off x="6812280" y="2670048"/>
            <a:ext cx="4538167" cy="2944368"/>
          </a:xfrm>
          <a:prstGeom prst="roundRect">
            <a:avLst>
              <a:gd name="adj" fmla="val 4000"/>
            </a:avLst>
          </a:prstGeom>
          <a:solidFill>
            <a:srgbClr val="FFFFFF"/>
          </a:solidFill>
          <a:ln w="15240">
            <a:solidFill>
              <a:srgbClr val="DDE1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ounded Rectangle 22"/>
          <p:cNvSpPr/>
          <p:nvPr/>
        </p:nvSpPr>
        <p:spPr>
          <a:xfrm>
            <a:off x="7013448" y="2871216"/>
            <a:ext cx="1298448" cy="310896"/>
          </a:xfrm>
          <a:prstGeom prst="roundRect">
            <a:avLst>
              <a:gd name="adj" fmla="val 50000"/>
            </a:avLst>
          </a:prstGeom>
          <a:solidFill>
            <a:srgbClr val="FCEC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7013448" y="2871216"/>
            <a:ext cx="1298448" cy="310896"/>
          </a:xfrm>
          <a:prstGeom prst="rect">
            <a:avLst/>
          </a:prstGeom>
          <a:noFill/>
        </p:spPr>
        <p:txBody>
          <a:bodyPr wrap="none" anchor="ctr" lIns="0" rIns="0" tIns="0" bIns="0">
            <a:spAutoFit/>
          </a:bodyPr>
          <a:lstStyle/>
          <a:p>
            <a:pPr algn="ctr">
              <a:lnSpc>
                <a:spcPct val="106000"/>
              </a:lnSpc>
              <a:spcBef>
                <a:spcPts val="0"/>
              </a:spcBef>
              <a:spcAft>
                <a:spcPts val="0"/>
              </a:spcAft>
            </a:pPr>
            <a:r>
              <a:rPr sz="850" b="1">
                <a:solidFill>
                  <a:srgbClr val="B80000"/>
                </a:solidFill>
                <a:latin typeface="Red Hat Display"/>
              </a:rPr>
              <a:t>MEDIA PASS</a:t>
            </a:r>
          </a:p>
        </p:txBody>
      </p:sp>
      <p:pic>
        <p:nvPicPr>
          <p:cNvPr id="25" name="Picture 24" descr="eye_slate.png"/>
          <p:cNvPicPr>
            <a:picLocks noChangeAspect="1"/>
          </p:cNvPicPr>
          <p:nvPr/>
        </p:nvPicPr>
        <p:blipFill>
          <a:blip r:embed="rId4"/>
          <a:stretch>
            <a:fillRect/>
          </a:stretch>
        </p:blipFill>
        <p:spPr>
          <a:xfrm>
            <a:off x="8843619" y="3383280"/>
            <a:ext cx="475488" cy="475488"/>
          </a:xfrm>
          <a:prstGeom prst="rect">
            <a:avLst/>
          </a:prstGeom>
        </p:spPr>
      </p:pic>
      <p:sp>
        <p:nvSpPr>
          <p:cNvPr id="26" name="TextBox 25"/>
          <p:cNvSpPr txBox="1"/>
          <p:nvPr/>
        </p:nvSpPr>
        <p:spPr>
          <a:xfrm>
            <a:off x="7050024" y="3995928"/>
            <a:ext cx="4062679" cy="1481328"/>
          </a:xfrm>
          <a:prstGeom prst="rect">
            <a:avLst/>
          </a:prstGeom>
          <a:noFill/>
        </p:spPr>
        <p:txBody>
          <a:bodyPr wrap="square" anchor="t" lIns="0" rIns="0" tIns="0" bIns="0">
            <a:spAutoFit/>
          </a:bodyPr>
          <a:lstStyle/>
          <a:p>
            <a:pPr algn="l">
              <a:lnSpc>
                <a:spcPct val="120000"/>
              </a:lnSpc>
              <a:spcBef>
                <a:spcPts val="0"/>
              </a:spcBef>
              <a:spcAft>
                <a:spcPts val="0"/>
              </a:spcAft>
            </a:pPr>
            <a:r>
              <a:rPr sz="950" b="0">
                <a:solidFill>
                  <a:srgbClr val="8A9099"/>
                </a:solidFill>
                <a:latin typeface="Red Hat Text"/>
              </a:rPr>
              <a:t>Reuse concept diagram storage-stateful-...-02-sts-vs-deployment.svg — Deployment (shared Service, random Pods) vs StatefulSet (headless Service, pg-sts-0/1 each with its own PVC).</a:t>
            </a:r>
          </a:p>
        </p:txBody>
      </p:sp>
      <p:cxnSp>
        <p:nvCxnSpPr>
          <p:cNvPr id="27" name="Connector 26"/>
          <p:cNvCxnSpPr/>
          <p:nvPr/>
        </p:nvCxnSpPr>
        <p:spPr>
          <a:xfrm>
            <a:off x="841248" y="6437376"/>
            <a:ext cx="10509199" cy="0"/>
          </a:xfrm>
          <a:prstGeom prst="bentConnector3">
            <a:avLst/>
          </a:prstGeom>
          <a:ln w="12700">
            <a:solidFill>
              <a:srgbClr val="DDE1E6"/>
            </a:solidFill>
          </a:ln>
          <a:effectLst/>
        </p:spPr>
        <p:style>
          <a:lnRef idx="2">
            <a:schemeClr val="accent1"/>
          </a:lnRef>
          <a:fillRef idx="0">
            <a:schemeClr val="accent1"/>
          </a:fillRef>
          <a:effectRef idx="1">
            <a:schemeClr val="accent1"/>
          </a:effectRef>
          <a:fontRef idx="minor">
            <a:schemeClr val="tx1"/>
          </a:fontRef>
        </p:style>
      </p:cxnSp>
      <p:sp>
        <p:nvSpPr>
          <p:cNvPr id="28" name="TextBox 27"/>
          <p:cNvSpPr txBox="1"/>
          <p:nvPr/>
        </p:nvSpPr>
        <p:spPr>
          <a:xfrm>
            <a:off x="841248" y="6473952"/>
            <a:ext cx="7315200" cy="274320"/>
          </a:xfrm>
          <a:prstGeom prst="rect">
            <a:avLst/>
          </a:prstGeom>
          <a:noFill/>
        </p:spPr>
        <p:txBody>
          <a:bodyPr wrap="square" anchor="t" lIns="0" rIns="0" tIns="0" bIns="0">
            <a:spAutoFit/>
          </a:bodyPr>
          <a:lstStyle/>
          <a:p>
            <a:pPr algn="l">
              <a:lnSpc>
                <a:spcPct val="106000"/>
              </a:lnSpc>
              <a:spcBef>
                <a:spcPts val="0"/>
              </a:spcBef>
              <a:spcAft>
                <a:spcPts val="0"/>
              </a:spcAft>
            </a:pPr>
            <a:r>
              <a:rPr sz="950" b="0">
                <a:solidFill>
                  <a:srgbClr val="8A9099"/>
                </a:solidFill>
                <a:latin typeface="Red Hat Text"/>
              </a:rPr>
              <a:t>CONFIDENTIAL</a:t>
            </a:r>
          </a:p>
        </p:txBody>
      </p:sp>
      <p:sp>
        <p:nvSpPr>
          <p:cNvPr id="29" name="TextBox 28"/>
          <p:cNvSpPr txBox="1"/>
          <p:nvPr/>
        </p:nvSpPr>
        <p:spPr>
          <a:xfrm>
            <a:off x="10801807" y="6473952"/>
            <a:ext cx="548640" cy="274320"/>
          </a:xfrm>
          <a:prstGeom prst="rect">
            <a:avLst/>
          </a:prstGeom>
          <a:noFill/>
        </p:spPr>
        <p:txBody>
          <a:bodyPr wrap="square" anchor="t" lIns="0" rIns="0" tIns="0" bIns="0">
            <a:spAutoFit/>
          </a:bodyPr>
          <a:lstStyle/>
          <a:p>
            <a:pPr algn="r">
              <a:lnSpc>
                <a:spcPct val="106000"/>
              </a:lnSpc>
              <a:spcBef>
                <a:spcPts val="0"/>
              </a:spcBef>
              <a:spcAft>
                <a:spcPts val="0"/>
              </a:spcAft>
            </a:pPr>
            <a:r>
              <a:rPr sz="950" b="0">
                <a:solidFill>
                  <a:srgbClr val="8A9099"/>
                </a:solidFill>
                <a:latin typeface="Red Hat Text"/>
              </a:rPr>
              <a:t>33</a:t>
            </a: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redhat_logo.jpg"/>
          <p:cNvPicPr>
            <a:picLocks noChangeAspect="1"/>
          </p:cNvPicPr>
          <p:nvPr/>
        </p:nvPicPr>
        <p:blipFill>
          <a:blip r:embed="rId2"/>
          <a:stretch>
            <a:fillRect/>
          </a:stretch>
        </p:blipFill>
        <p:spPr>
          <a:xfrm>
            <a:off x="10326319" y="475488"/>
            <a:ext cx="1024128" cy="242248"/>
          </a:xfrm>
          <a:prstGeom prst="rect">
            <a:avLst/>
          </a:prstGeom>
        </p:spPr>
      </p:pic>
      <p:sp>
        <p:nvSpPr>
          <p:cNvPr id="3" name="TextBox 2"/>
          <p:cNvSpPr txBox="1"/>
          <p:nvPr/>
        </p:nvSpPr>
        <p:spPr>
          <a:xfrm>
            <a:off x="841248" y="548640"/>
            <a:ext cx="8595360" cy="274320"/>
          </a:xfrm>
          <a:prstGeom prst="rect">
            <a:avLst/>
          </a:prstGeom>
          <a:noFill/>
        </p:spPr>
        <p:txBody>
          <a:bodyPr wrap="square" anchor="t" lIns="0" rIns="0" tIns="0" bIns="0">
            <a:spAutoFit/>
          </a:bodyPr>
          <a:lstStyle/>
          <a:p>
            <a:pPr algn="l">
              <a:lnSpc>
                <a:spcPct val="106000"/>
              </a:lnSpc>
              <a:spcBef>
                <a:spcPts val="0"/>
              </a:spcBef>
              <a:spcAft>
                <a:spcPts val="0"/>
              </a:spcAft>
            </a:pPr>
            <a:r>
              <a:rPr sz="1250" b="1" spc="220">
                <a:solidFill>
                  <a:srgbClr val="EE0000"/>
                </a:solidFill>
                <a:latin typeface="Red Hat Display"/>
              </a:rPr>
              <a:t>M05 · STORAGE &amp; STATEFUL APPS</a:t>
            </a:r>
          </a:p>
        </p:txBody>
      </p:sp>
      <p:sp>
        <p:nvSpPr>
          <p:cNvPr id="4" name="TextBox 3"/>
          <p:cNvSpPr txBox="1"/>
          <p:nvPr/>
        </p:nvSpPr>
        <p:spPr>
          <a:xfrm>
            <a:off x="841248" y="877824"/>
            <a:ext cx="10515600" cy="548640"/>
          </a:xfrm>
          <a:prstGeom prst="rect">
            <a:avLst/>
          </a:prstGeom>
          <a:noFill/>
        </p:spPr>
        <p:txBody>
          <a:bodyPr wrap="none" anchor="t" lIns="0" rIns="0" tIns="0" bIns="0">
            <a:spAutoFit/>
          </a:bodyPr>
          <a:lstStyle/>
          <a:p>
            <a:pPr algn="l">
              <a:lnSpc>
                <a:spcPct val="100000"/>
              </a:lnSpc>
              <a:spcBef>
                <a:spcPts val="0"/>
              </a:spcBef>
              <a:spcAft>
                <a:spcPts val="0"/>
              </a:spcAft>
            </a:pPr>
            <a:r>
              <a:rPr sz="2500" b="1">
                <a:solidFill>
                  <a:srgbClr val="1A1A1A"/>
                </a:solidFill>
                <a:latin typeface="Red Hat Display"/>
              </a:rPr>
              <a:t>What you'll do</a:t>
            </a:r>
          </a:p>
        </p:txBody>
      </p:sp>
      <p:cxnSp>
        <p:nvCxnSpPr>
          <p:cNvPr id="5" name="Connector 4"/>
          <p:cNvCxnSpPr/>
          <p:nvPr/>
        </p:nvCxnSpPr>
        <p:spPr>
          <a:xfrm>
            <a:off x="841248" y="1554480"/>
            <a:ext cx="1371600" cy="0"/>
          </a:xfrm>
          <a:prstGeom prst="bentConnector3">
            <a:avLst/>
          </a:prstGeom>
          <a:ln w="31750">
            <a:solidFill>
              <a:srgbClr val="EE0000"/>
            </a:solidFill>
          </a:ln>
          <a:effectLst/>
        </p:spPr>
        <p:style>
          <a:lnRef idx="2">
            <a:schemeClr val="accent1"/>
          </a:lnRef>
          <a:fillRef idx="0">
            <a:schemeClr val="accent1"/>
          </a:fillRef>
          <a:effectRef idx="1">
            <a:schemeClr val="accent1"/>
          </a:effectRef>
          <a:fontRef idx="minor">
            <a:schemeClr val="tx1"/>
          </a:fontRef>
        </p:style>
      </p:cxnSp>
      <p:sp>
        <p:nvSpPr>
          <p:cNvPr id="6" name="Rounded Rectangle 5"/>
          <p:cNvSpPr/>
          <p:nvPr/>
        </p:nvSpPr>
        <p:spPr>
          <a:xfrm>
            <a:off x="841248" y="2395728"/>
            <a:ext cx="5715000" cy="530352"/>
          </a:xfrm>
          <a:prstGeom prst="roundRect">
            <a:avLst>
              <a:gd name="adj" fmla="val 6000"/>
            </a:avLst>
          </a:prstGeom>
          <a:solidFill>
            <a:srgbClr val="F5F6F8"/>
          </a:solidFill>
          <a:ln w="12700">
            <a:solidFill>
              <a:srgbClr val="DDE1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check_steel.png"/>
          <p:cNvPicPr>
            <a:picLocks noChangeAspect="1"/>
          </p:cNvPicPr>
          <p:nvPr/>
        </p:nvPicPr>
        <p:blipFill>
          <a:blip r:embed="rId3"/>
          <a:stretch>
            <a:fillRect/>
          </a:stretch>
        </p:blipFill>
        <p:spPr>
          <a:xfrm>
            <a:off x="987552" y="2542032"/>
            <a:ext cx="237744" cy="237744"/>
          </a:xfrm>
          <a:prstGeom prst="rect">
            <a:avLst/>
          </a:prstGeom>
        </p:spPr>
      </p:pic>
      <p:sp>
        <p:nvSpPr>
          <p:cNvPr id="8" name="TextBox 7"/>
          <p:cNvSpPr txBox="1"/>
          <p:nvPr/>
        </p:nvSpPr>
        <p:spPr>
          <a:xfrm>
            <a:off x="1353312" y="2395728"/>
            <a:ext cx="5029200" cy="530352"/>
          </a:xfrm>
          <a:prstGeom prst="rect">
            <a:avLst/>
          </a:prstGeom>
          <a:noFill/>
        </p:spPr>
        <p:txBody>
          <a:bodyPr wrap="square" anchor="ctr" lIns="0" rIns="0" tIns="0" bIns="0">
            <a:spAutoFit/>
          </a:bodyPr>
          <a:lstStyle/>
          <a:p>
            <a:pPr algn="l">
              <a:lnSpc>
                <a:spcPct val="106000"/>
              </a:lnSpc>
              <a:spcBef>
                <a:spcPts val="0"/>
              </a:spcBef>
              <a:spcAft>
                <a:spcPts val="0"/>
              </a:spcAft>
            </a:pPr>
            <a:r>
              <a:rPr sz="1200" b="0">
                <a:solidFill>
                  <a:srgbClr val="1A1A1A"/>
                </a:solidFill>
                <a:latin typeface="Red Hat Text"/>
              </a:rPr>
              <a:t>Seed claims, then lose them (emptyDir)</a:t>
            </a:r>
          </a:p>
        </p:txBody>
      </p:sp>
      <p:sp>
        <p:nvSpPr>
          <p:cNvPr id="9" name="Rounded Rectangle 8"/>
          <p:cNvSpPr/>
          <p:nvPr/>
        </p:nvSpPr>
        <p:spPr>
          <a:xfrm>
            <a:off x="841248" y="2999232"/>
            <a:ext cx="5715000" cy="530352"/>
          </a:xfrm>
          <a:prstGeom prst="roundRect">
            <a:avLst>
              <a:gd name="adj" fmla="val 6000"/>
            </a:avLst>
          </a:prstGeom>
          <a:solidFill>
            <a:srgbClr val="F5F6F8"/>
          </a:solidFill>
          <a:ln w="12700">
            <a:solidFill>
              <a:srgbClr val="DDE1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0" name="Picture 9" descr="check_steel.png"/>
          <p:cNvPicPr>
            <a:picLocks noChangeAspect="1"/>
          </p:cNvPicPr>
          <p:nvPr/>
        </p:nvPicPr>
        <p:blipFill>
          <a:blip r:embed="rId3"/>
          <a:stretch>
            <a:fillRect/>
          </a:stretch>
        </p:blipFill>
        <p:spPr>
          <a:xfrm>
            <a:off x="987552" y="3145536"/>
            <a:ext cx="237744" cy="237744"/>
          </a:xfrm>
          <a:prstGeom prst="rect">
            <a:avLst/>
          </a:prstGeom>
        </p:spPr>
      </p:pic>
      <p:sp>
        <p:nvSpPr>
          <p:cNvPr id="11" name="TextBox 10"/>
          <p:cNvSpPr txBox="1"/>
          <p:nvPr/>
        </p:nvSpPr>
        <p:spPr>
          <a:xfrm>
            <a:off x="1353312" y="2999232"/>
            <a:ext cx="5029200" cy="530352"/>
          </a:xfrm>
          <a:prstGeom prst="rect">
            <a:avLst/>
          </a:prstGeom>
          <a:noFill/>
        </p:spPr>
        <p:txBody>
          <a:bodyPr wrap="square" anchor="ctr" lIns="0" rIns="0" tIns="0" bIns="0">
            <a:spAutoFit/>
          </a:bodyPr>
          <a:lstStyle/>
          <a:p>
            <a:pPr algn="l">
              <a:lnSpc>
                <a:spcPct val="106000"/>
              </a:lnSpc>
              <a:spcBef>
                <a:spcPts val="0"/>
              </a:spcBef>
              <a:spcAft>
                <a:spcPts val="0"/>
              </a:spcAft>
            </a:pPr>
            <a:r>
              <a:rPr sz="1200" b="0">
                <a:solidFill>
                  <a:srgbClr val="1A1A1A"/>
                </a:solidFill>
                <a:latin typeface="Red Hat Text"/>
              </a:rPr>
              <a:t>Add a PVC; watch them survive</a:t>
            </a:r>
          </a:p>
        </p:txBody>
      </p:sp>
      <p:sp>
        <p:nvSpPr>
          <p:cNvPr id="12" name="Rounded Rectangle 11"/>
          <p:cNvSpPr/>
          <p:nvPr/>
        </p:nvSpPr>
        <p:spPr>
          <a:xfrm>
            <a:off x="841248" y="3602736"/>
            <a:ext cx="5715000" cy="530352"/>
          </a:xfrm>
          <a:prstGeom prst="roundRect">
            <a:avLst>
              <a:gd name="adj" fmla="val 6000"/>
            </a:avLst>
          </a:prstGeom>
          <a:solidFill>
            <a:srgbClr val="F5F6F8"/>
          </a:solidFill>
          <a:ln w="12700">
            <a:solidFill>
              <a:srgbClr val="DDE1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3" name="Picture 12" descr="check_steel.png"/>
          <p:cNvPicPr>
            <a:picLocks noChangeAspect="1"/>
          </p:cNvPicPr>
          <p:nvPr/>
        </p:nvPicPr>
        <p:blipFill>
          <a:blip r:embed="rId3"/>
          <a:stretch>
            <a:fillRect/>
          </a:stretch>
        </p:blipFill>
        <p:spPr>
          <a:xfrm>
            <a:off x="987552" y="3749040"/>
            <a:ext cx="237744" cy="237744"/>
          </a:xfrm>
          <a:prstGeom prst="rect">
            <a:avLst/>
          </a:prstGeom>
        </p:spPr>
      </p:pic>
      <p:sp>
        <p:nvSpPr>
          <p:cNvPr id="14" name="TextBox 13"/>
          <p:cNvSpPr txBox="1"/>
          <p:nvPr/>
        </p:nvSpPr>
        <p:spPr>
          <a:xfrm>
            <a:off x="1353312" y="3602736"/>
            <a:ext cx="5029200" cy="530352"/>
          </a:xfrm>
          <a:prstGeom prst="rect">
            <a:avLst/>
          </a:prstGeom>
          <a:noFill/>
        </p:spPr>
        <p:txBody>
          <a:bodyPr wrap="square" anchor="ctr" lIns="0" rIns="0" tIns="0" bIns="0">
            <a:spAutoFit/>
          </a:bodyPr>
          <a:lstStyle/>
          <a:p>
            <a:pPr algn="l">
              <a:lnSpc>
                <a:spcPct val="106000"/>
              </a:lnSpc>
              <a:spcBef>
                <a:spcPts val="0"/>
              </a:spcBef>
              <a:spcAft>
                <a:spcPts val="0"/>
              </a:spcAft>
            </a:pPr>
            <a:r>
              <a:rPr sz="1200" b="0">
                <a:solidFill>
                  <a:srgbClr val="1A1A1A"/>
                </a:solidFill>
                <a:latin typeface="Red Hat Text"/>
              </a:rPr>
              <a:t>Walk PVC → PV → StorageClass</a:t>
            </a:r>
          </a:p>
        </p:txBody>
      </p:sp>
      <p:sp>
        <p:nvSpPr>
          <p:cNvPr id="15" name="Rounded Rectangle 14"/>
          <p:cNvSpPr/>
          <p:nvPr/>
        </p:nvSpPr>
        <p:spPr>
          <a:xfrm>
            <a:off x="841248" y="4206240"/>
            <a:ext cx="5715000" cy="530352"/>
          </a:xfrm>
          <a:prstGeom prst="roundRect">
            <a:avLst>
              <a:gd name="adj" fmla="val 6000"/>
            </a:avLst>
          </a:prstGeom>
          <a:solidFill>
            <a:srgbClr val="F5F6F8"/>
          </a:solidFill>
          <a:ln w="12700">
            <a:solidFill>
              <a:srgbClr val="DDE1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6" name="Picture 15" descr="check_steel.png"/>
          <p:cNvPicPr>
            <a:picLocks noChangeAspect="1"/>
          </p:cNvPicPr>
          <p:nvPr/>
        </p:nvPicPr>
        <p:blipFill>
          <a:blip r:embed="rId3"/>
          <a:stretch>
            <a:fillRect/>
          </a:stretch>
        </p:blipFill>
        <p:spPr>
          <a:xfrm>
            <a:off x="987552" y="4352544"/>
            <a:ext cx="237744" cy="237744"/>
          </a:xfrm>
          <a:prstGeom prst="rect">
            <a:avLst/>
          </a:prstGeom>
        </p:spPr>
      </p:pic>
      <p:sp>
        <p:nvSpPr>
          <p:cNvPr id="17" name="TextBox 16"/>
          <p:cNvSpPr txBox="1"/>
          <p:nvPr/>
        </p:nvSpPr>
        <p:spPr>
          <a:xfrm>
            <a:off x="1353312" y="4206240"/>
            <a:ext cx="5029200" cy="530352"/>
          </a:xfrm>
          <a:prstGeom prst="rect">
            <a:avLst/>
          </a:prstGeom>
          <a:noFill/>
        </p:spPr>
        <p:txBody>
          <a:bodyPr wrap="square" anchor="ctr" lIns="0" rIns="0" tIns="0" bIns="0">
            <a:spAutoFit/>
          </a:bodyPr>
          <a:lstStyle/>
          <a:p>
            <a:pPr algn="l">
              <a:lnSpc>
                <a:spcPct val="106000"/>
              </a:lnSpc>
              <a:spcBef>
                <a:spcPts val="0"/>
              </a:spcBef>
              <a:spcAft>
                <a:spcPts val="0"/>
              </a:spcAft>
            </a:pPr>
            <a:r>
              <a:rPr sz="1200" b="0">
                <a:solidFill>
                  <a:srgbClr val="1A1A1A"/>
                </a:solidFill>
                <a:latin typeface="Red Hat Text"/>
              </a:rPr>
              <a:t>Run a StatefulSet: identity, DNS, per-Pod volumes</a:t>
            </a:r>
          </a:p>
        </p:txBody>
      </p:sp>
      <p:sp>
        <p:nvSpPr>
          <p:cNvPr id="18" name="Rounded Rectangle 17"/>
          <p:cNvSpPr/>
          <p:nvPr/>
        </p:nvSpPr>
        <p:spPr>
          <a:xfrm>
            <a:off x="841248" y="4809744"/>
            <a:ext cx="5715000" cy="530352"/>
          </a:xfrm>
          <a:prstGeom prst="roundRect">
            <a:avLst>
              <a:gd name="adj" fmla="val 6000"/>
            </a:avLst>
          </a:prstGeom>
          <a:solidFill>
            <a:srgbClr val="F5F6F8"/>
          </a:solidFill>
          <a:ln w="12700">
            <a:solidFill>
              <a:srgbClr val="DDE1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9" name="Picture 18" descr="check_steel.png"/>
          <p:cNvPicPr>
            <a:picLocks noChangeAspect="1"/>
          </p:cNvPicPr>
          <p:nvPr/>
        </p:nvPicPr>
        <p:blipFill>
          <a:blip r:embed="rId3"/>
          <a:stretch>
            <a:fillRect/>
          </a:stretch>
        </p:blipFill>
        <p:spPr>
          <a:xfrm>
            <a:off x="987552" y="4956048"/>
            <a:ext cx="237744" cy="237744"/>
          </a:xfrm>
          <a:prstGeom prst="rect">
            <a:avLst/>
          </a:prstGeom>
        </p:spPr>
      </p:pic>
      <p:sp>
        <p:nvSpPr>
          <p:cNvPr id="20" name="TextBox 19"/>
          <p:cNvSpPr txBox="1"/>
          <p:nvPr/>
        </p:nvSpPr>
        <p:spPr>
          <a:xfrm>
            <a:off x="1353312" y="4809744"/>
            <a:ext cx="5029200" cy="530352"/>
          </a:xfrm>
          <a:prstGeom prst="rect">
            <a:avLst/>
          </a:prstGeom>
          <a:noFill/>
        </p:spPr>
        <p:txBody>
          <a:bodyPr wrap="square" anchor="ctr" lIns="0" rIns="0" tIns="0" bIns="0">
            <a:spAutoFit/>
          </a:bodyPr>
          <a:lstStyle/>
          <a:p>
            <a:pPr algn="l">
              <a:lnSpc>
                <a:spcPct val="106000"/>
              </a:lnSpc>
              <a:spcBef>
                <a:spcPts val="0"/>
              </a:spcBef>
              <a:spcAft>
                <a:spcPts val="0"/>
              </a:spcAft>
            </a:pPr>
            <a:r>
              <a:rPr sz="1200" b="0">
                <a:solidFill>
                  <a:srgbClr val="1A1A1A"/>
                </a:solidFill>
                <a:latin typeface="Red Hat Text"/>
              </a:rPr>
              <a:t>Partitioned update, init container, online resize</a:t>
            </a:r>
          </a:p>
        </p:txBody>
      </p:sp>
      <p:sp>
        <p:nvSpPr>
          <p:cNvPr id="21" name="Rounded Rectangle 20"/>
          <p:cNvSpPr/>
          <p:nvPr/>
        </p:nvSpPr>
        <p:spPr>
          <a:xfrm>
            <a:off x="6812280" y="2395728"/>
            <a:ext cx="4538167" cy="2944368"/>
          </a:xfrm>
          <a:prstGeom prst="roundRect">
            <a:avLst>
              <a:gd name="adj" fmla="val 4000"/>
            </a:avLst>
          </a:prstGeom>
          <a:solidFill>
            <a:srgbClr val="FFFFFF"/>
          </a:solidFill>
          <a:ln w="15240">
            <a:solidFill>
              <a:srgbClr val="DDE1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ounded Rectangle 21"/>
          <p:cNvSpPr/>
          <p:nvPr/>
        </p:nvSpPr>
        <p:spPr>
          <a:xfrm>
            <a:off x="7013448" y="2596896"/>
            <a:ext cx="1298448" cy="310896"/>
          </a:xfrm>
          <a:prstGeom prst="roundRect">
            <a:avLst>
              <a:gd name="adj" fmla="val 50000"/>
            </a:avLst>
          </a:prstGeom>
          <a:solidFill>
            <a:srgbClr val="FCEC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7013448" y="2596896"/>
            <a:ext cx="1298448" cy="310896"/>
          </a:xfrm>
          <a:prstGeom prst="rect">
            <a:avLst/>
          </a:prstGeom>
          <a:noFill/>
        </p:spPr>
        <p:txBody>
          <a:bodyPr wrap="none" anchor="ctr" lIns="0" rIns="0" tIns="0" bIns="0">
            <a:spAutoFit/>
          </a:bodyPr>
          <a:lstStyle/>
          <a:p>
            <a:pPr algn="ctr">
              <a:lnSpc>
                <a:spcPct val="106000"/>
              </a:lnSpc>
              <a:spcBef>
                <a:spcPts val="0"/>
              </a:spcBef>
              <a:spcAft>
                <a:spcPts val="0"/>
              </a:spcAft>
            </a:pPr>
            <a:r>
              <a:rPr sz="850" b="1">
                <a:solidFill>
                  <a:srgbClr val="B80000"/>
                </a:solidFill>
                <a:latin typeface="Red Hat Display"/>
              </a:rPr>
              <a:t>MEDIA PASS</a:t>
            </a:r>
          </a:p>
        </p:txBody>
      </p:sp>
      <p:pic>
        <p:nvPicPr>
          <p:cNvPr id="24" name="Picture 23" descr="eye_slate.png"/>
          <p:cNvPicPr>
            <a:picLocks noChangeAspect="1"/>
          </p:cNvPicPr>
          <p:nvPr/>
        </p:nvPicPr>
        <p:blipFill>
          <a:blip r:embed="rId4"/>
          <a:stretch>
            <a:fillRect/>
          </a:stretch>
        </p:blipFill>
        <p:spPr>
          <a:xfrm>
            <a:off x="8843619" y="3108960"/>
            <a:ext cx="475488" cy="475488"/>
          </a:xfrm>
          <a:prstGeom prst="rect">
            <a:avLst/>
          </a:prstGeom>
        </p:spPr>
      </p:pic>
      <p:sp>
        <p:nvSpPr>
          <p:cNvPr id="25" name="TextBox 24"/>
          <p:cNvSpPr txBox="1"/>
          <p:nvPr/>
        </p:nvSpPr>
        <p:spPr>
          <a:xfrm>
            <a:off x="7050024" y="3721608"/>
            <a:ext cx="4062679" cy="1481328"/>
          </a:xfrm>
          <a:prstGeom prst="rect">
            <a:avLst/>
          </a:prstGeom>
          <a:noFill/>
        </p:spPr>
        <p:txBody>
          <a:bodyPr wrap="square" anchor="t" lIns="0" rIns="0" tIns="0" bIns="0">
            <a:spAutoFit/>
          </a:bodyPr>
          <a:lstStyle/>
          <a:p>
            <a:pPr algn="l">
              <a:lnSpc>
                <a:spcPct val="120000"/>
              </a:lnSpc>
              <a:spcBef>
                <a:spcPts val="0"/>
              </a:spcBef>
              <a:spcAft>
                <a:spcPts val="0"/>
              </a:spcAft>
            </a:pPr>
            <a:r>
              <a:rPr sz="950" b="0">
                <a:solidFill>
                  <a:srgbClr val="8A9099"/>
                </a:solidFill>
                <a:latin typeface="Red Hat Text"/>
              </a:rPr>
              <a:t>Numbered arc strip: seed → lose → add PVC → survive → inspect → StatefulSet → partition/init/resize.</a:t>
            </a:r>
          </a:p>
        </p:txBody>
      </p:sp>
      <p:cxnSp>
        <p:nvCxnSpPr>
          <p:cNvPr id="26" name="Connector 25"/>
          <p:cNvCxnSpPr/>
          <p:nvPr/>
        </p:nvCxnSpPr>
        <p:spPr>
          <a:xfrm>
            <a:off x="841248" y="6437376"/>
            <a:ext cx="10509199" cy="0"/>
          </a:xfrm>
          <a:prstGeom prst="bentConnector3">
            <a:avLst/>
          </a:prstGeom>
          <a:ln w="12700">
            <a:solidFill>
              <a:srgbClr val="DDE1E6"/>
            </a:solidFill>
          </a:ln>
          <a:effectLst/>
        </p:spPr>
        <p:style>
          <a:lnRef idx="2">
            <a:schemeClr val="accent1"/>
          </a:lnRef>
          <a:fillRef idx="0">
            <a:schemeClr val="accent1"/>
          </a:fillRef>
          <a:effectRef idx="1">
            <a:schemeClr val="accent1"/>
          </a:effectRef>
          <a:fontRef idx="minor">
            <a:schemeClr val="tx1"/>
          </a:fontRef>
        </p:style>
      </p:cxnSp>
      <p:sp>
        <p:nvSpPr>
          <p:cNvPr id="27" name="TextBox 26"/>
          <p:cNvSpPr txBox="1"/>
          <p:nvPr/>
        </p:nvSpPr>
        <p:spPr>
          <a:xfrm>
            <a:off x="841248" y="6473952"/>
            <a:ext cx="7315200" cy="274320"/>
          </a:xfrm>
          <a:prstGeom prst="rect">
            <a:avLst/>
          </a:prstGeom>
          <a:noFill/>
        </p:spPr>
        <p:txBody>
          <a:bodyPr wrap="square" anchor="t" lIns="0" rIns="0" tIns="0" bIns="0">
            <a:spAutoFit/>
          </a:bodyPr>
          <a:lstStyle/>
          <a:p>
            <a:pPr algn="l">
              <a:lnSpc>
                <a:spcPct val="106000"/>
              </a:lnSpc>
              <a:spcBef>
                <a:spcPts val="0"/>
              </a:spcBef>
              <a:spcAft>
                <a:spcPts val="0"/>
              </a:spcAft>
            </a:pPr>
            <a:r>
              <a:rPr sz="950" b="0">
                <a:solidFill>
                  <a:srgbClr val="8A9099"/>
                </a:solidFill>
                <a:latin typeface="Red Hat Text"/>
              </a:rPr>
              <a:t>CONFIDENTIAL</a:t>
            </a:r>
          </a:p>
        </p:txBody>
      </p:sp>
      <p:sp>
        <p:nvSpPr>
          <p:cNvPr id="28" name="TextBox 27"/>
          <p:cNvSpPr txBox="1"/>
          <p:nvPr/>
        </p:nvSpPr>
        <p:spPr>
          <a:xfrm>
            <a:off x="10801807" y="6473952"/>
            <a:ext cx="548640" cy="274320"/>
          </a:xfrm>
          <a:prstGeom prst="rect">
            <a:avLst/>
          </a:prstGeom>
          <a:noFill/>
        </p:spPr>
        <p:txBody>
          <a:bodyPr wrap="square" anchor="t" lIns="0" rIns="0" tIns="0" bIns="0">
            <a:spAutoFit/>
          </a:bodyPr>
          <a:lstStyle/>
          <a:p>
            <a:pPr algn="r">
              <a:lnSpc>
                <a:spcPct val="106000"/>
              </a:lnSpc>
              <a:spcBef>
                <a:spcPts val="0"/>
              </a:spcBef>
              <a:spcAft>
                <a:spcPts val="0"/>
              </a:spcAft>
            </a:pPr>
            <a:r>
              <a:rPr sz="950" b="0">
                <a:solidFill>
                  <a:srgbClr val="8A9099"/>
                </a:solidFill>
                <a:latin typeface="Red Hat Text"/>
              </a:rPr>
              <a:t>34</a:t>
            </a:r>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redhat_logo.jpg"/>
          <p:cNvPicPr>
            <a:picLocks noChangeAspect="1"/>
          </p:cNvPicPr>
          <p:nvPr/>
        </p:nvPicPr>
        <p:blipFill>
          <a:blip r:embed="rId2"/>
          <a:stretch>
            <a:fillRect/>
          </a:stretch>
        </p:blipFill>
        <p:spPr>
          <a:xfrm>
            <a:off x="10326319" y="475488"/>
            <a:ext cx="1024128" cy="242248"/>
          </a:xfrm>
          <a:prstGeom prst="rect">
            <a:avLst/>
          </a:prstGeom>
        </p:spPr>
      </p:pic>
      <p:sp>
        <p:nvSpPr>
          <p:cNvPr id="3" name="TextBox 2"/>
          <p:cNvSpPr txBox="1"/>
          <p:nvPr/>
        </p:nvSpPr>
        <p:spPr>
          <a:xfrm>
            <a:off x="841248" y="548640"/>
            <a:ext cx="8595360" cy="274320"/>
          </a:xfrm>
          <a:prstGeom prst="rect">
            <a:avLst/>
          </a:prstGeom>
          <a:noFill/>
        </p:spPr>
        <p:txBody>
          <a:bodyPr wrap="square" anchor="t" lIns="0" rIns="0" tIns="0" bIns="0">
            <a:spAutoFit/>
          </a:bodyPr>
          <a:lstStyle/>
          <a:p>
            <a:pPr algn="l">
              <a:lnSpc>
                <a:spcPct val="106000"/>
              </a:lnSpc>
              <a:spcBef>
                <a:spcPts val="0"/>
              </a:spcBef>
              <a:spcAft>
                <a:spcPts val="0"/>
              </a:spcAft>
            </a:pPr>
            <a:r>
              <a:rPr sz="1250" b="1" spc="220">
                <a:solidFill>
                  <a:srgbClr val="EE0000"/>
                </a:solidFill>
                <a:latin typeface="Red Hat Display"/>
              </a:rPr>
              <a:t>M05 · STORAGE &amp; STATEFUL APPS</a:t>
            </a:r>
          </a:p>
        </p:txBody>
      </p:sp>
      <p:sp>
        <p:nvSpPr>
          <p:cNvPr id="4" name="TextBox 3"/>
          <p:cNvSpPr txBox="1"/>
          <p:nvPr/>
        </p:nvSpPr>
        <p:spPr>
          <a:xfrm>
            <a:off x="841248" y="877824"/>
            <a:ext cx="10515600" cy="548640"/>
          </a:xfrm>
          <a:prstGeom prst="rect">
            <a:avLst/>
          </a:prstGeom>
          <a:noFill/>
        </p:spPr>
        <p:txBody>
          <a:bodyPr wrap="none" anchor="t" lIns="0" rIns="0" tIns="0" bIns="0">
            <a:spAutoFit/>
          </a:bodyPr>
          <a:lstStyle/>
          <a:p>
            <a:pPr algn="l">
              <a:lnSpc>
                <a:spcPct val="100000"/>
              </a:lnSpc>
              <a:spcBef>
                <a:spcPts val="0"/>
              </a:spcBef>
              <a:spcAft>
                <a:spcPts val="0"/>
              </a:spcAft>
            </a:pPr>
            <a:r>
              <a:rPr sz="2500" b="1">
                <a:solidFill>
                  <a:srgbClr val="1A1A1A"/>
                </a:solidFill>
                <a:latin typeface="Red Hat Display"/>
              </a:rPr>
              <a:t>Map to your org — and when not</a:t>
            </a:r>
          </a:p>
        </p:txBody>
      </p:sp>
      <p:cxnSp>
        <p:nvCxnSpPr>
          <p:cNvPr id="5" name="Connector 4"/>
          <p:cNvCxnSpPr/>
          <p:nvPr/>
        </p:nvCxnSpPr>
        <p:spPr>
          <a:xfrm>
            <a:off x="841248" y="1554480"/>
            <a:ext cx="1371600" cy="0"/>
          </a:xfrm>
          <a:prstGeom prst="bentConnector3">
            <a:avLst/>
          </a:prstGeom>
          <a:ln w="31750">
            <a:solidFill>
              <a:srgbClr val="EE0000"/>
            </a:solidFill>
          </a:ln>
          <a:effectLst/>
        </p:spPr>
        <p:style>
          <a:lnRef idx="2">
            <a:schemeClr val="accent1"/>
          </a:lnRef>
          <a:fillRef idx="0">
            <a:schemeClr val="accent1"/>
          </a:fillRef>
          <a:effectRef idx="1">
            <a:schemeClr val="accent1"/>
          </a:effectRef>
          <a:fontRef idx="minor">
            <a:schemeClr val="tx1"/>
          </a:fontRef>
        </p:style>
      </p:cxnSp>
      <p:sp>
        <p:nvSpPr>
          <p:cNvPr id="6" name="Rounded Rectangle 5"/>
          <p:cNvSpPr/>
          <p:nvPr/>
        </p:nvSpPr>
        <p:spPr>
          <a:xfrm>
            <a:off x="841248" y="2395728"/>
            <a:ext cx="5715000" cy="530352"/>
          </a:xfrm>
          <a:prstGeom prst="roundRect">
            <a:avLst>
              <a:gd name="adj" fmla="val 6000"/>
            </a:avLst>
          </a:prstGeom>
          <a:solidFill>
            <a:srgbClr val="F5F6F8"/>
          </a:solidFill>
          <a:ln w="12700">
            <a:solidFill>
              <a:srgbClr val="DDE1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check_steel.png"/>
          <p:cNvPicPr>
            <a:picLocks noChangeAspect="1"/>
          </p:cNvPicPr>
          <p:nvPr/>
        </p:nvPicPr>
        <p:blipFill>
          <a:blip r:embed="rId3"/>
          <a:stretch>
            <a:fillRect/>
          </a:stretch>
        </p:blipFill>
        <p:spPr>
          <a:xfrm>
            <a:off x="987552" y="2542032"/>
            <a:ext cx="237744" cy="237744"/>
          </a:xfrm>
          <a:prstGeom prst="rect">
            <a:avLst/>
          </a:prstGeom>
        </p:spPr>
      </p:pic>
      <p:sp>
        <p:nvSpPr>
          <p:cNvPr id="8" name="TextBox 7"/>
          <p:cNvSpPr txBox="1"/>
          <p:nvPr/>
        </p:nvSpPr>
        <p:spPr>
          <a:xfrm>
            <a:off x="1353312" y="2395728"/>
            <a:ext cx="5029200" cy="530352"/>
          </a:xfrm>
          <a:prstGeom prst="rect">
            <a:avLst/>
          </a:prstGeom>
          <a:noFill/>
        </p:spPr>
        <p:txBody>
          <a:bodyPr wrap="square" anchor="ctr" lIns="0" rIns="0" tIns="0" bIns="0">
            <a:spAutoFit/>
          </a:bodyPr>
          <a:lstStyle/>
          <a:p>
            <a:pPr algn="l">
              <a:lnSpc>
                <a:spcPct val="106000"/>
              </a:lnSpc>
              <a:spcBef>
                <a:spcPts val="0"/>
              </a:spcBef>
              <a:spcAft>
                <a:spcPts val="0"/>
              </a:spcAft>
            </a:pPr>
            <a:r>
              <a:rPr sz="1200" b="0">
                <a:solidFill>
                  <a:srgbClr val="1A1A1A"/>
                </a:solidFill>
                <a:latin typeface="Red Hat Text"/>
              </a:rPr>
              <a:t>Which of your "databases" are actually ephemeral?</a:t>
            </a:r>
          </a:p>
        </p:txBody>
      </p:sp>
      <p:sp>
        <p:nvSpPr>
          <p:cNvPr id="9" name="Rounded Rectangle 8"/>
          <p:cNvSpPr/>
          <p:nvPr/>
        </p:nvSpPr>
        <p:spPr>
          <a:xfrm>
            <a:off x="841248" y="2999232"/>
            <a:ext cx="5715000" cy="530352"/>
          </a:xfrm>
          <a:prstGeom prst="roundRect">
            <a:avLst>
              <a:gd name="adj" fmla="val 6000"/>
            </a:avLst>
          </a:prstGeom>
          <a:solidFill>
            <a:srgbClr val="F5F6F8"/>
          </a:solidFill>
          <a:ln w="12700">
            <a:solidFill>
              <a:srgbClr val="DDE1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0" name="Picture 9" descr="check_steel.png"/>
          <p:cNvPicPr>
            <a:picLocks noChangeAspect="1"/>
          </p:cNvPicPr>
          <p:nvPr/>
        </p:nvPicPr>
        <p:blipFill>
          <a:blip r:embed="rId3"/>
          <a:stretch>
            <a:fillRect/>
          </a:stretch>
        </p:blipFill>
        <p:spPr>
          <a:xfrm>
            <a:off x="987552" y="3145536"/>
            <a:ext cx="237744" cy="237744"/>
          </a:xfrm>
          <a:prstGeom prst="rect">
            <a:avLst/>
          </a:prstGeom>
        </p:spPr>
      </p:pic>
      <p:sp>
        <p:nvSpPr>
          <p:cNvPr id="11" name="TextBox 10"/>
          <p:cNvSpPr txBox="1"/>
          <p:nvPr/>
        </p:nvSpPr>
        <p:spPr>
          <a:xfrm>
            <a:off x="1353312" y="2999232"/>
            <a:ext cx="5029200" cy="530352"/>
          </a:xfrm>
          <a:prstGeom prst="rect">
            <a:avLst/>
          </a:prstGeom>
          <a:noFill/>
        </p:spPr>
        <p:txBody>
          <a:bodyPr wrap="square" anchor="ctr" lIns="0" rIns="0" tIns="0" bIns="0">
            <a:spAutoFit/>
          </a:bodyPr>
          <a:lstStyle/>
          <a:p>
            <a:pPr algn="l">
              <a:lnSpc>
                <a:spcPct val="106000"/>
              </a:lnSpc>
              <a:spcBef>
                <a:spcPts val="0"/>
              </a:spcBef>
              <a:spcAft>
                <a:spcPts val="0"/>
              </a:spcAft>
            </a:pPr>
            <a:r>
              <a:rPr sz="1200" b="0">
                <a:solidFill>
                  <a:srgbClr val="1A1A1A"/>
                </a:solidFill>
                <a:latin typeface="Red Hat Text"/>
              </a:rPr>
              <a:t>Who owns backup and failover?</a:t>
            </a:r>
          </a:p>
        </p:txBody>
      </p:sp>
      <p:sp>
        <p:nvSpPr>
          <p:cNvPr id="12" name="Rounded Rectangle 11"/>
          <p:cNvSpPr/>
          <p:nvPr/>
        </p:nvSpPr>
        <p:spPr>
          <a:xfrm>
            <a:off x="841248" y="3602736"/>
            <a:ext cx="5715000" cy="530352"/>
          </a:xfrm>
          <a:prstGeom prst="roundRect">
            <a:avLst>
              <a:gd name="adj" fmla="val 6000"/>
            </a:avLst>
          </a:prstGeom>
          <a:solidFill>
            <a:srgbClr val="F5F6F8"/>
          </a:solidFill>
          <a:ln w="12700">
            <a:solidFill>
              <a:srgbClr val="DDE1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3" name="Picture 12" descr="check_steel.png"/>
          <p:cNvPicPr>
            <a:picLocks noChangeAspect="1"/>
          </p:cNvPicPr>
          <p:nvPr/>
        </p:nvPicPr>
        <p:blipFill>
          <a:blip r:embed="rId3"/>
          <a:stretch>
            <a:fillRect/>
          </a:stretch>
        </p:blipFill>
        <p:spPr>
          <a:xfrm>
            <a:off x="987552" y="3749040"/>
            <a:ext cx="237744" cy="237744"/>
          </a:xfrm>
          <a:prstGeom prst="rect">
            <a:avLst/>
          </a:prstGeom>
        </p:spPr>
      </p:pic>
      <p:sp>
        <p:nvSpPr>
          <p:cNvPr id="14" name="TextBox 13"/>
          <p:cNvSpPr txBox="1"/>
          <p:nvPr/>
        </p:nvSpPr>
        <p:spPr>
          <a:xfrm>
            <a:off x="1353312" y="3602736"/>
            <a:ext cx="5029200" cy="530352"/>
          </a:xfrm>
          <a:prstGeom prst="rect">
            <a:avLst/>
          </a:prstGeom>
          <a:noFill/>
        </p:spPr>
        <p:txBody>
          <a:bodyPr wrap="square" anchor="ctr" lIns="0" rIns="0" tIns="0" bIns="0">
            <a:spAutoFit/>
          </a:bodyPr>
          <a:lstStyle/>
          <a:p>
            <a:pPr algn="l">
              <a:lnSpc>
                <a:spcPct val="106000"/>
              </a:lnSpc>
              <a:spcBef>
                <a:spcPts val="0"/>
              </a:spcBef>
              <a:spcAft>
                <a:spcPts val="0"/>
              </a:spcAft>
            </a:pPr>
            <a:r>
              <a:rPr sz="1200" b="0">
                <a:solidFill>
                  <a:srgbClr val="1A1A1A"/>
                </a:solidFill>
                <a:latin typeface="Red Hat Text"/>
              </a:rPr>
              <a:t>Run databases with an Operator (not a bare StatefulSet)</a:t>
            </a:r>
          </a:p>
        </p:txBody>
      </p:sp>
      <p:sp>
        <p:nvSpPr>
          <p:cNvPr id="15" name="Rounded Rectangle 14"/>
          <p:cNvSpPr/>
          <p:nvPr/>
        </p:nvSpPr>
        <p:spPr>
          <a:xfrm>
            <a:off x="841248" y="4206240"/>
            <a:ext cx="5715000" cy="530352"/>
          </a:xfrm>
          <a:prstGeom prst="roundRect">
            <a:avLst>
              <a:gd name="adj" fmla="val 6000"/>
            </a:avLst>
          </a:prstGeom>
          <a:solidFill>
            <a:srgbClr val="F5F6F8"/>
          </a:solidFill>
          <a:ln w="12700">
            <a:solidFill>
              <a:srgbClr val="DDE1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6" name="Picture 15" descr="check_steel.png"/>
          <p:cNvPicPr>
            <a:picLocks noChangeAspect="1"/>
          </p:cNvPicPr>
          <p:nvPr/>
        </p:nvPicPr>
        <p:blipFill>
          <a:blip r:embed="rId3"/>
          <a:stretch>
            <a:fillRect/>
          </a:stretch>
        </p:blipFill>
        <p:spPr>
          <a:xfrm>
            <a:off x="987552" y="4352544"/>
            <a:ext cx="237744" cy="237744"/>
          </a:xfrm>
          <a:prstGeom prst="rect">
            <a:avLst/>
          </a:prstGeom>
        </p:spPr>
      </p:pic>
      <p:sp>
        <p:nvSpPr>
          <p:cNvPr id="17" name="TextBox 16"/>
          <p:cNvSpPr txBox="1"/>
          <p:nvPr/>
        </p:nvSpPr>
        <p:spPr>
          <a:xfrm>
            <a:off x="1353312" y="4206240"/>
            <a:ext cx="5029200" cy="530352"/>
          </a:xfrm>
          <a:prstGeom prst="rect">
            <a:avLst/>
          </a:prstGeom>
          <a:noFill/>
        </p:spPr>
        <p:txBody>
          <a:bodyPr wrap="square" anchor="ctr" lIns="0" rIns="0" tIns="0" bIns="0">
            <a:spAutoFit/>
          </a:bodyPr>
          <a:lstStyle/>
          <a:p>
            <a:pPr algn="l">
              <a:lnSpc>
                <a:spcPct val="106000"/>
              </a:lnSpc>
              <a:spcBef>
                <a:spcPts val="0"/>
              </a:spcBef>
              <a:spcAft>
                <a:spcPts val="0"/>
              </a:spcAft>
            </a:pPr>
            <a:r>
              <a:rPr sz="1200" b="0">
                <a:solidFill>
                  <a:srgbClr val="1A1A1A"/>
                </a:solidFill>
                <a:latin typeface="Red Hat Text"/>
              </a:rPr>
              <a:t>RWX: for shared files, not a DB substitute</a:t>
            </a:r>
          </a:p>
        </p:txBody>
      </p:sp>
      <p:sp>
        <p:nvSpPr>
          <p:cNvPr id="18" name="Rounded Rectangle 17"/>
          <p:cNvSpPr/>
          <p:nvPr/>
        </p:nvSpPr>
        <p:spPr>
          <a:xfrm>
            <a:off x="841248" y="4809744"/>
            <a:ext cx="5715000" cy="530352"/>
          </a:xfrm>
          <a:prstGeom prst="roundRect">
            <a:avLst>
              <a:gd name="adj" fmla="val 6000"/>
            </a:avLst>
          </a:prstGeom>
          <a:solidFill>
            <a:srgbClr val="F5F6F8"/>
          </a:solidFill>
          <a:ln w="12700">
            <a:solidFill>
              <a:srgbClr val="DDE1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9" name="Picture 18" descr="check_steel.png"/>
          <p:cNvPicPr>
            <a:picLocks noChangeAspect="1"/>
          </p:cNvPicPr>
          <p:nvPr/>
        </p:nvPicPr>
        <p:blipFill>
          <a:blip r:embed="rId3"/>
          <a:stretch>
            <a:fillRect/>
          </a:stretch>
        </p:blipFill>
        <p:spPr>
          <a:xfrm>
            <a:off x="987552" y="4956048"/>
            <a:ext cx="237744" cy="237744"/>
          </a:xfrm>
          <a:prstGeom prst="rect">
            <a:avLst/>
          </a:prstGeom>
        </p:spPr>
      </p:pic>
      <p:sp>
        <p:nvSpPr>
          <p:cNvPr id="20" name="TextBox 19"/>
          <p:cNvSpPr txBox="1"/>
          <p:nvPr/>
        </p:nvSpPr>
        <p:spPr>
          <a:xfrm>
            <a:off x="1353312" y="4809744"/>
            <a:ext cx="5029200" cy="530352"/>
          </a:xfrm>
          <a:prstGeom prst="rect">
            <a:avLst/>
          </a:prstGeom>
          <a:noFill/>
        </p:spPr>
        <p:txBody>
          <a:bodyPr wrap="square" anchor="ctr" lIns="0" rIns="0" tIns="0" bIns="0">
            <a:spAutoFit/>
          </a:bodyPr>
          <a:lstStyle/>
          <a:p>
            <a:pPr algn="l">
              <a:lnSpc>
                <a:spcPct val="106000"/>
              </a:lnSpc>
              <a:spcBef>
                <a:spcPts val="0"/>
              </a:spcBef>
              <a:spcAft>
                <a:spcPts val="0"/>
              </a:spcAft>
            </a:pPr>
            <a:r>
              <a:rPr sz="1200" b="0">
                <a:solidFill>
                  <a:srgbClr val="1A1A1A"/>
                </a:solidFill>
                <a:latin typeface="Red Hat Text"/>
              </a:rPr>
              <a:t>Not every workload needs persistence</a:t>
            </a:r>
          </a:p>
        </p:txBody>
      </p:sp>
      <p:sp>
        <p:nvSpPr>
          <p:cNvPr id="21" name="Rounded Rectangle 20"/>
          <p:cNvSpPr/>
          <p:nvPr/>
        </p:nvSpPr>
        <p:spPr>
          <a:xfrm>
            <a:off x="6812280" y="2395728"/>
            <a:ext cx="4538167" cy="2944368"/>
          </a:xfrm>
          <a:prstGeom prst="roundRect">
            <a:avLst>
              <a:gd name="adj" fmla="val 4000"/>
            </a:avLst>
          </a:prstGeom>
          <a:solidFill>
            <a:srgbClr val="FFFFFF"/>
          </a:solidFill>
          <a:ln w="15240">
            <a:solidFill>
              <a:srgbClr val="DDE1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ounded Rectangle 21"/>
          <p:cNvSpPr/>
          <p:nvPr/>
        </p:nvSpPr>
        <p:spPr>
          <a:xfrm>
            <a:off x="7013448" y="2596896"/>
            <a:ext cx="1298448" cy="310896"/>
          </a:xfrm>
          <a:prstGeom prst="roundRect">
            <a:avLst>
              <a:gd name="adj" fmla="val 50000"/>
            </a:avLst>
          </a:prstGeom>
          <a:solidFill>
            <a:srgbClr val="FCEC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7013448" y="2596896"/>
            <a:ext cx="1298448" cy="310896"/>
          </a:xfrm>
          <a:prstGeom prst="rect">
            <a:avLst/>
          </a:prstGeom>
          <a:noFill/>
        </p:spPr>
        <p:txBody>
          <a:bodyPr wrap="none" anchor="ctr" lIns="0" rIns="0" tIns="0" bIns="0">
            <a:spAutoFit/>
          </a:bodyPr>
          <a:lstStyle/>
          <a:p>
            <a:pPr algn="ctr">
              <a:lnSpc>
                <a:spcPct val="106000"/>
              </a:lnSpc>
              <a:spcBef>
                <a:spcPts val="0"/>
              </a:spcBef>
              <a:spcAft>
                <a:spcPts val="0"/>
              </a:spcAft>
            </a:pPr>
            <a:r>
              <a:rPr sz="850" b="1">
                <a:solidFill>
                  <a:srgbClr val="B80000"/>
                </a:solidFill>
                <a:latin typeface="Red Hat Display"/>
              </a:rPr>
              <a:t>MEDIA PASS</a:t>
            </a:r>
          </a:p>
        </p:txBody>
      </p:sp>
      <p:pic>
        <p:nvPicPr>
          <p:cNvPr id="24" name="Picture 23" descr="eye_slate.png"/>
          <p:cNvPicPr>
            <a:picLocks noChangeAspect="1"/>
          </p:cNvPicPr>
          <p:nvPr/>
        </p:nvPicPr>
        <p:blipFill>
          <a:blip r:embed="rId4"/>
          <a:stretch>
            <a:fillRect/>
          </a:stretch>
        </p:blipFill>
        <p:spPr>
          <a:xfrm>
            <a:off x="8843619" y="3108960"/>
            <a:ext cx="475488" cy="475488"/>
          </a:xfrm>
          <a:prstGeom prst="rect">
            <a:avLst/>
          </a:prstGeom>
        </p:spPr>
      </p:pic>
      <p:sp>
        <p:nvSpPr>
          <p:cNvPr id="25" name="TextBox 24"/>
          <p:cNvSpPr txBox="1"/>
          <p:nvPr/>
        </p:nvSpPr>
        <p:spPr>
          <a:xfrm>
            <a:off x="7050024" y="3721608"/>
            <a:ext cx="4062679" cy="1481328"/>
          </a:xfrm>
          <a:prstGeom prst="rect">
            <a:avLst/>
          </a:prstGeom>
          <a:noFill/>
        </p:spPr>
        <p:txBody>
          <a:bodyPr wrap="square" anchor="t" lIns="0" rIns="0" tIns="0" bIns="0">
            <a:spAutoFit/>
          </a:bodyPr>
          <a:lstStyle/>
          <a:p>
            <a:pPr algn="l">
              <a:lnSpc>
                <a:spcPct val="120000"/>
              </a:lnSpc>
              <a:spcBef>
                <a:spcPts val="0"/>
              </a:spcBef>
              <a:spcAft>
                <a:spcPts val="0"/>
              </a:spcAft>
            </a:pPr>
            <a:r>
              <a:rPr sz="950" b="0">
                <a:solidFill>
                  <a:srgbClr val="8A9099"/>
                </a:solidFill>
                <a:latin typeface="Red Hat Text"/>
              </a:rPr>
              <a:t>Decision card — raw StatefulSet (primitives) → database Operator (production, its own project), with a managed data service as the hands-off alternative; footnote pointer to the backup module.</a:t>
            </a:r>
          </a:p>
        </p:txBody>
      </p:sp>
      <p:cxnSp>
        <p:nvCxnSpPr>
          <p:cNvPr id="26" name="Connector 25"/>
          <p:cNvCxnSpPr/>
          <p:nvPr/>
        </p:nvCxnSpPr>
        <p:spPr>
          <a:xfrm>
            <a:off x="841248" y="6437376"/>
            <a:ext cx="10509199" cy="0"/>
          </a:xfrm>
          <a:prstGeom prst="bentConnector3">
            <a:avLst/>
          </a:prstGeom>
          <a:ln w="12700">
            <a:solidFill>
              <a:srgbClr val="DDE1E6"/>
            </a:solidFill>
          </a:ln>
          <a:effectLst/>
        </p:spPr>
        <p:style>
          <a:lnRef idx="2">
            <a:schemeClr val="accent1"/>
          </a:lnRef>
          <a:fillRef idx="0">
            <a:schemeClr val="accent1"/>
          </a:fillRef>
          <a:effectRef idx="1">
            <a:schemeClr val="accent1"/>
          </a:effectRef>
          <a:fontRef idx="minor">
            <a:schemeClr val="tx1"/>
          </a:fontRef>
        </p:style>
      </p:cxnSp>
      <p:sp>
        <p:nvSpPr>
          <p:cNvPr id="27" name="TextBox 26"/>
          <p:cNvSpPr txBox="1"/>
          <p:nvPr/>
        </p:nvSpPr>
        <p:spPr>
          <a:xfrm>
            <a:off x="841248" y="6473952"/>
            <a:ext cx="7315200" cy="274320"/>
          </a:xfrm>
          <a:prstGeom prst="rect">
            <a:avLst/>
          </a:prstGeom>
          <a:noFill/>
        </p:spPr>
        <p:txBody>
          <a:bodyPr wrap="square" anchor="t" lIns="0" rIns="0" tIns="0" bIns="0">
            <a:spAutoFit/>
          </a:bodyPr>
          <a:lstStyle/>
          <a:p>
            <a:pPr algn="l">
              <a:lnSpc>
                <a:spcPct val="106000"/>
              </a:lnSpc>
              <a:spcBef>
                <a:spcPts val="0"/>
              </a:spcBef>
              <a:spcAft>
                <a:spcPts val="0"/>
              </a:spcAft>
            </a:pPr>
            <a:r>
              <a:rPr sz="950" b="0">
                <a:solidFill>
                  <a:srgbClr val="8A9099"/>
                </a:solidFill>
                <a:latin typeface="Red Hat Text"/>
              </a:rPr>
              <a:t>CONFIDENTIAL</a:t>
            </a:r>
          </a:p>
        </p:txBody>
      </p:sp>
      <p:sp>
        <p:nvSpPr>
          <p:cNvPr id="28" name="TextBox 27"/>
          <p:cNvSpPr txBox="1"/>
          <p:nvPr/>
        </p:nvSpPr>
        <p:spPr>
          <a:xfrm>
            <a:off x="10801807" y="6473952"/>
            <a:ext cx="548640" cy="274320"/>
          </a:xfrm>
          <a:prstGeom prst="rect">
            <a:avLst/>
          </a:prstGeom>
          <a:noFill/>
        </p:spPr>
        <p:txBody>
          <a:bodyPr wrap="square" anchor="t" lIns="0" rIns="0" tIns="0" bIns="0">
            <a:spAutoFit/>
          </a:bodyPr>
          <a:lstStyle/>
          <a:p>
            <a:pPr algn="r">
              <a:lnSpc>
                <a:spcPct val="106000"/>
              </a:lnSpc>
              <a:spcBef>
                <a:spcPts val="0"/>
              </a:spcBef>
              <a:spcAft>
                <a:spcPts val="0"/>
              </a:spcAft>
            </a:pPr>
            <a:r>
              <a:rPr sz="950" b="0">
                <a:solidFill>
                  <a:srgbClr val="8A9099"/>
                </a:solidFill>
                <a:latin typeface="Red Hat Text"/>
              </a:rPr>
              <a:t>35</a:t>
            </a:r>
          </a:p>
        </p:txBody>
      </p:sp>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redhat_logo.jpg"/>
          <p:cNvPicPr>
            <a:picLocks noChangeAspect="1"/>
          </p:cNvPicPr>
          <p:nvPr/>
        </p:nvPicPr>
        <p:blipFill>
          <a:blip r:embed="rId2"/>
          <a:stretch>
            <a:fillRect/>
          </a:stretch>
        </p:blipFill>
        <p:spPr>
          <a:xfrm>
            <a:off x="841248" y="731520"/>
            <a:ext cx="1554480" cy="367699"/>
          </a:xfrm>
          <a:prstGeom prst="rect">
            <a:avLst/>
          </a:prstGeom>
        </p:spPr>
      </p:pic>
      <p:sp>
        <p:nvSpPr>
          <p:cNvPr id="3" name="TextBox 2"/>
          <p:cNvSpPr txBox="1"/>
          <p:nvPr/>
        </p:nvSpPr>
        <p:spPr>
          <a:xfrm>
            <a:off x="841248" y="2514600"/>
            <a:ext cx="9601200" cy="274320"/>
          </a:xfrm>
          <a:prstGeom prst="rect">
            <a:avLst/>
          </a:prstGeom>
          <a:noFill/>
        </p:spPr>
        <p:txBody>
          <a:bodyPr wrap="square" anchor="t" lIns="0" rIns="0" tIns="0" bIns="0">
            <a:spAutoFit/>
          </a:bodyPr>
          <a:lstStyle/>
          <a:p>
            <a:pPr algn="l">
              <a:lnSpc>
                <a:spcPct val="106000"/>
              </a:lnSpc>
              <a:spcBef>
                <a:spcPts val="0"/>
              </a:spcBef>
              <a:spcAft>
                <a:spcPts val="0"/>
              </a:spcAft>
            </a:pPr>
            <a:r>
              <a:rPr sz="1250" b="1" spc="180">
                <a:solidFill>
                  <a:srgbClr val="2E4A62"/>
                </a:solidFill>
                <a:latin typeface="Red Hat Display"/>
              </a:rPr>
              <a:t>A · FOUNDATIONS</a:t>
            </a:r>
          </a:p>
        </p:txBody>
      </p:sp>
      <p:sp>
        <p:nvSpPr>
          <p:cNvPr id="4" name="TextBox 3"/>
          <p:cNvSpPr txBox="1"/>
          <p:nvPr/>
        </p:nvSpPr>
        <p:spPr>
          <a:xfrm>
            <a:off x="841248" y="2880360"/>
            <a:ext cx="2103120" cy="1188720"/>
          </a:xfrm>
          <a:prstGeom prst="rect">
            <a:avLst/>
          </a:prstGeom>
          <a:noFill/>
        </p:spPr>
        <p:txBody>
          <a:bodyPr wrap="none" anchor="t" lIns="0" rIns="0" tIns="0" bIns="0">
            <a:spAutoFit/>
          </a:bodyPr>
          <a:lstStyle/>
          <a:p>
            <a:pPr algn="l">
              <a:lnSpc>
                <a:spcPct val="90000"/>
              </a:lnSpc>
              <a:spcBef>
                <a:spcPts val="0"/>
              </a:spcBef>
              <a:spcAft>
                <a:spcPts val="0"/>
              </a:spcAft>
            </a:pPr>
            <a:r>
              <a:rPr sz="5200" b="1">
                <a:solidFill>
                  <a:srgbClr val="B80000"/>
                </a:solidFill>
                <a:latin typeface="Red Hat Display"/>
              </a:rPr>
              <a:t>M06</a:t>
            </a:r>
          </a:p>
        </p:txBody>
      </p:sp>
      <p:sp>
        <p:nvSpPr>
          <p:cNvPr id="5" name="TextBox 4"/>
          <p:cNvSpPr txBox="1"/>
          <p:nvPr/>
        </p:nvSpPr>
        <p:spPr>
          <a:xfrm>
            <a:off x="3127248" y="2971800"/>
            <a:ext cx="8412480" cy="1188720"/>
          </a:xfrm>
          <a:prstGeom prst="rect">
            <a:avLst/>
          </a:prstGeom>
          <a:noFill/>
        </p:spPr>
        <p:txBody>
          <a:bodyPr wrap="square" anchor="t" lIns="0" rIns="0" tIns="0" bIns="0">
            <a:spAutoFit/>
          </a:bodyPr>
          <a:lstStyle/>
          <a:p>
            <a:pPr algn="l">
              <a:lnSpc>
                <a:spcPct val="102000"/>
              </a:lnSpc>
              <a:spcBef>
                <a:spcPts val="0"/>
              </a:spcBef>
              <a:spcAft>
                <a:spcPts val="0"/>
              </a:spcAft>
            </a:pPr>
            <a:r>
              <a:rPr sz="3000" b="1">
                <a:solidFill>
                  <a:srgbClr val="1A1A1A"/>
                </a:solidFill>
                <a:latin typeface="Red Hat Display"/>
              </a:rPr>
              <a:t>Jobs, Batch &amp; Queued Workloads</a:t>
            </a:r>
          </a:p>
        </p:txBody>
      </p:sp>
      <p:cxnSp>
        <p:nvCxnSpPr>
          <p:cNvPr id="6" name="Connector 5"/>
          <p:cNvCxnSpPr/>
          <p:nvPr/>
        </p:nvCxnSpPr>
        <p:spPr>
          <a:xfrm>
            <a:off x="841248" y="4443984"/>
            <a:ext cx="1463040" cy="0"/>
          </a:xfrm>
          <a:prstGeom prst="bentConnector3">
            <a:avLst/>
          </a:prstGeom>
          <a:ln w="38100">
            <a:solidFill>
              <a:srgbClr val="EE0000"/>
            </a:solidFill>
          </a:ln>
          <a:effectLst/>
        </p:spPr>
        <p:style>
          <a:lnRef idx="2">
            <a:schemeClr val="accent1"/>
          </a:lnRef>
          <a:fillRef idx="0">
            <a:schemeClr val="accent1"/>
          </a:fillRef>
          <a:effectRef idx="1">
            <a:schemeClr val="accent1"/>
          </a:effectRef>
          <a:fontRef idx="minor">
            <a:schemeClr val="tx1"/>
          </a:fontRef>
        </p:style>
      </p:cxnSp>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redhat_logo.jpg"/>
          <p:cNvPicPr>
            <a:picLocks noChangeAspect="1"/>
          </p:cNvPicPr>
          <p:nvPr/>
        </p:nvPicPr>
        <p:blipFill>
          <a:blip r:embed="rId2"/>
          <a:stretch>
            <a:fillRect/>
          </a:stretch>
        </p:blipFill>
        <p:spPr>
          <a:xfrm>
            <a:off x="10326319" y="475488"/>
            <a:ext cx="1024128" cy="242248"/>
          </a:xfrm>
          <a:prstGeom prst="rect">
            <a:avLst/>
          </a:prstGeom>
        </p:spPr>
      </p:pic>
      <p:sp>
        <p:nvSpPr>
          <p:cNvPr id="3" name="TextBox 2"/>
          <p:cNvSpPr txBox="1"/>
          <p:nvPr/>
        </p:nvSpPr>
        <p:spPr>
          <a:xfrm>
            <a:off x="841248" y="548640"/>
            <a:ext cx="8595360" cy="274320"/>
          </a:xfrm>
          <a:prstGeom prst="rect">
            <a:avLst/>
          </a:prstGeom>
          <a:noFill/>
        </p:spPr>
        <p:txBody>
          <a:bodyPr wrap="square" anchor="t" lIns="0" rIns="0" tIns="0" bIns="0">
            <a:spAutoFit/>
          </a:bodyPr>
          <a:lstStyle/>
          <a:p>
            <a:pPr algn="l">
              <a:lnSpc>
                <a:spcPct val="106000"/>
              </a:lnSpc>
              <a:spcBef>
                <a:spcPts val="0"/>
              </a:spcBef>
              <a:spcAft>
                <a:spcPts val="0"/>
              </a:spcAft>
            </a:pPr>
            <a:r>
              <a:rPr sz="1250" b="1" spc="220">
                <a:solidFill>
                  <a:srgbClr val="EE0000"/>
                </a:solidFill>
                <a:latin typeface="Red Hat Display"/>
              </a:rPr>
              <a:t>M06 · JOBS, BATCH &amp; QUEUED WORKLOADS</a:t>
            </a:r>
          </a:p>
        </p:txBody>
      </p:sp>
      <p:sp>
        <p:nvSpPr>
          <p:cNvPr id="4" name="TextBox 3"/>
          <p:cNvSpPr txBox="1"/>
          <p:nvPr/>
        </p:nvSpPr>
        <p:spPr>
          <a:xfrm>
            <a:off x="841248" y="877824"/>
            <a:ext cx="10515600" cy="548640"/>
          </a:xfrm>
          <a:prstGeom prst="rect">
            <a:avLst/>
          </a:prstGeom>
          <a:noFill/>
        </p:spPr>
        <p:txBody>
          <a:bodyPr wrap="none" anchor="t" lIns="0" rIns="0" tIns="0" bIns="0">
            <a:spAutoFit/>
          </a:bodyPr>
          <a:lstStyle/>
          <a:p>
            <a:pPr algn="l">
              <a:lnSpc>
                <a:spcPct val="100000"/>
              </a:lnSpc>
              <a:spcBef>
                <a:spcPts val="0"/>
              </a:spcBef>
              <a:spcAft>
                <a:spcPts val="0"/>
              </a:spcAft>
            </a:pPr>
            <a:r>
              <a:rPr sz="2500" b="1">
                <a:solidFill>
                  <a:srgbClr val="1A1A1A"/>
                </a:solidFill>
                <a:latin typeface="Red Hat Display"/>
              </a:rPr>
              <a:t>The overnight run that can take down the</a:t>
            </a:r>
          </a:p>
        </p:txBody>
      </p:sp>
      <p:cxnSp>
        <p:nvCxnSpPr>
          <p:cNvPr id="5" name="Connector 4"/>
          <p:cNvCxnSpPr/>
          <p:nvPr/>
        </p:nvCxnSpPr>
        <p:spPr>
          <a:xfrm>
            <a:off x="841248" y="1554480"/>
            <a:ext cx="1371600" cy="0"/>
          </a:xfrm>
          <a:prstGeom prst="bentConnector3">
            <a:avLst/>
          </a:prstGeom>
          <a:ln w="31750">
            <a:solidFill>
              <a:srgbClr val="EE0000"/>
            </a:solidFill>
          </a:ln>
          <a:effectLst/>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841248" y="1664208"/>
            <a:ext cx="10515600" cy="365760"/>
          </a:xfrm>
          <a:prstGeom prst="rect">
            <a:avLst/>
          </a:prstGeom>
          <a:noFill/>
        </p:spPr>
        <p:txBody>
          <a:bodyPr wrap="square" anchor="t" lIns="0" rIns="0" tIns="0" bIns="0">
            <a:spAutoFit/>
          </a:bodyPr>
          <a:lstStyle/>
          <a:p>
            <a:pPr algn="l">
              <a:lnSpc>
                <a:spcPct val="106000"/>
              </a:lnSpc>
              <a:spcBef>
                <a:spcPts val="0"/>
              </a:spcBef>
              <a:spcAft>
                <a:spcPts val="0"/>
              </a:spcAft>
            </a:pPr>
            <a:r>
              <a:rPr sz="1350" b="0">
                <a:solidFill>
                  <a:srgbClr val="555960"/>
                </a:solidFill>
                <a:latin typeface="Red Hat Text"/>
              </a:rPr>
              <a:t>cluster</a:t>
            </a:r>
          </a:p>
        </p:txBody>
      </p:sp>
      <p:sp>
        <p:nvSpPr>
          <p:cNvPr id="7" name="Rounded Rectangle 6"/>
          <p:cNvSpPr/>
          <p:nvPr/>
        </p:nvSpPr>
        <p:spPr>
          <a:xfrm>
            <a:off x="841248" y="2670048"/>
            <a:ext cx="5715000" cy="530352"/>
          </a:xfrm>
          <a:prstGeom prst="roundRect">
            <a:avLst>
              <a:gd name="adj" fmla="val 6000"/>
            </a:avLst>
          </a:prstGeom>
          <a:solidFill>
            <a:srgbClr val="F5F6F8"/>
          </a:solidFill>
          <a:ln w="12700">
            <a:solidFill>
              <a:srgbClr val="DDE1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check_steel.png"/>
          <p:cNvPicPr>
            <a:picLocks noChangeAspect="1"/>
          </p:cNvPicPr>
          <p:nvPr/>
        </p:nvPicPr>
        <p:blipFill>
          <a:blip r:embed="rId3"/>
          <a:stretch>
            <a:fillRect/>
          </a:stretch>
        </p:blipFill>
        <p:spPr>
          <a:xfrm>
            <a:off x="987552" y="2816352"/>
            <a:ext cx="237744" cy="237744"/>
          </a:xfrm>
          <a:prstGeom prst="rect">
            <a:avLst/>
          </a:prstGeom>
        </p:spPr>
      </p:pic>
      <p:sp>
        <p:nvSpPr>
          <p:cNvPr id="9" name="TextBox 8"/>
          <p:cNvSpPr txBox="1"/>
          <p:nvPr/>
        </p:nvSpPr>
        <p:spPr>
          <a:xfrm>
            <a:off x="1353312" y="2670048"/>
            <a:ext cx="5029200" cy="530352"/>
          </a:xfrm>
          <a:prstGeom prst="rect">
            <a:avLst/>
          </a:prstGeom>
          <a:noFill/>
        </p:spPr>
        <p:txBody>
          <a:bodyPr wrap="square" anchor="ctr" lIns="0" rIns="0" tIns="0" bIns="0">
            <a:spAutoFit/>
          </a:bodyPr>
          <a:lstStyle/>
          <a:p>
            <a:pPr algn="l">
              <a:lnSpc>
                <a:spcPct val="106000"/>
              </a:lnSpc>
              <a:spcBef>
                <a:spcPts val="0"/>
              </a:spcBef>
              <a:spcAft>
                <a:spcPts val="0"/>
              </a:spcAft>
            </a:pPr>
            <a:r>
              <a:rPr sz="1200" b="0">
                <a:solidFill>
                  <a:srgbClr val="1A1A1A"/>
                </a:solidFill>
                <a:latin typeface="Red Hat Text"/>
              </a:rPr>
              <a:t>Parasol runs API in milliseconds</a:t>
            </a:r>
          </a:p>
        </p:txBody>
      </p:sp>
      <p:sp>
        <p:nvSpPr>
          <p:cNvPr id="10" name="Rounded Rectangle 9"/>
          <p:cNvSpPr/>
          <p:nvPr/>
        </p:nvSpPr>
        <p:spPr>
          <a:xfrm>
            <a:off x="841248" y="3273552"/>
            <a:ext cx="5715000" cy="530352"/>
          </a:xfrm>
          <a:prstGeom prst="roundRect">
            <a:avLst>
              <a:gd name="adj" fmla="val 6000"/>
            </a:avLst>
          </a:prstGeom>
          <a:solidFill>
            <a:srgbClr val="F5F6F8"/>
          </a:solidFill>
          <a:ln w="12700">
            <a:solidFill>
              <a:srgbClr val="DDE1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1" name="Picture 10" descr="check_steel.png"/>
          <p:cNvPicPr>
            <a:picLocks noChangeAspect="1"/>
          </p:cNvPicPr>
          <p:nvPr/>
        </p:nvPicPr>
        <p:blipFill>
          <a:blip r:embed="rId3"/>
          <a:stretch>
            <a:fillRect/>
          </a:stretch>
        </p:blipFill>
        <p:spPr>
          <a:xfrm>
            <a:off x="987552" y="3419856"/>
            <a:ext cx="237744" cy="237744"/>
          </a:xfrm>
          <a:prstGeom prst="rect">
            <a:avLst/>
          </a:prstGeom>
        </p:spPr>
      </p:pic>
      <p:sp>
        <p:nvSpPr>
          <p:cNvPr id="12" name="TextBox 11"/>
          <p:cNvSpPr txBox="1"/>
          <p:nvPr/>
        </p:nvSpPr>
        <p:spPr>
          <a:xfrm>
            <a:off x="1353312" y="3273552"/>
            <a:ext cx="5029200" cy="530352"/>
          </a:xfrm>
          <a:prstGeom prst="rect">
            <a:avLst/>
          </a:prstGeom>
          <a:noFill/>
        </p:spPr>
        <p:txBody>
          <a:bodyPr wrap="square" anchor="ctr" lIns="0" rIns="0" tIns="0" bIns="0">
            <a:spAutoFit/>
          </a:bodyPr>
          <a:lstStyle/>
          <a:p>
            <a:pPr algn="l">
              <a:lnSpc>
                <a:spcPct val="106000"/>
              </a:lnSpc>
              <a:spcBef>
                <a:spcPts val="0"/>
              </a:spcBef>
              <a:spcAft>
                <a:spcPts val="0"/>
              </a:spcAft>
            </a:pPr>
            <a:r>
              <a:rPr sz="1200" b="0">
                <a:solidFill>
                  <a:srgbClr val="1A1A1A"/>
                </a:solidFill>
                <a:latin typeface="Red Hat Text"/>
              </a:rPr>
              <a:t>And batch overnight: statements, fraud, rollups</a:t>
            </a:r>
          </a:p>
        </p:txBody>
      </p:sp>
      <p:sp>
        <p:nvSpPr>
          <p:cNvPr id="13" name="Rounded Rectangle 12"/>
          <p:cNvSpPr/>
          <p:nvPr/>
        </p:nvSpPr>
        <p:spPr>
          <a:xfrm>
            <a:off x="841248" y="3877056"/>
            <a:ext cx="5715000" cy="530352"/>
          </a:xfrm>
          <a:prstGeom prst="roundRect">
            <a:avLst>
              <a:gd name="adj" fmla="val 6000"/>
            </a:avLst>
          </a:prstGeom>
          <a:solidFill>
            <a:srgbClr val="F5F6F8"/>
          </a:solidFill>
          <a:ln w="12700">
            <a:solidFill>
              <a:srgbClr val="DDE1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4" name="Picture 13" descr="check_steel.png"/>
          <p:cNvPicPr>
            <a:picLocks noChangeAspect="1"/>
          </p:cNvPicPr>
          <p:nvPr/>
        </p:nvPicPr>
        <p:blipFill>
          <a:blip r:embed="rId3"/>
          <a:stretch>
            <a:fillRect/>
          </a:stretch>
        </p:blipFill>
        <p:spPr>
          <a:xfrm>
            <a:off x="987552" y="4023360"/>
            <a:ext cx="237744" cy="237744"/>
          </a:xfrm>
          <a:prstGeom prst="rect">
            <a:avLst/>
          </a:prstGeom>
        </p:spPr>
      </p:pic>
      <p:sp>
        <p:nvSpPr>
          <p:cNvPr id="15" name="TextBox 14"/>
          <p:cNvSpPr txBox="1"/>
          <p:nvPr/>
        </p:nvSpPr>
        <p:spPr>
          <a:xfrm>
            <a:off x="1353312" y="3877056"/>
            <a:ext cx="5029200" cy="530352"/>
          </a:xfrm>
          <a:prstGeom prst="rect">
            <a:avLst/>
          </a:prstGeom>
          <a:noFill/>
        </p:spPr>
        <p:txBody>
          <a:bodyPr wrap="square" anchor="ctr" lIns="0" rIns="0" tIns="0" bIns="0">
            <a:spAutoFit/>
          </a:bodyPr>
          <a:lstStyle/>
          <a:p>
            <a:pPr algn="l">
              <a:lnSpc>
                <a:spcPct val="106000"/>
              </a:lnSpc>
              <a:spcBef>
                <a:spcPts val="0"/>
              </a:spcBef>
              <a:spcAft>
                <a:spcPts val="0"/>
              </a:spcAft>
            </a:pPr>
            <a:r>
              <a:rPr sz="1200" b="0">
                <a:solidFill>
                  <a:srgbClr val="1A1A1A"/>
                </a:solidFill>
                <a:latin typeface="Red Hat Text"/>
              </a:rPr>
              <a:t>Batch has quietly grown huge</a:t>
            </a:r>
          </a:p>
        </p:txBody>
      </p:sp>
      <p:sp>
        <p:nvSpPr>
          <p:cNvPr id="16" name="Rounded Rectangle 15"/>
          <p:cNvSpPr/>
          <p:nvPr/>
        </p:nvSpPr>
        <p:spPr>
          <a:xfrm>
            <a:off x="841248" y="4480560"/>
            <a:ext cx="5715000" cy="530352"/>
          </a:xfrm>
          <a:prstGeom prst="roundRect">
            <a:avLst>
              <a:gd name="adj" fmla="val 6000"/>
            </a:avLst>
          </a:prstGeom>
          <a:solidFill>
            <a:srgbClr val="F5F6F8"/>
          </a:solidFill>
          <a:ln w="12700">
            <a:solidFill>
              <a:srgbClr val="DDE1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7" name="Picture 16" descr="check_steel.png"/>
          <p:cNvPicPr>
            <a:picLocks noChangeAspect="1"/>
          </p:cNvPicPr>
          <p:nvPr/>
        </p:nvPicPr>
        <p:blipFill>
          <a:blip r:embed="rId3"/>
          <a:stretch>
            <a:fillRect/>
          </a:stretch>
        </p:blipFill>
        <p:spPr>
          <a:xfrm>
            <a:off x="987552" y="4626864"/>
            <a:ext cx="237744" cy="237744"/>
          </a:xfrm>
          <a:prstGeom prst="rect">
            <a:avLst/>
          </a:prstGeom>
        </p:spPr>
      </p:pic>
      <p:sp>
        <p:nvSpPr>
          <p:cNvPr id="18" name="TextBox 17"/>
          <p:cNvSpPr txBox="1"/>
          <p:nvPr/>
        </p:nvSpPr>
        <p:spPr>
          <a:xfrm>
            <a:off x="1353312" y="4480560"/>
            <a:ext cx="5029200" cy="530352"/>
          </a:xfrm>
          <a:prstGeom prst="rect">
            <a:avLst/>
          </a:prstGeom>
          <a:noFill/>
        </p:spPr>
        <p:txBody>
          <a:bodyPr wrap="square" anchor="ctr" lIns="0" rIns="0" tIns="0" bIns="0">
            <a:spAutoFit/>
          </a:bodyPr>
          <a:lstStyle/>
          <a:p>
            <a:pPr algn="l">
              <a:lnSpc>
                <a:spcPct val="106000"/>
              </a:lnSpc>
              <a:spcBef>
                <a:spcPts val="0"/>
              </a:spcBef>
              <a:spcAft>
                <a:spcPts val="0"/>
              </a:spcAft>
            </a:pPr>
            <a:r>
              <a:rPr sz="1200" b="0">
                <a:solidFill>
                  <a:srgbClr val="1A1A1A"/>
                </a:solidFill>
                <a:latin typeface="Red Hat Text"/>
              </a:rPr>
              <a:t>One team's month-end starves everyone</a:t>
            </a:r>
          </a:p>
        </p:txBody>
      </p:sp>
      <p:sp>
        <p:nvSpPr>
          <p:cNvPr id="19" name="Rounded Rectangle 18"/>
          <p:cNvSpPr/>
          <p:nvPr/>
        </p:nvSpPr>
        <p:spPr>
          <a:xfrm>
            <a:off x="841248" y="5084064"/>
            <a:ext cx="5715000" cy="530352"/>
          </a:xfrm>
          <a:prstGeom prst="roundRect">
            <a:avLst>
              <a:gd name="adj" fmla="val 6000"/>
            </a:avLst>
          </a:prstGeom>
          <a:solidFill>
            <a:srgbClr val="F5F6F8"/>
          </a:solidFill>
          <a:ln w="12700">
            <a:solidFill>
              <a:srgbClr val="DDE1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0" name="Picture 19" descr="check_steel.png"/>
          <p:cNvPicPr>
            <a:picLocks noChangeAspect="1"/>
          </p:cNvPicPr>
          <p:nvPr/>
        </p:nvPicPr>
        <p:blipFill>
          <a:blip r:embed="rId3"/>
          <a:stretch>
            <a:fillRect/>
          </a:stretch>
        </p:blipFill>
        <p:spPr>
          <a:xfrm>
            <a:off x="987552" y="5230368"/>
            <a:ext cx="237744" cy="237744"/>
          </a:xfrm>
          <a:prstGeom prst="rect">
            <a:avLst/>
          </a:prstGeom>
        </p:spPr>
      </p:pic>
      <p:sp>
        <p:nvSpPr>
          <p:cNvPr id="21" name="TextBox 20"/>
          <p:cNvSpPr txBox="1"/>
          <p:nvPr/>
        </p:nvSpPr>
        <p:spPr>
          <a:xfrm>
            <a:off x="1353312" y="5084064"/>
            <a:ext cx="5029200" cy="530352"/>
          </a:xfrm>
          <a:prstGeom prst="rect">
            <a:avLst/>
          </a:prstGeom>
          <a:noFill/>
        </p:spPr>
        <p:txBody>
          <a:bodyPr wrap="square" anchor="ctr" lIns="0" rIns="0" tIns="0" bIns="0">
            <a:spAutoFit/>
          </a:bodyPr>
          <a:lstStyle/>
          <a:p>
            <a:pPr algn="l">
              <a:lnSpc>
                <a:spcPct val="106000"/>
              </a:lnSpc>
              <a:spcBef>
                <a:spcPts val="0"/>
              </a:spcBef>
              <a:spcAft>
                <a:spcPts val="0"/>
              </a:spcAft>
            </a:pPr>
            <a:r>
              <a:rPr sz="1200" b="0">
                <a:solidFill>
                  <a:srgbClr val="1A1A1A"/>
                </a:solidFill>
                <a:latin typeface="Red Hat Text"/>
              </a:rPr>
              <a:t>Nothing arbitrates between jobs</a:t>
            </a:r>
          </a:p>
        </p:txBody>
      </p:sp>
      <p:sp>
        <p:nvSpPr>
          <p:cNvPr id="22" name="Rounded Rectangle 21"/>
          <p:cNvSpPr/>
          <p:nvPr/>
        </p:nvSpPr>
        <p:spPr>
          <a:xfrm>
            <a:off x="6812280" y="2670048"/>
            <a:ext cx="4538167" cy="2944368"/>
          </a:xfrm>
          <a:prstGeom prst="roundRect">
            <a:avLst>
              <a:gd name="adj" fmla="val 4000"/>
            </a:avLst>
          </a:prstGeom>
          <a:solidFill>
            <a:srgbClr val="FFFFFF"/>
          </a:solidFill>
          <a:ln w="15240">
            <a:solidFill>
              <a:srgbClr val="DDE1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ounded Rectangle 22"/>
          <p:cNvSpPr/>
          <p:nvPr/>
        </p:nvSpPr>
        <p:spPr>
          <a:xfrm>
            <a:off x="7013448" y="2871216"/>
            <a:ext cx="1298448" cy="310896"/>
          </a:xfrm>
          <a:prstGeom prst="roundRect">
            <a:avLst>
              <a:gd name="adj" fmla="val 50000"/>
            </a:avLst>
          </a:prstGeom>
          <a:solidFill>
            <a:srgbClr val="FCEC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7013448" y="2871216"/>
            <a:ext cx="1298448" cy="310896"/>
          </a:xfrm>
          <a:prstGeom prst="rect">
            <a:avLst/>
          </a:prstGeom>
          <a:noFill/>
        </p:spPr>
        <p:txBody>
          <a:bodyPr wrap="none" anchor="ctr" lIns="0" rIns="0" tIns="0" bIns="0">
            <a:spAutoFit/>
          </a:bodyPr>
          <a:lstStyle/>
          <a:p>
            <a:pPr algn="ctr">
              <a:lnSpc>
                <a:spcPct val="106000"/>
              </a:lnSpc>
              <a:spcBef>
                <a:spcPts val="0"/>
              </a:spcBef>
              <a:spcAft>
                <a:spcPts val="0"/>
              </a:spcAft>
            </a:pPr>
            <a:r>
              <a:rPr sz="850" b="1">
                <a:solidFill>
                  <a:srgbClr val="B80000"/>
                </a:solidFill>
                <a:latin typeface="Red Hat Display"/>
              </a:rPr>
              <a:t>MEDIA PASS</a:t>
            </a:r>
          </a:p>
        </p:txBody>
      </p:sp>
      <p:pic>
        <p:nvPicPr>
          <p:cNvPr id="25" name="Picture 24" descr="eye_slate.png"/>
          <p:cNvPicPr>
            <a:picLocks noChangeAspect="1"/>
          </p:cNvPicPr>
          <p:nvPr/>
        </p:nvPicPr>
        <p:blipFill>
          <a:blip r:embed="rId4"/>
          <a:stretch>
            <a:fillRect/>
          </a:stretch>
        </p:blipFill>
        <p:spPr>
          <a:xfrm>
            <a:off x="8843619" y="3383280"/>
            <a:ext cx="475488" cy="475488"/>
          </a:xfrm>
          <a:prstGeom prst="rect">
            <a:avLst/>
          </a:prstGeom>
        </p:spPr>
      </p:pic>
      <p:sp>
        <p:nvSpPr>
          <p:cNvPr id="26" name="TextBox 25"/>
          <p:cNvSpPr txBox="1"/>
          <p:nvPr/>
        </p:nvSpPr>
        <p:spPr>
          <a:xfrm>
            <a:off x="7050024" y="3995928"/>
            <a:ext cx="4062679" cy="1481328"/>
          </a:xfrm>
          <a:prstGeom prst="rect">
            <a:avLst/>
          </a:prstGeom>
          <a:noFill/>
        </p:spPr>
        <p:txBody>
          <a:bodyPr wrap="square" anchor="t" lIns="0" rIns="0" tIns="0" bIns="0">
            <a:spAutoFit/>
          </a:bodyPr>
          <a:lstStyle/>
          <a:p>
            <a:pPr algn="l">
              <a:lnSpc>
                <a:spcPct val="120000"/>
              </a:lnSpc>
              <a:spcBef>
                <a:spcPts val="0"/>
              </a:spcBef>
              <a:spcAft>
                <a:spcPts val="0"/>
              </a:spcAft>
            </a:pPr>
            <a:r>
              <a:rPr sz="950" b="0">
                <a:solidFill>
                  <a:srgbClr val="8A9099"/>
                </a:solidFill>
                <a:latin typeface="Red Hat Text"/>
              </a:rPr>
              <a:t>A calendar/clock "2 a.m." with one giant job box squeezing several small job boxes off the edge of a cluster frame.</a:t>
            </a:r>
          </a:p>
        </p:txBody>
      </p:sp>
      <p:cxnSp>
        <p:nvCxnSpPr>
          <p:cNvPr id="27" name="Connector 26"/>
          <p:cNvCxnSpPr/>
          <p:nvPr/>
        </p:nvCxnSpPr>
        <p:spPr>
          <a:xfrm>
            <a:off x="841248" y="6437376"/>
            <a:ext cx="10509199" cy="0"/>
          </a:xfrm>
          <a:prstGeom prst="bentConnector3">
            <a:avLst/>
          </a:prstGeom>
          <a:ln w="12700">
            <a:solidFill>
              <a:srgbClr val="DDE1E6"/>
            </a:solidFill>
          </a:ln>
          <a:effectLst/>
        </p:spPr>
        <p:style>
          <a:lnRef idx="2">
            <a:schemeClr val="accent1"/>
          </a:lnRef>
          <a:fillRef idx="0">
            <a:schemeClr val="accent1"/>
          </a:fillRef>
          <a:effectRef idx="1">
            <a:schemeClr val="accent1"/>
          </a:effectRef>
          <a:fontRef idx="minor">
            <a:schemeClr val="tx1"/>
          </a:fontRef>
        </p:style>
      </p:cxnSp>
      <p:sp>
        <p:nvSpPr>
          <p:cNvPr id="28" name="TextBox 27"/>
          <p:cNvSpPr txBox="1"/>
          <p:nvPr/>
        </p:nvSpPr>
        <p:spPr>
          <a:xfrm>
            <a:off x="841248" y="6473952"/>
            <a:ext cx="7315200" cy="274320"/>
          </a:xfrm>
          <a:prstGeom prst="rect">
            <a:avLst/>
          </a:prstGeom>
          <a:noFill/>
        </p:spPr>
        <p:txBody>
          <a:bodyPr wrap="square" anchor="t" lIns="0" rIns="0" tIns="0" bIns="0">
            <a:spAutoFit/>
          </a:bodyPr>
          <a:lstStyle/>
          <a:p>
            <a:pPr algn="l">
              <a:lnSpc>
                <a:spcPct val="106000"/>
              </a:lnSpc>
              <a:spcBef>
                <a:spcPts val="0"/>
              </a:spcBef>
              <a:spcAft>
                <a:spcPts val="0"/>
              </a:spcAft>
            </a:pPr>
            <a:r>
              <a:rPr sz="950" b="0">
                <a:solidFill>
                  <a:srgbClr val="8A9099"/>
                </a:solidFill>
                <a:latin typeface="Red Hat Text"/>
              </a:rPr>
              <a:t>CONFIDENTIAL</a:t>
            </a:r>
          </a:p>
        </p:txBody>
      </p:sp>
      <p:sp>
        <p:nvSpPr>
          <p:cNvPr id="29" name="TextBox 28"/>
          <p:cNvSpPr txBox="1"/>
          <p:nvPr/>
        </p:nvSpPr>
        <p:spPr>
          <a:xfrm>
            <a:off x="10801807" y="6473952"/>
            <a:ext cx="548640" cy="274320"/>
          </a:xfrm>
          <a:prstGeom prst="rect">
            <a:avLst/>
          </a:prstGeom>
          <a:noFill/>
        </p:spPr>
        <p:txBody>
          <a:bodyPr wrap="square" anchor="t" lIns="0" rIns="0" tIns="0" bIns="0">
            <a:spAutoFit/>
          </a:bodyPr>
          <a:lstStyle/>
          <a:p>
            <a:pPr algn="r">
              <a:lnSpc>
                <a:spcPct val="106000"/>
              </a:lnSpc>
              <a:spcBef>
                <a:spcPts val="0"/>
              </a:spcBef>
              <a:spcAft>
                <a:spcPts val="0"/>
              </a:spcAft>
            </a:pPr>
            <a:r>
              <a:rPr sz="950" b="0">
                <a:solidFill>
                  <a:srgbClr val="8A9099"/>
                </a:solidFill>
                <a:latin typeface="Red Hat Text"/>
              </a:rPr>
              <a:t>36</a:t>
            </a:r>
          </a:p>
        </p:txBody>
      </p:sp>
    </p:spTree>
  </p:cSld>
  <p:clrMapOvr>
    <a:masterClrMapping/>
  </p:clrMapOvr>
</p:sld>
</file>

<file path=ppt/slides/slide4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redhat_logo.jpg"/>
          <p:cNvPicPr>
            <a:picLocks noChangeAspect="1"/>
          </p:cNvPicPr>
          <p:nvPr/>
        </p:nvPicPr>
        <p:blipFill>
          <a:blip r:embed="rId2"/>
          <a:stretch>
            <a:fillRect/>
          </a:stretch>
        </p:blipFill>
        <p:spPr>
          <a:xfrm>
            <a:off x="10326319" y="475488"/>
            <a:ext cx="1024128" cy="242248"/>
          </a:xfrm>
          <a:prstGeom prst="rect">
            <a:avLst/>
          </a:prstGeom>
        </p:spPr>
      </p:pic>
      <p:sp>
        <p:nvSpPr>
          <p:cNvPr id="3" name="TextBox 2"/>
          <p:cNvSpPr txBox="1"/>
          <p:nvPr/>
        </p:nvSpPr>
        <p:spPr>
          <a:xfrm>
            <a:off x="841248" y="548640"/>
            <a:ext cx="8595360" cy="274320"/>
          </a:xfrm>
          <a:prstGeom prst="rect">
            <a:avLst/>
          </a:prstGeom>
          <a:noFill/>
        </p:spPr>
        <p:txBody>
          <a:bodyPr wrap="square" anchor="t" lIns="0" rIns="0" tIns="0" bIns="0">
            <a:spAutoFit/>
          </a:bodyPr>
          <a:lstStyle/>
          <a:p>
            <a:pPr algn="l">
              <a:lnSpc>
                <a:spcPct val="106000"/>
              </a:lnSpc>
              <a:spcBef>
                <a:spcPts val="0"/>
              </a:spcBef>
              <a:spcAft>
                <a:spcPts val="0"/>
              </a:spcAft>
            </a:pPr>
            <a:r>
              <a:rPr sz="1250" b="1" spc="220">
                <a:solidFill>
                  <a:srgbClr val="EE0000"/>
                </a:solidFill>
                <a:latin typeface="Red Hat Display"/>
              </a:rPr>
              <a:t>M06 · JOBS, BATCH &amp; QUEUED WORKLOADS</a:t>
            </a:r>
          </a:p>
        </p:txBody>
      </p:sp>
      <p:sp>
        <p:nvSpPr>
          <p:cNvPr id="4" name="TextBox 3"/>
          <p:cNvSpPr txBox="1"/>
          <p:nvPr/>
        </p:nvSpPr>
        <p:spPr>
          <a:xfrm>
            <a:off x="841248" y="877824"/>
            <a:ext cx="10515600" cy="548640"/>
          </a:xfrm>
          <a:prstGeom prst="rect">
            <a:avLst/>
          </a:prstGeom>
          <a:noFill/>
        </p:spPr>
        <p:txBody>
          <a:bodyPr wrap="none" anchor="t" lIns="0" rIns="0" tIns="0" bIns="0">
            <a:spAutoFit/>
          </a:bodyPr>
          <a:lstStyle/>
          <a:p>
            <a:pPr algn="l">
              <a:lnSpc>
                <a:spcPct val="100000"/>
              </a:lnSpc>
              <a:spcBef>
                <a:spcPts val="0"/>
              </a:spcBef>
              <a:spcAft>
                <a:spcPts val="0"/>
              </a:spcAft>
            </a:pPr>
            <a:r>
              <a:rPr sz="2500" b="1">
                <a:solidFill>
                  <a:srgbClr val="1A1A1A"/>
                </a:solidFill>
                <a:latin typeface="Red Hat Display"/>
              </a:rPr>
              <a:t>The async spectrum — request, event, batch</a:t>
            </a:r>
          </a:p>
        </p:txBody>
      </p:sp>
      <p:cxnSp>
        <p:nvCxnSpPr>
          <p:cNvPr id="5" name="Connector 4"/>
          <p:cNvCxnSpPr/>
          <p:nvPr/>
        </p:nvCxnSpPr>
        <p:spPr>
          <a:xfrm>
            <a:off x="841248" y="1554480"/>
            <a:ext cx="1371600" cy="0"/>
          </a:xfrm>
          <a:prstGeom prst="bentConnector3">
            <a:avLst/>
          </a:prstGeom>
          <a:ln w="31750">
            <a:solidFill>
              <a:srgbClr val="EE0000"/>
            </a:solidFill>
          </a:ln>
          <a:effectLst/>
        </p:spPr>
        <p:style>
          <a:lnRef idx="2">
            <a:schemeClr val="accent1"/>
          </a:lnRef>
          <a:fillRef idx="0">
            <a:schemeClr val="accent1"/>
          </a:fillRef>
          <a:effectRef idx="1">
            <a:schemeClr val="accent1"/>
          </a:effectRef>
          <a:fontRef idx="minor">
            <a:schemeClr val="tx1"/>
          </a:fontRef>
        </p:style>
      </p:cxnSp>
      <p:sp>
        <p:nvSpPr>
          <p:cNvPr id="6" name="Rounded Rectangle 5"/>
          <p:cNvSpPr/>
          <p:nvPr/>
        </p:nvSpPr>
        <p:spPr>
          <a:xfrm>
            <a:off x="841248" y="2395728"/>
            <a:ext cx="5715000" cy="530352"/>
          </a:xfrm>
          <a:prstGeom prst="roundRect">
            <a:avLst>
              <a:gd name="adj" fmla="val 6000"/>
            </a:avLst>
          </a:prstGeom>
          <a:solidFill>
            <a:srgbClr val="F5F6F8"/>
          </a:solidFill>
          <a:ln w="12700">
            <a:solidFill>
              <a:srgbClr val="DDE1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check_steel.png"/>
          <p:cNvPicPr>
            <a:picLocks noChangeAspect="1"/>
          </p:cNvPicPr>
          <p:nvPr/>
        </p:nvPicPr>
        <p:blipFill>
          <a:blip r:embed="rId3"/>
          <a:stretch>
            <a:fillRect/>
          </a:stretch>
        </p:blipFill>
        <p:spPr>
          <a:xfrm>
            <a:off x="987552" y="2542032"/>
            <a:ext cx="237744" cy="237744"/>
          </a:xfrm>
          <a:prstGeom prst="rect">
            <a:avLst/>
          </a:prstGeom>
        </p:spPr>
      </p:pic>
      <p:sp>
        <p:nvSpPr>
          <p:cNvPr id="8" name="TextBox 7"/>
          <p:cNvSpPr txBox="1"/>
          <p:nvPr/>
        </p:nvSpPr>
        <p:spPr>
          <a:xfrm>
            <a:off x="1353312" y="2395728"/>
            <a:ext cx="5029200" cy="530352"/>
          </a:xfrm>
          <a:prstGeom prst="rect">
            <a:avLst/>
          </a:prstGeom>
          <a:noFill/>
        </p:spPr>
        <p:txBody>
          <a:bodyPr wrap="square" anchor="ctr" lIns="0" rIns="0" tIns="0" bIns="0">
            <a:spAutoFit/>
          </a:bodyPr>
          <a:lstStyle/>
          <a:p>
            <a:pPr algn="l">
              <a:lnSpc>
                <a:spcPct val="106000"/>
              </a:lnSpc>
              <a:spcBef>
                <a:spcPts val="0"/>
              </a:spcBef>
              <a:spcAft>
                <a:spcPts val="0"/>
              </a:spcAft>
            </a:pPr>
            <a:r>
              <a:rPr sz="1200" b="0">
                <a:solidFill>
                  <a:srgbClr val="1A1A1A"/>
                </a:solidFill>
                <a:latin typeface="Red Hat Text"/>
              </a:rPr>
              <a:t>Request-driven: caller waits, low latency</a:t>
            </a:r>
          </a:p>
        </p:txBody>
      </p:sp>
      <p:sp>
        <p:nvSpPr>
          <p:cNvPr id="9" name="Rounded Rectangle 8"/>
          <p:cNvSpPr/>
          <p:nvPr/>
        </p:nvSpPr>
        <p:spPr>
          <a:xfrm>
            <a:off x="841248" y="2999232"/>
            <a:ext cx="5715000" cy="530352"/>
          </a:xfrm>
          <a:prstGeom prst="roundRect">
            <a:avLst>
              <a:gd name="adj" fmla="val 6000"/>
            </a:avLst>
          </a:prstGeom>
          <a:solidFill>
            <a:srgbClr val="F5F6F8"/>
          </a:solidFill>
          <a:ln w="12700">
            <a:solidFill>
              <a:srgbClr val="DDE1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0" name="Picture 9" descr="check_steel.png"/>
          <p:cNvPicPr>
            <a:picLocks noChangeAspect="1"/>
          </p:cNvPicPr>
          <p:nvPr/>
        </p:nvPicPr>
        <p:blipFill>
          <a:blip r:embed="rId3"/>
          <a:stretch>
            <a:fillRect/>
          </a:stretch>
        </p:blipFill>
        <p:spPr>
          <a:xfrm>
            <a:off x="987552" y="3145536"/>
            <a:ext cx="237744" cy="237744"/>
          </a:xfrm>
          <a:prstGeom prst="rect">
            <a:avLst/>
          </a:prstGeom>
        </p:spPr>
      </p:pic>
      <p:sp>
        <p:nvSpPr>
          <p:cNvPr id="11" name="TextBox 10"/>
          <p:cNvSpPr txBox="1"/>
          <p:nvPr/>
        </p:nvSpPr>
        <p:spPr>
          <a:xfrm>
            <a:off x="1353312" y="2999232"/>
            <a:ext cx="5029200" cy="530352"/>
          </a:xfrm>
          <a:prstGeom prst="rect">
            <a:avLst/>
          </a:prstGeom>
          <a:noFill/>
        </p:spPr>
        <p:txBody>
          <a:bodyPr wrap="square" anchor="ctr" lIns="0" rIns="0" tIns="0" bIns="0">
            <a:spAutoFit/>
          </a:bodyPr>
          <a:lstStyle/>
          <a:p>
            <a:pPr algn="l">
              <a:lnSpc>
                <a:spcPct val="106000"/>
              </a:lnSpc>
              <a:spcBef>
                <a:spcPts val="0"/>
              </a:spcBef>
              <a:spcAft>
                <a:spcPts val="0"/>
              </a:spcAft>
            </a:pPr>
            <a:r>
              <a:rPr sz="1200" b="0">
                <a:solidFill>
                  <a:srgbClr val="1A1A1A"/>
                </a:solidFill>
                <a:latin typeface="Red Hat Text"/>
              </a:rPr>
              <a:t>Event-driven: reacts per message, seconds</a:t>
            </a:r>
          </a:p>
        </p:txBody>
      </p:sp>
      <p:sp>
        <p:nvSpPr>
          <p:cNvPr id="12" name="Rounded Rectangle 11"/>
          <p:cNvSpPr/>
          <p:nvPr/>
        </p:nvSpPr>
        <p:spPr>
          <a:xfrm>
            <a:off x="841248" y="3602736"/>
            <a:ext cx="5715000" cy="530352"/>
          </a:xfrm>
          <a:prstGeom prst="roundRect">
            <a:avLst>
              <a:gd name="adj" fmla="val 6000"/>
            </a:avLst>
          </a:prstGeom>
          <a:solidFill>
            <a:srgbClr val="F5F6F8"/>
          </a:solidFill>
          <a:ln w="12700">
            <a:solidFill>
              <a:srgbClr val="DDE1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3" name="Picture 12" descr="check_steel.png"/>
          <p:cNvPicPr>
            <a:picLocks noChangeAspect="1"/>
          </p:cNvPicPr>
          <p:nvPr/>
        </p:nvPicPr>
        <p:blipFill>
          <a:blip r:embed="rId3"/>
          <a:stretch>
            <a:fillRect/>
          </a:stretch>
        </p:blipFill>
        <p:spPr>
          <a:xfrm>
            <a:off x="987552" y="3749040"/>
            <a:ext cx="237744" cy="237744"/>
          </a:xfrm>
          <a:prstGeom prst="rect">
            <a:avLst/>
          </a:prstGeom>
        </p:spPr>
      </p:pic>
      <p:sp>
        <p:nvSpPr>
          <p:cNvPr id="14" name="TextBox 13"/>
          <p:cNvSpPr txBox="1"/>
          <p:nvPr/>
        </p:nvSpPr>
        <p:spPr>
          <a:xfrm>
            <a:off x="1353312" y="3602736"/>
            <a:ext cx="5029200" cy="530352"/>
          </a:xfrm>
          <a:prstGeom prst="rect">
            <a:avLst/>
          </a:prstGeom>
          <a:noFill/>
        </p:spPr>
        <p:txBody>
          <a:bodyPr wrap="square" anchor="ctr" lIns="0" rIns="0" tIns="0" bIns="0">
            <a:spAutoFit/>
          </a:bodyPr>
          <a:lstStyle/>
          <a:p>
            <a:pPr algn="l">
              <a:lnSpc>
                <a:spcPct val="106000"/>
              </a:lnSpc>
              <a:spcBef>
                <a:spcPts val="0"/>
              </a:spcBef>
              <a:spcAft>
                <a:spcPts val="0"/>
              </a:spcAft>
            </a:pPr>
            <a:r>
              <a:rPr sz="1200" b="0">
                <a:solidFill>
                  <a:srgbClr val="1A1A1A"/>
                </a:solidFill>
                <a:latin typeface="Red Hat Text"/>
              </a:rPr>
              <a:t>Batch: bounded work, runs then stops</a:t>
            </a:r>
          </a:p>
        </p:txBody>
      </p:sp>
      <p:sp>
        <p:nvSpPr>
          <p:cNvPr id="15" name="Rounded Rectangle 14"/>
          <p:cNvSpPr/>
          <p:nvPr/>
        </p:nvSpPr>
        <p:spPr>
          <a:xfrm>
            <a:off x="841248" y="4206240"/>
            <a:ext cx="5715000" cy="530352"/>
          </a:xfrm>
          <a:prstGeom prst="roundRect">
            <a:avLst>
              <a:gd name="adj" fmla="val 6000"/>
            </a:avLst>
          </a:prstGeom>
          <a:solidFill>
            <a:srgbClr val="F5F6F8"/>
          </a:solidFill>
          <a:ln w="12700">
            <a:solidFill>
              <a:srgbClr val="DDE1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6" name="Picture 15" descr="check_steel.png"/>
          <p:cNvPicPr>
            <a:picLocks noChangeAspect="1"/>
          </p:cNvPicPr>
          <p:nvPr/>
        </p:nvPicPr>
        <p:blipFill>
          <a:blip r:embed="rId3"/>
          <a:stretch>
            <a:fillRect/>
          </a:stretch>
        </p:blipFill>
        <p:spPr>
          <a:xfrm>
            <a:off x="987552" y="4352544"/>
            <a:ext cx="237744" cy="237744"/>
          </a:xfrm>
          <a:prstGeom prst="rect">
            <a:avLst/>
          </a:prstGeom>
        </p:spPr>
      </p:pic>
      <p:sp>
        <p:nvSpPr>
          <p:cNvPr id="17" name="TextBox 16"/>
          <p:cNvSpPr txBox="1"/>
          <p:nvPr/>
        </p:nvSpPr>
        <p:spPr>
          <a:xfrm>
            <a:off x="1353312" y="4206240"/>
            <a:ext cx="5029200" cy="530352"/>
          </a:xfrm>
          <a:prstGeom prst="rect">
            <a:avLst/>
          </a:prstGeom>
          <a:noFill/>
        </p:spPr>
        <p:txBody>
          <a:bodyPr wrap="square" anchor="ctr" lIns="0" rIns="0" tIns="0" bIns="0">
            <a:spAutoFit/>
          </a:bodyPr>
          <a:lstStyle/>
          <a:p>
            <a:pPr algn="l">
              <a:lnSpc>
                <a:spcPct val="106000"/>
              </a:lnSpc>
              <a:spcBef>
                <a:spcPts val="0"/>
              </a:spcBef>
              <a:spcAft>
                <a:spcPts val="0"/>
              </a:spcAft>
            </a:pPr>
            <a:r>
              <a:rPr sz="1200" b="0">
                <a:solidFill>
                  <a:srgbClr val="1A1A1A"/>
                </a:solidFill>
                <a:latin typeface="Red Hat Text"/>
              </a:rPr>
              <a:t>You care it finishes, not its latency</a:t>
            </a:r>
          </a:p>
        </p:txBody>
      </p:sp>
      <p:sp>
        <p:nvSpPr>
          <p:cNvPr id="18" name="Rounded Rectangle 17"/>
          <p:cNvSpPr/>
          <p:nvPr/>
        </p:nvSpPr>
        <p:spPr>
          <a:xfrm>
            <a:off x="841248" y="4809744"/>
            <a:ext cx="5715000" cy="530352"/>
          </a:xfrm>
          <a:prstGeom prst="roundRect">
            <a:avLst>
              <a:gd name="adj" fmla="val 6000"/>
            </a:avLst>
          </a:prstGeom>
          <a:solidFill>
            <a:srgbClr val="F5F6F8"/>
          </a:solidFill>
          <a:ln w="12700">
            <a:solidFill>
              <a:srgbClr val="DDE1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9" name="Picture 18" descr="check_steel.png"/>
          <p:cNvPicPr>
            <a:picLocks noChangeAspect="1"/>
          </p:cNvPicPr>
          <p:nvPr/>
        </p:nvPicPr>
        <p:blipFill>
          <a:blip r:embed="rId3"/>
          <a:stretch>
            <a:fillRect/>
          </a:stretch>
        </p:blipFill>
        <p:spPr>
          <a:xfrm>
            <a:off x="987552" y="4956048"/>
            <a:ext cx="237744" cy="237744"/>
          </a:xfrm>
          <a:prstGeom prst="rect">
            <a:avLst/>
          </a:prstGeom>
        </p:spPr>
      </p:pic>
      <p:sp>
        <p:nvSpPr>
          <p:cNvPr id="20" name="TextBox 19"/>
          <p:cNvSpPr txBox="1"/>
          <p:nvPr/>
        </p:nvSpPr>
        <p:spPr>
          <a:xfrm>
            <a:off x="1353312" y="4809744"/>
            <a:ext cx="5029200" cy="530352"/>
          </a:xfrm>
          <a:prstGeom prst="rect">
            <a:avLst/>
          </a:prstGeom>
          <a:noFill/>
        </p:spPr>
        <p:txBody>
          <a:bodyPr wrap="square" anchor="ctr" lIns="0" rIns="0" tIns="0" bIns="0">
            <a:spAutoFit/>
          </a:bodyPr>
          <a:lstStyle/>
          <a:p>
            <a:pPr algn="l">
              <a:lnSpc>
                <a:spcPct val="106000"/>
              </a:lnSpc>
              <a:spcBef>
                <a:spcPts val="0"/>
              </a:spcBef>
              <a:spcAft>
                <a:spcPts val="0"/>
              </a:spcAft>
            </a:pPr>
            <a:r>
              <a:rPr sz="1200" b="0">
                <a:solidFill>
                  <a:srgbClr val="1A1A1A"/>
                </a:solidFill>
                <a:latin typeface="Red Hat Text"/>
              </a:rPr>
              <a:t>The Job is the batch-tier object</a:t>
            </a:r>
          </a:p>
        </p:txBody>
      </p:sp>
      <p:sp>
        <p:nvSpPr>
          <p:cNvPr id="21" name="Rounded Rectangle 20"/>
          <p:cNvSpPr/>
          <p:nvPr/>
        </p:nvSpPr>
        <p:spPr>
          <a:xfrm>
            <a:off x="6812280" y="2395728"/>
            <a:ext cx="4538167" cy="2944368"/>
          </a:xfrm>
          <a:prstGeom prst="roundRect">
            <a:avLst>
              <a:gd name="adj" fmla="val 4000"/>
            </a:avLst>
          </a:prstGeom>
          <a:solidFill>
            <a:srgbClr val="FFFFFF"/>
          </a:solidFill>
          <a:ln w="15240">
            <a:solidFill>
              <a:srgbClr val="DDE1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ounded Rectangle 21"/>
          <p:cNvSpPr/>
          <p:nvPr/>
        </p:nvSpPr>
        <p:spPr>
          <a:xfrm>
            <a:off x="7013448" y="2596896"/>
            <a:ext cx="1298448" cy="310896"/>
          </a:xfrm>
          <a:prstGeom prst="roundRect">
            <a:avLst>
              <a:gd name="adj" fmla="val 50000"/>
            </a:avLst>
          </a:prstGeom>
          <a:solidFill>
            <a:srgbClr val="FCEC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7013448" y="2596896"/>
            <a:ext cx="1298448" cy="310896"/>
          </a:xfrm>
          <a:prstGeom prst="rect">
            <a:avLst/>
          </a:prstGeom>
          <a:noFill/>
        </p:spPr>
        <p:txBody>
          <a:bodyPr wrap="none" anchor="ctr" lIns="0" rIns="0" tIns="0" bIns="0">
            <a:spAutoFit/>
          </a:bodyPr>
          <a:lstStyle/>
          <a:p>
            <a:pPr algn="ctr">
              <a:lnSpc>
                <a:spcPct val="106000"/>
              </a:lnSpc>
              <a:spcBef>
                <a:spcPts val="0"/>
              </a:spcBef>
              <a:spcAft>
                <a:spcPts val="0"/>
              </a:spcAft>
            </a:pPr>
            <a:r>
              <a:rPr sz="850" b="1">
                <a:solidFill>
                  <a:srgbClr val="B80000"/>
                </a:solidFill>
                <a:latin typeface="Red Hat Display"/>
              </a:rPr>
              <a:t>MEDIA PASS</a:t>
            </a:r>
          </a:p>
        </p:txBody>
      </p:sp>
      <p:pic>
        <p:nvPicPr>
          <p:cNvPr id="24" name="Picture 23" descr="eye_slate.png"/>
          <p:cNvPicPr>
            <a:picLocks noChangeAspect="1"/>
          </p:cNvPicPr>
          <p:nvPr/>
        </p:nvPicPr>
        <p:blipFill>
          <a:blip r:embed="rId4"/>
          <a:stretch>
            <a:fillRect/>
          </a:stretch>
        </p:blipFill>
        <p:spPr>
          <a:xfrm>
            <a:off x="8843619" y="3108960"/>
            <a:ext cx="475488" cy="475488"/>
          </a:xfrm>
          <a:prstGeom prst="rect">
            <a:avLst/>
          </a:prstGeom>
        </p:spPr>
      </p:pic>
      <p:sp>
        <p:nvSpPr>
          <p:cNvPr id="25" name="TextBox 24"/>
          <p:cNvSpPr txBox="1"/>
          <p:nvPr/>
        </p:nvSpPr>
        <p:spPr>
          <a:xfrm>
            <a:off x="7050024" y="3721608"/>
            <a:ext cx="4062679" cy="1481328"/>
          </a:xfrm>
          <a:prstGeom prst="rect">
            <a:avLst/>
          </a:prstGeom>
          <a:noFill/>
        </p:spPr>
        <p:txBody>
          <a:bodyPr wrap="square" anchor="t" lIns="0" rIns="0" tIns="0" bIns="0">
            <a:spAutoFit/>
          </a:bodyPr>
          <a:lstStyle/>
          <a:p>
            <a:pPr algn="l">
              <a:lnSpc>
                <a:spcPct val="120000"/>
              </a:lnSpc>
              <a:spcBef>
                <a:spcPts val="0"/>
              </a:spcBef>
              <a:spcAft>
                <a:spcPts val="0"/>
              </a:spcAft>
            </a:pPr>
            <a:r>
              <a:rPr sz="950" b="0">
                <a:solidFill>
                  <a:srgbClr val="8A9099"/>
                </a:solidFill>
                <a:latin typeface="Red Hat Text"/>
              </a:rPr>
              <a:t>Reuse concept diagram jobs-batch-kueue-...-01-async-spectrum.svg — request → event → batch, batch highlighted.</a:t>
            </a:r>
          </a:p>
        </p:txBody>
      </p:sp>
      <p:cxnSp>
        <p:nvCxnSpPr>
          <p:cNvPr id="26" name="Connector 25"/>
          <p:cNvCxnSpPr/>
          <p:nvPr/>
        </p:nvCxnSpPr>
        <p:spPr>
          <a:xfrm>
            <a:off x="841248" y="6437376"/>
            <a:ext cx="10509199" cy="0"/>
          </a:xfrm>
          <a:prstGeom prst="bentConnector3">
            <a:avLst/>
          </a:prstGeom>
          <a:ln w="12700">
            <a:solidFill>
              <a:srgbClr val="DDE1E6"/>
            </a:solidFill>
          </a:ln>
          <a:effectLst/>
        </p:spPr>
        <p:style>
          <a:lnRef idx="2">
            <a:schemeClr val="accent1"/>
          </a:lnRef>
          <a:fillRef idx="0">
            <a:schemeClr val="accent1"/>
          </a:fillRef>
          <a:effectRef idx="1">
            <a:schemeClr val="accent1"/>
          </a:effectRef>
          <a:fontRef idx="minor">
            <a:schemeClr val="tx1"/>
          </a:fontRef>
        </p:style>
      </p:cxnSp>
      <p:sp>
        <p:nvSpPr>
          <p:cNvPr id="27" name="TextBox 26"/>
          <p:cNvSpPr txBox="1"/>
          <p:nvPr/>
        </p:nvSpPr>
        <p:spPr>
          <a:xfrm>
            <a:off x="841248" y="6473952"/>
            <a:ext cx="7315200" cy="274320"/>
          </a:xfrm>
          <a:prstGeom prst="rect">
            <a:avLst/>
          </a:prstGeom>
          <a:noFill/>
        </p:spPr>
        <p:txBody>
          <a:bodyPr wrap="square" anchor="t" lIns="0" rIns="0" tIns="0" bIns="0">
            <a:spAutoFit/>
          </a:bodyPr>
          <a:lstStyle/>
          <a:p>
            <a:pPr algn="l">
              <a:lnSpc>
                <a:spcPct val="106000"/>
              </a:lnSpc>
              <a:spcBef>
                <a:spcPts val="0"/>
              </a:spcBef>
              <a:spcAft>
                <a:spcPts val="0"/>
              </a:spcAft>
            </a:pPr>
            <a:r>
              <a:rPr sz="950" b="0">
                <a:solidFill>
                  <a:srgbClr val="8A9099"/>
                </a:solidFill>
                <a:latin typeface="Red Hat Text"/>
              </a:rPr>
              <a:t>CONFIDENTIAL</a:t>
            </a:r>
          </a:p>
        </p:txBody>
      </p:sp>
      <p:sp>
        <p:nvSpPr>
          <p:cNvPr id="28" name="TextBox 27"/>
          <p:cNvSpPr txBox="1"/>
          <p:nvPr/>
        </p:nvSpPr>
        <p:spPr>
          <a:xfrm>
            <a:off x="10801807" y="6473952"/>
            <a:ext cx="548640" cy="274320"/>
          </a:xfrm>
          <a:prstGeom prst="rect">
            <a:avLst/>
          </a:prstGeom>
          <a:noFill/>
        </p:spPr>
        <p:txBody>
          <a:bodyPr wrap="square" anchor="t" lIns="0" rIns="0" tIns="0" bIns="0">
            <a:spAutoFit/>
          </a:bodyPr>
          <a:lstStyle/>
          <a:p>
            <a:pPr algn="r">
              <a:lnSpc>
                <a:spcPct val="106000"/>
              </a:lnSpc>
              <a:spcBef>
                <a:spcPts val="0"/>
              </a:spcBef>
              <a:spcAft>
                <a:spcPts val="0"/>
              </a:spcAft>
            </a:pPr>
            <a:r>
              <a:rPr sz="950" b="0">
                <a:solidFill>
                  <a:srgbClr val="8A9099"/>
                </a:solidFill>
                <a:latin typeface="Red Hat Text"/>
              </a:rPr>
              <a:t>37</a:t>
            </a:r>
          </a:p>
        </p:txBody>
      </p:sp>
    </p:spTree>
  </p:cSld>
  <p:clrMapOvr>
    <a:masterClrMapping/>
  </p:clrMapOvr>
</p:sld>
</file>

<file path=ppt/slides/slide4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redhat_logo.jpg"/>
          <p:cNvPicPr>
            <a:picLocks noChangeAspect="1"/>
          </p:cNvPicPr>
          <p:nvPr/>
        </p:nvPicPr>
        <p:blipFill>
          <a:blip r:embed="rId2"/>
          <a:stretch>
            <a:fillRect/>
          </a:stretch>
        </p:blipFill>
        <p:spPr>
          <a:xfrm>
            <a:off x="10326319" y="475488"/>
            <a:ext cx="1024128" cy="242248"/>
          </a:xfrm>
          <a:prstGeom prst="rect">
            <a:avLst/>
          </a:prstGeom>
        </p:spPr>
      </p:pic>
      <p:sp>
        <p:nvSpPr>
          <p:cNvPr id="3" name="TextBox 2"/>
          <p:cNvSpPr txBox="1"/>
          <p:nvPr/>
        </p:nvSpPr>
        <p:spPr>
          <a:xfrm>
            <a:off x="841248" y="548640"/>
            <a:ext cx="8595360" cy="274320"/>
          </a:xfrm>
          <a:prstGeom prst="rect">
            <a:avLst/>
          </a:prstGeom>
          <a:noFill/>
        </p:spPr>
        <p:txBody>
          <a:bodyPr wrap="square" anchor="t" lIns="0" rIns="0" tIns="0" bIns="0">
            <a:spAutoFit/>
          </a:bodyPr>
          <a:lstStyle/>
          <a:p>
            <a:pPr algn="l">
              <a:lnSpc>
                <a:spcPct val="106000"/>
              </a:lnSpc>
              <a:spcBef>
                <a:spcPts val="0"/>
              </a:spcBef>
              <a:spcAft>
                <a:spcPts val="0"/>
              </a:spcAft>
            </a:pPr>
            <a:r>
              <a:rPr sz="1250" b="1" spc="220">
                <a:solidFill>
                  <a:srgbClr val="EE0000"/>
                </a:solidFill>
                <a:latin typeface="Red Hat Display"/>
              </a:rPr>
              <a:t>M06 · JOBS, BATCH &amp; QUEUED WORKLOADS</a:t>
            </a:r>
          </a:p>
        </p:txBody>
      </p:sp>
      <p:sp>
        <p:nvSpPr>
          <p:cNvPr id="4" name="TextBox 3"/>
          <p:cNvSpPr txBox="1"/>
          <p:nvPr/>
        </p:nvSpPr>
        <p:spPr>
          <a:xfrm>
            <a:off x="841248" y="877824"/>
            <a:ext cx="10515600" cy="548640"/>
          </a:xfrm>
          <a:prstGeom prst="rect">
            <a:avLst/>
          </a:prstGeom>
          <a:noFill/>
        </p:spPr>
        <p:txBody>
          <a:bodyPr wrap="none" anchor="t" lIns="0" rIns="0" tIns="0" bIns="0">
            <a:spAutoFit/>
          </a:bodyPr>
          <a:lstStyle/>
          <a:p>
            <a:pPr algn="l">
              <a:lnSpc>
                <a:spcPct val="100000"/>
              </a:lnSpc>
              <a:spcBef>
                <a:spcPts val="0"/>
              </a:spcBef>
              <a:spcAft>
                <a:spcPts val="0"/>
              </a:spcAft>
            </a:pPr>
            <a:r>
              <a:rPr sz="2500" b="1">
                <a:solidFill>
                  <a:srgbClr val="1A1A1A"/>
                </a:solidFill>
                <a:latin typeface="Red Hat Display"/>
              </a:rPr>
              <a:t>The Job controller</a:t>
            </a:r>
          </a:p>
        </p:txBody>
      </p:sp>
      <p:cxnSp>
        <p:nvCxnSpPr>
          <p:cNvPr id="5" name="Connector 4"/>
          <p:cNvCxnSpPr/>
          <p:nvPr/>
        </p:nvCxnSpPr>
        <p:spPr>
          <a:xfrm>
            <a:off x="841248" y="1554480"/>
            <a:ext cx="1371600" cy="0"/>
          </a:xfrm>
          <a:prstGeom prst="bentConnector3">
            <a:avLst/>
          </a:prstGeom>
          <a:ln w="31750">
            <a:solidFill>
              <a:srgbClr val="EE0000"/>
            </a:solidFill>
          </a:ln>
          <a:effectLst/>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841248" y="1664208"/>
            <a:ext cx="10515600" cy="365760"/>
          </a:xfrm>
          <a:prstGeom prst="rect">
            <a:avLst/>
          </a:prstGeom>
          <a:noFill/>
        </p:spPr>
        <p:txBody>
          <a:bodyPr wrap="square" anchor="t" lIns="0" rIns="0" tIns="0" bIns="0">
            <a:spAutoFit/>
          </a:bodyPr>
          <a:lstStyle/>
          <a:p>
            <a:pPr algn="l">
              <a:lnSpc>
                <a:spcPct val="106000"/>
              </a:lnSpc>
              <a:spcBef>
                <a:spcPts val="0"/>
              </a:spcBef>
              <a:spcAft>
                <a:spcPts val="0"/>
              </a:spcAft>
            </a:pPr>
            <a:r>
              <a:rPr sz="1350" b="0">
                <a:solidFill>
                  <a:srgbClr val="555960"/>
                </a:solidFill>
                <a:latin typeface="Red Hat Text"/>
              </a:rPr>
              <a:t>runs to completion, then stops</a:t>
            </a:r>
          </a:p>
        </p:txBody>
      </p:sp>
      <p:sp>
        <p:nvSpPr>
          <p:cNvPr id="7" name="Rounded Rectangle 6"/>
          <p:cNvSpPr/>
          <p:nvPr/>
        </p:nvSpPr>
        <p:spPr>
          <a:xfrm>
            <a:off x="841248" y="2670048"/>
            <a:ext cx="5715000" cy="530352"/>
          </a:xfrm>
          <a:prstGeom prst="roundRect">
            <a:avLst>
              <a:gd name="adj" fmla="val 6000"/>
            </a:avLst>
          </a:prstGeom>
          <a:solidFill>
            <a:srgbClr val="F5F6F8"/>
          </a:solidFill>
          <a:ln w="12700">
            <a:solidFill>
              <a:srgbClr val="DDE1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check_steel.png"/>
          <p:cNvPicPr>
            <a:picLocks noChangeAspect="1"/>
          </p:cNvPicPr>
          <p:nvPr/>
        </p:nvPicPr>
        <p:blipFill>
          <a:blip r:embed="rId3"/>
          <a:stretch>
            <a:fillRect/>
          </a:stretch>
        </p:blipFill>
        <p:spPr>
          <a:xfrm>
            <a:off x="987552" y="2816352"/>
            <a:ext cx="237744" cy="237744"/>
          </a:xfrm>
          <a:prstGeom prst="rect">
            <a:avLst/>
          </a:prstGeom>
        </p:spPr>
      </p:pic>
      <p:sp>
        <p:nvSpPr>
          <p:cNvPr id="9" name="TextBox 8"/>
          <p:cNvSpPr txBox="1"/>
          <p:nvPr/>
        </p:nvSpPr>
        <p:spPr>
          <a:xfrm>
            <a:off x="1353312" y="2670048"/>
            <a:ext cx="5029200" cy="530352"/>
          </a:xfrm>
          <a:prstGeom prst="rect">
            <a:avLst/>
          </a:prstGeom>
          <a:noFill/>
        </p:spPr>
        <p:txBody>
          <a:bodyPr wrap="square" anchor="ctr" lIns="0" rIns="0" tIns="0" bIns="0">
            <a:spAutoFit/>
          </a:bodyPr>
          <a:lstStyle/>
          <a:p>
            <a:pPr algn="l">
              <a:lnSpc>
                <a:spcPct val="106000"/>
              </a:lnSpc>
              <a:spcBef>
                <a:spcPts val="0"/>
              </a:spcBef>
              <a:spcAft>
                <a:spcPts val="0"/>
              </a:spcAft>
            </a:pPr>
            <a:r>
              <a:rPr sz="1200" b="0">
                <a:solidFill>
                  <a:srgbClr val="1A1A1A"/>
                </a:solidFill>
                <a:latin typeface="Red Hat Text"/>
              </a:rPr>
              <a:t>completions + parallelism: how many, how parallel</a:t>
            </a:r>
          </a:p>
        </p:txBody>
      </p:sp>
      <p:sp>
        <p:nvSpPr>
          <p:cNvPr id="10" name="Rounded Rectangle 9"/>
          <p:cNvSpPr/>
          <p:nvPr/>
        </p:nvSpPr>
        <p:spPr>
          <a:xfrm>
            <a:off x="841248" y="3273552"/>
            <a:ext cx="5715000" cy="530352"/>
          </a:xfrm>
          <a:prstGeom prst="roundRect">
            <a:avLst>
              <a:gd name="adj" fmla="val 6000"/>
            </a:avLst>
          </a:prstGeom>
          <a:solidFill>
            <a:srgbClr val="F5F6F8"/>
          </a:solidFill>
          <a:ln w="12700">
            <a:solidFill>
              <a:srgbClr val="DDE1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1" name="Picture 10" descr="check_steel.png"/>
          <p:cNvPicPr>
            <a:picLocks noChangeAspect="1"/>
          </p:cNvPicPr>
          <p:nvPr/>
        </p:nvPicPr>
        <p:blipFill>
          <a:blip r:embed="rId3"/>
          <a:stretch>
            <a:fillRect/>
          </a:stretch>
        </p:blipFill>
        <p:spPr>
          <a:xfrm>
            <a:off x="987552" y="3419856"/>
            <a:ext cx="237744" cy="237744"/>
          </a:xfrm>
          <a:prstGeom prst="rect">
            <a:avLst/>
          </a:prstGeom>
        </p:spPr>
      </p:pic>
      <p:sp>
        <p:nvSpPr>
          <p:cNvPr id="12" name="TextBox 11"/>
          <p:cNvSpPr txBox="1"/>
          <p:nvPr/>
        </p:nvSpPr>
        <p:spPr>
          <a:xfrm>
            <a:off x="1353312" y="3273552"/>
            <a:ext cx="5029200" cy="530352"/>
          </a:xfrm>
          <a:prstGeom prst="rect">
            <a:avLst/>
          </a:prstGeom>
          <a:noFill/>
        </p:spPr>
        <p:txBody>
          <a:bodyPr wrap="square" anchor="ctr" lIns="0" rIns="0" tIns="0" bIns="0">
            <a:spAutoFit/>
          </a:bodyPr>
          <a:lstStyle/>
          <a:p>
            <a:pPr algn="l">
              <a:lnSpc>
                <a:spcPct val="106000"/>
              </a:lnSpc>
              <a:spcBef>
                <a:spcPts val="0"/>
              </a:spcBef>
              <a:spcAft>
                <a:spcPts val="0"/>
              </a:spcAft>
            </a:pPr>
            <a:r>
              <a:rPr sz="1200" b="0">
                <a:solidFill>
                  <a:srgbClr val="1A1A1A"/>
                </a:solidFill>
                <a:latin typeface="Red Hat Text"/>
              </a:rPr>
              <a:t>backoffLimit: retries, then gives up</a:t>
            </a:r>
          </a:p>
        </p:txBody>
      </p:sp>
      <p:sp>
        <p:nvSpPr>
          <p:cNvPr id="13" name="Rounded Rectangle 12"/>
          <p:cNvSpPr/>
          <p:nvPr/>
        </p:nvSpPr>
        <p:spPr>
          <a:xfrm>
            <a:off x="841248" y="3877056"/>
            <a:ext cx="5715000" cy="530352"/>
          </a:xfrm>
          <a:prstGeom prst="roundRect">
            <a:avLst>
              <a:gd name="adj" fmla="val 6000"/>
            </a:avLst>
          </a:prstGeom>
          <a:solidFill>
            <a:srgbClr val="F5F6F8"/>
          </a:solidFill>
          <a:ln w="12700">
            <a:solidFill>
              <a:srgbClr val="DDE1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4" name="Picture 13" descr="check_steel.png"/>
          <p:cNvPicPr>
            <a:picLocks noChangeAspect="1"/>
          </p:cNvPicPr>
          <p:nvPr/>
        </p:nvPicPr>
        <p:blipFill>
          <a:blip r:embed="rId3"/>
          <a:stretch>
            <a:fillRect/>
          </a:stretch>
        </p:blipFill>
        <p:spPr>
          <a:xfrm>
            <a:off x="987552" y="4023360"/>
            <a:ext cx="237744" cy="237744"/>
          </a:xfrm>
          <a:prstGeom prst="rect">
            <a:avLst/>
          </a:prstGeom>
        </p:spPr>
      </p:pic>
      <p:sp>
        <p:nvSpPr>
          <p:cNvPr id="15" name="TextBox 14"/>
          <p:cNvSpPr txBox="1"/>
          <p:nvPr/>
        </p:nvSpPr>
        <p:spPr>
          <a:xfrm>
            <a:off x="1353312" y="3877056"/>
            <a:ext cx="5029200" cy="530352"/>
          </a:xfrm>
          <a:prstGeom prst="rect">
            <a:avLst/>
          </a:prstGeom>
          <a:noFill/>
        </p:spPr>
        <p:txBody>
          <a:bodyPr wrap="square" anchor="ctr" lIns="0" rIns="0" tIns="0" bIns="0">
            <a:spAutoFit/>
          </a:bodyPr>
          <a:lstStyle/>
          <a:p>
            <a:pPr algn="l">
              <a:lnSpc>
                <a:spcPct val="106000"/>
              </a:lnSpc>
              <a:spcBef>
                <a:spcPts val="0"/>
              </a:spcBef>
              <a:spcAft>
                <a:spcPts val="0"/>
              </a:spcAft>
            </a:pPr>
            <a:r>
              <a:rPr sz="1200" b="0">
                <a:solidFill>
                  <a:srgbClr val="1A1A1A"/>
                </a:solidFill>
                <a:latin typeface="Red Hat Text"/>
              </a:rPr>
              <a:t>Indexed Job: shard by $JOB_COMPLETION_INDEX</a:t>
            </a:r>
          </a:p>
        </p:txBody>
      </p:sp>
      <p:sp>
        <p:nvSpPr>
          <p:cNvPr id="16" name="Rounded Rectangle 15"/>
          <p:cNvSpPr/>
          <p:nvPr/>
        </p:nvSpPr>
        <p:spPr>
          <a:xfrm>
            <a:off x="841248" y="4480560"/>
            <a:ext cx="5715000" cy="530352"/>
          </a:xfrm>
          <a:prstGeom prst="roundRect">
            <a:avLst>
              <a:gd name="adj" fmla="val 6000"/>
            </a:avLst>
          </a:prstGeom>
          <a:solidFill>
            <a:srgbClr val="F5F6F8"/>
          </a:solidFill>
          <a:ln w="12700">
            <a:solidFill>
              <a:srgbClr val="DDE1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7" name="Picture 16" descr="check_steel.png"/>
          <p:cNvPicPr>
            <a:picLocks noChangeAspect="1"/>
          </p:cNvPicPr>
          <p:nvPr/>
        </p:nvPicPr>
        <p:blipFill>
          <a:blip r:embed="rId3"/>
          <a:stretch>
            <a:fillRect/>
          </a:stretch>
        </p:blipFill>
        <p:spPr>
          <a:xfrm>
            <a:off x="987552" y="4626864"/>
            <a:ext cx="237744" cy="237744"/>
          </a:xfrm>
          <a:prstGeom prst="rect">
            <a:avLst/>
          </a:prstGeom>
        </p:spPr>
      </p:pic>
      <p:sp>
        <p:nvSpPr>
          <p:cNvPr id="18" name="TextBox 17"/>
          <p:cNvSpPr txBox="1"/>
          <p:nvPr/>
        </p:nvSpPr>
        <p:spPr>
          <a:xfrm>
            <a:off x="1353312" y="4480560"/>
            <a:ext cx="5029200" cy="530352"/>
          </a:xfrm>
          <a:prstGeom prst="rect">
            <a:avLst/>
          </a:prstGeom>
          <a:noFill/>
        </p:spPr>
        <p:txBody>
          <a:bodyPr wrap="square" anchor="ctr" lIns="0" rIns="0" tIns="0" bIns="0">
            <a:spAutoFit/>
          </a:bodyPr>
          <a:lstStyle/>
          <a:p>
            <a:pPr algn="l">
              <a:lnSpc>
                <a:spcPct val="106000"/>
              </a:lnSpc>
              <a:spcBef>
                <a:spcPts val="0"/>
              </a:spcBef>
              <a:spcAft>
                <a:spcPts val="0"/>
              </a:spcAft>
            </a:pPr>
            <a:r>
              <a:rPr sz="1200" b="0">
                <a:solidFill>
                  <a:srgbClr val="1A1A1A"/>
                </a:solidFill>
                <a:latin typeface="Red Hat Text"/>
              </a:rPr>
              <a:t>CronJob: schedule, no-overlap, suspend</a:t>
            </a:r>
          </a:p>
        </p:txBody>
      </p:sp>
      <p:sp>
        <p:nvSpPr>
          <p:cNvPr id="19" name="Rounded Rectangle 18"/>
          <p:cNvSpPr/>
          <p:nvPr/>
        </p:nvSpPr>
        <p:spPr>
          <a:xfrm>
            <a:off x="841248" y="5084064"/>
            <a:ext cx="5715000" cy="530352"/>
          </a:xfrm>
          <a:prstGeom prst="roundRect">
            <a:avLst>
              <a:gd name="adj" fmla="val 6000"/>
            </a:avLst>
          </a:prstGeom>
          <a:solidFill>
            <a:srgbClr val="F5F6F8"/>
          </a:solidFill>
          <a:ln w="12700">
            <a:solidFill>
              <a:srgbClr val="DDE1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0" name="Picture 19" descr="check_steel.png"/>
          <p:cNvPicPr>
            <a:picLocks noChangeAspect="1"/>
          </p:cNvPicPr>
          <p:nvPr/>
        </p:nvPicPr>
        <p:blipFill>
          <a:blip r:embed="rId3"/>
          <a:stretch>
            <a:fillRect/>
          </a:stretch>
        </p:blipFill>
        <p:spPr>
          <a:xfrm>
            <a:off x="987552" y="5230368"/>
            <a:ext cx="237744" cy="237744"/>
          </a:xfrm>
          <a:prstGeom prst="rect">
            <a:avLst/>
          </a:prstGeom>
        </p:spPr>
      </p:pic>
      <p:sp>
        <p:nvSpPr>
          <p:cNvPr id="21" name="TextBox 20"/>
          <p:cNvSpPr txBox="1"/>
          <p:nvPr/>
        </p:nvSpPr>
        <p:spPr>
          <a:xfrm>
            <a:off x="1353312" y="5084064"/>
            <a:ext cx="5029200" cy="530352"/>
          </a:xfrm>
          <a:prstGeom prst="rect">
            <a:avLst/>
          </a:prstGeom>
          <a:noFill/>
        </p:spPr>
        <p:txBody>
          <a:bodyPr wrap="square" anchor="ctr" lIns="0" rIns="0" tIns="0" bIns="0">
            <a:spAutoFit/>
          </a:bodyPr>
          <a:lstStyle/>
          <a:p>
            <a:pPr algn="l">
              <a:lnSpc>
                <a:spcPct val="106000"/>
              </a:lnSpc>
              <a:spcBef>
                <a:spcPts val="0"/>
              </a:spcBef>
              <a:spcAft>
                <a:spcPts val="0"/>
              </a:spcAft>
            </a:pPr>
            <a:r>
              <a:rPr sz="1200" b="0">
                <a:solidFill>
                  <a:srgbClr val="1A1A1A"/>
                </a:solidFill>
                <a:latin typeface="Red Hat Text"/>
              </a:rPr>
              <a:t>Pod template is immutable — batch lives in Git</a:t>
            </a:r>
          </a:p>
        </p:txBody>
      </p:sp>
      <p:sp>
        <p:nvSpPr>
          <p:cNvPr id="22" name="Rounded Rectangle 21"/>
          <p:cNvSpPr/>
          <p:nvPr/>
        </p:nvSpPr>
        <p:spPr>
          <a:xfrm>
            <a:off x="6812280" y="2670048"/>
            <a:ext cx="4538167" cy="2944368"/>
          </a:xfrm>
          <a:prstGeom prst="roundRect">
            <a:avLst>
              <a:gd name="adj" fmla="val 4000"/>
            </a:avLst>
          </a:prstGeom>
          <a:solidFill>
            <a:srgbClr val="FFFFFF"/>
          </a:solidFill>
          <a:ln w="15240">
            <a:solidFill>
              <a:srgbClr val="DDE1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ounded Rectangle 22"/>
          <p:cNvSpPr/>
          <p:nvPr/>
        </p:nvSpPr>
        <p:spPr>
          <a:xfrm>
            <a:off x="7013448" y="2871216"/>
            <a:ext cx="1298448" cy="310896"/>
          </a:xfrm>
          <a:prstGeom prst="roundRect">
            <a:avLst>
              <a:gd name="adj" fmla="val 50000"/>
            </a:avLst>
          </a:prstGeom>
          <a:solidFill>
            <a:srgbClr val="FCEC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7013448" y="2871216"/>
            <a:ext cx="1298448" cy="310896"/>
          </a:xfrm>
          <a:prstGeom prst="rect">
            <a:avLst/>
          </a:prstGeom>
          <a:noFill/>
        </p:spPr>
        <p:txBody>
          <a:bodyPr wrap="none" anchor="ctr" lIns="0" rIns="0" tIns="0" bIns="0">
            <a:spAutoFit/>
          </a:bodyPr>
          <a:lstStyle/>
          <a:p>
            <a:pPr algn="ctr">
              <a:lnSpc>
                <a:spcPct val="106000"/>
              </a:lnSpc>
              <a:spcBef>
                <a:spcPts val="0"/>
              </a:spcBef>
              <a:spcAft>
                <a:spcPts val="0"/>
              </a:spcAft>
            </a:pPr>
            <a:r>
              <a:rPr sz="850" b="1">
                <a:solidFill>
                  <a:srgbClr val="B80000"/>
                </a:solidFill>
                <a:latin typeface="Red Hat Display"/>
              </a:rPr>
              <a:t>MEDIA PASS</a:t>
            </a:r>
          </a:p>
        </p:txBody>
      </p:sp>
      <p:pic>
        <p:nvPicPr>
          <p:cNvPr id="25" name="Picture 24" descr="eye_slate.png"/>
          <p:cNvPicPr>
            <a:picLocks noChangeAspect="1"/>
          </p:cNvPicPr>
          <p:nvPr/>
        </p:nvPicPr>
        <p:blipFill>
          <a:blip r:embed="rId4"/>
          <a:stretch>
            <a:fillRect/>
          </a:stretch>
        </p:blipFill>
        <p:spPr>
          <a:xfrm>
            <a:off x="8843619" y="3383280"/>
            <a:ext cx="475488" cy="475488"/>
          </a:xfrm>
          <a:prstGeom prst="rect">
            <a:avLst/>
          </a:prstGeom>
        </p:spPr>
      </p:pic>
      <p:sp>
        <p:nvSpPr>
          <p:cNvPr id="26" name="TextBox 25"/>
          <p:cNvSpPr txBox="1"/>
          <p:nvPr/>
        </p:nvSpPr>
        <p:spPr>
          <a:xfrm>
            <a:off x="7050024" y="3995928"/>
            <a:ext cx="4062679" cy="1481328"/>
          </a:xfrm>
          <a:prstGeom prst="rect">
            <a:avLst/>
          </a:prstGeom>
          <a:noFill/>
        </p:spPr>
        <p:txBody>
          <a:bodyPr wrap="square" anchor="t" lIns="0" rIns="0" tIns="0" bIns="0">
            <a:spAutoFit/>
          </a:bodyPr>
          <a:lstStyle/>
          <a:p>
            <a:pPr algn="l">
              <a:lnSpc>
                <a:spcPct val="120000"/>
              </a:lnSpc>
              <a:spcBef>
                <a:spcPts val="0"/>
              </a:spcBef>
              <a:spcAft>
                <a:spcPts val="0"/>
              </a:spcAft>
            </a:pPr>
            <a:r>
              <a:rPr sz="950" b="0">
                <a:solidFill>
                  <a:srgbClr val="8A9099"/>
                </a:solidFill>
                <a:latin typeface="Red Hat Text"/>
              </a:rPr>
              <a:t>A Job box spawning two waves of three Pods, plus a small CronJob clock and an "Indexed 0..4" strip.</a:t>
            </a:r>
          </a:p>
        </p:txBody>
      </p:sp>
      <p:cxnSp>
        <p:nvCxnSpPr>
          <p:cNvPr id="27" name="Connector 26"/>
          <p:cNvCxnSpPr/>
          <p:nvPr/>
        </p:nvCxnSpPr>
        <p:spPr>
          <a:xfrm>
            <a:off x="841248" y="6437376"/>
            <a:ext cx="10509199" cy="0"/>
          </a:xfrm>
          <a:prstGeom prst="bentConnector3">
            <a:avLst/>
          </a:prstGeom>
          <a:ln w="12700">
            <a:solidFill>
              <a:srgbClr val="DDE1E6"/>
            </a:solidFill>
          </a:ln>
          <a:effectLst/>
        </p:spPr>
        <p:style>
          <a:lnRef idx="2">
            <a:schemeClr val="accent1"/>
          </a:lnRef>
          <a:fillRef idx="0">
            <a:schemeClr val="accent1"/>
          </a:fillRef>
          <a:effectRef idx="1">
            <a:schemeClr val="accent1"/>
          </a:effectRef>
          <a:fontRef idx="minor">
            <a:schemeClr val="tx1"/>
          </a:fontRef>
        </p:style>
      </p:cxnSp>
      <p:sp>
        <p:nvSpPr>
          <p:cNvPr id="28" name="TextBox 27"/>
          <p:cNvSpPr txBox="1"/>
          <p:nvPr/>
        </p:nvSpPr>
        <p:spPr>
          <a:xfrm>
            <a:off x="841248" y="6473952"/>
            <a:ext cx="7315200" cy="274320"/>
          </a:xfrm>
          <a:prstGeom prst="rect">
            <a:avLst/>
          </a:prstGeom>
          <a:noFill/>
        </p:spPr>
        <p:txBody>
          <a:bodyPr wrap="square" anchor="t" lIns="0" rIns="0" tIns="0" bIns="0">
            <a:spAutoFit/>
          </a:bodyPr>
          <a:lstStyle/>
          <a:p>
            <a:pPr algn="l">
              <a:lnSpc>
                <a:spcPct val="106000"/>
              </a:lnSpc>
              <a:spcBef>
                <a:spcPts val="0"/>
              </a:spcBef>
              <a:spcAft>
                <a:spcPts val="0"/>
              </a:spcAft>
            </a:pPr>
            <a:r>
              <a:rPr sz="950" b="0">
                <a:solidFill>
                  <a:srgbClr val="8A9099"/>
                </a:solidFill>
                <a:latin typeface="Red Hat Text"/>
              </a:rPr>
              <a:t>CONFIDENTIAL</a:t>
            </a:r>
          </a:p>
        </p:txBody>
      </p:sp>
      <p:sp>
        <p:nvSpPr>
          <p:cNvPr id="29" name="TextBox 28"/>
          <p:cNvSpPr txBox="1"/>
          <p:nvPr/>
        </p:nvSpPr>
        <p:spPr>
          <a:xfrm>
            <a:off x="10801807" y="6473952"/>
            <a:ext cx="548640" cy="274320"/>
          </a:xfrm>
          <a:prstGeom prst="rect">
            <a:avLst/>
          </a:prstGeom>
          <a:noFill/>
        </p:spPr>
        <p:txBody>
          <a:bodyPr wrap="square" anchor="t" lIns="0" rIns="0" tIns="0" bIns="0">
            <a:spAutoFit/>
          </a:bodyPr>
          <a:lstStyle/>
          <a:p>
            <a:pPr algn="r">
              <a:lnSpc>
                <a:spcPct val="106000"/>
              </a:lnSpc>
              <a:spcBef>
                <a:spcPts val="0"/>
              </a:spcBef>
              <a:spcAft>
                <a:spcPts val="0"/>
              </a:spcAft>
            </a:pPr>
            <a:r>
              <a:rPr sz="950" b="0">
                <a:solidFill>
                  <a:srgbClr val="8A9099"/>
                </a:solidFill>
                <a:latin typeface="Red Hat Text"/>
              </a:rPr>
              <a:t>38</a:t>
            </a:r>
          </a:p>
        </p:txBody>
      </p:sp>
    </p:spTree>
  </p:cSld>
  <p:clrMapOvr>
    <a:masterClrMapping/>
  </p:clrMapOvr>
</p:sld>
</file>

<file path=ppt/slides/slide4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redhat_logo.jpg"/>
          <p:cNvPicPr>
            <a:picLocks noChangeAspect="1"/>
          </p:cNvPicPr>
          <p:nvPr/>
        </p:nvPicPr>
        <p:blipFill>
          <a:blip r:embed="rId2"/>
          <a:stretch>
            <a:fillRect/>
          </a:stretch>
        </p:blipFill>
        <p:spPr>
          <a:xfrm>
            <a:off x="10326319" y="475488"/>
            <a:ext cx="1024128" cy="242248"/>
          </a:xfrm>
          <a:prstGeom prst="rect">
            <a:avLst/>
          </a:prstGeom>
        </p:spPr>
      </p:pic>
      <p:sp>
        <p:nvSpPr>
          <p:cNvPr id="3" name="TextBox 2"/>
          <p:cNvSpPr txBox="1"/>
          <p:nvPr/>
        </p:nvSpPr>
        <p:spPr>
          <a:xfrm>
            <a:off x="841248" y="548640"/>
            <a:ext cx="8595360" cy="274320"/>
          </a:xfrm>
          <a:prstGeom prst="rect">
            <a:avLst/>
          </a:prstGeom>
          <a:noFill/>
        </p:spPr>
        <p:txBody>
          <a:bodyPr wrap="square" anchor="t" lIns="0" rIns="0" tIns="0" bIns="0">
            <a:spAutoFit/>
          </a:bodyPr>
          <a:lstStyle/>
          <a:p>
            <a:pPr algn="l">
              <a:lnSpc>
                <a:spcPct val="106000"/>
              </a:lnSpc>
              <a:spcBef>
                <a:spcPts val="0"/>
              </a:spcBef>
              <a:spcAft>
                <a:spcPts val="0"/>
              </a:spcAft>
            </a:pPr>
            <a:r>
              <a:rPr sz="1250" b="1" spc="220">
                <a:solidFill>
                  <a:srgbClr val="EE0000"/>
                </a:solidFill>
                <a:latin typeface="Red Hat Display"/>
              </a:rPr>
              <a:t>M06 · JOBS, BATCH &amp; QUEUED WORKLOADS</a:t>
            </a:r>
          </a:p>
        </p:txBody>
      </p:sp>
      <p:sp>
        <p:nvSpPr>
          <p:cNvPr id="4" name="TextBox 3"/>
          <p:cNvSpPr txBox="1"/>
          <p:nvPr/>
        </p:nvSpPr>
        <p:spPr>
          <a:xfrm>
            <a:off x="841248" y="877824"/>
            <a:ext cx="10515600" cy="548640"/>
          </a:xfrm>
          <a:prstGeom prst="rect">
            <a:avLst/>
          </a:prstGeom>
          <a:noFill/>
        </p:spPr>
        <p:txBody>
          <a:bodyPr wrap="none" anchor="t" lIns="0" rIns="0" tIns="0" bIns="0">
            <a:spAutoFit/>
          </a:bodyPr>
          <a:lstStyle/>
          <a:p>
            <a:pPr algn="l">
              <a:lnSpc>
                <a:spcPct val="100000"/>
              </a:lnSpc>
              <a:spcBef>
                <a:spcPts val="0"/>
              </a:spcBef>
              <a:spcAft>
                <a:spcPts val="0"/>
              </a:spcAft>
            </a:pPr>
            <a:r>
              <a:rPr sz="2500" b="1">
                <a:solidFill>
                  <a:srgbClr val="1A1A1A"/>
                </a:solidFill>
                <a:latin typeface="Red Hat Display"/>
              </a:rPr>
              <a:t>Admission control with Kueue</a:t>
            </a:r>
          </a:p>
        </p:txBody>
      </p:sp>
      <p:cxnSp>
        <p:nvCxnSpPr>
          <p:cNvPr id="5" name="Connector 4"/>
          <p:cNvCxnSpPr/>
          <p:nvPr/>
        </p:nvCxnSpPr>
        <p:spPr>
          <a:xfrm>
            <a:off x="841248" y="1554480"/>
            <a:ext cx="1371600" cy="0"/>
          </a:xfrm>
          <a:prstGeom prst="bentConnector3">
            <a:avLst/>
          </a:prstGeom>
          <a:ln w="31750">
            <a:solidFill>
              <a:srgbClr val="EE0000"/>
            </a:solidFill>
          </a:ln>
          <a:effectLst/>
        </p:spPr>
        <p:style>
          <a:lnRef idx="2">
            <a:schemeClr val="accent1"/>
          </a:lnRef>
          <a:fillRef idx="0">
            <a:schemeClr val="accent1"/>
          </a:fillRef>
          <a:effectRef idx="1">
            <a:schemeClr val="accent1"/>
          </a:effectRef>
          <a:fontRef idx="minor">
            <a:schemeClr val="tx1"/>
          </a:fontRef>
        </p:style>
      </p:cxnSp>
      <p:sp>
        <p:nvSpPr>
          <p:cNvPr id="6" name="Rounded Rectangle 5"/>
          <p:cNvSpPr/>
          <p:nvPr/>
        </p:nvSpPr>
        <p:spPr>
          <a:xfrm>
            <a:off x="841248" y="2395728"/>
            <a:ext cx="5715000" cy="530352"/>
          </a:xfrm>
          <a:prstGeom prst="roundRect">
            <a:avLst>
              <a:gd name="adj" fmla="val 6000"/>
            </a:avLst>
          </a:prstGeom>
          <a:solidFill>
            <a:srgbClr val="F5F6F8"/>
          </a:solidFill>
          <a:ln w="12700">
            <a:solidFill>
              <a:srgbClr val="DDE1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check_steel.png"/>
          <p:cNvPicPr>
            <a:picLocks noChangeAspect="1"/>
          </p:cNvPicPr>
          <p:nvPr/>
        </p:nvPicPr>
        <p:blipFill>
          <a:blip r:embed="rId3"/>
          <a:stretch>
            <a:fillRect/>
          </a:stretch>
        </p:blipFill>
        <p:spPr>
          <a:xfrm>
            <a:off x="987552" y="2542032"/>
            <a:ext cx="237744" cy="237744"/>
          </a:xfrm>
          <a:prstGeom prst="rect">
            <a:avLst/>
          </a:prstGeom>
        </p:spPr>
      </p:pic>
      <p:sp>
        <p:nvSpPr>
          <p:cNvPr id="8" name="TextBox 7"/>
          <p:cNvSpPr txBox="1"/>
          <p:nvPr/>
        </p:nvSpPr>
        <p:spPr>
          <a:xfrm>
            <a:off x="1353312" y="2395728"/>
            <a:ext cx="5029200" cy="530352"/>
          </a:xfrm>
          <a:prstGeom prst="rect">
            <a:avLst/>
          </a:prstGeom>
          <a:noFill/>
        </p:spPr>
        <p:txBody>
          <a:bodyPr wrap="square" anchor="ctr" lIns="0" rIns="0" tIns="0" bIns="0">
            <a:spAutoFit/>
          </a:bodyPr>
          <a:lstStyle/>
          <a:p>
            <a:pPr algn="l">
              <a:lnSpc>
                <a:spcPct val="106000"/>
              </a:lnSpc>
              <a:spcBef>
                <a:spcPts val="0"/>
              </a:spcBef>
              <a:spcAft>
                <a:spcPts val="0"/>
              </a:spcAft>
            </a:pPr>
            <a:r>
              <a:rPr sz="1200" b="0">
                <a:solidFill>
                  <a:srgbClr val="1A1A1A"/>
                </a:solidFill>
                <a:latin typeface="Red Hat Text"/>
              </a:rPr>
              <a:t>ClusterQueue holds the quota</a:t>
            </a:r>
          </a:p>
        </p:txBody>
      </p:sp>
      <p:sp>
        <p:nvSpPr>
          <p:cNvPr id="9" name="Rounded Rectangle 8"/>
          <p:cNvSpPr/>
          <p:nvPr/>
        </p:nvSpPr>
        <p:spPr>
          <a:xfrm>
            <a:off x="841248" y="2999232"/>
            <a:ext cx="5715000" cy="530352"/>
          </a:xfrm>
          <a:prstGeom prst="roundRect">
            <a:avLst>
              <a:gd name="adj" fmla="val 6000"/>
            </a:avLst>
          </a:prstGeom>
          <a:solidFill>
            <a:srgbClr val="F5F6F8"/>
          </a:solidFill>
          <a:ln w="12700">
            <a:solidFill>
              <a:srgbClr val="DDE1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0" name="Picture 9" descr="check_steel.png"/>
          <p:cNvPicPr>
            <a:picLocks noChangeAspect="1"/>
          </p:cNvPicPr>
          <p:nvPr/>
        </p:nvPicPr>
        <p:blipFill>
          <a:blip r:embed="rId3"/>
          <a:stretch>
            <a:fillRect/>
          </a:stretch>
        </p:blipFill>
        <p:spPr>
          <a:xfrm>
            <a:off x="987552" y="3145536"/>
            <a:ext cx="237744" cy="237744"/>
          </a:xfrm>
          <a:prstGeom prst="rect">
            <a:avLst/>
          </a:prstGeom>
        </p:spPr>
      </p:pic>
      <p:sp>
        <p:nvSpPr>
          <p:cNvPr id="11" name="TextBox 10"/>
          <p:cNvSpPr txBox="1"/>
          <p:nvPr/>
        </p:nvSpPr>
        <p:spPr>
          <a:xfrm>
            <a:off x="1353312" y="2999232"/>
            <a:ext cx="5029200" cy="530352"/>
          </a:xfrm>
          <a:prstGeom prst="rect">
            <a:avLst/>
          </a:prstGeom>
          <a:noFill/>
        </p:spPr>
        <p:txBody>
          <a:bodyPr wrap="square" anchor="ctr" lIns="0" rIns="0" tIns="0" bIns="0">
            <a:spAutoFit/>
          </a:bodyPr>
          <a:lstStyle/>
          <a:p>
            <a:pPr algn="l">
              <a:lnSpc>
                <a:spcPct val="106000"/>
              </a:lnSpc>
              <a:spcBef>
                <a:spcPts val="0"/>
              </a:spcBef>
              <a:spcAft>
                <a:spcPts val="0"/>
              </a:spcAft>
            </a:pPr>
            <a:r>
              <a:rPr sz="1200" b="0">
                <a:solidFill>
                  <a:srgbClr val="1A1A1A"/>
                </a:solidFill>
                <a:latin typeface="Red Hat Text"/>
              </a:rPr>
              <a:t>LocalQueue: your project's pointer in</a:t>
            </a:r>
          </a:p>
        </p:txBody>
      </p:sp>
      <p:sp>
        <p:nvSpPr>
          <p:cNvPr id="12" name="Rounded Rectangle 11"/>
          <p:cNvSpPr/>
          <p:nvPr/>
        </p:nvSpPr>
        <p:spPr>
          <a:xfrm>
            <a:off x="841248" y="3602736"/>
            <a:ext cx="5715000" cy="530352"/>
          </a:xfrm>
          <a:prstGeom prst="roundRect">
            <a:avLst>
              <a:gd name="adj" fmla="val 6000"/>
            </a:avLst>
          </a:prstGeom>
          <a:solidFill>
            <a:srgbClr val="F5F6F8"/>
          </a:solidFill>
          <a:ln w="12700">
            <a:solidFill>
              <a:srgbClr val="DDE1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3" name="Picture 12" descr="check_steel.png"/>
          <p:cNvPicPr>
            <a:picLocks noChangeAspect="1"/>
          </p:cNvPicPr>
          <p:nvPr/>
        </p:nvPicPr>
        <p:blipFill>
          <a:blip r:embed="rId3"/>
          <a:stretch>
            <a:fillRect/>
          </a:stretch>
        </p:blipFill>
        <p:spPr>
          <a:xfrm>
            <a:off x="987552" y="3749040"/>
            <a:ext cx="237744" cy="237744"/>
          </a:xfrm>
          <a:prstGeom prst="rect">
            <a:avLst/>
          </a:prstGeom>
        </p:spPr>
      </p:pic>
      <p:sp>
        <p:nvSpPr>
          <p:cNvPr id="14" name="TextBox 13"/>
          <p:cNvSpPr txBox="1"/>
          <p:nvPr/>
        </p:nvSpPr>
        <p:spPr>
          <a:xfrm>
            <a:off x="1353312" y="3602736"/>
            <a:ext cx="5029200" cy="530352"/>
          </a:xfrm>
          <a:prstGeom prst="rect">
            <a:avLst/>
          </a:prstGeom>
          <a:noFill/>
        </p:spPr>
        <p:txBody>
          <a:bodyPr wrap="square" anchor="ctr" lIns="0" rIns="0" tIns="0" bIns="0">
            <a:spAutoFit/>
          </a:bodyPr>
          <a:lstStyle/>
          <a:p>
            <a:pPr algn="l">
              <a:lnSpc>
                <a:spcPct val="106000"/>
              </a:lnSpc>
              <a:spcBef>
                <a:spcPts val="0"/>
              </a:spcBef>
              <a:spcAft>
                <a:spcPts val="0"/>
              </a:spcAft>
            </a:pPr>
            <a:r>
              <a:rPr sz="1200" b="0">
                <a:solidFill>
                  <a:srgbClr val="1A1A1A"/>
                </a:solidFill>
                <a:latin typeface="Red Hat Text"/>
              </a:rPr>
              <a:t>Label a Job: queue-name → it's managed</a:t>
            </a:r>
          </a:p>
        </p:txBody>
      </p:sp>
      <p:sp>
        <p:nvSpPr>
          <p:cNvPr id="15" name="Rounded Rectangle 14"/>
          <p:cNvSpPr/>
          <p:nvPr/>
        </p:nvSpPr>
        <p:spPr>
          <a:xfrm>
            <a:off x="841248" y="4206240"/>
            <a:ext cx="5715000" cy="530352"/>
          </a:xfrm>
          <a:prstGeom prst="roundRect">
            <a:avLst>
              <a:gd name="adj" fmla="val 6000"/>
            </a:avLst>
          </a:prstGeom>
          <a:solidFill>
            <a:srgbClr val="F5F6F8"/>
          </a:solidFill>
          <a:ln w="12700">
            <a:solidFill>
              <a:srgbClr val="DDE1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6" name="Picture 15" descr="check_steel.png"/>
          <p:cNvPicPr>
            <a:picLocks noChangeAspect="1"/>
          </p:cNvPicPr>
          <p:nvPr/>
        </p:nvPicPr>
        <p:blipFill>
          <a:blip r:embed="rId3"/>
          <a:stretch>
            <a:fillRect/>
          </a:stretch>
        </p:blipFill>
        <p:spPr>
          <a:xfrm>
            <a:off x="987552" y="4352544"/>
            <a:ext cx="237744" cy="237744"/>
          </a:xfrm>
          <a:prstGeom prst="rect">
            <a:avLst/>
          </a:prstGeom>
        </p:spPr>
      </p:pic>
      <p:sp>
        <p:nvSpPr>
          <p:cNvPr id="17" name="TextBox 16"/>
          <p:cNvSpPr txBox="1"/>
          <p:nvPr/>
        </p:nvSpPr>
        <p:spPr>
          <a:xfrm>
            <a:off x="1353312" y="4206240"/>
            <a:ext cx="5029200" cy="530352"/>
          </a:xfrm>
          <a:prstGeom prst="rect">
            <a:avLst/>
          </a:prstGeom>
          <a:noFill/>
        </p:spPr>
        <p:txBody>
          <a:bodyPr wrap="square" anchor="ctr" lIns="0" rIns="0" tIns="0" bIns="0">
            <a:spAutoFit/>
          </a:bodyPr>
          <a:lstStyle/>
          <a:p>
            <a:pPr algn="l">
              <a:lnSpc>
                <a:spcPct val="106000"/>
              </a:lnSpc>
              <a:spcBef>
                <a:spcPts val="0"/>
              </a:spcBef>
              <a:spcAft>
                <a:spcPts val="0"/>
              </a:spcAft>
            </a:pPr>
            <a:r>
              <a:rPr sz="1200" b="0">
                <a:solidFill>
                  <a:srgbClr val="1A1A1A"/>
                </a:solidFill>
                <a:latin typeface="Red Hat Text"/>
              </a:rPr>
              <a:t>Full queue: admit some, hold the rest</a:t>
            </a:r>
          </a:p>
        </p:txBody>
      </p:sp>
      <p:sp>
        <p:nvSpPr>
          <p:cNvPr id="18" name="Rounded Rectangle 17"/>
          <p:cNvSpPr/>
          <p:nvPr/>
        </p:nvSpPr>
        <p:spPr>
          <a:xfrm>
            <a:off x="841248" y="4809744"/>
            <a:ext cx="5715000" cy="530352"/>
          </a:xfrm>
          <a:prstGeom prst="roundRect">
            <a:avLst>
              <a:gd name="adj" fmla="val 6000"/>
            </a:avLst>
          </a:prstGeom>
          <a:solidFill>
            <a:srgbClr val="F5F6F8"/>
          </a:solidFill>
          <a:ln w="12700">
            <a:solidFill>
              <a:srgbClr val="DDE1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9" name="Picture 18" descr="check_steel.png"/>
          <p:cNvPicPr>
            <a:picLocks noChangeAspect="1"/>
          </p:cNvPicPr>
          <p:nvPr/>
        </p:nvPicPr>
        <p:blipFill>
          <a:blip r:embed="rId3"/>
          <a:stretch>
            <a:fillRect/>
          </a:stretch>
        </p:blipFill>
        <p:spPr>
          <a:xfrm>
            <a:off x="987552" y="4956048"/>
            <a:ext cx="237744" cy="237744"/>
          </a:xfrm>
          <a:prstGeom prst="rect">
            <a:avLst/>
          </a:prstGeom>
        </p:spPr>
      </p:pic>
      <p:sp>
        <p:nvSpPr>
          <p:cNvPr id="20" name="TextBox 19"/>
          <p:cNvSpPr txBox="1"/>
          <p:nvPr/>
        </p:nvSpPr>
        <p:spPr>
          <a:xfrm>
            <a:off x="1353312" y="4809744"/>
            <a:ext cx="5029200" cy="530352"/>
          </a:xfrm>
          <a:prstGeom prst="rect">
            <a:avLst/>
          </a:prstGeom>
          <a:noFill/>
        </p:spPr>
        <p:txBody>
          <a:bodyPr wrap="square" anchor="ctr" lIns="0" rIns="0" tIns="0" bIns="0">
            <a:spAutoFit/>
          </a:bodyPr>
          <a:lstStyle/>
          <a:p>
            <a:pPr algn="l">
              <a:lnSpc>
                <a:spcPct val="106000"/>
              </a:lnSpc>
              <a:spcBef>
                <a:spcPts val="0"/>
              </a:spcBef>
              <a:spcAft>
                <a:spcPts val="0"/>
              </a:spcAft>
            </a:pPr>
            <a:r>
              <a:rPr sz="1200" b="0">
                <a:solidFill>
                  <a:srgbClr val="1A1A1A"/>
                </a:solidFill>
                <a:latin typeface="Red Hat Text"/>
              </a:rPr>
              <a:t>Higher priority preempts — evict + requeue</a:t>
            </a:r>
          </a:p>
        </p:txBody>
      </p:sp>
      <p:sp>
        <p:nvSpPr>
          <p:cNvPr id="21" name="Rounded Rectangle 20"/>
          <p:cNvSpPr/>
          <p:nvPr/>
        </p:nvSpPr>
        <p:spPr>
          <a:xfrm>
            <a:off x="6812280" y="2395728"/>
            <a:ext cx="4538167" cy="2944368"/>
          </a:xfrm>
          <a:prstGeom prst="roundRect">
            <a:avLst>
              <a:gd name="adj" fmla="val 4000"/>
            </a:avLst>
          </a:prstGeom>
          <a:solidFill>
            <a:srgbClr val="FFFFFF"/>
          </a:solidFill>
          <a:ln w="15240">
            <a:solidFill>
              <a:srgbClr val="DDE1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ounded Rectangle 21"/>
          <p:cNvSpPr/>
          <p:nvPr/>
        </p:nvSpPr>
        <p:spPr>
          <a:xfrm>
            <a:off x="7013448" y="2596896"/>
            <a:ext cx="1298448" cy="310896"/>
          </a:xfrm>
          <a:prstGeom prst="roundRect">
            <a:avLst>
              <a:gd name="adj" fmla="val 50000"/>
            </a:avLst>
          </a:prstGeom>
          <a:solidFill>
            <a:srgbClr val="FCEC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7013448" y="2596896"/>
            <a:ext cx="1298448" cy="310896"/>
          </a:xfrm>
          <a:prstGeom prst="rect">
            <a:avLst/>
          </a:prstGeom>
          <a:noFill/>
        </p:spPr>
        <p:txBody>
          <a:bodyPr wrap="none" anchor="ctr" lIns="0" rIns="0" tIns="0" bIns="0">
            <a:spAutoFit/>
          </a:bodyPr>
          <a:lstStyle/>
          <a:p>
            <a:pPr algn="ctr">
              <a:lnSpc>
                <a:spcPct val="106000"/>
              </a:lnSpc>
              <a:spcBef>
                <a:spcPts val="0"/>
              </a:spcBef>
              <a:spcAft>
                <a:spcPts val="0"/>
              </a:spcAft>
            </a:pPr>
            <a:r>
              <a:rPr sz="850" b="1">
                <a:solidFill>
                  <a:srgbClr val="B80000"/>
                </a:solidFill>
                <a:latin typeface="Red Hat Display"/>
              </a:rPr>
              <a:t>MEDIA PASS</a:t>
            </a:r>
          </a:p>
        </p:txBody>
      </p:sp>
      <p:pic>
        <p:nvPicPr>
          <p:cNvPr id="24" name="Picture 23" descr="eye_slate.png"/>
          <p:cNvPicPr>
            <a:picLocks noChangeAspect="1"/>
          </p:cNvPicPr>
          <p:nvPr/>
        </p:nvPicPr>
        <p:blipFill>
          <a:blip r:embed="rId4"/>
          <a:stretch>
            <a:fillRect/>
          </a:stretch>
        </p:blipFill>
        <p:spPr>
          <a:xfrm>
            <a:off x="8843619" y="3108960"/>
            <a:ext cx="475488" cy="475488"/>
          </a:xfrm>
          <a:prstGeom prst="rect">
            <a:avLst/>
          </a:prstGeom>
        </p:spPr>
      </p:pic>
      <p:sp>
        <p:nvSpPr>
          <p:cNvPr id="25" name="TextBox 24"/>
          <p:cNvSpPr txBox="1"/>
          <p:nvPr/>
        </p:nvSpPr>
        <p:spPr>
          <a:xfrm>
            <a:off x="7050024" y="3721608"/>
            <a:ext cx="4062679" cy="1481328"/>
          </a:xfrm>
          <a:prstGeom prst="rect">
            <a:avLst/>
          </a:prstGeom>
          <a:noFill/>
        </p:spPr>
        <p:txBody>
          <a:bodyPr wrap="square" anchor="t" lIns="0" rIns="0" tIns="0" bIns="0">
            <a:spAutoFit/>
          </a:bodyPr>
          <a:lstStyle/>
          <a:p>
            <a:pPr algn="l">
              <a:lnSpc>
                <a:spcPct val="120000"/>
              </a:lnSpc>
              <a:spcBef>
                <a:spcPts val="0"/>
              </a:spcBef>
              <a:spcAft>
                <a:spcPts val="0"/>
              </a:spcAft>
            </a:pPr>
            <a:r>
              <a:rPr sz="950" b="0">
                <a:solidFill>
                  <a:srgbClr val="8A9099"/>
                </a:solidFill>
                <a:latin typeface="Red Hat Text"/>
              </a:rPr>
              <a:t>Reuse concept diagram jobs-batch-kueue-...-02-kueue-admission.svg — Job → LocalQueue → ClusterQueue → admitted / pending / preempted.</a:t>
            </a:r>
          </a:p>
        </p:txBody>
      </p:sp>
      <p:cxnSp>
        <p:nvCxnSpPr>
          <p:cNvPr id="26" name="Connector 25"/>
          <p:cNvCxnSpPr/>
          <p:nvPr/>
        </p:nvCxnSpPr>
        <p:spPr>
          <a:xfrm>
            <a:off x="841248" y="6437376"/>
            <a:ext cx="10509199" cy="0"/>
          </a:xfrm>
          <a:prstGeom prst="bentConnector3">
            <a:avLst/>
          </a:prstGeom>
          <a:ln w="12700">
            <a:solidFill>
              <a:srgbClr val="DDE1E6"/>
            </a:solidFill>
          </a:ln>
          <a:effectLst/>
        </p:spPr>
        <p:style>
          <a:lnRef idx="2">
            <a:schemeClr val="accent1"/>
          </a:lnRef>
          <a:fillRef idx="0">
            <a:schemeClr val="accent1"/>
          </a:fillRef>
          <a:effectRef idx="1">
            <a:schemeClr val="accent1"/>
          </a:effectRef>
          <a:fontRef idx="minor">
            <a:schemeClr val="tx1"/>
          </a:fontRef>
        </p:style>
      </p:cxnSp>
      <p:sp>
        <p:nvSpPr>
          <p:cNvPr id="27" name="TextBox 26"/>
          <p:cNvSpPr txBox="1"/>
          <p:nvPr/>
        </p:nvSpPr>
        <p:spPr>
          <a:xfrm>
            <a:off x="841248" y="6473952"/>
            <a:ext cx="7315200" cy="274320"/>
          </a:xfrm>
          <a:prstGeom prst="rect">
            <a:avLst/>
          </a:prstGeom>
          <a:noFill/>
        </p:spPr>
        <p:txBody>
          <a:bodyPr wrap="square" anchor="t" lIns="0" rIns="0" tIns="0" bIns="0">
            <a:spAutoFit/>
          </a:bodyPr>
          <a:lstStyle/>
          <a:p>
            <a:pPr algn="l">
              <a:lnSpc>
                <a:spcPct val="106000"/>
              </a:lnSpc>
              <a:spcBef>
                <a:spcPts val="0"/>
              </a:spcBef>
              <a:spcAft>
                <a:spcPts val="0"/>
              </a:spcAft>
            </a:pPr>
            <a:r>
              <a:rPr sz="950" b="0">
                <a:solidFill>
                  <a:srgbClr val="8A9099"/>
                </a:solidFill>
                <a:latin typeface="Red Hat Text"/>
              </a:rPr>
              <a:t>CONFIDENTIAL</a:t>
            </a:r>
          </a:p>
        </p:txBody>
      </p:sp>
      <p:sp>
        <p:nvSpPr>
          <p:cNvPr id="28" name="TextBox 27"/>
          <p:cNvSpPr txBox="1"/>
          <p:nvPr/>
        </p:nvSpPr>
        <p:spPr>
          <a:xfrm>
            <a:off x="10801807" y="6473952"/>
            <a:ext cx="548640" cy="274320"/>
          </a:xfrm>
          <a:prstGeom prst="rect">
            <a:avLst/>
          </a:prstGeom>
          <a:noFill/>
        </p:spPr>
        <p:txBody>
          <a:bodyPr wrap="square" anchor="t" lIns="0" rIns="0" tIns="0" bIns="0">
            <a:spAutoFit/>
          </a:bodyPr>
          <a:lstStyle/>
          <a:p>
            <a:pPr algn="r">
              <a:lnSpc>
                <a:spcPct val="106000"/>
              </a:lnSpc>
              <a:spcBef>
                <a:spcPts val="0"/>
              </a:spcBef>
              <a:spcAft>
                <a:spcPts val="0"/>
              </a:spcAft>
            </a:pPr>
            <a:r>
              <a:rPr sz="950" b="0">
                <a:solidFill>
                  <a:srgbClr val="8A9099"/>
                </a:solidFill>
                <a:latin typeface="Red Hat Text"/>
              </a:rPr>
              <a:t>39</a:t>
            </a:r>
          </a:p>
        </p:txBody>
      </p:sp>
    </p:spTree>
  </p:cSld>
  <p:clrMapOvr>
    <a:masterClrMapping/>
  </p:clrMapOvr>
</p:sld>
</file>

<file path=ppt/slides/slide4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redhat_logo.jpg"/>
          <p:cNvPicPr>
            <a:picLocks noChangeAspect="1"/>
          </p:cNvPicPr>
          <p:nvPr/>
        </p:nvPicPr>
        <p:blipFill>
          <a:blip r:embed="rId2"/>
          <a:stretch>
            <a:fillRect/>
          </a:stretch>
        </p:blipFill>
        <p:spPr>
          <a:xfrm>
            <a:off x="10326319" y="475488"/>
            <a:ext cx="1024128" cy="242248"/>
          </a:xfrm>
          <a:prstGeom prst="rect">
            <a:avLst/>
          </a:prstGeom>
        </p:spPr>
      </p:pic>
      <p:sp>
        <p:nvSpPr>
          <p:cNvPr id="3" name="TextBox 2"/>
          <p:cNvSpPr txBox="1"/>
          <p:nvPr/>
        </p:nvSpPr>
        <p:spPr>
          <a:xfrm>
            <a:off x="841248" y="548640"/>
            <a:ext cx="8595360" cy="274320"/>
          </a:xfrm>
          <a:prstGeom prst="rect">
            <a:avLst/>
          </a:prstGeom>
          <a:noFill/>
        </p:spPr>
        <p:txBody>
          <a:bodyPr wrap="square" anchor="t" lIns="0" rIns="0" tIns="0" bIns="0">
            <a:spAutoFit/>
          </a:bodyPr>
          <a:lstStyle/>
          <a:p>
            <a:pPr algn="l">
              <a:lnSpc>
                <a:spcPct val="106000"/>
              </a:lnSpc>
              <a:spcBef>
                <a:spcPts val="0"/>
              </a:spcBef>
              <a:spcAft>
                <a:spcPts val="0"/>
              </a:spcAft>
            </a:pPr>
            <a:r>
              <a:rPr sz="1250" b="1" spc="220">
                <a:solidFill>
                  <a:srgbClr val="EE0000"/>
                </a:solidFill>
                <a:latin typeface="Red Hat Display"/>
              </a:rPr>
              <a:t>M06 · JOBS, BATCH &amp; QUEUED WORKLOADS</a:t>
            </a:r>
          </a:p>
        </p:txBody>
      </p:sp>
      <p:sp>
        <p:nvSpPr>
          <p:cNvPr id="4" name="TextBox 3"/>
          <p:cNvSpPr txBox="1"/>
          <p:nvPr/>
        </p:nvSpPr>
        <p:spPr>
          <a:xfrm>
            <a:off x="841248" y="877824"/>
            <a:ext cx="10515600" cy="548640"/>
          </a:xfrm>
          <a:prstGeom prst="rect">
            <a:avLst/>
          </a:prstGeom>
          <a:noFill/>
        </p:spPr>
        <p:txBody>
          <a:bodyPr wrap="none" anchor="t" lIns="0" rIns="0" tIns="0" bIns="0">
            <a:spAutoFit/>
          </a:bodyPr>
          <a:lstStyle/>
          <a:p>
            <a:pPr algn="l">
              <a:lnSpc>
                <a:spcPct val="100000"/>
              </a:lnSpc>
              <a:spcBef>
                <a:spcPts val="0"/>
              </a:spcBef>
              <a:spcAft>
                <a:spcPts val="0"/>
              </a:spcAft>
            </a:pPr>
            <a:r>
              <a:rPr sz="2500" b="1">
                <a:solidFill>
                  <a:srgbClr val="1A1A1A"/>
                </a:solidFill>
                <a:latin typeface="Red Hat Display"/>
              </a:rPr>
              <a:t>AI batch is just batch</a:t>
            </a:r>
          </a:p>
        </p:txBody>
      </p:sp>
      <p:cxnSp>
        <p:nvCxnSpPr>
          <p:cNvPr id="5" name="Connector 4"/>
          <p:cNvCxnSpPr/>
          <p:nvPr/>
        </p:nvCxnSpPr>
        <p:spPr>
          <a:xfrm>
            <a:off x="841248" y="1554480"/>
            <a:ext cx="1371600" cy="0"/>
          </a:xfrm>
          <a:prstGeom prst="bentConnector3">
            <a:avLst/>
          </a:prstGeom>
          <a:ln w="31750">
            <a:solidFill>
              <a:srgbClr val="EE0000"/>
            </a:solidFill>
          </a:ln>
          <a:effectLst/>
        </p:spPr>
        <p:style>
          <a:lnRef idx="2">
            <a:schemeClr val="accent1"/>
          </a:lnRef>
          <a:fillRef idx="0">
            <a:schemeClr val="accent1"/>
          </a:fillRef>
          <a:effectRef idx="1">
            <a:schemeClr val="accent1"/>
          </a:effectRef>
          <a:fontRef idx="minor">
            <a:schemeClr val="tx1"/>
          </a:fontRef>
        </p:style>
      </p:cxnSp>
      <p:sp>
        <p:nvSpPr>
          <p:cNvPr id="6" name="Rounded Rectangle 5"/>
          <p:cNvSpPr/>
          <p:nvPr/>
        </p:nvSpPr>
        <p:spPr>
          <a:xfrm>
            <a:off x="841248" y="2395728"/>
            <a:ext cx="5715000" cy="530352"/>
          </a:xfrm>
          <a:prstGeom prst="roundRect">
            <a:avLst>
              <a:gd name="adj" fmla="val 6000"/>
            </a:avLst>
          </a:prstGeom>
          <a:solidFill>
            <a:srgbClr val="F5F6F8"/>
          </a:solidFill>
          <a:ln w="12700">
            <a:solidFill>
              <a:srgbClr val="DDE1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check_steel.png"/>
          <p:cNvPicPr>
            <a:picLocks noChangeAspect="1"/>
          </p:cNvPicPr>
          <p:nvPr/>
        </p:nvPicPr>
        <p:blipFill>
          <a:blip r:embed="rId3"/>
          <a:stretch>
            <a:fillRect/>
          </a:stretch>
        </p:blipFill>
        <p:spPr>
          <a:xfrm>
            <a:off x="987552" y="2542032"/>
            <a:ext cx="237744" cy="237744"/>
          </a:xfrm>
          <a:prstGeom prst="rect">
            <a:avLst/>
          </a:prstGeom>
        </p:spPr>
      </p:pic>
      <p:sp>
        <p:nvSpPr>
          <p:cNvPr id="8" name="TextBox 7"/>
          <p:cNvSpPr txBox="1"/>
          <p:nvPr/>
        </p:nvSpPr>
        <p:spPr>
          <a:xfrm>
            <a:off x="1353312" y="2395728"/>
            <a:ext cx="5029200" cy="530352"/>
          </a:xfrm>
          <a:prstGeom prst="rect">
            <a:avLst/>
          </a:prstGeom>
          <a:noFill/>
        </p:spPr>
        <p:txBody>
          <a:bodyPr wrap="square" anchor="ctr" lIns="0" rIns="0" tIns="0" bIns="0">
            <a:spAutoFit/>
          </a:bodyPr>
          <a:lstStyle/>
          <a:p>
            <a:pPr algn="l">
              <a:lnSpc>
                <a:spcPct val="106000"/>
              </a:lnSpc>
              <a:spcBef>
                <a:spcPts val="0"/>
              </a:spcBef>
              <a:spcAft>
                <a:spcPts val="0"/>
              </a:spcAft>
            </a:pPr>
            <a:r>
              <a:rPr sz="1200" b="0">
                <a:solidFill>
                  <a:srgbClr val="1A1A1A"/>
                </a:solidFill>
                <a:latin typeface="Red Hat Text"/>
              </a:rPr>
              <a:t>Inference/eval job reads, calls model, stops</a:t>
            </a:r>
          </a:p>
        </p:txBody>
      </p:sp>
      <p:sp>
        <p:nvSpPr>
          <p:cNvPr id="9" name="Rounded Rectangle 8"/>
          <p:cNvSpPr/>
          <p:nvPr/>
        </p:nvSpPr>
        <p:spPr>
          <a:xfrm>
            <a:off x="841248" y="2999232"/>
            <a:ext cx="5715000" cy="530352"/>
          </a:xfrm>
          <a:prstGeom prst="roundRect">
            <a:avLst>
              <a:gd name="adj" fmla="val 6000"/>
            </a:avLst>
          </a:prstGeom>
          <a:solidFill>
            <a:srgbClr val="F5F6F8"/>
          </a:solidFill>
          <a:ln w="12700">
            <a:solidFill>
              <a:srgbClr val="DDE1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0" name="Picture 9" descr="check_steel.png"/>
          <p:cNvPicPr>
            <a:picLocks noChangeAspect="1"/>
          </p:cNvPicPr>
          <p:nvPr/>
        </p:nvPicPr>
        <p:blipFill>
          <a:blip r:embed="rId3"/>
          <a:stretch>
            <a:fillRect/>
          </a:stretch>
        </p:blipFill>
        <p:spPr>
          <a:xfrm>
            <a:off x="987552" y="3145536"/>
            <a:ext cx="237744" cy="237744"/>
          </a:xfrm>
          <a:prstGeom prst="rect">
            <a:avLst/>
          </a:prstGeom>
        </p:spPr>
      </p:pic>
      <p:sp>
        <p:nvSpPr>
          <p:cNvPr id="11" name="TextBox 10"/>
          <p:cNvSpPr txBox="1"/>
          <p:nvPr/>
        </p:nvSpPr>
        <p:spPr>
          <a:xfrm>
            <a:off x="1353312" y="2999232"/>
            <a:ext cx="5029200" cy="530352"/>
          </a:xfrm>
          <a:prstGeom prst="rect">
            <a:avLst/>
          </a:prstGeom>
          <a:noFill/>
        </p:spPr>
        <p:txBody>
          <a:bodyPr wrap="square" anchor="ctr" lIns="0" rIns="0" tIns="0" bIns="0">
            <a:spAutoFit/>
          </a:bodyPr>
          <a:lstStyle/>
          <a:p>
            <a:pPr algn="l">
              <a:lnSpc>
                <a:spcPct val="106000"/>
              </a:lnSpc>
              <a:spcBef>
                <a:spcPts val="0"/>
              </a:spcBef>
              <a:spcAft>
                <a:spcPts val="0"/>
              </a:spcAft>
            </a:pPr>
            <a:r>
              <a:rPr sz="1200" b="0">
                <a:solidFill>
                  <a:srgbClr val="1A1A1A"/>
                </a:solidFill>
                <a:latin typeface="Red Hat Text"/>
              </a:rPr>
              <a:t>Same queue-name label, same Workload</a:t>
            </a:r>
          </a:p>
        </p:txBody>
      </p:sp>
      <p:sp>
        <p:nvSpPr>
          <p:cNvPr id="12" name="Rounded Rectangle 11"/>
          <p:cNvSpPr/>
          <p:nvPr/>
        </p:nvSpPr>
        <p:spPr>
          <a:xfrm>
            <a:off x="841248" y="3602736"/>
            <a:ext cx="5715000" cy="530352"/>
          </a:xfrm>
          <a:prstGeom prst="roundRect">
            <a:avLst>
              <a:gd name="adj" fmla="val 6000"/>
            </a:avLst>
          </a:prstGeom>
          <a:solidFill>
            <a:srgbClr val="F5F6F8"/>
          </a:solidFill>
          <a:ln w="12700">
            <a:solidFill>
              <a:srgbClr val="DDE1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3" name="Picture 12" descr="check_steel.png"/>
          <p:cNvPicPr>
            <a:picLocks noChangeAspect="1"/>
          </p:cNvPicPr>
          <p:nvPr/>
        </p:nvPicPr>
        <p:blipFill>
          <a:blip r:embed="rId3"/>
          <a:stretch>
            <a:fillRect/>
          </a:stretch>
        </p:blipFill>
        <p:spPr>
          <a:xfrm>
            <a:off x="987552" y="3749040"/>
            <a:ext cx="237744" cy="237744"/>
          </a:xfrm>
          <a:prstGeom prst="rect">
            <a:avLst/>
          </a:prstGeom>
        </p:spPr>
      </p:pic>
      <p:sp>
        <p:nvSpPr>
          <p:cNvPr id="14" name="TextBox 13"/>
          <p:cNvSpPr txBox="1"/>
          <p:nvPr/>
        </p:nvSpPr>
        <p:spPr>
          <a:xfrm>
            <a:off x="1353312" y="3602736"/>
            <a:ext cx="5029200" cy="530352"/>
          </a:xfrm>
          <a:prstGeom prst="rect">
            <a:avLst/>
          </a:prstGeom>
          <a:noFill/>
        </p:spPr>
        <p:txBody>
          <a:bodyPr wrap="square" anchor="ctr" lIns="0" rIns="0" tIns="0" bIns="0">
            <a:spAutoFit/>
          </a:bodyPr>
          <a:lstStyle/>
          <a:p>
            <a:pPr algn="l">
              <a:lnSpc>
                <a:spcPct val="106000"/>
              </a:lnSpc>
              <a:spcBef>
                <a:spcPts val="0"/>
              </a:spcBef>
              <a:spcAft>
                <a:spcPts val="0"/>
              </a:spcAft>
            </a:pPr>
            <a:r>
              <a:rPr sz="1200" b="0">
                <a:solidFill>
                  <a:srgbClr val="1A1A1A"/>
                </a:solidFill>
                <a:latin typeface="Red Hat Text"/>
              </a:rPr>
              <a:t>Admitted and preempted identically</a:t>
            </a:r>
          </a:p>
        </p:txBody>
      </p:sp>
      <p:sp>
        <p:nvSpPr>
          <p:cNvPr id="15" name="Rounded Rectangle 14"/>
          <p:cNvSpPr/>
          <p:nvPr/>
        </p:nvSpPr>
        <p:spPr>
          <a:xfrm>
            <a:off x="841248" y="4206240"/>
            <a:ext cx="5715000" cy="530352"/>
          </a:xfrm>
          <a:prstGeom prst="roundRect">
            <a:avLst>
              <a:gd name="adj" fmla="val 6000"/>
            </a:avLst>
          </a:prstGeom>
          <a:solidFill>
            <a:srgbClr val="F5F6F8"/>
          </a:solidFill>
          <a:ln w="12700">
            <a:solidFill>
              <a:srgbClr val="DDE1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6" name="Picture 15" descr="check_steel.png"/>
          <p:cNvPicPr>
            <a:picLocks noChangeAspect="1"/>
          </p:cNvPicPr>
          <p:nvPr/>
        </p:nvPicPr>
        <p:blipFill>
          <a:blip r:embed="rId3"/>
          <a:stretch>
            <a:fillRect/>
          </a:stretch>
        </p:blipFill>
        <p:spPr>
          <a:xfrm>
            <a:off x="987552" y="4352544"/>
            <a:ext cx="237744" cy="237744"/>
          </a:xfrm>
          <a:prstGeom prst="rect">
            <a:avLst/>
          </a:prstGeom>
        </p:spPr>
      </p:pic>
      <p:sp>
        <p:nvSpPr>
          <p:cNvPr id="17" name="TextBox 16"/>
          <p:cNvSpPr txBox="1"/>
          <p:nvPr/>
        </p:nvSpPr>
        <p:spPr>
          <a:xfrm>
            <a:off x="1353312" y="4206240"/>
            <a:ext cx="5029200" cy="530352"/>
          </a:xfrm>
          <a:prstGeom prst="rect">
            <a:avLst/>
          </a:prstGeom>
          <a:noFill/>
        </p:spPr>
        <p:txBody>
          <a:bodyPr wrap="square" anchor="ctr" lIns="0" rIns="0" tIns="0" bIns="0">
            <a:spAutoFit/>
          </a:bodyPr>
          <a:lstStyle/>
          <a:p>
            <a:pPr algn="l">
              <a:lnSpc>
                <a:spcPct val="106000"/>
              </a:lnSpc>
              <a:spcBef>
                <a:spcPts val="0"/>
              </a:spcBef>
              <a:spcAft>
                <a:spcPts val="0"/>
              </a:spcAft>
            </a:pPr>
            <a:r>
              <a:rPr sz="1200" b="0">
                <a:solidFill>
                  <a:srgbClr val="1A1A1A"/>
                </a:solidFill>
                <a:latin typeface="Red Hat Text"/>
              </a:rPr>
              <a:t>GPU quotas: the same machinery</a:t>
            </a:r>
          </a:p>
        </p:txBody>
      </p:sp>
      <p:sp>
        <p:nvSpPr>
          <p:cNvPr id="18" name="Rounded Rectangle 17"/>
          <p:cNvSpPr/>
          <p:nvPr/>
        </p:nvSpPr>
        <p:spPr>
          <a:xfrm>
            <a:off x="841248" y="4809744"/>
            <a:ext cx="5715000" cy="530352"/>
          </a:xfrm>
          <a:prstGeom prst="roundRect">
            <a:avLst>
              <a:gd name="adj" fmla="val 6000"/>
            </a:avLst>
          </a:prstGeom>
          <a:solidFill>
            <a:srgbClr val="F5F6F8"/>
          </a:solidFill>
          <a:ln w="12700">
            <a:solidFill>
              <a:srgbClr val="DDE1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9" name="Picture 18" descr="check_steel.png"/>
          <p:cNvPicPr>
            <a:picLocks noChangeAspect="1"/>
          </p:cNvPicPr>
          <p:nvPr/>
        </p:nvPicPr>
        <p:blipFill>
          <a:blip r:embed="rId3"/>
          <a:stretch>
            <a:fillRect/>
          </a:stretch>
        </p:blipFill>
        <p:spPr>
          <a:xfrm>
            <a:off x="987552" y="4956048"/>
            <a:ext cx="237744" cy="237744"/>
          </a:xfrm>
          <a:prstGeom prst="rect">
            <a:avLst/>
          </a:prstGeom>
        </p:spPr>
      </p:pic>
      <p:sp>
        <p:nvSpPr>
          <p:cNvPr id="20" name="TextBox 19"/>
          <p:cNvSpPr txBox="1"/>
          <p:nvPr/>
        </p:nvSpPr>
        <p:spPr>
          <a:xfrm>
            <a:off x="1353312" y="4809744"/>
            <a:ext cx="5029200" cy="530352"/>
          </a:xfrm>
          <a:prstGeom prst="rect">
            <a:avLst/>
          </a:prstGeom>
          <a:noFill/>
        </p:spPr>
        <p:txBody>
          <a:bodyPr wrap="square" anchor="ctr" lIns="0" rIns="0" tIns="0" bIns="0">
            <a:spAutoFit/>
          </a:bodyPr>
          <a:lstStyle/>
          <a:p>
            <a:pPr algn="l">
              <a:lnSpc>
                <a:spcPct val="106000"/>
              </a:lnSpc>
              <a:spcBef>
                <a:spcPts val="0"/>
              </a:spcBef>
              <a:spcAft>
                <a:spcPts val="0"/>
              </a:spcAft>
            </a:pPr>
            <a:r>
              <a:rPr sz="1200" b="0">
                <a:solidFill>
                  <a:srgbClr val="1A1A1A"/>
                </a:solidFill>
                <a:latin typeface="Red Hat Text"/>
              </a:rPr>
              <a:t>Adopt the control plane before the crunch</a:t>
            </a:r>
          </a:p>
        </p:txBody>
      </p:sp>
      <p:sp>
        <p:nvSpPr>
          <p:cNvPr id="21" name="Rounded Rectangle 20"/>
          <p:cNvSpPr/>
          <p:nvPr/>
        </p:nvSpPr>
        <p:spPr>
          <a:xfrm>
            <a:off x="6812280" y="2395728"/>
            <a:ext cx="4538167" cy="2944368"/>
          </a:xfrm>
          <a:prstGeom prst="roundRect">
            <a:avLst>
              <a:gd name="adj" fmla="val 4000"/>
            </a:avLst>
          </a:prstGeom>
          <a:solidFill>
            <a:srgbClr val="FFFFFF"/>
          </a:solidFill>
          <a:ln w="15240">
            <a:solidFill>
              <a:srgbClr val="DDE1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ounded Rectangle 21"/>
          <p:cNvSpPr/>
          <p:nvPr/>
        </p:nvSpPr>
        <p:spPr>
          <a:xfrm>
            <a:off x="7013448" y="2596896"/>
            <a:ext cx="1298448" cy="310896"/>
          </a:xfrm>
          <a:prstGeom prst="roundRect">
            <a:avLst>
              <a:gd name="adj" fmla="val 50000"/>
            </a:avLst>
          </a:prstGeom>
          <a:solidFill>
            <a:srgbClr val="FCEC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7013448" y="2596896"/>
            <a:ext cx="1298448" cy="310896"/>
          </a:xfrm>
          <a:prstGeom prst="rect">
            <a:avLst/>
          </a:prstGeom>
          <a:noFill/>
        </p:spPr>
        <p:txBody>
          <a:bodyPr wrap="none" anchor="ctr" lIns="0" rIns="0" tIns="0" bIns="0">
            <a:spAutoFit/>
          </a:bodyPr>
          <a:lstStyle/>
          <a:p>
            <a:pPr algn="ctr">
              <a:lnSpc>
                <a:spcPct val="106000"/>
              </a:lnSpc>
              <a:spcBef>
                <a:spcPts val="0"/>
              </a:spcBef>
              <a:spcAft>
                <a:spcPts val="0"/>
              </a:spcAft>
            </a:pPr>
            <a:r>
              <a:rPr sz="850" b="1">
                <a:solidFill>
                  <a:srgbClr val="B80000"/>
                </a:solidFill>
                <a:latin typeface="Red Hat Display"/>
              </a:rPr>
              <a:t>MEDIA PASS</a:t>
            </a:r>
          </a:p>
        </p:txBody>
      </p:sp>
      <p:pic>
        <p:nvPicPr>
          <p:cNvPr id="24" name="Picture 23" descr="eye_slate.png"/>
          <p:cNvPicPr>
            <a:picLocks noChangeAspect="1"/>
          </p:cNvPicPr>
          <p:nvPr/>
        </p:nvPicPr>
        <p:blipFill>
          <a:blip r:embed="rId4"/>
          <a:stretch>
            <a:fillRect/>
          </a:stretch>
        </p:blipFill>
        <p:spPr>
          <a:xfrm>
            <a:off x="8843619" y="3108960"/>
            <a:ext cx="475488" cy="475488"/>
          </a:xfrm>
          <a:prstGeom prst="rect">
            <a:avLst/>
          </a:prstGeom>
        </p:spPr>
      </p:pic>
      <p:sp>
        <p:nvSpPr>
          <p:cNvPr id="25" name="TextBox 24"/>
          <p:cNvSpPr txBox="1"/>
          <p:nvPr/>
        </p:nvSpPr>
        <p:spPr>
          <a:xfrm>
            <a:off x="7050024" y="3721608"/>
            <a:ext cx="4062679" cy="1481328"/>
          </a:xfrm>
          <a:prstGeom prst="rect">
            <a:avLst/>
          </a:prstGeom>
          <a:noFill/>
        </p:spPr>
        <p:txBody>
          <a:bodyPr wrap="square" anchor="t" lIns="0" rIns="0" tIns="0" bIns="0">
            <a:spAutoFit/>
          </a:bodyPr>
          <a:lstStyle/>
          <a:p>
            <a:pPr algn="l">
              <a:lnSpc>
                <a:spcPct val="120000"/>
              </a:lnSpc>
              <a:spcBef>
                <a:spcPts val="0"/>
              </a:spcBef>
              <a:spcAft>
                <a:spcPts val="0"/>
              </a:spcAft>
            </a:pPr>
            <a:r>
              <a:rPr sz="950" b="0">
                <a:solidFill>
                  <a:srgbClr val="8A9099"/>
                </a:solidFill>
                <a:latin typeface="Red Hat Text"/>
              </a:rPr>
              <a:t>The admission diagram again, with an "AI inference job" box feeding the same LocalQueue as a "statement job" box — identical path.</a:t>
            </a:r>
          </a:p>
        </p:txBody>
      </p:sp>
      <p:cxnSp>
        <p:nvCxnSpPr>
          <p:cNvPr id="26" name="Connector 25"/>
          <p:cNvCxnSpPr/>
          <p:nvPr/>
        </p:nvCxnSpPr>
        <p:spPr>
          <a:xfrm>
            <a:off x="841248" y="6437376"/>
            <a:ext cx="10509199" cy="0"/>
          </a:xfrm>
          <a:prstGeom prst="bentConnector3">
            <a:avLst/>
          </a:prstGeom>
          <a:ln w="12700">
            <a:solidFill>
              <a:srgbClr val="DDE1E6"/>
            </a:solidFill>
          </a:ln>
          <a:effectLst/>
        </p:spPr>
        <p:style>
          <a:lnRef idx="2">
            <a:schemeClr val="accent1"/>
          </a:lnRef>
          <a:fillRef idx="0">
            <a:schemeClr val="accent1"/>
          </a:fillRef>
          <a:effectRef idx="1">
            <a:schemeClr val="accent1"/>
          </a:effectRef>
          <a:fontRef idx="minor">
            <a:schemeClr val="tx1"/>
          </a:fontRef>
        </p:style>
      </p:cxnSp>
      <p:sp>
        <p:nvSpPr>
          <p:cNvPr id="27" name="TextBox 26"/>
          <p:cNvSpPr txBox="1"/>
          <p:nvPr/>
        </p:nvSpPr>
        <p:spPr>
          <a:xfrm>
            <a:off x="841248" y="6473952"/>
            <a:ext cx="7315200" cy="274320"/>
          </a:xfrm>
          <a:prstGeom prst="rect">
            <a:avLst/>
          </a:prstGeom>
          <a:noFill/>
        </p:spPr>
        <p:txBody>
          <a:bodyPr wrap="square" anchor="t" lIns="0" rIns="0" tIns="0" bIns="0">
            <a:spAutoFit/>
          </a:bodyPr>
          <a:lstStyle/>
          <a:p>
            <a:pPr algn="l">
              <a:lnSpc>
                <a:spcPct val="106000"/>
              </a:lnSpc>
              <a:spcBef>
                <a:spcPts val="0"/>
              </a:spcBef>
              <a:spcAft>
                <a:spcPts val="0"/>
              </a:spcAft>
            </a:pPr>
            <a:r>
              <a:rPr sz="950" b="0">
                <a:solidFill>
                  <a:srgbClr val="8A9099"/>
                </a:solidFill>
                <a:latin typeface="Red Hat Text"/>
              </a:rPr>
              <a:t>CONFIDENTIAL</a:t>
            </a:r>
          </a:p>
        </p:txBody>
      </p:sp>
      <p:sp>
        <p:nvSpPr>
          <p:cNvPr id="28" name="TextBox 27"/>
          <p:cNvSpPr txBox="1"/>
          <p:nvPr/>
        </p:nvSpPr>
        <p:spPr>
          <a:xfrm>
            <a:off x="10801807" y="6473952"/>
            <a:ext cx="548640" cy="274320"/>
          </a:xfrm>
          <a:prstGeom prst="rect">
            <a:avLst/>
          </a:prstGeom>
          <a:noFill/>
        </p:spPr>
        <p:txBody>
          <a:bodyPr wrap="square" anchor="t" lIns="0" rIns="0" tIns="0" bIns="0">
            <a:spAutoFit/>
          </a:bodyPr>
          <a:lstStyle/>
          <a:p>
            <a:pPr algn="r">
              <a:lnSpc>
                <a:spcPct val="106000"/>
              </a:lnSpc>
              <a:spcBef>
                <a:spcPts val="0"/>
              </a:spcBef>
              <a:spcAft>
                <a:spcPts val="0"/>
              </a:spcAft>
            </a:pPr>
            <a:r>
              <a:rPr sz="950" b="0">
                <a:solidFill>
                  <a:srgbClr val="8A9099"/>
                </a:solidFill>
                <a:latin typeface="Red Hat Text"/>
              </a:rPr>
              <a:t>40</a:t>
            </a:r>
          </a:p>
        </p:txBody>
      </p:sp>
    </p:spTree>
  </p:cSld>
  <p:clrMapOvr>
    <a:masterClrMapping/>
  </p:clrMapOvr>
</p:sld>
</file>

<file path=ppt/slides/slide4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redhat_logo.jpg"/>
          <p:cNvPicPr>
            <a:picLocks noChangeAspect="1"/>
          </p:cNvPicPr>
          <p:nvPr/>
        </p:nvPicPr>
        <p:blipFill>
          <a:blip r:embed="rId2"/>
          <a:stretch>
            <a:fillRect/>
          </a:stretch>
        </p:blipFill>
        <p:spPr>
          <a:xfrm>
            <a:off x="10326319" y="475488"/>
            <a:ext cx="1024128" cy="242248"/>
          </a:xfrm>
          <a:prstGeom prst="rect">
            <a:avLst/>
          </a:prstGeom>
        </p:spPr>
      </p:pic>
      <p:sp>
        <p:nvSpPr>
          <p:cNvPr id="3" name="TextBox 2"/>
          <p:cNvSpPr txBox="1"/>
          <p:nvPr/>
        </p:nvSpPr>
        <p:spPr>
          <a:xfrm>
            <a:off x="841248" y="548640"/>
            <a:ext cx="8595360" cy="274320"/>
          </a:xfrm>
          <a:prstGeom prst="rect">
            <a:avLst/>
          </a:prstGeom>
          <a:noFill/>
        </p:spPr>
        <p:txBody>
          <a:bodyPr wrap="square" anchor="t" lIns="0" rIns="0" tIns="0" bIns="0">
            <a:spAutoFit/>
          </a:bodyPr>
          <a:lstStyle/>
          <a:p>
            <a:pPr algn="l">
              <a:lnSpc>
                <a:spcPct val="106000"/>
              </a:lnSpc>
              <a:spcBef>
                <a:spcPts val="0"/>
              </a:spcBef>
              <a:spcAft>
                <a:spcPts val="0"/>
              </a:spcAft>
            </a:pPr>
            <a:r>
              <a:rPr sz="1250" b="1" spc="220">
                <a:solidFill>
                  <a:srgbClr val="EE0000"/>
                </a:solidFill>
                <a:latin typeface="Red Hat Display"/>
              </a:rPr>
              <a:t>M06 · JOBS, BATCH &amp; QUEUED WORKLOADS</a:t>
            </a:r>
          </a:p>
        </p:txBody>
      </p:sp>
      <p:sp>
        <p:nvSpPr>
          <p:cNvPr id="4" name="TextBox 3"/>
          <p:cNvSpPr txBox="1"/>
          <p:nvPr/>
        </p:nvSpPr>
        <p:spPr>
          <a:xfrm>
            <a:off x="841248" y="877824"/>
            <a:ext cx="10515600" cy="548640"/>
          </a:xfrm>
          <a:prstGeom prst="rect">
            <a:avLst/>
          </a:prstGeom>
          <a:noFill/>
        </p:spPr>
        <p:txBody>
          <a:bodyPr wrap="none" anchor="t" lIns="0" rIns="0" tIns="0" bIns="0">
            <a:spAutoFit/>
          </a:bodyPr>
          <a:lstStyle/>
          <a:p>
            <a:pPr algn="l">
              <a:lnSpc>
                <a:spcPct val="100000"/>
              </a:lnSpc>
              <a:spcBef>
                <a:spcPts val="0"/>
              </a:spcBef>
              <a:spcAft>
                <a:spcPts val="0"/>
              </a:spcAft>
            </a:pPr>
            <a:r>
              <a:rPr sz="2500" b="1">
                <a:solidFill>
                  <a:srgbClr val="1A1A1A"/>
                </a:solidFill>
                <a:latin typeface="Red Hat Display"/>
              </a:rPr>
              <a:t>What you'll do</a:t>
            </a:r>
          </a:p>
        </p:txBody>
      </p:sp>
      <p:cxnSp>
        <p:nvCxnSpPr>
          <p:cNvPr id="5" name="Connector 4"/>
          <p:cNvCxnSpPr/>
          <p:nvPr/>
        </p:nvCxnSpPr>
        <p:spPr>
          <a:xfrm>
            <a:off x="841248" y="1554480"/>
            <a:ext cx="1371600" cy="0"/>
          </a:xfrm>
          <a:prstGeom prst="bentConnector3">
            <a:avLst/>
          </a:prstGeom>
          <a:ln w="31750">
            <a:solidFill>
              <a:srgbClr val="EE0000"/>
            </a:solidFill>
          </a:ln>
          <a:effectLst/>
        </p:spPr>
        <p:style>
          <a:lnRef idx="2">
            <a:schemeClr val="accent1"/>
          </a:lnRef>
          <a:fillRef idx="0">
            <a:schemeClr val="accent1"/>
          </a:fillRef>
          <a:effectRef idx="1">
            <a:schemeClr val="accent1"/>
          </a:effectRef>
          <a:fontRef idx="minor">
            <a:schemeClr val="tx1"/>
          </a:fontRef>
        </p:style>
      </p:cxnSp>
      <p:sp>
        <p:nvSpPr>
          <p:cNvPr id="6" name="Rounded Rectangle 5"/>
          <p:cNvSpPr/>
          <p:nvPr/>
        </p:nvSpPr>
        <p:spPr>
          <a:xfrm>
            <a:off x="841248" y="2395728"/>
            <a:ext cx="5715000" cy="530352"/>
          </a:xfrm>
          <a:prstGeom prst="roundRect">
            <a:avLst>
              <a:gd name="adj" fmla="val 6000"/>
            </a:avLst>
          </a:prstGeom>
          <a:solidFill>
            <a:srgbClr val="F5F6F8"/>
          </a:solidFill>
          <a:ln w="12700">
            <a:solidFill>
              <a:srgbClr val="DDE1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check_steel.png"/>
          <p:cNvPicPr>
            <a:picLocks noChangeAspect="1"/>
          </p:cNvPicPr>
          <p:nvPr/>
        </p:nvPicPr>
        <p:blipFill>
          <a:blip r:embed="rId3"/>
          <a:stretch>
            <a:fillRect/>
          </a:stretch>
        </p:blipFill>
        <p:spPr>
          <a:xfrm>
            <a:off x="987552" y="2542032"/>
            <a:ext cx="237744" cy="237744"/>
          </a:xfrm>
          <a:prstGeom prst="rect">
            <a:avLst/>
          </a:prstGeom>
        </p:spPr>
      </p:pic>
      <p:sp>
        <p:nvSpPr>
          <p:cNvPr id="8" name="TextBox 7"/>
          <p:cNvSpPr txBox="1"/>
          <p:nvPr/>
        </p:nvSpPr>
        <p:spPr>
          <a:xfrm>
            <a:off x="1353312" y="2395728"/>
            <a:ext cx="5029200" cy="530352"/>
          </a:xfrm>
          <a:prstGeom prst="rect">
            <a:avLst/>
          </a:prstGeom>
          <a:noFill/>
        </p:spPr>
        <p:txBody>
          <a:bodyPr wrap="square" anchor="ctr" lIns="0" rIns="0" tIns="0" bIns="0">
            <a:spAutoFit/>
          </a:bodyPr>
          <a:lstStyle/>
          <a:p>
            <a:pPr algn="l">
              <a:lnSpc>
                <a:spcPct val="106000"/>
              </a:lnSpc>
              <a:spcBef>
                <a:spcPts val="0"/>
              </a:spcBef>
              <a:spcAft>
                <a:spcPts val="0"/>
              </a:spcAft>
            </a:pPr>
            <a:r>
              <a:rPr sz="1200" b="0">
                <a:solidFill>
                  <a:srgbClr val="1A1A1A"/>
                </a:solidFill>
                <a:latin typeface="Red Hat Text"/>
              </a:rPr>
              <a:t>Run a monthly-statement Job in waves</a:t>
            </a:r>
          </a:p>
        </p:txBody>
      </p:sp>
      <p:sp>
        <p:nvSpPr>
          <p:cNvPr id="9" name="Rounded Rectangle 8"/>
          <p:cNvSpPr/>
          <p:nvPr/>
        </p:nvSpPr>
        <p:spPr>
          <a:xfrm>
            <a:off x="841248" y="2999232"/>
            <a:ext cx="5715000" cy="530352"/>
          </a:xfrm>
          <a:prstGeom prst="roundRect">
            <a:avLst>
              <a:gd name="adj" fmla="val 6000"/>
            </a:avLst>
          </a:prstGeom>
          <a:solidFill>
            <a:srgbClr val="F5F6F8"/>
          </a:solidFill>
          <a:ln w="12700">
            <a:solidFill>
              <a:srgbClr val="DDE1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0" name="Picture 9" descr="check_steel.png"/>
          <p:cNvPicPr>
            <a:picLocks noChangeAspect="1"/>
          </p:cNvPicPr>
          <p:nvPr/>
        </p:nvPicPr>
        <p:blipFill>
          <a:blip r:embed="rId3"/>
          <a:stretch>
            <a:fillRect/>
          </a:stretch>
        </p:blipFill>
        <p:spPr>
          <a:xfrm>
            <a:off x="987552" y="3145536"/>
            <a:ext cx="237744" cy="237744"/>
          </a:xfrm>
          <a:prstGeom prst="rect">
            <a:avLst/>
          </a:prstGeom>
        </p:spPr>
      </p:pic>
      <p:sp>
        <p:nvSpPr>
          <p:cNvPr id="11" name="TextBox 10"/>
          <p:cNvSpPr txBox="1"/>
          <p:nvPr/>
        </p:nvSpPr>
        <p:spPr>
          <a:xfrm>
            <a:off x="1353312" y="2999232"/>
            <a:ext cx="5029200" cy="530352"/>
          </a:xfrm>
          <a:prstGeom prst="rect">
            <a:avLst/>
          </a:prstGeom>
          <a:noFill/>
        </p:spPr>
        <p:txBody>
          <a:bodyPr wrap="square" anchor="ctr" lIns="0" rIns="0" tIns="0" bIns="0">
            <a:spAutoFit/>
          </a:bodyPr>
          <a:lstStyle/>
          <a:p>
            <a:pPr algn="l">
              <a:lnSpc>
                <a:spcPct val="106000"/>
              </a:lnSpc>
              <a:spcBef>
                <a:spcPts val="0"/>
              </a:spcBef>
              <a:spcAft>
                <a:spcPts val="0"/>
              </a:spcAft>
            </a:pPr>
            <a:r>
              <a:rPr sz="1200" b="0">
                <a:solidFill>
                  <a:srgbClr val="1A1A1A"/>
                </a:solidFill>
                <a:latin typeface="Red Hat Text"/>
              </a:rPr>
              <a:t>Break it, read the backoff, fix it</a:t>
            </a:r>
          </a:p>
        </p:txBody>
      </p:sp>
      <p:sp>
        <p:nvSpPr>
          <p:cNvPr id="12" name="Rounded Rectangle 11"/>
          <p:cNvSpPr/>
          <p:nvPr/>
        </p:nvSpPr>
        <p:spPr>
          <a:xfrm>
            <a:off x="841248" y="3602736"/>
            <a:ext cx="5715000" cy="530352"/>
          </a:xfrm>
          <a:prstGeom prst="roundRect">
            <a:avLst>
              <a:gd name="adj" fmla="val 6000"/>
            </a:avLst>
          </a:prstGeom>
          <a:solidFill>
            <a:srgbClr val="F5F6F8"/>
          </a:solidFill>
          <a:ln w="12700">
            <a:solidFill>
              <a:srgbClr val="DDE1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3" name="Picture 12" descr="check_steel.png"/>
          <p:cNvPicPr>
            <a:picLocks noChangeAspect="1"/>
          </p:cNvPicPr>
          <p:nvPr/>
        </p:nvPicPr>
        <p:blipFill>
          <a:blip r:embed="rId3"/>
          <a:stretch>
            <a:fillRect/>
          </a:stretch>
        </p:blipFill>
        <p:spPr>
          <a:xfrm>
            <a:off x="987552" y="3749040"/>
            <a:ext cx="237744" cy="237744"/>
          </a:xfrm>
          <a:prstGeom prst="rect">
            <a:avLst/>
          </a:prstGeom>
        </p:spPr>
      </p:pic>
      <p:sp>
        <p:nvSpPr>
          <p:cNvPr id="14" name="TextBox 13"/>
          <p:cNvSpPr txBox="1"/>
          <p:nvPr/>
        </p:nvSpPr>
        <p:spPr>
          <a:xfrm>
            <a:off x="1353312" y="3602736"/>
            <a:ext cx="5029200" cy="530352"/>
          </a:xfrm>
          <a:prstGeom prst="rect">
            <a:avLst/>
          </a:prstGeom>
          <a:noFill/>
        </p:spPr>
        <p:txBody>
          <a:bodyPr wrap="square" anchor="ctr" lIns="0" rIns="0" tIns="0" bIns="0">
            <a:spAutoFit/>
          </a:bodyPr>
          <a:lstStyle/>
          <a:p>
            <a:pPr algn="l">
              <a:lnSpc>
                <a:spcPct val="106000"/>
              </a:lnSpc>
              <a:spcBef>
                <a:spcPts val="0"/>
              </a:spcBef>
              <a:spcAft>
                <a:spcPts val="0"/>
              </a:spcAft>
            </a:pPr>
            <a:r>
              <a:rPr sz="1200" b="0">
                <a:solidFill>
                  <a:srgbClr val="1A1A1A"/>
                </a:solidFill>
                <a:latin typeface="Red Hat Text"/>
              </a:rPr>
              <a:t>Shard the dataset with an Indexed Job</a:t>
            </a:r>
          </a:p>
        </p:txBody>
      </p:sp>
      <p:sp>
        <p:nvSpPr>
          <p:cNvPr id="15" name="Rounded Rectangle 14"/>
          <p:cNvSpPr/>
          <p:nvPr/>
        </p:nvSpPr>
        <p:spPr>
          <a:xfrm>
            <a:off x="841248" y="4206240"/>
            <a:ext cx="5715000" cy="530352"/>
          </a:xfrm>
          <a:prstGeom prst="roundRect">
            <a:avLst>
              <a:gd name="adj" fmla="val 6000"/>
            </a:avLst>
          </a:prstGeom>
          <a:solidFill>
            <a:srgbClr val="F5F6F8"/>
          </a:solidFill>
          <a:ln w="12700">
            <a:solidFill>
              <a:srgbClr val="DDE1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6" name="Picture 15" descr="check_steel.png"/>
          <p:cNvPicPr>
            <a:picLocks noChangeAspect="1"/>
          </p:cNvPicPr>
          <p:nvPr/>
        </p:nvPicPr>
        <p:blipFill>
          <a:blip r:embed="rId3"/>
          <a:stretch>
            <a:fillRect/>
          </a:stretch>
        </p:blipFill>
        <p:spPr>
          <a:xfrm>
            <a:off x="987552" y="4352544"/>
            <a:ext cx="237744" cy="237744"/>
          </a:xfrm>
          <a:prstGeom prst="rect">
            <a:avLst/>
          </a:prstGeom>
        </p:spPr>
      </p:pic>
      <p:sp>
        <p:nvSpPr>
          <p:cNvPr id="17" name="TextBox 16"/>
          <p:cNvSpPr txBox="1"/>
          <p:nvPr/>
        </p:nvSpPr>
        <p:spPr>
          <a:xfrm>
            <a:off x="1353312" y="4206240"/>
            <a:ext cx="5029200" cy="530352"/>
          </a:xfrm>
          <a:prstGeom prst="rect">
            <a:avLst/>
          </a:prstGeom>
          <a:noFill/>
        </p:spPr>
        <p:txBody>
          <a:bodyPr wrap="square" anchor="ctr" lIns="0" rIns="0" tIns="0" bIns="0">
            <a:spAutoFit/>
          </a:bodyPr>
          <a:lstStyle/>
          <a:p>
            <a:pPr algn="l">
              <a:lnSpc>
                <a:spcPct val="106000"/>
              </a:lnSpc>
              <a:spcBef>
                <a:spcPts val="0"/>
              </a:spcBef>
              <a:spcAft>
                <a:spcPts val="0"/>
              </a:spcAft>
            </a:pPr>
            <a:r>
              <a:rPr sz="1200" b="0">
                <a:solidFill>
                  <a:srgbClr val="1A1A1A"/>
                </a:solidFill>
                <a:latin typeface="Red Hat Text"/>
              </a:rPr>
              <a:t>Schedule with a CronJob, then suspend</a:t>
            </a:r>
          </a:p>
        </p:txBody>
      </p:sp>
      <p:sp>
        <p:nvSpPr>
          <p:cNvPr id="18" name="Rounded Rectangle 17"/>
          <p:cNvSpPr/>
          <p:nvPr/>
        </p:nvSpPr>
        <p:spPr>
          <a:xfrm>
            <a:off x="841248" y="4809744"/>
            <a:ext cx="5715000" cy="530352"/>
          </a:xfrm>
          <a:prstGeom prst="roundRect">
            <a:avLst>
              <a:gd name="adj" fmla="val 6000"/>
            </a:avLst>
          </a:prstGeom>
          <a:solidFill>
            <a:srgbClr val="F5F6F8"/>
          </a:solidFill>
          <a:ln w="12700">
            <a:solidFill>
              <a:srgbClr val="DDE1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9" name="Picture 18" descr="check_steel.png"/>
          <p:cNvPicPr>
            <a:picLocks noChangeAspect="1"/>
          </p:cNvPicPr>
          <p:nvPr/>
        </p:nvPicPr>
        <p:blipFill>
          <a:blip r:embed="rId3"/>
          <a:stretch>
            <a:fillRect/>
          </a:stretch>
        </p:blipFill>
        <p:spPr>
          <a:xfrm>
            <a:off x="987552" y="4956048"/>
            <a:ext cx="237744" cy="237744"/>
          </a:xfrm>
          <a:prstGeom prst="rect">
            <a:avLst/>
          </a:prstGeom>
        </p:spPr>
      </p:pic>
      <p:sp>
        <p:nvSpPr>
          <p:cNvPr id="20" name="TextBox 19"/>
          <p:cNvSpPr txBox="1"/>
          <p:nvPr/>
        </p:nvSpPr>
        <p:spPr>
          <a:xfrm>
            <a:off x="1353312" y="4809744"/>
            <a:ext cx="5029200" cy="530352"/>
          </a:xfrm>
          <a:prstGeom prst="rect">
            <a:avLst/>
          </a:prstGeom>
          <a:noFill/>
        </p:spPr>
        <p:txBody>
          <a:bodyPr wrap="square" anchor="ctr" lIns="0" rIns="0" tIns="0" bIns="0">
            <a:spAutoFit/>
          </a:bodyPr>
          <a:lstStyle/>
          <a:p>
            <a:pPr algn="l">
              <a:lnSpc>
                <a:spcPct val="106000"/>
              </a:lnSpc>
              <a:spcBef>
                <a:spcPts val="0"/>
              </a:spcBef>
              <a:spcAft>
                <a:spcPts val="0"/>
              </a:spcAft>
            </a:pPr>
            <a:r>
              <a:rPr sz="1200" b="0">
                <a:solidFill>
                  <a:srgbClr val="1A1A1A"/>
                </a:solidFill>
                <a:latin typeface="Red Hat Text"/>
              </a:rPr>
              <a:t>Watch Kueue admit, queue, and preempt — then AI batch</a:t>
            </a:r>
          </a:p>
        </p:txBody>
      </p:sp>
      <p:sp>
        <p:nvSpPr>
          <p:cNvPr id="21" name="Rounded Rectangle 20"/>
          <p:cNvSpPr/>
          <p:nvPr/>
        </p:nvSpPr>
        <p:spPr>
          <a:xfrm>
            <a:off x="6812280" y="2395728"/>
            <a:ext cx="4538167" cy="2944368"/>
          </a:xfrm>
          <a:prstGeom prst="roundRect">
            <a:avLst>
              <a:gd name="adj" fmla="val 4000"/>
            </a:avLst>
          </a:prstGeom>
          <a:solidFill>
            <a:srgbClr val="FFFFFF"/>
          </a:solidFill>
          <a:ln w="15240">
            <a:solidFill>
              <a:srgbClr val="DDE1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ounded Rectangle 21"/>
          <p:cNvSpPr/>
          <p:nvPr/>
        </p:nvSpPr>
        <p:spPr>
          <a:xfrm>
            <a:off x="7013448" y="2596896"/>
            <a:ext cx="1298448" cy="310896"/>
          </a:xfrm>
          <a:prstGeom prst="roundRect">
            <a:avLst>
              <a:gd name="adj" fmla="val 50000"/>
            </a:avLst>
          </a:prstGeom>
          <a:solidFill>
            <a:srgbClr val="FCEC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7013448" y="2596896"/>
            <a:ext cx="1298448" cy="310896"/>
          </a:xfrm>
          <a:prstGeom prst="rect">
            <a:avLst/>
          </a:prstGeom>
          <a:noFill/>
        </p:spPr>
        <p:txBody>
          <a:bodyPr wrap="none" anchor="ctr" lIns="0" rIns="0" tIns="0" bIns="0">
            <a:spAutoFit/>
          </a:bodyPr>
          <a:lstStyle/>
          <a:p>
            <a:pPr algn="ctr">
              <a:lnSpc>
                <a:spcPct val="106000"/>
              </a:lnSpc>
              <a:spcBef>
                <a:spcPts val="0"/>
              </a:spcBef>
              <a:spcAft>
                <a:spcPts val="0"/>
              </a:spcAft>
            </a:pPr>
            <a:r>
              <a:rPr sz="850" b="1">
                <a:solidFill>
                  <a:srgbClr val="B80000"/>
                </a:solidFill>
                <a:latin typeface="Red Hat Display"/>
              </a:rPr>
              <a:t>MEDIA PASS</a:t>
            </a:r>
          </a:p>
        </p:txBody>
      </p:sp>
      <p:pic>
        <p:nvPicPr>
          <p:cNvPr id="24" name="Picture 23" descr="eye_slate.png"/>
          <p:cNvPicPr>
            <a:picLocks noChangeAspect="1"/>
          </p:cNvPicPr>
          <p:nvPr/>
        </p:nvPicPr>
        <p:blipFill>
          <a:blip r:embed="rId4"/>
          <a:stretch>
            <a:fillRect/>
          </a:stretch>
        </p:blipFill>
        <p:spPr>
          <a:xfrm>
            <a:off x="8843619" y="3108960"/>
            <a:ext cx="475488" cy="475488"/>
          </a:xfrm>
          <a:prstGeom prst="rect">
            <a:avLst/>
          </a:prstGeom>
        </p:spPr>
      </p:pic>
      <p:sp>
        <p:nvSpPr>
          <p:cNvPr id="25" name="TextBox 24"/>
          <p:cNvSpPr txBox="1"/>
          <p:nvPr/>
        </p:nvSpPr>
        <p:spPr>
          <a:xfrm>
            <a:off x="7050024" y="3721608"/>
            <a:ext cx="4062679" cy="1481328"/>
          </a:xfrm>
          <a:prstGeom prst="rect">
            <a:avLst/>
          </a:prstGeom>
          <a:noFill/>
        </p:spPr>
        <p:txBody>
          <a:bodyPr wrap="square" anchor="t" lIns="0" rIns="0" tIns="0" bIns="0">
            <a:spAutoFit/>
          </a:bodyPr>
          <a:lstStyle/>
          <a:p>
            <a:pPr algn="l">
              <a:lnSpc>
                <a:spcPct val="120000"/>
              </a:lnSpc>
              <a:spcBef>
                <a:spcPts val="0"/>
              </a:spcBef>
              <a:spcAft>
                <a:spcPts val="0"/>
              </a:spcAft>
            </a:pPr>
            <a:r>
              <a:rPr sz="950" b="0">
                <a:solidFill>
                  <a:srgbClr val="8A9099"/>
                </a:solidFill>
                <a:latin typeface="Red Hat Text"/>
              </a:rPr>
              <a:t>Numbered arc strip: run → break/fix → shard → schedule → queue/preempt → AI inference.</a:t>
            </a:r>
          </a:p>
        </p:txBody>
      </p:sp>
      <p:cxnSp>
        <p:nvCxnSpPr>
          <p:cNvPr id="26" name="Connector 25"/>
          <p:cNvCxnSpPr/>
          <p:nvPr/>
        </p:nvCxnSpPr>
        <p:spPr>
          <a:xfrm>
            <a:off x="841248" y="6437376"/>
            <a:ext cx="10509199" cy="0"/>
          </a:xfrm>
          <a:prstGeom prst="bentConnector3">
            <a:avLst/>
          </a:prstGeom>
          <a:ln w="12700">
            <a:solidFill>
              <a:srgbClr val="DDE1E6"/>
            </a:solidFill>
          </a:ln>
          <a:effectLst/>
        </p:spPr>
        <p:style>
          <a:lnRef idx="2">
            <a:schemeClr val="accent1"/>
          </a:lnRef>
          <a:fillRef idx="0">
            <a:schemeClr val="accent1"/>
          </a:fillRef>
          <a:effectRef idx="1">
            <a:schemeClr val="accent1"/>
          </a:effectRef>
          <a:fontRef idx="minor">
            <a:schemeClr val="tx1"/>
          </a:fontRef>
        </p:style>
      </p:cxnSp>
      <p:sp>
        <p:nvSpPr>
          <p:cNvPr id="27" name="TextBox 26"/>
          <p:cNvSpPr txBox="1"/>
          <p:nvPr/>
        </p:nvSpPr>
        <p:spPr>
          <a:xfrm>
            <a:off x="841248" y="6473952"/>
            <a:ext cx="7315200" cy="274320"/>
          </a:xfrm>
          <a:prstGeom prst="rect">
            <a:avLst/>
          </a:prstGeom>
          <a:noFill/>
        </p:spPr>
        <p:txBody>
          <a:bodyPr wrap="square" anchor="t" lIns="0" rIns="0" tIns="0" bIns="0">
            <a:spAutoFit/>
          </a:bodyPr>
          <a:lstStyle/>
          <a:p>
            <a:pPr algn="l">
              <a:lnSpc>
                <a:spcPct val="106000"/>
              </a:lnSpc>
              <a:spcBef>
                <a:spcPts val="0"/>
              </a:spcBef>
              <a:spcAft>
                <a:spcPts val="0"/>
              </a:spcAft>
            </a:pPr>
            <a:r>
              <a:rPr sz="950" b="0">
                <a:solidFill>
                  <a:srgbClr val="8A9099"/>
                </a:solidFill>
                <a:latin typeface="Red Hat Text"/>
              </a:rPr>
              <a:t>CONFIDENTIAL</a:t>
            </a:r>
          </a:p>
        </p:txBody>
      </p:sp>
      <p:sp>
        <p:nvSpPr>
          <p:cNvPr id="28" name="TextBox 27"/>
          <p:cNvSpPr txBox="1"/>
          <p:nvPr/>
        </p:nvSpPr>
        <p:spPr>
          <a:xfrm>
            <a:off x="10801807" y="6473952"/>
            <a:ext cx="548640" cy="274320"/>
          </a:xfrm>
          <a:prstGeom prst="rect">
            <a:avLst/>
          </a:prstGeom>
          <a:noFill/>
        </p:spPr>
        <p:txBody>
          <a:bodyPr wrap="square" anchor="t" lIns="0" rIns="0" tIns="0" bIns="0">
            <a:spAutoFit/>
          </a:bodyPr>
          <a:lstStyle/>
          <a:p>
            <a:pPr algn="r">
              <a:lnSpc>
                <a:spcPct val="106000"/>
              </a:lnSpc>
              <a:spcBef>
                <a:spcPts val="0"/>
              </a:spcBef>
              <a:spcAft>
                <a:spcPts val="0"/>
              </a:spcAft>
            </a:pPr>
            <a:r>
              <a:rPr sz="950" b="0">
                <a:solidFill>
                  <a:srgbClr val="8A9099"/>
                </a:solidFill>
                <a:latin typeface="Red Hat Text"/>
              </a:rPr>
              <a:t>41</a:t>
            </a:r>
          </a:p>
        </p:txBody>
      </p:sp>
    </p:spTree>
  </p:cSld>
  <p:clrMapOvr>
    <a:masterClrMapping/>
  </p:clrMapOvr>
</p:sld>
</file>

<file path=ppt/slides/slide4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redhat_logo.jpg"/>
          <p:cNvPicPr>
            <a:picLocks noChangeAspect="1"/>
          </p:cNvPicPr>
          <p:nvPr/>
        </p:nvPicPr>
        <p:blipFill>
          <a:blip r:embed="rId2"/>
          <a:stretch>
            <a:fillRect/>
          </a:stretch>
        </p:blipFill>
        <p:spPr>
          <a:xfrm>
            <a:off x="10326319" y="475488"/>
            <a:ext cx="1024128" cy="242248"/>
          </a:xfrm>
          <a:prstGeom prst="rect">
            <a:avLst/>
          </a:prstGeom>
        </p:spPr>
      </p:pic>
      <p:sp>
        <p:nvSpPr>
          <p:cNvPr id="3" name="TextBox 2"/>
          <p:cNvSpPr txBox="1"/>
          <p:nvPr/>
        </p:nvSpPr>
        <p:spPr>
          <a:xfrm>
            <a:off x="841248" y="548640"/>
            <a:ext cx="8595360" cy="274320"/>
          </a:xfrm>
          <a:prstGeom prst="rect">
            <a:avLst/>
          </a:prstGeom>
          <a:noFill/>
        </p:spPr>
        <p:txBody>
          <a:bodyPr wrap="square" anchor="t" lIns="0" rIns="0" tIns="0" bIns="0">
            <a:spAutoFit/>
          </a:bodyPr>
          <a:lstStyle/>
          <a:p>
            <a:pPr algn="l">
              <a:lnSpc>
                <a:spcPct val="106000"/>
              </a:lnSpc>
              <a:spcBef>
                <a:spcPts val="0"/>
              </a:spcBef>
              <a:spcAft>
                <a:spcPts val="0"/>
              </a:spcAft>
            </a:pPr>
            <a:r>
              <a:rPr sz="1250" b="1" spc="220">
                <a:solidFill>
                  <a:srgbClr val="EE0000"/>
                </a:solidFill>
                <a:latin typeface="Red Hat Display"/>
              </a:rPr>
              <a:t>M06 · JOBS, BATCH &amp; QUEUED WORKLOADS</a:t>
            </a:r>
          </a:p>
        </p:txBody>
      </p:sp>
      <p:sp>
        <p:nvSpPr>
          <p:cNvPr id="4" name="TextBox 3"/>
          <p:cNvSpPr txBox="1"/>
          <p:nvPr/>
        </p:nvSpPr>
        <p:spPr>
          <a:xfrm>
            <a:off x="841248" y="877824"/>
            <a:ext cx="10515600" cy="548640"/>
          </a:xfrm>
          <a:prstGeom prst="rect">
            <a:avLst/>
          </a:prstGeom>
          <a:noFill/>
        </p:spPr>
        <p:txBody>
          <a:bodyPr wrap="none" anchor="t" lIns="0" rIns="0" tIns="0" bIns="0">
            <a:spAutoFit/>
          </a:bodyPr>
          <a:lstStyle/>
          <a:p>
            <a:pPr algn="l">
              <a:lnSpc>
                <a:spcPct val="100000"/>
              </a:lnSpc>
              <a:spcBef>
                <a:spcPts val="0"/>
              </a:spcBef>
              <a:spcAft>
                <a:spcPts val="0"/>
              </a:spcAft>
            </a:pPr>
            <a:r>
              <a:rPr sz="2500" b="1">
                <a:solidFill>
                  <a:srgbClr val="1A1A1A"/>
                </a:solidFill>
                <a:latin typeface="Red Hat Display"/>
              </a:rPr>
              <a:t>Map to your org — and when not</a:t>
            </a:r>
          </a:p>
        </p:txBody>
      </p:sp>
      <p:cxnSp>
        <p:nvCxnSpPr>
          <p:cNvPr id="5" name="Connector 4"/>
          <p:cNvCxnSpPr/>
          <p:nvPr/>
        </p:nvCxnSpPr>
        <p:spPr>
          <a:xfrm>
            <a:off x="841248" y="1554480"/>
            <a:ext cx="1371600" cy="0"/>
          </a:xfrm>
          <a:prstGeom prst="bentConnector3">
            <a:avLst/>
          </a:prstGeom>
          <a:ln w="31750">
            <a:solidFill>
              <a:srgbClr val="EE0000"/>
            </a:solidFill>
          </a:ln>
          <a:effectLst/>
        </p:spPr>
        <p:style>
          <a:lnRef idx="2">
            <a:schemeClr val="accent1"/>
          </a:lnRef>
          <a:fillRef idx="0">
            <a:schemeClr val="accent1"/>
          </a:fillRef>
          <a:effectRef idx="1">
            <a:schemeClr val="accent1"/>
          </a:effectRef>
          <a:fontRef idx="minor">
            <a:schemeClr val="tx1"/>
          </a:fontRef>
        </p:style>
      </p:cxnSp>
      <p:sp>
        <p:nvSpPr>
          <p:cNvPr id="6" name="Rounded Rectangle 5"/>
          <p:cNvSpPr/>
          <p:nvPr/>
        </p:nvSpPr>
        <p:spPr>
          <a:xfrm>
            <a:off x="841248" y="2395728"/>
            <a:ext cx="5715000" cy="530352"/>
          </a:xfrm>
          <a:prstGeom prst="roundRect">
            <a:avLst>
              <a:gd name="adj" fmla="val 6000"/>
            </a:avLst>
          </a:prstGeom>
          <a:solidFill>
            <a:srgbClr val="F5F6F8"/>
          </a:solidFill>
          <a:ln w="12700">
            <a:solidFill>
              <a:srgbClr val="DDE1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check_steel.png"/>
          <p:cNvPicPr>
            <a:picLocks noChangeAspect="1"/>
          </p:cNvPicPr>
          <p:nvPr/>
        </p:nvPicPr>
        <p:blipFill>
          <a:blip r:embed="rId3"/>
          <a:stretch>
            <a:fillRect/>
          </a:stretch>
        </p:blipFill>
        <p:spPr>
          <a:xfrm>
            <a:off x="987552" y="2542032"/>
            <a:ext cx="237744" cy="237744"/>
          </a:xfrm>
          <a:prstGeom prst="rect">
            <a:avLst/>
          </a:prstGeom>
        </p:spPr>
      </p:pic>
      <p:sp>
        <p:nvSpPr>
          <p:cNvPr id="8" name="TextBox 7"/>
          <p:cNvSpPr txBox="1"/>
          <p:nvPr/>
        </p:nvSpPr>
        <p:spPr>
          <a:xfrm>
            <a:off x="1353312" y="2395728"/>
            <a:ext cx="5029200" cy="530352"/>
          </a:xfrm>
          <a:prstGeom prst="rect">
            <a:avLst/>
          </a:prstGeom>
          <a:noFill/>
        </p:spPr>
        <p:txBody>
          <a:bodyPr wrap="square" anchor="ctr" lIns="0" rIns="0" tIns="0" bIns="0">
            <a:spAutoFit/>
          </a:bodyPr>
          <a:lstStyle/>
          <a:p>
            <a:pPr algn="l">
              <a:lnSpc>
                <a:spcPct val="106000"/>
              </a:lnSpc>
              <a:spcBef>
                <a:spcPts val="0"/>
              </a:spcBef>
              <a:spcAft>
                <a:spcPts val="0"/>
              </a:spcAft>
            </a:pPr>
            <a:r>
              <a:rPr sz="1200" b="0">
                <a:solidFill>
                  <a:srgbClr val="1A1A1A"/>
                </a:solidFill>
                <a:latin typeface="Red Hat Text"/>
              </a:rPr>
              <a:t>Who owns the batch quota?</a:t>
            </a:r>
          </a:p>
        </p:txBody>
      </p:sp>
      <p:sp>
        <p:nvSpPr>
          <p:cNvPr id="9" name="Rounded Rectangle 8"/>
          <p:cNvSpPr/>
          <p:nvPr/>
        </p:nvSpPr>
        <p:spPr>
          <a:xfrm>
            <a:off x="841248" y="2999232"/>
            <a:ext cx="5715000" cy="530352"/>
          </a:xfrm>
          <a:prstGeom prst="roundRect">
            <a:avLst>
              <a:gd name="adj" fmla="val 6000"/>
            </a:avLst>
          </a:prstGeom>
          <a:solidFill>
            <a:srgbClr val="F5F6F8"/>
          </a:solidFill>
          <a:ln w="12700">
            <a:solidFill>
              <a:srgbClr val="DDE1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0" name="Picture 9" descr="check_steel.png"/>
          <p:cNvPicPr>
            <a:picLocks noChangeAspect="1"/>
          </p:cNvPicPr>
          <p:nvPr/>
        </p:nvPicPr>
        <p:blipFill>
          <a:blip r:embed="rId3"/>
          <a:stretch>
            <a:fillRect/>
          </a:stretch>
        </p:blipFill>
        <p:spPr>
          <a:xfrm>
            <a:off x="987552" y="3145536"/>
            <a:ext cx="237744" cy="237744"/>
          </a:xfrm>
          <a:prstGeom prst="rect">
            <a:avLst/>
          </a:prstGeom>
        </p:spPr>
      </p:pic>
      <p:sp>
        <p:nvSpPr>
          <p:cNvPr id="11" name="TextBox 10"/>
          <p:cNvSpPr txBox="1"/>
          <p:nvPr/>
        </p:nvSpPr>
        <p:spPr>
          <a:xfrm>
            <a:off x="1353312" y="2999232"/>
            <a:ext cx="5029200" cy="530352"/>
          </a:xfrm>
          <a:prstGeom prst="rect">
            <a:avLst/>
          </a:prstGeom>
          <a:noFill/>
        </p:spPr>
        <p:txBody>
          <a:bodyPr wrap="square" anchor="ctr" lIns="0" rIns="0" tIns="0" bIns="0">
            <a:spAutoFit/>
          </a:bodyPr>
          <a:lstStyle/>
          <a:p>
            <a:pPr algn="l">
              <a:lnSpc>
                <a:spcPct val="106000"/>
              </a:lnSpc>
              <a:spcBef>
                <a:spcPts val="0"/>
              </a:spcBef>
              <a:spcAft>
                <a:spcPts val="0"/>
              </a:spcAft>
            </a:pPr>
            <a:r>
              <a:rPr sz="1200" b="0">
                <a:solidFill>
                  <a:srgbClr val="1A1A1A"/>
                </a:solidFill>
                <a:latin typeface="Red Hat Text"/>
              </a:rPr>
              <a:t>Which CronJobs can you name the owner of?</a:t>
            </a:r>
          </a:p>
        </p:txBody>
      </p:sp>
      <p:sp>
        <p:nvSpPr>
          <p:cNvPr id="12" name="Rounded Rectangle 11"/>
          <p:cNvSpPr/>
          <p:nvPr/>
        </p:nvSpPr>
        <p:spPr>
          <a:xfrm>
            <a:off x="841248" y="3602736"/>
            <a:ext cx="5715000" cy="530352"/>
          </a:xfrm>
          <a:prstGeom prst="roundRect">
            <a:avLst>
              <a:gd name="adj" fmla="val 6000"/>
            </a:avLst>
          </a:prstGeom>
          <a:solidFill>
            <a:srgbClr val="F5F6F8"/>
          </a:solidFill>
          <a:ln w="12700">
            <a:solidFill>
              <a:srgbClr val="DDE1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3" name="Picture 12" descr="check_steel.png"/>
          <p:cNvPicPr>
            <a:picLocks noChangeAspect="1"/>
          </p:cNvPicPr>
          <p:nvPr/>
        </p:nvPicPr>
        <p:blipFill>
          <a:blip r:embed="rId3"/>
          <a:stretch>
            <a:fillRect/>
          </a:stretch>
        </p:blipFill>
        <p:spPr>
          <a:xfrm>
            <a:off x="987552" y="3749040"/>
            <a:ext cx="237744" cy="237744"/>
          </a:xfrm>
          <a:prstGeom prst="rect">
            <a:avLst/>
          </a:prstGeom>
        </p:spPr>
      </p:pic>
      <p:sp>
        <p:nvSpPr>
          <p:cNvPr id="14" name="TextBox 13"/>
          <p:cNvSpPr txBox="1"/>
          <p:nvPr/>
        </p:nvSpPr>
        <p:spPr>
          <a:xfrm>
            <a:off x="1353312" y="3602736"/>
            <a:ext cx="5029200" cy="530352"/>
          </a:xfrm>
          <a:prstGeom prst="rect">
            <a:avLst/>
          </a:prstGeom>
          <a:noFill/>
        </p:spPr>
        <p:txBody>
          <a:bodyPr wrap="square" anchor="ctr" lIns="0" rIns="0" tIns="0" bIns="0">
            <a:spAutoFit/>
          </a:bodyPr>
          <a:lstStyle/>
          <a:p>
            <a:pPr algn="l">
              <a:lnSpc>
                <a:spcPct val="106000"/>
              </a:lnSpc>
              <a:spcBef>
                <a:spcPts val="0"/>
              </a:spcBef>
              <a:spcAft>
                <a:spcPts val="0"/>
              </a:spcAft>
            </a:pPr>
            <a:r>
              <a:rPr sz="1200" b="0">
                <a:solidFill>
                  <a:srgbClr val="1A1A1A"/>
                </a:solidFill>
                <a:latin typeface="Red Hat Text"/>
              </a:rPr>
              <a:t>Where's your first GPU-contention fight?</a:t>
            </a:r>
          </a:p>
        </p:txBody>
      </p:sp>
      <p:sp>
        <p:nvSpPr>
          <p:cNvPr id="15" name="Rounded Rectangle 14"/>
          <p:cNvSpPr/>
          <p:nvPr/>
        </p:nvSpPr>
        <p:spPr>
          <a:xfrm>
            <a:off x="841248" y="4206240"/>
            <a:ext cx="5715000" cy="530352"/>
          </a:xfrm>
          <a:prstGeom prst="roundRect">
            <a:avLst>
              <a:gd name="adj" fmla="val 6000"/>
            </a:avLst>
          </a:prstGeom>
          <a:solidFill>
            <a:srgbClr val="F5F6F8"/>
          </a:solidFill>
          <a:ln w="12700">
            <a:solidFill>
              <a:srgbClr val="DDE1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6" name="Picture 15" descr="check_steel.png"/>
          <p:cNvPicPr>
            <a:picLocks noChangeAspect="1"/>
          </p:cNvPicPr>
          <p:nvPr/>
        </p:nvPicPr>
        <p:blipFill>
          <a:blip r:embed="rId3"/>
          <a:stretch>
            <a:fillRect/>
          </a:stretch>
        </p:blipFill>
        <p:spPr>
          <a:xfrm>
            <a:off x="987552" y="4352544"/>
            <a:ext cx="237744" cy="237744"/>
          </a:xfrm>
          <a:prstGeom prst="rect">
            <a:avLst/>
          </a:prstGeom>
        </p:spPr>
      </p:pic>
      <p:sp>
        <p:nvSpPr>
          <p:cNvPr id="17" name="TextBox 16"/>
          <p:cNvSpPr txBox="1"/>
          <p:nvPr/>
        </p:nvSpPr>
        <p:spPr>
          <a:xfrm>
            <a:off x="1353312" y="4206240"/>
            <a:ext cx="5029200" cy="530352"/>
          </a:xfrm>
          <a:prstGeom prst="rect">
            <a:avLst/>
          </a:prstGeom>
          <a:noFill/>
        </p:spPr>
        <p:txBody>
          <a:bodyPr wrap="square" anchor="ctr" lIns="0" rIns="0" tIns="0" bIns="0">
            <a:spAutoFit/>
          </a:bodyPr>
          <a:lstStyle/>
          <a:p>
            <a:pPr algn="l">
              <a:lnSpc>
                <a:spcPct val="106000"/>
              </a:lnSpc>
              <a:spcBef>
                <a:spcPts val="0"/>
              </a:spcBef>
              <a:spcAft>
                <a:spcPts val="0"/>
              </a:spcAft>
            </a:pPr>
            <a:r>
              <a:rPr sz="1200" b="0">
                <a:solidFill>
                  <a:srgbClr val="1A1A1A"/>
                </a:solidFill>
                <a:latin typeface="Red Hat Text"/>
              </a:rPr>
              <a:t>Don't Kueue a three-job team</a:t>
            </a:r>
          </a:p>
        </p:txBody>
      </p:sp>
      <p:sp>
        <p:nvSpPr>
          <p:cNvPr id="18" name="Rounded Rectangle 17"/>
          <p:cNvSpPr/>
          <p:nvPr/>
        </p:nvSpPr>
        <p:spPr>
          <a:xfrm>
            <a:off x="841248" y="4809744"/>
            <a:ext cx="5715000" cy="530352"/>
          </a:xfrm>
          <a:prstGeom prst="roundRect">
            <a:avLst>
              <a:gd name="adj" fmla="val 6000"/>
            </a:avLst>
          </a:prstGeom>
          <a:solidFill>
            <a:srgbClr val="F5F6F8"/>
          </a:solidFill>
          <a:ln w="12700">
            <a:solidFill>
              <a:srgbClr val="DDE1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9" name="Picture 18" descr="check_steel.png"/>
          <p:cNvPicPr>
            <a:picLocks noChangeAspect="1"/>
          </p:cNvPicPr>
          <p:nvPr/>
        </p:nvPicPr>
        <p:blipFill>
          <a:blip r:embed="rId3"/>
          <a:stretch>
            <a:fillRect/>
          </a:stretch>
        </p:blipFill>
        <p:spPr>
          <a:xfrm>
            <a:off x="987552" y="4956048"/>
            <a:ext cx="237744" cy="237744"/>
          </a:xfrm>
          <a:prstGeom prst="rect">
            <a:avLst/>
          </a:prstGeom>
        </p:spPr>
      </p:pic>
      <p:sp>
        <p:nvSpPr>
          <p:cNvPr id="20" name="TextBox 19"/>
          <p:cNvSpPr txBox="1"/>
          <p:nvPr/>
        </p:nvSpPr>
        <p:spPr>
          <a:xfrm>
            <a:off x="1353312" y="4809744"/>
            <a:ext cx="5029200" cy="530352"/>
          </a:xfrm>
          <a:prstGeom prst="rect">
            <a:avLst/>
          </a:prstGeom>
          <a:noFill/>
        </p:spPr>
        <p:txBody>
          <a:bodyPr wrap="square" anchor="ctr" lIns="0" rIns="0" tIns="0" bIns="0">
            <a:spAutoFit/>
          </a:bodyPr>
          <a:lstStyle/>
          <a:p>
            <a:pPr algn="l">
              <a:lnSpc>
                <a:spcPct val="106000"/>
              </a:lnSpc>
              <a:spcBef>
                <a:spcPts val="0"/>
              </a:spcBef>
              <a:spcAft>
                <a:spcPts val="0"/>
              </a:spcAft>
            </a:pPr>
            <a:r>
              <a:rPr sz="1200" b="0">
                <a:solidFill>
                  <a:srgbClr val="1A1A1A"/>
                </a:solidFill>
                <a:latin typeface="Red Hat Text"/>
              </a:rPr>
              <a:t>Don't cron what should be event-driven</a:t>
            </a:r>
          </a:p>
        </p:txBody>
      </p:sp>
      <p:sp>
        <p:nvSpPr>
          <p:cNvPr id="21" name="Rounded Rectangle 20"/>
          <p:cNvSpPr/>
          <p:nvPr/>
        </p:nvSpPr>
        <p:spPr>
          <a:xfrm>
            <a:off x="6812280" y="2395728"/>
            <a:ext cx="4538167" cy="2944368"/>
          </a:xfrm>
          <a:prstGeom prst="roundRect">
            <a:avLst>
              <a:gd name="adj" fmla="val 4000"/>
            </a:avLst>
          </a:prstGeom>
          <a:solidFill>
            <a:srgbClr val="FFFFFF"/>
          </a:solidFill>
          <a:ln w="15240">
            <a:solidFill>
              <a:srgbClr val="DDE1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ounded Rectangle 21"/>
          <p:cNvSpPr/>
          <p:nvPr/>
        </p:nvSpPr>
        <p:spPr>
          <a:xfrm>
            <a:off x="7013448" y="2596896"/>
            <a:ext cx="1298448" cy="310896"/>
          </a:xfrm>
          <a:prstGeom prst="roundRect">
            <a:avLst>
              <a:gd name="adj" fmla="val 50000"/>
            </a:avLst>
          </a:prstGeom>
          <a:solidFill>
            <a:srgbClr val="FCEC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7013448" y="2596896"/>
            <a:ext cx="1298448" cy="310896"/>
          </a:xfrm>
          <a:prstGeom prst="rect">
            <a:avLst/>
          </a:prstGeom>
          <a:noFill/>
        </p:spPr>
        <p:txBody>
          <a:bodyPr wrap="none" anchor="ctr" lIns="0" rIns="0" tIns="0" bIns="0">
            <a:spAutoFit/>
          </a:bodyPr>
          <a:lstStyle/>
          <a:p>
            <a:pPr algn="ctr">
              <a:lnSpc>
                <a:spcPct val="106000"/>
              </a:lnSpc>
              <a:spcBef>
                <a:spcPts val="0"/>
              </a:spcBef>
              <a:spcAft>
                <a:spcPts val="0"/>
              </a:spcAft>
            </a:pPr>
            <a:r>
              <a:rPr sz="850" b="1">
                <a:solidFill>
                  <a:srgbClr val="B80000"/>
                </a:solidFill>
                <a:latin typeface="Red Hat Display"/>
              </a:rPr>
              <a:t>MEDIA PASS</a:t>
            </a:r>
          </a:p>
        </p:txBody>
      </p:sp>
      <p:pic>
        <p:nvPicPr>
          <p:cNvPr id="24" name="Picture 23" descr="eye_slate.png"/>
          <p:cNvPicPr>
            <a:picLocks noChangeAspect="1"/>
          </p:cNvPicPr>
          <p:nvPr/>
        </p:nvPicPr>
        <p:blipFill>
          <a:blip r:embed="rId4"/>
          <a:stretch>
            <a:fillRect/>
          </a:stretch>
        </p:blipFill>
        <p:spPr>
          <a:xfrm>
            <a:off x="8843619" y="3108960"/>
            <a:ext cx="475488" cy="475488"/>
          </a:xfrm>
          <a:prstGeom prst="rect">
            <a:avLst/>
          </a:prstGeom>
        </p:spPr>
      </p:pic>
      <p:sp>
        <p:nvSpPr>
          <p:cNvPr id="25" name="TextBox 24"/>
          <p:cNvSpPr txBox="1"/>
          <p:nvPr/>
        </p:nvSpPr>
        <p:spPr>
          <a:xfrm>
            <a:off x="7050024" y="3721608"/>
            <a:ext cx="4062679" cy="1481328"/>
          </a:xfrm>
          <a:prstGeom prst="rect">
            <a:avLst/>
          </a:prstGeom>
          <a:noFill/>
        </p:spPr>
        <p:txBody>
          <a:bodyPr wrap="square" anchor="t" lIns="0" rIns="0" tIns="0" bIns="0">
            <a:spAutoFit/>
          </a:bodyPr>
          <a:lstStyle/>
          <a:p>
            <a:pPr algn="l">
              <a:lnSpc>
                <a:spcPct val="120000"/>
              </a:lnSpc>
              <a:spcBef>
                <a:spcPts val="0"/>
              </a:spcBef>
              <a:spcAft>
                <a:spcPts val="0"/>
              </a:spcAft>
            </a:pPr>
            <a:r>
              <a:rPr sz="950" b="0">
                <a:solidFill>
                  <a:srgbClr val="8A9099"/>
                </a:solidFill>
                <a:latin typeface="Red Hat Text"/>
              </a:rPr>
              <a:t>Two-column card "reach for Kueue / a plain ResourceQuota is enough", with a footnote pointer to the Pipelines and Serverless modules for the tool-choice guide.</a:t>
            </a:r>
          </a:p>
        </p:txBody>
      </p:sp>
      <p:cxnSp>
        <p:nvCxnSpPr>
          <p:cNvPr id="26" name="Connector 25"/>
          <p:cNvCxnSpPr/>
          <p:nvPr/>
        </p:nvCxnSpPr>
        <p:spPr>
          <a:xfrm>
            <a:off x="841248" y="6437376"/>
            <a:ext cx="10509199" cy="0"/>
          </a:xfrm>
          <a:prstGeom prst="bentConnector3">
            <a:avLst/>
          </a:prstGeom>
          <a:ln w="12700">
            <a:solidFill>
              <a:srgbClr val="DDE1E6"/>
            </a:solidFill>
          </a:ln>
          <a:effectLst/>
        </p:spPr>
        <p:style>
          <a:lnRef idx="2">
            <a:schemeClr val="accent1"/>
          </a:lnRef>
          <a:fillRef idx="0">
            <a:schemeClr val="accent1"/>
          </a:fillRef>
          <a:effectRef idx="1">
            <a:schemeClr val="accent1"/>
          </a:effectRef>
          <a:fontRef idx="minor">
            <a:schemeClr val="tx1"/>
          </a:fontRef>
        </p:style>
      </p:cxnSp>
      <p:sp>
        <p:nvSpPr>
          <p:cNvPr id="27" name="TextBox 26"/>
          <p:cNvSpPr txBox="1"/>
          <p:nvPr/>
        </p:nvSpPr>
        <p:spPr>
          <a:xfrm>
            <a:off x="841248" y="6473952"/>
            <a:ext cx="7315200" cy="274320"/>
          </a:xfrm>
          <a:prstGeom prst="rect">
            <a:avLst/>
          </a:prstGeom>
          <a:noFill/>
        </p:spPr>
        <p:txBody>
          <a:bodyPr wrap="square" anchor="t" lIns="0" rIns="0" tIns="0" bIns="0">
            <a:spAutoFit/>
          </a:bodyPr>
          <a:lstStyle/>
          <a:p>
            <a:pPr algn="l">
              <a:lnSpc>
                <a:spcPct val="106000"/>
              </a:lnSpc>
              <a:spcBef>
                <a:spcPts val="0"/>
              </a:spcBef>
              <a:spcAft>
                <a:spcPts val="0"/>
              </a:spcAft>
            </a:pPr>
            <a:r>
              <a:rPr sz="950" b="0">
                <a:solidFill>
                  <a:srgbClr val="8A9099"/>
                </a:solidFill>
                <a:latin typeface="Red Hat Text"/>
              </a:rPr>
              <a:t>CONFIDENTIAL</a:t>
            </a:r>
          </a:p>
        </p:txBody>
      </p:sp>
      <p:sp>
        <p:nvSpPr>
          <p:cNvPr id="28" name="TextBox 27"/>
          <p:cNvSpPr txBox="1"/>
          <p:nvPr/>
        </p:nvSpPr>
        <p:spPr>
          <a:xfrm>
            <a:off x="10801807" y="6473952"/>
            <a:ext cx="548640" cy="274320"/>
          </a:xfrm>
          <a:prstGeom prst="rect">
            <a:avLst/>
          </a:prstGeom>
          <a:noFill/>
        </p:spPr>
        <p:txBody>
          <a:bodyPr wrap="square" anchor="t" lIns="0" rIns="0" tIns="0" bIns="0">
            <a:spAutoFit/>
          </a:bodyPr>
          <a:lstStyle/>
          <a:p>
            <a:pPr algn="r">
              <a:lnSpc>
                <a:spcPct val="106000"/>
              </a:lnSpc>
              <a:spcBef>
                <a:spcPts val="0"/>
              </a:spcBef>
              <a:spcAft>
                <a:spcPts val="0"/>
              </a:spcAft>
            </a:pPr>
            <a:r>
              <a:rPr sz="950" b="0">
                <a:solidFill>
                  <a:srgbClr val="8A9099"/>
                </a:solidFill>
                <a:latin typeface="Red Hat Text"/>
              </a:rPr>
              <a:t>42</a:t>
            </a:r>
          </a:p>
        </p:txBody>
      </p:sp>
    </p:spTree>
  </p:cSld>
  <p:clrMapOvr>
    <a:masterClrMapping/>
  </p:clrMapOvr>
</p:sld>
</file>

<file path=ppt/slides/slide4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redhat_logo.jpg"/>
          <p:cNvPicPr>
            <a:picLocks noChangeAspect="1"/>
          </p:cNvPicPr>
          <p:nvPr/>
        </p:nvPicPr>
        <p:blipFill>
          <a:blip r:embed="rId2"/>
          <a:stretch>
            <a:fillRect/>
          </a:stretch>
        </p:blipFill>
        <p:spPr>
          <a:xfrm>
            <a:off x="841248" y="731520"/>
            <a:ext cx="1554480" cy="367699"/>
          </a:xfrm>
          <a:prstGeom prst="rect">
            <a:avLst/>
          </a:prstGeom>
        </p:spPr>
      </p:pic>
      <p:sp>
        <p:nvSpPr>
          <p:cNvPr id="3" name="TextBox 2"/>
          <p:cNvSpPr txBox="1"/>
          <p:nvPr/>
        </p:nvSpPr>
        <p:spPr>
          <a:xfrm>
            <a:off x="841248" y="2514600"/>
            <a:ext cx="9601200" cy="274320"/>
          </a:xfrm>
          <a:prstGeom prst="rect">
            <a:avLst/>
          </a:prstGeom>
          <a:noFill/>
        </p:spPr>
        <p:txBody>
          <a:bodyPr wrap="square" anchor="t" lIns="0" rIns="0" tIns="0" bIns="0">
            <a:spAutoFit/>
          </a:bodyPr>
          <a:lstStyle/>
          <a:p>
            <a:pPr algn="l">
              <a:lnSpc>
                <a:spcPct val="106000"/>
              </a:lnSpc>
              <a:spcBef>
                <a:spcPts val="0"/>
              </a:spcBef>
              <a:spcAft>
                <a:spcPts val="0"/>
              </a:spcAft>
            </a:pPr>
            <a:r>
              <a:rPr sz="1250" b="1" spc="180">
                <a:solidFill>
                  <a:srgbClr val="EE0000"/>
                </a:solidFill>
                <a:latin typeface="Red Hat Display"/>
              </a:rPr>
              <a:t>B · DELIVERY &amp; TRUST</a:t>
            </a:r>
          </a:p>
        </p:txBody>
      </p:sp>
      <p:sp>
        <p:nvSpPr>
          <p:cNvPr id="4" name="TextBox 3"/>
          <p:cNvSpPr txBox="1"/>
          <p:nvPr/>
        </p:nvSpPr>
        <p:spPr>
          <a:xfrm>
            <a:off x="841248" y="2880360"/>
            <a:ext cx="2103120" cy="1188720"/>
          </a:xfrm>
          <a:prstGeom prst="rect">
            <a:avLst/>
          </a:prstGeom>
          <a:noFill/>
        </p:spPr>
        <p:txBody>
          <a:bodyPr wrap="none" anchor="t" lIns="0" rIns="0" tIns="0" bIns="0">
            <a:spAutoFit/>
          </a:bodyPr>
          <a:lstStyle/>
          <a:p>
            <a:pPr algn="l">
              <a:lnSpc>
                <a:spcPct val="90000"/>
              </a:lnSpc>
              <a:spcBef>
                <a:spcPts val="0"/>
              </a:spcBef>
              <a:spcAft>
                <a:spcPts val="0"/>
              </a:spcAft>
            </a:pPr>
            <a:r>
              <a:rPr sz="5200" b="1">
                <a:solidFill>
                  <a:srgbClr val="B80000"/>
                </a:solidFill>
                <a:latin typeface="Red Hat Display"/>
              </a:rPr>
              <a:t>M07</a:t>
            </a:r>
          </a:p>
        </p:txBody>
      </p:sp>
      <p:sp>
        <p:nvSpPr>
          <p:cNvPr id="5" name="TextBox 4"/>
          <p:cNvSpPr txBox="1"/>
          <p:nvPr/>
        </p:nvSpPr>
        <p:spPr>
          <a:xfrm>
            <a:off x="3127248" y="2971800"/>
            <a:ext cx="8412480" cy="1188720"/>
          </a:xfrm>
          <a:prstGeom prst="rect">
            <a:avLst/>
          </a:prstGeom>
          <a:noFill/>
        </p:spPr>
        <p:txBody>
          <a:bodyPr wrap="square" anchor="t" lIns="0" rIns="0" tIns="0" bIns="0">
            <a:spAutoFit/>
          </a:bodyPr>
          <a:lstStyle/>
          <a:p>
            <a:pPr algn="l">
              <a:lnSpc>
                <a:spcPct val="102000"/>
              </a:lnSpc>
              <a:spcBef>
                <a:spcPts val="0"/>
              </a:spcBef>
              <a:spcAft>
                <a:spcPts val="0"/>
              </a:spcAft>
            </a:pPr>
            <a:r>
              <a:rPr sz="3000" b="1">
                <a:solidFill>
                  <a:srgbClr val="1A1A1A"/>
                </a:solidFill>
                <a:latin typeface="Red Hat Display"/>
              </a:rPr>
              <a:t>Pipelines Fundamentals &amp; Task Libraries</a:t>
            </a:r>
          </a:p>
        </p:txBody>
      </p:sp>
      <p:cxnSp>
        <p:nvCxnSpPr>
          <p:cNvPr id="6" name="Connector 5"/>
          <p:cNvCxnSpPr/>
          <p:nvPr/>
        </p:nvCxnSpPr>
        <p:spPr>
          <a:xfrm>
            <a:off x="841248" y="4443984"/>
            <a:ext cx="1463040" cy="0"/>
          </a:xfrm>
          <a:prstGeom prst="bentConnector3">
            <a:avLst/>
          </a:prstGeom>
          <a:ln w="38100">
            <a:solidFill>
              <a:srgbClr val="EE0000"/>
            </a:solidFill>
          </a:ln>
          <a:effectLst/>
        </p:spPr>
        <p:style>
          <a:lnRef idx="2">
            <a:schemeClr val="accent1"/>
          </a:lnRef>
          <a:fillRef idx="0">
            <a:schemeClr val="accent1"/>
          </a:fillRef>
          <a:effectRef idx="1">
            <a:schemeClr val="accent1"/>
          </a:effectRef>
          <a:fontRef idx="minor">
            <a:schemeClr val="tx1"/>
          </a:fontRef>
        </p:style>
      </p:cxnSp>
    </p:spTree>
  </p:cSld>
  <p:clrMapOvr>
    <a:masterClrMapping/>
  </p:clrMapOvr>
</p:sld>
</file>

<file path=ppt/slides/slide5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redhat_logo.jpg"/>
          <p:cNvPicPr>
            <a:picLocks noChangeAspect="1"/>
          </p:cNvPicPr>
          <p:nvPr/>
        </p:nvPicPr>
        <p:blipFill>
          <a:blip r:embed="rId2"/>
          <a:stretch>
            <a:fillRect/>
          </a:stretch>
        </p:blipFill>
        <p:spPr>
          <a:xfrm>
            <a:off x="10326319" y="475488"/>
            <a:ext cx="1024128" cy="242248"/>
          </a:xfrm>
          <a:prstGeom prst="rect">
            <a:avLst/>
          </a:prstGeom>
        </p:spPr>
      </p:pic>
      <p:sp>
        <p:nvSpPr>
          <p:cNvPr id="3" name="TextBox 2"/>
          <p:cNvSpPr txBox="1"/>
          <p:nvPr/>
        </p:nvSpPr>
        <p:spPr>
          <a:xfrm>
            <a:off x="841248" y="548640"/>
            <a:ext cx="8595360" cy="274320"/>
          </a:xfrm>
          <a:prstGeom prst="rect">
            <a:avLst/>
          </a:prstGeom>
          <a:noFill/>
        </p:spPr>
        <p:txBody>
          <a:bodyPr wrap="square" anchor="t" lIns="0" rIns="0" tIns="0" bIns="0">
            <a:spAutoFit/>
          </a:bodyPr>
          <a:lstStyle/>
          <a:p>
            <a:pPr algn="l">
              <a:lnSpc>
                <a:spcPct val="106000"/>
              </a:lnSpc>
              <a:spcBef>
                <a:spcPts val="0"/>
              </a:spcBef>
              <a:spcAft>
                <a:spcPts val="0"/>
              </a:spcAft>
            </a:pPr>
            <a:r>
              <a:rPr sz="1250" b="1" spc="220">
                <a:solidFill>
                  <a:srgbClr val="EE0000"/>
                </a:solidFill>
                <a:latin typeface="Red Hat Display"/>
              </a:rPr>
              <a:t>M07 · PIPELINES FUNDAMENTALS &amp; TASK LIBRARIES</a:t>
            </a:r>
          </a:p>
        </p:txBody>
      </p:sp>
      <p:sp>
        <p:nvSpPr>
          <p:cNvPr id="4" name="TextBox 3"/>
          <p:cNvSpPr txBox="1"/>
          <p:nvPr/>
        </p:nvSpPr>
        <p:spPr>
          <a:xfrm>
            <a:off x="841248" y="877824"/>
            <a:ext cx="10515600" cy="548640"/>
          </a:xfrm>
          <a:prstGeom prst="rect">
            <a:avLst/>
          </a:prstGeom>
          <a:noFill/>
        </p:spPr>
        <p:txBody>
          <a:bodyPr wrap="none" anchor="t" lIns="0" rIns="0" tIns="0" bIns="0">
            <a:spAutoFit/>
          </a:bodyPr>
          <a:lstStyle/>
          <a:p>
            <a:pPr algn="l">
              <a:lnSpc>
                <a:spcPct val="100000"/>
              </a:lnSpc>
              <a:spcBef>
                <a:spcPts val="0"/>
              </a:spcBef>
              <a:spcAft>
                <a:spcPts val="0"/>
              </a:spcAft>
            </a:pPr>
            <a:r>
              <a:rPr sz="2500" b="1">
                <a:solidFill>
                  <a:srgbClr val="1A1A1A"/>
                </a:solidFill>
                <a:latin typeface="Red Hat Display"/>
              </a:rPr>
              <a:t>The build that lives in someone's shell</a:t>
            </a:r>
          </a:p>
        </p:txBody>
      </p:sp>
      <p:cxnSp>
        <p:nvCxnSpPr>
          <p:cNvPr id="5" name="Connector 4"/>
          <p:cNvCxnSpPr/>
          <p:nvPr/>
        </p:nvCxnSpPr>
        <p:spPr>
          <a:xfrm>
            <a:off x="841248" y="1554480"/>
            <a:ext cx="1371600" cy="0"/>
          </a:xfrm>
          <a:prstGeom prst="bentConnector3">
            <a:avLst/>
          </a:prstGeom>
          <a:ln w="31750">
            <a:solidFill>
              <a:srgbClr val="EE0000"/>
            </a:solidFill>
          </a:ln>
          <a:effectLst/>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841248" y="1664208"/>
            <a:ext cx="10515600" cy="365760"/>
          </a:xfrm>
          <a:prstGeom prst="rect">
            <a:avLst/>
          </a:prstGeom>
          <a:noFill/>
        </p:spPr>
        <p:txBody>
          <a:bodyPr wrap="square" anchor="t" lIns="0" rIns="0" tIns="0" bIns="0">
            <a:spAutoFit/>
          </a:bodyPr>
          <a:lstStyle/>
          <a:p>
            <a:pPr algn="l">
              <a:lnSpc>
                <a:spcPct val="106000"/>
              </a:lnSpc>
              <a:spcBef>
                <a:spcPts val="0"/>
              </a:spcBef>
              <a:spcAft>
                <a:spcPts val="0"/>
              </a:spcAft>
            </a:pPr>
            <a:r>
              <a:rPr sz="1350" b="0">
                <a:solidFill>
                  <a:srgbClr val="555960"/>
                </a:solidFill>
                <a:latin typeface="Red Hat Text"/>
              </a:rPr>
              <a:t>history</a:t>
            </a:r>
          </a:p>
        </p:txBody>
      </p:sp>
      <p:sp>
        <p:nvSpPr>
          <p:cNvPr id="7" name="Rounded Rectangle 6"/>
          <p:cNvSpPr/>
          <p:nvPr/>
        </p:nvSpPr>
        <p:spPr>
          <a:xfrm>
            <a:off x="841248" y="2670048"/>
            <a:ext cx="5715000" cy="530352"/>
          </a:xfrm>
          <a:prstGeom prst="roundRect">
            <a:avLst>
              <a:gd name="adj" fmla="val 6000"/>
            </a:avLst>
          </a:prstGeom>
          <a:solidFill>
            <a:srgbClr val="F5F6F8"/>
          </a:solidFill>
          <a:ln w="12700">
            <a:solidFill>
              <a:srgbClr val="DDE1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check_steel.png"/>
          <p:cNvPicPr>
            <a:picLocks noChangeAspect="1"/>
          </p:cNvPicPr>
          <p:nvPr/>
        </p:nvPicPr>
        <p:blipFill>
          <a:blip r:embed="rId3"/>
          <a:stretch>
            <a:fillRect/>
          </a:stretch>
        </p:blipFill>
        <p:spPr>
          <a:xfrm>
            <a:off x="987552" y="2816352"/>
            <a:ext cx="237744" cy="237744"/>
          </a:xfrm>
          <a:prstGeom prst="rect">
            <a:avLst/>
          </a:prstGeom>
        </p:spPr>
      </p:pic>
      <p:sp>
        <p:nvSpPr>
          <p:cNvPr id="9" name="TextBox 8"/>
          <p:cNvSpPr txBox="1"/>
          <p:nvPr/>
        </p:nvSpPr>
        <p:spPr>
          <a:xfrm>
            <a:off x="1353312" y="2670048"/>
            <a:ext cx="5029200" cy="530352"/>
          </a:xfrm>
          <a:prstGeom prst="rect">
            <a:avLst/>
          </a:prstGeom>
          <a:noFill/>
        </p:spPr>
        <p:txBody>
          <a:bodyPr wrap="square" anchor="ctr" lIns="0" rIns="0" tIns="0" bIns="0">
            <a:spAutoFit/>
          </a:bodyPr>
          <a:lstStyle/>
          <a:p>
            <a:pPr algn="l">
              <a:lnSpc>
                <a:spcPct val="106000"/>
              </a:lnSpc>
              <a:spcBef>
                <a:spcPts val="0"/>
              </a:spcBef>
              <a:spcAft>
                <a:spcPts val="0"/>
              </a:spcAft>
            </a:pPr>
            <a:r>
              <a:rPr sz="1200" b="0">
                <a:solidFill>
                  <a:srgbClr val="1A1A1A"/>
                </a:solidFill>
                <a:latin typeface="Red Hat Text"/>
              </a:rPr>
              <a:t>Parasol ships claims by hand today</a:t>
            </a:r>
          </a:p>
        </p:txBody>
      </p:sp>
      <p:sp>
        <p:nvSpPr>
          <p:cNvPr id="10" name="Rounded Rectangle 9"/>
          <p:cNvSpPr/>
          <p:nvPr/>
        </p:nvSpPr>
        <p:spPr>
          <a:xfrm>
            <a:off x="841248" y="3273552"/>
            <a:ext cx="5715000" cy="530352"/>
          </a:xfrm>
          <a:prstGeom prst="roundRect">
            <a:avLst>
              <a:gd name="adj" fmla="val 6000"/>
            </a:avLst>
          </a:prstGeom>
          <a:solidFill>
            <a:srgbClr val="F5F6F8"/>
          </a:solidFill>
          <a:ln w="12700">
            <a:solidFill>
              <a:srgbClr val="DDE1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1" name="Picture 10" descr="check_steel.png"/>
          <p:cNvPicPr>
            <a:picLocks noChangeAspect="1"/>
          </p:cNvPicPr>
          <p:nvPr/>
        </p:nvPicPr>
        <p:blipFill>
          <a:blip r:embed="rId3"/>
          <a:stretch>
            <a:fillRect/>
          </a:stretch>
        </p:blipFill>
        <p:spPr>
          <a:xfrm>
            <a:off x="987552" y="3419856"/>
            <a:ext cx="237744" cy="237744"/>
          </a:xfrm>
          <a:prstGeom prst="rect">
            <a:avLst/>
          </a:prstGeom>
        </p:spPr>
      </p:pic>
      <p:sp>
        <p:nvSpPr>
          <p:cNvPr id="12" name="TextBox 11"/>
          <p:cNvSpPr txBox="1"/>
          <p:nvPr/>
        </p:nvSpPr>
        <p:spPr>
          <a:xfrm>
            <a:off x="1353312" y="3273552"/>
            <a:ext cx="5029200" cy="530352"/>
          </a:xfrm>
          <a:prstGeom prst="rect">
            <a:avLst/>
          </a:prstGeom>
          <a:noFill/>
        </p:spPr>
        <p:txBody>
          <a:bodyPr wrap="square" anchor="ctr" lIns="0" rIns="0" tIns="0" bIns="0">
            <a:spAutoFit/>
          </a:bodyPr>
          <a:lstStyle/>
          <a:p>
            <a:pPr algn="l">
              <a:lnSpc>
                <a:spcPct val="106000"/>
              </a:lnSpc>
              <a:spcBef>
                <a:spcPts val="0"/>
              </a:spcBef>
              <a:spcAft>
                <a:spcPts val="0"/>
              </a:spcAft>
            </a:pPr>
            <a:r>
              <a:rPr sz="1200" b="0">
                <a:solidFill>
                  <a:srgbClr val="1A1A1A"/>
                </a:solidFill>
                <a:latin typeface="Red Hat Text"/>
              </a:rPr>
              <a:t>Every engineer builds it slightly differently</a:t>
            </a:r>
          </a:p>
        </p:txBody>
      </p:sp>
      <p:sp>
        <p:nvSpPr>
          <p:cNvPr id="13" name="Rounded Rectangle 12"/>
          <p:cNvSpPr/>
          <p:nvPr/>
        </p:nvSpPr>
        <p:spPr>
          <a:xfrm>
            <a:off x="841248" y="3877056"/>
            <a:ext cx="5715000" cy="530352"/>
          </a:xfrm>
          <a:prstGeom prst="roundRect">
            <a:avLst>
              <a:gd name="adj" fmla="val 6000"/>
            </a:avLst>
          </a:prstGeom>
          <a:solidFill>
            <a:srgbClr val="F5F6F8"/>
          </a:solidFill>
          <a:ln w="12700">
            <a:solidFill>
              <a:srgbClr val="DDE1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4" name="Picture 13" descr="check_steel.png"/>
          <p:cNvPicPr>
            <a:picLocks noChangeAspect="1"/>
          </p:cNvPicPr>
          <p:nvPr/>
        </p:nvPicPr>
        <p:blipFill>
          <a:blip r:embed="rId3"/>
          <a:stretch>
            <a:fillRect/>
          </a:stretch>
        </p:blipFill>
        <p:spPr>
          <a:xfrm>
            <a:off x="987552" y="4023360"/>
            <a:ext cx="237744" cy="237744"/>
          </a:xfrm>
          <a:prstGeom prst="rect">
            <a:avLst/>
          </a:prstGeom>
        </p:spPr>
      </p:pic>
      <p:sp>
        <p:nvSpPr>
          <p:cNvPr id="15" name="TextBox 14"/>
          <p:cNvSpPr txBox="1"/>
          <p:nvPr/>
        </p:nvSpPr>
        <p:spPr>
          <a:xfrm>
            <a:off x="1353312" y="3877056"/>
            <a:ext cx="5029200" cy="530352"/>
          </a:xfrm>
          <a:prstGeom prst="rect">
            <a:avLst/>
          </a:prstGeom>
          <a:noFill/>
        </p:spPr>
        <p:txBody>
          <a:bodyPr wrap="square" anchor="ctr" lIns="0" rIns="0" tIns="0" bIns="0">
            <a:spAutoFit/>
          </a:bodyPr>
          <a:lstStyle/>
          <a:p>
            <a:pPr algn="l">
              <a:lnSpc>
                <a:spcPct val="106000"/>
              </a:lnSpc>
              <a:spcBef>
                <a:spcPts val="0"/>
              </a:spcBef>
              <a:spcAft>
                <a:spcPts val="0"/>
              </a:spcAft>
            </a:pPr>
            <a:r>
              <a:rPr sz="1200" b="0">
                <a:solidFill>
                  <a:srgbClr val="1A1A1A"/>
                </a:solidFill>
                <a:latin typeface="Red Hat Text"/>
              </a:rPr>
              <a:t>No shared record of how, no gate</a:t>
            </a:r>
          </a:p>
        </p:txBody>
      </p:sp>
      <p:sp>
        <p:nvSpPr>
          <p:cNvPr id="16" name="Rounded Rectangle 15"/>
          <p:cNvSpPr/>
          <p:nvPr/>
        </p:nvSpPr>
        <p:spPr>
          <a:xfrm>
            <a:off x="841248" y="4480560"/>
            <a:ext cx="5715000" cy="530352"/>
          </a:xfrm>
          <a:prstGeom prst="roundRect">
            <a:avLst>
              <a:gd name="adj" fmla="val 6000"/>
            </a:avLst>
          </a:prstGeom>
          <a:solidFill>
            <a:srgbClr val="F5F6F8"/>
          </a:solidFill>
          <a:ln w="12700">
            <a:solidFill>
              <a:srgbClr val="DDE1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7" name="Picture 16" descr="check_steel.png"/>
          <p:cNvPicPr>
            <a:picLocks noChangeAspect="1"/>
          </p:cNvPicPr>
          <p:nvPr/>
        </p:nvPicPr>
        <p:blipFill>
          <a:blip r:embed="rId3"/>
          <a:stretch>
            <a:fillRect/>
          </a:stretch>
        </p:blipFill>
        <p:spPr>
          <a:xfrm>
            <a:off x="987552" y="4626864"/>
            <a:ext cx="237744" cy="237744"/>
          </a:xfrm>
          <a:prstGeom prst="rect">
            <a:avLst/>
          </a:prstGeom>
        </p:spPr>
      </p:pic>
      <p:sp>
        <p:nvSpPr>
          <p:cNvPr id="18" name="TextBox 17"/>
          <p:cNvSpPr txBox="1"/>
          <p:nvPr/>
        </p:nvSpPr>
        <p:spPr>
          <a:xfrm>
            <a:off x="1353312" y="4480560"/>
            <a:ext cx="5029200" cy="530352"/>
          </a:xfrm>
          <a:prstGeom prst="rect">
            <a:avLst/>
          </a:prstGeom>
          <a:noFill/>
        </p:spPr>
        <p:txBody>
          <a:bodyPr wrap="square" anchor="ctr" lIns="0" rIns="0" tIns="0" bIns="0">
            <a:spAutoFit/>
          </a:bodyPr>
          <a:lstStyle/>
          <a:p>
            <a:pPr algn="l">
              <a:lnSpc>
                <a:spcPct val="106000"/>
              </a:lnSpc>
              <a:spcBef>
                <a:spcPts val="0"/>
              </a:spcBef>
              <a:spcAft>
                <a:spcPts val="0"/>
              </a:spcAft>
            </a:pPr>
            <a:r>
              <a:rPr sz="1200" b="0">
                <a:solidFill>
                  <a:srgbClr val="1A1A1A"/>
                </a:solidFill>
                <a:latin typeface="Red Hat Text"/>
              </a:rPr>
              <a:t>"How do we ship this?" → a stale wiki page</a:t>
            </a:r>
          </a:p>
        </p:txBody>
      </p:sp>
      <p:sp>
        <p:nvSpPr>
          <p:cNvPr id="19" name="Rounded Rectangle 18"/>
          <p:cNvSpPr/>
          <p:nvPr/>
        </p:nvSpPr>
        <p:spPr>
          <a:xfrm>
            <a:off x="841248" y="5084064"/>
            <a:ext cx="5715000" cy="530352"/>
          </a:xfrm>
          <a:prstGeom prst="roundRect">
            <a:avLst>
              <a:gd name="adj" fmla="val 6000"/>
            </a:avLst>
          </a:prstGeom>
          <a:solidFill>
            <a:srgbClr val="F5F6F8"/>
          </a:solidFill>
          <a:ln w="12700">
            <a:solidFill>
              <a:srgbClr val="DDE1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0" name="Picture 19" descr="check_steel.png"/>
          <p:cNvPicPr>
            <a:picLocks noChangeAspect="1"/>
          </p:cNvPicPr>
          <p:nvPr/>
        </p:nvPicPr>
        <p:blipFill>
          <a:blip r:embed="rId3"/>
          <a:stretch>
            <a:fillRect/>
          </a:stretch>
        </p:blipFill>
        <p:spPr>
          <a:xfrm>
            <a:off x="987552" y="5230368"/>
            <a:ext cx="237744" cy="237744"/>
          </a:xfrm>
          <a:prstGeom prst="rect">
            <a:avLst/>
          </a:prstGeom>
        </p:spPr>
      </p:pic>
      <p:sp>
        <p:nvSpPr>
          <p:cNvPr id="21" name="TextBox 20"/>
          <p:cNvSpPr txBox="1"/>
          <p:nvPr/>
        </p:nvSpPr>
        <p:spPr>
          <a:xfrm>
            <a:off x="1353312" y="5084064"/>
            <a:ext cx="5029200" cy="530352"/>
          </a:xfrm>
          <a:prstGeom prst="rect">
            <a:avLst/>
          </a:prstGeom>
          <a:noFill/>
        </p:spPr>
        <p:txBody>
          <a:bodyPr wrap="square" anchor="ctr" lIns="0" rIns="0" tIns="0" bIns="0">
            <a:spAutoFit/>
          </a:bodyPr>
          <a:lstStyle/>
          <a:p>
            <a:pPr algn="l">
              <a:lnSpc>
                <a:spcPct val="106000"/>
              </a:lnSpc>
              <a:spcBef>
                <a:spcPts val="0"/>
              </a:spcBef>
              <a:spcAft>
                <a:spcPts val="0"/>
              </a:spcAft>
            </a:pPr>
            <a:r>
              <a:rPr sz="1200" b="0">
                <a:solidFill>
                  <a:srgbClr val="1A1A1A"/>
                </a:solidFill>
                <a:latin typeface="Red Hat Text"/>
              </a:rPr>
              <a:t>A pipeline makes it reviewed and repeatable</a:t>
            </a:r>
          </a:p>
        </p:txBody>
      </p:sp>
      <p:sp>
        <p:nvSpPr>
          <p:cNvPr id="22" name="Rounded Rectangle 21"/>
          <p:cNvSpPr/>
          <p:nvPr/>
        </p:nvSpPr>
        <p:spPr>
          <a:xfrm>
            <a:off x="6812280" y="2670048"/>
            <a:ext cx="4538167" cy="2944368"/>
          </a:xfrm>
          <a:prstGeom prst="roundRect">
            <a:avLst>
              <a:gd name="adj" fmla="val 4000"/>
            </a:avLst>
          </a:prstGeom>
          <a:solidFill>
            <a:srgbClr val="FFFFFF"/>
          </a:solidFill>
          <a:ln w="15240">
            <a:solidFill>
              <a:srgbClr val="DDE1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ounded Rectangle 22"/>
          <p:cNvSpPr/>
          <p:nvPr/>
        </p:nvSpPr>
        <p:spPr>
          <a:xfrm>
            <a:off x="7013448" y="2871216"/>
            <a:ext cx="1298448" cy="310896"/>
          </a:xfrm>
          <a:prstGeom prst="roundRect">
            <a:avLst>
              <a:gd name="adj" fmla="val 50000"/>
            </a:avLst>
          </a:prstGeom>
          <a:solidFill>
            <a:srgbClr val="FCEC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7013448" y="2871216"/>
            <a:ext cx="1298448" cy="310896"/>
          </a:xfrm>
          <a:prstGeom prst="rect">
            <a:avLst/>
          </a:prstGeom>
          <a:noFill/>
        </p:spPr>
        <p:txBody>
          <a:bodyPr wrap="none" anchor="ctr" lIns="0" rIns="0" tIns="0" bIns="0">
            <a:spAutoFit/>
          </a:bodyPr>
          <a:lstStyle/>
          <a:p>
            <a:pPr algn="ctr">
              <a:lnSpc>
                <a:spcPct val="106000"/>
              </a:lnSpc>
              <a:spcBef>
                <a:spcPts val="0"/>
              </a:spcBef>
              <a:spcAft>
                <a:spcPts val="0"/>
              </a:spcAft>
            </a:pPr>
            <a:r>
              <a:rPr sz="850" b="1">
                <a:solidFill>
                  <a:srgbClr val="B80000"/>
                </a:solidFill>
                <a:latin typeface="Red Hat Display"/>
              </a:rPr>
              <a:t>MEDIA PASS</a:t>
            </a:r>
          </a:p>
        </p:txBody>
      </p:sp>
      <p:pic>
        <p:nvPicPr>
          <p:cNvPr id="25" name="Picture 24" descr="eye_slate.png"/>
          <p:cNvPicPr>
            <a:picLocks noChangeAspect="1"/>
          </p:cNvPicPr>
          <p:nvPr/>
        </p:nvPicPr>
        <p:blipFill>
          <a:blip r:embed="rId4"/>
          <a:stretch>
            <a:fillRect/>
          </a:stretch>
        </p:blipFill>
        <p:spPr>
          <a:xfrm>
            <a:off x="8843619" y="3383280"/>
            <a:ext cx="475488" cy="475488"/>
          </a:xfrm>
          <a:prstGeom prst="rect">
            <a:avLst/>
          </a:prstGeom>
        </p:spPr>
      </p:pic>
      <p:sp>
        <p:nvSpPr>
          <p:cNvPr id="26" name="TextBox 25"/>
          <p:cNvSpPr txBox="1"/>
          <p:nvPr/>
        </p:nvSpPr>
        <p:spPr>
          <a:xfrm>
            <a:off x="7050024" y="3995928"/>
            <a:ext cx="4062679" cy="1481328"/>
          </a:xfrm>
          <a:prstGeom prst="rect">
            <a:avLst/>
          </a:prstGeom>
          <a:noFill/>
        </p:spPr>
        <p:txBody>
          <a:bodyPr wrap="square" anchor="t" lIns="0" rIns="0" tIns="0" bIns="0">
            <a:spAutoFit/>
          </a:bodyPr>
          <a:lstStyle/>
          <a:p>
            <a:pPr algn="l">
              <a:lnSpc>
                <a:spcPct val="120000"/>
              </a:lnSpc>
              <a:spcBef>
                <a:spcPts val="0"/>
              </a:spcBef>
              <a:spcAft>
                <a:spcPts val="0"/>
              </a:spcAft>
            </a:pPr>
            <a:r>
              <a:rPr sz="950" b="0">
                <a:solidFill>
                  <a:srgbClr val="8A9099"/>
                </a:solidFill>
                <a:latin typeface="Red Hat Text"/>
              </a:rPr>
              <a:t>A messy "shell history + stale wiki" box on the left, an arrow to a clean "pipeline in Git" box on the right.</a:t>
            </a:r>
          </a:p>
        </p:txBody>
      </p:sp>
      <p:cxnSp>
        <p:nvCxnSpPr>
          <p:cNvPr id="27" name="Connector 26"/>
          <p:cNvCxnSpPr/>
          <p:nvPr/>
        </p:nvCxnSpPr>
        <p:spPr>
          <a:xfrm>
            <a:off x="841248" y="6437376"/>
            <a:ext cx="10509199" cy="0"/>
          </a:xfrm>
          <a:prstGeom prst="bentConnector3">
            <a:avLst/>
          </a:prstGeom>
          <a:ln w="12700">
            <a:solidFill>
              <a:srgbClr val="DDE1E6"/>
            </a:solidFill>
          </a:ln>
          <a:effectLst/>
        </p:spPr>
        <p:style>
          <a:lnRef idx="2">
            <a:schemeClr val="accent1"/>
          </a:lnRef>
          <a:fillRef idx="0">
            <a:schemeClr val="accent1"/>
          </a:fillRef>
          <a:effectRef idx="1">
            <a:schemeClr val="accent1"/>
          </a:effectRef>
          <a:fontRef idx="minor">
            <a:schemeClr val="tx1"/>
          </a:fontRef>
        </p:style>
      </p:cxnSp>
      <p:sp>
        <p:nvSpPr>
          <p:cNvPr id="28" name="TextBox 27"/>
          <p:cNvSpPr txBox="1"/>
          <p:nvPr/>
        </p:nvSpPr>
        <p:spPr>
          <a:xfrm>
            <a:off x="841248" y="6473952"/>
            <a:ext cx="7315200" cy="274320"/>
          </a:xfrm>
          <a:prstGeom prst="rect">
            <a:avLst/>
          </a:prstGeom>
          <a:noFill/>
        </p:spPr>
        <p:txBody>
          <a:bodyPr wrap="square" anchor="t" lIns="0" rIns="0" tIns="0" bIns="0">
            <a:spAutoFit/>
          </a:bodyPr>
          <a:lstStyle/>
          <a:p>
            <a:pPr algn="l">
              <a:lnSpc>
                <a:spcPct val="106000"/>
              </a:lnSpc>
              <a:spcBef>
                <a:spcPts val="0"/>
              </a:spcBef>
              <a:spcAft>
                <a:spcPts val="0"/>
              </a:spcAft>
            </a:pPr>
            <a:r>
              <a:rPr sz="950" b="0">
                <a:solidFill>
                  <a:srgbClr val="8A9099"/>
                </a:solidFill>
                <a:latin typeface="Red Hat Text"/>
              </a:rPr>
              <a:t>CONFIDENTIAL</a:t>
            </a:r>
          </a:p>
        </p:txBody>
      </p:sp>
      <p:sp>
        <p:nvSpPr>
          <p:cNvPr id="29" name="TextBox 28"/>
          <p:cNvSpPr txBox="1"/>
          <p:nvPr/>
        </p:nvSpPr>
        <p:spPr>
          <a:xfrm>
            <a:off x="10801807" y="6473952"/>
            <a:ext cx="548640" cy="274320"/>
          </a:xfrm>
          <a:prstGeom prst="rect">
            <a:avLst/>
          </a:prstGeom>
          <a:noFill/>
        </p:spPr>
        <p:txBody>
          <a:bodyPr wrap="square" anchor="t" lIns="0" rIns="0" tIns="0" bIns="0">
            <a:spAutoFit/>
          </a:bodyPr>
          <a:lstStyle/>
          <a:p>
            <a:pPr algn="r">
              <a:lnSpc>
                <a:spcPct val="106000"/>
              </a:lnSpc>
              <a:spcBef>
                <a:spcPts val="0"/>
              </a:spcBef>
              <a:spcAft>
                <a:spcPts val="0"/>
              </a:spcAft>
            </a:pPr>
            <a:r>
              <a:rPr sz="950" b="0">
                <a:solidFill>
                  <a:srgbClr val="8A9099"/>
                </a:solidFill>
                <a:latin typeface="Red Hat Text"/>
              </a:rPr>
              <a:t>43</a:t>
            </a:r>
          </a:p>
        </p:txBody>
      </p:sp>
    </p:spTree>
  </p:cSld>
  <p:clrMapOvr>
    <a:masterClrMapping/>
  </p:clrMapOvr>
</p:sld>
</file>

<file path=ppt/slides/slide5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redhat_logo.jpg"/>
          <p:cNvPicPr>
            <a:picLocks noChangeAspect="1"/>
          </p:cNvPicPr>
          <p:nvPr/>
        </p:nvPicPr>
        <p:blipFill>
          <a:blip r:embed="rId2"/>
          <a:stretch>
            <a:fillRect/>
          </a:stretch>
        </p:blipFill>
        <p:spPr>
          <a:xfrm>
            <a:off x="10326319" y="475488"/>
            <a:ext cx="1024128" cy="242248"/>
          </a:xfrm>
          <a:prstGeom prst="rect">
            <a:avLst/>
          </a:prstGeom>
        </p:spPr>
      </p:pic>
      <p:sp>
        <p:nvSpPr>
          <p:cNvPr id="3" name="TextBox 2"/>
          <p:cNvSpPr txBox="1"/>
          <p:nvPr/>
        </p:nvSpPr>
        <p:spPr>
          <a:xfrm>
            <a:off x="841248" y="548640"/>
            <a:ext cx="8595360" cy="274320"/>
          </a:xfrm>
          <a:prstGeom prst="rect">
            <a:avLst/>
          </a:prstGeom>
          <a:noFill/>
        </p:spPr>
        <p:txBody>
          <a:bodyPr wrap="square" anchor="t" lIns="0" rIns="0" tIns="0" bIns="0">
            <a:spAutoFit/>
          </a:bodyPr>
          <a:lstStyle/>
          <a:p>
            <a:pPr algn="l">
              <a:lnSpc>
                <a:spcPct val="106000"/>
              </a:lnSpc>
              <a:spcBef>
                <a:spcPts val="0"/>
              </a:spcBef>
              <a:spcAft>
                <a:spcPts val="0"/>
              </a:spcAft>
            </a:pPr>
            <a:r>
              <a:rPr sz="1250" b="1" spc="220">
                <a:solidFill>
                  <a:srgbClr val="EE0000"/>
                </a:solidFill>
                <a:latin typeface="Red Hat Display"/>
              </a:rPr>
              <a:t>M07 · PIPELINES FUNDAMENTALS &amp; TASK LIBRARIES</a:t>
            </a:r>
          </a:p>
        </p:txBody>
      </p:sp>
      <p:sp>
        <p:nvSpPr>
          <p:cNvPr id="4" name="TextBox 3"/>
          <p:cNvSpPr txBox="1"/>
          <p:nvPr/>
        </p:nvSpPr>
        <p:spPr>
          <a:xfrm>
            <a:off x="841248" y="877824"/>
            <a:ext cx="10515600" cy="548640"/>
          </a:xfrm>
          <a:prstGeom prst="rect">
            <a:avLst/>
          </a:prstGeom>
          <a:noFill/>
        </p:spPr>
        <p:txBody>
          <a:bodyPr wrap="none" anchor="t" lIns="0" rIns="0" tIns="0" bIns="0">
            <a:spAutoFit/>
          </a:bodyPr>
          <a:lstStyle/>
          <a:p>
            <a:pPr algn="l">
              <a:lnSpc>
                <a:spcPct val="100000"/>
              </a:lnSpc>
              <a:spcBef>
                <a:spcPts val="0"/>
              </a:spcBef>
              <a:spcAft>
                <a:spcPts val="0"/>
              </a:spcAft>
            </a:pPr>
            <a:r>
              <a:rPr sz="2500" b="1">
                <a:solidFill>
                  <a:srgbClr val="1A1A1A"/>
                </a:solidFill>
                <a:latin typeface="Red Hat Display"/>
              </a:rPr>
              <a:t>Anatomy — Task, Pipeline, PipelineRun</a:t>
            </a:r>
          </a:p>
        </p:txBody>
      </p:sp>
      <p:cxnSp>
        <p:nvCxnSpPr>
          <p:cNvPr id="5" name="Connector 4"/>
          <p:cNvCxnSpPr/>
          <p:nvPr/>
        </p:nvCxnSpPr>
        <p:spPr>
          <a:xfrm>
            <a:off x="841248" y="1554480"/>
            <a:ext cx="1371600" cy="0"/>
          </a:xfrm>
          <a:prstGeom prst="bentConnector3">
            <a:avLst/>
          </a:prstGeom>
          <a:ln w="31750">
            <a:solidFill>
              <a:srgbClr val="EE0000"/>
            </a:solidFill>
          </a:ln>
          <a:effectLst/>
        </p:spPr>
        <p:style>
          <a:lnRef idx="2">
            <a:schemeClr val="accent1"/>
          </a:lnRef>
          <a:fillRef idx="0">
            <a:schemeClr val="accent1"/>
          </a:fillRef>
          <a:effectRef idx="1">
            <a:schemeClr val="accent1"/>
          </a:effectRef>
          <a:fontRef idx="minor">
            <a:schemeClr val="tx1"/>
          </a:fontRef>
        </p:style>
      </p:cxnSp>
      <p:sp>
        <p:nvSpPr>
          <p:cNvPr id="6" name="Rounded Rectangle 5"/>
          <p:cNvSpPr/>
          <p:nvPr/>
        </p:nvSpPr>
        <p:spPr>
          <a:xfrm>
            <a:off x="841248" y="2395728"/>
            <a:ext cx="5715000" cy="530352"/>
          </a:xfrm>
          <a:prstGeom prst="roundRect">
            <a:avLst>
              <a:gd name="adj" fmla="val 6000"/>
            </a:avLst>
          </a:prstGeom>
          <a:solidFill>
            <a:srgbClr val="F5F6F8"/>
          </a:solidFill>
          <a:ln w="12700">
            <a:solidFill>
              <a:srgbClr val="DDE1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check_steel.png"/>
          <p:cNvPicPr>
            <a:picLocks noChangeAspect="1"/>
          </p:cNvPicPr>
          <p:nvPr/>
        </p:nvPicPr>
        <p:blipFill>
          <a:blip r:embed="rId3"/>
          <a:stretch>
            <a:fillRect/>
          </a:stretch>
        </p:blipFill>
        <p:spPr>
          <a:xfrm>
            <a:off x="987552" y="2542032"/>
            <a:ext cx="237744" cy="237744"/>
          </a:xfrm>
          <a:prstGeom prst="rect">
            <a:avLst/>
          </a:prstGeom>
        </p:spPr>
      </p:pic>
      <p:sp>
        <p:nvSpPr>
          <p:cNvPr id="8" name="TextBox 7"/>
          <p:cNvSpPr txBox="1"/>
          <p:nvPr/>
        </p:nvSpPr>
        <p:spPr>
          <a:xfrm>
            <a:off x="1353312" y="2395728"/>
            <a:ext cx="5029200" cy="530352"/>
          </a:xfrm>
          <a:prstGeom prst="rect">
            <a:avLst/>
          </a:prstGeom>
          <a:noFill/>
        </p:spPr>
        <p:txBody>
          <a:bodyPr wrap="square" anchor="ctr" lIns="0" rIns="0" tIns="0" bIns="0">
            <a:spAutoFit/>
          </a:bodyPr>
          <a:lstStyle/>
          <a:p>
            <a:pPr algn="l">
              <a:lnSpc>
                <a:spcPct val="106000"/>
              </a:lnSpc>
              <a:spcBef>
                <a:spcPts val="0"/>
              </a:spcBef>
              <a:spcAft>
                <a:spcPts val="0"/>
              </a:spcAft>
            </a:pPr>
            <a:r>
              <a:rPr sz="1200" b="0">
                <a:solidFill>
                  <a:srgbClr val="1A1A1A"/>
                </a:solidFill>
                <a:latin typeface="Red Hat Text"/>
              </a:rPr>
              <a:t>Task: one reusable unit of work</a:t>
            </a:r>
          </a:p>
        </p:txBody>
      </p:sp>
      <p:sp>
        <p:nvSpPr>
          <p:cNvPr id="9" name="Rounded Rectangle 8"/>
          <p:cNvSpPr/>
          <p:nvPr/>
        </p:nvSpPr>
        <p:spPr>
          <a:xfrm>
            <a:off x="841248" y="2999232"/>
            <a:ext cx="5715000" cy="530352"/>
          </a:xfrm>
          <a:prstGeom prst="roundRect">
            <a:avLst>
              <a:gd name="adj" fmla="val 6000"/>
            </a:avLst>
          </a:prstGeom>
          <a:solidFill>
            <a:srgbClr val="F5F6F8"/>
          </a:solidFill>
          <a:ln w="12700">
            <a:solidFill>
              <a:srgbClr val="DDE1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0" name="Picture 9" descr="check_steel.png"/>
          <p:cNvPicPr>
            <a:picLocks noChangeAspect="1"/>
          </p:cNvPicPr>
          <p:nvPr/>
        </p:nvPicPr>
        <p:blipFill>
          <a:blip r:embed="rId3"/>
          <a:stretch>
            <a:fillRect/>
          </a:stretch>
        </p:blipFill>
        <p:spPr>
          <a:xfrm>
            <a:off x="987552" y="3145536"/>
            <a:ext cx="237744" cy="237744"/>
          </a:xfrm>
          <a:prstGeom prst="rect">
            <a:avLst/>
          </a:prstGeom>
        </p:spPr>
      </p:pic>
      <p:sp>
        <p:nvSpPr>
          <p:cNvPr id="11" name="TextBox 10"/>
          <p:cNvSpPr txBox="1"/>
          <p:nvPr/>
        </p:nvSpPr>
        <p:spPr>
          <a:xfrm>
            <a:off x="1353312" y="2999232"/>
            <a:ext cx="5029200" cy="530352"/>
          </a:xfrm>
          <a:prstGeom prst="rect">
            <a:avLst/>
          </a:prstGeom>
          <a:noFill/>
        </p:spPr>
        <p:txBody>
          <a:bodyPr wrap="square" anchor="ctr" lIns="0" rIns="0" tIns="0" bIns="0">
            <a:spAutoFit/>
          </a:bodyPr>
          <a:lstStyle/>
          <a:p>
            <a:pPr algn="l">
              <a:lnSpc>
                <a:spcPct val="106000"/>
              </a:lnSpc>
              <a:spcBef>
                <a:spcPts val="0"/>
              </a:spcBef>
              <a:spcAft>
                <a:spcPts val="0"/>
              </a:spcAft>
            </a:pPr>
            <a:r>
              <a:rPr sz="1200" b="0">
                <a:solidFill>
                  <a:srgbClr val="1A1A1A"/>
                </a:solidFill>
                <a:latin typeface="Red Hat Text"/>
              </a:rPr>
              <a:t>Pipeline: an ordered graph of Tasks (the recipe)</a:t>
            </a:r>
          </a:p>
        </p:txBody>
      </p:sp>
      <p:sp>
        <p:nvSpPr>
          <p:cNvPr id="12" name="Rounded Rectangle 11"/>
          <p:cNvSpPr/>
          <p:nvPr/>
        </p:nvSpPr>
        <p:spPr>
          <a:xfrm>
            <a:off x="841248" y="3602736"/>
            <a:ext cx="5715000" cy="530352"/>
          </a:xfrm>
          <a:prstGeom prst="roundRect">
            <a:avLst>
              <a:gd name="adj" fmla="val 6000"/>
            </a:avLst>
          </a:prstGeom>
          <a:solidFill>
            <a:srgbClr val="F5F6F8"/>
          </a:solidFill>
          <a:ln w="12700">
            <a:solidFill>
              <a:srgbClr val="DDE1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3" name="Picture 12" descr="check_steel.png"/>
          <p:cNvPicPr>
            <a:picLocks noChangeAspect="1"/>
          </p:cNvPicPr>
          <p:nvPr/>
        </p:nvPicPr>
        <p:blipFill>
          <a:blip r:embed="rId3"/>
          <a:stretch>
            <a:fillRect/>
          </a:stretch>
        </p:blipFill>
        <p:spPr>
          <a:xfrm>
            <a:off x="987552" y="3749040"/>
            <a:ext cx="237744" cy="237744"/>
          </a:xfrm>
          <a:prstGeom prst="rect">
            <a:avLst/>
          </a:prstGeom>
        </p:spPr>
      </p:pic>
      <p:sp>
        <p:nvSpPr>
          <p:cNvPr id="14" name="TextBox 13"/>
          <p:cNvSpPr txBox="1"/>
          <p:nvPr/>
        </p:nvSpPr>
        <p:spPr>
          <a:xfrm>
            <a:off x="1353312" y="3602736"/>
            <a:ext cx="5029200" cy="530352"/>
          </a:xfrm>
          <a:prstGeom prst="rect">
            <a:avLst/>
          </a:prstGeom>
          <a:noFill/>
        </p:spPr>
        <p:txBody>
          <a:bodyPr wrap="square" anchor="ctr" lIns="0" rIns="0" tIns="0" bIns="0">
            <a:spAutoFit/>
          </a:bodyPr>
          <a:lstStyle/>
          <a:p>
            <a:pPr algn="l">
              <a:lnSpc>
                <a:spcPct val="106000"/>
              </a:lnSpc>
              <a:spcBef>
                <a:spcPts val="0"/>
              </a:spcBef>
              <a:spcAft>
                <a:spcPts val="0"/>
              </a:spcAft>
            </a:pPr>
            <a:r>
              <a:rPr sz="1200" b="0">
                <a:solidFill>
                  <a:srgbClr val="1A1A1A"/>
                </a:solidFill>
                <a:latin typeface="Red Hat Text"/>
              </a:rPr>
              <a:t>PipelineRun: one execution (recipe meets reality)</a:t>
            </a:r>
          </a:p>
        </p:txBody>
      </p:sp>
      <p:sp>
        <p:nvSpPr>
          <p:cNvPr id="15" name="Rounded Rectangle 14"/>
          <p:cNvSpPr/>
          <p:nvPr/>
        </p:nvSpPr>
        <p:spPr>
          <a:xfrm>
            <a:off x="841248" y="4206240"/>
            <a:ext cx="5715000" cy="530352"/>
          </a:xfrm>
          <a:prstGeom prst="roundRect">
            <a:avLst>
              <a:gd name="adj" fmla="val 6000"/>
            </a:avLst>
          </a:prstGeom>
          <a:solidFill>
            <a:srgbClr val="F5F6F8"/>
          </a:solidFill>
          <a:ln w="12700">
            <a:solidFill>
              <a:srgbClr val="DDE1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6" name="Picture 15" descr="check_steel.png"/>
          <p:cNvPicPr>
            <a:picLocks noChangeAspect="1"/>
          </p:cNvPicPr>
          <p:nvPr/>
        </p:nvPicPr>
        <p:blipFill>
          <a:blip r:embed="rId3"/>
          <a:stretch>
            <a:fillRect/>
          </a:stretch>
        </p:blipFill>
        <p:spPr>
          <a:xfrm>
            <a:off x="987552" y="4352544"/>
            <a:ext cx="237744" cy="237744"/>
          </a:xfrm>
          <a:prstGeom prst="rect">
            <a:avLst/>
          </a:prstGeom>
        </p:spPr>
      </p:pic>
      <p:sp>
        <p:nvSpPr>
          <p:cNvPr id="17" name="TextBox 16"/>
          <p:cNvSpPr txBox="1"/>
          <p:nvPr/>
        </p:nvSpPr>
        <p:spPr>
          <a:xfrm>
            <a:off x="1353312" y="4206240"/>
            <a:ext cx="5029200" cy="530352"/>
          </a:xfrm>
          <a:prstGeom prst="rect">
            <a:avLst/>
          </a:prstGeom>
          <a:noFill/>
        </p:spPr>
        <p:txBody>
          <a:bodyPr wrap="square" anchor="ctr" lIns="0" rIns="0" tIns="0" bIns="0">
            <a:spAutoFit/>
          </a:bodyPr>
          <a:lstStyle/>
          <a:p>
            <a:pPr algn="l">
              <a:lnSpc>
                <a:spcPct val="106000"/>
              </a:lnSpc>
              <a:spcBef>
                <a:spcPts val="0"/>
              </a:spcBef>
              <a:spcAft>
                <a:spcPts val="0"/>
              </a:spcAft>
            </a:pPr>
            <a:r>
              <a:rPr sz="1200" b="0">
                <a:solidFill>
                  <a:srgbClr val="1A1A1A"/>
                </a:solidFill>
                <a:latin typeface="Red Hat Text"/>
              </a:rPr>
              <a:t>Reusable via params, workspaces, results</a:t>
            </a:r>
          </a:p>
        </p:txBody>
      </p:sp>
      <p:sp>
        <p:nvSpPr>
          <p:cNvPr id="18" name="Rounded Rectangle 17"/>
          <p:cNvSpPr/>
          <p:nvPr/>
        </p:nvSpPr>
        <p:spPr>
          <a:xfrm>
            <a:off x="841248" y="4809744"/>
            <a:ext cx="5715000" cy="530352"/>
          </a:xfrm>
          <a:prstGeom prst="roundRect">
            <a:avLst>
              <a:gd name="adj" fmla="val 6000"/>
            </a:avLst>
          </a:prstGeom>
          <a:solidFill>
            <a:srgbClr val="F5F6F8"/>
          </a:solidFill>
          <a:ln w="12700">
            <a:solidFill>
              <a:srgbClr val="DDE1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9" name="Picture 18" descr="check_steel.png"/>
          <p:cNvPicPr>
            <a:picLocks noChangeAspect="1"/>
          </p:cNvPicPr>
          <p:nvPr/>
        </p:nvPicPr>
        <p:blipFill>
          <a:blip r:embed="rId3"/>
          <a:stretch>
            <a:fillRect/>
          </a:stretch>
        </p:blipFill>
        <p:spPr>
          <a:xfrm>
            <a:off x="987552" y="4956048"/>
            <a:ext cx="237744" cy="237744"/>
          </a:xfrm>
          <a:prstGeom prst="rect">
            <a:avLst/>
          </a:prstGeom>
        </p:spPr>
      </p:pic>
      <p:sp>
        <p:nvSpPr>
          <p:cNvPr id="20" name="TextBox 19"/>
          <p:cNvSpPr txBox="1"/>
          <p:nvPr/>
        </p:nvSpPr>
        <p:spPr>
          <a:xfrm>
            <a:off x="1353312" y="4809744"/>
            <a:ext cx="5029200" cy="530352"/>
          </a:xfrm>
          <a:prstGeom prst="rect">
            <a:avLst/>
          </a:prstGeom>
          <a:noFill/>
        </p:spPr>
        <p:txBody>
          <a:bodyPr wrap="square" anchor="ctr" lIns="0" rIns="0" tIns="0" bIns="0">
            <a:spAutoFit/>
          </a:bodyPr>
          <a:lstStyle/>
          <a:p>
            <a:pPr algn="l">
              <a:lnSpc>
                <a:spcPct val="106000"/>
              </a:lnSpc>
              <a:spcBef>
                <a:spcPts val="0"/>
              </a:spcBef>
              <a:spcAft>
                <a:spcPts val="0"/>
              </a:spcAft>
            </a:pPr>
            <a:r>
              <a:rPr sz="1200" b="0">
                <a:solidFill>
                  <a:srgbClr val="1A1A1A"/>
                </a:solidFill>
                <a:latin typeface="Red Hat Text"/>
              </a:rPr>
              <a:t>Params in, files shared, facts out</a:t>
            </a:r>
          </a:p>
        </p:txBody>
      </p:sp>
      <p:sp>
        <p:nvSpPr>
          <p:cNvPr id="21" name="Rounded Rectangle 20"/>
          <p:cNvSpPr/>
          <p:nvPr/>
        </p:nvSpPr>
        <p:spPr>
          <a:xfrm>
            <a:off x="6812280" y="2395728"/>
            <a:ext cx="4538167" cy="2944368"/>
          </a:xfrm>
          <a:prstGeom prst="roundRect">
            <a:avLst>
              <a:gd name="adj" fmla="val 4000"/>
            </a:avLst>
          </a:prstGeom>
          <a:solidFill>
            <a:srgbClr val="FFFFFF"/>
          </a:solidFill>
          <a:ln w="15240">
            <a:solidFill>
              <a:srgbClr val="DDE1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ounded Rectangle 21"/>
          <p:cNvSpPr/>
          <p:nvPr/>
        </p:nvSpPr>
        <p:spPr>
          <a:xfrm>
            <a:off x="7013448" y="2596896"/>
            <a:ext cx="1298448" cy="310896"/>
          </a:xfrm>
          <a:prstGeom prst="roundRect">
            <a:avLst>
              <a:gd name="adj" fmla="val 50000"/>
            </a:avLst>
          </a:prstGeom>
          <a:solidFill>
            <a:srgbClr val="FCEC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7013448" y="2596896"/>
            <a:ext cx="1298448" cy="310896"/>
          </a:xfrm>
          <a:prstGeom prst="rect">
            <a:avLst/>
          </a:prstGeom>
          <a:noFill/>
        </p:spPr>
        <p:txBody>
          <a:bodyPr wrap="none" anchor="ctr" lIns="0" rIns="0" tIns="0" bIns="0">
            <a:spAutoFit/>
          </a:bodyPr>
          <a:lstStyle/>
          <a:p>
            <a:pPr algn="ctr">
              <a:lnSpc>
                <a:spcPct val="106000"/>
              </a:lnSpc>
              <a:spcBef>
                <a:spcPts val="0"/>
              </a:spcBef>
              <a:spcAft>
                <a:spcPts val="0"/>
              </a:spcAft>
            </a:pPr>
            <a:r>
              <a:rPr sz="850" b="1">
                <a:solidFill>
                  <a:srgbClr val="B80000"/>
                </a:solidFill>
                <a:latin typeface="Red Hat Display"/>
              </a:rPr>
              <a:t>MEDIA PASS</a:t>
            </a:r>
          </a:p>
        </p:txBody>
      </p:sp>
      <p:pic>
        <p:nvPicPr>
          <p:cNvPr id="24" name="Picture 23" descr="eye_slate.png"/>
          <p:cNvPicPr>
            <a:picLocks noChangeAspect="1"/>
          </p:cNvPicPr>
          <p:nvPr/>
        </p:nvPicPr>
        <p:blipFill>
          <a:blip r:embed="rId4"/>
          <a:stretch>
            <a:fillRect/>
          </a:stretch>
        </p:blipFill>
        <p:spPr>
          <a:xfrm>
            <a:off x="8843619" y="3108960"/>
            <a:ext cx="475488" cy="475488"/>
          </a:xfrm>
          <a:prstGeom prst="rect">
            <a:avLst/>
          </a:prstGeom>
        </p:spPr>
      </p:pic>
      <p:sp>
        <p:nvSpPr>
          <p:cNvPr id="25" name="TextBox 24"/>
          <p:cNvSpPr txBox="1"/>
          <p:nvPr/>
        </p:nvSpPr>
        <p:spPr>
          <a:xfrm>
            <a:off x="7050024" y="3721608"/>
            <a:ext cx="4062679" cy="1481328"/>
          </a:xfrm>
          <a:prstGeom prst="rect">
            <a:avLst/>
          </a:prstGeom>
          <a:noFill/>
        </p:spPr>
        <p:txBody>
          <a:bodyPr wrap="square" anchor="t" lIns="0" rIns="0" tIns="0" bIns="0">
            <a:spAutoFit/>
          </a:bodyPr>
          <a:lstStyle/>
          <a:p>
            <a:pPr algn="l">
              <a:lnSpc>
                <a:spcPct val="120000"/>
              </a:lnSpc>
              <a:spcBef>
                <a:spcPts val="0"/>
              </a:spcBef>
              <a:spcAft>
                <a:spcPts val="0"/>
              </a:spcAft>
            </a:pPr>
            <a:r>
              <a:rPr sz="950" b="0">
                <a:solidFill>
                  <a:srgbClr val="8A9099"/>
                </a:solidFill>
                <a:latin typeface="Red Hat Text"/>
              </a:rPr>
              <a:t>Reuse concept diagram pipelines-fundamentals-...-01 (top half) — Task → Pipeline → PipelineRun with params-in / workspace / results-out labels.</a:t>
            </a:r>
          </a:p>
        </p:txBody>
      </p:sp>
      <p:cxnSp>
        <p:nvCxnSpPr>
          <p:cNvPr id="26" name="Connector 25"/>
          <p:cNvCxnSpPr/>
          <p:nvPr/>
        </p:nvCxnSpPr>
        <p:spPr>
          <a:xfrm>
            <a:off x="841248" y="6437376"/>
            <a:ext cx="10509199" cy="0"/>
          </a:xfrm>
          <a:prstGeom prst="bentConnector3">
            <a:avLst/>
          </a:prstGeom>
          <a:ln w="12700">
            <a:solidFill>
              <a:srgbClr val="DDE1E6"/>
            </a:solidFill>
          </a:ln>
          <a:effectLst/>
        </p:spPr>
        <p:style>
          <a:lnRef idx="2">
            <a:schemeClr val="accent1"/>
          </a:lnRef>
          <a:fillRef idx="0">
            <a:schemeClr val="accent1"/>
          </a:fillRef>
          <a:effectRef idx="1">
            <a:schemeClr val="accent1"/>
          </a:effectRef>
          <a:fontRef idx="minor">
            <a:schemeClr val="tx1"/>
          </a:fontRef>
        </p:style>
      </p:cxnSp>
      <p:sp>
        <p:nvSpPr>
          <p:cNvPr id="27" name="TextBox 26"/>
          <p:cNvSpPr txBox="1"/>
          <p:nvPr/>
        </p:nvSpPr>
        <p:spPr>
          <a:xfrm>
            <a:off x="841248" y="6473952"/>
            <a:ext cx="7315200" cy="274320"/>
          </a:xfrm>
          <a:prstGeom prst="rect">
            <a:avLst/>
          </a:prstGeom>
          <a:noFill/>
        </p:spPr>
        <p:txBody>
          <a:bodyPr wrap="square" anchor="t" lIns="0" rIns="0" tIns="0" bIns="0">
            <a:spAutoFit/>
          </a:bodyPr>
          <a:lstStyle/>
          <a:p>
            <a:pPr algn="l">
              <a:lnSpc>
                <a:spcPct val="106000"/>
              </a:lnSpc>
              <a:spcBef>
                <a:spcPts val="0"/>
              </a:spcBef>
              <a:spcAft>
                <a:spcPts val="0"/>
              </a:spcAft>
            </a:pPr>
            <a:r>
              <a:rPr sz="950" b="0">
                <a:solidFill>
                  <a:srgbClr val="8A9099"/>
                </a:solidFill>
                <a:latin typeface="Red Hat Text"/>
              </a:rPr>
              <a:t>CONFIDENTIAL</a:t>
            </a:r>
          </a:p>
        </p:txBody>
      </p:sp>
      <p:sp>
        <p:nvSpPr>
          <p:cNvPr id="28" name="TextBox 27"/>
          <p:cNvSpPr txBox="1"/>
          <p:nvPr/>
        </p:nvSpPr>
        <p:spPr>
          <a:xfrm>
            <a:off x="10801807" y="6473952"/>
            <a:ext cx="548640" cy="274320"/>
          </a:xfrm>
          <a:prstGeom prst="rect">
            <a:avLst/>
          </a:prstGeom>
          <a:noFill/>
        </p:spPr>
        <p:txBody>
          <a:bodyPr wrap="square" anchor="t" lIns="0" rIns="0" tIns="0" bIns="0">
            <a:spAutoFit/>
          </a:bodyPr>
          <a:lstStyle/>
          <a:p>
            <a:pPr algn="r">
              <a:lnSpc>
                <a:spcPct val="106000"/>
              </a:lnSpc>
              <a:spcBef>
                <a:spcPts val="0"/>
              </a:spcBef>
              <a:spcAft>
                <a:spcPts val="0"/>
              </a:spcAft>
            </a:pPr>
            <a:r>
              <a:rPr sz="950" b="0">
                <a:solidFill>
                  <a:srgbClr val="8A9099"/>
                </a:solidFill>
                <a:latin typeface="Red Hat Text"/>
              </a:rPr>
              <a:t>44</a:t>
            </a:r>
          </a:p>
        </p:txBody>
      </p:sp>
    </p:spTree>
  </p:cSld>
  <p:clrMapOvr>
    <a:masterClrMapping/>
  </p:clrMapOvr>
</p:sld>
</file>

<file path=ppt/slides/slide5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redhat_logo.jpg"/>
          <p:cNvPicPr>
            <a:picLocks noChangeAspect="1"/>
          </p:cNvPicPr>
          <p:nvPr/>
        </p:nvPicPr>
        <p:blipFill>
          <a:blip r:embed="rId2"/>
          <a:stretch>
            <a:fillRect/>
          </a:stretch>
        </p:blipFill>
        <p:spPr>
          <a:xfrm>
            <a:off x="10326319" y="475488"/>
            <a:ext cx="1024128" cy="242248"/>
          </a:xfrm>
          <a:prstGeom prst="rect">
            <a:avLst/>
          </a:prstGeom>
        </p:spPr>
      </p:pic>
      <p:sp>
        <p:nvSpPr>
          <p:cNvPr id="3" name="TextBox 2"/>
          <p:cNvSpPr txBox="1"/>
          <p:nvPr/>
        </p:nvSpPr>
        <p:spPr>
          <a:xfrm>
            <a:off x="841248" y="548640"/>
            <a:ext cx="8595360" cy="274320"/>
          </a:xfrm>
          <a:prstGeom prst="rect">
            <a:avLst/>
          </a:prstGeom>
          <a:noFill/>
        </p:spPr>
        <p:txBody>
          <a:bodyPr wrap="square" anchor="t" lIns="0" rIns="0" tIns="0" bIns="0">
            <a:spAutoFit/>
          </a:bodyPr>
          <a:lstStyle/>
          <a:p>
            <a:pPr algn="l">
              <a:lnSpc>
                <a:spcPct val="106000"/>
              </a:lnSpc>
              <a:spcBef>
                <a:spcPts val="0"/>
              </a:spcBef>
              <a:spcAft>
                <a:spcPts val="0"/>
              </a:spcAft>
            </a:pPr>
            <a:r>
              <a:rPr sz="1250" b="1" spc="220">
                <a:solidFill>
                  <a:srgbClr val="EE0000"/>
                </a:solidFill>
                <a:latin typeface="Red Hat Display"/>
              </a:rPr>
              <a:t>M07 · PIPELINES FUNDAMENTALS &amp; TASK LIBRARIES</a:t>
            </a:r>
          </a:p>
        </p:txBody>
      </p:sp>
      <p:sp>
        <p:nvSpPr>
          <p:cNvPr id="4" name="TextBox 3"/>
          <p:cNvSpPr txBox="1"/>
          <p:nvPr/>
        </p:nvSpPr>
        <p:spPr>
          <a:xfrm>
            <a:off x="841248" y="877824"/>
            <a:ext cx="10515600" cy="548640"/>
          </a:xfrm>
          <a:prstGeom prst="rect">
            <a:avLst/>
          </a:prstGeom>
          <a:noFill/>
        </p:spPr>
        <p:txBody>
          <a:bodyPr wrap="none" anchor="t" lIns="0" rIns="0" tIns="0" bIns="0">
            <a:spAutoFit/>
          </a:bodyPr>
          <a:lstStyle/>
          <a:p>
            <a:pPr algn="l">
              <a:lnSpc>
                <a:spcPct val="100000"/>
              </a:lnSpc>
              <a:spcBef>
                <a:spcPts val="0"/>
              </a:spcBef>
              <a:spcAft>
                <a:spcPts val="0"/>
              </a:spcAft>
            </a:pPr>
            <a:r>
              <a:rPr sz="2500" b="1">
                <a:solidFill>
                  <a:srgbClr val="1A1A1A"/>
                </a:solidFill>
                <a:latin typeface="Red Hat Display"/>
              </a:rPr>
              <a:t>Three reuse layers</a:t>
            </a:r>
          </a:p>
        </p:txBody>
      </p:sp>
      <p:cxnSp>
        <p:nvCxnSpPr>
          <p:cNvPr id="5" name="Connector 4"/>
          <p:cNvCxnSpPr/>
          <p:nvPr/>
        </p:nvCxnSpPr>
        <p:spPr>
          <a:xfrm>
            <a:off x="841248" y="1554480"/>
            <a:ext cx="1371600" cy="0"/>
          </a:xfrm>
          <a:prstGeom prst="bentConnector3">
            <a:avLst/>
          </a:prstGeom>
          <a:ln w="31750">
            <a:solidFill>
              <a:srgbClr val="EE0000"/>
            </a:solidFill>
          </a:ln>
          <a:effectLst/>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841248" y="1664208"/>
            <a:ext cx="10515600" cy="365760"/>
          </a:xfrm>
          <a:prstGeom prst="rect">
            <a:avLst/>
          </a:prstGeom>
          <a:noFill/>
        </p:spPr>
        <p:txBody>
          <a:bodyPr wrap="square" anchor="t" lIns="0" rIns="0" tIns="0" bIns="0">
            <a:spAutoFit/>
          </a:bodyPr>
          <a:lstStyle/>
          <a:p>
            <a:pPr algn="l">
              <a:lnSpc>
                <a:spcPct val="106000"/>
              </a:lnSpc>
              <a:spcBef>
                <a:spcPts val="0"/>
              </a:spcBef>
              <a:spcAft>
                <a:spcPts val="0"/>
              </a:spcAft>
            </a:pPr>
            <a:r>
              <a:rPr sz="1350" b="0">
                <a:solidFill>
                  <a:srgbClr val="555960"/>
                </a:solidFill>
                <a:latin typeface="Red Hat Text"/>
              </a:rPr>
              <a:t>wired by the cluster resolver</a:t>
            </a:r>
          </a:p>
        </p:txBody>
      </p:sp>
      <p:sp>
        <p:nvSpPr>
          <p:cNvPr id="7" name="Rounded Rectangle 6"/>
          <p:cNvSpPr/>
          <p:nvPr/>
        </p:nvSpPr>
        <p:spPr>
          <a:xfrm>
            <a:off x="841248" y="2670048"/>
            <a:ext cx="5715000" cy="530352"/>
          </a:xfrm>
          <a:prstGeom prst="roundRect">
            <a:avLst>
              <a:gd name="adj" fmla="val 6000"/>
            </a:avLst>
          </a:prstGeom>
          <a:solidFill>
            <a:srgbClr val="F5F6F8"/>
          </a:solidFill>
          <a:ln w="12700">
            <a:solidFill>
              <a:srgbClr val="DDE1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check_steel.png"/>
          <p:cNvPicPr>
            <a:picLocks noChangeAspect="1"/>
          </p:cNvPicPr>
          <p:nvPr/>
        </p:nvPicPr>
        <p:blipFill>
          <a:blip r:embed="rId3"/>
          <a:stretch>
            <a:fillRect/>
          </a:stretch>
        </p:blipFill>
        <p:spPr>
          <a:xfrm>
            <a:off x="987552" y="2816352"/>
            <a:ext cx="237744" cy="237744"/>
          </a:xfrm>
          <a:prstGeom prst="rect">
            <a:avLst/>
          </a:prstGeom>
        </p:spPr>
      </p:pic>
      <p:sp>
        <p:nvSpPr>
          <p:cNvPr id="9" name="TextBox 8"/>
          <p:cNvSpPr txBox="1"/>
          <p:nvPr/>
        </p:nvSpPr>
        <p:spPr>
          <a:xfrm>
            <a:off x="1353312" y="2670048"/>
            <a:ext cx="5029200" cy="530352"/>
          </a:xfrm>
          <a:prstGeom prst="rect">
            <a:avLst/>
          </a:prstGeom>
          <a:noFill/>
        </p:spPr>
        <p:txBody>
          <a:bodyPr wrap="square" anchor="ctr" lIns="0" rIns="0" tIns="0" bIns="0">
            <a:spAutoFit/>
          </a:bodyPr>
          <a:lstStyle/>
          <a:p>
            <a:pPr algn="l">
              <a:lnSpc>
                <a:spcPct val="106000"/>
              </a:lnSpc>
              <a:spcBef>
                <a:spcPts val="0"/>
              </a:spcBef>
              <a:spcAft>
                <a:spcPts val="0"/>
              </a:spcAft>
            </a:pPr>
            <a:r>
              <a:rPr sz="1200" b="0">
                <a:solidFill>
                  <a:srgbClr val="1A1A1A"/>
                </a:solidFill>
                <a:latin typeface="Red Hat Text"/>
              </a:rPr>
              <a:t>Catalog Tasks: shipped, ~40, you never maintain</a:t>
            </a:r>
          </a:p>
        </p:txBody>
      </p:sp>
      <p:sp>
        <p:nvSpPr>
          <p:cNvPr id="10" name="Rounded Rectangle 9"/>
          <p:cNvSpPr/>
          <p:nvPr/>
        </p:nvSpPr>
        <p:spPr>
          <a:xfrm>
            <a:off x="841248" y="3273552"/>
            <a:ext cx="5715000" cy="530352"/>
          </a:xfrm>
          <a:prstGeom prst="roundRect">
            <a:avLst>
              <a:gd name="adj" fmla="val 6000"/>
            </a:avLst>
          </a:prstGeom>
          <a:solidFill>
            <a:srgbClr val="F5F6F8"/>
          </a:solidFill>
          <a:ln w="12700">
            <a:solidFill>
              <a:srgbClr val="DDE1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1" name="Picture 10" descr="check_steel.png"/>
          <p:cNvPicPr>
            <a:picLocks noChangeAspect="1"/>
          </p:cNvPicPr>
          <p:nvPr/>
        </p:nvPicPr>
        <p:blipFill>
          <a:blip r:embed="rId3"/>
          <a:stretch>
            <a:fillRect/>
          </a:stretch>
        </p:blipFill>
        <p:spPr>
          <a:xfrm>
            <a:off x="987552" y="3419856"/>
            <a:ext cx="237744" cy="237744"/>
          </a:xfrm>
          <a:prstGeom prst="rect">
            <a:avLst/>
          </a:prstGeom>
        </p:spPr>
      </p:pic>
      <p:sp>
        <p:nvSpPr>
          <p:cNvPr id="12" name="TextBox 11"/>
          <p:cNvSpPr txBox="1"/>
          <p:nvPr/>
        </p:nvSpPr>
        <p:spPr>
          <a:xfrm>
            <a:off x="1353312" y="3273552"/>
            <a:ext cx="5029200" cy="530352"/>
          </a:xfrm>
          <a:prstGeom prst="rect">
            <a:avLst/>
          </a:prstGeom>
          <a:noFill/>
        </p:spPr>
        <p:txBody>
          <a:bodyPr wrap="square" anchor="ctr" lIns="0" rIns="0" tIns="0" bIns="0">
            <a:spAutoFit/>
          </a:bodyPr>
          <a:lstStyle/>
          <a:p>
            <a:pPr algn="l">
              <a:lnSpc>
                <a:spcPct val="106000"/>
              </a:lnSpc>
              <a:spcBef>
                <a:spcPts val="0"/>
              </a:spcBef>
              <a:spcAft>
                <a:spcPts val="0"/>
              </a:spcAft>
            </a:pPr>
            <a:r>
              <a:rPr sz="1200" b="0">
                <a:solidFill>
                  <a:srgbClr val="1A1A1A"/>
                </a:solidFill>
                <a:latin typeface="Red Hat Text"/>
              </a:rPr>
              <a:t>Org library: your platform team curates</a:t>
            </a:r>
          </a:p>
        </p:txBody>
      </p:sp>
      <p:sp>
        <p:nvSpPr>
          <p:cNvPr id="13" name="Rounded Rectangle 12"/>
          <p:cNvSpPr/>
          <p:nvPr/>
        </p:nvSpPr>
        <p:spPr>
          <a:xfrm>
            <a:off x="841248" y="3877056"/>
            <a:ext cx="5715000" cy="530352"/>
          </a:xfrm>
          <a:prstGeom prst="roundRect">
            <a:avLst>
              <a:gd name="adj" fmla="val 6000"/>
            </a:avLst>
          </a:prstGeom>
          <a:solidFill>
            <a:srgbClr val="F5F6F8"/>
          </a:solidFill>
          <a:ln w="12700">
            <a:solidFill>
              <a:srgbClr val="DDE1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4" name="Picture 13" descr="check_steel.png"/>
          <p:cNvPicPr>
            <a:picLocks noChangeAspect="1"/>
          </p:cNvPicPr>
          <p:nvPr/>
        </p:nvPicPr>
        <p:blipFill>
          <a:blip r:embed="rId3"/>
          <a:stretch>
            <a:fillRect/>
          </a:stretch>
        </p:blipFill>
        <p:spPr>
          <a:xfrm>
            <a:off x="987552" y="4023360"/>
            <a:ext cx="237744" cy="237744"/>
          </a:xfrm>
          <a:prstGeom prst="rect">
            <a:avLst/>
          </a:prstGeom>
        </p:spPr>
      </p:pic>
      <p:sp>
        <p:nvSpPr>
          <p:cNvPr id="15" name="TextBox 14"/>
          <p:cNvSpPr txBox="1"/>
          <p:nvPr/>
        </p:nvSpPr>
        <p:spPr>
          <a:xfrm>
            <a:off x="1353312" y="3877056"/>
            <a:ext cx="5029200" cy="530352"/>
          </a:xfrm>
          <a:prstGeom prst="rect">
            <a:avLst/>
          </a:prstGeom>
          <a:noFill/>
        </p:spPr>
        <p:txBody>
          <a:bodyPr wrap="square" anchor="ctr" lIns="0" rIns="0" tIns="0" bIns="0">
            <a:spAutoFit/>
          </a:bodyPr>
          <a:lstStyle/>
          <a:p>
            <a:pPr algn="l">
              <a:lnSpc>
                <a:spcPct val="106000"/>
              </a:lnSpc>
              <a:spcBef>
                <a:spcPts val="0"/>
              </a:spcBef>
              <a:spcAft>
                <a:spcPts val="0"/>
              </a:spcAft>
            </a:pPr>
            <a:r>
              <a:rPr sz="1200" b="0">
                <a:solidFill>
                  <a:srgbClr val="1A1A1A"/>
                </a:solidFill>
                <a:latin typeface="Red Hat Text"/>
              </a:rPr>
              <a:t>App pipeline: the one thing that's yours</a:t>
            </a:r>
          </a:p>
        </p:txBody>
      </p:sp>
      <p:sp>
        <p:nvSpPr>
          <p:cNvPr id="16" name="Rounded Rectangle 15"/>
          <p:cNvSpPr/>
          <p:nvPr/>
        </p:nvSpPr>
        <p:spPr>
          <a:xfrm>
            <a:off x="841248" y="4480560"/>
            <a:ext cx="5715000" cy="530352"/>
          </a:xfrm>
          <a:prstGeom prst="roundRect">
            <a:avLst>
              <a:gd name="adj" fmla="val 6000"/>
            </a:avLst>
          </a:prstGeom>
          <a:solidFill>
            <a:srgbClr val="F5F6F8"/>
          </a:solidFill>
          <a:ln w="12700">
            <a:solidFill>
              <a:srgbClr val="DDE1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7" name="Picture 16" descr="check_steel.png"/>
          <p:cNvPicPr>
            <a:picLocks noChangeAspect="1"/>
          </p:cNvPicPr>
          <p:nvPr/>
        </p:nvPicPr>
        <p:blipFill>
          <a:blip r:embed="rId3"/>
          <a:stretch>
            <a:fillRect/>
          </a:stretch>
        </p:blipFill>
        <p:spPr>
          <a:xfrm>
            <a:off x="987552" y="4626864"/>
            <a:ext cx="237744" cy="237744"/>
          </a:xfrm>
          <a:prstGeom prst="rect">
            <a:avLst/>
          </a:prstGeom>
        </p:spPr>
      </p:pic>
      <p:sp>
        <p:nvSpPr>
          <p:cNvPr id="18" name="TextBox 17"/>
          <p:cNvSpPr txBox="1"/>
          <p:nvPr/>
        </p:nvSpPr>
        <p:spPr>
          <a:xfrm>
            <a:off x="1353312" y="4480560"/>
            <a:ext cx="5029200" cy="530352"/>
          </a:xfrm>
          <a:prstGeom prst="rect">
            <a:avLst/>
          </a:prstGeom>
          <a:noFill/>
        </p:spPr>
        <p:txBody>
          <a:bodyPr wrap="square" anchor="ctr" lIns="0" rIns="0" tIns="0" bIns="0">
            <a:spAutoFit/>
          </a:bodyPr>
          <a:lstStyle/>
          <a:p>
            <a:pPr algn="l">
              <a:lnSpc>
                <a:spcPct val="106000"/>
              </a:lnSpc>
              <a:spcBef>
                <a:spcPts val="0"/>
              </a:spcBef>
              <a:spcAft>
                <a:spcPts val="0"/>
              </a:spcAft>
            </a:pPr>
            <a:r>
              <a:rPr sz="1200" b="0">
                <a:solidFill>
                  <a:srgbClr val="1A1A1A"/>
                </a:solidFill>
                <a:latin typeface="Red Hat Text"/>
              </a:rPr>
              <a:t>resolver: cluster — reference, don't copy</a:t>
            </a:r>
          </a:p>
        </p:txBody>
      </p:sp>
      <p:sp>
        <p:nvSpPr>
          <p:cNvPr id="19" name="Rounded Rectangle 18"/>
          <p:cNvSpPr/>
          <p:nvPr/>
        </p:nvSpPr>
        <p:spPr>
          <a:xfrm>
            <a:off x="841248" y="5084064"/>
            <a:ext cx="5715000" cy="530352"/>
          </a:xfrm>
          <a:prstGeom prst="roundRect">
            <a:avLst>
              <a:gd name="adj" fmla="val 6000"/>
            </a:avLst>
          </a:prstGeom>
          <a:solidFill>
            <a:srgbClr val="F5F6F8"/>
          </a:solidFill>
          <a:ln w="12700">
            <a:solidFill>
              <a:srgbClr val="DDE1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0" name="Picture 19" descr="check_steel.png"/>
          <p:cNvPicPr>
            <a:picLocks noChangeAspect="1"/>
          </p:cNvPicPr>
          <p:nvPr/>
        </p:nvPicPr>
        <p:blipFill>
          <a:blip r:embed="rId3"/>
          <a:stretch>
            <a:fillRect/>
          </a:stretch>
        </p:blipFill>
        <p:spPr>
          <a:xfrm>
            <a:off x="987552" y="5230368"/>
            <a:ext cx="237744" cy="237744"/>
          </a:xfrm>
          <a:prstGeom prst="rect">
            <a:avLst/>
          </a:prstGeom>
        </p:spPr>
      </p:pic>
      <p:sp>
        <p:nvSpPr>
          <p:cNvPr id="21" name="TextBox 20"/>
          <p:cNvSpPr txBox="1"/>
          <p:nvPr/>
        </p:nvSpPr>
        <p:spPr>
          <a:xfrm>
            <a:off x="1353312" y="5084064"/>
            <a:ext cx="5029200" cy="530352"/>
          </a:xfrm>
          <a:prstGeom prst="rect">
            <a:avLst/>
          </a:prstGeom>
          <a:noFill/>
        </p:spPr>
        <p:txBody>
          <a:bodyPr wrap="square" anchor="ctr" lIns="0" rIns="0" tIns="0" bIns="0">
            <a:spAutoFit/>
          </a:bodyPr>
          <a:lstStyle/>
          <a:p>
            <a:pPr algn="l">
              <a:lnSpc>
                <a:spcPct val="106000"/>
              </a:lnSpc>
              <a:spcBef>
                <a:spcPts val="0"/>
              </a:spcBef>
              <a:spcAft>
                <a:spcPts val="0"/>
              </a:spcAft>
            </a:pPr>
            <a:r>
              <a:rPr sz="1200" b="0">
                <a:solidFill>
                  <a:srgbClr val="1A1A1A"/>
                </a:solidFill>
                <a:latin typeface="Red Hat Text"/>
              </a:rPr>
              <a:t>ClusterTask is gone (1.17); resolver replaced it</a:t>
            </a:r>
          </a:p>
        </p:txBody>
      </p:sp>
      <p:sp>
        <p:nvSpPr>
          <p:cNvPr id="22" name="Rounded Rectangle 21"/>
          <p:cNvSpPr/>
          <p:nvPr/>
        </p:nvSpPr>
        <p:spPr>
          <a:xfrm>
            <a:off x="6812280" y="2670048"/>
            <a:ext cx="4538167" cy="2944368"/>
          </a:xfrm>
          <a:prstGeom prst="roundRect">
            <a:avLst>
              <a:gd name="adj" fmla="val 4000"/>
            </a:avLst>
          </a:prstGeom>
          <a:solidFill>
            <a:srgbClr val="FFFFFF"/>
          </a:solidFill>
          <a:ln w="15240">
            <a:solidFill>
              <a:srgbClr val="DDE1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ounded Rectangle 22"/>
          <p:cNvSpPr/>
          <p:nvPr/>
        </p:nvSpPr>
        <p:spPr>
          <a:xfrm>
            <a:off x="7013448" y="2871216"/>
            <a:ext cx="1298448" cy="310896"/>
          </a:xfrm>
          <a:prstGeom prst="roundRect">
            <a:avLst>
              <a:gd name="adj" fmla="val 50000"/>
            </a:avLst>
          </a:prstGeom>
          <a:solidFill>
            <a:srgbClr val="FCEC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7013448" y="2871216"/>
            <a:ext cx="1298448" cy="310896"/>
          </a:xfrm>
          <a:prstGeom prst="rect">
            <a:avLst/>
          </a:prstGeom>
          <a:noFill/>
        </p:spPr>
        <p:txBody>
          <a:bodyPr wrap="none" anchor="ctr" lIns="0" rIns="0" tIns="0" bIns="0">
            <a:spAutoFit/>
          </a:bodyPr>
          <a:lstStyle/>
          <a:p>
            <a:pPr algn="ctr">
              <a:lnSpc>
                <a:spcPct val="106000"/>
              </a:lnSpc>
              <a:spcBef>
                <a:spcPts val="0"/>
              </a:spcBef>
              <a:spcAft>
                <a:spcPts val="0"/>
              </a:spcAft>
            </a:pPr>
            <a:r>
              <a:rPr sz="850" b="1">
                <a:solidFill>
                  <a:srgbClr val="B80000"/>
                </a:solidFill>
                <a:latin typeface="Red Hat Display"/>
              </a:rPr>
              <a:t>MEDIA PASS</a:t>
            </a:r>
          </a:p>
        </p:txBody>
      </p:sp>
      <p:pic>
        <p:nvPicPr>
          <p:cNvPr id="25" name="Picture 24" descr="eye_slate.png"/>
          <p:cNvPicPr>
            <a:picLocks noChangeAspect="1"/>
          </p:cNvPicPr>
          <p:nvPr/>
        </p:nvPicPr>
        <p:blipFill>
          <a:blip r:embed="rId4"/>
          <a:stretch>
            <a:fillRect/>
          </a:stretch>
        </p:blipFill>
        <p:spPr>
          <a:xfrm>
            <a:off x="8843619" y="3383280"/>
            <a:ext cx="475488" cy="475488"/>
          </a:xfrm>
          <a:prstGeom prst="rect">
            <a:avLst/>
          </a:prstGeom>
        </p:spPr>
      </p:pic>
      <p:sp>
        <p:nvSpPr>
          <p:cNvPr id="26" name="TextBox 25"/>
          <p:cNvSpPr txBox="1"/>
          <p:nvPr/>
        </p:nvSpPr>
        <p:spPr>
          <a:xfrm>
            <a:off x="7050024" y="3995928"/>
            <a:ext cx="4062679" cy="1481328"/>
          </a:xfrm>
          <a:prstGeom prst="rect">
            <a:avLst/>
          </a:prstGeom>
          <a:noFill/>
        </p:spPr>
        <p:txBody>
          <a:bodyPr wrap="square" anchor="t" lIns="0" rIns="0" tIns="0" bIns="0">
            <a:spAutoFit/>
          </a:bodyPr>
          <a:lstStyle/>
          <a:p>
            <a:pPr algn="l">
              <a:lnSpc>
                <a:spcPct val="120000"/>
              </a:lnSpc>
              <a:spcBef>
                <a:spcPts val="0"/>
              </a:spcBef>
              <a:spcAft>
                <a:spcPts val="0"/>
              </a:spcAft>
            </a:pPr>
            <a:r>
              <a:rPr sz="950" b="0">
                <a:solidFill>
                  <a:srgbClr val="8A9099"/>
                </a:solidFill>
                <a:latin typeface="Red Hat Text"/>
              </a:rPr>
              <a:t>Reuse concept diagram pipelines-fundamentals-...-01 (full) — three colored layers, each Task dotted to a resolver: cluster arrow into the app pipeline.</a:t>
            </a:r>
          </a:p>
        </p:txBody>
      </p:sp>
      <p:cxnSp>
        <p:nvCxnSpPr>
          <p:cNvPr id="27" name="Connector 26"/>
          <p:cNvCxnSpPr/>
          <p:nvPr/>
        </p:nvCxnSpPr>
        <p:spPr>
          <a:xfrm>
            <a:off x="841248" y="6437376"/>
            <a:ext cx="10509199" cy="0"/>
          </a:xfrm>
          <a:prstGeom prst="bentConnector3">
            <a:avLst/>
          </a:prstGeom>
          <a:ln w="12700">
            <a:solidFill>
              <a:srgbClr val="DDE1E6"/>
            </a:solidFill>
          </a:ln>
          <a:effectLst/>
        </p:spPr>
        <p:style>
          <a:lnRef idx="2">
            <a:schemeClr val="accent1"/>
          </a:lnRef>
          <a:fillRef idx="0">
            <a:schemeClr val="accent1"/>
          </a:fillRef>
          <a:effectRef idx="1">
            <a:schemeClr val="accent1"/>
          </a:effectRef>
          <a:fontRef idx="minor">
            <a:schemeClr val="tx1"/>
          </a:fontRef>
        </p:style>
      </p:cxnSp>
      <p:sp>
        <p:nvSpPr>
          <p:cNvPr id="28" name="TextBox 27"/>
          <p:cNvSpPr txBox="1"/>
          <p:nvPr/>
        </p:nvSpPr>
        <p:spPr>
          <a:xfrm>
            <a:off x="841248" y="6473952"/>
            <a:ext cx="7315200" cy="274320"/>
          </a:xfrm>
          <a:prstGeom prst="rect">
            <a:avLst/>
          </a:prstGeom>
          <a:noFill/>
        </p:spPr>
        <p:txBody>
          <a:bodyPr wrap="square" anchor="t" lIns="0" rIns="0" tIns="0" bIns="0">
            <a:spAutoFit/>
          </a:bodyPr>
          <a:lstStyle/>
          <a:p>
            <a:pPr algn="l">
              <a:lnSpc>
                <a:spcPct val="106000"/>
              </a:lnSpc>
              <a:spcBef>
                <a:spcPts val="0"/>
              </a:spcBef>
              <a:spcAft>
                <a:spcPts val="0"/>
              </a:spcAft>
            </a:pPr>
            <a:r>
              <a:rPr sz="950" b="0">
                <a:solidFill>
                  <a:srgbClr val="8A9099"/>
                </a:solidFill>
                <a:latin typeface="Red Hat Text"/>
              </a:rPr>
              <a:t>CONFIDENTIAL</a:t>
            </a:r>
          </a:p>
        </p:txBody>
      </p:sp>
      <p:sp>
        <p:nvSpPr>
          <p:cNvPr id="29" name="TextBox 28"/>
          <p:cNvSpPr txBox="1"/>
          <p:nvPr/>
        </p:nvSpPr>
        <p:spPr>
          <a:xfrm>
            <a:off x="10801807" y="6473952"/>
            <a:ext cx="548640" cy="274320"/>
          </a:xfrm>
          <a:prstGeom prst="rect">
            <a:avLst/>
          </a:prstGeom>
          <a:noFill/>
        </p:spPr>
        <p:txBody>
          <a:bodyPr wrap="square" anchor="t" lIns="0" rIns="0" tIns="0" bIns="0">
            <a:spAutoFit/>
          </a:bodyPr>
          <a:lstStyle/>
          <a:p>
            <a:pPr algn="r">
              <a:lnSpc>
                <a:spcPct val="106000"/>
              </a:lnSpc>
              <a:spcBef>
                <a:spcPts val="0"/>
              </a:spcBef>
              <a:spcAft>
                <a:spcPts val="0"/>
              </a:spcAft>
            </a:pPr>
            <a:r>
              <a:rPr sz="950" b="0">
                <a:solidFill>
                  <a:srgbClr val="8A9099"/>
                </a:solidFill>
                <a:latin typeface="Red Hat Text"/>
              </a:rPr>
              <a:t>45</a:t>
            </a:r>
          </a:p>
        </p:txBody>
      </p:sp>
    </p:spTree>
  </p:cSld>
  <p:clrMapOvr>
    <a:masterClrMapping/>
  </p:clrMapOvr>
</p:sld>
</file>

<file path=ppt/slides/slide5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redhat_logo.jpg"/>
          <p:cNvPicPr>
            <a:picLocks noChangeAspect="1"/>
          </p:cNvPicPr>
          <p:nvPr/>
        </p:nvPicPr>
        <p:blipFill>
          <a:blip r:embed="rId2"/>
          <a:stretch>
            <a:fillRect/>
          </a:stretch>
        </p:blipFill>
        <p:spPr>
          <a:xfrm>
            <a:off x="10326319" y="475488"/>
            <a:ext cx="1024128" cy="242248"/>
          </a:xfrm>
          <a:prstGeom prst="rect">
            <a:avLst/>
          </a:prstGeom>
        </p:spPr>
      </p:pic>
      <p:sp>
        <p:nvSpPr>
          <p:cNvPr id="3" name="TextBox 2"/>
          <p:cNvSpPr txBox="1"/>
          <p:nvPr/>
        </p:nvSpPr>
        <p:spPr>
          <a:xfrm>
            <a:off x="841248" y="548640"/>
            <a:ext cx="8595360" cy="274320"/>
          </a:xfrm>
          <a:prstGeom prst="rect">
            <a:avLst/>
          </a:prstGeom>
          <a:noFill/>
        </p:spPr>
        <p:txBody>
          <a:bodyPr wrap="square" anchor="t" lIns="0" rIns="0" tIns="0" bIns="0">
            <a:spAutoFit/>
          </a:bodyPr>
          <a:lstStyle/>
          <a:p>
            <a:pPr algn="l">
              <a:lnSpc>
                <a:spcPct val="106000"/>
              </a:lnSpc>
              <a:spcBef>
                <a:spcPts val="0"/>
              </a:spcBef>
              <a:spcAft>
                <a:spcPts val="0"/>
              </a:spcAft>
            </a:pPr>
            <a:r>
              <a:rPr sz="1250" b="1" spc="220">
                <a:solidFill>
                  <a:srgbClr val="EE0000"/>
                </a:solidFill>
                <a:latin typeface="Red Hat Display"/>
              </a:rPr>
              <a:t>M07 · PIPELINES FUNDAMENTALS &amp; TASK LIBRARIES</a:t>
            </a:r>
          </a:p>
        </p:txBody>
      </p:sp>
      <p:sp>
        <p:nvSpPr>
          <p:cNvPr id="4" name="TextBox 3"/>
          <p:cNvSpPr txBox="1"/>
          <p:nvPr/>
        </p:nvSpPr>
        <p:spPr>
          <a:xfrm>
            <a:off x="841248" y="877824"/>
            <a:ext cx="10515600" cy="548640"/>
          </a:xfrm>
          <a:prstGeom prst="rect">
            <a:avLst/>
          </a:prstGeom>
          <a:noFill/>
        </p:spPr>
        <p:txBody>
          <a:bodyPr wrap="none" anchor="t" lIns="0" rIns="0" tIns="0" bIns="0">
            <a:spAutoFit/>
          </a:bodyPr>
          <a:lstStyle/>
          <a:p>
            <a:pPr algn="l">
              <a:lnSpc>
                <a:spcPct val="100000"/>
              </a:lnSpc>
              <a:spcBef>
                <a:spcPts val="0"/>
              </a:spcBef>
              <a:spcAft>
                <a:spcPts val="0"/>
              </a:spcAft>
            </a:pPr>
            <a:r>
              <a:rPr sz="2500" b="1">
                <a:solidFill>
                  <a:srgbClr val="1A1A1A"/>
                </a:solidFill>
                <a:latin typeface="Red Hat Display"/>
              </a:rPr>
              <a:t>Why curate a library — the Java 17 vs 21 gap</a:t>
            </a:r>
          </a:p>
        </p:txBody>
      </p:sp>
      <p:cxnSp>
        <p:nvCxnSpPr>
          <p:cNvPr id="5" name="Connector 4"/>
          <p:cNvCxnSpPr/>
          <p:nvPr/>
        </p:nvCxnSpPr>
        <p:spPr>
          <a:xfrm>
            <a:off x="841248" y="1554480"/>
            <a:ext cx="1371600" cy="0"/>
          </a:xfrm>
          <a:prstGeom prst="bentConnector3">
            <a:avLst/>
          </a:prstGeom>
          <a:ln w="31750">
            <a:solidFill>
              <a:srgbClr val="EE0000"/>
            </a:solidFill>
          </a:ln>
          <a:effectLst/>
        </p:spPr>
        <p:style>
          <a:lnRef idx="2">
            <a:schemeClr val="accent1"/>
          </a:lnRef>
          <a:fillRef idx="0">
            <a:schemeClr val="accent1"/>
          </a:fillRef>
          <a:effectRef idx="1">
            <a:schemeClr val="accent1"/>
          </a:effectRef>
          <a:fontRef idx="minor">
            <a:schemeClr val="tx1"/>
          </a:fontRef>
        </p:style>
      </p:cxnSp>
      <p:sp>
        <p:nvSpPr>
          <p:cNvPr id="6" name="Rounded Rectangle 5"/>
          <p:cNvSpPr/>
          <p:nvPr/>
        </p:nvSpPr>
        <p:spPr>
          <a:xfrm>
            <a:off x="841248" y="2395728"/>
            <a:ext cx="5715000" cy="530352"/>
          </a:xfrm>
          <a:prstGeom prst="roundRect">
            <a:avLst>
              <a:gd name="adj" fmla="val 6000"/>
            </a:avLst>
          </a:prstGeom>
          <a:solidFill>
            <a:srgbClr val="F5F6F8"/>
          </a:solidFill>
          <a:ln w="12700">
            <a:solidFill>
              <a:srgbClr val="DDE1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check_steel.png"/>
          <p:cNvPicPr>
            <a:picLocks noChangeAspect="1"/>
          </p:cNvPicPr>
          <p:nvPr/>
        </p:nvPicPr>
        <p:blipFill>
          <a:blip r:embed="rId3"/>
          <a:stretch>
            <a:fillRect/>
          </a:stretch>
        </p:blipFill>
        <p:spPr>
          <a:xfrm>
            <a:off x="987552" y="2542032"/>
            <a:ext cx="237744" cy="237744"/>
          </a:xfrm>
          <a:prstGeom prst="rect">
            <a:avLst/>
          </a:prstGeom>
        </p:spPr>
      </p:pic>
      <p:sp>
        <p:nvSpPr>
          <p:cNvPr id="8" name="TextBox 7"/>
          <p:cNvSpPr txBox="1"/>
          <p:nvPr/>
        </p:nvSpPr>
        <p:spPr>
          <a:xfrm>
            <a:off x="1353312" y="2395728"/>
            <a:ext cx="5029200" cy="530352"/>
          </a:xfrm>
          <a:prstGeom prst="rect">
            <a:avLst/>
          </a:prstGeom>
          <a:noFill/>
        </p:spPr>
        <p:txBody>
          <a:bodyPr wrap="square" anchor="ctr" lIns="0" rIns="0" tIns="0" bIns="0">
            <a:spAutoFit/>
          </a:bodyPr>
          <a:lstStyle/>
          <a:p>
            <a:pPr algn="l">
              <a:lnSpc>
                <a:spcPct val="106000"/>
              </a:lnSpc>
              <a:spcBef>
                <a:spcPts val="0"/>
              </a:spcBef>
              <a:spcAft>
                <a:spcPts val="0"/>
              </a:spcAft>
            </a:pPr>
            <a:r>
              <a:rPr sz="1200" b="0">
                <a:solidFill>
                  <a:srgbClr val="1A1A1A"/>
                </a:solidFill>
                <a:latin typeface="Red Hat Text"/>
              </a:rPr>
              <a:t>OpenShift ships a maven Task — use it, right?</a:t>
            </a:r>
          </a:p>
        </p:txBody>
      </p:sp>
      <p:sp>
        <p:nvSpPr>
          <p:cNvPr id="9" name="Rounded Rectangle 8"/>
          <p:cNvSpPr/>
          <p:nvPr/>
        </p:nvSpPr>
        <p:spPr>
          <a:xfrm>
            <a:off x="841248" y="2999232"/>
            <a:ext cx="5715000" cy="530352"/>
          </a:xfrm>
          <a:prstGeom prst="roundRect">
            <a:avLst>
              <a:gd name="adj" fmla="val 6000"/>
            </a:avLst>
          </a:prstGeom>
          <a:solidFill>
            <a:srgbClr val="F5F6F8"/>
          </a:solidFill>
          <a:ln w="12700">
            <a:solidFill>
              <a:srgbClr val="DDE1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0" name="Picture 9" descr="check_steel.png"/>
          <p:cNvPicPr>
            <a:picLocks noChangeAspect="1"/>
          </p:cNvPicPr>
          <p:nvPr/>
        </p:nvPicPr>
        <p:blipFill>
          <a:blip r:embed="rId3"/>
          <a:stretch>
            <a:fillRect/>
          </a:stretch>
        </p:blipFill>
        <p:spPr>
          <a:xfrm>
            <a:off x="987552" y="3145536"/>
            <a:ext cx="237744" cy="237744"/>
          </a:xfrm>
          <a:prstGeom prst="rect">
            <a:avLst/>
          </a:prstGeom>
        </p:spPr>
      </p:pic>
      <p:sp>
        <p:nvSpPr>
          <p:cNvPr id="11" name="TextBox 10"/>
          <p:cNvSpPr txBox="1"/>
          <p:nvPr/>
        </p:nvSpPr>
        <p:spPr>
          <a:xfrm>
            <a:off x="1353312" y="2999232"/>
            <a:ext cx="5029200" cy="530352"/>
          </a:xfrm>
          <a:prstGeom prst="rect">
            <a:avLst/>
          </a:prstGeom>
          <a:noFill/>
        </p:spPr>
        <p:txBody>
          <a:bodyPr wrap="square" anchor="ctr" lIns="0" rIns="0" tIns="0" bIns="0">
            <a:spAutoFit/>
          </a:bodyPr>
          <a:lstStyle/>
          <a:p>
            <a:pPr algn="l">
              <a:lnSpc>
                <a:spcPct val="106000"/>
              </a:lnSpc>
              <a:spcBef>
                <a:spcPts val="0"/>
              </a:spcBef>
              <a:spcAft>
                <a:spcPts val="0"/>
              </a:spcAft>
            </a:pPr>
            <a:r>
              <a:rPr sz="1200" b="0">
                <a:solidFill>
                  <a:srgbClr val="1A1A1A"/>
                </a:solidFill>
                <a:latin typeface="Red Hat Text"/>
              </a:rPr>
              <a:t>It's pinned to Java 17, no image parameter</a:t>
            </a:r>
          </a:p>
        </p:txBody>
      </p:sp>
      <p:sp>
        <p:nvSpPr>
          <p:cNvPr id="12" name="Rounded Rectangle 11"/>
          <p:cNvSpPr/>
          <p:nvPr/>
        </p:nvSpPr>
        <p:spPr>
          <a:xfrm>
            <a:off x="841248" y="3602736"/>
            <a:ext cx="5715000" cy="530352"/>
          </a:xfrm>
          <a:prstGeom prst="roundRect">
            <a:avLst>
              <a:gd name="adj" fmla="val 6000"/>
            </a:avLst>
          </a:prstGeom>
          <a:solidFill>
            <a:srgbClr val="F5F6F8"/>
          </a:solidFill>
          <a:ln w="12700">
            <a:solidFill>
              <a:srgbClr val="DDE1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3" name="Picture 12" descr="check_steel.png"/>
          <p:cNvPicPr>
            <a:picLocks noChangeAspect="1"/>
          </p:cNvPicPr>
          <p:nvPr/>
        </p:nvPicPr>
        <p:blipFill>
          <a:blip r:embed="rId3"/>
          <a:stretch>
            <a:fillRect/>
          </a:stretch>
        </p:blipFill>
        <p:spPr>
          <a:xfrm>
            <a:off x="987552" y="3749040"/>
            <a:ext cx="237744" cy="237744"/>
          </a:xfrm>
          <a:prstGeom prst="rect">
            <a:avLst/>
          </a:prstGeom>
        </p:spPr>
      </p:pic>
      <p:sp>
        <p:nvSpPr>
          <p:cNvPr id="14" name="TextBox 13"/>
          <p:cNvSpPr txBox="1"/>
          <p:nvPr/>
        </p:nvSpPr>
        <p:spPr>
          <a:xfrm>
            <a:off x="1353312" y="3602736"/>
            <a:ext cx="5029200" cy="530352"/>
          </a:xfrm>
          <a:prstGeom prst="rect">
            <a:avLst/>
          </a:prstGeom>
          <a:noFill/>
        </p:spPr>
        <p:txBody>
          <a:bodyPr wrap="square" anchor="ctr" lIns="0" rIns="0" tIns="0" bIns="0">
            <a:spAutoFit/>
          </a:bodyPr>
          <a:lstStyle/>
          <a:p>
            <a:pPr algn="l">
              <a:lnSpc>
                <a:spcPct val="106000"/>
              </a:lnSpc>
              <a:spcBef>
                <a:spcPts val="0"/>
              </a:spcBef>
              <a:spcAft>
                <a:spcPts val="0"/>
              </a:spcAft>
            </a:pPr>
            <a:r>
              <a:rPr sz="1200" b="0">
                <a:solidFill>
                  <a:srgbClr val="1A1A1A"/>
                </a:solidFill>
                <a:latin typeface="Red Hat Text"/>
              </a:rPr>
              <a:t>This app is Java 21 → "release 21 not supported"</a:t>
            </a:r>
          </a:p>
        </p:txBody>
      </p:sp>
      <p:sp>
        <p:nvSpPr>
          <p:cNvPr id="15" name="Rounded Rectangle 14"/>
          <p:cNvSpPr/>
          <p:nvPr/>
        </p:nvSpPr>
        <p:spPr>
          <a:xfrm>
            <a:off x="841248" y="4206240"/>
            <a:ext cx="5715000" cy="530352"/>
          </a:xfrm>
          <a:prstGeom prst="roundRect">
            <a:avLst>
              <a:gd name="adj" fmla="val 6000"/>
            </a:avLst>
          </a:prstGeom>
          <a:solidFill>
            <a:srgbClr val="F5F6F8"/>
          </a:solidFill>
          <a:ln w="12700">
            <a:solidFill>
              <a:srgbClr val="DDE1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6" name="Picture 15" descr="check_steel.png"/>
          <p:cNvPicPr>
            <a:picLocks noChangeAspect="1"/>
          </p:cNvPicPr>
          <p:nvPr/>
        </p:nvPicPr>
        <p:blipFill>
          <a:blip r:embed="rId3"/>
          <a:stretch>
            <a:fillRect/>
          </a:stretch>
        </p:blipFill>
        <p:spPr>
          <a:xfrm>
            <a:off x="987552" y="4352544"/>
            <a:ext cx="237744" cy="237744"/>
          </a:xfrm>
          <a:prstGeom prst="rect">
            <a:avLst/>
          </a:prstGeom>
        </p:spPr>
      </p:pic>
      <p:sp>
        <p:nvSpPr>
          <p:cNvPr id="17" name="TextBox 16"/>
          <p:cNvSpPr txBox="1"/>
          <p:nvPr/>
        </p:nvSpPr>
        <p:spPr>
          <a:xfrm>
            <a:off x="1353312" y="4206240"/>
            <a:ext cx="5029200" cy="530352"/>
          </a:xfrm>
          <a:prstGeom prst="rect">
            <a:avLst/>
          </a:prstGeom>
          <a:noFill/>
        </p:spPr>
        <p:txBody>
          <a:bodyPr wrap="square" anchor="ctr" lIns="0" rIns="0" tIns="0" bIns="0">
            <a:spAutoFit/>
          </a:bodyPr>
          <a:lstStyle/>
          <a:p>
            <a:pPr algn="l">
              <a:lnSpc>
                <a:spcPct val="106000"/>
              </a:lnSpc>
              <a:spcBef>
                <a:spcPts val="0"/>
              </a:spcBef>
              <a:spcAft>
                <a:spcPts val="0"/>
              </a:spcAft>
            </a:pPr>
            <a:r>
              <a:rPr sz="1200" b="0">
                <a:solidFill>
                  <a:srgbClr val="1A1A1A"/>
                </a:solidFill>
                <a:latin typeface="Red Hat Text"/>
              </a:rPr>
              <a:t>Fix once: curate maven-jdk21 into the library</a:t>
            </a:r>
          </a:p>
        </p:txBody>
      </p:sp>
      <p:sp>
        <p:nvSpPr>
          <p:cNvPr id="18" name="Rounded Rectangle 17"/>
          <p:cNvSpPr/>
          <p:nvPr/>
        </p:nvSpPr>
        <p:spPr>
          <a:xfrm>
            <a:off x="841248" y="4809744"/>
            <a:ext cx="5715000" cy="530352"/>
          </a:xfrm>
          <a:prstGeom prst="roundRect">
            <a:avLst>
              <a:gd name="adj" fmla="val 6000"/>
            </a:avLst>
          </a:prstGeom>
          <a:solidFill>
            <a:srgbClr val="F5F6F8"/>
          </a:solidFill>
          <a:ln w="12700">
            <a:solidFill>
              <a:srgbClr val="DDE1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9" name="Picture 18" descr="check_steel.png"/>
          <p:cNvPicPr>
            <a:picLocks noChangeAspect="1"/>
          </p:cNvPicPr>
          <p:nvPr/>
        </p:nvPicPr>
        <p:blipFill>
          <a:blip r:embed="rId3"/>
          <a:stretch>
            <a:fillRect/>
          </a:stretch>
        </p:blipFill>
        <p:spPr>
          <a:xfrm>
            <a:off x="987552" y="4956048"/>
            <a:ext cx="237744" cy="237744"/>
          </a:xfrm>
          <a:prstGeom prst="rect">
            <a:avLst/>
          </a:prstGeom>
        </p:spPr>
      </p:pic>
      <p:sp>
        <p:nvSpPr>
          <p:cNvPr id="20" name="TextBox 19"/>
          <p:cNvSpPr txBox="1"/>
          <p:nvPr/>
        </p:nvSpPr>
        <p:spPr>
          <a:xfrm>
            <a:off x="1353312" y="4809744"/>
            <a:ext cx="5029200" cy="530352"/>
          </a:xfrm>
          <a:prstGeom prst="rect">
            <a:avLst/>
          </a:prstGeom>
          <a:noFill/>
        </p:spPr>
        <p:txBody>
          <a:bodyPr wrap="square" anchor="ctr" lIns="0" rIns="0" tIns="0" bIns="0">
            <a:spAutoFit/>
          </a:bodyPr>
          <a:lstStyle/>
          <a:p>
            <a:pPr algn="l">
              <a:lnSpc>
                <a:spcPct val="106000"/>
              </a:lnSpc>
              <a:spcBef>
                <a:spcPts val="0"/>
              </a:spcBef>
              <a:spcAft>
                <a:spcPts val="0"/>
              </a:spcAft>
            </a:pPr>
            <a:r>
              <a:rPr sz="1200" b="0">
                <a:solidFill>
                  <a:srgbClr val="1A1A1A"/>
                </a:solidFill>
                <a:latin typeface="Red Hat Text"/>
              </a:rPr>
              <a:t>Every pipeline references it — that's the leverage</a:t>
            </a:r>
          </a:p>
        </p:txBody>
      </p:sp>
      <p:sp>
        <p:nvSpPr>
          <p:cNvPr id="21" name="Rounded Rectangle 20"/>
          <p:cNvSpPr/>
          <p:nvPr/>
        </p:nvSpPr>
        <p:spPr>
          <a:xfrm>
            <a:off x="6812280" y="2395728"/>
            <a:ext cx="4538167" cy="2944368"/>
          </a:xfrm>
          <a:prstGeom prst="roundRect">
            <a:avLst>
              <a:gd name="adj" fmla="val 4000"/>
            </a:avLst>
          </a:prstGeom>
          <a:solidFill>
            <a:srgbClr val="FFFFFF"/>
          </a:solidFill>
          <a:ln w="15240">
            <a:solidFill>
              <a:srgbClr val="DDE1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ounded Rectangle 21"/>
          <p:cNvSpPr/>
          <p:nvPr/>
        </p:nvSpPr>
        <p:spPr>
          <a:xfrm>
            <a:off x="7013448" y="2596896"/>
            <a:ext cx="1298448" cy="310896"/>
          </a:xfrm>
          <a:prstGeom prst="roundRect">
            <a:avLst>
              <a:gd name="adj" fmla="val 50000"/>
            </a:avLst>
          </a:prstGeom>
          <a:solidFill>
            <a:srgbClr val="FCEC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7013448" y="2596896"/>
            <a:ext cx="1298448" cy="310896"/>
          </a:xfrm>
          <a:prstGeom prst="rect">
            <a:avLst/>
          </a:prstGeom>
          <a:noFill/>
        </p:spPr>
        <p:txBody>
          <a:bodyPr wrap="none" anchor="ctr" lIns="0" rIns="0" tIns="0" bIns="0">
            <a:spAutoFit/>
          </a:bodyPr>
          <a:lstStyle/>
          <a:p>
            <a:pPr algn="ctr">
              <a:lnSpc>
                <a:spcPct val="106000"/>
              </a:lnSpc>
              <a:spcBef>
                <a:spcPts val="0"/>
              </a:spcBef>
              <a:spcAft>
                <a:spcPts val="0"/>
              </a:spcAft>
            </a:pPr>
            <a:r>
              <a:rPr sz="850" b="1">
                <a:solidFill>
                  <a:srgbClr val="B80000"/>
                </a:solidFill>
                <a:latin typeface="Red Hat Display"/>
              </a:rPr>
              <a:t>MEDIA PASS</a:t>
            </a:r>
          </a:p>
        </p:txBody>
      </p:sp>
      <p:pic>
        <p:nvPicPr>
          <p:cNvPr id="24" name="Picture 23" descr="eye_slate.png"/>
          <p:cNvPicPr>
            <a:picLocks noChangeAspect="1"/>
          </p:cNvPicPr>
          <p:nvPr/>
        </p:nvPicPr>
        <p:blipFill>
          <a:blip r:embed="rId4"/>
          <a:stretch>
            <a:fillRect/>
          </a:stretch>
        </p:blipFill>
        <p:spPr>
          <a:xfrm>
            <a:off x="8843619" y="3108960"/>
            <a:ext cx="475488" cy="475488"/>
          </a:xfrm>
          <a:prstGeom prst="rect">
            <a:avLst/>
          </a:prstGeom>
        </p:spPr>
      </p:pic>
      <p:sp>
        <p:nvSpPr>
          <p:cNvPr id="25" name="TextBox 24"/>
          <p:cNvSpPr txBox="1"/>
          <p:nvPr/>
        </p:nvSpPr>
        <p:spPr>
          <a:xfrm>
            <a:off x="7050024" y="3721608"/>
            <a:ext cx="4062679" cy="1481328"/>
          </a:xfrm>
          <a:prstGeom prst="rect">
            <a:avLst/>
          </a:prstGeom>
          <a:noFill/>
        </p:spPr>
        <p:txBody>
          <a:bodyPr wrap="square" anchor="t" lIns="0" rIns="0" tIns="0" bIns="0">
            <a:spAutoFit/>
          </a:bodyPr>
          <a:lstStyle/>
          <a:p>
            <a:pPr algn="l">
              <a:lnSpc>
                <a:spcPct val="120000"/>
              </a:lnSpc>
              <a:spcBef>
                <a:spcPts val="0"/>
              </a:spcBef>
              <a:spcAft>
                <a:spcPts val="0"/>
              </a:spcAft>
            </a:pPr>
            <a:r>
              <a:rPr sz="950" b="0">
                <a:solidFill>
                  <a:srgbClr val="8A9099"/>
                </a:solidFill>
                <a:latin typeface="Red Hat Text"/>
              </a:rPr>
              <a:t>Two Task cards side by side — shipped "maven / openjdk-17 / no image param" (red X on a Java 21 app) vs curated "maven-jdk21 / openjdk-21" (green check).</a:t>
            </a:r>
          </a:p>
        </p:txBody>
      </p:sp>
      <p:cxnSp>
        <p:nvCxnSpPr>
          <p:cNvPr id="26" name="Connector 25"/>
          <p:cNvCxnSpPr/>
          <p:nvPr/>
        </p:nvCxnSpPr>
        <p:spPr>
          <a:xfrm>
            <a:off x="841248" y="6437376"/>
            <a:ext cx="10509199" cy="0"/>
          </a:xfrm>
          <a:prstGeom prst="bentConnector3">
            <a:avLst/>
          </a:prstGeom>
          <a:ln w="12700">
            <a:solidFill>
              <a:srgbClr val="DDE1E6"/>
            </a:solidFill>
          </a:ln>
          <a:effectLst/>
        </p:spPr>
        <p:style>
          <a:lnRef idx="2">
            <a:schemeClr val="accent1"/>
          </a:lnRef>
          <a:fillRef idx="0">
            <a:schemeClr val="accent1"/>
          </a:fillRef>
          <a:effectRef idx="1">
            <a:schemeClr val="accent1"/>
          </a:effectRef>
          <a:fontRef idx="minor">
            <a:schemeClr val="tx1"/>
          </a:fontRef>
        </p:style>
      </p:cxnSp>
      <p:sp>
        <p:nvSpPr>
          <p:cNvPr id="27" name="TextBox 26"/>
          <p:cNvSpPr txBox="1"/>
          <p:nvPr/>
        </p:nvSpPr>
        <p:spPr>
          <a:xfrm>
            <a:off x="841248" y="6473952"/>
            <a:ext cx="7315200" cy="274320"/>
          </a:xfrm>
          <a:prstGeom prst="rect">
            <a:avLst/>
          </a:prstGeom>
          <a:noFill/>
        </p:spPr>
        <p:txBody>
          <a:bodyPr wrap="square" anchor="t" lIns="0" rIns="0" tIns="0" bIns="0">
            <a:spAutoFit/>
          </a:bodyPr>
          <a:lstStyle/>
          <a:p>
            <a:pPr algn="l">
              <a:lnSpc>
                <a:spcPct val="106000"/>
              </a:lnSpc>
              <a:spcBef>
                <a:spcPts val="0"/>
              </a:spcBef>
              <a:spcAft>
                <a:spcPts val="0"/>
              </a:spcAft>
            </a:pPr>
            <a:r>
              <a:rPr sz="950" b="0">
                <a:solidFill>
                  <a:srgbClr val="8A9099"/>
                </a:solidFill>
                <a:latin typeface="Red Hat Text"/>
              </a:rPr>
              <a:t>CONFIDENTIAL</a:t>
            </a:r>
          </a:p>
        </p:txBody>
      </p:sp>
      <p:sp>
        <p:nvSpPr>
          <p:cNvPr id="28" name="TextBox 27"/>
          <p:cNvSpPr txBox="1"/>
          <p:nvPr/>
        </p:nvSpPr>
        <p:spPr>
          <a:xfrm>
            <a:off x="10801807" y="6473952"/>
            <a:ext cx="548640" cy="274320"/>
          </a:xfrm>
          <a:prstGeom prst="rect">
            <a:avLst/>
          </a:prstGeom>
          <a:noFill/>
        </p:spPr>
        <p:txBody>
          <a:bodyPr wrap="square" anchor="t" lIns="0" rIns="0" tIns="0" bIns="0">
            <a:spAutoFit/>
          </a:bodyPr>
          <a:lstStyle/>
          <a:p>
            <a:pPr algn="r">
              <a:lnSpc>
                <a:spcPct val="106000"/>
              </a:lnSpc>
              <a:spcBef>
                <a:spcPts val="0"/>
              </a:spcBef>
              <a:spcAft>
                <a:spcPts val="0"/>
              </a:spcAft>
            </a:pPr>
            <a:r>
              <a:rPr sz="950" b="0">
                <a:solidFill>
                  <a:srgbClr val="8A9099"/>
                </a:solidFill>
                <a:latin typeface="Red Hat Text"/>
              </a:rPr>
              <a:t>46</a:t>
            </a:r>
          </a:p>
        </p:txBody>
      </p:sp>
    </p:spTree>
  </p:cSld>
  <p:clrMapOvr>
    <a:masterClrMapping/>
  </p:clrMapOvr>
</p:sld>
</file>

<file path=ppt/slides/slide5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redhat_logo.jpg"/>
          <p:cNvPicPr>
            <a:picLocks noChangeAspect="1"/>
          </p:cNvPicPr>
          <p:nvPr/>
        </p:nvPicPr>
        <p:blipFill>
          <a:blip r:embed="rId2"/>
          <a:stretch>
            <a:fillRect/>
          </a:stretch>
        </p:blipFill>
        <p:spPr>
          <a:xfrm>
            <a:off x="10326319" y="475488"/>
            <a:ext cx="1024128" cy="242248"/>
          </a:xfrm>
          <a:prstGeom prst="rect">
            <a:avLst/>
          </a:prstGeom>
        </p:spPr>
      </p:pic>
      <p:sp>
        <p:nvSpPr>
          <p:cNvPr id="3" name="TextBox 2"/>
          <p:cNvSpPr txBox="1"/>
          <p:nvPr/>
        </p:nvSpPr>
        <p:spPr>
          <a:xfrm>
            <a:off x="841248" y="548640"/>
            <a:ext cx="8595360" cy="274320"/>
          </a:xfrm>
          <a:prstGeom prst="rect">
            <a:avLst/>
          </a:prstGeom>
          <a:noFill/>
        </p:spPr>
        <p:txBody>
          <a:bodyPr wrap="square" anchor="t" lIns="0" rIns="0" tIns="0" bIns="0">
            <a:spAutoFit/>
          </a:bodyPr>
          <a:lstStyle/>
          <a:p>
            <a:pPr algn="l">
              <a:lnSpc>
                <a:spcPct val="106000"/>
              </a:lnSpc>
              <a:spcBef>
                <a:spcPts val="0"/>
              </a:spcBef>
              <a:spcAft>
                <a:spcPts val="0"/>
              </a:spcAft>
            </a:pPr>
            <a:r>
              <a:rPr sz="1250" b="1" spc="220">
                <a:solidFill>
                  <a:srgbClr val="EE0000"/>
                </a:solidFill>
                <a:latin typeface="Red Hat Display"/>
              </a:rPr>
              <a:t>M07 · PIPELINES FUNDAMENTALS &amp; TASK LIBRARIES</a:t>
            </a:r>
          </a:p>
        </p:txBody>
      </p:sp>
      <p:sp>
        <p:nvSpPr>
          <p:cNvPr id="4" name="TextBox 3"/>
          <p:cNvSpPr txBox="1"/>
          <p:nvPr/>
        </p:nvSpPr>
        <p:spPr>
          <a:xfrm>
            <a:off x="841248" y="877824"/>
            <a:ext cx="10515600" cy="548640"/>
          </a:xfrm>
          <a:prstGeom prst="rect">
            <a:avLst/>
          </a:prstGeom>
          <a:noFill/>
        </p:spPr>
        <p:txBody>
          <a:bodyPr wrap="none" anchor="t" lIns="0" rIns="0" tIns="0" bIns="0">
            <a:spAutoFit/>
          </a:bodyPr>
          <a:lstStyle/>
          <a:p>
            <a:pPr algn="l">
              <a:lnSpc>
                <a:spcPct val="100000"/>
              </a:lnSpc>
              <a:spcBef>
                <a:spcPts val="0"/>
              </a:spcBef>
              <a:spcAft>
                <a:spcPts val="0"/>
              </a:spcAft>
            </a:pPr>
            <a:r>
              <a:rPr sz="2500" b="1">
                <a:solidFill>
                  <a:srgbClr val="1A1A1A"/>
                </a:solidFill>
                <a:latin typeface="Red Hat Display"/>
              </a:rPr>
              <a:t>Pipelines-as-Code</a:t>
            </a:r>
          </a:p>
        </p:txBody>
      </p:sp>
      <p:cxnSp>
        <p:nvCxnSpPr>
          <p:cNvPr id="5" name="Connector 4"/>
          <p:cNvCxnSpPr/>
          <p:nvPr/>
        </p:nvCxnSpPr>
        <p:spPr>
          <a:xfrm>
            <a:off x="841248" y="1554480"/>
            <a:ext cx="1371600" cy="0"/>
          </a:xfrm>
          <a:prstGeom prst="bentConnector3">
            <a:avLst/>
          </a:prstGeom>
          <a:ln w="31750">
            <a:solidFill>
              <a:srgbClr val="EE0000"/>
            </a:solidFill>
          </a:ln>
          <a:effectLst/>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841248" y="1664208"/>
            <a:ext cx="10515600" cy="365760"/>
          </a:xfrm>
          <a:prstGeom prst="rect">
            <a:avLst/>
          </a:prstGeom>
          <a:noFill/>
        </p:spPr>
        <p:txBody>
          <a:bodyPr wrap="square" anchor="t" lIns="0" rIns="0" tIns="0" bIns="0">
            <a:spAutoFit/>
          </a:bodyPr>
          <a:lstStyle/>
          <a:p>
            <a:pPr algn="l">
              <a:lnSpc>
                <a:spcPct val="106000"/>
              </a:lnSpc>
              <a:spcBef>
                <a:spcPts val="0"/>
              </a:spcBef>
              <a:spcAft>
                <a:spcPts val="0"/>
              </a:spcAft>
            </a:pPr>
            <a:r>
              <a:rPr sz="1350" b="0">
                <a:solidFill>
                  <a:srgbClr val="555960"/>
                </a:solidFill>
                <a:latin typeface="Red Hat Text"/>
              </a:rPr>
              <a:t>the pipeline lives with the code</a:t>
            </a:r>
          </a:p>
        </p:txBody>
      </p:sp>
      <p:sp>
        <p:nvSpPr>
          <p:cNvPr id="7" name="Rounded Rectangle 6"/>
          <p:cNvSpPr/>
          <p:nvPr/>
        </p:nvSpPr>
        <p:spPr>
          <a:xfrm>
            <a:off x="841248" y="2670048"/>
            <a:ext cx="5715000" cy="530352"/>
          </a:xfrm>
          <a:prstGeom prst="roundRect">
            <a:avLst>
              <a:gd name="adj" fmla="val 6000"/>
            </a:avLst>
          </a:prstGeom>
          <a:solidFill>
            <a:srgbClr val="F5F6F8"/>
          </a:solidFill>
          <a:ln w="12700">
            <a:solidFill>
              <a:srgbClr val="DDE1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check_steel.png"/>
          <p:cNvPicPr>
            <a:picLocks noChangeAspect="1"/>
          </p:cNvPicPr>
          <p:nvPr/>
        </p:nvPicPr>
        <p:blipFill>
          <a:blip r:embed="rId3"/>
          <a:stretch>
            <a:fillRect/>
          </a:stretch>
        </p:blipFill>
        <p:spPr>
          <a:xfrm>
            <a:off x="987552" y="2816352"/>
            <a:ext cx="237744" cy="237744"/>
          </a:xfrm>
          <a:prstGeom prst="rect">
            <a:avLst/>
          </a:prstGeom>
        </p:spPr>
      </p:pic>
      <p:sp>
        <p:nvSpPr>
          <p:cNvPr id="9" name="TextBox 8"/>
          <p:cNvSpPr txBox="1"/>
          <p:nvPr/>
        </p:nvSpPr>
        <p:spPr>
          <a:xfrm>
            <a:off x="1353312" y="2670048"/>
            <a:ext cx="5029200" cy="530352"/>
          </a:xfrm>
          <a:prstGeom prst="rect">
            <a:avLst/>
          </a:prstGeom>
          <a:noFill/>
        </p:spPr>
        <p:txBody>
          <a:bodyPr wrap="square" anchor="ctr" lIns="0" rIns="0" tIns="0" bIns="0">
            <a:spAutoFit/>
          </a:bodyPr>
          <a:lstStyle/>
          <a:p>
            <a:pPr algn="l">
              <a:lnSpc>
                <a:spcPct val="106000"/>
              </a:lnSpc>
              <a:spcBef>
                <a:spcPts val="0"/>
              </a:spcBef>
              <a:spcAft>
                <a:spcPts val="0"/>
              </a:spcAft>
            </a:pPr>
            <a:r>
              <a:rPr sz="1200" b="0">
                <a:solidFill>
                  <a:srgbClr val="1A1A1A"/>
                </a:solidFill>
                <a:latin typeface="Red Hat Text"/>
              </a:rPr>
              <a:t>.tekton/ file lives in the app's own repo</a:t>
            </a:r>
          </a:p>
        </p:txBody>
      </p:sp>
      <p:sp>
        <p:nvSpPr>
          <p:cNvPr id="10" name="Rounded Rectangle 9"/>
          <p:cNvSpPr/>
          <p:nvPr/>
        </p:nvSpPr>
        <p:spPr>
          <a:xfrm>
            <a:off x="841248" y="3273552"/>
            <a:ext cx="5715000" cy="530352"/>
          </a:xfrm>
          <a:prstGeom prst="roundRect">
            <a:avLst>
              <a:gd name="adj" fmla="val 6000"/>
            </a:avLst>
          </a:prstGeom>
          <a:solidFill>
            <a:srgbClr val="F5F6F8"/>
          </a:solidFill>
          <a:ln w="12700">
            <a:solidFill>
              <a:srgbClr val="DDE1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1" name="Picture 10" descr="check_steel.png"/>
          <p:cNvPicPr>
            <a:picLocks noChangeAspect="1"/>
          </p:cNvPicPr>
          <p:nvPr/>
        </p:nvPicPr>
        <p:blipFill>
          <a:blip r:embed="rId3"/>
          <a:stretch>
            <a:fillRect/>
          </a:stretch>
        </p:blipFill>
        <p:spPr>
          <a:xfrm>
            <a:off x="987552" y="3419856"/>
            <a:ext cx="237744" cy="237744"/>
          </a:xfrm>
          <a:prstGeom prst="rect">
            <a:avLst/>
          </a:prstGeom>
        </p:spPr>
      </p:pic>
      <p:sp>
        <p:nvSpPr>
          <p:cNvPr id="12" name="TextBox 11"/>
          <p:cNvSpPr txBox="1"/>
          <p:nvPr/>
        </p:nvSpPr>
        <p:spPr>
          <a:xfrm>
            <a:off x="1353312" y="3273552"/>
            <a:ext cx="5029200" cy="530352"/>
          </a:xfrm>
          <a:prstGeom prst="rect">
            <a:avLst/>
          </a:prstGeom>
          <a:noFill/>
        </p:spPr>
        <p:txBody>
          <a:bodyPr wrap="square" anchor="ctr" lIns="0" rIns="0" tIns="0" bIns="0">
            <a:spAutoFit/>
          </a:bodyPr>
          <a:lstStyle/>
          <a:p>
            <a:pPr algn="l">
              <a:lnSpc>
                <a:spcPct val="106000"/>
              </a:lnSpc>
              <a:spcBef>
                <a:spcPts val="0"/>
              </a:spcBef>
              <a:spcAft>
                <a:spcPts val="0"/>
              </a:spcAft>
            </a:pPr>
            <a:r>
              <a:rPr sz="1200" b="0">
                <a:solidFill>
                  <a:srgbClr val="1A1A1A"/>
                </a:solidFill>
                <a:latin typeface="Red Hat Text"/>
              </a:rPr>
              <a:t>A Git push fires the pipeline — no button</a:t>
            </a:r>
          </a:p>
        </p:txBody>
      </p:sp>
      <p:sp>
        <p:nvSpPr>
          <p:cNvPr id="13" name="Rounded Rectangle 12"/>
          <p:cNvSpPr/>
          <p:nvPr/>
        </p:nvSpPr>
        <p:spPr>
          <a:xfrm>
            <a:off x="841248" y="3877056"/>
            <a:ext cx="5715000" cy="530352"/>
          </a:xfrm>
          <a:prstGeom prst="roundRect">
            <a:avLst>
              <a:gd name="adj" fmla="val 6000"/>
            </a:avLst>
          </a:prstGeom>
          <a:solidFill>
            <a:srgbClr val="F5F6F8"/>
          </a:solidFill>
          <a:ln w="12700">
            <a:solidFill>
              <a:srgbClr val="DDE1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4" name="Picture 13" descr="check_steel.png"/>
          <p:cNvPicPr>
            <a:picLocks noChangeAspect="1"/>
          </p:cNvPicPr>
          <p:nvPr/>
        </p:nvPicPr>
        <p:blipFill>
          <a:blip r:embed="rId3"/>
          <a:stretch>
            <a:fillRect/>
          </a:stretch>
        </p:blipFill>
        <p:spPr>
          <a:xfrm>
            <a:off x="987552" y="4023360"/>
            <a:ext cx="237744" cy="237744"/>
          </a:xfrm>
          <a:prstGeom prst="rect">
            <a:avLst/>
          </a:prstGeom>
        </p:spPr>
      </p:pic>
      <p:sp>
        <p:nvSpPr>
          <p:cNvPr id="15" name="TextBox 14"/>
          <p:cNvSpPr txBox="1"/>
          <p:nvPr/>
        </p:nvSpPr>
        <p:spPr>
          <a:xfrm>
            <a:off x="1353312" y="3877056"/>
            <a:ext cx="5029200" cy="530352"/>
          </a:xfrm>
          <a:prstGeom prst="rect">
            <a:avLst/>
          </a:prstGeom>
          <a:noFill/>
        </p:spPr>
        <p:txBody>
          <a:bodyPr wrap="square" anchor="ctr" lIns="0" rIns="0" tIns="0" bIns="0">
            <a:spAutoFit/>
          </a:bodyPr>
          <a:lstStyle/>
          <a:p>
            <a:pPr algn="l">
              <a:lnSpc>
                <a:spcPct val="106000"/>
              </a:lnSpc>
              <a:spcBef>
                <a:spcPts val="0"/>
              </a:spcBef>
              <a:spcAft>
                <a:spcPts val="0"/>
              </a:spcAft>
            </a:pPr>
            <a:r>
              <a:rPr sz="1200" b="0">
                <a:solidFill>
                  <a:srgbClr val="1A1A1A"/>
                </a:solidFill>
                <a:latin typeface="Red Hat Text"/>
              </a:rPr>
              <a:t>Webhook → PaC controller → PipelineRun</a:t>
            </a:r>
          </a:p>
        </p:txBody>
      </p:sp>
      <p:sp>
        <p:nvSpPr>
          <p:cNvPr id="16" name="Rounded Rectangle 15"/>
          <p:cNvSpPr/>
          <p:nvPr/>
        </p:nvSpPr>
        <p:spPr>
          <a:xfrm>
            <a:off x="841248" y="4480560"/>
            <a:ext cx="5715000" cy="530352"/>
          </a:xfrm>
          <a:prstGeom prst="roundRect">
            <a:avLst>
              <a:gd name="adj" fmla="val 6000"/>
            </a:avLst>
          </a:prstGeom>
          <a:solidFill>
            <a:srgbClr val="F5F6F8"/>
          </a:solidFill>
          <a:ln w="12700">
            <a:solidFill>
              <a:srgbClr val="DDE1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7" name="Picture 16" descr="check_steel.png"/>
          <p:cNvPicPr>
            <a:picLocks noChangeAspect="1"/>
          </p:cNvPicPr>
          <p:nvPr/>
        </p:nvPicPr>
        <p:blipFill>
          <a:blip r:embed="rId3"/>
          <a:stretch>
            <a:fillRect/>
          </a:stretch>
        </p:blipFill>
        <p:spPr>
          <a:xfrm>
            <a:off x="987552" y="4626864"/>
            <a:ext cx="237744" cy="237744"/>
          </a:xfrm>
          <a:prstGeom prst="rect">
            <a:avLst/>
          </a:prstGeom>
        </p:spPr>
      </p:pic>
      <p:sp>
        <p:nvSpPr>
          <p:cNvPr id="18" name="TextBox 17"/>
          <p:cNvSpPr txBox="1"/>
          <p:nvPr/>
        </p:nvSpPr>
        <p:spPr>
          <a:xfrm>
            <a:off x="1353312" y="4480560"/>
            <a:ext cx="5029200" cy="530352"/>
          </a:xfrm>
          <a:prstGeom prst="rect">
            <a:avLst/>
          </a:prstGeom>
          <a:noFill/>
        </p:spPr>
        <p:txBody>
          <a:bodyPr wrap="square" anchor="ctr" lIns="0" rIns="0" tIns="0" bIns="0">
            <a:spAutoFit/>
          </a:bodyPr>
          <a:lstStyle/>
          <a:p>
            <a:pPr algn="l">
              <a:lnSpc>
                <a:spcPct val="106000"/>
              </a:lnSpc>
              <a:spcBef>
                <a:spcPts val="0"/>
              </a:spcBef>
              <a:spcAft>
                <a:spcPts val="0"/>
              </a:spcAft>
            </a:pPr>
            <a:r>
              <a:rPr sz="1200" b="0">
                <a:solidFill>
                  <a:srgbClr val="1A1A1A"/>
                </a:solidFill>
                <a:latin typeface="Red Hat Text"/>
              </a:rPr>
              <a:t>Versioned, diffed, rolled back like code</a:t>
            </a:r>
          </a:p>
        </p:txBody>
      </p:sp>
      <p:sp>
        <p:nvSpPr>
          <p:cNvPr id="19" name="Rounded Rectangle 18"/>
          <p:cNvSpPr/>
          <p:nvPr/>
        </p:nvSpPr>
        <p:spPr>
          <a:xfrm>
            <a:off x="841248" y="5084064"/>
            <a:ext cx="5715000" cy="530352"/>
          </a:xfrm>
          <a:prstGeom prst="roundRect">
            <a:avLst>
              <a:gd name="adj" fmla="val 6000"/>
            </a:avLst>
          </a:prstGeom>
          <a:solidFill>
            <a:srgbClr val="F5F6F8"/>
          </a:solidFill>
          <a:ln w="12700">
            <a:solidFill>
              <a:srgbClr val="DDE1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0" name="Picture 19" descr="check_steel.png"/>
          <p:cNvPicPr>
            <a:picLocks noChangeAspect="1"/>
          </p:cNvPicPr>
          <p:nvPr/>
        </p:nvPicPr>
        <p:blipFill>
          <a:blip r:embed="rId3"/>
          <a:stretch>
            <a:fillRect/>
          </a:stretch>
        </p:blipFill>
        <p:spPr>
          <a:xfrm>
            <a:off x="987552" y="5230368"/>
            <a:ext cx="237744" cy="237744"/>
          </a:xfrm>
          <a:prstGeom prst="rect">
            <a:avLst/>
          </a:prstGeom>
        </p:spPr>
      </p:pic>
      <p:sp>
        <p:nvSpPr>
          <p:cNvPr id="21" name="TextBox 20"/>
          <p:cNvSpPr txBox="1"/>
          <p:nvPr/>
        </p:nvSpPr>
        <p:spPr>
          <a:xfrm>
            <a:off x="1353312" y="5084064"/>
            <a:ext cx="5029200" cy="530352"/>
          </a:xfrm>
          <a:prstGeom prst="rect">
            <a:avLst/>
          </a:prstGeom>
          <a:noFill/>
        </p:spPr>
        <p:txBody>
          <a:bodyPr wrap="square" anchor="ctr" lIns="0" rIns="0" tIns="0" bIns="0">
            <a:spAutoFit/>
          </a:bodyPr>
          <a:lstStyle/>
          <a:p>
            <a:pPr algn="l">
              <a:lnSpc>
                <a:spcPct val="106000"/>
              </a:lnSpc>
              <a:spcBef>
                <a:spcPts val="0"/>
              </a:spcBef>
              <a:spcAft>
                <a:spcPts val="0"/>
              </a:spcAft>
            </a:pPr>
            <a:r>
              <a:rPr sz="1200" b="0">
                <a:solidFill>
                  <a:srgbClr val="1A1A1A"/>
                </a:solidFill>
                <a:latin typeface="Red Hat Text"/>
              </a:rPr>
              <a:t>Every push built the same way</a:t>
            </a:r>
          </a:p>
        </p:txBody>
      </p:sp>
      <p:sp>
        <p:nvSpPr>
          <p:cNvPr id="22" name="Rounded Rectangle 21"/>
          <p:cNvSpPr/>
          <p:nvPr/>
        </p:nvSpPr>
        <p:spPr>
          <a:xfrm>
            <a:off x="6812280" y="2670048"/>
            <a:ext cx="4538167" cy="2944368"/>
          </a:xfrm>
          <a:prstGeom prst="roundRect">
            <a:avLst>
              <a:gd name="adj" fmla="val 4000"/>
            </a:avLst>
          </a:prstGeom>
          <a:solidFill>
            <a:srgbClr val="FFFFFF"/>
          </a:solidFill>
          <a:ln w="15240">
            <a:solidFill>
              <a:srgbClr val="DDE1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ounded Rectangle 22"/>
          <p:cNvSpPr/>
          <p:nvPr/>
        </p:nvSpPr>
        <p:spPr>
          <a:xfrm>
            <a:off x="7013448" y="2871216"/>
            <a:ext cx="1298448" cy="310896"/>
          </a:xfrm>
          <a:prstGeom prst="roundRect">
            <a:avLst>
              <a:gd name="adj" fmla="val 50000"/>
            </a:avLst>
          </a:prstGeom>
          <a:solidFill>
            <a:srgbClr val="FCEC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7013448" y="2871216"/>
            <a:ext cx="1298448" cy="310896"/>
          </a:xfrm>
          <a:prstGeom prst="rect">
            <a:avLst/>
          </a:prstGeom>
          <a:noFill/>
        </p:spPr>
        <p:txBody>
          <a:bodyPr wrap="none" anchor="ctr" lIns="0" rIns="0" tIns="0" bIns="0">
            <a:spAutoFit/>
          </a:bodyPr>
          <a:lstStyle/>
          <a:p>
            <a:pPr algn="ctr">
              <a:lnSpc>
                <a:spcPct val="106000"/>
              </a:lnSpc>
              <a:spcBef>
                <a:spcPts val="0"/>
              </a:spcBef>
              <a:spcAft>
                <a:spcPts val="0"/>
              </a:spcAft>
            </a:pPr>
            <a:r>
              <a:rPr sz="850" b="1">
                <a:solidFill>
                  <a:srgbClr val="B80000"/>
                </a:solidFill>
                <a:latin typeface="Red Hat Display"/>
              </a:rPr>
              <a:t>MEDIA PASS</a:t>
            </a:r>
          </a:p>
        </p:txBody>
      </p:sp>
      <p:pic>
        <p:nvPicPr>
          <p:cNvPr id="25" name="Picture 24" descr="eye_slate.png"/>
          <p:cNvPicPr>
            <a:picLocks noChangeAspect="1"/>
          </p:cNvPicPr>
          <p:nvPr/>
        </p:nvPicPr>
        <p:blipFill>
          <a:blip r:embed="rId4"/>
          <a:stretch>
            <a:fillRect/>
          </a:stretch>
        </p:blipFill>
        <p:spPr>
          <a:xfrm>
            <a:off x="8843619" y="3383280"/>
            <a:ext cx="475488" cy="475488"/>
          </a:xfrm>
          <a:prstGeom prst="rect">
            <a:avLst/>
          </a:prstGeom>
        </p:spPr>
      </p:pic>
      <p:sp>
        <p:nvSpPr>
          <p:cNvPr id="26" name="TextBox 25"/>
          <p:cNvSpPr txBox="1"/>
          <p:nvPr/>
        </p:nvSpPr>
        <p:spPr>
          <a:xfrm>
            <a:off x="7050024" y="3995928"/>
            <a:ext cx="4062679" cy="1481328"/>
          </a:xfrm>
          <a:prstGeom prst="rect">
            <a:avLst/>
          </a:prstGeom>
          <a:noFill/>
        </p:spPr>
        <p:txBody>
          <a:bodyPr wrap="square" anchor="t" lIns="0" rIns="0" tIns="0" bIns="0">
            <a:spAutoFit/>
          </a:bodyPr>
          <a:lstStyle/>
          <a:p>
            <a:pPr algn="l">
              <a:lnSpc>
                <a:spcPct val="120000"/>
              </a:lnSpc>
              <a:spcBef>
                <a:spcPts val="0"/>
              </a:spcBef>
              <a:spcAft>
                <a:spcPts val="0"/>
              </a:spcAft>
            </a:pPr>
            <a:r>
              <a:rPr sz="950" b="0">
                <a:solidFill>
                  <a:srgbClr val="8A9099"/>
                </a:solidFill>
                <a:latin typeface="Red Hat Text"/>
              </a:rPr>
              <a:t>Reuse concept diagram pipelines-fundamentals-...-02 — push → Gitea webhook → PaC controller → new PipelineRun.</a:t>
            </a:r>
          </a:p>
        </p:txBody>
      </p:sp>
      <p:cxnSp>
        <p:nvCxnSpPr>
          <p:cNvPr id="27" name="Connector 26"/>
          <p:cNvCxnSpPr/>
          <p:nvPr/>
        </p:nvCxnSpPr>
        <p:spPr>
          <a:xfrm>
            <a:off x="841248" y="6437376"/>
            <a:ext cx="10509199" cy="0"/>
          </a:xfrm>
          <a:prstGeom prst="bentConnector3">
            <a:avLst/>
          </a:prstGeom>
          <a:ln w="12700">
            <a:solidFill>
              <a:srgbClr val="DDE1E6"/>
            </a:solidFill>
          </a:ln>
          <a:effectLst/>
        </p:spPr>
        <p:style>
          <a:lnRef idx="2">
            <a:schemeClr val="accent1"/>
          </a:lnRef>
          <a:fillRef idx="0">
            <a:schemeClr val="accent1"/>
          </a:fillRef>
          <a:effectRef idx="1">
            <a:schemeClr val="accent1"/>
          </a:effectRef>
          <a:fontRef idx="minor">
            <a:schemeClr val="tx1"/>
          </a:fontRef>
        </p:style>
      </p:cxnSp>
      <p:sp>
        <p:nvSpPr>
          <p:cNvPr id="28" name="TextBox 27"/>
          <p:cNvSpPr txBox="1"/>
          <p:nvPr/>
        </p:nvSpPr>
        <p:spPr>
          <a:xfrm>
            <a:off x="841248" y="6473952"/>
            <a:ext cx="7315200" cy="274320"/>
          </a:xfrm>
          <a:prstGeom prst="rect">
            <a:avLst/>
          </a:prstGeom>
          <a:noFill/>
        </p:spPr>
        <p:txBody>
          <a:bodyPr wrap="square" anchor="t" lIns="0" rIns="0" tIns="0" bIns="0">
            <a:spAutoFit/>
          </a:bodyPr>
          <a:lstStyle/>
          <a:p>
            <a:pPr algn="l">
              <a:lnSpc>
                <a:spcPct val="106000"/>
              </a:lnSpc>
              <a:spcBef>
                <a:spcPts val="0"/>
              </a:spcBef>
              <a:spcAft>
                <a:spcPts val="0"/>
              </a:spcAft>
            </a:pPr>
            <a:r>
              <a:rPr sz="950" b="0">
                <a:solidFill>
                  <a:srgbClr val="8A9099"/>
                </a:solidFill>
                <a:latin typeface="Red Hat Text"/>
              </a:rPr>
              <a:t>CONFIDENTIAL</a:t>
            </a:r>
          </a:p>
        </p:txBody>
      </p:sp>
      <p:sp>
        <p:nvSpPr>
          <p:cNvPr id="29" name="TextBox 28"/>
          <p:cNvSpPr txBox="1"/>
          <p:nvPr/>
        </p:nvSpPr>
        <p:spPr>
          <a:xfrm>
            <a:off x="10801807" y="6473952"/>
            <a:ext cx="548640" cy="274320"/>
          </a:xfrm>
          <a:prstGeom prst="rect">
            <a:avLst/>
          </a:prstGeom>
          <a:noFill/>
        </p:spPr>
        <p:txBody>
          <a:bodyPr wrap="square" anchor="t" lIns="0" rIns="0" tIns="0" bIns="0">
            <a:spAutoFit/>
          </a:bodyPr>
          <a:lstStyle/>
          <a:p>
            <a:pPr algn="r">
              <a:lnSpc>
                <a:spcPct val="106000"/>
              </a:lnSpc>
              <a:spcBef>
                <a:spcPts val="0"/>
              </a:spcBef>
              <a:spcAft>
                <a:spcPts val="0"/>
              </a:spcAft>
            </a:pPr>
            <a:r>
              <a:rPr sz="950" b="0">
                <a:solidFill>
                  <a:srgbClr val="8A9099"/>
                </a:solidFill>
                <a:latin typeface="Red Hat Text"/>
              </a:rPr>
              <a:t>47</a:t>
            </a:r>
          </a:p>
        </p:txBody>
      </p:sp>
    </p:spTree>
  </p:cSld>
  <p:clrMapOvr>
    <a:masterClrMapping/>
  </p:clrMapOvr>
</p:sld>
</file>

<file path=ppt/slides/slide5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redhat_logo.jpg"/>
          <p:cNvPicPr>
            <a:picLocks noChangeAspect="1"/>
          </p:cNvPicPr>
          <p:nvPr/>
        </p:nvPicPr>
        <p:blipFill>
          <a:blip r:embed="rId2"/>
          <a:stretch>
            <a:fillRect/>
          </a:stretch>
        </p:blipFill>
        <p:spPr>
          <a:xfrm>
            <a:off x="10326319" y="475488"/>
            <a:ext cx="1024128" cy="242248"/>
          </a:xfrm>
          <a:prstGeom prst="rect">
            <a:avLst/>
          </a:prstGeom>
        </p:spPr>
      </p:pic>
      <p:sp>
        <p:nvSpPr>
          <p:cNvPr id="3" name="TextBox 2"/>
          <p:cNvSpPr txBox="1"/>
          <p:nvPr/>
        </p:nvSpPr>
        <p:spPr>
          <a:xfrm>
            <a:off x="841248" y="548640"/>
            <a:ext cx="8595360" cy="274320"/>
          </a:xfrm>
          <a:prstGeom prst="rect">
            <a:avLst/>
          </a:prstGeom>
          <a:noFill/>
        </p:spPr>
        <p:txBody>
          <a:bodyPr wrap="square" anchor="t" lIns="0" rIns="0" tIns="0" bIns="0">
            <a:spAutoFit/>
          </a:bodyPr>
          <a:lstStyle/>
          <a:p>
            <a:pPr algn="l">
              <a:lnSpc>
                <a:spcPct val="106000"/>
              </a:lnSpc>
              <a:spcBef>
                <a:spcPts val="0"/>
              </a:spcBef>
              <a:spcAft>
                <a:spcPts val="0"/>
              </a:spcAft>
            </a:pPr>
            <a:r>
              <a:rPr sz="1250" b="1" spc="220">
                <a:solidFill>
                  <a:srgbClr val="EE0000"/>
                </a:solidFill>
                <a:latin typeface="Red Hat Display"/>
              </a:rPr>
              <a:t>M07 · PIPELINES FUNDAMENTALS &amp; TASK LIBRARIES</a:t>
            </a:r>
          </a:p>
        </p:txBody>
      </p:sp>
      <p:sp>
        <p:nvSpPr>
          <p:cNvPr id="4" name="TextBox 3"/>
          <p:cNvSpPr txBox="1"/>
          <p:nvPr/>
        </p:nvSpPr>
        <p:spPr>
          <a:xfrm>
            <a:off x="841248" y="877824"/>
            <a:ext cx="10515600" cy="548640"/>
          </a:xfrm>
          <a:prstGeom prst="rect">
            <a:avLst/>
          </a:prstGeom>
          <a:noFill/>
        </p:spPr>
        <p:txBody>
          <a:bodyPr wrap="none" anchor="t" lIns="0" rIns="0" tIns="0" bIns="0">
            <a:spAutoFit/>
          </a:bodyPr>
          <a:lstStyle/>
          <a:p>
            <a:pPr algn="l">
              <a:lnSpc>
                <a:spcPct val="100000"/>
              </a:lnSpc>
              <a:spcBef>
                <a:spcPts val="0"/>
              </a:spcBef>
              <a:spcAft>
                <a:spcPts val="0"/>
              </a:spcAft>
            </a:pPr>
            <a:r>
              <a:rPr sz="2500" b="1">
                <a:solidFill>
                  <a:srgbClr val="1A1A1A"/>
                </a:solidFill>
                <a:latin typeface="Red Hat Display"/>
              </a:rPr>
              <a:t>Pipelines produce data, not just images</a:t>
            </a:r>
          </a:p>
        </p:txBody>
      </p:sp>
      <p:cxnSp>
        <p:nvCxnSpPr>
          <p:cNvPr id="5" name="Connector 4"/>
          <p:cNvCxnSpPr/>
          <p:nvPr/>
        </p:nvCxnSpPr>
        <p:spPr>
          <a:xfrm>
            <a:off x="841248" y="1554480"/>
            <a:ext cx="1371600" cy="0"/>
          </a:xfrm>
          <a:prstGeom prst="bentConnector3">
            <a:avLst/>
          </a:prstGeom>
          <a:ln w="31750">
            <a:solidFill>
              <a:srgbClr val="EE0000"/>
            </a:solidFill>
          </a:ln>
          <a:effectLst/>
        </p:spPr>
        <p:style>
          <a:lnRef idx="2">
            <a:schemeClr val="accent1"/>
          </a:lnRef>
          <a:fillRef idx="0">
            <a:schemeClr val="accent1"/>
          </a:fillRef>
          <a:effectRef idx="1">
            <a:schemeClr val="accent1"/>
          </a:effectRef>
          <a:fontRef idx="minor">
            <a:schemeClr val="tx1"/>
          </a:fontRef>
        </p:style>
      </p:cxnSp>
      <p:sp>
        <p:nvSpPr>
          <p:cNvPr id="6" name="Rounded Rectangle 5"/>
          <p:cNvSpPr/>
          <p:nvPr/>
        </p:nvSpPr>
        <p:spPr>
          <a:xfrm>
            <a:off x="841248" y="2395728"/>
            <a:ext cx="5715000" cy="530352"/>
          </a:xfrm>
          <a:prstGeom prst="roundRect">
            <a:avLst>
              <a:gd name="adj" fmla="val 6000"/>
            </a:avLst>
          </a:prstGeom>
          <a:solidFill>
            <a:srgbClr val="F5F6F8"/>
          </a:solidFill>
          <a:ln w="12700">
            <a:solidFill>
              <a:srgbClr val="DDE1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check_steel.png"/>
          <p:cNvPicPr>
            <a:picLocks noChangeAspect="1"/>
          </p:cNvPicPr>
          <p:nvPr/>
        </p:nvPicPr>
        <p:blipFill>
          <a:blip r:embed="rId3"/>
          <a:stretch>
            <a:fillRect/>
          </a:stretch>
        </p:blipFill>
        <p:spPr>
          <a:xfrm>
            <a:off x="987552" y="2542032"/>
            <a:ext cx="237744" cy="237744"/>
          </a:xfrm>
          <a:prstGeom prst="rect">
            <a:avLst/>
          </a:prstGeom>
        </p:spPr>
      </p:pic>
      <p:sp>
        <p:nvSpPr>
          <p:cNvPr id="8" name="TextBox 7"/>
          <p:cNvSpPr txBox="1"/>
          <p:nvPr/>
        </p:nvSpPr>
        <p:spPr>
          <a:xfrm>
            <a:off x="1353312" y="2395728"/>
            <a:ext cx="5029200" cy="530352"/>
          </a:xfrm>
          <a:prstGeom prst="rect">
            <a:avLst/>
          </a:prstGeom>
          <a:noFill/>
        </p:spPr>
        <p:txBody>
          <a:bodyPr wrap="square" anchor="ctr" lIns="0" rIns="0" tIns="0" bIns="0">
            <a:spAutoFit/>
          </a:bodyPr>
          <a:lstStyle/>
          <a:p>
            <a:pPr algn="l">
              <a:lnSpc>
                <a:spcPct val="106000"/>
              </a:lnSpc>
              <a:spcBef>
                <a:spcPts val="0"/>
              </a:spcBef>
              <a:spcAft>
                <a:spcPts val="0"/>
              </a:spcAft>
            </a:pPr>
            <a:r>
              <a:rPr sz="1200" b="0">
                <a:solidFill>
                  <a:srgbClr val="1A1A1A"/>
                </a:solidFill>
                <a:latin typeface="Red Hat Text"/>
              </a:rPr>
              <a:t>A Task can publish results (typed facts)</a:t>
            </a:r>
          </a:p>
        </p:txBody>
      </p:sp>
      <p:sp>
        <p:nvSpPr>
          <p:cNvPr id="9" name="Rounded Rectangle 8"/>
          <p:cNvSpPr/>
          <p:nvPr/>
        </p:nvSpPr>
        <p:spPr>
          <a:xfrm>
            <a:off x="841248" y="2999232"/>
            <a:ext cx="5715000" cy="530352"/>
          </a:xfrm>
          <a:prstGeom prst="roundRect">
            <a:avLst>
              <a:gd name="adj" fmla="val 6000"/>
            </a:avLst>
          </a:prstGeom>
          <a:solidFill>
            <a:srgbClr val="F5F6F8"/>
          </a:solidFill>
          <a:ln w="12700">
            <a:solidFill>
              <a:srgbClr val="DDE1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0" name="Picture 9" descr="check_steel.png"/>
          <p:cNvPicPr>
            <a:picLocks noChangeAspect="1"/>
          </p:cNvPicPr>
          <p:nvPr/>
        </p:nvPicPr>
        <p:blipFill>
          <a:blip r:embed="rId3"/>
          <a:stretch>
            <a:fillRect/>
          </a:stretch>
        </p:blipFill>
        <p:spPr>
          <a:xfrm>
            <a:off x="987552" y="3145536"/>
            <a:ext cx="237744" cy="237744"/>
          </a:xfrm>
          <a:prstGeom prst="rect">
            <a:avLst/>
          </a:prstGeom>
        </p:spPr>
      </p:pic>
      <p:sp>
        <p:nvSpPr>
          <p:cNvPr id="11" name="TextBox 10"/>
          <p:cNvSpPr txBox="1"/>
          <p:nvPr/>
        </p:nvSpPr>
        <p:spPr>
          <a:xfrm>
            <a:off x="1353312" y="2999232"/>
            <a:ext cx="5029200" cy="530352"/>
          </a:xfrm>
          <a:prstGeom prst="rect">
            <a:avLst/>
          </a:prstGeom>
          <a:noFill/>
        </p:spPr>
        <p:txBody>
          <a:bodyPr wrap="square" anchor="ctr" lIns="0" rIns="0" tIns="0" bIns="0">
            <a:spAutoFit/>
          </a:bodyPr>
          <a:lstStyle/>
          <a:p>
            <a:pPr algn="l">
              <a:lnSpc>
                <a:spcPct val="106000"/>
              </a:lnSpc>
              <a:spcBef>
                <a:spcPts val="0"/>
              </a:spcBef>
              <a:spcAft>
                <a:spcPts val="0"/>
              </a:spcAft>
            </a:pPr>
            <a:r>
              <a:rPr sz="1200" b="0">
                <a:solidFill>
                  <a:srgbClr val="1A1A1A"/>
                </a:solidFill>
                <a:latin typeface="Red Hat Text"/>
              </a:rPr>
              <a:t>image-size-report: 391 MB, within 500 MB budget</a:t>
            </a:r>
          </a:p>
        </p:txBody>
      </p:sp>
      <p:sp>
        <p:nvSpPr>
          <p:cNvPr id="12" name="Rounded Rectangle 11"/>
          <p:cNvSpPr/>
          <p:nvPr/>
        </p:nvSpPr>
        <p:spPr>
          <a:xfrm>
            <a:off x="841248" y="3602736"/>
            <a:ext cx="5715000" cy="530352"/>
          </a:xfrm>
          <a:prstGeom prst="roundRect">
            <a:avLst>
              <a:gd name="adj" fmla="val 6000"/>
            </a:avLst>
          </a:prstGeom>
          <a:solidFill>
            <a:srgbClr val="F5F6F8"/>
          </a:solidFill>
          <a:ln w="12700">
            <a:solidFill>
              <a:srgbClr val="DDE1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3" name="Picture 12" descr="check_steel.png"/>
          <p:cNvPicPr>
            <a:picLocks noChangeAspect="1"/>
          </p:cNvPicPr>
          <p:nvPr/>
        </p:nvPicPr>
        <p:blipFill>
          <a:blip r:embed="rId3"/>
          <a:stretch>
            <a:fillRect/>
          </a:stretch>
        </p:blipFill>
        <p:spPr>
          <a:xfrm>
            <a:off x="987552" y="3749040"/>
            <a:ext cx="237744" cy="237744"/>
          </a:xfrm>
          <a:prstGeom prst="rect">
            <a:avLst/>
          </a:prstGeom>
        </p:spPr>
      </p:pic>
      <p:sp>
        <p:nvSpPr>
          <p:cNvPr id="14" name="TextBox 13"/>
          <p:cNvSpPr txBox="1"/>
          <p:nvPr/>
        </p:nvSpPr>
        <p:spPr>
          <a:xfrm>
            <a:off x="1353312" y="3602736"/>
            <a:ext cx="5029200" cy="530352"/>
          </a:xfrm>
          <a:prstGeom prst="rect">
            <a:avLst/>
          </a:prstGeom>
          <a:noFill/>
        </p:spPr>
        <p:txBody>
          <a:bodyPr wrap="square" anchor="ctr" lIns="0" rIns="0" tIns="0" bIns="0">
            <a:spAutoFit/>
          </a:bodyPr>
          <a:lstStyle/>
          <a:p>
            <a:pPr algn="l">
              <a:lnSpc>
                <a:spcPct val="106000"/>
              </a:lnSpc>
              <a:spcBef>
                <a:spcPts val="0"/>
              </a:spcBef>
              <a:spcAft>
                <a:spcPts val="0"/>
              </a:spcAft>
            </a:pPr>
            <a:r>
              <a:rPr sz="1200" b="0">
                <a:solidFill>
                  <a:srgbClr val="1A1A1A"/>
                </a:solidFill>
                <a:latin typeface="Red Hat Text"/>
              </a:rPr>
              <a:t>Results surface at the run level</a:t>
            </a:r>
          </a:p>
        </p:txBody>
      </p:sp>
      <p:sp>
        <p:nvSpPr>
          <p:cNvPr id="15" name="Rounded Rectangle 14"/>
          <p:cNvSpPr/>
          <p:nvPr/>
        </p:nvSpPr>
        <p:spPr>
          <a:xfrm>
            <a:off x="841248" y="4206240"/>
            <a:ext cx="5715000" cy="530352"/>
          </a:xfrm>
          <a:prstGeom prst="roundRect">
            <a:avLst>
              <a:gd name="adj" fmla="val 6000"/>
            </a:avLst>
          </a:prstGeom>
          <a:solidFill>
            <a:srgbClr val="F5F6F8"/>
          </a:solidFill>
          <a:ln w="12700">
            <a:solidFill>
              <a:srgbClr val="DDE1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6" name="Picture 15" descr="check_steel.png"/>
          <p:cNvPicPr>
            <a:picLocks noChangeAspect="1"/>
          </p:cNvPicPr>
          <p:nvPr/>
        </p:nvPicPr>
        <p:blipFill>
          <a:blip r:embed="rId3"/>
          <a:stretch>
            <a:fillRect/>
          </a:stretch>
        </p:blipFill>
        <p:spPr>
          <a:xfrm>
            <a:off x="987552" y="4352544"/>
            <a:ext cx="237744" cy="237744"/>
          </a:xfrm>
          <a:prstGeom prst="rect">
            <a:avLst/>
          </a:prstGeom>
        </p:spPr>
      </p:pic>
      <p:sp>
        <p:nvSpPr>
          <p:cNvPr id="17" name="TextBox 16"/>
          <p:cNvSpPr txBox="1"/>
          <p:nvPr/>
        </p:nvSpPr>
        <p:spPr>
          <a:xfrm>
            <a:off x="1353312" y="4206240"/>
            <a:ext cx="5029200" cy="530352"/>
          </a:xfrm>
          <a:prstGeom prst="rect">
            <a:avLst/>
          </a:prstGeom>
          <a:noFill/>
        </p:spPr>
        <p:txBody>
          <a:bodyPr wrap="square" anchor="ctr" lIns="0" rIns="0" tIns="0" bIns="0">
            <a:spAutoFit/>
          </a:bodyPr>
          <a:lstStyle/>
          <a:p>
            <a:pPr algn="l">
              <a:lnSpc>
                <a:spcPct val="106000"/>
              </a:lnSpc>
              <a:spcBef>
                <a:spcPts val="0"/>
              </a:spcBef>
              <a:spcAft>
                <a:spcPts val="0"/>
              </a:spcAft>
            </a:pPr>
            <a:r>
              <a:rPr sz="1200" b="0">
                <a:solidFill>
                  <a:srgbClr val="1A1A1A"/>
                </a:solidFill>
                <a:latin typeface="Red Hat Text"/>
              </a:rPr>
              <a:t>Later steps can branch on them; humans audit</a:t>
            </a:r>
          </a:p>
        </p:txBody>
      </p:sp>
      <p:sp>
        <p:nvSpPr>
          <p:cNvPr id="18" name="Rounded Rectangle 17"/>
          <p:cNvSpPr/>
          <p:nvPr/>
        </p:nvSpPr>
        <p:spPr>
          <a:xfrm>
            <a:off x="841248" y="4809744"/>
            <a:ext cx="5715000" cy="530352"/>
          </a:xfrm>
          <a:prstGeom prst="roundRect">
            <a:avLst>
              <a:gd name="adj" fmla="val 6000"/>
            </a:avLst>
          </a:prstGeom>
          <a:solidFill>
            <a:srgbClr val="F5F6F8"/>
          </a:solidFill>
          <a:ln w="12700">
            <a:solidFill>
              <a:srgbClr val="DDE1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9" name="Picture 18" descr="check_steel.png"/>
          <p:cNvPicPr>
            <a:picLocks noChangeAspect="1"/>
          </p:cNvPicPr>
          <p:nvPr/>
        </p:nvPicPr>
        <p:blipFill>
          <a:blip r:embed="rId3"/>
          <a:stretch>
            <a:fillRect/>
          </a:stretch>
        </p:blipFill>
        <p:spPr>
          <a:xfrm>
            <a:off x="987552" y="4956048"/>
            <a:ext cx="237744" cy="237744"/>
          </a:xfrm>
          <a:prstGeom prst="rect">
            <a:avLst/>
          </a:prstGeom>
        </p:spPr>
      </p:pic>
      <p:sp>
        <p:nvSpPr>
          <p:cNvPr id="20" name="TextBox 19"/>
          <p:cNvSpPr txBox="1"/>
          <p:nvPr/>
        </p:nvSpPr>
        <p:spPr>
          <a:xfrm>
            <a:off x="1353312" y="4809744"/>
            <a:ext cx="5029200" cy="530352"/>
          </a:xfrm>
          <a:prstGeom prst="rect">
            <a:avLst/>
          </a:prstGeom>
          <a:noFill/>
        </p:spPr>
        <p:txBody>
          <a:bodyPr wrap="square" anchor="ctr" lIns="0" rIns="0" tIns="0" bIns="0">
            <a:spAutoFit/>
          </a:bodyPr>
          <a:lstStyle/>
          <a:p>
            <a:pPr algn="l">
              <a:lnSpc>
                <a:spcPct val="106000"/>
              </a:lnSpc>
              <a:spcBef>
                <a:spcPts val="0"/>
              </a:spcBef>
              <a:spcAft>
                <a:spcPts val="0"/>
              </a:spcAft>
            </a:pPr>
            <a:r>
              <a:rPr sz="1200" b="0">
                <a:solidFill>
                  <a:srgbClr val="1A1A1A"/>
                </a:solidFill>
                <a:latin typeface="Red Hat Text"/>
              </a:rPr>
              <a:t>Next module: sign, attest, scan — same idea</a:t>
            </a:r>
          </a:p>
        </p:txBody>
      </p:sp>
      <p:sp>
        <p:nvSpPr>
          <p:cNvPr id="21" name="Rounded Rectangle 20"/>
          <p:cNvSpPr/>
          <p:nvPr/>
        </p:nvSpPr>
        <p:spPr>
          <a:xfrm>
            <a:off x="6812280" y="2395728"/>
            <a:ext cx="4538167" cy="2944368"/>
          </a:xfrm>
          <a:prstGeom prst="roundRect">
            <a:avLst>
              <a:gd name="adj" fmla="val 4000"/>
            </a:avLst>
          </a:prstGeom>
          <a:solidFill>
            <a:srgbClr val="FFFFFF"/>
          </a:solidFill>
          <a:ln w="15240">
            <a:solidFill>
              <a:srgbClr val="DDE1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ounded Rectangle 21"/>
          <p:cNvSpPr/>
          <p:nvPr/>
        </p:nvSpPr>
        <p:spPr>
          <a:xfrm>
            <a:off x="7013448" y="2596896"/>
            <a:ext cx="1298448" cy="310896"/>
          </a:xfrm>
          <a:prstGeom prst="roundRect">
            <a:avLst>
              <a:gd name="adj" fmla="val 50000"/>
            </a:avLst>
          </a:prstGeom>
          <a:solidFill>
            <a:srgbClr val="FCEC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7013448" y="2596896"/>
            <a:ext cx="1298448" cy="310896"/>
          </a:xfrm>
          <a:prstGeom prst="rect">
            <a:avLst/>
          </a:prstGeom>
          <a:noFill/>
        </p:spPr>
        <p:txBody>
          <a:bodyPr wrap="none" anchor="ctr" lIns="0" rIns="0" tIns="0" bIns="0">
            <a:spAutoFit/>
          </a:bodyPr>
          <a:lstStyle/>
          <a:p>
            <a:pPr algn="ctr">
              <a:lnSpc>
                <a:spcPct val="106000"/>
              </a:lnSpc>
              <a:spcBef>
                <a:spcPts val="0"/>
              </a:spcBef>
              <a:spcAft>
                <a:spcPts val="0"/>
              </a:spcAft>
            </a:pPr>
            <a:r>
              <a:rPr sz="850" b="1">
                <a:solidFill>
                  <a:srgbClr val="B80000"/>
                </a:solidFill>
                <a:latin typeface="Red Hat Display"/>
              </a:rPr>
              <a:t>MEDIA PASS</a:t>
            </a:r>
          </a:p>
        </p:txBody>
      </p:sp>
      <p:pic>
        <p:nvPicPr>
          <p:cNvPr id="24" name="Picture 23" descr="eye_slate.png"/>
          <p:cNvPicPr>
            <a:picLocks noChangeAspect="1"/>
          </p:cNvPicPr>
          <p:nvPr/>
        </p:nvPicPr>
        <p:blipFill>
          <a:blip r:embed="rId4"/>
          <a:stretch>
            <a:fillRect/>
          </a:stretch>
        </p:blipFill>
        <p:spPr>
          <a:xfrm>
            <a:off x="8843619" y="3108960"/>
            <a:ext cx="475488" cy="475488"/>
          </a:xfrm>
          <a:prstGeom prst="rect">
            <a:avLst/>
          </a:prstGeom>
        </p:spPr>
      </p:pic>
      <p:sp>
        <p:nvSpPr>
          <p:cNvPr id="25" name="TextBox 24"/>
          <p:cNvSpPr txBox="1"/>
          <p:nvPr/>
        </p:nvSpPr>
        <p:spPr>
          <a:xfrm>
            <a:off x="7050024" y="3721608"/>
            <a:ext cx="4062679" cy="1481328"/>
          </a:xfrm>
          <a:prstGeom prst="rect">
            <a:avLst/>
          </a:prstGeom>
          <a:noFill/>
        </p:spPr>
        <p:txBody>
          <a:bodyPr wrap="square" anchor="t" lIns="0" rIns="0" tIns="0" bIns="0">
            <a:spAutoFit/>
          </a:bodyPr>
          <a:lstStyle/>
          <a:p>
            <a:pPr algn="l">
              <a:lnSpc>
                <a:spcPct val="120000"/>
              </a:lnSpc>
              <a:spcBef>
                <a:spcPts val="0"/>
              </a:spcBef>
              <a:spcAft>
                <a:spcPts val="0"/>
              </a:spcAft>
            </a:pPr>
            <a:r>
              <a:rPr sz="950" b="0">
                <a:solidFill>
                  <a:srgbClr val="8A9099"/>
                </a:solidFill>
                <a:latin typeface="Red Hat Text"/>
              </a:rPr>
              <a:t>A PipelineRun "Results" panel card: image-size-mb = 391, image-within-budget = true, with a small arrow to "a later step can gate on this."</a:t>
            </a:r>
          </a:p>
        </p:txBody>
      </p:sp>
      <p:cxnSp>
        <p:nvCxnSpPr>
          <p:cNvPr id="26" name="Connector 25"/>
          <p:cNvCxnSpPr/>
          <p:nvPr/>
        </p:nvCxnSpPr>
        <p:spPr>
          <a:xfrm>
            <a:off x="841248" y="6437376"/>
            <a:ext cx="10509199" cy="0"/>
          </a:xfrm>
          <a:prstGeom prst="bentConnector3">
            <a:avLst/>
          </a:prstGeom>
          <a:ln w="12700">
            <a:solidFill>
              <a:srgbClr val="DDE1E6"/>
            </a:solidFill>
          </a:ln>
          <a:effectLst/>
        </p:spPr>
        <p:style>
          <a:lnRef idx="2">
            <a:schemeClr val="accent1"/>
          </a:lnRef>
          <a:fillRef idx="0">
            <a:schemeClr val="accent1"/>
          </a:fillRef>
          <a:effectRef idx="1">
            <a:schemeClr val="accent1"/>
          </a:effectRef>
          <a:fontRef idx="minor">
            <a:schemeClr val="tx1"/>
          </a:fontRef>
        </p:style>
      </p:cxnSp>
      <p:sp>
        <p:nvSpPr>
          <p:cNvPr id="27" name="TextBox 26"/>
          <p:cNvSpPr txBox="1"/>
          <p:nvPr/>
        </p:nvSpPr>
        <p:spPr>
          <a:xfrm>
            <a:off x="841248" y="6473952"/>
            <a:ext cx="7315200" cy="274320"/>
          </a:xfrm>
          <a:prstGeom prst="rect">
            <a:avLst/>
          </a:prstGeom>
          <a:noFill/>
        </p:spPr>
        <p:txBody>
          <a:bodyPr wrap="square" anchor="t" lIns="0" rIns="0" tIns="0" bIns="0">
            <a:spAutoFit/>
          </a:bodyPr>
          <a:lstStyle/>
          <a:p>
            <a:pPr algn="l">
              <a:lnSpc>
                <a:spcPct val="106000"/>
              </a:lnSpc>
              <a:spcBef>
                <a:spcPts val="0"/>
              </a:spcBef>
              <a:spcAft>
                <a:spcPts val="0"/>
              </a:spcAft>
            </a:pPr>
            <a:r>
              <a:rPr sz="950" b="0">
                <a:solidFill>
                  <a:srgbClr val="8A9099"/>
                </a:solidFill>
                <a:latin typeface="Red Hat Text"/>
              </a:rPr>
              <a:t>CONFIDENTIAL</a:t>
            </a:r>
          </a:p>
        </p:txBody>
      </p:sp>
      <p:sp>
        <p:nvSpPr>
          <p:cNvPr id="28" name="TextBox 27"/>
          <p:cNvSpPr txBox="1"/>
          <p:nvPr/>
        </p:nvSpPr>
        <p:spPr>
          <a:xfrm>
            <a:off x="10801807" y="6473952"/>
            <a:ext cx="548640" cy="274320"/>
          </a:xfrm>
          <a:prstGeom prst="rect">
            <a:avLst/>
          </a:prstGeom>
          <a:noFill/>
        </p:spPr>
        <p:txBody>
          <a:bodyPr wrap="square" anchor="t" lIns="0" rIns="0" tIns="0" bIns="0">
            <a:spAutoFit/>
          </a:bodyPr>
          <a:lstStyle/>
          <a:p>
            <a:pPr algn="r">
              <a:lnSpc>
                <a:spcPct val="106000"/>
              </a:lnSpc>
              <a:spcBef>
                <a:spcPts val="0"/>
              </a:spcBef>
              <a:spcAft>
                <a:spcPts val="0"/>
              </a:spcAft>
            </a:pPr>
            <a:r>
              <a:rPr sz="950" b="0">
                <a:solidFill>
                  <a:srgbClr val="8A9099"/>
                </a:solidFill>
                <a:latin typeface="Red Hat Text"/>
              </a:rPr>
              <a:t>48</a:t>
            </a:r>
          </a:p>
        </p:txBody>
      </p:sp>
    </p:spTree>
  </p:cSld>
  <p:clrMapOvr>
    <a:masterClrMapping/>
  </p:clrMapOvr>
</p:sld>
</file>

<file path=ppt/slides/slide5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redhat_logo.jpg"/>
          <p:cNvPicPr>
            <a:picLocks noChangeAspect="1"/>
          </p:cNvPicPr>
          <p:nvPr/>
        </p:nvPicPr>
        <p:blipFill>
          <a:blip r:embed="rId2"/>
          <a:stretch>
            <a:fillRect/>
          </a:stretch>
        </p:blipFill>
        <p:spPr>
          <a:xfrm>
            <a:off x="10326319" y="475488"/>
            <a:ext cx="1024128" cy="242248"/>
          </a:xfrm>
          <a:prstGeom prst="rect">
            <a:avLst/>
          </a:prstGeom>
        </p:spPr>
      </p:pic>
      <p:sp>
        <p:nvSpPr>
          <p:cNvPr id="3" name="TextBox 2"/>
          <p:cNvSpPr txBox="1"/>
          <p:nvPr/>
        </p:nvSpPr>
        <p:spPr>
          <a:xfrm>
            <a:off x="841248" y="548640"/>
            <a:ext cx="8595360" cy="274320"/>
          </a:xfrm>
          <a:prstGeom prst="rect">
            <a:avLst/>
          </a:prstGeom>
          <a:noFill/>
        </p:spPr>
        <p:txBody>
          <a:bodyPr wrap="square" anchor="t" lIns="0" rIns="0" tIns="0" bIns="0">
            <a:spAutoFit/>
          </a:bodyPr>
          <a:lstStyle/>
          <a:p>
            <a:pPr algn="l">
              <a:lnSpc>
                <a:spcPct val="106000"/>
              </a:lnSpc>
              <a:spcBef>
                <a:spcPts val="0"/>
              </a:spcBef>
              <a:spcAft>
                <a:spcPts val="0"/>
              </a:spcAft>
            </a:pPr>
            <a:r>
              <a:rPr sz="1250" b="1" spc="220">
                <a:solidFill>
                  <a:srgbClr val="EE0000"/>
                </a:solidFill>
                <a:latin typeface="Red Hat Display"/>
              </a:rPr>
              <a:t>M07 · PIPELINES FUNDAMENTALS &amp; TASK LIBRARIES</a:t>
            </a:r>
          </a:p>
        </p:txBody>
      </p:sp>
      <p:sp>
        <p:nvSpPr>
          <p:cNvPr id="4" name="TextBox 3"/>
          <p:cNvSpPr txBox="1"/>
          <p:nvPr/>
        </p:nvSpPr>
        <p:spPr>
          <a:xfrm>
            <a:off x="841248" y="877824"/>
            <a:ext cx="10515600" cy="548640"/>
          </a:xfrm>
          <a:prstGeom prst="rect">
            <a:avLst/>
          </a:prstGeom>
          <a:noFill/>
        </p:spPr>
        <p:txBody>
          <a:bodyPr wrap="none" anchor="t" lIns="0" rIns="0" tIns="0" bIns="0">
            <a:spAutoFit/>
          </a:bodyPr>
          <a:lstStyle/>
          <a:p>
            <a:pPr algn="l">
              <a:lnSpc>
                <a:spcPct val="100000"/>
              </a:lnSpc>
              <a:spcBef>
                <a:spcPts val="0"/>
              </a:spcBef>
              <a:spcAft>
                <a:spcPts val="0"/>
              </a:spcAft>
            </a:pPr>
            <a:r>
              <a:rPr sz="2500" b="1">
                <a:solidFill>
                  <a:srgbClr val="1A1A1A"/>
                </a:solidFill>
                <a:latin typeface="Red Hat Display"/>
              </a:rPr>
              <a:t>What you'll do</a:t>
            </a:r>
          </a:p>
        </p:txBody>
      </p:sp>
      <p:cxnSp>
        <p:nvCxnSpPr>
          <p:cNvPr id="5" name="Connector 4"/>
          <p:cNvCxnSpPr/>
          <p:nvPr/>
        </p:nvCxnSpPr>
        <p:spPr>
          <a:xfrm>
            <a:off x="841248" y="1554480"/>
            <a:ext cx="1371600" cy="0"/>
          </a:xfrm>
          <a:prstGeom prst="bentConnector3">
            <a:avLst/>
          </a:prstGeom>
          <a:ln w="31750">
            <a:solidFill>
              <a:srgbClr val="EE0000"/>
            </a:solidFill>
          </a:ln>
          <a:effectLst/>
        </p:spPr>
        <p:style>
          <a:lnRef idx="2">
            <a:schemeClr val="accent1"/>
          </a:lnRef>
          <a:fillRef idx="0">
            <a:schemeClr val="accent1"/>
          </a:fillRef>
          <a:effectRef idx="1">
            <a:schemeClr val="accent1"/>
          </a:effectRef>
          <a:fontRef idx="minor">
            <a:schemeClr val="tx1"/>
          </a:fontRef>
        </p:style>
      </p:cxnSp>
      <p:sp>
        <p:nvSpPr>
          <p:cNvPr id="6" name="Rounded Rectangle 5"/>
          <p:cNvSpPr/>
          <p:nvPr/>
        </p:nvSpPr>
        <p:spPr>
          <a:xfrm>
            <a:off x="841248" y="2395728"/>
            <a:ext cx="5715000" cy="530352"/>
          </a:xfrm>
          <a:prstGeom prst="roundRect">
            <a:avLst>
              <a:gd name="adj" fmla="val 6000"/>
            </a:avLst>
          </a:prstGeom>
          <a:solidFill>
            <a:srgbClr val="F5F6F8"/>
          </a:solidFill>
          <a:ln w="12700">
            <a:solidFill>
              <a:srgbClr val="DDE1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check_steel.png"/>
          <p:cNvPicPr>
            <a:picLocks noChangeAspect="1"/>
          </p:cNvPicPr>
          <p:nvPr/>
        </p:nvPicPr>
        <p:blipFill>
          <a:blip r:embed="rId3"/>
          <a:stretch>
            <a:fillRect/>
          </a:stretch>
        </p:blipFill>
        <p:spPr>
          <a:xfrm>
            <a:off x="987552" y="2542032"/>
            <a:ext cx="237744" cy="237744"/>
          </a:xfrm>
          <a:prstGeom prst="rect">
            <a:avLst/>
          </a:prstGeom>
        </p:spPr>
      </p:pic>
      <p:sp>
        <p:nvSpPr>
          <p:cNvPr id="8" name="TextBox 7"/>
          <p:cNvSpPr txBox="1"/>
          <p:nvPr/>
        </p:nvSpPr>
        <p:spPr>
          <a:xfrm>
            <a:off x="1353312" y="2395728"/>
            <a:ext cx="5029200" cy="530352"/>
          </a:xfrm>
          <a:prstGeom prst="rect">
            <a:avLst/>
          </a:prstGeom>
          <a:noFill/>
        </p:spPr>
        <p:txBody>
          <a:bodyPr wrap="square" anchor="ctr" lIns="0" rIns="0" tIns="0" bIns="0">
            <a:spAutoFit/>
          </a:bodyPr>
          <a:lstStyle/>
          <a:p>
            <a:pPr algn="l">
              <a:lnSpc>
                <a:spcPct val="106000"/>
              </a:lnSpc>
              <a:spcBef>
                <a:spcPts val="0"/>
              </a:spcBef>
              <a:spcAft>
                <a:spcPts val="0"/>
              </a:spcAft>
            </a:pPr>
            <a:r>
              <a:rPr sz="1200" b="0">
                <a:solidFill>
                  <a:srgbClr val="1A1A1A"/>
                </a:solidFill>
                <a:latin typeface="Red Hat Text"/>
              </a:rPr>
              <a:t>Run the build-test-deploy pipeline; read its anatomy</a:t>
            </a:r>
          </a:p>
        </p:txBody>
      </p:sp>
      <p:sp>
        <p:nvSpPr>
          <p:cNvPr id="9" name="Rounded Rectangle 8"/>
          <p:cNvSpPr/>
          <p:nvPr/>
        </p:nvSpPr>
        <p:spPr>
          <a:xfrm>
            <a:off x="841248" y="2999232"/>
            <a:ext cx="5715000" cy="530352"/>
          </a:xfrm>
          <a:prstGeom prst="roundRect">
            <a:avLst>
              <a:gd name="adj" fmla="val 6000"/>
            </a:avLst>
          </a:prstGeom>
          <a:solidFill>
            <a:srgbClr val="F5F6F8"/>
          </a:solidFill>
          <a:ln w="12700">
            <a:solidFill>
              <a:srgbClr val="DDE1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0" name="Picture 9" descr="check_steel.png"/>
          <p:cNvPicPr>
            <a:picLocks noChangeAspect="1"/>
          </p:cNvPicPr>
          <p:nvPr/>
        </p:nvPicPr>
        <p:blipFill>
          <a:blip r:embed="rId3"/>
          <a:stretch>
            <a:fillRect/>
          </a:stretch>
        </p:blipFill>
        <p:spPr>
          <a:xfrm>
            <a:off x="987552" y="3145536"/>
            <a:ext cx="237744" cy="237744"/>
          </a:xfrm>
          <a:prstGeom prst="rect">
            <a:avLst/>
          </a:prstGeom>
        </p:spPr>
      </p:pic>
      <p:sp>
        <p:nvSpPr>
          <p:cNvPr id="11" name="TextBox 10"/>
          <p:cNvSpPr txBox="1"/>
          <p:nvPr/>
        </p:nvSpPr>
        <p:spPr>
          <a:xfrm>
            <a:off x="1353312" y="2999232"/>
            <a:ext cx="5029200" cy="530352"/>
          </a:xfrm>
          <a:prstGeom prst="rect">
            <a:avLst/>
          </a:prstGeom>
          <a:noFill/>
        </p:spPr>
        <p:txBody>
          <a:bodyPr wrap="square" anchor="ctr" lIns="0" rIns="0" tIns="0" bIns="0">
            <a:spAutoFit/>
          </a:bodyPr>
          <a:lstStyle/>
          <a:p>
            <a:pPr algn="l">
              <a:lnSpc>
                <a:spcPct val="106000"/>
              </a:lnSpc>
              <a:spcBef>
                <a:spcPts val="0"/>
              </a:spcBef>
              <a:spcAft>
                <a:spcPts val="0"/>
              </a:spcAft>
            </a:pPr>
            <a:r>
              <a:rPr sz="1200" b="0">
                <a:solidFill>
                  <a:srgbClr val="1A1A1A"/>
                </a:solidFill>
                <a:latin typeface="Red Hat Text"/>
              </a:rPr>
              <a:t>Explore the task library; find the Java 17/21 gap</a:t>
            </a:r>
          </a:p>
        </p:txBody>
      </p:sp>
      <p:sp>
        <p:nvSpPr>
          <p:cNvPr id="12" name="Rounded Rectangle 11"/>
          <p:cNvSpPr/>
          <p:nvPr/>
        </p:nvSpPr>
        <p:spPr>
          <a:xfrm>
            <a:off x="841248" y="3602736"/>
            <a:ext cx="5715000" cy="530352"/>
          </a:xfrm>
          <a:prstGeom prst="roundRect">
            <a:avLst>
              <a:gd name="adj" fmla="val 6000"/>
            </a:avLst>
          </a:prstGeom>
          <a:solidFill>
            <a:srgbClr val="F5F6F8"/>
          </a:solidFill>
          <a:ln w="12700">
            <a:solidFill>
              <a:srgbClr val="DDE1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3" name="Picture 12" descr="check_steel.png"/>
          <p:cNvPicPr>
            <a:picLocks noChangeAspect="1"/>
          </p:cNvPicPr>
          <p:nvPr/>
        </p:nvPicPr>
        <p:blipFill>
          <a:blip r:embed="rId3"/>
          <a:stretch>
            <a:fillRect/>
          </a:stretch>
        </p:blipFill>
        <p:spPr>
          <a:xfrm>
            <a:off x="987552" y="3749040"/>
            <a:ext cx="237744" cy="237744"/>
          </a:xfrm>
          <a:prstGeom prst="rect">
            <a:avLst/>
          </a:prstGeom>
        </p:spPr>
      </p:pic>
      <p:sp>
        <p:nvSpPr>
          <p:cNvPr id="14" name="TextBox 13"/>
          <p:cNvSpPr txBox="1"/>
          <p:nvPr/>
        </p:nvSpPr>
        <p:spPr>
          <a:xfrm>
            <a:off x="1353312" y="3602736"/>
            <a:ext cx="5029200" cy="530352"/>
          </a:xfrm>
          <a:prstGeom prst="rect">
            <a:avLst/>
          </a:prstGeom>
          <a:noFill/>
        </p:spPr>
        <p:txBody>
          <a:bodyPr wrap="square" anchor="ctr" lIns="0" rIns="0" tIns="0" bIns="0">
            <a:spAutoFit/>
          </a:bodyPr>
          <a:lstStyle/>
          <a:p>
            <a:pPr algn="l">
              <a:lnSpc>
                <a:spcPct val="106000"/>
              </a:lnSpc>
              <a:spcBef>
                <a:spcPts val="0"/>
              </a:spcBef>
              <a:spcAft>
                <a:spcPts val="0"/>
              </a:spcAft>
            </a:pPr>
            <a:r>
              <a:rPr sz="1200" b="0">
                <a:solidFill>
                  <a:srgbClr val="1A1A1A"/>
                </a:solidFill>
                <a:latin typeface="Red Hat Text"/>
              </a:rPr>
              <a:t>Break a test — watch the pipeline refuse the build</a:t>
            </a:r>
          </a:p>
        </p:txBody>
      </p:sp>
      <p:sp>
        <p:nvSpPr>
          <p:cNvPr id="15" name="Rounded Rectangle 14"/>
          <p:cNvSpPr/>
          <p:nvPr/>
        </p:nvSpPr>
        <p:spPr>
          <a:xfrm>
            <a:off x="841248" y="4206240"/>
            <a:ext cx="5715000" cy="530352"/>
          </a:xfrm>
          <a:prstGeom prst="roundRect">
            <a:avLst>
              <a:gd name="adj" fmla="val 6000"/>
            </a:avLst>
          </a:prstGeom>
          <a:solidFill>
            <a:srgbClr val="F5F6F8"/>
          </a:solidFill>
          <a:ln w="12700">
            <a:solidFill>
              <a:srgbClr val="DDE1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6" name="Picture 15" descr="check_steel.png"/>
          <p:cNvPicPr>
            <a:picLocks noChangeAspect="1"/>
          </p:cNvPicPr>
          <p:nvPr/>
        </p:nvPicPr>
        <p:blipFill>
          <a:blip r:embed="rId3"/>
          <a:stretch>
            <a:fillRect/>
          </a:stretch>
        </p:blipFill>
        <p:spPr>
          <a:xfrm>
            <a:off x="987552" y="4352544"/>
            <a:ext cx="237744" cy="237744"/>
          </a:xfrm>
          <a:prstGeom prst="rect">
            <a:avLst/>
          </a:prstGeom>
        </p:spPr>
      </p:pic>
      <p:sp>
        <p:nvSpPr>
          <p:cNvPr id="17" name="TextBox 16"/>
          <p:cNvSpPr txBox="1"/>
          <p:nvPr/>
        </p:nvSpPr>
        <p:spPr>
          <a:xfrm>
            <a:off x="1353312" y="4206240"/>
            <a:ext cx="5029200" cy="530352"/>
          </a:xfrm>
          <a:prstGeom prst="rect">
            <a:avLst/>
          </a:prstGeom>
          <a:noFill/>
        </p:spPr>
        <p:txBody>
          <a:bodyPr wrap="square" anchor="ctr" lIns="0" rIns="0" tIns="0" bIns="0">
            <a:spAutoFit/>
          </a:bodyPr>
          <a:lstStyle/>
          <a:p>
            <a:pPr algn="l">
              <a:lnSpc>
                <a:spcPct val="106000"/>
              </a:lnSpc>
              <a:spcBef>
                <a:spcPts val="0"/>
              </a:spcBef>
              <a:spcAft>
                <a:spcPts val="0"/>
              </a:spcAft>
            </a:pPr>
            <a:r>
              <a:rPr sz="1200" b="0">
                <a:solidFill>
                  <a:srgbClr val="1A1A1A"/>
                </a:solidFill>
                <a:latin typeface="Red Hat Text"/>
              </a:rPr>
              <a:t>Wire Pipelines-as-Code; push to green</a:t>
            </a:r>
          </a:p>
        </p:txBody>
      </p:sp>
      <p:sp>
        <p:nvSpPr>
          <p:cNvPr id="18" name="Rounded Rectangle 17"/>
          <p:cNvSpPr/>
          <p:nvPr/>
        </p:nvSpPr>
        <p:spPr>
          <a:xfrm>
            <a:off x="841248" y="4809744"/>
            <a:ext cx="5715000" cy="530352"/>
          </a:xfrm>
          <a:prstGeom prst="roundRect">
            <a:avLst>
              <a:gd name="adj" fmla="val 6000"/>
            </a:avLst>
          </a:prstGeom>
          <a:solidFill>
            <a:srgbClr val="F5F6F8"/>
          </a:solidFill>
          <a:ln w="12700">
            <a:solidFill>
              <a:srgbClr val="DDE1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9" name="Picture 18" descr="check_steel.png"/>
          <p:cNvPicPr>
            <a:picLocks noChangeAspect="1"/>
          </p:cNvPicPr>
          <p:nvPr/>
        </p:nvPicPr>
        <p:blipFill>
          <a:blip r:embed="rId3"/>
          <a:stretch>
            <a:fillRect/>
          </a:stretch>
        </p:blipFill>
        <p:spPr>
          <a:xfrm>
            <a:off x="987552" y="4956048"/>
            <a:ext cx="237744" cy="237744"/>
          </a:xfrm>
          <a:prstGeom prst="rect">
            <a:avLst/>
          </a:prstGeom>
        </p:spPr>
      </p:pic>
      <p:sp>
        <p:nvSpPr>
          <p:cNvPr id="20" name="TextBox 19"/>
          <p:cNvSpPr txBox="1"/>
          <p:nvPr/>
        </p:nvSpPr>
        <p:spPr>
          <a:xfrm>
            <a:off x="1353312" y="4809744"/>
            <a:ext cx="5029200" cy="530352"/>
          </a:xfrm>
          <a:prstGeom prst="rect">
            <a:avLst/>
          </a:prstGeom>
          <a:noFill/>
        </p:spPr>
        <p:txBody>
          <a:bodyPr wrap="square" anchor="ctr" lIns="0" rIns="0" tIns="0" bIns="0">
            <a:spAutoFit/>
          </a:bodyPr>
          <a:lstStyle/>
          <a:p>
            <a:pPr algn="l">
              <a:lnSpc>
                <a:spcPct val="106000"/>
              </a:lnSpc>
              <a:spcBef>
                <a:spcPts val="0"/>
              </a:spcBef>
              <a:spcAft>
                <a:spcPts val="0"/>
              </a:spcAft>
            </a:pPr>
            <a:r>
              <a:rPr sz="1200" b="0">
                <a:solidFill>
                  <a:srgbClr val="1A1A1A"/>
                </a:solidFill>
                <a:latin typeface="Red Hat Text"/>
              </a:rPr>
              <a:t>Read the image-size result the pipeline published</a:t>
            </a:r>
          </a:p>
        </p:txBody>
      </p:sp>
      <p:sp>
        <p:nvSpPr>
          <p:cNvPr id="21" name="Rounded Rectangle 20"/>
          <p:cNvSpPr/>
          <p:nvPr/>
        </p:nvSpPr>
        <p:spPr>
          <a:xfrm>
            <a:off x="6812280" y="2395728"/>
            <a:ext cx="4538167" cy="2944368"/>
          </a:xfrm>
          <a:prstGeom prst="roundRect">
            <a:avLst>
              <a:gd name="adj" fmla="val 4000"/>
            </a:avLst>
          </a:prstGeom>
          <a:solidFill>
            <a:srgbClr val="FFFFFF"/>
          </a:solidFill>
          <a:ln w="15240">
            <a:solidFill>
              <a:srgbClr val="DDE1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ounded Rectangle 21"/>
          <p:cNvSpPr/>
          <p:nvPr/>
        </p:nvSpPr>
        <p:spPr>
          <a:xfrm>
            <a:off x="7013448" y="2596896"/>
            <a:ext cx="1298448" cy="310896"/>
          </a:xfrm>
          <a:prstGeom prst="roundRect">
            <a:avLst>
              <a:gd name="adj" fmla="val 50000"/>
            </a:avLst>
          </a:prstGeom>
          <a:solidFill>
            <a:srgbClr val="FCEC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7013448" y="2596896"/>
            <a:ext cx="1298448" cy="310896"/>
          </a:xfrm>
          <a:prstGeom prst="rect">
            <a:avLst/>
          </a:prstGeom>
          <a:noFill/>
        </p:spPr>
        <p:txBody>
          <a:bodyPr wrap="none" anchor="ctr" lIns="0" rIns="0" tIns="0" bIns="0">
            <a:spAutoFit/>
          </a:bodyPr>
          <a:lstStyle/>
          <a:p>
            <a:pPr algn="ctr">
              <a:lnSpc>
                <a:spcPct val="106000"/>
              </a:lnSpc>
              <a:spcBef>
                <a:spcPts val="0"/>
              </a:spcBef>
              <a:spcAft>
                <a:spcPts val="0"/>
              </a:spcAft>
            </a:pPr>
            <a:r>
              <a:rPr sz="850" b="1">
                <a:solidFill>
                  <a:srgbClr val="B80000"/>
                </a:solidFill>
                <a:latin typeface="Red Hat Display"/>
              </a:rPr>
              <a:t>MEDIA PASS</a:t>
            </a:r>
          </a:p>
        </p:txBody>
      </p:sp>
      <p:pic>
        <p:nvPicPr>
          <p:cNvPr id="24" name="Picture 23" descr="eye_slate.png"/>
          <p:cNvPicPr>
            <a:picLocks noChangeAspect="1"/>
          </p:cNvPicPr>
          <p:nvPr/>
        </p:nvPicPr>
        <p:blipFill>
          <a:blip r:embed="rId4"/>
          <a:stretch>
            <a:fillRect/>
          </a:stretch>
        </p:blipFill>
        <p:spPr>
          <a:xfrm>
            <a:off x="8843619" y="3108960"/>
            <a:ext cx="475488" cy="475488"/>
          </a:xfrm>
          <a:prstGeom prst="rect">
            <a:avLst/>
          </a:prstGeom>
        </p:spPr>
      </p:pic>
      <p:sp>
        <p:nvSpPr>
          <p:cNvPr id="25" name="TextBox 24"/>
          <p:cNvSpPr txBox="1"/>
          <p:nvPr/>
        </p:nvSpPr>
        <p:spPr>
          <a:xfrm>
            <a:off x="7050024" y="3721608"/>
            <a:ext cx="4062679" cy="1481328"/>
          </a:xfrm>
          <a:prstGeom prst="rect">
            <a:avLst/>
          </a:prstGeom>
          <a:noFill/>
        </p:spPr>
        <p:txBody>
          <a:bodyPr wrap="square" anchor="t" lIns="0" rIns="0" tIns="0" bIns="0">
            <a:spAutoFit/>
          </a:bodyPr>
          <a:lstStyle/>
          <a:p>
            <a:pPr algn="l">
              <a:lnSpc>
                <a:spcPct val="120000"/>
              </a:lnSpc>
              <a:spcBef>
                <a:spcPts val="0"/>
              </a:spcBef>
              <a:spcAft>
                <a:spcPts val="0"/>
              </a:spcAft>
            </a:pPr>
            <a:r>
              <a:rPr sz="950" b="0">
                <a:solidFill>
                  <a:srgbClr val="8A9099"/>
                </a:solidFill>
                <a:latin typeface="Red Hat Text"/>
              </a:rPr>
              <a:t>Numbered arc strip: run → explore library → break/fix → push-to-build → read results.</a:t>
            </a:r>
          </a:p>
        </p:txBody>
      </p:sp>
      <p:cxnSp>
        <p:nvCxnSpPr>
          <p:cNvPr id="26" name="Connector 25"/>
          <p:cNvCxnSpPr/>
          <p:nvPr/>
        </p:nvCxnSpPr>
        <p:spPr>
          <a:xfrm>
            <a:off x="841248" y="6437376"/>
            <a:ext cx="10509199" cy="0"/>
          </a:xfrm>
          <a:prstGeom prst="bentConnector3">
            <a:avLst/>
          </a:prstGeom>
          <a:ln w="12700">
            <a:solidFill>
              <a:srgbClr val="DDE1E6"/>
            </a:solidFill>
          </a:ln>
          <a:effectLst/>
        </p:spPr>
        <p:style>
          <a:lnRef idx="2">
            <a:schemeClr val="accent1"/>
          </a:lnRef>
          <a:fillRef idx="0">
            <a:schemeClr val="accent1"/>
          </a:fillRef>
          <a:effectRef idx="1">
            <a:schemeClr val="accent1"/>
          </a:effectRef>
          <a:fontRef idx="minor">
            <a:schemeClr val="tx1"/>
          </a:fontRef>
        </p:style>
      </p:cxnSp>
      <p:sp>
        <p:nvSpPr>
          <p:cNvPr id="27" name="TextBox 26"/>
          <p:cNvSpPr txBox="1"/>
          <p:nvPr/>
        </p:nvSpPr>
        <p:spPr>
          <a:xfrm>
            <a:off x="841248" y="6473952"/>
            <a:ext cx="7315200" cy="274320"/>
          </a:xfrm>
          <a:prstGeom prst="rect">
            <a:avLst/>
          </a:prstGeom>
          <a:noFill/>
        </p:spPr>
        <p:txBody>
          <a:bodyPr wrap="square" anchor="t" lIns="0" rIns="0" tIns="0" bIns="0">
            <a:spAutoFit/>
          </a:bodyPr>
          <a:lstStyle/>
          <a:p>
            <a:pPr algn="l">
              <a:lnSpc>
                <a:spcPct val="106000"/>
              </a:lnSpc>
              <a:spcBef>
                <a:spcPts val="0"/>
              </a:spcBef>
              <a:spcAft>
                <a:spcPts val="0"/>
              </a:spcAft>
            </a:pPr>
            <a:r>
              <a:rPr sz="950" b="0">
                <a:solidFill>
                  <a:srgbClr val="8A9099"/>
                </a:solidFill>
                <a:latin typeface="Red Hat Text"/>
              </a:rPr>
              <a:t>CONFIDENTIAL</a:t>
            </a:r>
          </a:p>
        </p:txBody>
      </p:sp>
      <p:sp>
        <p:nvSpPr>
          <p:cNvPr id="28" name="TextBox 27"/>
          <p:cNvSpPr txBox="1"/>
          <p:nvPr/>
        </p:nvSpPr>
        <p:spPr>
          <a:xfrm>
            <a:off x="10801807" y="6473952"/>
            <a:ext cx="548640" cy="274320"/>
          </a:xfrm>
          <a:prstGeom prst="rect">
            <a:avLst/>
          </a:prstGeom>
          <a:noFill/>
        </p:spPr>
        <p:txBody>
          <a:bodyPr wrap="square" anchor="t" lIns="0" rIns="0" tIns="0" bIns="0">
            <a:spAutoFit/>
          </a:bodyPr>
          <a:lstStyle/>
          <a:p>
            <a:pPr algn="r">
              <a:lnSpc>
                <a:spcPct val="106000"/>
              </a:lnSpc>
              <a:spcBef>
                <a:spcPts val="0"/>
              </a:spcBef>
              <a:spcAft>
                <a:spcPts val="0"/>
              </a:spcAft>
            </a:pPr>
            <a:r>
              <a:rPr sz="950" b="0">
                <a:solidFill>
                  <a:srgbClr val="8A9099"/>
                </a:solidFill>
                <a:latin typeface="Red Hat Text"/>
              </a:rPr>
              <a:t>49</a:t>
            </a:r>
          </a:p>
        </p:txBody>
      </p:sp>
    </p:spTree>
  </p:cSld>
  <p:clrMapOvr>
    <a:masterClrMapping/>
  </p:clrMapOvr>
</p:sld>
</file>

<file path=ppt/slides/slide5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redhat_logo.jpg"/>
          <p:cNvPicPr>
            <a:picLocks noChangeAspect="1"/>
          </p:cNvPicPr>
          <p:nvPr/>
        </p:nvPicPr>
        <p:blipFill>
          <a:blip r:embed="rId2"/>
          <a:stretch>
            <a:fillRect/>
          </a:stretch>
        </p:blipFill>
        <p:spPr>
          <a:xfrm>
            <a:off x="10326319" y="475488"/>
            <a:ext cx="1024128" cy="242248"/>
          </a:xfrm>
          <a:prstGeom prst="rect">
            <a:avLst/>
          </a:prstGeom>
        </p:spPr>
      </p:pic>
      <p:sp>
        <p:nvSpPr>
          <p:cNvPr id="3" name="TextBox 2"/>
          <p:cNvSpPr txBox="1"/>
          <p:nvPr/>
        </p:nvSpPr>
        <p:spPr>
          <a:xfrm>
            <a:off x="841248" y="548640"/>
            <a:ext cx="8595360" cy="274320"/>
          </a:xfrm>
          <a:prstGeom prst="rect">
            <a:avLst/>
          </a:prstGeom>
          <a:noFill/>
        </p:spPr>
        <p:txBody>
          <a:bodyPr wrap="square" anchor="t" lIns="0" rIns="0" tIns="0" bIns="0">
            <a:spAutoFit/>
          </a:bodyPr>
          <a:lstStyle/>
          <a:p>
            <a:pPr algn="l">
              <a:lnSpc>
                <a:spcPct val="106000"/>
              </a:lnSpc>
              <a:spcBef>
                <a:spcPts val="0"/>
              </a:spcBef>
              <a:spcAft>
                <a:spcPts val="0"/>
              </a:spcAft>
            </a:pPr>
            <a:r>
              <a:rPr sz="1250" b="1" spc="220">
                <a:solidFill>
                  <a:srgbClr val="EE0000"/>
                </a:solidFill>
                <a:latin typeface="Red Hat Display"/>
              </a:rPr>
              <a:t>M07 · PIPELINES FUNDAMENTALS &amp; TASK LIBRARIES</a:t>
            </a:r>
          </a:p>
        </p:txBody>
      </p:sp>
      <p:sp>
        <p:nvSpPr>
          <p:cNvPr id="4" name="TextBox 3"/>
          <p:cNvSpPr txBox="1"/>
          <p:nvPr/>
        </p:nvSpPr>
        <p:spPr>
          <a:xfrm>
            <a:off x="841248" y="877824"/>
            <a:ext cx="10515600" cy="548640"/>
          </a:xfrm>
          <a:prstGeom prst="rect">
            <a:avLst/>
          </a:prstGeom>
          <a:noFill/>
        </p:spPr>
        <p:txBody>
          <a:bodyPr wrap="none" anchor="t" lIns="0" rIns="0" tIns="0" bIns="0">
            <a:spAutoFit/>
          </a:bodyPr>
          <a:lstStyle/>
          <a:p>
            <a:pPr algn="l">
              <a:lnSpc>
                <a:spcPct val="100000"/>
              </a:lnSpc>
              <a:spcBef>
                <a:spcPts val="0"/>
              </a:spcBef>
              <a:spcAft>
                <a:spcPts val="0"/>
              </a:spcAft>
            </a:pPr>
            <a:r>
              <a:rPr sz="2500" b="1">
                <a:solidFill>
                  <a:srgbClr val="1A1A1A"/>
                </a:solidFill>
                <a:latin typeface="Red Hat Display"/>
              </a:rPr>
              <a:t>Map to your org — and when not</a:t>
            </a:r>
          </a:p>
        </p:txBody>
      </p:sp>
      <p:cxnSp>
        <p:nvCxnSpPr>
          <p:cNvPr id="5" name="Connector 4"/>
          <p:cNvCxnSpPr/>
          <p:nvPr/>
        </p:nvCxnSpPr>
        <p:spPr>
          <a:xfrm>
            <a:off x="841248" y="1554480"/>
            <a:ext cx="1371600" cy="0"/>
          </a:xfrm>
          <a:prstGeom prst="bentConnector3">
            <a:avLst/>
          </a:prstGeom>
          <a:ln w="31750">
            <a:solidFill>
              <a:srgbClr val="EE0000"/>
            </a:solidFill>
          </a:ln>
          <a:effectLst/>
        </p:spPr>
        <p:style>
          <a:lnRef idx="2">
            <a:schemeClr val="accent1"/>
          </a:lnRef>
          <a:fillRef idx="0">
            <a:schemeClr val="accent1"/>
          </a:fillRef>
          <a:effectRef idx="1">
            <a:schemeClr val="accent1"/>
          </a:effectRef>
          <a:fontRef idx="minor">
            <a:schemeClr val="tx1"/>
          </a:fontRef>
        </p:style>
      </p:cxnSp>
      <p:sp>
        <p:nvSpPr>
          <p:cNvPr id="6" name="Rounded Rectangle 5"/>
          <p:cNvSpPr/>
          <p:nvPr/>
        </p:nvSpPr>
        <p:spPr>
          <a:xfrm>
            <a:off x="841248" y="2395728"/>
            <a:ext cx="5715000" cy="530352"/>
          </a:xfrm>
          <a:prstGeom prst="roundRect">
            <a:avLst>
              <a:gd name="adj" fmla="val 6000"/>
            </a:avLst>
          </a:prstGeom>
          <a:solidFill>
            <a:srgbClr val="F5F6F8"/>
          </a:solidFill>
          <a:ln w="12700">
            <a:solidFill>
              <a:srgbClr val="DDE1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check_steel.png"/>
          <p:cNvPicPr>
            <a:picLocks noChangeAspect="1"/>
          </p:cNvPicPr>
          <p:nvPr/>
        </p:nvPicPr>
        <p:blipFill>
          <a:blip r:embed="rId3"/>
          <a:stretch>
            <a:fillRect/>
          </a:stretch>
        </p:blipFill>
        <p:spPr>
          <a:xfrm>
            <a:off x="987552" y="2542032"/>
            <a:ext cx="237744" cy="237744"/>
          </a:xfrm>
          <a:prstGeom prst="rect">
            <a:avLst/>
          </a:prstGeom>
        </p:spPr>
      </p:pic>
      <p:sp>
        <p:nvSpPr>
          <p:cNvPr id="8" name="TextBox 7"/>
          <p:cNvSpPr txBox="1"/>
          <p:nvPr/>
        </p:nvSpPr>
        <p:spPr>
          <a:xfrm>
            <a:off x="1353312" y="2395728"/>
            <a:ext cx="5029200" cy="530352"/>
          </a:xfrm>
          <a:prstGeom prst="rect">
            <a:avLst/>
          </a:prstGeom>
          <a:noFill/>
        </p:spPr>
        <p:txBody>
          <a:bodyPr wrap="square" anchor="ctr" lIns="0" rIns="0" tIns="0" bIns="0">
            <a:spAutoFit/>
          </a:bodyPr>
          <a:lstStyle/>
          <a:p>
            <a:pPr algn="l">
              <a:lnSpc>
                <a:spcPct val="106000"/>
              </a:lnSpc>
              <a:spcBef>
                <a:spcPts val="0"/>
              </a:spcBef>
              <a:spcAft>
                <a:spcPts val="0"/>
              </a:spcAft>
            </a:pPr>
            <a:r>
              <a:rPr sz="1200" b="0">
                <a:solidFill>
                  <a:srgbClr val="1A1A1A"/>
                </a:solidFill>
                <a:latin typeface="Red Hat Text"/>
              </a:rPr>
              <a:t>Where does "how we build this" actually live?</a:t>
            </a:r>
          </a:p>
        </p:txBody>
      </p:sp>
      <p:sp>
        <p:nvSpPr>
          <p:cNvPr id="9" name="Rounded Rectangle 8"/>
          <p:cNvSpPr/>
          <p:nvPr/>
        </p:nvSpPr>
        <p:spPr>
          <a:xfrm>
            <a:off x="841248" y="2999232"/>
            <a:ext cx="5715000" cy="530352"/>
          </a:xfrm>
          <a:prstGeom prst="roundRect">
            <a:avLst>
              <a:gd name="adj" fmla="val 6000"/>
            </a:avLst>
          </a:prstGeom>
          <a:solidFill>
            <a:srgbClr val="F5F6F8"/>
          </a:solidFill>
          <a:ln w="12700">
            <a:solidFill>
              <a:srgbClr val="DDE1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0" name="Picture 9" descr="check_steel.png"/>
          <p:cNvPicPr>
            <a:picLocks noChangeAspect="1"/>
          </p:cNvPicPr>
          <p:nvPr/>
        </p:nvPicPr>
        <p:blipFill>
          <a:blip r:embed="rId3"/>
          <a:stretch>
            <a:fillRect/>
          </a:stretch>
        </p:blipFill>
        <p:spPr>
          <a:xfrm>
            <a:off x="987552" y="3145536"/>
            <a:ext cx="237744" cy="237744"/>
          </a:xfrm>
          <a:prstGeom prst="rect">
            <a:avLst/>
          </a:prstGeom>
        </p:spPr>
      </p:pic>
      <p:sp>
        <p:nvSpPr>
          <p:cNvPr id="11" name="TextBox 10"/>
          <p:cNvSpPr txBox="1"/>
          <p:nvPr/>
        </p:nvSpPr>
        <p:spPr>
          <a:xfrm>
            <a:off x="1353312" y="2999232"/>
            <a:ext cx="5029200" cy="530352"/>
          </a:xfrm>
          <a:prstGeom prst="rect">
            <a:avLst/>
          </a:prstGeom>
          <a:noFill/>
        </p:spPr>
        <p:txBody>
          <a:bodyPr wrap="square" anchor="ctr" lIns="0" rIns="0" tIns="0" bIns="0">
            <a:spAutoFit/>
          </a:bodyPr>
          <a:lstStyle/>
          <a:p>
            <a:pPr algn="l">
              <a:lnSpc>
                <a:spcPct val="106000"/>
              </a:lnSpc>
              <a:spcBef>
                <a:spcPts val="0"/>
              </a:spcBef>
              <a:spcAft>
                <a:spcPts val="0"/>
              </a:spcAft>
            </a:pPr>
            <a:r>
              <a:rPr sz="1200" b="0">
                <a:solidFill>
                  <a:srgbClr val="1A1A1A"/>
                </a:solidFill>
                <a:latin typeface="Red Hat Text"/>
              </a:rPr>
              <a:t>What's your library's first Task (your Java 17/21 gap)?</a:t>
            </a:r>
          </a:p>
        </p:txBody>
      </p:sp>
      <p:sp>
        <p:nvSpPr>
          <p:cNvPr id="12" name="Rounded Rectangle 11"/>
          <p:cNvSpPr/>
          <p:nvPr/>
        </p:nvSpPr>
        <p:spPr>
          <a:xfrm>
            <a:off x="841248" y="3602736"/>
            <a:ext cx="5715000" cy="530352"/>
          </a:xfrm>
          <a:prstGeom prst="roundRect">
            <a:avLst>
              <a:gd name="adj" fmla="val 6000"/>
            </a:avLst>
          </a:prstGeom>
          <a:solidFill>
            <a:srgbClr val="F5F6F8"/>
          </a:solidFill>
          <a:ln w="12700">
            <a:solidFill>
              <a:srgbClr val="DDE1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3" name="Picture 12" descr="check_steel.png"/>
          <p:cNvPicPr>
            <a:picLocks noChangeAspect="1"/>
          </p:cNvPicPr>
          <p:nvPr/>
        </p:nvPicPr>
        <p:blipFill>
          <a:blip r:embed="rId3"/>
          <a:stretch>
            <a:fillRect/>
          </a:stretch>
        </p:blipFill>
        <p:spPr>
          <a:xfrm>
            <a:off x="987552" y="3749040"/>
            <a:ext cx="237744" cy="237744"/>
          </a:xfrm>
          <a:prstGeom prst="rect">
            <a:avLst/>
          </a:prstGeom>
        </p:spPr>
      </p:pic>
      <p:sp>
        <p:nvSpPr>
          <p:cNvPr id="14" name="TextBox 13"/>
          <p:cNvSpPr txBox="1"/>
          <p:nvPr/>
        </p:nvSpPr>
        <p:spPr>
          <a:xfrm>
            <a:off x="1353312" y="3602736"/>
            <a:ext cx="5029200" cy="530352"/>
          </a:xfrm>
          <a:prstGeom prst="rect">
            <a:avLst/>
          </a:prstGeom>
          <a:noFill/>
        </p:spPr>
        <p:txBody>
          <a:bodyPr wrap="square" anchor="ctr" lIns="0" rIns="0" tIns="0" bIns="0">
            <a:spAutoFit/>
          </a:bodyPr>
          <a:lstStyle/>
          <a:p>
            <a:pPr algn="l">
              <a:lnSpc>
                <a:spcPct val="106000"/>
              </a:lnSpc>
              <a:spcBef>
                <a:spcPts val="0"/>
              </a:spcBef>
              <a:spcAft>
                <a:spcPts val="0"/>
              </a:spcAft>
            </a:pPr>
            <a:r>
              <a:rPr sz="1200" b="0">
                <a:solidFill>
                  <a:srgbClr val="1A1A1A"/>
                </a:solidFill>
                <a:latin typeface="Red Hat Text"/>
              </a:rPr>
              <a:t>Which test do you wish had gated a past incident?</a:t>
            </a:r>
          </a:p>
        </p:txBody>
      </p:sp>
      <p:sp>
        <p:nvSpPr>
          <p:cNvPr id="15" name="Rounded Rectangle 14"/>
          <p:cNvSpPr/>
          <p:nvPr/>
        </p:nvSpPr>
        <p:spPr>
          <a:xfrm>
            <a:off x="841248" y="4206240"/>
            <a:ext cx="5715000" cy="530352"/>
          </a:xfrm>
          <a:prstGeom prst="roundRect">
            <a:avLst>
              <a:gd name="adj" fmla="val 6000"/>
            </a:avLst>
          </a:prstGeom>
          <a:solidFill>
            <a:srgbClr val="F5F6F8"/>
          </a:solidFill>
          <a:ln w="12700">
            <a:solidFill>
              <a:srgbClr val="DDE1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6" name="Picture 15" descr="check_steel.png"/>
          <p:cNvPicPr>
            <a:picLocks noChangeAspect="1"/>
          </p:cNvPicPr>
          <p:nvPr/>
        </p:nvPicPr>
        <p:blipFill>
          <a:blip r:embed="rId3"/>
          <a:stretch>
            <a:fillRect/>
          </a:stretch>
        </p:blipFill>
        <p:spPr>
          <a:xfrm>
            <a:off x="987552" y="4352544"/>
            <a:ext cx="237744" cy="237744"/>
          </a:xfrm>
          <a:prstGeom prst="rect">
            <a:avLst/>
          </a:prstGeom>
        </p:spPr>
      </p:pic>
      <p:sp>
        <p:nvSpPr>
          <p:cNvPr id="17" name="TextBox 16"/>
          <p:cNvSpPr txBox="1"/>
          <p:nvPr/>
        </p:nvSpPr>
        <p:spPr>
          <a:xfrm>
            <a:off x="1353312" y="4206240"/>
            <a:ext cx="5029200" cy="530352"/>
          </a:xfrm>
          <a:prstGeom prst="rect">
            <a:avLst/>
          </a:prstGeom>
          <a:noFill/>
        </p:spPr>
        <p:txBody>
          <a:bodyPr wrap="square" anchor="ctr" lIns="0" rIns="0" tIns="0" bIns="0">
            <a:spAutoFit/>
          </a:bodyPr>
          <a:lstStyle/>
          <a:p>
            <a:pPr algn="l">
              <a:lnSpc>
                <a:spcPct val="106000"/>
              </a:lnSpc>
              <a:spcBef>
                <a:spcPts val="0"/>
              </a:spcBef>
              <a:spcAft>
                <a:spcPts val="0"/>
              </a:spcAft>
            </a:pPr>
            <a:r>
              <a:rPr sz="1200" b="0">
                <a:solidFill>
                  <a:srgbClr val="1A1A1A"/>
                </a:solidFill>
                <a:latin typeface="Red Hat Text"/>
              </a:rPr>
              <a:t>Don't pipeline a one-off; don't build one monolith</a:t>
            </a:r>
          </a:p>
        </p:txBody>
      </p:sp>
      <p:sp>
        <p:nvSpPr>
          <p:cNvPr id="18" name="Rounded Rectangle 17"/>
          <p:cNvSpPr/>
          <p:nvPr/>
        </p:nvSpPr>
        <p:spPr>
          <a:xfrm>
            <a:off x="841248" y="4809744"/>
            <a:ext cx="5715000" cy="530352"/>
          </a:xfrm>
          <a:prstGeom prst="roundRect">
            <a:avLst>
              <a:gd name="adj" fmla="val 6000"/>
            </a:avLst>
          </a:prstGeom>
          <a:solidFill>
            <a:srgbClr val="F5F6F8"/>
          </a:solidFill>
          <a:ln w="12700">
            <a:solidFill>
              <a:srgbClr val="DDE1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9" name="Picture 18" descr="check_steel.png"/>
          <p:cNvPicPr>
            <a:picLocks noChangeAspect="1"/>
          </p:cNvPicPr>
          <p:nvPr/>
        </p:nvPicPr>
        <p:blipFill>
          <a:blip r:embed="rId3"/>
          <a:stretch>
            <a:fillRect/>
          </a:stretch>
        </p:blipFill>
        <p:spPr>
          <a:xfrm>
            <a:off x="987552" y="4956048"/>
            <a:ext cx="237744" cy="237744"/>
          </a:xfrm>
          <a:prstGeom prst="rect">
            <a:avLst/>
          </a:prstGeom>
        </p:spPr>
      </p:pic>
      <p:sp>
        <p:nvSpPr>
          <p:cNvPr id="20" name="TextBox 19"/>
          <p:cNvSpPr txBox="1"/>
          <p:nvPr/>
        </p:nvSpPr>
        <p:spPr>
          <a:xfrm>
            <a:off x="1353312" y="4809744"/>
            <a:ext cx="5029200" cy="530352"/>
          </a:xfrm>
          <a:prstGeom prst="rect">
            <a:avLst/>
          </a:prstGeom>
          <a:noFill/>
        </p:spPr>
        <p:txBody>
          <a:bodyPr wrap="square" anchor="ctr" lIns="0" rIns="0" tIns="0" bIns="0">
            <a:spAutoFit/>
          </a:bodyPr>
          <a:lstStyle/>
          <a:p>
            <a:pPr algn="l">
              <a:lnSpc>
                <a:spcPct val="106000"/>
              </a:lnSpc>
              <a:spcBef>
                <a:spcPts val="0"/>
              </a:spcBef>
              <a:spcAft>
                <a:spcPts val="0"/>
              </a:spcAft>
            </a:pPr>
            <a:r>
              <a:rPr sz="1200" b="0">
                <a:solidFill>
                  <a:srgbClr val="1A1A1A"/>
                </a:solidFill>
                <a:latin typeface="Red Hat Text"/>
              </a:rPr>
              <a:t>Don't treat a CI-namespace deploy as production</a:t>
            </a:r>
          </a:p>
        </p:txBody>
      </p:sp>
      <p:sp>
        <p:nvSpPr>
          <p:cNvPr id="21" name="Rounded Rectangle 20"/>
          <p:cNvSpPr/>
          <p:nvPr/>
        </p:nvSpPr>
        <p:spPr>
          <a:xfrm>
            <a:off x="6812280" y="2395728"/>
            <a:ext cx="4538167" cy="2944368"/>
          </a:xfrm>
          <a:prstGeom prst="roundRect">
            <a:avLst>
              <a:gd name="adj" fmla="val 4000"/>
            </a:avLst>
          </a:prstGeom>
          <a:solidFill>
            <a:srgbClr val="FFFFFF"/>
          </a:solidFill>
          <a:ln w="15240">
            <a:solidFill>
              <a:srgbClr val="DDE1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ounded Rectangle 21"/>
          <p:cNvSpPr/>
          <p:nvPr/>
        </p:nvSpPr>
        <p:spPr>
          <a:xfrm>
            <a:off x="7013448" y="2596896"/>
            <a:ext cx="1298448" cy="310896"/>
          </a:xfrm>
          <a:prstGeom prst="roundRect">
            <a:avLst>
              <a:gd name="adj" fmla="val 50000"/>
            </a:avLst>
          </a:prstGeom>
          <a:solidFill>
            <a:srgbClr val="FCEC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7013448" y="2596896"/>
            <a:ext cx="1298448" cy="310896"/>
          </a:xfrm>
          <a:prstGeom prst="rect">
            <a:avLst/>
          </a:prstGeom>
          <a:noFill/>
        </p:spPr>
        <p:txBody>
          <a:bodyPr wrap="none" anchor="ctr" lIns="0" rIns="0" tIns="0" bIns="0">
            <a:spAutoFit/>
          </a:bodyPr>
          <a:lstStyle/>
          <a:p>
            <a:pPr algn="ctr">
              <a:lnSpc>
                <a:spcPct val="106000"/>
              </a:lnSpc>
              <a:spcBef>
                <a:spcPts val="0"/>
              </a:spcBef>
              <a:spcAft>
                <a:spcPts val="0"/>
              </a:spcAft>
            </a:pPr>
            <a:r>
              <a:rPr sz="850" b="1">
                <a:solidFill>
                  <a:srgbClr val="B80000"/>
                </a:solidFill>
                <a:latin typeface="Red Hat Display"/>
              </a:rPr>
              <a:t>MEDIA PASS</a:t>
            </a:r>
          </a:p>
        </p:txBody>
      </p:sp>
      <p:pic>
        <p:nvPicPr>
          <p:cNvPr id="24" name="Picture 23" descr="eye_slate.png"/>
          <p:cNvPicPr>
            <a:picLocks noChangeAspect="1"/>
          </p:cNvPicPr>
          <p:nvPr/>
        </p:nvPicPr>
        <p:blipFill>
          <a:blip r:embed="rId4"/>
          <a:stretch>
            <a:fillRect/>
          </a:stretch>
        </p:blipFill>
        <p:spPr>
          <a:xfrm>
            <a:off x="8843619" y="3108960"/>
            <a:ext cx="475488" cy="475488"/>
          </a:xfrm>
          <a:prstGeom prst="rect">
            <a:avLst/>
          </a:prstGeom>
        </p:spPr>
      </p:pic>
      <p:sp>
        <p:nvSpPr>
          <p:cNvPr id="25" name="TextBox 24"/>
          <p:cNvSpPr txBox="1"/>
          <p:nvPr/>
        </p:nvSpPr>
        <p:spPr>
          <a:xfrm>
            <a:off x="7050024" y="3721608"/>
            <a:ext cx="4062679" cy="1481328"/>
          </a:xfrm>
          <a:prstGeom prst="rect">
            <a:avLst/>
          </a:prstGeom>
          <a:noFill/>
        </p:spPr>
        <p:txBody>
          <a:bodyPr wrap="square" anchor="t" lIns="0" rIns="0" tIns="0" bIns="0">
            <a:spAutoFit/>
          </a:bodyPr>
          <a:lstStyle/>
          <a:p>
            <a:pPr algn="l">
              <a:lnSpc>
                <a:spcPct val="120000"/>
              </a:lnSpc>
              <a:spcBef>
                <a:spcPts val="0"/>
              </a:spcBef>
              <a:spcAft>
                <a:spcPts val="0"/>
              </a:spcAft>
            </a:pPr>
            <a:r>
              <a:rPr sz="950" b="0">
                <a:solidFill>
                  <a:srgbClr val="8A9099"/>
                </a:solidFill>
                <a:latin typeface="Red Hat Text"/>
              </a:rPr>
              <a:t>Two-column card "reach for a pipeline / a terminal is enough", with a footnote pointer to the Supply Chain and GitOps modules.</a:t>
            </a:r>
          </a:p>
        </p:txBody>
      </p:sp>
      <p:cxnSp>
        <p:nvCxnSpPr>
          <p:cNvPr id="26" name="Connector 25"/>
          <p:cNvCxnSpPr/>
          <p:nvPr/>
        </p:nvCxnSpPr>
        <p:spPr>
          <a:xfrm>
            <a:off x="841248" y="6437376"/>
            <a:ext cx="10509199" cy="0"/>
          </a:xfrm>
          <a:prstGeom prst="bentConnector3">
            <a:avLst/>
          </a:prstGeom>
          <a:ln w="12700">
            <a:solidFill>
              <a:srgbClr val="DDE1E6"/>
            </a:solidFill>
          </a:ln>
          <a:effectLst/>
        </p:spPr>
        <p:style>
          <a:lnRef idx="2">
            <a:schemeClr val="accent1"/>
          </a:lnRef>
          <a:fillRef idx="0">
            <a:schemeClr val="accent1"/>
          </a:fillRef>
          <a:effectRef idx="1">
            <a:schemeClr val="accent1"/>
          </a:effectRef>
          <a:fontRef idx="minor">
            <a:schemeClr val="tx1"/>
          </a:fontRef>
        </p:style>
      </p:cxnSp>
      <p:sp>
        <p:nvSpPr>
          <p:cNvPr id="27" name="TextBox 26"/>
          <p:cNvSpPr txBox="1"/>
          <p:nvPr/>
        </p:nvSpPr>
        <p:spPr>
          <a:xfrm>
            <a:off x="841248" y="6473952"/>
            <a:ext cx="7315200" cy="274320"/>
          </a:xfrm>
          <a:prstGeom prst="rect">
            <a:avLst/>
          </a:prstGeom>
          <a:noFill/>
        </p:spPr>
        <p:txBody>
          <a:bodyPr wrap="square" anchor="t" lIns="0" rIns="0" tIns="0" bIns="0">
            <a:spAutoFit/>
          </a:bodyPr>
          <a:lstStyle/>
          <a:p>
            <a:pPr algn="l">
              <a:lnSpc>
                <a:spcPct val="106000"/>
              </a:lnSpc>
              <a:spcBef>
                <a:spcPts val="0"/>
              </a:spcBef>
              <a:spcAft>
                <a:spcPts val="0"/>
              </a:spcAft>
            </a:pPr>
            <a:r>
              <a:rPr sz="950" b="0">
                <a:solidFill>
                  <a:srgbClr val="8A9099"/>
                </a:solidFill>
                <a:latin typeface="Red Hat Text"/>
              </a:rPr>
              <a:t>CONFIDENTIAL</a:t>
            </a:r>
          </a:p>
        </p:txBody>
      </p:sp>
      <p:sp>
        <p:nvSpPr>
          <p:cNvPr id="28" name="TextBox 27"/>
          <p:cNvSpPr txBox="1"/>
          <p:nvPr/>
        </p:nvSpPr>
        <p:spPr>
          <a:xfrm>
            <a:off x="10801807" y="6473952"/>
            <a:ext cx="548640" cy="274320"/>
          </a:xfrm>
          <a:prstGeom prst="rect">
            <a:avLst/>
          </a:prstGeom>
          <a:noFill/>
        </p:spPr>
        <p:txBody>
          <a:bodyPr wrap="square" anchor="t" lIns="0" rIns="0" tIns="0" bIns="0">
            <a:spAutoFit/>
          </a:bodyPr>
          <a:lstStyle/>
          <a:p>
            <a:pPr algn="r">
              <a:lnSpc>
                <a:spcPct val="106000"/>
              </a:lnSpc>
              <a:spcBef>
                <a:spcPts val="0"/>
              </a:spcBef>
              <a:spcAft>
                <a:spcPts val="0"/>
              </a:spcAft>
            </a:pPr>
            <a:r>
              <a:rPr sz="950" b="0">
                <a:solidFill>
                  <a:srgbClr val="8A9099"/>
                </a:solidFill>
                <a:latin typeface="Red Hat Text"/>
              </a:rPr>
              <a:t>50</a:t>
            </a:r>
          </a:p>
        </p:txBody>
      </p:sp>
    </p:spTree>
  </p:cSld>
  <p:clrMapOvr>
    <a:masterClrMapping/>
  </p:clrMapOvr>
</p:sld>
</file>

<file path=ppt/slides/slide5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redhat_logo.jpg"/>
          <p:cNvPicPr>
            <a:picLocks noChangeAspect="1"/>
          </p:cNvPicPr>
          <p:nvPr/>
        </p:nvPicPr>
        <p:blipFill>
          <a:blip r:embed="rId2"/>
          <a:stretch>
            <a:fillRect/>
          </a:stretch>
        </p:blipFill>
        <p:spPr>
          <a:xfrm>
            <a:off x="841248" y="731520"/>
            <a:ext cx="1554480" cy="367699"/>
          </a:xfrm>
          <a:prstGeom prst="rect">
            <a:avLst/>
          </a:prstGeom>
        </p:spPr>
      </p:pic>
      <p:sp>
        <p:nvSpPr>
          <p:cNvPr id="3" name="TextBox 2"/>
          <p:cNvSpPr txBox="1"/>
          <p:nvPr/>
        </p:nvSpPr>
        <p:spPr>
          <a:xfrm>
            <a:off x="841248" y="2514600"/>
            <a:ext cx="9601200" cy="274320"/>
          </a:xfrm>
          <a:prstGeom prst="rect">
            <a:avLst/>
          </a:prstGeom>
          <a:noFill/>
        </p:spPr>
        <p:txBody>
          <a:bodyPr wrap="square" anchor="t" lIns="0" rIns="0" tIns="0" bIns="0">
            <a:spAutoFit/>
          </a:bodyPr>
          <a:lstStyle/>
          <a:p>
            <a:pPr algn="l">
              <a:lnSpc>
                <a:spcPct val="106000"/>
              </a:lnSpc>
              <a:spcBef>
                <a:spcPts val="0"/>
              </a:spcBef>
              <a:spcAft>
                <a:spcPts val="0"/>
              </a:spcAft>
            </a:pPr>
            <a:r>
              <a:rPr sz="1250" b="1" spc="180">
                <a:solidFill>
                  <a:srgbClr val="EE0000"/>
                </a:solidFill>
                <a:latin typeface="Red Hat Display"/>
              </a:rPr>
              <a:t>B · DELIVERY &amp; TRUST</a:t>
            </a:r>
          </a:p>
        </p:txBody>
      </p:sp>
      <p:sp>
        <p:nvSpPr>
          <p:cNvPr id="4" name="TextBox 3"/>
          <p:cNvSpPr txBox="1"/>
          <p:nvPr/>
        </p:nvSpPr>
        <p:spPr>
          <a:xfrm>
            <a:off x="841248" y="2880360"/>
            <a:ext cx="2103120" cy="1188720"/>
          </a:xfrm>
          <a:prstGeom prst="rect">
            <a:avLst/>
          </a:prstGeom>
          <a:noFill/>
        </p:spPr>
        <p:txBody>
          <a:bodyPr wrap="none" anchor="t" lIns="0" rIns="0" tIns="0" bIns="0">
            <a:spAutoFit/>
          </a:bodyPr>
          <a:lstStyle/>
          <a:p>
            <a:pPr algn="l">
              <a:lnSpc>
                <a:spcPct val="90000"/>
              </a:lnSpc>
              <a:spcBef>
                <a:spcPts val="0"/>
              </a:spcBef>
              <a:spcAft>
                <a:spcPts val="0"/>
              </a:spcAft>
            </a:pPr>
            <a:r>
              <a:rPr sz="5200" b="1">
                <a:solidFill>
                  <a:srgbClr val="B80000"/>
                </a:solidFill>
                <a:latin typeface="Red Hat Display"/>
              </a:rPr>
              <a:t>M08</a:t>
            </a:r>
          </a:p>
        </p:txBody>
      </p:sp>
      <p:sp>
        <p:nvSpPr>
          <p:cNvPr id="5" name="TextBox 4"/>
          <p:cNvSpPr txBox="1"/>
          <p:nvPr/>
        </p:nvSpPr>
        <p:spPr>
          <a:xfrm>
            <a:off x="3127248" y="2971800"/>
            <a:ext cx="8412480" cy="1188720"/>
          </a:xfrm>
          <a:prstGeom prst="rect">
            <a:avLst/>
          </a:prstGeom>
          <a:noFill/>
        </p:spPr>
        <p:txBody>
          <a:bodyPr wrap="square" anchor="t" lIns="0" rIns="0" tIns="0" bIns="0">
            <a:spAutoFit/>
          </a:bodyPr>
          <a:lstStyle/>
          <a:p>
            <a:pPr algn="l">
              <a:lnSpc>
                <a:spcPct val="102000"/>
              </a:lnSpc>
              <a:spcBef>
                <a:spcPts val="0"/>
              </a:spcBef>
              <a:spcAft>
                <a:spcPts val="0"/>
              </a:spcAft>
            </a:pPr>
            <a:r>
              <a:rPr sz="3000" b="1">
                <a:solidFill>
                  <a:srgbClr val="1A1A1A"/>
                </a:solidFill>
                <a:latin typeface="Red Hat Display"/>
              </a:rPr>
              <a:t>Application Security Testing</a:t>
            </a:r>
          </a:p>
        </p:txBody>
      </p:sp>
      <p:cxnSp>
        <p:nvCxnSpPr>
          <p:cNvPr id="6" name="Connector 5"/>
          <p:cNvCxnSpPr/>
          <p:nvPr/>
        </p:nvCxnSpPr>
        <p:spPr>
          <a:xfrm>
            <a:off x="841248" y="4443984"/>
            <a:ext cx="1463040" cy="0"/>
          </a:xfrm>
          <a:prstGeom prst="bentConnector3">
            <a:avLst/>
          </a:prstGeom>
          <a:ln w="38100">
            <a:solidFill>
              <a:srgbClr val="EE0000"/>
            </a:solidFill>
          </a:ln>
          <a:effectLst/>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841248" y="4617720"/>
            <a:ext cx="9692640" cy="457200"/>
          </a:xfrm>
          <a:prstGeom prst="rect">
            <a:avLst/>
          </a:prstGeom>
          <a:noFill/>
        </p:spPr>
        <p:txBody>
          <a:bodyPr wrap="square" anchor="t" lIns="0" rIns="0" tIns="0" bIns="0">
            <a:spAutoFit/>
          </a:bodyPr>
          <a:lstStyle/>
          <a:p>
            <a:pPr algn="l">
              <a:lnSpc>
                <a:spcPct val="106000"/>
              </a:lnSpc>
              <a:spcBef>
                <a:spcPts val="0"/>
              </a:spcBef>
              <a:spcAft>
                <a:spcPts val="0"/>
              </a:spcAft>
            </a:pPr>
            <a:r>
              <a:rPr sz="1500" b="0">
                <a:solidFill>
                  <a:srgbClr val="555960"/>
                </a:solidFill>
                <a:latin typeface="Red Hat Text"/>
              </a:rPr>
              <a:t>SAST · SCA · DAST</a:t>
            </a:r>
          </a:p>
        </p:txBody>
      </p:sp>
    </p:spTree>
  </p:cSld>
  <p:clrMapOvr>
    <a:masterClrMapping/>
  </p:clrMapOvr>
</p:sld>
</file>

<file path=ppt/slides/slide5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redhat_logo.jpg"/>
          <p:cNvPicPr>
            <a:picLocks noChangeAspect="1"/>
          </p:cNvPicPr>
          <p:nvPr/>
        </p:nvPicPr>
        <p:blipFill>
          <a:blip r:embed="rId2"/>
          <a:stretch>
            <a:fillRect/>
          </a:stretch>
        </p:blipFill>
        <p:spPr>
          <a:xfrm>
            <a:off x="10326319" y="475488"/>
            <a:ext cx="1024128" cy="242248"/>
          </a:xfrm>
          <a:prstGeom prst="rect">
            <a:avLst/>
          </a:prstGeom>
        </p:spPr>
      </p:pic>
      <p:sp>
        <p:nvSpPr>
          <p:cNvPr id="3" name="TextBox 2"/>
          <p:cNvSpPr txBox="1"/>
          <p:nvPr/>
        </p:nvSpPr>
        <p:spPr>
          <a:xfrm>
            <a:off x="841248" y="548640"/>
            <a:ext cx="8595360" cy="274320"/>
          </a:xfrm>
          <a:prstGeom prst="rect">
            <a:avLst/>
          </a:prstGeom>
          <a:noFill/>
        </p:spPr>
        <p:txBody>
          <a:bodyPr wrap="square" anchor="t" lIns="0" rIns="0" tIns="0" bIns="0">
            <a:spAutoFit/>
          </a:bodyPr>
          <a:lstStyle/>
          <a:p>
            <a:pPr algn="l">
              <a:lnSpc>
                <a:spcPct val="106000"/>
              </a:lnSpc>
              <a:spcBef>
                <a:spcPts val="0"/>
              </a:spcBef>
              <a:spcAft>
                <a:spcPts val="0"/>
              </a:spcAft>
            </a:pPr>
            <a:r>
              <a:rPr sz="1250" b="1" spc="220">
                <a:solidFill>
                  <a:srgbClr val="EE0000"/>
                </a:solidFill>
                <a:latin typeface="Red Hat Display"/>
              </a:rPr>
              <a:t>M08 · APPLICATION SECURITY TESTING</a:t>
            </a:r>
          </a:p>
        </p:txBody>
      </p:sp>
      <p:sp>
        <p:nvSpPr>
          <p:cNvPr id="4" name="TextBox 3"/>
          <p:cNvSpPr txBox="1"/>
          <p:nvPr/>
        </p:nvSpPr>
        <p:spPr>
          <a:xfrm>
            <a:off x="841248" y="877824"/>
            <a:ext cx="10515600" cy="548640"/>
          </a:xfrm>
          <a:prstGeom prst="rect">
            <a:avLst/>
          </a:prstGeom>
          <a:noFill/>
        </p:spPr>
        <p:txBody>
          <a:bodyPr wrap="none" anchor="t" lIns="0" rIns="0" tIns="0" bIns="0">
            <a:spAutoFit/>
          </a:bodyPr>
          <a:lstStyle/>
          <a:p>
            <a:pPr algn="l">
              <a:lnSpc>
                <a:spcPct val="100000"/>
              </a:lnSpc>
              <a:spcBef>
                <a:spcPts val="0"/>
              </a:spcBef>
              <a:spcAft>
                <a:spcPts val="0"/>
              </a:spcAft>
            </a:pPr>
            <a:r>
              <a:rPr sz="2500" b="1">
                <a:solidFill>
                  <a:srgbClr val="1A1A1A"/>
                </a:solidFill>
                <a:latin typeface="Red Hat Display"/>
              </a:rPr>
              <a:t>A green build is not a safe build</a:t>
            </a:r>
          </a:p>
        </p:txBody>
      </p:sp>
      <p:cxnSp>
        <p:nvCxnSpPr>
          <p:cNvPr id="5" name="Connector 4"/>
          <p:cNvCxnSpPr/>
          <p:nvPr/>
        </p:nvCxnSpPr>
        <p:spPr>
          <a:xfrm>
            <a:off x="841248" y="1554480"/>
            <a:ext cx="1371600" cy="0"/>
          </a:xfrm>
          <a:prstGeom prst="bentConnector3">
            <a:avLst/>
          </a:prstGeom>
          <a:ln w="31750">
            <a:solidFill>
              <a:srgbClr val="EE0000"/>
            </a:solidFill>
          </a:ln>
          <a:effectLst/>
        </p:spPr>
        <p:style>
          <a:lnRef idx="2">
            <a:schemeClr val="accent1"/>
          </a:lnRef>
          <a:fillRef idx="0">
            <a:schemeClr val="accent1"/>
          </a:fillRef>
          <a:effectRef idx="1">
            <a:schemeClr val="accent1"/>
          </a:effectRef>
          <a:fontRef idx="minor">
            <a:schemeClr val="tx1"/>
          </a:fontRef>
        </p:style>
      </p:cxnSp>
      <p:sp>
        <p:nvSpPr>
          <p:cNvPr id="6" name="Rounded Rectangle 5"/>
          <p:cNvSpPr/>
          <p:nvPr/>
        </p:nvSpPr>
        <p:spPr>
          <a:xfrm>
            <a:off x="841248" y="2395728"/>
            <a:ext cx="5715000" cy="438912"/>
          </a:xfrm>
          <a:prstGeom prst="roundRect">
            <a:avLst>
              <a:gd name="adj" fmla="val 6000"/>
            </a:avLst>
          </a:prstGeom>
          <a:solidFill>
            <a:srgbClr val="F5F6F8"/>
          </a:solidFill>
          <a:ln w="12700">
            <a:solidFill>
              <a:srgbClr val="DDE1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check_steel.png"/>
          <p:cNvPicPr>
            <a:picLocks noChangeAspect="1"/>
          </p:cNvPicPr>
          <p:nvPr/>
        </p:nvPicPr>
        <p:blipFill>
          <a:blip r:embed="rId3"/>
          <a:stretch>
            <a:fillRect/>
          </a:stretch>
        </p:blipFill>
        <p:spPr>
          <a:xfrm>
            <a:off x="987552" y="2496312"/>
            <a:ext cx="237744" cy="237744"/>
          </a:xfrm>
          <a:prstGeom prst="rect">
            <a:avLst/>
          </a:prstGeom>
        </p:spPr>
      </p:pic>
      <p:sp>
        <p:nvSpPr>
          <p:cNvPr id="8" name="TextBox 7"/>
          <p:cNvSpPr txBox="1"/>
          <p:nvPr/>
        </p:nvSpPr>
        <p:spPr>
          <a:xfrm>
            <a:off x="1353312" y="2395728"/>
            <a:ext cx="5029200" cy="438912"/>
          </a:xfrm>
          <a:prstGeom prst="rect">
            <a:avLst/>
          </a:prstGeom>
          <a:noFill/>
        </p:spPr>
        <p:txBody>
          <a:bodyPr wrap="square" anchor="ctr" lIns="0" rIns="0" tIns="0" bIns="0">
            <a:spAutoFit/>
          </a:bodyPr>
          <a:lstStyle/>
          <a:p>
            <a:pPr algn="l">
              <a:lnSpc>
                <a:spcPct val="106000"/>
              </a:lnSpc>
              <a:spcBef>
                <a:spcPts val="0"/>
              </a:spcBef>
              <a:spcAft>
                <a:spcPts val="0"/>
              </a:spcAft>
            </a:pPr>
            <a:r>
              <a:rPr sz="1200" b="0">
                <a:solidFill>
                  <a:srgbClr val="1A1A1A"/>
                </a:solidFill>
                <a:latin typeface="Red Hat Text"/>
              </a:rPr>
              <a:t>`parasol-claims` compiles, its tests pass, it deploys — and it is still insecure</a:t>
            </a:r>
          </a:p>
        </p:txBody>
      </p:sp>
      <p:sp>
        <p:nvSpPr>
          <p:cNvPr id="9" name="Rounded Rectangle 8"/>
          <p:cNvSpPr/>
          <p:nvPr/>
        </p:nvSpPr>
        <p:spPr>
          <a:xfrm>
            <a:off x="841248" y="2907792"/>
            <a:ext cx="5715000" cy="438912"/>
          </a:xfrm>
          <a:prstGeom prst="roundRect">
            <a:avLst>
              <a:gd name="adj" fmla="val 6000"/>
            </a:avLst>
          </a:prstGeom>
          <a:solidFill>
            <a:srgbClr val="F5F6F8"/>
          </a:solidFill>
          <a:ln w="12700">
            <a:solidFill>
              <a:srgbClr val="DDE1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0" name="Picture 9" descr="check_steel.png"/>
          <p:cNvPicPr>
            <a:picLocks noChangeAspect="1"/>
          </p:cNvPicPr>
          <p:nvPr/>
        </p:nvPicPr>
        <p:blipFill>
          <a:blip r:embed="rId3"/>
          <a:stretch>
            <a:fillRect/>
          </a:stretch>
        </p:blipFill>
        <p:spPr>
          <a:xfrm>
            <a:off x="987552" y="3008376"/>
            <a:ext cx="237744" cy="237744"/>
          </a:xfrm>
          <a:prstGeom prst="rect">
            <a:avLst/>
          </a:prstGeom>
        </p:spPr>
      </p:pic>
      <p:sp>
        <p:nvSpPr>
          <p:cNvPr id="11" name="TextBox 10"/>
          <p:cNvSpPr txBox="1"/>
          <p:nvPr/>
        </p:nvSpPr>
        <p:spPr>
          <a:xfrm>
            <a:off x="1353312" y="2907792"/>
            <a:ext cx="5029200" cy="438912"/>
          </a:xfrm>
          <a:prstGeom prst="rect">
            <a:avLst/>
          </a:prstGeom>
          <a:noFill/>
        </p:spPr>
        <p:txBody>
          <a:bodyPr wrap="square" anchor="ctr" lIns="0" rIns="0" tIns="0" bIns="0">
            <a:spAutoFit/>
          </a:bodyPr>
          <a:lstStyle/>
          <a:p>
            <a:pPr algn="l">
              <a:lnSpc>
                <a:spcPct val="106000"/>
              </a:lnSpc>
              <a:spcBef>
                <a:spcPts val="0"/>
              </a:spcBef>
              <a:spcAft>
                <a:spcPts val="0"/>
              </a:spcAft>
            </a:pPr>
            <a:r>
              <a:rPr sz="1200" b="0">
                <a:solidFill>
                  <a:srgbClr val="1A1A1A"/>
                </a:solidFill>
                <a:latin typeface="Red Hat Text"/>
              </a:rPr>
              <a:t>A hard-coded password is valid Java: green build, green tests, secret in every image</a:t>
            </a:r>
          </a:p>
        </p:txBody>
      </p:sp>
      <p:sp>
        <p:nvSpPr>
          <p:cNvPr id="12" name="Rounded Rectangle 11"/>
          <p:cNvSpPr/>
          <p:nvPr/>
        </p:nvSpPr>
        <p:spPr>
          <a:xfrm>
            <a:off x="841248" y="3419856"/>
            <a:ext cx="5715000" cy="438912"/>
          </a:xfrm>
          <a:prstGeom prst="roundRect">
            <a:avLst>
              <a:gd name="adj" fmla="val 6000"/>
            </a:avLst>
          </a:prstGeom>
          <a:solidFill>
            <a:srgbClr val="F5F6F8"/>
          </a:solidFill>
          <a:ln w="12700">
            <a:solidFill>
              <a:srgbClr val="DDE1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3" name="Picture 12" descr="check_steel.png"/>
          <p:cNvPicPr>
            <a:picLocks noChangeAspect="1"/>
          </p:cNvPicPr>
          <p:nvPr/>
        </p:nvPicPr>
        <p:blipFill>
          <a:blip r:embed="rId3"/>
          <a:stretch>
            <a:fillRect/>
          </a:stretch>
        </p:blipFill>
        <p:spPr>
          <a:xfrm>
            <a:off x="987552" y="3520440"/>
            <a:ext cx="237744" cy="237744"/>
          </a:xfrm>
          <a:prstGeom prst="rect">
            <a:avLst/>
          </a:prstGeom>
        </p:spPr>
      </p:pic>
      <p:sp>
        <p:nvSpPr>
          <p:cNvPr id="14" name="TextBox 13"/>
          <p:cNvSpPr txBox="1"/>
          <p:nvPr/>
        </p:nvSpPr>
        <p:spPr>
          <a:xfrm>
            <a:off x="1353312" y="3419856"/>
            <a:ext cx="5029200" cy="438912"/>
          </a:xfrm>
          <a:prstGeom prst="rect">
            <a:avLst/>
          </a:prstGeom>
          <a:noFill/>
        </p:spPr>
        <p:txBody>
          <a:bodyPr wrap="square" anchor="ctr" lIns="0" rIns="0" tIns="0" bIns="0">
            <a:spAutoFit/>
          </a:bodyPr>
          <a:lstStyle/>
          <a:p>
            <a:pPr algn="l">
              <a:lnSpc>
                <a:spcPct val="106000"/>
              </a:lnSpc>
              <a:spcBef>
                <a:spcPts val="0"/>
              </a:spcBef>
              <a:spcAft>
                <a:spcPts val="0"/>
              </a:spcAft>
            </a:pPr>
            <a:r>
              <a:rPr sz="1200" b="0">
                <a:solidFill>
                  <a:srgbClr val="1A1A1A"/>
                </a:solidFill>
                <a:latin typeface="Red Hat Text"/>
              </a:rPr>
              <a:t>A five-year-old dependency with a deserialization RCE runs fine — until it is attacked</a:t>
            </a:r>
          </a:p>
        </p:txBody>
      </p:sp>
      <p:sp>
        <p:nvSpPr>
          <p:cNvPr id="15" name="Rounded Rectangle 14"/>
          <p:cNvSpPr/>
          <p:nvPr/>
        </p:nvSpPr>
        <p:spPr>
          <a:xfrm>
            <a:off x="841248" y="3931920"/>
            <a:ext cx="5715000" cy="438912"/>
          </a:xfrm>
          <a:prstGeom prst="roundRect">
            <a:avLst>
              <a:gd name="adj" fmla="val 6000"/>
            </a:avLst>
          </a:prstGeom>
          <a:solidFill>
            <a:srgbClr val="F5F6F8"/>
          </a:solidFill>
          <a:ln w="12700">
            <a:solidFill>
              <a:srgbClr val="DDE1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6" name="Picture 15" descr="check_steel.png"/>
          <p:cNvPicPr>
            <a:picLocks noChangeAspect="1"/>
          </p:cNvPicPr>
          <p:nvPr/>
        </p:nvPicPr>
        <p:blipFill>
          <a:blip r:embed="rId3"/>
          <a:stretch>
            <a:fillRect/>
          </a:stretch>
        </p:blipFill>
        <p:spPr>
          <a:xfrm>
            <a:off x="987552" y="4032504"/>
            <a:ext cx="237744" cy="237744"/>
          </a:xfrm>
          <a:prstGeom prst="rect">
            <a:avLst/>
          </a:prstGeom>
        </p:spPr>
      </p:pic>
      <p:sp>
        <p:nvSpPr>
          <p:cNvPr id="17" name="TextBox 16"/>
          <p:cNvSpPr txBox="1"/>
          <p:nvPr/>
        </p:nvSpPr>
        <p:spPr>
          <a:xfrm>
            <a:off x="1353312" y="3931920"/>
            <a:ext cx="5029200" cy="438912"/>
          </a:xfrm>
          <a:prstGeom prst="rect">
            <a:avLst/>
          </a:prstGeom>
          <a:noFill/>
        </p:spPr>
        <p:txBody>
          <a:bodyPr wrap="square" anchor="ctr" lIns="0" rIns="0" tIns="0" bIns="0">
            <a:spAutoFit/>
          </a:bodyPr>
          <a:lstStyle/>
          <a:p>
            <a:pPr algn="l">
              <a:lnSpc>
                <a:spcPct val="106000"/>
              </a:lnSpc>
              <a:spcBef>
                <a:spcPts val="0"/>
              </a:spcBef>
              <a:spcAft>
                <a:spcPts val="0"/>
              </a:spcAft>
            </a:pPr>
            <a:r>
              <a:rPr sz="1200" b="0">
                <a:solidFill>
                  <a:srgbClr val="1A1A1A"/>
                </a:solidFill>
                <a:latin typeface="Red Hat Text"/>
              </a:rPr>
              <a:t>A privileged root container with SYS_ADMIN and no limits starts up happily</a:t>
            </a:r>
          </a:p>
        </p:txBody>
      </p:sp>
      <p:sp>
        <p:nvSpPr>
          <p:cNvPr id="18" name="Rounded Rectangle 17"/>
          <p:cNvSpPr/>
          <p:nvPr/>
        </p:nvSpPr>
        <p:spPr>
          <a:xfrm>
            <a:off x="841248" y="4443984"/>
            <a:ext cx="5715000" cy="438912"/>
          </a:xfrm>
          <a:prstGeom prst="roundRect">
            <a:avLst>
              <a:gd name="adj" fmla="val 6000"/>
            </a:avLst>
          </a:prstGeom>
          <a:solidFill>
            <a:srgbClr val="F5F6F8"/>
          </a:solidFill>
          <a:ln w="12700">
            <a:solidFill>
              <a:srgbClr val="DDE1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9" name="Picture 18" descr="check_steel.png"/>
          <p:cNvPicPr>
            <a:picLocks noChangeAspect="1"/>
          </p:cNvPicPr>
          <p:nvPr/>
        </p:nvPicPr>
        <p:blipFill>
          <a:blip r:embed="rId3"/>
          <a:stretch>
            <a:fillRect/>
          </a:stretch>
        </p:blipFill>
        <p:spPr>
          <a:xfrm>
            <a:off x="987552" y="4544568"/>
            <a:ext cx="237744" cy="237744"/>
          </a:xfrm>
          <a:prstGeom prst="rect">
            <a:avLst/>
          </a:prstGeom>
        </p:spPr>
      </p:pic>
      <p:sp>
        <p:nvSpPr>
          <p:cNvPr id="20" name="TextBox 19"/>
          <p:cNvSpPr txBox="1"/>
          <p:nvPr/>
        </p:nvSpPr>
        <p:spPr>
          <a:xfrm>
            <a:off x="1353312" y="4443984"/>
            <a:ext cx="5029200" cy="438912"/>
          </a:xfrm>
          <a:prstGeom prst="rect">
            <a:avLst/>
          </a:prstGeom>
          <a:noFill/>
        </p:spPr>
        <p:txBody>
          <a:bodyPr wrap="square" anchor="ctr" lIns="0" rIns="0" tIns="0" bIns="0">
            <a:spAutoFit/>
          </a:bodyPr>
          <a:lstStyle/>
          <a:p>
            <a:pPr algn="l">
              <a:lnSpc>
                <a:spcPct val="106000"/>
              </a:lnSpc>
              <a:spcBef>
                <a:spcPts val="0"/>
              </a:spcBef>
              <a:spcAft>
                <a:spcPts val="0"/>
              </a:spcAft>
            </a:pPr>
            <a:r>
              <a:rPr sz="1200" b="0">
                <a:solidFill>
                  <a:srgbClr val="1A1A1A"/>
                </a:solidFill>
                <a:latin typeface="Red Hat Text"/>
              </a:rPr>
              <a:t>A header-less app serves its JSON correctly — and lets a browser MIME-sniff, frame, and leak it</a:t>
            </a:r>
          </a:p>
        </p:txBody>
      </p:sp>
      <p:sp>
        <p:nvSpPr>
          <p:cNvPr id="21" name="Rounded Rectangle 20"/>
          <p:cNvSpPr/>
          <p:nvPr/>
        </p:nvSpPr>
        <p:spPr>
          <a:xfrm>
            <a:off x="841248" y="4956048"/>
            <a:ext cx="5715000" cy="438912"/>
          </a:xfrm>
          <a:prstGeom prst="roundRect">
            <a:avLst>
              <a:gd name="adj" fmla="val 6000"/>
            </a:avLst>
          </a:prstGeom>
          <a:solidFill>
            <a:srgbClr val="F5F6F8"/>
          </a:solidFill>
          <a:ln w="12700">
            <a:solidFill>
              <a:srgbClr val="DDE1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2" name="Picture 21" descr="check_steel.png"/>
          <p:cNvPicPr>
            <a:picLocks noChangeAspect="1"/>
          </p:cNvPicPr>
          <p:nvPr/>
        </p:nvPicPr>
        <p:blipFill>
          <a:blip r:embed="rId3"/>
          <a:stretch>
            <a:fillRect/>
          </a:stretch>
        </p:blipFill>
        <p:spPr>
          <a:xfrm>
            <a:off x="987552" y="5056632"/>
            <a:ext cx="237744" cy="237744"/>
          </a:xfrm>
          <a:prstGeom prst="rect">
            <a:avLst/>
          </a:prstGeom>
        </p:spPr>
      </p:pic>
      <p:sp>
        <p:nvSpPr>
          <p:cNvPr id="23" name="TextBox 22"/>
          <p:cNvSpPr txBox="1"/>
          <p:nvPr/>
        </p:nvSpPr>
        <p:spPr>
          <a:xfrm>
            <a:off x="1353312" y="4956048"/>
            <a:ext cx="5029200" cy="438912"/>
          </a:xfrm>
          <a:prstGeom prst="rect">
            <a:avLst/>
          </a:prstGeom>
          <a:noFill/>
        </p:spPr>
        <p:txBody>
          <a:bodyPr wrap="square" anchor="ctr" lIns="0" rIns="0" tIns="0" bIns="0">
            <a:spAutoFit/>
          </a:bodyPr>
          <a:lstStyle/>
          <a:p>
            <a:pPr algn="l">
              <a:lnSpc>
                <a:spcPct val="106000"/>
              </a:lnSpc>
              <a:spcBef>
                <a:spcPts val="0"/>
              </a:spcBef>
              <a:spcAft>
                <a:spcPts val="0"/>
              </a:spcAft>
            </a:pPr>
            <a:r>
              <a:rPr sz="1200" b="0">
                <a:solidFill>
                  <a:srgbClr val="1A1A1A"/>
                </a:solidFill>
                <a:latin typeface="Red Hat Text"/>
              </a:rPr>
              <a:t>None of these is a "bug" — it is SECURITY DEBT a compiler and a unit test cannot see</a:t>
            </a:r>
          </a:p>
        </p:txBody>
      </p:sp>
      <p:sp>
        <p:nvSpPr>
          <p:cNvPr id="24" name="Rounded Rectangle 23"/>
          <p:cNvSpPr/>
          <p:nvPr/>
        </p:nvSpPr>
        <p:spPr>
          <a:xfrm>
            <a:off x="6812280" y="2395728"/>
            <a:ext cx="4538167" cy="2999232"/>
          </a:xfrm>
          <a:prstGeom prst="roundRect">
            <a:avLst>
              <a:gd name="adj" fmla="val 4000"/>
            </a:avLst>
          </a:prstGeom>
          <a:solidFill>
            <a:srgbClr val="FFFFFF"/>
          </a:solidFill>
          <a:ln w="15240">
            <a:solidFill>
              <a:srgbClr val="DDE1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ounded Rectangle 24"/>
          <p:cNvSpPr/>
          <p:nvPr/>
        </p:nvSpPr>
        <p:spPr>
          <a:xfrm>
            <a:off x="7013448" y="2596896"/>
            <a:ext cx="1298448" cy="310896"/>
          </a:xfrm>
          <a:prstGeom prst="roundRect">
            <a:avLst>
              <a:gd name="adj" fmla="val 50000"/>
            </a:avLst>
          </a:prstGeom>
          <a:solidFill>
            <a:srgbClr val="FCEC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013448" y="2596896"/>
            <a:ext cx="1298448" cy="310896"/>
          </a:xfrm>
          <a:prstGeom prst="rect">
            <a:avLst/>
          </a:prstGeom>
          <a:noFill/>
        </p:spPr>
        <p:txBody>
          <a:bodyPr wrap="none" anchor="ctr" lIns="0" rIns="0" tIns="0" bIns="0">
            <a:spAutoFit/>
          </a:bodyPr>
          <a:lstStyle/>
          <a:p>
            <a:pPr algn="ctr">
              <a:lnSpc>
                <a:spcPct val="106000"/>
              </a:lnSpc>
              <a:spcBef>
                <a:spcPts val="0"/>
              </a:spcBef>
              <a:spcAft>
                <a:spcPts val="0"/>
              </a:spcAft>
            </a:pPr>
            <a:r>
              <a:rPr sz="850" b="1">
                <a:solidFill>
                  <a:srgbClr val="B80000"/>
                </a:solidFill>
                <a:latin typeface="Red Hat Display"/>
              </a:rPr>
              <a:t>MEDIA PASS</a:t>
            </a:r>
          </a:p>
        </p:txBody>
      </p:sp>
      <p:pic>
        <p:nvPicPr>
          <p:cNvPr id="27" name="Picture 26" descr="eye_slate.png"/>
          <p:cNvPicPr>
            <a:picLocks noChangeAspect="1"/>
          </p:cNvPicPr>
          <p:nvPr/>
        </p:nvPicPr>
        <p:blipFill>
          <a:blip r:embed="rId4"/>
          <a:stretch>
            <a:fillRect/>
          </a:stretch>
        </p:blipFill>
        <p:spPr>
          <a:xfrm>
            <a:off x="8843619" y="3108960"/>
            <a:ext cx="475488" cy="475488"/>
          </a:xfrm>
          <a:prstGeom prst="rect">
            <a:avLst/>
          </a:prstGeom>
        </p:spPr>
      </p:pic>
      <p:sp>
        <p:nvSpPr>
          <p:cNvPr id="28" name="TextBox 27"/>
          <p:cNvSpPr txBox="1"/>
          <p:nvPr/>
        </p:nvSpPr>
        <p:spPr>
          <a:xfrm>
            <a:off x="7050024" y="3721608"/>
            <a:ext cx="4062679" cy="1536192"/>
          </a:xfrm>
          <a:prstGeom prst="rect">
            <a:avLst/>
          </a:prstGeom>
          <a:noFill/>
        </p:spPr>
        <p:txBody>
          <a:bodyPr wrap="square" anchor="t" lIns="0" rIns="0" tIns="0" bIns="0">
            <a:spAutoFit/>
          </a:bodyPr>
          <a:lstStyle/>
          <a:p>
            <a:pPr algn="l">
              <a:lnSpc>
                <a:spcPct val="120000"/>
              </a:lnSpc>
              <a:spcBef>
                <a:spcPts val="0"/>
              </a:spcBef>
              <a:spcAft>
                <a:spcPts val="0"/>
              </a:spcAft>
            </a:pPr>
            <a:r>
              <a:rPr sz="950" b="0">
                <a:solidFill>
                  <a:srgbClr val="8A9099"/>
                </a:solidFill>
                <a:latin typeface="Red Hat Text"/>
              </a:rPr>
              <a:t>A single green CI check labelled "build ✓ · tests ✓" — and behind it, four peeled-back layers exposing the hidden flaws: a hard-coded password string, a cracked dependency jar tagged "RCE", a privileged root container, and a browser reading a header-less response. Caption strip: "green says nothing about safe."</a:t>
            </a:r>
          </a:p>
        </p:txBody>
      </p:sp>
      <p:cxnSp>
        <p:nvCxnSpPr>
          <p:cNvPr id="29" name="Connector 28"/>
          <p:cNvCxnSpPr/>
          <p:nvPr/>
        </p:nvCxnSpPr>
        <p:spPr>
          <a:xfrm>
            <a:off x="841248" y="6437376"/>
            <a:ext cx="10509199" cy="0"/>
          </a:xfrm>
          <a:prstGeom prst="bentConnector3">
            <a:avLst/>
          </a:prstGeom>
          <a:ln w="12700">
            <a:solidFill>
              <a:srgbClr val="DDE1E6"/>
            </a:solidFill>
          </a:ln>
          <a:effectLst/>
        </p:spPr>
        <p:style>
          <a:lnRef idx="2">
            <a:schemeClr val="accent1"/>
          </a:lnRef>
          <a:fillRef idx="0">
            <a:schemeClr val="accent1"/>
          </a:fillRef>
          <a:effectRef idx="1">
            <a:schemeClr val="accent1"/>
          </a:effectRef>
          <a:fontRef idx="minor">
            <a:schemeClr val="tx1"/>
          </a:fontRef>
        </p:style>
      </p:cxnSp>
      <p:sp>
        <p:nvSpPr>
          <p:cNvPr id="30" name="TextBox 29"/>
          <p:cNvSpPr txBox="1"/>
          <p:nvPr/>
        </p:nvSpPr>
        <p:spPr>
          <a:xfrm>
            <a:off x="841248" y="6473952"/>
            <a:ext cx="7315200" cy="274320"/>
          </a:xfrm>
          <a:prstGeom prst="rect">
            <a:avLst/>
          </a:prstGeom>
          <a:noFill/>
        </p:spPr>
        <p:txBody>
          <a:bodyPr wrap="square" anchor="t" lIns="0" rIns="0" tIns="0" bIns="0">
            <a:spAutoFit/>
          </a:bodyPr>
          <a:lstStyle/>
          <a:p>
            <a:pPr algn="l">
              <a:lnSpc>
                <a:spcPct val="106000"/>
              </a:lnSpc>
              <a:spcBef>
                <a:spcPts val="0"/>
              </a:spcBef>
              <a:spcAft>
                <a:spcPts val="0"/>
              </a:spcAft>
            </a:pPr>
            <a:r>
              <a:rPr sz="950" b="0">
                <a:solidFill>
                  <a:srgbClr val="8A9099"/>
                </a:solidFill>
                <a:latin typeface="Red Hat Text"/>
              </a:rPr>
              <a:t>CONFIDENTIAL</a:t>
            </a:r>
          </a:p>
        </p:txBody>
      </p:sp>
      <p:sp>
        <p:nvSpPr>
          <p:cNvPr id="31" name="TextBox 30"/>
          <p:cNvSpPr txBox="1"/>
          <p:nvPr/>
        </p:nvSpPr>
        <p:spPr>
          <a:xfrm>
            <a:off x="10801807" y="6473952"/>
            <a:ext cx="548640" cy="274320"/>
          </a:xfrm>
          <a:prstGeom prst="rect">
            <a:avLst/>
          </a:prstGeom>
          <a:noFill/>
        </p:spPr>
        <p:txBody>
          <a:bodyPr wrap="square" anchor="t" lIns="0" rIns="0" tIns="0" bIns="0">
            <a:spAutoFit/>
          </a:bodyPr>
          <a:lstStyle/>
          <a:p>
            <a:pPr algn="r">
              <a:lnSpc>
                <a:spcPct val="106000"/>
              </a:lnSpc>
              <a:spcBef>
                <a:spcPts val="0"/>
              </a:spcBef>
              <a:spcAft>
                <a:spcPts val="0"/>
              </a:spcAft>
            </a:pPr>
            <a:r>
              <a:rPr sz="950" b="0">
                <a:solidFill>
                  <a:srgbClr val="8A9099"/>
                </a:solidFill>
                <a:latin typeface="Red Hat Text"/>
              </a:rPr>
              <a:t>51</a:t>
            </a:r>
          </a:p>
        </p:txBody>
      </p:sp>
    </p:spTree>
  </p:cSld>
  <p:clrMapOvr>
    <a:masterClrMapping/>
  </p:clrMapOvr>
</p:sld>
</file>

<file path=ppt/slides/slide6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redhat_logo.jpg"/>
          <p:cNvPicPr>
            <a:picLocks noChangeAspect="1"/>
          </p:cNvPicPr>
          <p:nvPr/>
        </p:nvPicPr>
        <p:blipFill>
          <a:blip r:embed="rId2"/>
          <a:stretch>
            <a:fillRect/>
          </a:stretch>
        </p:blipFill>
        <p:spPr>
          <a:xfrm>
            <a:off x="10326319" y="475488"/>
            <a:ext cx="1024128" cy="242248"/>
          </a:xfrm>
          <a:prstGeom prst="rect">
            <a:avLst/>
          </a:prstGeom>
        </p:spPr>
      </p:pic>
      <p:sp>
        <p:nvSpPr>
          <p:cNvPr id="3" name="TextBox 2"/>
          <p:cNvSpPr txBox="1"/>
          <p:nvPr/>
        </p:nvSpPr>
        <p:spPr>
          <a:xfrm>
            <a:off x="841248" y="548640"/>
            <a:ext cx="8595360" cy="274320"/>
          </a:xfrm>
          <a:prstGeom prst="rect">
            <a:avLst/>
          </a:prstGeom>
          <a:noFill/>
        </p:spPr>
        <p:txBody>
          <a:bodyPr wrap="square" anchor="t" lIns="0" rIns="0" tIns="0" bIns="0">
            <a:spAutoFit/>
          </a:bodyPr>
          <a:lstStyle/>
          <a:p>
            <a:pPr algn="l">
              <a:lnSpc>
                <a:spcPct val="106000"/>
              </a:lnSpc>
              <a:spcBef>
                <a:spcPts val="0"/>
              </a:spcBef>
              <a:spcAft>
                <a:spcPts val="0"/>
              </a:spcAft>
            </a:pPr>
            <a:r>
              <a:rPr sz="1250" b="1" spc="220">
                <a:solidFill>
                  <a:srgbClr val="EE0000"/>
                </a:solidFill>
                <a:latin typeface="Red Hat Display"/>
              </a:rPr>
              <a:t>M08 · APPLICATION SECURITY TESTING</a:t>
            </a:r>
          </a:p>
        </p:txBody>
      </p:sp>
      <p:sp>
        <p:nvSpPr>
          <p:cNvPr id="4" name="TextBox 3"/>
          <p:cNvSpPr txBox="1"/>
          <p:nvPr/>
        </p:nvSpPr>
        <p:spPr>
          <a:xfrm>
            <a:off x="841248" y="877824"/>
            <a:ext cx="10515600" cy="548640"/>
          </a:xfrm>
          <a:prstGeom prst="rect">
            <a:avLst/>
          </a:prstGeom>
          <a:noFill/>
        </p:spPr>
        <p:txBody>
          <a:bodyPr wrap="none" anchor="t" lIns="0" rIns="0" tIns="0" bIns="0">
            <a:spAutoFit/>
          </a:bodyPr>
          <a:lstStyle/>
          <a:p>
            <a:pPr algn="l">
              <a:lnSpc>
                <a:spcPct val="100000"/>
              </a:lnSpc>
              <a:spcBef>
                <a:spcPts val="0"/>
              </a:spcBef>
              <a:spcAft>
                <a:spcPts val="0"/>
              </a:spcAft>
            </a:pPr>
            <a:r>
              <a:rPr sz="2500" b="1">
                <a:solidFill>
                  <a:srgbClr val="1A1A1A"/>
                </a:solidFill>
                <a:latin typeface="Red Hat Display"/>
              </a:rPr>
              <a:t>The five pillars, mapped to pipeline stages</a:t>
            </a:r>
          </a:p>
        </p:txBody>
      </p:sp>
      <p:cxnSp>
        <p:nvCxnSpPr>
          <p:cNvPr id="5" name="Connector 4"/>
          <p:cNvCxnSpPr/>
          <p:nvPr/>
        </p:nvCxnSpPr>
        <p:spPr>
          <a:xfrm>
            <a:off x="841248" y="1554480"/>
            <a:ext cx="1371600" cy="0"/>
          </a:xfrm>
          <a:prstGeom prst="bentConnector3">
            <a:avLst/>
          </a:prstGeom>
          <a:ln w="31750">
            <a:solidFill>
              <a:srgbClr val="EE0000"/>
            </a:solidFill>
          </a:ln>
          <a:effectLst/>
        </p:spPr>
        <p:style>
          <a:lnRef idx="2">
            <a:schemeClr val="accent1"/>
          </a:lnRef>
          <a:fillRef idx="0">
            <a:schemeClr val="accent1"/>
          </a:fillRef>
          <a:effectRef idx="1">
            <a:schemeClr val="accent1"/>
          </a:effectRef>
          <a:fontRef idx="minor">
            <a:schemeClr val="tx1"/>
          </a:fontRef>
        </p:style>
      </p:cxnSp>
      <p:sp>
        <p:nvSpPr>
          <p:cNvPr id="6" name="Rounded Rectangle 5"/>
          <p:cNvSpPr/>
          <p:nvPr/>
        </p:nvSpPr>
        <p:spPr>
          <a:xfrm>
            <a:off x="841248" y="2395728"/>
            <a:ext cx="5715000" cy="438912"/>
          </a:xfrm>
          <a:prstGeom prst="roundRect">
            <a:avLst>
              <a:gd name="adj" fmla="val 6000"/>
            </a:avLst>
          </a:prstGeom>
          <a:solidFill>
            <a:srgbClr val="F5F6F8"/>
          </a:solidFill>
          <a:ln w="12700">
            <a:solidFill>
              <a:srgbClr val="DDE1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check_steel.png"/>
          <p:cNvPicPr>
            <a:picLocks noChangeAspect="1"/>
          </p:cNvPicPr>
          <p:nvPr/>
        </p:nvPicPr>
        <p:blipFill>
          <a:blip r:embed="rId3"/>
          <a:stretch>
            <a:fillRect/>
          </a:stretch>
        </p:blipFill>
        <p:spPr>
          <a:xfrm>
            <a:off x="987552" y="2496312"/>
            <a:ext cx="237744" cy="237744"/>
          </a:xfrm>
          <a:prstGeom prst="rect">
            <a:avLst/>
          </a:prstGeom>
        </p:spPr>
      </p:pic>
      <p:sp>
        <p:nvSpPr>
          <p:cNvPr id="8" name="TextBox 7"/>
          <p:cNvSpPr txBox="1"/>
          <p:nvPr/>
        </p:nvSpPr>
        <p:spPr>
          <a:xfrm>
            <a:off x="1353312" y="2395728"/>
            <a:ext cx="5029200" cy="438912"/>
          </a:xfrm>
          <a:prstGeom prst="rect">
            <a:avLst/>
          </a:prstGeom>
          <a:noFill/>
        </p:spPr>
        <p:txBody>
          <a:bodyPr wrap="square" anchor="ctr" lIns="0" rIns="0" tIns="0" bIns="0">
            <a:spAutoFit/>
          </a:bodyPr>
          <a:lstStyle/>
          <a:p>
            <a:pPr algn="l">
              <a:lnSpc>
                <a:spcPct val="106000"/>
              </a:lnSpc>
              <a:spcBef>
                <a:spcPts val="0"/>
              </a:spcBef>
              <a:spcAft>
                <a:spcPts val="0"/>
              </a:spcAft>
            </a:pPr>
            <a:r>
              <a:rPr sz="1200" b="0">
                <a:solidFill>
                  <a:srgbClr val="1A1A1A"/>
                </a:solidFill>
                <a:latin typeface="Red Hat Text"/>
              </a:rPr>
              <a:t>SAST — a flaw in the SOURCE we wrote (a secret, an injection)? → SonarQube quality gate</a:t>
            </a:r>
          </a:p>
        </p:txBody>
      </p:sp>
      <p:sp>
        <p:nvSpPr>
          <p:cNvPr id="9" name="Rounded Rectangle 8"/>
          <p:cNvSpPr/>
          <p:nvPr/>
        </p:nvSpPr>
        <p:spPr>
          <a:xfrm>
            <a:off x="841248" y="2907792"/>
            <a:ext cx="5715000" cy="438912"/>
          </a:xfrm>
          <a:prstGeom prst="roundRect">
            <a:avLst>
              <a:gd name="adj" fmla="val 6000"/>
            </a:avLst>
          </a:prstGeom>
          <a:solidFill>
            <a:srgbClr val="F5F6F8"/>
          </a:solidFill>
          <a:ln w="12700">
            <a:solidFill>
              <a:srgbClr val="DDE1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0" name="Picture 9" descr="check_steel.png"/>
          <p:cNvPicPr>
            <a:picLocks noChangeAspect="1"/>
          </p:cNvPicPr>
          <p:nvPr/>
        </p:nvPicPr>
        <p:blipFill>
          <a:blip r:embed="rId3"/>
          <a:stretch>
            <a:fillRect/>
          </a:stretch>
        </p:blipFill>
        <p:spPr>
          <a:xfrm>
            <a:off x="987552" y="3008376"/>
            <a:ext cx="237744" cy="237744"/>
          </a:xfrm>
          <a:prstGeom prst="rect">
            <a:avLst/>
          </a:prstGeom>
        </p:spPr>
      </p:pic>
      <p:sp>
        <p:nvSpPr>
          <p:cNvPr id="11" name="TextBox 10"/>
          <p:cNvSpPr txBox="1"/>
          <p:nvPr/>
        </p:nvSpPr>
        <p:spPr>
          <a:xfrm>
            <a:off x="1353312" y="2907792"/>
            <a:ext cx="5029200" cy="438912"/>
          </a:xfrm>
          <a:prstGeom prst="rect">
            <a:avLst/>
          </a:prstGeom>
          <a:noFill/>
        </p:spPr>
        <p:txBody>
          <a:bodyPr wrap="square" anchor="ctr" lIns="0" rIns="0" tIns="0" bIns="0">
            <a:spAutoFit/>
          </a:bodyPr>
          <a:lstStyle/>
          <a:p>
            <a:pPr algn="l">
              <a:lnSpc>
                <a:spcPct val="106000"/>
              </a:lnSpc>
              <a:spcBef>
                <a:spcPts val="0"/>
              </a:spcBef>
              <a:spcAft>
                <a:spcPts val="0"/>
              </a:spcAft>
            </a:pPr>
            <a:r>
              <a:rPr sz="1200" b="0">
                <a:solidFill>
                  <a:srgbClr val="1A1A1A"/>
                </a:solidFill>
                <a:latin typeface="Red Hat Text"/>
              </a:rPr>
              <a:t>SCA — a known vulnerability in a DEPENDENCY we pulled in? → Trivy filesystem scan</a:t>
            </a:r>
          </a:p>
        </p:txBody>
      </p:sp>
      <p:sp>
        <p:nvSpPr>
          <p:cNvPr id="12" name="Rounded Rectangle 11"/>
          <p:cNvSpPr/>
          <p:nvPr/>
        </p:nvSpPr>
        <p:spPr>
          <a:xfrm>
            <a:off x="841248" y="3419856"/>
            <a:ext cx="5715000" cy="438912"/>
          </a:xfrm>
          <a:prstGeom prst="roundRect">
            <a:avLst>
              <a:gd name="adj" fmla="val 6000"/>
            </a:avLst>
          </a:prstGeom>
          <a:solidFill>
            <a:srgbClr val="F5F6F8"/>
          </a:solidFill>
          <a:ln w="12700">
            <a:solidFill>
              <a:srgbClr val="DDE1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3" name="Picture 12" descr="check_steel.png"/>
          <p:cNvPicPr>
            <a:picLocks noChangeAspect="1"/>
          </p:cNvPicPr>
          <p:nvPr/>
        </p:nvPicPr>
        <p:blipFill>
          <a:blip r:embed="rId3"/>
          <a:stretch>
            <a:fillRect/>
          </a:stretch>
        </p:blipFill>
        <p:spPr>
          <a:xfrm>
            <a:off x="987552" y="3520440"/>
            <a:ext cx="237744" cy="237744"/>
          </a:xfrm>
          <a:prstGeom prst="rect">
            <a:avLst/>
          </a:prstGeom>
        </p:spPr>
      </p:pic>
      <p:sp>
        <p:nvSpPr>
          <p:cNvPr id="14" name="TextBox 13"/>
          <p:cNvSpPr txBox="1"/>
          <p:nvPr/>
        </p:nvSpPr>
        <p:spPr>
          <a:xfrm>
            <a:off x="1353312" y="3419856"/>
            <a:ext cx="5029200" cy="438912"/>
          </a:xfrm>
          <a:prstGeom prst="rect">
            <a:avLst/>
          </a:prstGeom>
          <a:noFill/>
        </p:spPr>
        <p:txBody>
          <a:bodyPr wrap="square" anchor="ctr" lIns="0" rIns="0" tIns="0" bIns="0">
            <a:spAutoFit/>
          </a:bodyPr>
          <a:lstStyle/>
          <a:p>
            <a:pPr algn="l">
              <a:lnSpc>
                <a:spcPct val="106000"/>
              </a:lnSpc>
              <a:spcBef>
                <a:spcPts val="0"/>
              </a:spcBef>
              <a:spcAft>
                <a:spcPts val="0"/>
              </a:spcAft>
            </a:pPr>
            <a:r>
              <a:rPr sz="1200" b="0">
                <a:solidFill>
                  <a:srgbClr val="1A1A1A"/>
                </a:solidFill>
                <a:latin typeface="Red Hat Text"/>
              </a:rPr>
              <a:t>Image risk — a known vulnerability in the BUILT IMAGE's layers? → RHACS image scan</a:t>
            </a:r>
          </a:p>
        </p:txBody>
      </p:sp>
      <p:sp>
        <p:nvSpPr>
          <p:cNvPr id="15" name="Rounded Rectangle 14"/>
          <p:cNvSpPr/>
          <p:nvPr/>
        </p:nvSpPr>
        <p:spPr>
          <a:xfrm>
            <a:off x="841248" y="3931920"/>
            <a:ext cx="5715000" cy="438912"/>
          </a:xfrm>
          <a:prstGeom prst="roundRect">
            <a:avLst>
              <a:gd name="adj" fmla="val 6000"/>
            </a:avLst>
          </a:prstGeom>
          <a:solidFill>
            <a:srgbClr val="F5F6F8"/>
          </a:solidFill>
          <a:ln w="12700">
            <a:solidFill>
              <a:srgbClr val="DDE1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6" name="Picture 15" descr="check_steel.png"/>
          <p:cNvPicPr>
            <a:picLocks noChangeAspect="1"/>
          </p:cNvPicPr>
          <p:nvPr/>
        </p:nvPicPr>
        <p:blipFill>
          <a:blip r:embed="rId3"/>
          <a:stretch>
            <a:fillRect/>
          </a:stretch>
        </p:blipFill>
        <p:spPr>
          <a:xfrm>
            <a:off x="987552" y="4032504"/>
            <a:ext cx="237744" cy="237744"/>
          </a:xfrm>
          <a:prstGeom prst="rect">
            <a:avLst/>
          </a:prstGeom>
        </p:spPr>
      </p:pic>
      <p:sp>
        <p:nvSpPr>
          <p:cNvPr id="17" name="TextBox 16"/>
          <p:cNvSpPr txBox="1"/>
          <p:nvPr/>
        </p:nvSpPr>
        <p:spPr>
          <a:xfrm>
            <a:off x="1353312" y="3931920"/>
            <a:ext cx="5029200" cy="438912"/>
          </a:xfrm>
          <a:prstGeom prst="rect">
            <a:avLst/>
          </a:prstGeom>
          <a:noFill/>
        </p:spPr>
        <p:txBody>
          <a:bodyPr wrap="square" anchor="ctr" lIns="0" rIns="0" tIns="0" bIns="0">
            <a:spAutoFit/>
          </a:bodyPr>
          <a:lstStyle/>
          <a:p>
            <a:pPr algn="l">
              <a:lnSpc>
                <a:spcPct val="106000"/>
              </a:lnSpc>
              <a:spcBef>
                <a:spcPts val="0"/>
              </a:spcBef>
              <a:spcAft>
                <a:spcPts val="0"/>
              </a:spcAft>
            </a:pPr>
            <a:r>
              <a:rPr sz="1200" b="0">
                <a:solidFill>
                  <a:srgbClr val="1A1A1A"/>
                </a:solidFill>
                <a:latin typeface="Red Hat Text"/>
              </a:rPr>
              <a:t>Config security — an insecure DEPLOYMENT about to apply? → RHACS `roxctl deployment check`</a:t>
            </a:r>
          </a:p>
        </p:txBody>
      </p:sp>
      <p:sp>
        <p:nvSpPr>
          <p:cNvPr id="18" name="Rounded Rectangle 17"/>
          <p:cNvSpPr/>
          <p:nvPr/>
        </p:nvSpPr>
        <p:spPr>
          <a:xfrm>
            <a:off x="841248" y="4443984"/>
            <a:ext cx="5715000" cy="438912"/>
          </a:xfrm>
          <a:prstGeom prst="roundRect">
            <a:avLst>
              <a:gd name="adj" fmla="val 6000"/>
            </a:avLst>
          </a:prstGeom>
          <a:solidFill>
            <a:srgbClr val="F5F6F8"/>
          </a:solidFill>
          <a:ln w="12700">
            <a:solidFill>
              <a:srgbClr val="DDE1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9" name="Picture 18" descr="check_steel.png"/>
          <p:cNvPicPr>
            <a:picLocks noChangeAspect="1"/>
          </p:cNvPicPr>
          <p:nvPr/>
        </p:nvPicPr>
        <p:blipFill>
          <a:blip r:embed="rId3"/>
          <a:stretch>
            <a:fillRect/>
          </a:stretch>
        </p:blipFill>
        <p:spPr>
          <a:xfrm>
            <a:off x="987552" y="4544568"/>
            <a:ext cx="237744" cy="237744"/>
          </a:xfrm>
          <a:prstGeom prst="rect">
            <a:avLst/>
          </a:prstGeom>
        </p:spPr>
      </p:pic>
      <p:sp>
        <p:nvSpPr>
          <p:cNvPr id="20" name="TextBox 19"/>
          <p:cNvSpPr txBox="1"/>
          <p:nvPr/>
        </p:nvSpPr>
        <p:spPr>
          <a:xfrm>
            <a:off x="1353312" y="4443984"/>
            <a:ext cx="5029200" cy="438912"/>
          </a:xfrm>
          <a:prstGeom prst="rect">
            <a:avLst/>
          </a:prstGeom>
          <a:noFill/>
        </p:spPr>
        <p:txBody>
          <a:bodyPr wrap="square" anchor="ctr" lIns="0" rIns="0" tIns="0" bIns="0">
            <a:spAutoFit/>
          </a:bodyPr>
          <a:lstStyle/>
          <a:p>
            <a:pPr algn="l">
              <a:lnSpc>
                <a:spcPct val="106000"/>
              </a:lnSpc>
              <a:spcBef>
                <a:spcPts val="0"/>
              </a:spcBef>
              <a:spcAft>
                <a:spcPts val="0"/>
              </a:spcAft>
            </a:pPr>
            <a:r>
              <a:rPr sz="1200" b="0">
                <a:solidFill>
                  <a:srgbClr val="1A1A1A"/>
                </a:solidFill>
                <a:latin typeface="Red Hat Text"/>
              </a:rPr>
              <a:t>DAST — the RUNNING app misbehaving (missing headers)? → ZAP (Zed Attack Proxy, formerly OWASP ZAP) baseline scan</a:t>
            </a:r>
          </a:p>
        </p:txBody>
      </p:sp>
      <p:sp>
        <p:nvSpPr>
          <p:cNvPr id="21" name="Rounded Rectangle 20"/>
          <p:cNvSpPr/>
          <p:nvPr/>
        </p:nvSpPr>
        <p:spPr>
          <a:xfrm>
            <a:off x="841248" y="4956048"/>
            <a:ext cx="5715000" cy="438912"/>
          </a:xfrm>
          <a:prstGeom prst="roundRect">
            <a:avLst>
              <a:gd name="adj" fmla="val 6000"/>
            </a:avLst>
          </a:prstGeom>
          <a:solidFill>
            <a:srgbClr val="F5F6F8"/>
          </a:solidFill>
          <a:ln w="12700">
            <a:solidFill>
              <a:srgbClr val="DDE1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2" name="Picture 21" descr="check_steel.png"/>
          <p:cNvPicPr>
            <a:picLocks noChangeAspect="1"/>
          </p:cNvPicPr>
          <p:nvPr/>
        </p:nvPicPr>
        <p:blipFill>
          <a:blip r:embed="rId3"/>
          <a:stretch>
            <a:fillRect/>
          </a:stretch>
        </p:blipFill>
        <p:spPr>
          <a:xfrm>
            <a:off x="987552" y="5056632"/>
            <a:ext cx="237744" cy="237744"/>
          </a:xfrm>
          <a:prstGeom prst="rect">
            <a:avLst/>
          </a:prstGeom>
        </p:spPr>
      </p:pic>
      <p:sp>
        <p:nvSpPr>
          <p:cNvPr id="23" name="TextBox 22"/>
          <p:cNvSpPr txBox="1"/>
          <p:nvPr/>
        </p:nvSpPr>
        <p:spPr>
          <a:xfrm>
            <a:off x="1353312" y="4956048"/>
            <a:ext cx="5029200" cy="438912"/>
          </a:xfrm>
          <a:prstGeom prst="rect">
            <a:avLst/>
          </a:prstGeom>
          <a:noFill/>
        </p:spPr>
        <p:txBody>
          <a:bodyPr wrap="square" anchor="ctr" lIns="0" rIns="0" tIns="0" bIns="0">
            <a:spAutoFit/>
          </a:bodyPr>
          <a:lstStyle/>
          <a:p>
            <a:pPr algn="l">
              <a:lnSpc>
                <a:spcPct val="106000"/>
              </a:lnSpc>
              <a:spcBef>
                <a:spcPts val="0"/>
              </a:spcBef>
              <a:spcAft>
                <a:spcPts val="0"/>
              </a:spcAft>
            </a:pPr>
            <a:r>
              <a:rPr sz="1200" b="0">
                <a:solidFill>
                  <a:srgbClr val="1A1A1A"/>
                </a:solidFill>
                <a:latin typeface="Red Hat Text"/>
              </a:rPr>
              <a:t>Five questions, each answered at a DIFFERENT point in the software's life</a:t>
            </a:r>
          </a:p>
        </p:txBody>
      </p:sp>
      <p:sp>
        <p:nvSpPr>
          <p:cNvPr id="24" name="Rounded Rectangle 23"/>
          <p:cNvSpPr/>
          <p:nvPr/>
        </p:nvSpPr>
        <p:spPr>
          <a:xfrm>
            <a:off x="6812280" y="2395728"/>
            <a:ext cx="4538167" cy="2999232"/>
          </a:xfrm>
          <a:prstGeom prst="roundRect">
            <a:avLst>
              <a:gd name="adj" fmla="val 4000"/>
            </a:avLst>
          </a:prstGeom>
          <a:solidFill>
            <a:srgbClr val="FFFFFF"/>
          </a:solidFill>
          <a:ln w="15240">
            <a:solidFill>
              <a:srgbClr val="DDE1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ounded Rectangle 24"/>
          <p:cNvSpPr/>
          <p:nvPr/>
        </p:nvSpPr>
        <p:spPr>
          <a:xfrm>
            <a:off x="7013448" y="2596896"/>
            <a:ext cx="1298448" cy="310896"/>
          </a:xfrm>
          <a:prstGeom prst="roundRect">
            <a:avLst>
              <a:gd name="adj" fmla="val 50000"/>
            </a:avLst>
          </a:prstGeom>
          <a:solidFill>
            <a:srgbClr val="FCEC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013448" y="2596896"/>
            <a:ext cx="1298448" cy="310896"/>
          </a:xfrm>
          <a:prstGeom prst="rect">
            <a:avLst/>
          </a:prstGeom>
          <a:noFill/>
        </p:spPr>
        <p:txBody>
          <a:bodyPr wrap="none" anchor="ctr" lIns="0" rIns="0" tIns="0" bIns="0">
            <a:spAutoFit/>
          </a:bodyPr>
          <a:lstStyle/>
          <a:p>
            <a:pPr algn="ctr">
              <a:lnSpc>
                <a:spcPct val="106000"/>
              </a:lnSpc>
              <a:spcBef>
                <a:spcPts val="0"/>
              </a:spcBef>
              <a:spcAft>
                <a:spcPts val="0"/>
              </a:spcAft>
            </a:pPr>
            <a:r>
              <a:rPr sz="850" b="1">
                <a:solidFill>
                  <a:srgbClr val="B80000"/>
                </a:solidFill>
                <a:latin typeface="Red Hat Display"/>
              </a:rPr>
              <a:t>MEDIA PASS</a:t>
            </a:r>
          </a:p>
        </p:txBody>
      </p:sp>
      <p:pic>
        <p:nvPicPr>
          <p:cNvPr id="27" name="Picture 26" descr="eye_slate.png"/>
          <p:cNvPicPr>
            <a:picLocks noChangeAspect="1"/>
          </p:cNvPicPr>
          <p:nvPr/>
        </p:nvPicPr>
        <p:blipFill>
          <a:blip r:embed="rId4"/>
          <a:stretch>
            <a:fillRect/>
          </a:stretch>
        </p:blipFill>
        <p:spPr>
          <a:xfrm>
            <a:off x="8843619" y="3108960"/>
            <a:ext cx="475488" cy="475488"/>
          </a:xfrm>
          <a:prstGeom prst="rect">
            <a:avLst/>
          </a:prstGeom>
        </p:spPr>
      </p:pic>
      <p:sp>
        <p:nvSpPr>
          <p:cNvPr id="28" name="TextBox 27"/>
          <p:cNvSpPr txBox="1"/>
          <p:nvPr/>
        </p:nvSpPr>
        <p:spPr>
          <a:xfrm>
            <a:off x="7050024" y="3721608"/>
            <a:ext cx="4062679" cy="1536192"/>
          </a:xfrm>
          <a:prstGeom prst="rect">
            <a:avLst/>
          </a:prstGeom>
          <a:noFill/>
        </p:spPr>
        <p:txBody>
          <a:bodyPr wrap="square" anchor="t" lIns="0" rIns="0" tIns="0" bIns="0">
            <a:spAutoFit/>
          </a:bodyPr>
          <a:lstStyle/>
          <a:p>
            <a:pPr algn="l">
              <a:lnSpc>
                <a:spcPct val="120000"/>
              </a:lnSpc>
              <a:spcBef>
                <a:spcPts val="0"/>
              </a:spcBef>
              <a:spcAft>
                <a:spcPts val="0"/>
              </a:spcAft>
            </a:pPr>
            <a:r>
              <a:rPr sz="950" b="0">
                <a:solidFill>
                  <a:srgbClr val="8A9099"/>
                </a:solidFill>
                <a:latin typeface="Red Hat Text"/>
              </a:rPr>
              <a:t>The concept diagram app-security-testing-01-five-pillars.svg — source → SAST → SCA → build → image scan → config check → deploy → DAST, with the five gates coloured by family (shift-left blue, shift-right amber) and the plain build/deploy steps in grey. Reused on concept slide 3.</a:t>
            </a:r>
          </a:p>
        </p:txBody>
      </p:sp>
      <p:cxnSp>
        <p:nvCxnSpPr>
          <p:cNvPr id="29" name="Connector 28"/>
          <p:cNvCxnSpPr/>
          <p:nvPr/>
        </p:nvCxnSpPr>
        <p:spPr>
          <a:xfrm>
            <a:off x="841248" y="6437376"/>
            <a:ext cx="10509199" cy="0"/>
          </a:xfrm>
          <a:prstGeom prst="bentConnector3">
            <a:avLst/>
          </a:prstGeom>
          <a:ln w="12700">
            <a:solidFill>
              <a:srgbClr val="DDE1E6"/>
            </a:solidFill>
          </a:ln>
          <a:effectLst/>
        </p:spPr>
        <p:style>
          <a:lnRef idx="2">
            <a:schemeClr val="accent1"/>
          </a:lnRef>
          <a:fillRef idx="0">
            <a:schemeClr val="accent1"/>
          </a:fillRef>
          <a:effectRef idx="1">
            <a:schemeClr val="accent1"/>
          </a:effectRef>
          <a:fontRef idx="minor">
            <a:schemeClr val="tx1"/>
          </a:fontRef>
        </p:style>
      </p:cxnSp>
      <p:sp>
        <p:nvSpPr>
          <p:cNvPr id="30" name="TextBox 29"/>
          <p:cNvSpPr txBox="1"/>
          <p:nvPr/>
        </p:nvSpPr>
        <p:spPr>
          <a:xfrm>
            <a:off x="841248" y="6473952"/>
            <a:ext cx="7315200" cy="274320"/>
          </a:xfrm>
          <a:prstGeom prst="rect">
            <a:avLst/>
          </a:prstGeom>
          <a:noFill/>
        </p:spPr>
        <p:txBody>
          <a:bodyPr wrap="square" anchor="t" lIns="0" rIns="0" tIns="0" bIns="0">
            <a:spAutoFit/>
          </a:bodyPr>
          <a:lstStyle/>
          <a:p>
            <a:pPr algn="l">
              <a:lnSpc>
                <a:spcPct val="106000"/>
              </a:lnSpc>
              <a:spcBef>
                <a:spcPts val="0"/>
              </a:spcBef>
              <a:spcAft>
                <a:spcPts val="0"/>
              </a:spcAft>
            </a:pPr>
            <a:r>
              <a:rPr sz="950" b="0">
                <a:solidFill>
                  <a:srgbClr val="8A9099"/>
                </a:solidFill>
                <a:latin typeface="Red Hat Text"/>
              </a:rPr>
              <a:t>CONFIDENTIAL</a:t>
            </a:r>
          </a:p>
        </p:txBody>
      </p:sp>
      <p:sp>
        <p:nvSpPr>
          <p:cNvPr id="31" name="TextBox 30"/>
          <p:cNvSpPr txBox="1"/>
          <p:nvPr/>
        </p:nvSpPr>
        <p:spPr>
          <a:xfrm>
            <a:off x="10801807" y="6473952"/>
            <a:ext cx="548640" cy="274320"/>
          </a:xfrm>
          <a:prstGeom prst="rect">
            <a:avLst/>
          </a:prstGeom>
          <a:noFill/>
        </p:spPr>
        <p:txBody>
          <a:bodyPr wrap="square" anchor="t" lIns="0" rIns="0" tIns="0" bIns="0">
            <a:spAutoFit/>
          </a:bodyPr>
          <a:lstStyle/>
          <a:p>
            <a:pPr algn="r">
              <a:lnSpc>
                <a:spcPct val="106000"/>
              </a:lnSpc>
              <a:spcBef>
                <a:spcPts val="0"/>
              </a:spcBef>
              <a:spcAft>
                <a:spcPts val="0"/>
              </a:spcAft>
            </a:pPr>
            <a:r>
              <a:rPr sz="950" b="0">
                <a:solidFill>
                  <a:srgbClr val="8A9099"/>
                </a:solidFill>
                <a:latin typeface="Red Hat Text"/>
              </a:rPr>
              <a:t>52</a:t>
            </a:r>
          </a:p>
        </p:txBody>
      </p:sp>
    </p:spTree>
  </p:cSld>
  <p:clrMapOvr>
    <a:masterClrMapping/>
  </p:clrMapOvr>
</p:sld>
</file>

<file path=ppt/slides/slide6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redhat_logo.jpg"/>
          <p:cNvPicPr>
            <a:picLocks noChangeAspect="1"/>
          </p:cNvPicPr>
          <p:nvPr/>
        </p:nvPicPr>
        <p:blipFill>
          <a:blip r:embed="rId2"/>
          <a:stretch>
            <a:fillRect/>
          </a:stretch>
        </p:blipFill>
        <p:spPr>
          <a:xfrm>
            <a:off x="10326319" y="475488"/>
            <a:ext cx="1024128" cy="242248"/>
          </a:xfrm>
          <a:prstGeom prst="rect">
            <a:avLst/>
          </a:prstGeom>
        </p:spPr>
      </p:pic>
      <p:sp>
        <p:nvSpPr>
          <p:cNvPr id="3" name="TextBox 2"/>
          <p:cNvSpPr txBox="1"/>
          <p:nvPr/>
        </p:nvSpPr>
        <p:spPr>
          <a:xfrm>
            <a:off x="841248" y="548640"/>
            <a:ext cx="8595360" cy="274320"/>
          </a:xfrm>
          <a:prstGeom prst="rect">
            <a:avLst/>
          </a:prstGeom>
          <a:noFill/>
        </p:spPr>
        <p:txBody>
          <a:bodyPr wrap="square" anchor="t" lIns="0" rIns="0" tIns="0" bIns="0">
            <a:spAutoFit/>
          </a:bodyPr>
          <a:lstStyle/>
          <a:p>
            <a:pPr algn="l">
              <a:lnSpc>
                <a:spcPct val="106000"/>
              </a:lnSpc>
              <a:spcBef>
                <a:spcPts val="0"/>
              </a:spcBef>
              <a:spcAft>
                <a:spcPts val="0"/>
              </a:spcAft>
            </a:pPr>
            <a:r>
              <a:rPr sz="1250" b="1" spc="220">
                <a:solidFill>
                  <a:srgbClr val="EE0000"/>
                </a:solidFill>
                <a:latin typeface="Red Hat Display"/>
              </a:rPr>
              <a:t>M08 · APPLICATION SECURITY TESTING</a:t>
            </a:r>
          </a:p>
        </p:txBody>
      </p:sp>
      <p:sp>
        <p:nvSpPr>
          <p:cNvPr id="4" name="TextBox 3"/>
          <p:cNvSpPr txBox="1"/>
          <p:nvPr/>
        </p:nvSpPr>
        <p:spPr>
          <a:xfrm>
            <a:off x="841248" y="877824"/>
            <a:ext cx="10515600" cy="548640"/>
          </a:xfrm>
          <a:prstGeom prst="rect">
            <a:avLst/>
          </a:prstGeom>
          <a:noFill/>
        </p:spPr>
        <p:txBody>
          <a:bodyPr wrap="none" anchor="t" lIns="0" rIns="0" tIns="0" bIns="0">
            <a:spAutoFit/>
          </a:bodyPr>
          <a:lstStyle/>
          <a:p>
            <a:pPr algn="l">
              <a:lnSpc>
                <a:spcPct val="100000"/>
              </a:lnSpc>
              <a:spcBef>
                <a:spcPts val="0"/>
              </a:spcBef>
              <a:spcAft>
                <a:spcPts val="0"/>
              </a:spcAft>
            </a:pPr>
            <a:r>
              <a:rPr sz="2500" b="1">
                <a:solidFill>
                  <a:srgbClr val="1A1A1A"/>
                </a:solidFill>
                <a:latin typeface="Red Hat Display"/>
              </a:rPr>
              <a:t>Shift-left vs shift-right</a:t>
            </a:r>
          </a:p>
        </p:txBody>
      </p:sp>
      <p:cxnSp>
        <p:nvCxnSpPr>
          <p:cNvPr id="5" name="Connector 4"/>
          <p:cNvCxnSpPr/>
          <p:nvPr/>
        </p:nvCxnSpPr>
        <p:spPr>
          <a:xfrm>
            <a:off x="841248" y="1554480"/>
            <a:ext cx="1371600" cy="0"/>
          </a:xfrm>
          <a:prstGeom prst="bentConnector3">
            <a:avLst/>
          </a:prstGeom>
          <a:ln w="31750">
            <a:solidFill>
              <a:srgbClr val="EE0000"/>
            </a:solidFill>
          </a:ln>
          <a:effectLst/>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841248" y="1664208"/>
            <a:ext cx="10515600" cy="365760"/>
          </a:xfrm>
          <a:prstGeom prst="rect">
            <a:avLst/>
          </a:prstGeom>
          <a:noFill/>
        </p:spPr>
        <p:txBody>
          <a:bodyPr wrap="square" anchor="t" lIns="0" rIns="0" tIns="0" bIns="0">
            <a:spAutoFit/>
          </a:bodyPr>
          <a:lstStyle/>
          <a:p>
            <a:pPr algn="l">
              <a:lnSpc>
                <a:spcPct val="106000"/>
              </a:lnSpc>
              <a:spcBef>
                <a:spcPts val="0"/>
              </a:spcBef>
              <a:spcAft>
                <a:spcPts val="0"/>
              </a:spcAft>
            </a:pPr>
            <a:r>
              <a:rPr sz="1350" b="0">
                <a:solidFill>
                  <a:srgbClr val="555960"/>
                </a:solidFill>
                <a:latin typeface="Red Hat Text"/>
              </a:rPr>
              <a:t>catch it where it's cheapest</a:t>
            </a:r>
          </a:p>
        </p:txBody>
      </p:sp>
      <p:sp>
        <p:nvSpPr>
          <p:cNvPr id="7" name="Rounded Rectangle 6"/>
          <p:cNvSpPr/>
          <p:nvPr/>
        </p:nvSpPr>
        <p:spPr>
          <a:xfrm>
            <a:off x="841248" y="2670048"/>
            <a:ext cx="5715000" cy="438912"/>
          </a:xfrm>
          <a:prstGeom prst="roundRect">
            <a:avLst>
              <a:gd name="adj" fmla="val 6000"/>
            </a:avLst>
          </a:prstGeom>
          <a:solidFill>
            <a:srgbClr val="F5F6F8"/>
          </a:solidFill>
          <a:ln w="12700">
            <a:solidFill>
              <a:srgbClr val="DDE1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check_steel.png"/>
          <p:cNvPicPr>
            <a:picLocks noChangeAspect="1"/>
          </p:cNvPicPr>
          <p:nvPr/>
        </p:nvPicPr>
        <p:blipFill>
          <a:blip r:embed="rId3"/>
          <a:stretch>
            <a:fillRect/>
          </a:stretch>
        </p:blipFill>
        <p:spPr>
          <a:xfrm>
            <a:off x="987552" y="2770632"/>
            <a:ext cx="237744" cy="237744"/>
          </a:xfrm>
          <a:prstGeom prst="rect">
            <a:avLst/>
          </a:prstGeom>
        </p:spPr>
      </p:pic>
      <p:sp>
        <p:nvSpPr>
          <p:cNvPr id="9" name="TextBox 8"/>
          <p:cNvSpPr txBox="1"/>
          <p:nvPr/>
        </p:nvSpPr>
        <p:spPr>
          <a:xfrm>
            <a:off x="1353312" y="2670048"/>
            <a:ext cx="5029200" cy="438912"/>
          </a:xfrm>
          <a:prstGeom prst="rect">
            <a:avLst/>
          </a:prstGeom>
          <a:noFill/>
        </p:spPr>
        <p:txBody>
          <a:bodyPr wrap="square" anchor="ctr" lIns="0" rIns="0" tIns="0" bIns="0">
            <a:spAutoFit/>
          </a:bodyPr>
          <a:lstStyle/>
          <a:p>
            <a:pPr algn="l">
              <a:lnSpc>
                <a:spcPct val="106000"/>
              </a:lnSpc>
              <a:spcBef>
                <a:spcPts val="0"/>
              </a:spcBef>
              <a:spcAft>
                <a:spcPts val="0"/>
              </a:spcAft>
            </a:pPr>
            <a:r>
              <a:rPr sz="1200" b="0">
                <a:solidFill>
                  <a:srgbClr val="1A1A1A"/>
                </a:solidFill>
                <a:latin typeface="Red Hat Text"/>
              </a:rPr>
              <a:t>The five pillars split into two families, and the split is about COST</a:t>
            </a:r>
          </a:p>
        </p:txBody>
      </p:sp>
      <p:sp>
        <p:nvSpPr>
          <p:cNvPr id="10" name="Rounded Rectangle 9"/>
          <p:cNvSpPr/>
          <p:nvPr/>
        </p:nvSpPr>
        <p:spPr>
          <a:xfrm>
            <a:off x="841248" y="3182112"/>
            <a:ext cx="5715000" cy="438912"/>
          </a:xfrm>
          <a:prstGeom prst="roundRect">
            <a:avLst>
              <a:gd name="adj" fmla="val 6000"/>
            </a:avLst>
          </a:prstGeom>
          <a:solidFill>
            <a:srgbClr val="F5F6F8"/>
          </a:solidFill>
          <a:ln w="12700">
            <a:solidFill>
              <a:srgbClr val="DDE1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1" name="Picture 10" descr="check_steel.png"/>
          <p:cNvPicPr>
            <a:picLocks noChangeAspect="1"/>
          </p:cNvPicPr>
          <p:nvPr/>
        </p:nvPicPr>
        <p:blipFill>
          <a:blip r:embed="rId3"/>
          <a:stretch>
            <a:fillRect/>
          </a:stretch>
        </p:blipFill>
        <p:spPr>
          <a:xfrm>
            <a:off x="987552" y="3282696"/>
            <a:ext cx="237744" cy="237744"/>
          </a:xfrm>
          <a:prstGeom prst="rect">
            <a:avLst/>
          </a:prstGeom>
        </p:spPr>
      </p:pic>
      <p:sp>
        <p:nvSpPr>
          <p:cNvPr id="12" name="TextBox 11"/>
          <p:cNvSpPr txBox="1"/>
          <p:nvPr/>
        </p:nvSpPr>
        <p:spPr>
          <a:xfrm>
            <a:off x="1353312" y="3182112"/>
            <a:ext cx="5029200" cy="438912"/>
          </a:xfrm>
          <a:prstGeom prst="rect">
            <a:avLst/>
          </a:prstGeom>
          <a:noFill/>
        </p:spPr>
        <p:txBody>
          <a:bodyPr wrap="square" anchor="ctr" lIns="0" rIns="0" tIns="0" bIns="0">
            <a:spAutoFit/>
          </a:bodyPr>
          <a:lstStyle/>
          <a:p>
            <a:pPr algn="l">
              <a:lnSpc>
                <a:spcPct val="106000"/>
              </a:lnSpc>
              <a:spcBef>
                <a:spcPts val="0"/>
              </a:spcBef>
              <a:spcAft>
                <a:spcPts val="0"/>
              </a:spcAft>
            </a:pPr>
            <a:r>
              <a:rPr sz="1200" b="0">
                <a:solidFill>
                  <a:srgbClr val="1A1A1A"/>
                </a:solidFill>
                <a:latin typeface="Red Hat Text"/>
              </a:rPr>
              <a:t>Shift-LEFT (SAST, SCA, config): run on the SOURCE and MANIFESTS, before build or deploy</a:t>
            </a:r>
          </a:p>
        </p:txBody>
      </p:sp>
      <p:sp>
        <p:nvSpPr>
          <p:cNvPr id="13" name="Rounded Rectangle 12"/>
          <p:cNvSpPr/>
          <p:nvPr/>
        </p:nvSpPr>
        <p:spPr>
          <a:xfrm>
            <a:off x="841248" y="3694176"/>
            <a:ext cx="5715000" cy="438912"/>
          </a:xfrm>
          <a:prstGeom prst="roundRect">
            <a:avLst>
              <a:gd name="adj" fmla="val 6000"/>
            </a:avLst>
          </a:prstGeom>
          <a:solidFill>
            <a:srgbClr val="F5F6F8"/>
          </a:solidFill>
          <a:ln w="12700">
            <a:solidFill>
              <a:srgbClr val="DDE1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4" name="Picture 13" descr="check_steel.png"/>
          <p:cNvPicPr>
            <a:picLocks noChangeAspect="1"/>
          </p:cNvPicPr>
          <p:nvPr/>
        </p:nvPicPr>
        <p:blipFill>
          <a:blip r:embed="rId3"/>
          <a:stretch>
            <a:fillRect/>
          </a:stretch>
        </p:blipFill>
        <p:spPr>
          <a:xfrm>
            <a:off x="987552" y="3794760"/>
            <a:ext cx="237744" cy="237744"/>
          </a:xfrm>
          <a:prstGeom prst="rect">
            <a:avLst/>
          </a:prstGeom>
        </p:spPr>
      </p:pic>
      <p:sp>
        <p:nvSpPr>
          <p:cNvPr id="15" name="TextBox 14"/>
          <p:cNvSpPr txBox="1"/>
          <p:nvPr/>
        </p:nvSpPr>
        <p:spPr>
          <a:xfrm>
            <a:off x="1353312" y="3694176"/>
            <a:ext cx="5029200" cy="438912"/>
          </a:xfrm>
          <a:prstGeom prst="rect">
            <a:avLst/>
          </a:prstGeom>
          <a:noFill/>
        </p:spPr>
        <p:txBody>
          <a:bodyPr wrap="square" anchor="ctr" lIns="0" rIns="0" tIns="0" bIns="0">
            <a:spAutoFit/>
          </a:bodyPr>
          <a:lstStyle/>
          <a:p>
            <a:pPr algn="l">
              <a:lnSpc>
                <a:spcPct val="106000"/>
              </a:lnSpc>
              <a:spcBef>
                <a:spcPts val="0"/>
              </a:spcBef>
              <a:spcAft>
                <a:spcPts val="0"/>
              </a:spcAft>
            </a:pPr>
            <a:r>
              <a:rPr sz="1200" b="0">
                <a:solidFill>
                  <a:srgbClr val="1A1A1A"/>
                </a:solidFill>
                <a:latin typeface="Red Hat Text"/>
              </a:rPr>
              <a:t>Shift-RIGHT (image scan, DAST): run on the BUILT IMAGE and RUNNING app, after deploy</a:t>
            </a:r>
          </a:p>
        </p:txBody>
      </p:sp>
      <p:sp>
        <p:nvSpPr>
          <p:cNvPr id="16" name="Rounded Rectangle 15"/>
          <p:cNvSpPr/>
          <p:nvPr/>
        </p:nvSpPr>
        <p:spPr>
          <a:xfrm>
            <a:off x="841248" y="4206240"/>
            <a:ext cx="5715000" cy="438912"/>
          </a:xfrm>
          <a:prstGeom prst="roundRect">
            <a:avLst>
              <a:gd name="adj" fmla="val 6000"/>
            </a:avLst>
          </a:prstGeom>
          <a:solidFill>
            <a:srgbClr val="F5F6F8"/>
          </a:solidFill>
          <a:ln w="12700">
            <a:solidFill>
              <a:srgbClr val="DDE1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7" name="Picture 16" descr="check_steel.png"/>
          <p:cNvPicPr>
            <a:picLocks noChangeAspect="1"/>
          </p:cNvPicPr>
          <p:nvPr/>
        </p:nvPicPr>
        <p:blipFill>
          <a:blip r:embed="rId3"/>
          <a:stretch>
            <a:fillRect/>
          </a:stretch>
        </p:blipFill>
        <p:spPr>
          <a:xfrm>
            <a:off x="987552" y="4306824"/>
            <a:ext cx="237744" cy="237744"/>
          </a:xfrm>
          <a:prstGeom prst="rect">
            <a:avLst/>
          </a:prstGeom>
        </p:spPr>
      </p:pic>
      <p:sp>
        <p:nvSpPr>
          <p:cNvPr id="18" name="TextBox 17"/>
          <p:cNvSpPr txBox="1"/>
          <p:nvPr/>
        </p:nvSpPr>
        <p:spPr>
          <a:xfrm>
            <a:off x="1353312" y="4206240"/>
            <a:ext cx="5029200" cy="438912"/>
          </a:xfrm>
          <a:prstGeom prst="rect">
            <a:avLst/>
          </a:prstGeom>
          <a:noFill/>
        </p:spPr>
        <p:txBody>
          <a:bodyPr wrap="square" anchor="ctr" lIns="0" rIns="0" tIns="0" bIns="0">
            <a:spAutoFit/>
          </a:bodyPr>
          <a:lstStyle/>
          <a:p>
            <a:pPr algn="l">
              <a:lnSpc>
                <a:spcPct val="106000"/>
              </a:lnSpc>
              <a:spcBef>
                <a:spcPts val="0"/>
              </a:spcBef>
              <a:spcAft>
                <a:spcPts val="0"/>
              </a:spcAft>
            </a:pPr>
            <a:r>
              <a:rPr sz="1200" b="0">
                <a:solidFill>
                  <a:srgbClr val="1A1A1A"/>
                </a:solidFill>
                <a:latin typeface="Red Hat Text"/>
              </a:rPr>
              <a:t>A secret caught in code review is a one-line fix; the same secret in production is an incident</a:t>
            </a:r>
          </a:p>
        </p:txBody>
      </p:sp>
      <p:sp>
        <p:nvSpPr>
          <p:cNvPr id="19" name="Rounded Rectangle 18"/>
          <p:cNvSpPr/>
          <p:nvPr/>
        </p:nvSpPr>
        <p:spPr>
          <a:xfrm>
            <a:off x="841248" y="4718304"/>
            <a:ext cx="5715000" cy="438912"/>
          </a:xfrm>
          <a:prstGeom prst="roundRect">
            <a:avLst>
              <a:gd name="adj" fmla="val 6000"/>
            </a:avLst>
          </a:prstGeom>
          <a:solidFill>
            <a:srgbClr val="F5F6F8"/>
          </a:solidFill>
          <a:ln w="12700">
            <a:solidFill>
              <a:srgbClr val="DDE1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0" name="Picture 19" descr="check_steel.png"/>
          <p:cNvPicPr>
            <a:picLocks noChangeAspect="1"/>
          </p:cNvPicPr>
          <p:nvPr/>
        </p:nvPicPr>
        <p:blipFill>
          <a:blip r:embed="rId3"/>
          <a:stretch>
            <a:fillRect/>
          </a:stretch>
        </p:blipFill>
        <p:spPr>
          <a:xfrm>
            <a:off x="987552" y="4818888"/>
            <a:ext cx="237744" cy="237744"/>
          </a:xfrm>
          <a:prstGeom prst="rect">
            <a:avLst/>
          </a:prstGeom>
        </p:spPr>
      </p:pic>
      <p:sp>
        <p:nvSpPr>
          <p:cNvPr id="21" name="TextBox 20"/>
          <p:cNvSpPr txBox="1"/>
          <p:nvPr/>
        </p:nvSpPr>
        <p:spPr>
          <a:xfrm>
            <a:off x="1353312" y="4718304"/>
            <a:ext cx="5029200" cy="438912"/>
          </a:xfrm>
          <a:prstGeom prst="rect">
            <a:avLst/>
          </a:prstGeom>
          <a:noFill/>
        </p:spPr>
        <p:txBody>
          <a:bodyPr wrap="square" anchor="ctr" lIns="0" rIns="0" tIns="0" bIns="0">
            <a:spAutoFit/>
          </a:bodyPr>
          <a:lstStyle/>
          <a:p>
            <a:pPr algn="l">
              <a:lnSpc>
                <a:spcPct val="106000"/>
              </a:lnSpc>
              <a:spcBef>
                <a:spcPts val="0"/>
              </a:spcBef>
              <a:spcAft>
                <a:spcPts val="0"/>
              </a:spcAft>
            </a:pPr>
            <a:r>
              <a:rPr sz="1200" b="0">
                <a:solidFill>
                  <a:srgbClr val="1A1A1A"/>
                </a:solidFill>
                <a:latin typeface="Red Hat Text"/>
              </a:rPr>
              <a:t>Some flaws ONLY exist once assembled — a base-layer CVE, a header that needs a live response</a:t>
            </a:r>
          </a:p>
        </p:txBody>
      </p:sp>
      <p:sp>
        <p:nvSpPr>
          <p:cNvPr id="22" name="Rounded Rectangle 21"/>
          <p:cNvSpPr/>
          <p:nvPr/>
        </p:nvSpPr>
        <p:spPr>
          <a:xfrm>
            <a:off x="841248" y="5230368"/>
            <a:ext cx="5715000" cy="438912"/>
          </a:xfrm>
          <a:prstGeom prst="roundRect">
            <a:avLst>
              <a:gd name="adj" fmla="val 6000"/>
            </a:avLst>
          </a:prstGeom>
          <a:solidFill>
            <a:srgbClr val="F5F6F8"/>
          </a:solidFill>
          <a:ln w="12700">
            <a:solidFill>
              <a:srgbClr val="DDE1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3" name="Picture 22" descr="check_steel.png"/>
          <p:cNvPicPr>
            <a:picLocks noChangeAspect="1"/>
          </p:cNvPicPr>
          <p:nvPr/>
        </p:nvPicPr>
        <p:blipFill>
          <a:blip r:embed="rId3"/>
          <a:stretch>
            <a:fillRect/>
          </a:stretch>
        </p:blipFill>
        <p:spPr>
          <a:xfrm>
            <a:off x="987552" y="5330952"/>
            <a:ext cx="237744" cy="237744"/>
          </a:xfrm>
          <a:prstGeom prst="rect">
            <a:avLst/>
          </a:prstGeom>
        </p:spPr>
      </p:pic>
      <p:sp>
        <p:nvSpPr>
          <p:cNvPr id="24" name="TextBox 23"/>
          <p:cNvSpPr txBox="1"/>
          <p:nvPr/>
        </p:nvSpPr>
        <p:spPr>
          <a:xfrm>
            <a:off x="1353312" y="5230368"/>
            <a:ext cx="5029200" cy="438912"/>
          </a:xfrm>
          <a:prstGeom prst="rect">
            <a:avLst/>
          </a:prstGeom>
          <a:noFill/>
        </p:spPr>
        <p:txBody>
          <a:bodyPr wrap="square" anchor="ctr" lIns="0" rIns="0" tIns="0" bIns="0">
            <a:spAutoFit/>
          </a:bodyPr>
          <a:lstStyle/>
          <a:p>
            <a:pPr algn="l">
              <a:lnSpc>
                <a:spcPct val="106000"/>
              </a:lnSpc>
              <a:spcBef>
                <a:spcPts val="0"/>
              </a:spcBef>
              <a:spcAft>
                <a:spcPts val="0"/>
              </a:spcAft>
            </a:pPr>
            <a:r>
              <a:rPr sz="1200" b="0">
                <a:solidFill>
                  <a:srgbClr val="1A1A1A"/>
                </a:solidFill>
                <a:latin typeface="Red Hat Text"/>
              </a:rPr>
              <a:t>Neither family replaces the other — a mature pipeline runs BOTH</a:t>
            </a:r>
          </a:p>
        </p:txBody>
      </p:sp>
      <p:sp>
        <p:nvSpPr>
          <p:cNvPr id="25" name="Rounded Rectangle 24"/>
          <p:cNvSpPr/>
          <p:nvPr/>
        </p:nvSpPr>
        <p:spPr>
          <a:xfrm>
            <a:off x="6812280" y="2670048"/>
            <a:ext cx="4538167" cy="2999232"/>
          </a:xfrm>
          <a:prstGeom prst="roundRect">
            <a:avLst>
              <a:gd name="adj" fmla="val 4000"/>
            </a:avLst>
          </a:prstGeom>
          <a:solidFill>
            <a:srgbClr val="FFFFFF"/>
          </a:solidFill>
          <a:ln w="15240">
            <a:solidFill>
              <a:srgbClr val="DDE1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ounded Rectangle 25"/>
          <p:cNvSpPr/>
          <p:nvPr/>
        </p:nvSpPr>
        <p:spPr>
          <a:xfrm>
            <a:off x="7013448" y="2871216"/>
            <a:ext cx="1298448" cy="310896"/>
          </a:xfrm>
          <a:prstGeom prst="roundRect">
            <a:avLst>
              <a:gd name="adj" fmla="val 50000"/>
            </a:avLst>
          </a:prstGeom>
          <a:solidFill>
            <a:srgbClr val="FCEC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7013448" y="2871216"/>
            <a:ext cx="1298448" cy="310896"/>
          </a:xfrm>
          <a:prstGeom prst="rect">
            <a:avLst/>
          </a:prstGeom>
          <a:noFill/>
        </p:spPr>
        <p:txBody>
          <a:bodyPr wrap="none" anchor="ctr" lIns="0" rIns="0" tIns="0" bIns="0">
            <a:spAutoFit/>
          </a:bodyPr>
          <a:lstStyle/>
          <a:p>
            <a:pPr algn="ctr">
              <a:lnSpc>
                <a:spcPct val="106000"/>
              </a:lnSpc>
              <a:spcBef>
                <a:spcPts val="0"/>
              </a:spcBef>
              <a:spcAft>
                <a:spcPts val="0"/>
              </a:spcAft>
            </a:pPr>
            <a:r>
              <a:rPr sz="850" b="1">
                <a:solidFill>
                  <a:srgbClr val="B80000"/>
                </a:solidFill>
                <a:latin typeface="Red Hat Display"/>
              </a:rPr>
              <a:t>MEDIA PASS</a:t>
            </a:r>
          </a:p>
        </p:txBody>
      </p:sp>
      <p:pic>
        <p:nvPicPr>
          <p:cNvPr id="28" name="Picture 27" descr="eye_slate.png"/>
          <p:cNvPicPr>
            <a:picLocks noChangeAspect="1"/>
          </p:cNvPicPr>
          <p:nvPr/>
        </p:nvPicPr>
        <p:blipFill>
          <a:blip r:embed="rId4"/>
          <a:stretch>
            <a:fillRect/>
          </a:stretch>
        </p:blipFill>
        <p:spPr>
          <a:xfrm>
            <a:off x="8843619" y="3383280"/>
            <a:ext cx="475488" cy="475488"/>
          </a:xfrm>
          <a:prstGeom prst="rect">
            <a:avLst/>
          </a:prstGeom>
        </p:spPr>
      </p:pic>
      <p:sp>
        <p:nvSpPr>
          <p:cNvPr id="29" name="TextBox 28"/>
          <p:cNvSpPr txBox="1"/>
          <p:nvPr/>
        </p:nvSpPr>
        <p:spPr>
          <a:xfrm>
            <a:off x="7050024" y="3995928"/>
            <a:ext cx="4062679" cy="1536192"/>
          </a:xfrm>
          <a:prstGeom prst="rect">
            <a:avLst/>
          </a:prstGeom>
          <a:noFill/>
        </p:spPr>
        <p:txBody>
          <a:bodyPr wrap="square" anchor="t" lIns="0" rIns="0" tIns="0" bIns="0">
            <a:spAutoFit/>
          </a:bodyPr>
          <a:lstStyle/>
          <a:p>
            <a:pPr algn="l">
              <a:lnSpc>
                <a:spcPct val="120000"/>
              </a:lnSpc>
              <a:spcBef>
                <a:spcPts val="0"/>
              </a:spcBef>
              <a:spcAft>
                <a:spcPts val="0"/>
              </a:spcAft>
            </a:pPr>
            <a:r>
              <a:rPr sz="950" b="0">
                <a:solidFill>
                  <a:srgbClr val="8A9099"/>
                </a:solidFill>
                <a:latin typeface="Red Hat Text"/>
              </a:rPr>
              <a:t>The same app-security-testing-01-five-pillars.svg, read this time as two bands — the blue shift-LEFT gates sitting before the "build" step, the amber shift-RIGHT gates after it — with a cost arrow underneath rising from "cheap one-line fix" on the left to "production incident" on the right.</a:t>
            </a:r>
          </a:p>
        </p:txBody>
      </p:sp>
      <p:cxnSp>
        <p:nvCxnSpPr>
          <p:cNvPr id="30" name="Connector 29"/>
          <p:cNvCxnSpPr/>
          <p:nvPr/>
        </p:nvCxnSpPr>
        <p:spPr>
          <a:xfrm>
            <a:off x="841248" y="6437376"/>
            <a:ext cx="10509199" cy="0"/>
          </a:xfrm>
          <a:prstGeom prst="bentConnector3">
            <a:avLst/>
          </a:prstGeom>
          <a:ln w="12700">
            <a:solidFill>
              <a:srgbClr val="DDE1E6"/>
            </a:solidFill>
          </a:ln>
          <a:effectLst/>
        </p:spPr>
        <p:style>
          <a:lnRef idx="2">
            <a:schemeClr val="accent1"/>
          </a:lnRef>
          <a:fillRef idx="0">
            <a:schemeClr val="accent1"/>
          </a:fillRef>
          <a:effectRef idx="1">
            <a:schemeClr val="accent1"/>
          </a:effectRef>
          <a:fontRef idx="minor">
            <a:schemeClr val="tx1"/>
          </a:fontRef>
        </p:style>
      </p:cxnSp>
      <p:sp>
        <p:nvSpPr>
          <p:cNvPr id="31" name="TextBox 30"/>
          <p:cNvSpPr txBox="1"/>
          <p:nvPr/>
        </p:nvSpPr>
        <p:spPr>
          <a:xfrm>
            <a:off x="841248" y="6473952"/>
            <a:ext cx="7315200" cy="274320"/>
          </a:xfrm>
          <a:prstGeom prst="rect">
            <a:avLst/>
          </a:prstGeom>
          <a:noFill/>
        </p:spPr>
        <p:txBody>
          <a:bodyPr wrap="square" anchor="t" lIns="0" rIns="0" tIns="0" bIns="0">
            <a:spAutoFit/>
          </a:bodyPr>
          <a:lstStyle/>
          <a:p>
            <a:pPr algn="l">
              <a:lnSpc>
                <a:spcPct val="106000"/>
              </a:lnSpc>
              <a:spcBef>
                <a:spcPts val="0"/>
              </a:spcBef>
              <a:spcAft>
                <a:spcPts val="0"/>
              </a:spcAft>
            </a:pPr>
            <a:r>
              <a:rPr sz="950" b="0">
                <a:solidFill>
                  <a:srgbClr val="8A9099"/>
                </a:solidFill>
                <a:latin typeface="Red Hat Text"/>
              </a:rPr>
              <a:t>CONFIDENTIAL</a:t>
            </a:r>
          </a:p>
        </p:txBody>
      </p:sp>
      <p:sp>
        <p:nvSpPr>
          <p:cNvPr id="32" name="TextBox 31"/>
          <p:cNvSpPr txBox="1"/>
          <p:nvPr/>
        </p:nvSpPr>
        <p:spPr>
          <a:xfrm>
            <a:off x="10801807" y="6473952"/>
            <a:ext cx="548640" cy="274320"/>
          </a:xfrm>
          <a:prstGeom prst="rect">
            <a:avLst/>
          </a:prstGeom>
          <a:noFill/>
        </p:spPr>
        <p:txBody>
          <a:bodyPr wrap="square" anchor="t" lIns="0" rIns="0" tIns="0" bIns="0">
            <a:spAutoFit/>
          </a:bodyPr>
          <a:lstStyle/>
          <a:p>
            <a:pPr algn="r">
              <a:lnSpc>
                <a:spcPct val="106000"/>
              </a:lnSpc>
              <a:spcBef>
                <a:spcPts val="0"/>
              </a:spcBef>
              <a:spcAft>
                <a:spcPts val="0"/>
              </a:spcAft>
            </a:pPr>
            <a:r>
              <a:rPr sz="950" b="0">
                <a:solidFill>
                  <a:srgbClr val="8A9099"/>
                </a:solidFill>
                <a:latin typeface="Red Hat Text"/>
              </a:rPr>
              <a:t>53</a:t>
            </a:r>
          </a:p>
        </p:txBody>
      </p:sp>
    </p:spTree>
  </p:cSld>
  <p:clrMapOvr>
    <a:masterClrMapping/>
  </p:clrMapOvr>
</p:sld>
</file>

<file path=ppt/slides/slide6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redhat_logo.jpg"/>
          <p:cNvPicPr>
            <a:picLocks noChangeAspect="1"/>
          </p:cNvPicPr>
          <p:nvPr/>
        </p:nvPicPr>
        <p:blipFill>
          <a:blip r:embed="rId2"/>
          <a:stretch>
            <a:fillRect/>
          </a:stretch>
        </p:blipFill>
        <p:spPr>
          <a:xfrm>
            <a:off x="10326319" y="475488"/>
            <a:ext cx="1024128" cy="242248"/>
          </a:xfrm>
          <a:prstGeom prst="rect">
            <a:avLst/>
          </a:prstGeom>
        </p:spPr>
      </p:pic>
      <p:sp>
        <p:nvSpPr>
          <p:cNvPr id="3" name="TextBox 2"/>
          <p:cNvSpPr txBox="1"/>
          <p:nvPr/>
        </p:nvSpPr>
        <p:spPr>
          <a:xfrm>
            <a:off x="841248" y="548640"/>
            <a:ext cx="8595360" cy="274320"/>
          </a:xfrm>
          <a:prstGeom prst="rect">
            <a:avLst/>
          </a:prstGeom>
          <a:noFill/>
        </p:spPr>
        <p:txBody>
          <a:bodyPr wrap="square" anchor="t" lIns="0" rIns="0" tIns="0" bIns="0">
            <a:spAutoFit/>
          </a:bodyPr>
          <a:lstStyle/>
          <a:p>
            <a:pPr algn="l">
              <a:lnSpc>
                <a:spcPct val="106000"/>
              </a:lnSpc>
              <a:spcBef>
                <a:spcPts val="0"/>
              </a:spcBef>
              <a:spcAft>
                <a:spcPts val="0"/>
              </a:spcAft>
            </a:pPr>
            <a:r>
              <a:rPr sz="1250" b="1" spc="220">
                <a:solidFill>
                  <a:srgbClr val="EE0000"/>
                </a:solidFill>
                <a:latin typeface="Red Hat Display"/>
              </a:rPr>
              <a:t>M08 · APPLICATION SECURITY TESTING</a:t>
            </a:r>
          </a:p>
        </p:txBody>
      </p:sp>
      <p:sp>
        <p:nvSpPr>
          <p:cNvPr id="4" name="TextBox 3"/>
          <p:cNvSpPr txBox="1"/>
          <p:nvPr/>
        </p:nvSpPr>
        <p:spPr>
          <a:xfrm>
            <a:off x="841248" y="877824"/>
            <a:ext cx="10515600" cy="548640"/>
          </a:xfrm>
          <a:prstGeom prst="rect">
            <a:avLst/>
          </a:prstGeom>
          <a:noFill/>
        </p:spPr>
        <p:txBody>
          <a:bodyPr wrap="none" anchor="t" lIns="0" rIns="0" tIns="0" bIns="0">
            <a:spAutoFit/>
          </a:bodyPr>
          <a:lstStyle/>
          <a:p>
            <a:pPr algn="l">
              <a:lnSpc>
                <a:spcPct val="100000"/>
              </a:lnSpc>
              <a:spcBef>
                <a:spcPts val="0"/>
              </a:spcBef>
              <a:spcAft>
                <a:spcPts val="0"/>
              </a:spcAft>
            </a:pPr>
            <a:r>
              <a:rPr sz="2500" b="1">
                <a:solidFill>
                  <a:srgbClr val="1A1A1A"/>
                </a:solidFill>
                <a:latin typeface="Red Hat Display"/>
              </a:rPr>
              <a:t>Defense in depth — the log4shell beat</a:t>
            </a:r>
          </a:p>
        </p:txBody>
      </p:sp>
      <p:cxnSp>
        <p:nvCxnSpPr>
          <p:cNvPr id="5" name="Connector 4"/>
          <p:cNvCxnSpPr/>
          <p:nvPr/>
        </p:nvCxnSpPr>
        <p:spPr>
          <a:xfrm>
            <a:off x="841248" y="1554480"/>
            <a:ext cx="1371600" cy="0"/>
          </a:xfrm>
          <a:prstGeom prst="bentConnector3">
            <a:avLst/>
          </a:prstGeom>
          <a:ln w="31750">
            <a:solidFill>
              <a:srgbClr val="EE0000"/>
            </a:solidFill>
          </a:ln>
          <a:effectLst/>
        </p:spPr>
        <p:style>
          <a:lnRef idx="2">
            <a:schemeClr val="accent1"/>
          </a:lnRef>
          <a:fillRef idx="0">
            <a:schemeClr val="accent1"/>
          </a:fillRef>
          <a:effectRef idx="1">
            <a:schemeClr val="accent1"/>
          </a:effectRef>
          <a:fontRef idx="minor">
            <a:schemeClr val="tx1"/>
          </a:fontRef>
        </p:style>
      </p:cxnSp>
      <p:sp>
        <p:nvSpPr>
          <p:cNvPr id="6" name="Rounded Rectangle 5"/>
          <p:cNvSpPr/>
          <p:nvPr/>
        </p:nvSpPr>
        <p:spPr>
          <a:xfrm>
            <a:off x="841248" y="2395728"/>
            <a:ext cx="5715000" cy="438912"/>
          </a:xfrm>
          <a:prstGeom prst="roundRect">
            <a:avLst>
              <a:gd name="adj" fmla="val 6000"/>
            </a:avLst>
          </a:prstGeom>
          <a:solidFill>
            <a:srgbClr val="F5F6F8"/>
          </a:solidFill>
          <a:ln w="12700">
            <a:solidFill>
              <a:srgbClr val="DDE1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check_steel.png"/>
          <p:cNvPicPr>
            <a:picLocks noChangeAspect="1"/>
          </p:cNvPicPr>
          <p:nvPr/>
        </p:nvPicPr>
        <p:blipFill>
          <a:blip r:embed="rId3"/>
          <a:stretch>
            <a:fillRect/>
          </a:stretch>
        </p:blipFill>
        <p:spPr>
          <a:xfrm>
            <a:off x="987552" y="2496312"/>
            <a:ext cx="237744" cy="237744"/>
          </a:xfrm>
          <a:prstGeom prst="rect">
            <a:avLst/>
          </a:prstGeom>
        </p:spPr>
      </p:pic>
      <p:sp>
        <p:nvSpPr>
          <p:cNvPr id="8" name="TextBox 7"/>
          <p:cNvSpPr txBox="1"/>
          <p:nvPr/>
        </p:nvSpPr>
        <p:spPr>
          <a:xfrm>
            <a:off x="1353312" y="2395728"/>
            <a:ext cx="5029200" cy="438912"/>
          </a:xfrm>
          <a:prstGeom prst="rect">
            <a:avLst/>
          </a:prstGeom>
          <a:noFill/>
        </p:spPr>
        <p:txBody>
          <a:bodyPr wrap="square" anchor="ctr" lIns="0" rIns="0" tIns="0" bIns="0">
            <a:spAutoFit/>
          </a:bodyPr>
          <a:lstStyle/>
          <a:p>
            <a:pPr algn="l">
              <a:lnSpc>
                <a:spcPct val="106000"/>
              </a:lnSpc>
              <a:spcBef>
                <a:spcPts val="0"/>
              </a:spcBef>
              <a:spcAft>
                <a:spcPts val="0"/>
              </a:spcAft>
            </a:pPr>
            <a:r>
              <a:rPr sz="1200" b="0">
                <a:solidFill>
                  <a:srgbClr val="1A1A1A"/>
                </a:solidFill>
                <a:latin typeface="Red Hat Text"/>
              </a:rPr>
              <a:t>The most important idea: check the SAME class of risk at MORE THAN ONE layer</a:t>
            </a:r>
          </a:p>
        </p:txBody>
      </p:sp>
      <p:sp>
        <p:nvSpPr>
          <p:cNvPr id="9" name="Rounded Rectangle 8"/>
          <p:cNvSpPr/>
          <p:nvPr/>
        </p:nvSpPr>
        <p:spPr>
          <a:xfrm>
            <a:off x="841248" y="2907792"/>
            <a:ext cx="5715000" cy="438912"/>
          </a:xfrm>
          <a:prstGeom prst="roundRect">
            <a:avLst>
              <a:gd name="adj" fmla="val 6000"/>
            </a:avLst>
          </a:prstGeom>
          <a:solidFill>
            <a:srgbClr val="F5F6F8"/>
          </a:solidFill>
          <a:ln w="12700">
            <a:solidFill>
              <a:srgbClr val="DDE1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0" name="Picture 9" descr="check_steel.png"/>
          <p:cNvPicPr>
            <a:picLocks noChangeAspect="1"/>
          </p:cNvPicPr>
          <p:nvPr/>
        </p:nvPicPr>
        <p:blipFill>
          <a:blip r:embed="rId3"/>
          <a:stretch>
            <a:fillRect/>
          </a:stretch>
        </p:blipFill>
        <p:spPr>
          <a:xfrm>
            <a:off x="987552" y="3008376"/>
            <a:ext cx="237744" cy="237744"/>
          </a:xfrm>
          <a:prstGeom prst="rect">
            <a:avLst/>
          </a:prstGeom>
        </p:spPr>
      </p:pic>
      <p:sp>
        <p:nvSpPr>
          <p:cNvPr id="11" name="TextBox 10"/>
          <p:cNvSpPr txBox="1"/>
          <p:nvPr/>
        </p:nvSpPr>
        <p:spPr>
          <a:xfrm>
            <a:off x="1353312" y="2907792"/>
            <a:ext cx="5029200" cy="438912"/>
          </a:xfrm>
          <a:prstGeom prst="rect">
            <a:avLst/>
          </a:prstGeom>
          <a:noFill/>
        </p:spPr>
        <p:txBody>
          <a:bodyPr wrap="square" anchor="ctr" lIns="0" rIns="0" tIns="0" bIns="0">
            <a:spAutoFit/>
          </a:bodyPr>
          <a:lstStyle/>
          <a:p>
            <a:pPr algn="l">
              <a:lnSpc>
                <a:spcPct val="106000"/>
              </a:lnSpc>
              <a:spcBef>
                <a:spcPts val="0"/>
              </a:spcBef>
              <a:spcAft>
                <a:spcPts val="0"/>
              </a:spcAft>
            </a:pPr>
            <a:r>
              <a:rPr sz="1200" b="0">
                <a:solidFill>
                  <a:srgbClr val="1A1A1A"/>
                </a:solidFill>
                <a:latin typeface="Red Hat Text"/>
              </a:rPr>
              <a:t>log4shell (CVE-2021-44228), the critical Log4j RCE, makes it concrete</a:t>
            </a:r>
          </a:p>
        </p:txBody>
      </p:sp>
      <p:sp>
        <p:nvSpPr>
          <p:cNvPr id="12" name="Rounded Rectangle 11"/>
          <p:cNvSpPr/>
          <p:nvPr/>
        </p:nvSpPr>
        <p:spPr>
          <a:xfrm>
            <a:off x="841248" y="3419856"/>
            <a:ext cx="5715000" cy="438912"/>
          </a:xfrm>
          <a:prstGeom prst="roundRect">
            <a:avLst>
              <a:gd name="adj" fmla="val 6000"/>
            </a:avLst>
          </a:prstGeom>
          <a:solidFill>
            <a:srgbClr val="F5F6F8"/>
          </a:solidFill>
          <a:ln w="12700">
            <a:solidFill>
              <a:srgbClr val="DDE1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3" name="Picture 12" descr="check_steel.png"/>
          <p:cNvPicPr>
            <a:picLocks noChangeAspect="1"/>
          </p:cNvPicPr>
          <p:nvPr/>
        </p:nvPicPr>
        <p:blipFill>
          <a:blip r:embed="rId3"/>
          <a:stretch>
            <a:fillRect/>
          </a:stretch>
        </p:blipFill>
        <p:spPr>
          <a:xfrm>
            <a:off x="987552" y="3520440"/>
            <a:ext cx="237744" cy="237744"/>
          </a:xfrm>
          <a:prstGeom prst="rect">
            <a:avLst/>
          </a:prstGeom>
        </p:spPr>
      </p:pic>
      <p:sp>
        <p:nvSpPr>
          <p:cNvPr id="14" name="TextBox 13"/>
          <p:cNvSpPr txBox="1"/>
          <p:nvPr/>
        </p:nvSpPr>
        <p:spPr>
          <a:xfrm>
            <a:off x="1353312" y="3419856"/>
            <a:ext cx="5029200" cy="438912"/>
          </a:xfrm>
          <a:prstGeom prst="rect">
            <a:avLst/>
          </a:prstGeom>
          <a:noFill/>
        </p:spPr>
        <p:txBody>
          <a:bodyPr wrap="square" anchor="ctr" lIns="0" rIns="0" tIns="0" bIns="0">
            <a:spAutoFit/>
          </a:bodyPr>
          <a:lstStyle/>
          <a:p>
            <a:pPr algn="l">
              <a:lnSpc>
                <a:spcPct val="106000"/>
              </a:lnSpc>
              <a:spcBef>
                <a:spcPts val="0"/>
              </a:spcBef>
              <a:spcAft>
                <a:spcPts val="0"/>
              </a:spcAft>
            </a:pPr>
            <a:r>
              <a:rPr sz="1200" b="0">
                <a:solidFill>
                  <a:srgbClr val="1A1A1A"/>
                </a:solidFill>
                <a:latin typeface="Red Hat Text"/>
              </a:rPr>
              <a:t>In the lab it is baked into the IMAGE at build time — NOT declared in `pom.xml`</a:t>
            </a:r>
          </a:p>
        </p:txBody>
      </p:sp>
      <p:sp>
        <p:nvSpPr>
          <p:cNvPr id="15" name="Rounded Rectangle 14"/>
          <p:cNvSpPr/>
          <p:nvPr/>
        </p:nvSpPr>
        <p:spPr>
          <a:xfrm>
            <a:off x="841248" y="3931920"/>
            <a:ext cx="5715000" cy="438912"/>
          </a:xfrm>
          <a:prstGeom prst="roundRect">
            <a:avLst>
              <a:gd name="adj" fmla="val 6000"/>
            </a:avLst>
          </a:prstGeom>
          <a:solidFill>
            <a:srgbClr val="F5F6F8"/>
          </a:solidFill>
          <a:ln w="12700">
            <a:solidFill>
              <a:srgbClr val="DDE1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6" name="Picture 15" descr="check_steel.png"/>
          <p:cNvPicPr>
            <a:picLocks noChangeAspect="1"/>
          </p:cNvPicPr>
          <p:nvPr/>
        </p:nvPicPr>
        <p:blipFill>
          <a:blip r:embed="rId3"/>
          <a:stretch>
            <a:fillRect/>
          </a:stretch>
        </p:blipFill>
        <p:spPr>
          <a:xfrm>
            <a:off x="987552" y="4032504"/>
            <a:ext cx="237744" cy="237744"/>
          </a:xfrm>
          <a:prstGeom prst="rect">
            <a:avLst/>
          </a:prstGeom>
        </p:spPr>
      </p:pic>
      <p:sp>
        <p:nvSpPr>
          <p:cNvPr id="17" name="TextBox 16"/>
          <p:cNvSpPr txBox="1"/>
          <p:nvPr/>
        </p:nvSpPr>
        <p:spPr>
          <a:xfrm>
            <a:off x="1353312" y="3931920"/>
            <a:ext cx="5029200" cy="438912"/>
          </a:xfrm>
          <a:prstGeom prst="rect">
            <a:avLst/>
          </a:prstGeom>
          <a:noFill/>
        </p:spPr>
        <p:txBody>
          <a:bodyPr wrap="square" anchor="ctr" lIns="0" rIns="0" tIns="0" bIns="0">
            <a:spAutoFit/>
          </a:bodyPr>
          <a:lstStyle/>
          <a:p>
            <a:pPr algn="l">
              <a:lnSpc>
                <a:spcPct val="106000"/>
              </a:lnSpc>
              <a:spcBef>
                <a:spcPts val="0"/>
              </a:spcBef>
              <a:spcAft>
                <a:spcPts val="0"/>
              </a:spcAft>
            </a:pPr>
            <a:r>
              <a:rPr sz="1200" b="0">
                <a:solidFill>
                  <a:srgbClr val="1A1A1A"/>
                </a:solidFill>
                <a:latin typeface="Red Hat Text"/>
              </a:rPr>
              <a:t>The source SCA scan (Trivy, shift-left) is CLEAN — there is nothing in the tree to find</a:t>
            </a:r>
          </a:p>
        </p:txBody>
      </p:sp>
      <p:sp>
        <p:nvSpPr>
          <p:cNvPr id="18" name="Rounded Rectangle 17"/>
          <p:cNvSpPr/>
          <p:nvPr/>
        </p:nvSpPr>
        <p:spPr>
          <a:xfrm>
            <a:off x="841248" y="4443984"/>
            <a:ext cx="5715000" cy="438912"/>
          </a:xfrm>
          <a:prstGeom prst="roundRect">
            <a:avLst>
              <a:gd name="adj" fmla="val 6000"/>
            </a:avLst>
          </a:prstGeom>
          <a:solidFill>
            <a:srgbClr val="F5F6F8"/>
          </a:solidFill>
          <a:ln w="12700">
            <a:solidFill>
              <a:srgbClr val="DDE1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9" name="Picture 18" descr="check_steel.png"/>
          <p:cNvPicPr>
            <a:picLocks noChangeAspect="1"/>
          </p:cNvPicPr>
          <p:nvPr/>
        </p:nvPicPr>
        <p:blipFill>
          <a:blip r:embed="rId3"/>
          <a:stretch>
            <a:fillRect/>
          </a:stretch>
        </p:blipFill>
        <p:spPr>
          <a:xfrm>
            <a:off x="987552" y="4544568"/>
            <a:ext cx="237744" cy="237744"/>
          </a:xfrm>
          <a:prstGeom prst="rect">
            <a:avLst/>
          </a:prstGeom>
        </p:spPr>
      </p:pic>
      <p:sp>
        <p:nvSpPr>
          <p:cNvPr id="20" name="TextBox 19"/>
          <p:cNvSpPr txBox="1"/>
          <p:nvPr/>
        </p:nvSpPr>
        <p:spPr>
          <a:xfrm>
            <a:off x="1353312" y="4443984"/>
            <a:ext cx="5029200" cy="438912"/>
          </a:xfrm>
          <a:prstGeom prst="rect">
            <a:avLst/>
          </a:prstGeom>
          <a:noFill/>
        </p:spPr>
        <p:txBody>
          <a:bodyPr wrap="square" anchor="ctr" lIns="0" rIns="0" tIns="0" bIns="0">
            <a:spAutoFit/>
          </a:bodyPr>
          <a:lstStyle/>
          <a:p>
            <a:pPr algn="l">
              <a:lnSpc>
                <a:spcPct val="106000"/>
              </a:lnSpc>
              <a:spcBef>
                <a:spcPts val="0"/>
              </a:spcBef>
              <a:spcAft>
                <a:spcPts val="0"/>
              </a:spcAft>
            </a:pPr>
            <a:r>
              <a:rPr sz="1200" b="0">
                <a:solidFill>
                  <a:srgbClr val="1A1A1A"/>
                </a:solidFill>
                <a:latin typeface="Red Hat Text"/>
              </a:rPr>
              <a:t>The image scan (RHACS, shift-right) catches it anyway — it inspects the ASSEMBLED image, layer by layer</a:t>
            </a:r>
          </a:p>
        </p:txBody>
      </p:sp>
      <p:sp>
        <p:nvSpPr>
          <p:cNvPr id="21" name="Rounded Rectangle 20"/>
          <p:cNvSpPr/>
          <p:nvPr/>
        </p:nvSpPr>
        <p:spPr>
          <a:xfrm>
            <a:off x="841248" y="4956048"/>
            <a:ext cx="5715000" cy="438912"/>
          </a:xfrm>
          <a:prstGeom prst="roundRect">
            <a:avLst>
              <a:gd name="adj" fmla="val 6000"/>
            </a:avLst>
          </a:prstGeom>
          <a:solidFill>
            <a:srgbClr val="F5F6F8"/>
          </a:solidFill>
          <a:ln w="12700">
            <a:solidFill>
              <a:srgbClr val="DDE1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2" name="Picture 21" descr="check_steel.png"/>
          <p:cNvPicPr>
            <a:picLocks noChangeAspect="1"/>
          </p:cNvPicPr>
          <p:nvPr/>
        </p:nvPicPr>
        <p:blipFill>
          <a:blip r:embed="rId3"/>
          <a:stretch>
            <a:fillRect/>
          </a:stretch>
        </p:blipFill>
        <p:spPr>
          <a:xfrm>
            <a:off x="987552" y="5056632"/>
            <a:ext cx="237744" cy="237744"/>
          </a:xfrm>
          <a:prstGeom prst="rect">
            <a:avLst/>
          </a:prstGeom>
        </p:spPr>
      </p:pic>
      <p:sp>
        <p:nvSpPr>
          <p:cNvPr id="23" name="TextBox 22"/>
          <p:cNvSpPr txBox="1"/>
          <p:nvPr/>
        </p:nvSpPr>
        <p:spPr>
          <a:xfrm>
            <a:off x="1353312" y="4956048"/>
            <a:ext cx="5029200" cy="438912"/>
          </a:xfrm>
          <a:prstGeom prst="rect">
            <a:avLst/>
          </a:prstGeom>
          <a:noFill/>
        </p:spPr>
        <p:txBody>
          <a:bodyPr wrap="square" anchor="ctr" lIns="0" rIns="0" tIns="0" bIns="0">
            <a:spAutoFit/>
          </a:bodyPr>
          <a:lstStyle/>
          <a:p>
            <a:pPr algn="l">
              <a:lnSpc>
                <a:spcPct val="106000"/>
              </a:lnSpc>
              <a:spcBef>
                <a:spcPts val="0"/>
              </a:spcBef>
              <a:spcAft>
                <a:spcPts val="0"/>
              </a:spcAft>
            </a:pPr>
            <a:r>
              <a:rPr sz="1200" b="0">
                <a:solidFill>
                  <a:srgbClr val="1A1A1A"/>
                </a:solidFill>
                <a:latin typeface="Red Hat Text"/>
              </a:rPr>
              <a:t>Remove either gate and the vulnerable image ships — WHERE you scan decides WHAT you catch</a:t>
            </a:r>
          </a:p>
        </p:txBody>
      </p:sp>
      <p:sp>
        <p:nvSpPr>
          <p:cNvPr id="24" name="Rounded Rectangle 23"/>
          <p:cNvSpPr/>
          <p:nvPr/>
        </p:nvSpPr>
        <p:spPr>
          <a:xfrm>
            <a:off x="6812280" y="2395728"/>
            <a:ext cx="4538167" cy="2999232"/>
          </a:xfrm>
          <a:prstGeom prst="roundRect">
            <a:avLst>
              <a:gd name="adj" fmla="val 4000"/>
            </a:avLst>
          </a:prstGeom>
          <a:solidFill>
            <a:srgbClr val="FFFFFF"/>
          </a:solidFill>
          <a:ln w="15240">
            <a:solidFill>
              <a:srgbClr val="DDE1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ounded Rectangle 24"/>
          <p:cNvSpPr/>
          <p:nvPr/>
        </p:nvSpPr>
        <p:spPr>
          <a:xfrm>
            <a:off x="7013448" y="2596896"/>
            <a:ext cx="1298448" cy="310896"/>
          </a:xfrm>
          <a:prstGeom prst="roundRect">
            <a:avLst>
              <a:gd name="adj" fmla="val 50000"/>
            </a:avLst>
          </a:prstGeom>
          <a:solidFill>
            <a:srgbClr val="FCEC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013448" y="2596896"/>
            <a:ext cx="1298448" cy="310896"/>
          </a:xfrm>
          <a:prstGeom prst="rect">
            <a:avLst/>
          </a:prstGeom>
          <a:noFill/>
        </p:spPr>
        <p:txBody>
          <a:bodyPr wrap="none" anchor="ctr" lIns="0" rIns="0" tIns="0" bIns="0">
            <a:spAutoFit/>
          </a:bodyPr>
          <a:lstStyle/>
          <a:p>
            <a:pPr algn="ctr">
              <a:lnSpc>
                <a:spcPct val="106000"/>
              </a:lnSpc>
              <a:spcBef>
                <a:spcPts val="0"/>
              </a:spcBef>
              <a:spcAft>
                <a:spcPts val="0"/>
              </a:spcAft>
            </a:pPr>
            <a:r>
              <a:rPr sz="850" b="1">
                <a:solidFill>
                  <a:srgbClr val="B80000"/>
                </a:solidFill>
                <a:latin typeface="Red Hat Display"/>
              </a:rPr>
              <a:t>MEDIA PASS</a:t>
            </a:r>
          </a:p>
        </p:txBody>
      </p:sp>
      <p:pic>
        <p:nvPicPr>
          <p:cNvPr id="27" name="Picture 26" descr="eye_slate.png"/>
          <p:cNvPicPr>
            <a:picLocks noChangeAspect="1"/>
          </p:cNvPicPr>
          <p:nvPr/>
        </p:nvPicPr>
        <p:blipFill>
          <a:blip r:embed="rId4"/>
          <a:stretch>
            <a:fillRect/>
          </a:stretch>
        </p:blipFill>
        <p:spPr>
          <a:xfrm>
            <a:off x="8843619" y="3108960"/>
            <a:ext cx="475488" cy="475488"/>
          </a:xfrm>
          <a:prstGeom prst="rect">
            <a:avLst/>
          </a:prstGeom>
        </p:spPr>
      </p:pic>
      <p:sp>
        <p:nvSpPr>
          <p:cNvPr id="28" name="TextBox 27"/>
          <p:cNvSpPr txBox="1"/>
          <p:nvPr/>
        </p:nvSpPr>
        <p:spPr>
          <a:xfrm>
            <a:off x="7050024" y="3721608"/>
            <a:ext cx="4062679" cy="1536192"/>
          </a:xfrm>
          <a:prstGeom prst="rect">
            <a:avLst/>
          </a:prstGeom>
          <a:noFill/>
        </p:spPr>
        <p:txBody>
          <a:bodyPr wrap="square" anchor="t" lIns="0" rIns="0" tIns="0" bIns="0">
            <a:spAutoFit/>
          </a:bodyPr>
          <a:lstStyle/>
          <a:p>
            <a:pPr algn="l">
              <a:lnSpc>
                <a:spcPct val="120000"/>
              </a:lnSpc>
              <a:spcBef>
                <a:spcPts val="0"/>
              </a:spcBef>
              <a:spcAft>
                <a:spcPts val="0"/>
              </a:spcAft>
            </a:pPr>
            <a:r>
              <a:rPr sz="950" b="0">
                <a:solidFill>
                  <a:srgbClr val="8A9099"/>
                </a:solidFill>
                <a:latin typeface="Red Hat Text"/>
              </a:rPr>
              <a:t>A two-track panel for the same log4shell jar. TOP track "source scan (Trivy)" reads `pom.xml`, finds nothing, stamped green "CLEAN — not declared here." BOTTOM track "image scan (RHACS)" reads the assembled image layers, finds `log4j-core` inside a layer, stamped red "CVE-2021-44228 CRITICAL." A brace joining them labelled "defense in depth — the second layer catches what the first can't see."</a:t>
            </a:r>
          </a:p>
        </p:txBody>
      </p:sp>
      <p:cxnSp>
        <p:nvCxnSpPr>
          <p:cNvPr id="29" name="Connector 28"/>
          <p:cNvCxnSpPr/>
          <p:nvPr/>
        </p:nvCxnSpPr>
        <p:spPr>
          <a:xfrm>
            <a:off x="841248" y="6437376"/>
            <a:ext cx="10509199" cy="0"/>
          </a:xfrm>
          <a:prstGeom prst="bentConnector3">
            <a:avLst/>
          </a:prstGeom>
          <a:ln w="12700">
            <a:solidFill>
              <a:srgbClr val="DDE1E6"/>
            </a:solidFill>
          </a:ln>
          <a:effectLst/>
        </p:spPr>
        <p:style>
          <a:lnRef idx="2">
            <a:schemeClr val="accent1"/>
          </a:lnRef>
          <a:fillRef idx="0">
            <a:schemeClr val="accent1"/>
          </a:fillRef>
          <a:effectRef idx="1">
            <a:schemeClr val="accent1"/>
          </a:effectRef>
          <a:fontRef idx="minor">
            <a:schemeClr val="tx1"/>
          </a:fontRef>
        </p:style>
      </p:cxnSp>
      <p:sp>
        <p:nvSpPr>
          <p:cNvPr id="30" name="TextBox 29"/>
          <p:cNvSpPr txBox="1"/>
          <p:nvPr/>
        </p:nvSpPr>
        <p:spPr>
          <a:xfrm>
            <a:off x="841248" y="6473952"/>
            <a:ext cx="7315200" cy="274320"/>
          </a:xfrm>
          <a:prstGeom prst="rect">
            <a:avLst/>
          </a:prstGeom>
          <a:noFill/>
        </p:spPr>
        <p:txBody>
          <a:bodyPr wrap="square" anchor="t" lIns="0" rIns="0" tIns="0" bIns="0">
            <a:spAutoFit/>
          </a:bodyPr>
          <a:lstStyle/>
          <a:p>
            <a:pPr algn="l">
              <a:lnSpc>
                <a:spcPct val="106000"/>
              </a:lnSpc>
              <a:spcBef>
                <a:spcPts val="0"/>
              </a:spcBef>
              <a:spcAft>
                <a:spcPts val="0"/>
              </a:spcAft>
            </a:pPr>
            <a:r>
              <a:rPr sz="950" b="0">
                <a:solidFill>
                  <a:srgbClr val="8A9099"/>
                </a:solidFill>
                <a:latin typeface="Red Hat Text"/>
              </a:rPr>
              <a:t>CONFIDENTIAL</a:t>
            </a:r>
          </a:p>
        </p:txBody>
      </p:sp>
      <p:sp>
        <p:nvSpPr>
          <p:cNvPr id="31" name="TextBox 30"/>
          <p:cNvSpPr txBox="1"/>
          <p:nvPr/>
        </p:nvSpPr>
        <p:spPr>
          <a:xfrm>
            <a:off x="10801807" y="6473952"/>
            <a:ext cx="548640" cy="274320"/>
          </a:xfrm>
          <a:prstGeom prst="rect">
            <a:avLst/>
          </a:prstGeom>
          <a:noFill/>
        </p:spPr>
        <p:txBody>
          <a:bodyPr wrap="square" anchor="t" lIns="0" rIns="0" tIns="0" bIns="0">
            <a:spAutoFit/>
          </a:bodyPr>
          <a:lstStyle/>
          <a:p>
            <a:pPr algn="r">
              <a:lnSpc>
                <a:spcPct val="106000"/>
              </a:lnSpc>
              <a:spcBef>
                <a:spcPts val="0"/>
              </a:spcBef>
              <a:spcAft>
                <a:spcPts val="0"/>
              </a:spcAft>
            </a:pPr>
            <a:r>
              <a:rPr sz="950" b="0">
                <a:solidFill>
                  <a:srgbClr val="8A9099"/>
                </a:solidFill>
                <a:latin typeface="Red Hat Text"/>
              </a:rPr>
              <a:t>54</a:t>
            </a:r>
          </a:p>
        </p:txBody>
      </p:sp>
    </p:spTree>
  </p:cSld>
  <p:clrMapOvr>
    <a:masterClrMapping/>
  </p:clrMapOvr>
</p:sld>
</file>

<file path=ppt/slides/slide6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redhat_logo.jpg"/>
          <p:cNvPicPr>
            <a:picLocks noChangeAspect="1"/>
          </p:cNvPicPr>
          <p:nvPr/>
        </p:nvPicPr>
        <p:blipFill>
          <a:blip r:embed="rId2"/>
          <a:stretch>
            <a:fillRect/>
          </a:stretch>
        </p:blipFill>
        <p:spPr>
          <a:xfrm>
            <a:off x="10326319" y="475488"/>
            <a:ext cx="1024128" cy="242248"/>
          </a:xfrm>
          <a:prstGeom prst="rect">
            <a:avLst/>
          </a:prstGeom>
        </p:spPr>
      </p:pic>
      <p:sp>
        <p:nvSpPr>
          <p:cNvPr id="3" name="TextBox 2"/>
          <p:cNvSpPr txBox="1"/>
          <p:nvPr/>
        </p:nvSpPr>
        <p:spPr>
          <a:xfrm>
            <a:off x="841248" y="548640"/>
            <a:ext cx="8595360" cy="274320"/>
          </a:xfrm>
          <a:prstGeom prst="rect">
            <a:avLst/>
          </a:prstGeom>
          <a:noFill/>
        </p:spPr>
        <p:txBody>
          <a:bodyPr wrap="square" anchor="t" lIns="0" rIns="0" tIns="0" bIns="0">
            <a:spAutoFit/>
          </a:bodyPr>
          <a:lstStyle/>
          <a:p>
            <a:pPr algn="l">
              <a:lnSpc>
                <a:spcPct val="106000"/>
              </a:lnSpc>
              <a:spcBef>
                <a:spcPts val="0"/>
              </a:spcBef>
              <a:spcAft>
                <a:spcPts val="0"/>
              </a:spcAft>
            </a:pPr>
            <a:r>
              <a:rPr sz="1250" b="1" spc="220">
                <a:solidFill>
                  <a:srgbClr val="EE0000"/>
                </a:solidFill>
                <a:latin typeface="Red Hat Display"/>
              </a:rPr>
              <a:t>M08 · APPLICATION SECURITY TESTING</a:t>
            </a:r>
          </a:p>
        </p:txBody>
      </p:sp>
      <p:sp>
        <p:nvSpPr>
          <p:cNvPr id="4" name="TextBox 3"/>
          <p:cNvSpPr txBox="1"/>
          <p:nvPr/>
        </p:nvSpPr>
        <p:spPr>
          <a:xfrm>
            <a:off x="841248" y="877824"/>
            <a:ext cx="10515600" cy="548640"/>
          </a:xfrm>
          <a:prstGeom prst="rect">
            <a:avLst/>
          </a:prstGeom>
          <a:noFill/>
        </p:spPr>
        <p:txBody>
          <a:bodyPr wrap="none" anchor="t" lIns="0" rIns="0" tIns="0" bIns="0">
            <a:spAutoFit/>
          </a:bodyPr>
          <a:lstStyle/>
          <a:p>
            <a:pPr algn="l">
              <a:lnSpc>
                <a:spcPct val="100000"/>
              </a:lnSpc>
              <a:spcBef>
                <a:spcPts val="0"/>
              </a:spcBef>
              <a:spcAft>
                <a:spcPts val="0"/>
              </a:spcAft>
            </a:pPr>
            <a:r>
              <a:rPr sz="2500" b="1">
                <a:solidFill>
                  <a:srgbClr val="1A1A1A"/>
                </a:solidFill>
                <a:latin typeface="Red Hat Display"/>
              </a:rPr>
              <a:t>Policy-as-a-gate</a:t>
            </a:r>
          </a:p>
        </p:txBody>
      </p:sp>
      <p:cxnSp>
        <p:nvCxnSpPr>
          <p:cNvPr id="5" name="Connector 4"/>
          <p:cNvCxnSpPr/>
          <p:nvPr/>
        </p:nvCxnSpPr>
        <p:spPr>
          <a:xfrm>
            <a:off x="841248" y="1554480"/>
            <a:ext cx="1371600" cy="0"/>
          </a:xfrm>
          <a:prstGeom prst="bentConnector3">
            <a:avLst/>
          </a:prstGeom>
          <a:ln w="31750">
            <a:solidFill>
              <a:srgbClr val="EE0000"/>
            </a:solidFill>
          </a:ln>
          <a:effectLst/>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841248" y="1664208"/>
            <a:ext cx="10515600" cy="365760"/>
          </a:xfrm>
          <a:prstGeom prst="rect">
            <a:avLst/>
          </a:prstGeom>
          <a:noFill/>
        </p:spPr>
        <p:txBody>
          <a:bodyPr wrap="square" anchor="t" lIns="0" rIns="0" tIns="0" bIns="0">
            <a:spAutoFit/>
          </a:bodyPr>
          <a:lstStyle/>
          <a:p>
            <a:pPr algn="l">
              <a:lnSpc>
                <a:spcPct val="106000"/>
              </a:lnSpc>
              <a:spcBef>
                <a:spcPts val="0"/>
              </a:spcBef>
              <a:spcAft>
                <a:spcPts val="0"/>
              </a:spcAft>
            </a:pPr>
            <a:r>
              <a:rPr sz="1350" b="0">
                <a:solidFill>
                  <a:srgbClr val="555960"/>
                </a:solidFill>
                <a:latin typeface="Red Hat Text"/>
              </a:rPr>
              <a:t>a scanner that can't fail the build is theater</a:t>
            </a:r>
          </a:p>
        </p:txBody>
      </p:sp>
      <p:sp>
        <p:nvSpPr>
          <p:cNvPr id="7" name="Rounded Rectangle 6"/>
          <p:cNvSpPr/>
          <p:nvPr/>
        </p:nvSpPr>
        <p:spPr>
          <a:xfrm>
            <a:off x="841248" y="2670048"/>
            <a:ext cx="5715000" cy="438912"/>
          </a:xfrm>
          <a:prstGeom prst="roundRect">
            <a:avLst>
              <a:gd name="adj" fmla="val 6000"/>
            </a:avLst>
          </a:prstGeom>
          <a:solidFill>
            <a:srgbClr val="F5F6F8"/>
          </a:solidFill>
          <a:ln w="12700">
            <a:solidFill>
              <a:srgbClr val="DDE1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check_steel.png"/>
          <p:cNvPicPr>
            <a:picLocks noChangeAspect="1"/>
          </p:cNvPicPr>
          <p:nvPr/>
        </p:nvPicPr>
        <p:blipFill>
          <a:blip r:embed="rId3"/>
          <a:stretch>
            <a:fillRect/>
          </a:stretch>
        </p:blipFill>
        <p:spPr>
          <a:xfrm>
            <a:off x="987552" y="2770632"/>
            <a:ext cx="237744" cy="237744"/>
          </a:xfrm>
          <a:prstGeom prst="rect">
            <a:avLst/>
          </a:prstGeom>
        </p:spPr>
      </p:pic>
      <p:sp>
        <p:nvSpPr>
          <p:cNvPr id="9" name="TextBox 8"/>
          <p:cNvSpPr txBox="1"/>
          <p:nvPr/>
        </p:nvSpPr>
        <p:spPr>
          <a:xfrm>
            <a:off x="1353312" y="2670048"/>
            <a:ext cx="5029200" cy="438912"/>
          </a:xfrm>
          <a:prstGeom prst="rect">
            <a:avLst/>
          </a:prstGeom>
          <a:noFill/>
        </p:spPr>
        <p:txBody>
          <a:bodyPr wrap="square" anchor="ctr" lIns="0" rIns="0" tIns="0" bIns="0">
            <a:spAutoFit/>
          </a:bodyPr>
          <a:lstStyle/>
          <a:p>
            <a:pPr algn="l">
              <a:lnSpc>
                <a:spcPct val="106000"/>
              </a:lnSpc>
              <a:spcBef>
                <a:spcPts val="0"/>
              </a:spcBef>
              <a:spcAft>
                <a:spcPts val="0"/>
              </a:spcAft>
            </a:pPr>
            <a:r>
              <a:rPr sz="1200" b="0">
                <a:solidFill>
                  <a:srgbClr val="1A1A1A"/>
                </a:solidFill>
                <a:latin typeface="Red Hat Text"/>
              </a:rPr>
              <a:t>A scan that only writes a report nobody reads changes NOTHING</a:t>
            </a:r>
          </a:p>
        </p:txBody>
      </p:sp>
      <p:sp>
        <p:nvSpPr>
          <p:cNvPr id="10" name="Rounded Rectangle 9"/>
          <p:cNvSpPr/>
          <p:nvPr/>
        </p:nvSpPr>
        <p:spPr>
          <a:xfrm>
            <a:off x="841248" y="3182112"/>
            <a:ext cx="5715000" cy="438912"/>
          </a:xfrm>
          <a:prstGeom prst="roundRect">
            <a:avLst>
              <a:gd name="adj" fmla="val 6000"/>
            </a:avLst>
          </a:prstGeom>
          <a:solidFill>
            <a:srgbClr val="F5F6F8"/>
          </a:solidFill>
          <a:ln w="12700">
            <a:solidFill>
              <a:srgbClr val="DDE1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1" name="Picture 10" descr="check_steel.png"/>
          <p:cNvPicPr>
            <a:picLocks noChangeAspect="1"/>
          </p:cNvPicPr>
          <p:nvPr/>
        </p:nvPicPr>
        <p:blipFill>
          <a:blip r:embed="rId3"/>
          <a:stretch>
            <a:fillRect/>
          </a:stretch>
        </p:blipFill>
        <p:spPr>
          <a:xfrm>
            <a:off x="987552" y="3282696"/>
            <a:ext cx="237744" cy="237744"/>
          </a:xfrm>
          <a:prstGeom prst="rect">
            <a:avLst/>
          </a:prstGeom>
        </p:spPr>
      </p:pic>
      <p:sp>
        <p:nvSpPr>
          <p:cNvPr id="12" name="TextBox 11"/>
          <p:cNvSpPr txBox="1"/>
          <p:nvPr/>
        </p:nvSpPr>
        <p:spPr>
          <a:xfrm>
            <a:off x="1353312" y="3182112"/>
            <a:ext cx="5029200" cy="438912"/>
          </a:xfrm>
          <a:prstGeom prst="rect">
            <a:avLst/>
          </a:prstGeom>
          <a:noFill/>
        </p:spPr>
        <p:txBody>
          <a:bodyPr wrap="square" anchor="ctr" lIns="0" rIns="0" tIns="0" bIns="0">
            <a:spAutoFit/>
          </a:bodyPr>
          <a:lstStyle/>
          <a:p>
            <a:pPr algn="l">
              <a:lnSpc>
                <a:spcPct val="106000"/>
              </a:lnSpc>
              <a:spcBef>
                <a:spcPts val="0"/>
              </a:spcBef>
              <a:spcAft>
                <a:spcPts val="0"/>
              </a:spcAft>
            </a:pPr>
            <a:r>
              <a:rPr sz="1200" b="0">
                <a:solidFill>
                  <a:srgbClr val="1A1A1A"/>
                </a:solidFill>
                <a:latin typeface="Red Hat Text"/>
              </a:rPr>
              <a:t>A gate is a scan that can STOP the line: a red result fails the build</a:t>
            </a:r>
          </a:p>
        </p:txBody>
      </p:sp>
      <p:sp>
        <p:nvSpPr>
          <p:cNvPr id="13" name="Rounded Rectangle 12"/>
          <p:cNvSpPr/>
          <p:nvPr/>
        </p:nvSpPr>
        <p:spPr>
          <a:xfrm>
            <a:off x="841248" y="3694176"/>
            <a:ext cx="5715000" cy="438912"/>
          </a:xfrm>
          <a:prstGeom prst="roundRect">
            <a:avLst>
              <a:gd name="adj" fmla="val 6000"/>
            </a:avLst>
          </a:prstGeom>
          <a:solidFill>
            <a:srgbClr val="F5F6F8"/>
          </a:solidFill>
          <a:ln w="12700">
            <a:solidFill>
              <a:srgbClr val="DDE1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4" name="Picture 13" descr="check_steel.png"/>
          <p:cNvPicPr>
            <a:picLocks noChangeAspect="1"/>
          </p:cNvPicPr>
          <p:nvPr/>
        </p:nvPicPr>
        <p:blipFill>
          <a:blip r:embed="rId3"/>
          <a:stretch>
            <a:fillRect/>
          </a:stretch>
        </p:blipFill>
        <p:spPr>
          <a:xfrm>
            <a:off x="987552" y="3794760"/>
            <a:ext cx="237744" cy="237744"/>
          </a:xfrm>
          <a:prstGeom prst="rect">
            <a:avLst/>
          </a:prstGeom>
        </p:spPr>
      </p:pic>
      <p:sp>
        <p:nvSpPr>
          <p:cNvPr id="15" name="TextBox 14"/>
          <p:cNvSpPr txBox="1"/>
          <p:nvPr/>
        </p:nvSpPr>
        <p:spPr>
          <a:xfrm>
            <a:off x="1353312" y="3694176"/>
            <a:ext cx="5029200" cy="438912"/>
          </a:xfrm>
          <a:prstGeom prst="rect">
            <a:avLst/>
          </a:prstGeom>
          <a:noFill/>
        </p:spPr>
        <p:txBody>
          <a:bodyPr wrap="square" anchor="ctr" lIns="0" rIns="0" tIns="0" bIns="0">
            <a:spAutoFit/>
          </a:bodyPr>
          <a:lstStyle/>
          <a:p>
            <a:pPr algn="l">
              <a:lnSpc>
                <a:spcPct val="106000"/>
              </a:lnSpc>
              <a:spcBef>
                <a:spcPts val="0"/>
              </a:spcBef>
              <a:spcAft>
                <a:spcPts val="0"/>
              </a:spcAft>
            </a:pPr>
            <a:r>
              <a:rPr sz="1200" b="0">
                <a:solidFill>
                  <a:srgbClr val="1A1A1A"/>
                </a:solidFill>
                <a:latin typeface="Red Hat Text"/>
              </a:rPr>
              <a:t>SonarQube: the quality gate goes ERROR when the vulnerability count is greater than zero</a:t>
            </a:r>
          </a:p>
        </p:txBody>
      </p:sp>
      <p:sp>
        <p:nvSpPr>
          <p:cNvPr id="16" name="Rounded Rectangle 15"/>
          <p:cNvSpPr/>
          <p:nvPr/>
        </p:nvSpPr>
        <p:spPr>
          <a:xfrm>
            <a:off x="841248" y="4206240"/>
            <a:ext cx="5715000" cy="438912"/>
          </a:xfrm>
          <a:prstGeom prst="roundRect">
            <a:avLst>
              <a:gd name="adj" fmla="val 6000"/>
            </a:avLst>
          </a:prstGeom>
          <a:solidFill>
            <a:srgbClr val="F5F6F8"/>
          </a:solidFill>
          <a:ln w="12700">
            <a:solidFill>
              <a:srgbClr val="DDE1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7" name="Picture 16" descr="check_steel.png"/>
          <p:cNvPicPr>
            <a:picLocks noChangeAspect="1"/>
          </p:cNvPicPr>
          <p:nvPr/>
        </p:nvPicPr>
        <p:blipFill>
          <a:blip r:embed="rId3"/>
          <a:stretch>
            <a:fillRect/>
          </a:stretch>
        </p:blipFill>
        <p:spPr>
          <a:xfrm>
            <a:off x="987552" y="4306824"/>
            <a:ext cx="237744" cy="237744"/>
          </a:xfrm>
          <a:prstGeom prst="rect">
            <a:avLst/>
          </a:prstGeom>
        </p:spPr>
      </p:pic>
      <p:sp>
        <p:nvSpPr>
          <p:cNvPr id="18" name="TextBox 17"/>
          <p:cNvSpPr txBox="1"/>
          <p:nvPr/>
        </p:nvSpPr>
        <p:spPr>
          <a:xfrm>
            <a:off x="1353312" y="4206240"/>
            <a:ext cx="5029200" cy="438912"/>
          </a:xfrm>
          <a:prstGeom prst="rect">
            <a:avLst/>
          </a:prstGeom>
          <a:noFill/>
        </p:spPr>
        <p:txBody>
          <a:bodyPr wrap="square" anchor="ctr" lIns="0" rIns="0" tIns="0" bIns="0">
            <a:spAutoFit/>
          </a:bodyPr>
          <a:lstStyle/>
          <a:p>
            <a:pPr algn="l">
              <a:lnSpc>
                <a:spcPct val="106000"/>
              </a:lnSpc>
              <a:spcBef>
                <a:spcPts val="0"/>
              </a:spcBef>
              <a:spcAft>
                <a:spcPts val="0"/>
              </a:spcAft>
            </a:pPr>
            <a:r>
              <a:rPr sz="1200" b="0">
                <a:solidFill>
                  <a:srgbClr val="1A1A1A"/>
                </a:solidFill>
                <a:latin typeface="Red Hat Text"/>
              </a:rPr>
              <a:t>Trivy · `roxctl` · ZAP: a non-zero exit fails the TaskRun and halts the PipelineRun</a:t>
            </a:r>
          </a:p>
        </p:txBody>
      </p:sp>
      <p:sp>
        <p:nvSpPr>
          <p:cNvPr id="19" name="Rounded Rectangle 18"/>
          <p:cNvSpPr/>
          <p:nvPr/>
        </p:nvSpPr>
        <p:spPr>
          <a:xfrm>
            <a:off x="841248" y="4718304"/>
            <a:ext cx="5715000" cy="438912"/>
          </a:xfrm>
          <a:prstGeom prst="roundRect">
            <a:avLst>
              <a:gd name="adj" fmla="val 6000"/>
            </a:avLst>
          </a:prstGeom>
          <a:solidFill>
            <a:srgbClr val="F5F6F8"/>
          </a:solidFill>
          <a:ln w="12700">
            <a:solidFill>
              <a:srgbClr val="DDE1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0" name="Picture 19" descr="check_steel.png"/>
          <p:cNvPicPr>
            <a:picLocks noChangeAspect="1"/>
          </p:cNvPicPr>
          <p:nvPr/>
        </p:nvPicPr>
        <p:blipFill>
          <a:blip r:embed="rId3"/>
          <a:stretch>
            <a:fillRect/>
          </a:stretch>
        </p:blipFill>
        <p:spPr>
          <a:xfrm>
            <a:off x="987552" y="4818888"/>
            <a:ext cx="237744" cy="237744"/>
          </a:xfrm>
          <a:prstGeom prst="rect">
            <a:avLst/>
          </a:prstGeom>
        </p:spPr>
      </p:pic>
      <p:sp>
        <p:nvSpPr>
          <p:cNvPr id="21" name="TextBox 20"/>
          <p:cNvSpPr txBox="1"/>
          <p:nvPr/>
        </p:nvSpPr>
        <p:spPr>
          <a:xfrm>
            <a:off x="1353312" y="4718304"/>
            <a:ext cx="5029200" cy="438912"/>
          </a:xfrm>
          <a:prstGeom prst="rect">
            <a:avLst/>
          </a:prstGeom>
          <a:noFill/>
        </p:spPr>
        <p:txBody>
          <a:bodyPr wrap="square" anchor="ctr" lIns="0" rIns="0" tIns="0" bIns="0">
            <a:spAutoFit/>
          </a:bodyPr>
          <a:lstStyle/>
          <a:p>
            <a:pPr algn="l">
              <a:lnSpc>
                <a:spcPct val="106000"/>
              </a:lnSpc>
              <a:spcBef>
                <a:spcPts val="0"/>
              </a:spcBef>
              <a:spcAft>
                <a:spcPts val="0"/>
              </a:spcAft>
            </a:pPr>
            <a:r>
              <a:rPr sz="1200" b="0">
                <a:solidFill>
                  <a:srgbClr val="1A1A1A"/>
                </a:solidFill>
                <a:latin typeface="Red Hat Text"/>
              </a:rPr>
              <a:t>The Application Security Testing capstone runs all five as GATES — one red gate stops everything downstream</a:t>
            </a:r>
          </a:p>
        </p:txBody>
      </p:sp>
      <p:sp>
        <p:nvSpPr>
          <p:cNvPr id="22" name="Rounded Rectangle 21"/>
          <p:cNvSpPr/>
          <p:nvPr/>
        </p:nvSpPr>
        <p:spPr>
          <a:xfrm>
            <a:off x="841248" y="5230368"/>
            <a:ext cx="5715000" cy="438912"/>
          </a:xfrm>
          <a:prstGeom prst="roundRect">
            <a:avLst>
              <a:gd name="adj" fmla="val 6000"/>
            </a:avLst>
          </a:prstGeom>
          <a:solidFill>
            <a:srgbClr val="F5F6F8"/>
          </a:solidFill>
          <a:ln w="12700">
            <a:solidFill>
              <a:srgbClr val="DDE1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3" name="Picture 22" descr="check_steel.png"/>
          <p:cNvPicPr>
            <a:picLocks noChangeAspect="1"/>
          </p:cNvPicPr>
          <p:nvPr/>
        </p:nvPicPr>
        <p:blipFill>
          <a:blip r:embed="rId3"/>
          <a:stretch>
            <a:fillRect/>
          </a:stretch>
        </p:blipFill>
        <p:spPr>
          <a:xfrm>
            <a:off x="987552" y="5330952"/>
            <a:ext cx="237744" cy="237744"/>
          </a:xfrm>
          <a:prstGeom prst="rect">
            <a:avLst/>
          </a:prstGeom>
        </p:spPr>
      </p:pic>
      <p:sp>
        <p:nvSpPr>
          <p:cNvPr id="24" name="TextBox 23"/>
          <p:cNvSpPr txBox="1"/>
          <p:nvPr/>
        </p:nvSpPr>
        <p:spPr>
          <a:xfrm>
            <a:off x="1353312" y="5230368"/>
            <a:ext cx="5029200" cy="438912"/>
          </a:xfrm>
          <a:prstGeom prst="rect">
            <a:avLst/>
          </a:prstGeom>
          <a:noFill/>
        </p:spPr>
        <p:txBody>
          <a:bodyPr wrap="square" anchor="ctr" lIns="0" rIns="0" tIns="0" bIns="0">
            <a:spAutoFit/>
          </a:bodyPr>
          <a:lstStyle/>
          <a:p>
            <a:pPr algn="l">
              <a:lnSpc>
                <a:spcPct val="106000"/>
              </a:lnSpc>
              <a:spcBef>
                <a:spcPts val="0"/>
              </a:spcBef>
              <a:spcAft>
                <a:spcPts val="0"/>
              </a:spcAft>
            </a:pPr>
            <a:r>
              <a:rPr sz="1200" b="0">
                <a:solidFill>
                  <a:srgbClr val="1A1A1A"/>
                </a:solidFill>
                <a:latin typeface="Red Hat Text"/>
              </a:rPr>
              <a:t>Honest edge: if you can't triage a gate's findings yet, start it REPORT-ONLY, not off</a:t>
            </a:r>
          </a:p>
        </p:txBody>
      </p:sp>
      <p:sp>
        <p:nvSpPr>
          <p:cNvPr id="25" name="Rounded Rectangle 24"/>
          <p:cNvSpPr/>
          <p:nvPr/>
        </p:nvSpPr>
        <p:spPr>
          <a:xfrm>
            <a:off x="6812280" y="2670048"/>
            <a:ext cx="4538167" cy="2999232"/>
          </a:xfrm>
          <a:prstGeom prst="roundRect">
            <a:avLst>
              <a:gd name="adj" fmla="val 4000"/>
            </a:avLst>
          </a:prstGeom>
          <a:solidFill>
            <a:srgbClr val="FFFFFF"/>
          </a:solidFill>
          <a:ln w="15240">
            <a:solidFill>
              <a:srgbClr val="DDE1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ounded Rectangle 25"/>
          <p:cNvSpPr/>
          <p:nvPr/>
        </p:nvSpPr>
        <p:spPr>
          <a:xfrm>
            <a:off x="7013448" y="2871216"/>
            <a:ext cx="1298448" cy="310896"/>
          </a:xfrm>
          <a:prstGeom prst="roundRect">
            <a:avLst>
              <a:gd name="adj" fmla="val 50000"/>
            </a:avLst>
          </a:prstGeom>
          <a:solidFill>
            <a:srgbClr val="FCEC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7013448" y="2871216"/>
            <a:ext cx="1298448" cy="310896"/>
          </a:xfrm>
          <a:prstGeom prst="rect">
            <a:avLst/>
          </a:prstGeom>
          <a:noFill/>
        </p:spPr>
        <p:txBody>
          <a:bodyPr wrap="none" anchor="ctr" lIns="0" rIns="0" tIns="0" bIns="0">
            <a:spAutoFit/>
          </a:bodyPr>
          <a:lstStyle/>
          <a:p>
            <a:pPr algn="ctr">
              <a:lnSpc>
                <a:spcPct val="106000"/>
              </a:lnSpc>
              <a:spcBef>
                <a:spcPts val="0"/>
              </a:spcBef>
              <a:spcAft>
                <a:spcPts val="0"/>
              </a:spcAft>
            </a:pPr>
            <a:r>
              <a:rPr sz="850" b="1">
                <a:solidFill>
                  <a:srgbClr val="B80000"/>
                </a:solidFill>
                <a:latin typeface="Red Hat Display"/>
              </a:rPr>
              <a:t>MEDIA PASS</a:t>
            </a:r>
          </a:p>
        </p:txBody>
      </p:sp>
      <p:pic>
        <p:nvPicPr>
          <p:cNvPr id="28" name="Picture 27" descr="eye_slate.png"/>
          <p:cNvPicPr>
            <a:picLocks noChangeAspect="1"/>
          </p:cNvPicPr>
          <p:nvPr/>
        </p:nvPicPr>
        <p:blipFill>
          <a:blip r:embed="rId4"/>
          <a:stretch>
            <a:fillRect/>
          </a:stretch>
        </p:blipFill>
        <p:spPr>
          <a:xfrm>
            <a:off x="8843619" y="3383280"/>
            <a:ext cx="475488" cy="475488"/>
          </a:xfrm>
          <a:prstGeom prst="rect">
            <a:avLst/>
          </a:prstGeom>
        </p:spPr>
      </p:pic>
      <p:sp>
        <p:nvSpPr>
          <p:cNvPr id="29" name="TextBox 28"/>
          <p:cNvSpPr txBox="1"/>
          <p:nvPr/>
        </p:nvSpPr>
        <p:spPr>
          <a:xfrm>
            <a:off x="7050024" y="3995928"/>
            <a:ext cx="4062679" cy="1536192"/>
          </a:xfrm>
          <a:prstGeom prst="rect">
            <a:avLst/>
          </a:prstGeom>
          <a:noFill/>
        </p:spPr>
        <p:txBody>
          <a:bodyPr wrap="square" anchor="t" lIns="0" rIns="0" tIns="0" bIns="0">
            <a:spAutoFit/>
          </a:bodyPr>
          <a:lstStyle/>
          <a:p>
            <a:pPr algn="l">
              <a:lnSpc>
                <a:spcPct val="120000"/>
              </a:lnSpc>
              <a:spcBef>
                <a:spcPts val="0"/>
              </a:spcBef>
              <a:spcAft>
                <a:spcPts val="0"/>
              </a:spcAft>
            </a:pPr>
            <a:r>
              <a:rPr sz="950" b="0">
                <a:solidFill>
                  <a:srgbClr val="8A9099"/>
                </a:solidFill>
                <a:latin typeface="Red Hat Text"/>
              </a:rPr>
              <a:t>A scan result hitting a fork. One path "report only" → a document dropped onto a pile of unread reports, greyed out. The other path "gate" → a red barrier across the pipeline with the PipelineRun halted behind it and a "non-zero exit" chip. Caption: "a gate is a scan with consequences."</a:t>
            </a:r>
          </a:p>
        </p:txBody>
      </p:sp>
      <p:cxnSp>
        <p:nvCxnSpPr>
          <p:cNvPr id="30" name="Connector 29"/>
          <p:cNvCxnSpPr/>
          <p:nvPr/>
        </p:nvCxnSpPr>
        <p:spPr>
          <a:xfrm>
            <a:off x="841248" y="6437376"/>
            <a:ext cx="10509199" cy="0"/>
          </a:xfrm>
          <a:prstGeom prst="bentConnector3">
            <a:avLst/>
          </a:prstGeom>
          <a:ln w="12700">
            <a:solidFill>
              <a:srgbClr val="DDE1E6"/>
            </a:solidFill>
          </a:ln>
          <a:effectLst/>
        </p:spPr>
        <p:style>
          <a:lnRef idx="2">
            <a:schemeClr val="accent1"/>
          </a:lnRef>
          <a:fillRef idx="0">
            <a:schemeClr val="accent1"/>
          </a:fillRef>
          <a:effectRef idx="1">
            <a:schemeClr val="accent1"/>
          </a:effectRef>
          <a:fontRef idx="minor">
            <a:schemeClr val="tx1"/>
          </a:fontRef>
        </p:style>
      </p:cxnSp>
      <p:sp>
        <p:nvSpPr>
          <p:cNvPr id="31" name="TextBox 30"/>
          <p:cNvSpPr txBox="1"/>
          <p:nvPr/>
        </p:nvSpPr>
        <p:spPr>
          <a:xfrm>
            <a:off x="841248" y="6473952"/>
            <a:ext cx="7315200" cy="274320"/>
          </a:xfrm>
          <a:prstGeom prst="rect">
            <a:avLst/>
          </a:prstGeom>
          <a:noFill/>
        </p:spPr>
        <p:txBody>
          <a:bodyPr wrap="square" anchor="t" lIns="0" rIns="0" tIns="0" bIns="0">
            <a:spAutoFit/>
          </a:bodyPr>
          <a:lstStyle/>
          <a:p>
            <a:pPr algn="l">
              <a:lnSpc>
                <a:spcPct val="106000"/>
              </a:lnSpc>
              <a:spcBef>
                <a:spcPts val="0"/>
              </a:spcBef>
              <a:spcAft>
                <a:spcPts val="0"/>
              </a:spcAft>
            </a:pPr>
            <a:r>
              <a:rPr sz="950" b="0">
                <a:solidFill>
                  <a:srgbClr val="8A9099"/>
                </a:solidFill>
                <a:latin typeface="Red Hat Text"/>
              </a:rPr>
              <a:t>CONFIDENTIAL</a:t>
            </a:r>
          </a:p>
        </p:txBody>
      </p:sp>
      <p:sp>
        <p:nvSpPr>
          <p:cNvPr id="32" name="TextBox 31"/>
          <p:cNvSpPr txBox="1"/>
          <p:nvPr/>
        </p:nvSpPr>
        <p:spPr>
          <a:xfrm>
            <a:off x="10801807" y="6473952"/>
            <a:ext cx="548640" cy="274320"/>
          </a:xfrm>
          <a:prstGeom prst="rect">
            <a:avLst/>
          </a:prstGeom>
          <a:noFill/>
        </p:spPr>
        <p:txBody>
          <a:bodyPr wrap="square" anchor="t" lIns="0" rIns="0" tIns="0" bIns="0">
            <a:spAutoFit/>
          </a:bodyPr>
          <a:lstStyle/>
          <a:p>
            <a:pPr algn="r">
              <a:lnSpc>
                <a:spcPct val="106000"/>
              </a:lnSpc>
              <a:spcBef>
                <a:spcPts val="0"/>
              </a:spcBef>
              <a:spcAft>
                <a:spcPts val="0"/>
              </a:spcAft>
            </a:pPr>
            <a:r>
              <a:rPr sz="950" b="0">
                <a:solidFill>
                  <a:srgbClr val="8A9099"/>
                </a:solidFill>
                <a:latin typeface="Red Hat Text"/>
              </a:rPr>
              <a:t>55</a:t>
            </a:r>
          </a:p>
        </p:txBody>
      </p:sp>
    </p:spTree>
  </p:cSld>
  <p:clrMapOvr>
    <a:masterClrMapping/>
  </p:clrMapOvr>
</p:sld>
</file>

<file path=ppt/slides/slide6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redhat_logo.jpg"/>
          <p:cNvPicPr>
            <a:picLocks noChangeAspect="1"/>
          </p:cNvPicPr>
          <p:nvPr/>
        </p:nvPicPr>
        <p:blipFill>
          <a:blip r:embed="rId2"/>
          <a:stretch>
            <a:fillRect/>
          </a:stretch>
        </p:blipFill>
        <p:spPr>
          <a:xfrm>
            <a:off x="10326319" y="475488"/>
            <a:ext cx="1024128" cy="242248"/>
          </a:xfrm>
          <a:prstGeom prst="rect">
            <a:avLst/>
          </a:prstGeom>
        </p:spPr>
      </p:pic>
      <p:sp>
        <p:nvSpPr>
          <p:cNvPr id="3" name="TextBox 2"/>
          <p:cNvSpPr txBox="1"/>
          <p:nvPr/>
        </p:nvSpPr>
        <p:spPr>
          <a:xfrm>
            <a:off x="841248" y="548640"/>
            <a:ext cx="8595360" cy="274320"/>
          </a:xfrm>
          <a:prstGeom prst="rect">
            <a:avLst/>
          </a:prstGeom>
          <a:noFill/>
        </p:spPr>
        <p:txBody>
          <a:bodyPr wrap="square" anchor="t" lIns="0" rIns="0" tIns="0" bIns="0">
            <a:spAutoFit/>
          </a:bodyPr>
          <a:lstStyle/>
          <a:p>
            <a:pPr algn="l">
              <a:lnSpc>
                <a:spcPct val="106000"/>
              </a:lnSpc>
              <a:spcBef>
                <a:spcPts val="0"/>
              </a:spcBef>
              <a:spcAft>
                <a:spcPts val="0"/>
              </a:spcAft>
            </a:pPr>
            <a:r>
              <a:rPr sz="1250" b="1" spc="220">
                <a:solidFill>
                  <a:srgbClr val="EE0000"/>
                </a:solidFill>
                <a:latin typeface="Red Hat Display"/>
              </a:rPr>
              <a:t>M08 · APPLICATION SECURITY TESTING</a:t>
            </a:r>
          </a:p>
        </p:txBody>
      </p:sp>
      <p:sp>
        <p:nvSpPr>
          <p:cNvPr id="4" name="TextBox 3"/>
          <p:cNvSpPr txBox="1"/>
          <p:nvPr/>
        </p:nvSpPr>
        <p:spPr>
          <a:xfrm>
            <a:off x="841248" y="877824"/>
            <a:ext cx="10515600" cy="548640"/>
          </a:xfrm>
          <a:prstGeom prst="rect">
            <a:avLst/>
          </a:prstGeom>
          <a:noFill/>
        </p:spPr>
        <p:txBody>
          <a:bodyPr wrap="none" anchor="t" lIns="0" rIns="0" tIns="0" bIns="0">
            <a:spAutoFit/>
          </a:bodyPr>
          <a:lstStyle/>
          <a:p>
            <a:pPr algn="l">
              <a:lnSpc>
                <a:spcPct val="100000"/>
              </a:lnSpc>
              <a:spcBef>
                <a:spcPts val="0"/>
              </a:spcBef>
              <a:spcAft>
                <a:spcPts val="0"/>
              </a:spcAft>
            </a:pPr>
            <a:r>
              <a:rPr sz="2500" b="1">
                <a:solidFill>
                  <a:srgbClr val="1A1A1A"/>
                </a:solidFill>
                <a:latin typeface="Red Hat Display"/>
              </a:rPr>
              <a:t>Where does each finding actually live?</a:t>
            </a:r>
          </a:p>
        </p:txBody>
      </p:sp>
      <p:cxnSp>
        <p:nvCxnSpPr>
          <p:cNvPr id="5" name="Connector 4"/>
          <p:cNvCxnSpPr/>
          <p:nvPr/>
        </p:nvCxnSpPr>
        <p:spPr>
          <a:xfrm>
            <a:off x="841248" y="1554480"/>
            <a:ext cx="1371600" cy="0"/>
          </a:xfrm>
          <a:prstGeom prst="bentConnector3">
            <a:avLst/>
          </a:prstGeom>
          <a:ln w="31750">
            <a:solidFill>
              <a:srgbClr val="EE0000"/>
            </a:solidFill>
          </a:ln>
          <a:effectLst/>
        </p:spPr>
        <p:style>
          <a:lnRef idx="2">
            <a:schemeClr val="accent1"/>
          </a:lnRef>
          <a:fillRef idx="0">
            <a:schemeClr val="accent1"/>
          </a:fillRef>
          <a:effectRef idx="1">
            <a:schemeClr val="accent1"/>
          </a:effectRef>
          <a:fontRef idx="minor">
            <a:schemeClr val="tx1"/>
          </a:fontRef>
        </p:style>
      </p:cxnSp>
      <p:sp>
        <p:nvSpPr>
          <p:cNvPr id="6" name="Rounded Rectangle 5"/>
          <p:cNvSpPr/>
          <p:nvPr/>
        </p:nvSpPr>
        <p:spPr>
          <a:xfrm>
            <a:off x="841248" y="2395728"/>
            <a:ext cx="5715000" cy="438912"/>
          </a:xfrm>
          <a:prstGeom prst="roundRect">
            <a:avLst>
              <a:gd name="adj" fmla="val 6000"/>
            </a:avLst>
          </a:prstGeom>
          <a:solidFill>
            <a:srgbClr val="F5F6F8"/>
          </a:solidFill>
          <a:ln w="12700">
            <a:solidFill>
              <a:srgbClr val="DDE1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check_steel.png"/>
          <p:cNvPicPr>
            <a:picLocks noChangeAspect="1"/>
          </p:cNvPicPr>
          <p:nvPr/>
        </p:nvPicPr>
        <p:blipFill>
          <a:blip r:embed="rId3"/>
          <a:stretch>
            <a:fillRect/>
          </a:stretch>
        </p:blipFill>
        <p:spPr>
          <a:xfrm>
            <a:off x="987552" y="2496312"/>
            <a:ext cx="237744" cy="237744"/>
          </a:xfrm>
          <a:prstGeom prst="rect">
            <a:avLst/>
          </a:prstGeom>
        </p:spPr>
      </p:pic>
      <p:sp>
        <p:nvSpPr>
          <p:cNvPr id="8" name="TextBox 7"/>
          <p:cNvSpPr txBox="1"/>
          <p:nvPr/>
        </p:nvSpPr>
        <p:spPr>
          <a:xfrm>
            <a:off x="1353312" y="2395728"/>
            <a:ext cx="5029200" cy="438912"/>
          </a:xfrm>
          <a:prstGeom prst="rect">
            <a:avLst/>
          </a:prstGeom>
          <a:noFill/>
        </p:spPr>
        <p:txBody>
          <a:bodyPr wrap="square" anchor="ctr" lIns="0" rIns="0" tIns="0" bIns="0">
            <a:spAutoFit/>
          </a:bodyPr>
          <a:lstStyle/>
          <a:p>
            <a:pPr algn="l">
              <a:lnSpc>
                <a:spcPct val="106000"/>
              </a:lnSpc>
              <a:spcBef>
                <a:spcPts val="0"/>
              </a:spcBef>
              <a:spcAft>
                <a:spcPts val="0"/>
              </a:spcAft>
            </a:pPr>
            <a:r>
              <a:rPr sz="1200" b="0">
                <a:solidFill>
                  <a:srgbClr val="1A1A1A"/>
                </a:solidFill>
                <a:latin typeface="Red Hat Text"/>
              </a:rPr>
              <a:t>The common complaint isn't "it finds nothing" — it is findings SCATTERED and unreadable</a:t>
            </a:r>
          </a:p>
        </p:txBody>
      </p:sp>
      <p:sp>
        <p:nvSpPr>
          <p:cNvPr id="9" name="Rounded Rectangle 8"/>
          <p:cNvSpPr/>
          <p:nvPr/>
        </p:nvSpPr>
        <p:spPr>
          <a:xfrm>
            <a:off x="841248" y="2907792"/>
            <a:ext cx="5715000" cy="438912"/>
          </a:xfrm>
          <a:prstGeom prst="roundRect">
            <a:avLst>
              <a:gd name="adj" fmla="val 6000"/>
            </a:avLst>
          </a:prstGeom>
          <a:solidFill>
            <a:srgbClr val="F5F6F8"/>
          </a:solidFill>
          <a:ln w="12700">
            <a:solidFill>
              <a:srgbClr val="DDE1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0" name="Picture 9" descr="check_steel.png"/>
          <p:cNvPicPr>
            <a:picLocks noChangeAspect="1"/>
          </p:cNvPicPr>
          <p:nvPr/>
        </p:nvPicPr>
        <p:blipFill>
          <a:blip r:embed="rId3"/>
          <a:stretch>
            <a:fillRect/>
          </a:stretch>
        </p:blipFill>
        <p:spPr>
          <a:xfrm>
            <a:off x="987552" y="3008376"/>
            <a:ext cx="237744" cy="237744"/>
          </a:xfrm>
          <a:prstGeom prst="rect">
            <a:avLst/>
          </a:prstGeom>
        </p:spPr>
      </p:pic>
      <p:sp>
        <p:nvSpPr>
          <p:cNvPr id="11" name="TextBox 10"/>
          <p:cNvSpPr txBox="1"/>
          <p:nvPr/>
        </p:nvSpPr>
        <p:spPr>
          <a:xfrm>
            <a:off x="1353312" y="2907792"/>
            <a:ext cx="5029200" cy="438912"/>
          </a:xfrm>
          <a:prstGeom prst="rect">
            <a:avLst/>
          </a:prstGeom>
          <a:noFill/>
        </p:spPr>
        <p:txBody>
          <a:bodyPr wrap="square" anchor="ctr" lIns="0" rIns="0" tIns="0" bIns="0">
            <a:spAutoFit/>
          </a:bodyPr>
          <a:lstStyle/>
          <a:p>
            <a:pPr algn="l">
              <a:lnSpc>
                <a:spcPct val="106000"/>
              </a:lnSpc>
              <a:spcBef>
                <a:spcPts val="0"/>
              </a:spcBef>
              <a:spcAft>
                <a:spcPts val="0"/>
              </a:spcAft>
            </a:pPr>
            <a:r>
              <a:rPr sz="1200" b="0">
                <a:solidFill>
                  <a:srgbClr val="1A1A1A"/>
                </a:solidFill>
                <a:latin typeface="Red Hat Text"/>
              </a:rPr>
              <a:t>A pipeline that only says "stage failed" teaches nobody — route each gate to a console you READ</a:t>
            </a:r>
          </a:p>
        </p:txBody>
      </p:sp>
      <p:sp>
        <p:nvSpPr>
          <p:cNvPr id="12" name="Rounded Rectangle 11"/>
          <p:cNvSpPr/>
          <p:nvPr/>
        </p:nvSpPr>
        <p:spPr>
          <a:xfrm>
            <a:off x="841248" y="3419856"/>
            <a:ext cx="5715000" cy="438912"/>
          </a:xfrm>
          <a:prstGeom prst="roundRect">
            <a:avLst>
              <a:gd name="adj" fmla="val 6000"/>
            </a:avLst>
          </a:prstGeom>
          <a:solidFill>
            <a:srgbClr val="F5F6F8"/>
          </a:solidFill>
          <a:ln w="12700">
            <a:solidFill>
              <a:srgbClr val="DDE1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3" name="Picture 12" descr="check_steel.png"/>
          <p:cNvPicPr>
            <a:picLocks noChangeAspect="1"/>
          </p:cNvPicPr>
          <p:nvPr/>
        </p:nvPicPr>
        <p:blipFill>
          <a:blip r:embed="rId3"/>
          <a:stretch>
            <a:fillRect/>
          </a:stretch>
        </p:blipFill>
        <p:spPr>
          <a:xfrm>
            <a:off x="987552" y="3520440"/>
            <a:ext cx="237744" cy="237744"/>
          </a:xfrm>
          <a:prstGeom prst="rect">
            <a:avLst/>
          </a:prstGeom>
        </p:spPr>
      </p:pic>
      <p:sp>
        <p:nvSpPr>
          <p:cNvPr id="14" name="TextBox 13"/>
          <p:cNvSpPr txBox="1"/>
          <p:nvPr/>
        </p:nvSpPr>
        <p:spPr>
          <a:xfrm>
            <a:off x="1353312" y="3419856"/>
            <a:ext cx="5029200" cy="438912"/>
          </a:xfrm>
          <a:prstGeom prst="rect">
            <a:avLst/>
          </a:prstGeom>
          <a:noFill/>
        </p:spPr>
        <p:txBody>
          <a:bodyPr wrap="square" anchor="ctr" lIns="0" rIns="0" tIns="0" bIns="0">
            <a:spAutoFit/>
          </a:bodyPr>
          <a:lstStyle/>
          <a:p>
            <a:pPr algn="l">
              <a:lnSpc>
                <a:spcPct val="106000"/>
              </a:lnSpc>
              <a:spcBef>
                <a:spcPts val="0"/>
              </a:spcBef>
              <a:spcAft>
                <a:spcPts val="0"/>
              </a:spcAft>
            </a:pPr>
            <a:r>
              <a:rPr sz="1200" b="0">
                <a:solidFill>
                  <a:srgbClr val="1A1A1A"/>
                </a:solidFill>
                <a:latin typeface="Red Hat Text"/>
              </a:rPr>
              <a:t>SAST → the SonarQube DASHBOARD: the failing condition, the exact rule (S2068), the file and line</a:t>
            </a:r>
          </a:p>
        </p:txBody>
      </p:sp>
      <p:sp>
        <p:nvSpPr>
          <p:cNvPr id="15" name="Rounded Rectangle 14"/>
          <p:cNvSpPr/>
          <p:nvPr/>
        </p:nvSpPr>
        <p:spPr>
          <a:xfrm>
            <a:off x="841248" y="3931920"/>
            <a:ext cx="5715000" cy="438912"/>
          </a:xfrm>
          <a:prstGeom prst="roundRect">
            <a:avLst>
              <a:gd name="adj" fmla="val 6000"/>
            </a:avLst>
          </a:prstGeom>
          <a:solidFill>
            <a:srgbClr val="F5F6F8"/>
          </a:solidFill>
          <a:ln w="12700">
            <a:solidFill>
              <a:srgbClr val="DDE1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6" name="Picture 15" descr="check_steel.png"/>
          <p:cNvPicPr>
            <a:picLocks noChangeAspect="1"/>
          </p:cNvPicPr>
          <p:nvPr/>
        </p:nvPicPr>
        <p:blipFill>
          <a:blip r:embed="rId3"/>
          <a:stretch>
            <a:fillRect/>
          </a:stretch>
        </p:blipFill>
        <p:spPr>
          <a:xfrm>
            <a:off x="987552" y="4032504"/>
            <a:ext cx="237744" cy="237744"/>
          </a:xfrm>
          <a:prstGeom prst="rect">
            <a:avLst/>
          </a:prstGeom>
        </p:spPr>
      </p:pic>
      <p:sp>
        <p:nvSpPr>
          <p:cNvPr id="17" name="TextBox 16"/>
          <p:cNvSpPr txBox="1"/>
          <p:nvPr/>
        </p:nvSpPr>
        <p:spPr>
          <a:xfrm>
            <a:off x="1353312" y="3931920"/>
            <a:ext cx="5029200" cy="438912"/>
          </a:xfrm>
          <a:prstGeom prst="rect">
            <a:avLst/>
          </a:prstGeom>
          <a:noFill/>
        </p:spPr>
        <p:txBody>
          <a:bodyPr wrap="square" anchor="ctr" lIns="0" rIns="0" tIns="0" bIns="0">
            <a:spAutoFit/>
          </a:bodyPr>
          <a:lstStyle/>
          <a:p>
            <a:pPr algn="l">
              <a:lnSpc>
                <a:spcPct val="106000"/>
              </a:lnSpc>
              <a:spcBef>
                <a:spcPts val="0"/>
              </a:spcBef>
              <a:spcAft>
                <a:spcPts val="0"/>
              </a:spcAft>
            </a:pPr>
            <a:r>
              <a:rPr sz="1200" b="0">
                <a:solidFill>
                  <a:srgbClr val="1A1A1A"/>
                </a:solidFill>
                <a:latin typeface="Red Hat Text"/>
              </a:rPr>
              <a:t>SCA → the TaskRun LOGS plus a CycloneDX SBOM artifact of every dependency</a:t>
            </a:r>
          </a:p>
        </p:txBody>
      </p:sp>
      <p:sp>
        <p:nvSpPr>
          <p:cNvPr id="18" name="Rounded Rectangle 17"/>
          <p:cNvSpPr/>
          <p:nvPr/>
        </p:nvSpPr>
        <p:spPr>
          <a:xfrm>
            <a:off x="841248" y="4443984"/>
            <a:ext cx="5715000" cy="438912"/>
          </a:xfrm>
          <a:prstGeom prst="roundRect">
            <a:avLst>
              <a:gd name="adj" fmla="val 6000"/>
            </a:avLst>
          </a:prstGeom>
          <a:solidFill>
            <a:srgbClr val="F5F6F8"/>
          </a:solidFill>
          <a:ln w="12700">
            <a:solidFill>
              <a:srgbClr val="DDE1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9" name="Picture 18" descr="check_steel.png"/>
          <p:cNvPicPr>
            <a:picLocks noChangeAspect="1"/>
          </p:cNvPicPr>
          <p:nvPr/>
        </p:nvPicPr>
        <p:blipFill>
          <a:blip r:embed="rId3"/>
          <a:stretch>
            <a:fillRect/>
          </a:stretch>
        </p:blipFill>
        <p:spPr>
          <a:xfrm>
            <a:off x="987552" y="4544568"/>
            <a:ext cx="237744" cy="237744"/>
          </a:xfrm>
          <a:prstGeom prst="rect">
            <a:avLst/>
          </a:prstGeom>
        </p:spPr>
      </p:pic>
      <p:sp>
        <p:nvSpPr>
          <p:cNvPr id="20" name="TextBox 19"/>
          <p:cNvSpPr txBox="1"/>
          <p:nvPr/>
        </p:nvSpPr>
        <p:spPr>
          <a:xfrm>
            <a:off x="1353312" y="4443984"/>
            <a:ext cx="5029200" cy="438912"/>
          </a:xfrm>
          <a:prstGeom prst="rect">
            <a:avLst/>
          </a:prstGeom>
          <a:noFill/>
        </p:spPr>
        <p:txBody>
          <a:bodyPr wrap="square" anchor="ctr" lIns="0" rIns="0" tIns="0" bIns="0">
            <a:spAutoFit/>
          </a:bodyPr>
          <a:lstStyle/>
          <a:p>
            <a:pPr algn="l">
              <a:lnSpc>
                <a:spcPct val="106000"/>
              </a:lnSpc>
              <a:spcBef>
                <a:spcPts val="0"/>
              </a:spcBef>
              <a:spcAft>
                <a:spcPts val="0"/>
              </a:spcAft>
            </a:pPr>
            <a:r>
              <a:rPr sz="1200" b="0">
                <a:solidFill>
                  <a:srgbClr val="1A1A1A"/>
                </a:solidFill>
                <a:latin typeface="Red Hat Text"/>
              </a:rPr>
              <a:t>Image + config → the RHACS console VIOLATIONS / a TaskRun JUnit report; DAST → the ZAP WARN/FAIL summary + HTML report</a:t>
            </a:r>
          </a:p>
        </p:txBody>
      </p:sp>
      <p:sp>
        <p:nvSpPr>
          <p:cNvPr id="21" name="Rounded Rectangle 20"/>
          <p:cNvSpPr/>
          <p:nvPr/>
        </p:nvSpPr>
        <p:spPr>
          <a:xfrm>
            <a:off x="841248" y="4956048"/>
            <a:ext cx="5715000" cy="438912"/>
          </a:xfrm>
          <a:prstGeom prst="roundRect">
            <a:avLst>
              <a:gd name="adj" fmla="val 6000"/>
            </a:avLst>
          </a:prstGeom>
          <a:solidFill>
            <a:srgbClr val="F5F6F8"/>
          </a:solidFill>
          <a:ln w="12700">
            <a:solidFill>
              <a:srgbClr val="DDE1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2" name="Picture 21" descr="check_steel.png"/>
          <p:cNvPicPr>
            <a:picLocks noChangeAspect="1"/>
          </p:cNvPicPr>
          <p:nvPr/>
        </p:nvPicPr>
        <p:blipFill>
          <a:blip r:embed="rId3"/>
          <a:stretch>
            <a:fillRect/>
          </a:stretch>
        </p:blipFill>
        <p:spPr>
          <a:xfrm>
            <a:off x="987552" y="5056632"/>
            <a:ext cx="237744" cy="237744"/>
          </a:xfrm>
          <a:prstGeom prst="rect">
            <a:avLst/>
          </a:prstGeom>
        </p:spPr>
      </p:pic>
      <p:sp>
        <p:nvSpPr>
          <p:cNvPr id="23" name="TextBox 22"/>
          <p:cNvSpPr txBox="1"/>
          <p:nvPr/>
        </p:nvSpPr>
        <p:spPr>
          <a:xfrm>
            <a:off x="1353312" y="4956048"/>
            <a:ext cx="5029200" cy="438912"/>
          </a:xfrm>
          <a:prstGeom prst="rect">
            <a:avLst/>
          </a:prstGeom>
          <a:noFill/>
        </p:spPr>
        <p:txBody>
          <a:bodyPr wrap="square" anchor="ctr" lIns="0" rIns="0" tIns="0" bIns="0">
            <a:spAutoFit/>
          </a:bodyPr>
          <a:lstStyle/>
          <a:p>
            <a:pPr algn="l">
              <a:lnSpc>
                <a:spcPct val="106000"/>
              </a:lnSpc>
              <a:spcBef>
                <a:spcPts val="0"/>
              </a:spcBef>
              <a:spcAft>
                <a:spcPts val="0"/>
              </a:spcAft>
            </a:pPr>
            <a:r>
              <a:rPr sz="1200" b="0">
                <a:solidFill>
                  <a:srgbClr val="1A1A1A"/>
                </a:solidFill>
                <a:latin typeface="Red Hat Text"/>
              </a:rPr>
              <a:t>The whole run → the OpenShift Pipelines GRAPH (which stage is red) + Tekton Results (history)</a:t>
            </a:r>
          </a:p>
        </p:txBody>
      </p:sp>
      <p:sp>
        <p:nvSpPr>
          <p:cNvPr id="24" name="Rounded Rectangle 23"/>
          <p:cNvSpPr/>
          <p:nvPr/>
        </p:nvSpPr>
        <p:spPr>
          <a:xfrm>
            <a:off x="6812280" y="2395728"/>
            <a:ext cx="4538167" cy="2999232"/>
          </a:xfrm>
          <a:prstGeom prst="roundRect">
            <a:avLst>
              <a:gd name="adj" fmla="val 4000"/>
            </a:avLst>
          </a:prstGeom>
          <a:solidFill>
            <a:srgbClr val="FFFFFF"/>
          </a:solidFill>
          <a:ln w="15240">
            <a:solidFill>
              <a:srgbClr val="DDE1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ounded Rectangle 24"/>
          <p:cNvSpPr/>
          <p:nvPr/>
        </p:nvSpPr>
        <p:spPr>
          <a:xfrm>
            <a:off x="7013448" y="2596896"/>
            <a:ext cx="1298448" cy="310896"/>
          </a:xfrm>
          <a:prstGeom prst="roundRect">
            <a:avLst>
              <a:gd name="adj" fmla="val 50000"/>
            </a:avLst>
          </a:prstGeom>
          <a:solidFill>
            <a:srgbClr val="FCEC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013448" y="2596896"/>
            <a:ext cx="1298448" cy="310896"/>
          </a:xfrm>
          <a:prstGeom prst="rect">
            <a:avLst/>
          </a:prstGeom>
          <a:noFill/>
        </p:spPr>
        <p:txBody>
          <a:bodyPr wrap="none" anchor="ctr" lIns="0" rIns="0" tIns="0" bIns="0">
            <a:spAutoFit/>
          </a:bodyPr>
          <a:lstStyle/>
          <a:p>
            <a:pPr algn="ctr">
              <a:lnSpc>
                <a:spcPct val="106000"/>
              </a:lnSpc>
              <a:spcBef>
                <a:spcPts val="0"/>
              </a:spcBef>
              <a:spcAft>
                <a:spcPts val="0"/>
              </a:spcAft>
            </a:pPr>
            <a:r>
              <a:rPr sz="850" b="1">
                <a:solidFill>
                  <a:srgbClr val="B80000"/>
                </a:solidFill>
                <a:latin typeface="Red Hat Display"/>
              </a:rPr>
              <a:t>MEDIA PASS</a:t>
            </a:r>
          </a:p>
        </p:txBody>
      </p:sp>
      <p:pic>
        <p:nvPicPr>
          <p:cNvPr id="27" name="Picture 26" descr="eye_slate.png"/>
          <p:cNvPicPr>
            <a:picLocks noChangeAspect="1"/>
          </p:cNvPicPr>
          <p:nvPr/>
        </p:nvPicPr>
        <p:blipFill>
          <a:blip r:embed="rId4"/>
          <a:stretch>
            <a:fillRect/>
          </a:stretch>
        </p:blipFill>
        <p:spPr>
          <a:xfrm>
            <a:off x="8843619" y="3108960"/>
            <a:ext cx="475488" cy="475488"/>
          </a:xfrm>
          <a:prstGeom prst="rect">
            <a:avLst/>
          </a:prstGeom>
        </p:spPr>
      </p:pic>
      <p:sp>
        <p:nvSpPr>
          <p:cNvPr id="28" name="TextBox 27"/>
          <p:cNvSpPr txBox="1"/>
          <p:nvPr/>
        </p:nvSpPr>
        <p:spPr>
          <a:xfrm>
            <a:off x="7050024" y="3721608"/>
            <a:ext cx="4062679" cy="1536192"/>
          </a:xfrm>
          <a:prstGeom prst="rect">
            <a:avLst/>
          </a:prstGeom>
          <a:noFill/>
        </p:spPr>
        <p:txBody>
          <a:bodyPr wrap="square" anchor="t" lIns="0" rIns="0" tIns="0" bIns="0">
            <a:spAutoFit/>
          </a:bodyPr>
          <a:lstStyle/>
          <a:p>
            <a:pPr algn="l">
              <a:lnSpc>
                <a:spcPct val="120000"/>
              </a:lnSpc>
              <a:spcBef>
                <a:spcPts val="0"/>
              </a:spcBef>
              <a:spcAft>
                <a:spcPts val="0"/>
              </a:spcAft>
            </a:pPr>
            <a:r>
              <a:rPr sz="950" b="0">
                <a:solidFill>
                  <a:srgbClr val="8A9099"/>
                </a:solidFill>
                <a:latin typeface="Red Hat Text"/>
              </a:rPr>
              <a:t>A five-spoke hub — the red PipelineRun graph in the centre, arrows out to five labelled console cards: "SonarQube dashboard (S2068, file:line)", "Trivy TaskRun log + SBOM", "RHACS Violations (CVE + image)", "roxctl JUnit report", "ZAP WARN/FAIL + HTML report" — and a sixth card "Tekton Results: the red-then-green history."</a:t>
            </a:r>
          </a:p>
        </p:txBody>
      </p:sp>
      <p:cxnSp>
        <p:nvCxnSpPr>
          <p:cNvPr id="29" name="Connector 28"/>
          <p:cNvCxnSpPr/>
          <p:nvPr/>
        </p:nvCxnSpPr>
        <p:spPr>
          <a:xfrm>
            <a:off x="841248" y="6437376"/>
            <a:ext cx="10509199" cy="0"/>
          </a:xfrm>
          <a:prstGeom prst="bentConnector3">
            <a:avLst/>
          </a:prstGeom>
          <a:ln w="12700">
            <a:solidFill>
              <a:srgbClr val="DDE1E6"/>
            </a:solidFill>
          </a:ln>
          <a:effectLst/>
        </p:spPr>
        <p:style>
          <a:lnRef idx="2">
            <a:schemeClr val="accent1"/>
          </a:lnRef>
          <a:fillRef idx="0">
            <a:schemeClr val="accent1"/>
          </a:fillRef>
          <a:effectRef idx="1">
            <a:schemeClr val="accent1"/>
          </a:effectRef>
          <a:fontRef idx="minor">
            <a:schemeClr val="tx1"/>
          </a:fontRef>
        </p:style>
      </p:cxnSp>
      <p:sp>
        <p:nvSpPr>
          <p:cNvPr id="30" name="TextBox 29"/>
          <p:cNvSpPr txBox="1"/>
          <p:nvPr/>
        </p:nvSpPr>
        <p:spPr>
          <a:xfrm>
            <a:off x="841248" y="6473952"/>
            <a:ext cx="7315200" cy="274320"/>
          </a:xfrm>
          <a:prstGeom prst="rect">
            <a:avLst/>
          </a:prstGeom>
          <a:noFill/>
        </p:spPr>
        <p:txBody>
          <a:bodyPr wrap="square" anchor="t" lIns="0" rIns="0" tIns="0" bIns="0">
            <a:spAutoFit/>
          </a:bodyPr>
          <a:lstStyle/>
          <a:p>
            <a:pPr algn="l">
              <a:lnSpc>
                <a:spcPct val="106000"/>
              </a:lnSpc>
              <a:spcBef>
                <a:spcPts val="0"/>
              </a:spcBef>
              <a:spcAft>
                <a:spcPts val="0"/>
              </a:spcAft>
            </a:pPr>
            <a:r>
              <a:rPr sz="950" b="0">
                <a:solidFill>
                  <a:srgbClr val="8A9099"/>
                </a:solidFill>
                <a:latin typeface="Red Hat Text"/>
              </a:rPr>
              <a:t>CONFIDENTIAL</a:t>
            </a:r>
          </a:p>
        </p:txBody>
      </p:sp>
      <p:sp>
        <p:nvSpPr>
          <p:cNvPr id="31" name="TextBox 30"/>
          <p:cNvSpPr txBox="1"/>
          <p:nvPr/>
        </p:nvSpPr>
        <p:spPr>
          <a:xfrm>
            <a:off x="10801807" y="6473952"/>
            <a:ext cx="548640" cy="274320"/>
          </a:xfrm>
          <a:prstGeom prst="rect">
            <a:avLst/>
          </a:prstGeom>
          <a:noFill/>
        </p:spPr>
        <p:txBody>
          <a:bodyPr wrap="square" anchor="t" lIns="0" rIns="0" tIns="0" bIns="0">
            <a:spAutoFit/>
          </a:bodyPr>
          <a:lstStyle/>
          <a:p>
            <a:pPr algn="r">
              <a:lnSpc>
                <a:spcPct val="106000"/>
              </a:lnSpc>
              <a:spcBef>
                <a:spcPts val="0"/>
              </a:spcBef>
              <a:spcAft>
                <a:spcPts val="0"/>
              </a:spcAft>
            </a:pPr>
            <a:r>
              <a:rPr sz="950" b="0">
                <a:solidFill>
                  <a:srgbClr val="8A9099"/>
                </a:solidFill>
                <a:latin typeface="Red Hat Text"/>
              </a:rPr>
              <a:t>56</a:t>
            </a:r>
          </a:p>
        </p:txBody>
      </p:sp>
    </p:spTree>
  </p:cSld>
  <p:clrMapOvr>
    <a:masterClrMapping/>
  </p:clrMapOvr>
</p:sld>
</file>

<file path=ppt/slides/slide6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redhat_logo.jpg"/>
          <p:cNvPicPr>
            <a:picLocks noChangeAspect="1"/>
          </p:cNvPicPr>
          <p:nvPr/>
        </p:nvPicPr>
        <p:blipFill>
          <a:blip r:embed="rId2"/>
          <a:stretch>
            <a:fillRect/>
          </a:stretch>
        </p:blipFill>
        <p:spPr>
          <a:xfrm>
            <a:off x="10326319" y="475488"/>
            <a:ext cx="1024128" cy="242248"/>
          </a:xfrm>
          <a:prstGeom prst="rect">
            <a:avLst/>
          </a:prstGeom>
        </p:spPr>
      </p:pic>
      <p:sp>
        <p:nvSpPr>
          <p:cNvPr id="3" name="TextBox 2"/>
          <p:cNvSpPr txBox="1"/>
          <p:nvPr/>
        </p:nvSpPr>
        <p:spPr>
          <a:xfrm>
            <a:off x="841248" y="548640"/>
            <a:ext cx="8595360" cy="274320"/>
          </a:xfrm>
          <a:prstGeom prst="rect">
            <a:avLst/>
          </a:prstGeom>
          <a:noFill/>
        </p:spPr>
        <p:txBody>
          <a:bodyPr wrap="square" anchor="t" lIns="0" rIns="0" tIns="0" bIns="0">
            <a:spAutoFit/>
          </a:bodyPr>
          <a:lstStyle/>
          <a:p>
            <a:pPr algn="l">
              <a:lnSpc>
                <a:spcPct val="106000"/>
              </a:lnSpc>
              <a:spcBef>
                <a:spcPts val="0"/>
              </a:spcBef>
              <a:spcAft>
                <a:spcPts val="0"/>
              </a:spcAft>
            </a:pPr>
            <a:r>
              <a:rPr sz="1250" b="1" spc="220">
                <a:solidFill>
                  <a:srgbClr val="EE0000"/>
                </a:solidFill>
                <a:latin typeface="Red Hat Display"/>
              </a:rPr>
              <a:t>M08 · APPLICATION SECURITY TESTING</a:t>
            </a:r>
          </a:p>
        </p:txBody>
      </p:sp>
      <p:sp>
        <p:nvSpPr>
          <p:cNvPr id="4" name="TextBox 3"/>
          <p:cNvSpPr txBox="1"/>
          <p:nvPr/>
        </p:nvSpPr>
        <p:spPr>
          <a:xfrm>
            <a:off x="841248" y="877824"/>
            <a:ext cx="10515600" cy="548640"/>
          </a:xfrm>
          <a:prstGeom prst="rect">
            <a:avLst/>
          </a:prstGeom>
          <a:noFill/>
        </p:spPr>
        <p:txBody>
          <a:bodyPr wrap="none" anchor="t" lIns="0" rIns="0" tIns="0" bIns="0">
            <a:spAutoFit/>
          </a:bodyPr>
          <a:lstStyle/>
          <a:p>
            <a:pPr algn="l">
              <a:lnSpc>
                <a:spcPct val="100000"/>
              </a:lnSpc>
              <a:spcBef>
                <a:spcPts val="0"/>
              </a:spcBef>
              <a:spcAft>
                <a:spcPts val="0"/>
              </a:spcAft>
            </a:pPr>
            <a:r>
              <a:rPr sz="2500" b="1">
                <a:solidFill>
                  <a:srgbClr val="1A1A1A"/>
                </a:solidFill>
                <a:latin typeface="Red Hat Display"/>
              </a:rPr>
              <a:t>Supply-chain hygiene — trust, but pin</a:t>
            </a:r>
          </a:p>
        </p:txBody>
      </p:sp>
      <p:cxnSp>
        <p:nvCxnSpPr>
          <p:cNvPr id="5" name="Connector 4"/>
          <p:cNvCxnSpPr/>
          <p:nvPr/>
        </p:nvCxnSpPr>
        <p:spPr>
          <a:xfrm>
            <a:off x="841248" y="1554480"/>
            <a:ext cx="1371600" cy="0"/>
          </a:xfrm>
          <a:prstGeom prst="bentConnector3">
            <a:avLst/>
          </a:prstGeom>
          <a:ln w="31750">
            <a:solidFill>
              <a:srgbClr val="EE0000"/>
            </a:solidFill>
          </a:ln>
          <a:effectLst/>
        </p:spPr>
        <p:style>
          <a:lnRef idx="2">
            <a:schemeClr val="accent1"/>
          </a:lnRef>
          <a:fillRef idx="0">
            <a:schemeClr val="accent1"/>
          </a:fillRef>
          <a:effectRef idx="1">
            <a:schemeClr val="accent1"/>
          </a:effectRef>
          <a:fontRef idx="minor">
            <a:schemeClr val="tx1"/>
          </a:fontRef>
        </p:style>
      </p:cxnSp>
      <p:sp>
        <p:nvSpPr>
          <p:cNvPr id="6" name="Rounded Rectangle 5"/>
          <p:cNvSpPr/>
          <p:nvPr/>
        </p:nvSpPr>
        <p:spPr>
          <a:xfrm>
            <a:off x="841248" y="2395728"/>
            <a:ext cx="5715000" cy="438912"/>
          </a:xfrm>
          <a:prstGeom prst="roundRect">
            <a:avLst>
              <a:gd name="adj" fmla="val 6000"/>
            </a:avLst>
          </a:prstGeom>
          <a:solidFill>
            <a:srgbClr val="F5F6F8"/>
          </a:solidFill>
          <a:ln w="12700">
            <a:solidFill>
              <a:srgbClr val="DDE1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check_steel.png"/>
          <p:cNvPicPr>
            <a:picLocks noChangeAspect="1"/>
          </p:cNvPicPr>
          <p:nvPr/>
        </p:nvPicPr>
        <p:blipFill>
          <a:blip r:embed="rId3"/>
          <a:stretch>
            <a:fillRect/>
          </a:stretch>
        </p:blipFill>
        <p:spPr>
          <a:xfrm>
            <a:off x="987552" y="2496312"/>
            <a:ext cx="237744" cy="237744"/>
          </a:xfrm>
          <a:prstGeom prst="rect">
            <a:avLst/>
          </a:prstGeom>
        </p:spPr>
      </p:pic>
      <p:sp>
        <p:nvSpPr>
          <p:cNvPr id="8" name="TextBox 7"/>
          <p:cNvSpPr txBox="1"/>
          <p:nvPr/>
        </p:nvSpPr>
        <p:spPr>
          <a:xfrm>
            <a:off x="1353312" y="2395728"/>
            <a:ext cx="5029200" cy="438912"/>
          </a:xfrm>
          <a:prstGeom prst="rect">
            <a:avLst/>
          </a:prstGeom>
          <a:noFill/>
        </p:spPr>
        <p:txBody>
          <a:bodyPr wrap="square" anchor="ctr" lIns="0" rIns="0" tIns="0" bIns="0">
            <a:spAutoFit/>
          </a:bodyPr>
          <a:lstStyle/>
          <a:p>
            <a:pPr algn="l">
              <a:lnSpc>
                <a:spcPct val="106000"/>
              </a:lnSpc>
              <a:spcBef>
                <a:spcPts val="0"/>
              </a:spcBef>
              <a:spcAft>
                <a:spcPts val="0"/>
              </a:spcAft>
            </a:pPr>
            <a:r>
              <a:rPr sz="1200" b="0">
                <a:solidFill>
                  <a:srgbClr val="1A1A1A"/>
                </a:solidFill>
                <a:latin typeface="Red Hat Text"/>
              </a:rPr>
              <a:t>Security tools are software too — and software gets COMPROMISED</a:t>
            </a:r>
          </a:p>
        </p:txBody>
      </p:sp>
      <p:sp>
        <p:nvSpPr>
          <p:cNvPr id="9" name="Rounded Rectangle 8"/>
          <p:cNvSpPr/>
          <p:nvPr/>
        </p:nvSpPr>
        <p:spPr>
          <a:xfrm>
            <a:off x="841248" y="2907792"/>
            <a:ext cx="5715000" cy="438912"/>
          </a:xfrm>
          <a:prstGeom prst="roundRect">
            <a:avLst>
              <a:gd name="adj" fmla="val 6000"/>
            </a:avLst>
          </a:prstGeom>
          <a:solidFill>
            <a:srgbClr val="F5F6F8"/>
          </a:solidFill>
          <a:ln w="12700">
            <a:solidFill>
              <a:srgbClr val="DDE1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0" name="Picture 9" descr="check_steel.png"/>
          <p:cNvPicPr>
            <a:picLocks noChangeAspect="1"/>
          </p:cNvPicPr>
          <p:nvPr/>
        </p:nvPicPr>
        <p:blipFill>
          <a:blip r:embed="rId3"/>
          <a:stretch>
            <a:fillRect/>
          </a:stretch>
        </p:blipFill>
        <p:spPr>
          <a:xfrm>
            <a:off x="987552" y="3008376"/>
            <a:ext cx="237744" cy="237744"/>
          </a:xfrm>
          <a:prstGeom prst="rect">
            <a:avLst/>
          </a:prstGeom>
        </p:spPr>
      </p:pic>
      <p:sp>
        <p:nvSpPr>
          <p:cNvPr id="11" name="TextBox 10"/>
          <p:cNvSpPr txBox="1"/>
          <p:nvPr/>
        </p:nvSpPr>
        <p:spPr>
          <a:xfrm>
            <a:off x="1353312" y="2907792"/>
            <a:ext cx="5029200" cy="438912"/>
          </a:xfrm>
          <a:prstGeom prst="rect">
            <a:avLst/>
          </a:prstGeom>
          <a:noFill/>
        </p:spPr>
        <p:txBody>
          <a:bodyPr wrap="square" anchor="ctr" lIns="0" rIns="0" tIns="0" bIns="0">
            <a:spAutoFit/>
          </a:bodyPr>
          <a:lstStyle/>
          <a:p>
            <a:pPr algn="l">
              <a:lnSpc>
                <a:spcPct val="106000"/>
              </a:lnSpc>
              <a:spcBef>
                <a:spcPts val="0"/>
              </a:spcBef>
              <a:spcAft>
                <a:spcPts val="0"/>
              </a:spcAft>
            </a:pPr>
            <a:r>
              <a:rPr sz="1200" b="0">
                <a:solidFill>
                  <a:srgbClr val="1A1A1A"/>
                </a:solidFill>
                <a:latin typeface="Red Hat Text"/>
              </a:rPr>
              <a:t>In March 2026 the Trivy GitHub Action was compromised; its signing keys were rotated after</a:t>
            </a:r>
          </a:p>
        </p:txBody>
      </p:sp>
      <p:sp>
        <p:nvSpPr>
          <p:cNvPr id="12" name="Rounded Rectangle 11"/>
          <p:cNvSpPr/>
          <p:nvPr/>
        </p:nvSpPr>
        <p:spPr>
          <a:xfrm>
            <a:off x="841248" y="3419856"/>
            <a:ext cx="5715000" cy="438912"/>
          </a:xfrm>
          <a:prstGeom prst="roundRect">
            <a:avLst>
              <a:gd name="adj" fmla="val 6000"/>
            </a:avLst>
          </a:prstGeom>
          <a:solidFill>
            <a:srgbClr val="F5F6F8"/>
          </a:solidFill>
          <a:ln w="12700">
            <a:solidFill>
              <a:srgbClr val="DDE1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3" name="Picture 12" descr="check_steel.png"/>
          <p:cNvPicPr>
            <a:picLocks noChangeAspect="1"/>
          </p:cNvPicPr>
          <p:nvPr/>
        </p:nvPicPr>
        <p:blipFill>
          <a:blip r:embed="rId3"/>
          <a:stretch>
            <a:fillRect/>
          </a:stretch>
        </p:blipFill>
        <p:spPr>
          <a:xfrm>
            <a:off x="987552" y="3520440"/>
            <a:ext cx="237744" cy="237744"/>
          </a:xfrm>
          <a:prstGeom prst="rect">
            <a:avLst/>
          </a:prstGeom>
        </p:spPr>
      </p:pic>
      <p:sp>
        <p:nvSpPr>
          <p:cNvPr id="14" name="TextBox 13"/>
          <p:cNvSpPr txBox="1"/>
          <p:nvPr/>
        </p:nvSpPr>
        <p:spPr>
          <a:xfrm>
            <a:off x="1353312" y="3419856"/>
            <a:ext cx="5029200" cy="438912"/>
          </a:xfrm>
          <a:prstGeom prst="rect">
            <a:avLst/>
          </a:prstGeom>
          <a:noFill/>
        </p:spPr>
        <p:txBody>
          <a:bodyPr wrap="square" anchor="ctr" lIns="0" rIns="0" tIns="0" bIns="0">
            <a:spAutoFit/>
          </a:bodyPr>
          <a:lstStyle/>
          <a:p>
            <a:pPr algn="l">
              <a:lnSpc>
                <a:spcPct val="106000"/>
              </a:lnSpc>
              <a:spcBef>
                <a:spcPts val="0"/>
              </a:spcBef>
              <a:spcAft>
                <a:spcPts val="0"/>
              </a:spcAft>
            </a:pPr>
            <a:r>
              <a:rPr sz="1200" b="0">
                <a:solidFill>
                  <a:srgbClr val="1A1A1A"/>
                </a:solidFill>
                <a:latin typeface="Red Hat Text"/>
              </a:rPr>
              <a:t>The lesson is not "don't use Trivy" (it is excellent) — it is HOW you consume it</a:t>
            </a:r>
          </a:p>
        </p:txBody>
      </p:sp>
      <p:sp>
        <p:nvSpPr>
          <p:cNvPr id="15" name="Rounded Rectangle 14"/>
          <p:cNvSpPr/>
          <p:nvPr/>
        </p:nvSpPr>
        <p:spPr>
          <a:xfrm>
            <a:off x="841248" y="3931920"/>
            <a:ext cx="5715000" cy="438912"/>
          </a:xfrm>
          <a:prstGeom prst="roundRect">
            <a:avLst>
              <a:gd name="adj" fmla="val 6000"/>
            </a:avLst>
          </a:prstGeom>
          <a:solidFill>
            <a:srgbClr val="F5F6F8"/>
          </a:solidFill>
          <a:ln w="12700">
            <a:solidFill>
              <a:srgbClr val="DDE1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6" name="Picture 15" descr="check_steel.png"/>
          <p:cNvPicPr>
            <a:picLocks noChangeAspect="1"/>
          </p:cNvPicPr>
          <p:nvPr/>
        </p:nvPicPr>
        <p:blipFill>
          <a:blip r:embed="rId3"/>
          <a:stretch>
            <a:fillRect/>
          </a:stretch>
        </p:blipFill>
        <p:spPr>
          <a:xfrm>
            <a:off x="987552" y="4032504"/>
            <a:ext cx="237744" cy="237744"/>
          </a:xfrm>
          <a:prstGeom prst="rect">
            <a:avLst/>
          </a:prstGeom>
        </p:spPr>
      </p:pic>
      <p:sp>
        <p:nvSpPr>
          <p:cNvPr id="17" name="TextBox 16"/>
          <p:cNvSpPr txBox="1"/>
          <p:nvPr/>
        </p:nvSpPr>
        <p:spPr>
          <a:xfrm>
            <a:off x="1353312" y="3931920"/>
            <a:ext cx="5029200" cy="438912"/>
          </a:xfrm>
          <a:prstGeom prst="rect">
            <a:avLst/>
          </a:prstGeom>
          <a:noFill/>
        </p:spPr>
        <p:txBody>
          <a:bodyPr wrap="square" anchor="ctr" lIns="0" rIns="0" tIns="0" bIns="0">
            <a:spAutoFit/>
          </a:bodyPr>
          <a:lstStyle/>
          <a:p>
            <a:pPr algn="l">
              <a:lnSpc>
                <a:spcPct val="106000"/>
              </a:lnSpc>
              <a:spcBef>
                <a:spcPts val="0"/>
              </a:spcBef>
              <a:spcAft>
                <a:spcPts val="0"/>
              </a:spcAft>
            </a:pPr>
            <a:r>
              <a:rPr sz="1200" b="0">
                <a:solidFill>
                  <a:srgbClr val="1A1A1A"/>
                </a:solidFill>
                <a:latin typeface="Red Hat Text"/>
              </a:rPr>
              <a:t>Pin by DIGEST, not by tag — a moved `:latest` can't silently change what runs in your build</a:t>
            </a:r>
          </a:p>
        </p:txBody>
      </p:sp>
      <p:sp>
        <p:nvSpPr>
          <p:cNvPr id="18" name="Rounded Rectangle 17"/>
          <p:cNvSpPr/>
          <p:nvPr/>
        </p:nvSpPr>
        <p:spPr>
          <a:xfrm>
            <a:off x="841248" y="4443984"/>
            <a:ext cx="5715000" cy="438912"/>
          </a:xfrm>
          <a:prstGeom prst="roundRect">
            <a:avLst>
              <a:gd name="adj" fmla="val 6000"/>
            </a:avLst>
          </a:prstGeom>
          <a:solidFill>
            <a:srgbClr val="F5F6F8"/>
          </a:solidFill>
          <a:ln w="12700">
            <a:solidFill>
              <a:srgbClr val="DDE1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9" name="Picture 18" descr="check_steel.png"/>
          <p:cNvPicPr>
            <a:picLocks noChangeAspect="1"/>
          </p:cNvPicPr>
          <p:nvPr/>
        </p:nvPicPr>
        <p:blipFill>
          <a:blip r:embed="rId3"/>
          <a:stretch>
            <a:fillRect/>
          </a:stretch>
        </p:blipFill>
        <p:spPr>
          <a:xfrm>
            <a:off x="987552" y="4544568"/>
            <a:ext cx="237744" cy="237744"/>
          </a:xfrm>
          <a:prstGeom prst="rect">
            <a:avLst/>
          </a:prstGeom>
        </p:spPr>
      </p:pic>
      <p:sp>
        <p:nvSpPr>
          <p:cNvPr id="20" name="TextBox 19"/>
          <p:cNvSpPr txBox="1"/>
          <p:nvPr/>
        </p:nvSpPr>
        <p:spPr>
          <a:xfrm>
            <a:off x="1353312" y="4443984"/>
            <a:ext cx="5029200" cy="438912"/>
          </a:xfrm>
          <a:prstGeom prst="rect">
            <a:avLst/>
          </a:prstGeom>
          <a:noFill/>
        </p:spPr>
        <p:txBody>
          <a:bodyPr wrap="square" anchor="ctr" lIns="0" rIns="0" tIns="0" bIns="0">
            <a:spAutoFit/>
          </a:bodyPr>
          <a:lstStyle/>
          <a:p>
            <a:pPr algn="l">
              <a:lnSpc>
                <a:spcPct val="106000"/>
              </a:lnSpc>
              <a:spcBef>
                <a:spcPts val="0"/>
              </a:spcBef>
              <a:spcAft>
                <a:spcPts val="0"/>
              </a:spcAft>
            </a:pPr>
            <a:r>
              <a:rPr sz="1200" b="0">
                <a:solidFill>
                  <a:srgbClr val="1A1A1A"/>
                </a:solidFill>
                <a:latin typeface="Red Hat Text"/>
              </a:rPr>
              <a:t>Prefer the CONTAINER image to the convenience GitHub Action — one fewer moving part</a:t>
            </a:r>
          </a:p>
        </p:txBody>
      </p:sp>
      <p:sp>
        <p:nvSpPr>
          <p:cNvPr id="21" name="Rounded Rectangle 20"/>
          <p:cNvSpPr/>
          <p:nvPr/>
        </p:nvSpPr>
        <p:spPr>
          <a:xfrm>
            <a:off x="841248" y="4956048"/>
            <a:ext cx="5715000" cy="438912"/>
          </a:xfrm>
          <a:prstGeom prst="roundRect">
            <a:avLst>
              <a:gd name="adj" fmla="val 6000"/>
            </a:avLst>
          </a:prstGeom>
          <a:solidFill>
            <a:srgbClr val="F5F6F8"/>
          </a:solidFill>
          <a:ln w="12700">
            <a:solidFill>
              <a:srgbClr val="DDE1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2" name="Picture 21" descr="check_steel.png"/>
          <p:cNvPicPr>
            <a:picLocks noChangeAspect="1"/>
          </p:cNvPicPr>
          <p:nvPr/>
        </p:nvPicPr>
        <p:blipFill>
          <a:blip r:embed="rId3"/>
          <a:stretch>
            <a:fillRect/>
          </a:stretch>
        </p:blipFill>
        <p:spPr>
          <a:xfrm>
            <a:off x="987552" y="5056632"/>
            <a:ext cx="237744" cy="237744"/>
          </a:xfrm>
          <a:prstGeom prst="rect">
            <a:avLst/>
          </a:prstGeom>
        </p:spPr>
      </p:pic>
      <p:sp>
        <p:nvSpPr>
          <p:cNvPr id="23" name="TextBox 22"/>
          <p:cNvSpPr txBox="1"/>
          <p:nvPr/>
        </p:nvSpPr>
        <p:spPr>
          <a:xfrm>
            <a:off x="1353312" y="4956048"/>
            <a:ext cx="5029200" cy="438912"/>
          </a:xfrm>
          <a:prstGeom prst="rect">
            <a:avLst/>
          </a:prstGeom>
          <a:noFill/>
        </p:spPr>
        <p:txBody>
          <a:bodyPr wrap="square" anchor="ctr" lIns="0" rIns="0" tIns="0" bIns="0">
            <a:spAutoFit/>
          </a:bodyPr>
          <a:lstStyle/>
          <a:p>
            <a:pPr algn="l">
              <a:lnSpc>
                <a:spcPct val="106000"/>
              </a:lnSpc>
              <a:spcBef>
                <a:spcPts val="0"/>
              </a:spcBef>
              <a:spcAft>
                <a:spcPts val="0"/>
              </a:spcAft>
            </a:pPr>
            <a:r>
              <a:rPr sz="1200" b="0">
                <a:solidFill>
                  <a:srgbClr val="1A1A1A"/>
                </a:solidFill>
                <a:latin typeface="Red Hat Text"/>
              </a:rPr>
              <a:t>Your scanners are part of YOUR supply chain — hold them to the same rigour as app dependencies</a:t>
            </a:r>
          </a:p>
        </p:txBody>
      </p:sp>
      <p:sp>
        <p:nvSpPr>
          <p:cNvPr id="24" name="Rounded Rectangle 23"/>
          <p:cNvSpPr/>
          <p:nvPr/>
        </p:nvSpPr>
        <p:spPr>
          <a:xfrm>
            <a:off x="6812280" y="2395728"/>
            <a:ext cx="4538167" cy="2999232"/>
          </a:xfrm>
          <a:prstGeom prst="roundRect">
            <a:avLst>
              <a:gd name="adj" fmla="val 4000"/>
            </a:avLst>
          </a:prstGeom>
          <a:solidFill>
            <a:srgbClr val="FFFFFF"/>
          </a:solidFill>
          <a:ln w="15240">
            <a:solidFill>
              <a:srgbClr val="DDE1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ounded Rectangle 24"/>
          <p:cNvSpPr/>
          <p:nvPr/>
        </p:nvSpPr>
        <p:spPr>
          <a:xfrm>
            <a:off x="7013448" y="2596896"/>
            <a:ext cx="1298448" cy="310896"/>
          </a:xfrm>
          <a:prstGeom prst="roundRect">
            <a:avLst>
              <a:gd name="adj" fmla="val 50000"/>
            </a:avLst>
          </a:prstGeom>
          <a:solidFill>
            <a:srgbClr val="FCEC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013448" y="2596896"/>
            <a:ext cx="1298448" cy="310896"/>
          </a:xfrm>
          <a:prstGeom prst="rect">
            <a:avLst/>
          </a:prstGeom>
          <a:noFill/>
        </p:spPr>
        <p:txBody>
          <a:bodyPr wrap="none" anchor="ctr" lIns="0" rIns="0" tIns="0" bIns="0">
            <a:spAutoFit/>
          </a:bodyPr>
          <a:lstStyle/>
          <a:p>
            <a:pPr algn="ctr">
              <a:lnSpc>
                <a:spcPct val="106000"/>
              </a:lnSpc>
              <a:spcBef>
                <a:spcPts val="0"/>
              </a:spcBef>
              <a:spcAft>
                <a:spcPts val="0"/>
              </a:spcAft>
            </a:pPr>
            <a:r>
              <a:rPr sz="850" b="1">
                <a:solidFill>
                  <a:srgbClr val="B80000"/>
                </a:solidFill>
                <a:latin typeface="Red Hat Display"/>
              </a:rPr>
              <a:t>MEDIA PASS</a:t>
            </a:r>
          </a:p>
        </p:txBody>
      </p:sp>
      <p:pic>
        <p:nvPicPr>
          <p:cNvPr id="27" name="Picture 26" descr="eye_slate.png"/>
          <p:cNvPicPr>
            <a:picLocks noChangeAspect="1"/>
          </p:cNvPicPr>
          <p:nvPr/>
        </p:nvPicPr>
        <p:blipFill>
          <a:blip r:embed="rId4"/>
          <a:stretch>
            <a:fillRect/>
          </a:stretch>
        </p:blipFill>
        <p:spPr>
          <a:xfrm>
            <a:off x="8843619" y="3108960"/>
            <a:ext cx="475488" cy="475488"/>
          </a:xfrm>
          <a:prstGeom prst="rect">
            <a:avLst/>
          </a:prstGeom>
        </p:spPr>
      </p:pic>
      <p:sp>
        <p:nvSpPr>
          <p:cNvPr id="28" name="TextBox 27"/>
          <p:cNvSpPr txBox="1"/>
          <p:nvPr/>
        </p:nvSpPr>
        <p:spPr>
          <a:xfrm>
            <a:off x="7050024" y="3721608"/>
            <a:ext cx="4062679" cy="1536192"/>
          </a:xfrm>
          <a:prstGeom prst="rect">
            <a:avLst/>
          </a:prstGeom>
          <a:noFill/>
        </p:spPr>
        <p:txBody>
          <a:bodyPr wrap="square" anchor="t" lIns="0" rIns="0" tIns="0" bIns="0">
            <a:spAutoFit/>
          </a:bodyPr>
          <a:lstStyle/>
          <a:p>
            <a:pPr algn="l">
              <a:lnSpc>
                <a:spcPct val="120000"/>
              </a:lnSpc>
              <a:spcBef>
                <a:spcPts val="0"/>
              </a:spcBef>
              <a:spcAft>
                <a:spcPts val="0"/>
              </a:spcAft>
            </a:pPr>
            <a:r>
              <a:rPr sz="950" b="0">
                <a:solidFill>
                  <a:srgbClr val="8A9099"/>
                </a:solidFill>
                <a:latin typeface="Red Hat Text"/>
              </a:rPr>
              <a:t>Two rows for the same scanner. TOP "float" — `trivy:latest` with a tag that quietly repoints to a compromised build (red), pulled through a GitHub Action wrapper. BOTTOM "pin" — `trivy@sha256:…` locked to an immutable digest (green), run as a plain container. A small timeline chip in the corner: "Mar 2026 — Trivy Action compromised."</a:t>
            </a:r>
          </a:p>
        </p:txBody>
      </p:sp>
      <p:cxnSp>
        <p:nvCxnSpPr>
          <p:cNvPr id="29" name="Connector 28"/>
          <p:cNvCxnSpPr/>
          <p:nvPr/>
        </p:nvCxnSpPr>
        <p:spPr>
          <a:xfrm>
            <a:off x="841248" y="6437376"/>
            <a:ext cx="10509199" cy="0"/>
          </a:xfrm>
          <a:prstGeom prst="bentConnector3">
            <a:avLst/>
          </a:prstGeom>
          <a:ln w="12700">
            <a:solidFill>
              <a:srgbClr val="DDE1E6"/>
            </a:solidFill>
          </a:ln>
          <a:effectLst/>
        </p:spPr>
        <p:style>
          <a:lnRef idx="2">
            <a:schemeClr val="accent1"/>
          </a:lnRef>
          <a:fillRef idx="0">
            <a:schemeClr val="accent1"/>
          </a:fillRef>
          <a:effectRef idx="1">
            <a:schemeClr val="accent1"/>
          </a:effectRef>
          <a:fontRef idx="minor">
            <a:schemeClr val="tx1"/>
          </a:fontRef>
        </p:style>
      </p:cxnSp>
      <p:sp>
        <p:nvSpPr>
          <p:cNvPr id="30" name="TextBox 29"/>
          <p:cNvSpPr txBox="1"/>
          <p:nvPr/>
        </p:nvSpPr>
        <p:spPr>
          <a:xfrm>
            <a:off x="841248" y="6473952"/>
            <a:ext cx="7315200" cy="274320"/>
          </a:xfrm>
          <a:prstGeom prst="rect">
            <a:avLst/>
          </a:prstGeom>
          <a:noFill/>
        </p:spPr>
        <p:txBody>
          <a:bodyPr wrap="square" anchor="t" lIns="0" rIns="0" tIns="0" bIns="0">
            <a:spAutoFit/>
          </a:bodyPr>
          <a:lstStyle/>
          <a:p>
            <a:pPr algn="l">
              <a:lnSpc>
                <a:spcPct val="106000"/>
              </a:lnSpc>
              <a:spcBef>
                <a:spcPts val="0"/>
              </a:spcBef>
              <a:spcAft>
                <a:spcPts val="0"/>
              </a:spcAft>
            </a:pPr>
            <a:r>
              <a:rPr sz="950" b="0">
                <a:solidFill>
                  <a:srgbClr val="8A9099"/>
                </a:solidFill>
                <a:latin typeface="Red Hat Text"/>
              </a:rPr>
              <a:t>CONFIDENTIAL</a:t>
            </a:r>
          </a:p>
        </p:txBody>
      </p:sp>
      <p:sp>
        <p:nvSpPr>
          <p:cNvPr id="31" name="TextBox 30"/>
          <p:cNvSpPr txBox="1"/>
          <p:nvPr/>
        </p:nvSpPr>
        <p:spPr>
          <a:xfrm>
            <a:off x="10801807" y="6473952"/>
            <a:ext cx="548640" cy="274320"/>
          </a:xfrm>
          <a:prstGeom prst="rect">
            <a:avLst/>
          </a:prstGeom>
          <a:noFill/>
        </p:spPr>
        <p:txBody>
          <a:bodyPr wrap="square" anchor="t" lIns="0" rIns="0" tIns="0" bIns="0">
            <a:spAutoFit/>
          </a:bodyPr>
          <a:lstStyle/>
          <a:p>
            <a:pPr algn="r">
              <a:lnSpc>
                <a:spcPct val="106000"/>
              </a:lnSpc>
              <a:spcBef>
                <a:spcPts val="0"/>
              </a:spcBef>
              <a:spcAft>
                <a:spcPts val="0"/>
              </a:spcAft>
            </a:pPr>
            <a:r>
              <a:rPr sz="950" b="0">
                <a:solidFill>
                  <a:srgbClr val="8A9099"/>
                </a:solidFill>
                <a:latin typeface="Red Hat Text"/>
              </a:rPr>
              <a:t>57</a:t>
            </a:r>
          </a:p>
        </p:txBody>
      </p:sp>
    </p:spTree>
  </p:cSld>
  <p:clrMapOvr>
    <a:masterClrMapping/>
  </p:clrMapOvr>
</p:sld>
</file>

<file path=ppt/slides/slide6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redhat_logo.jpg"/>
          <p:cNvPicPr>
            <a:picLocks noChangeAspect="1"/>
          </p:cNvPicPr>
          <p:nvPr/>
        </p:nvPicPr>
        <p:blipFill>
          <a:blip r:embed="rId2"/>
          <a:stretch>
            <a:fillRect/>
          </a:stretch>
        </p:blipFill>
        <p:spPr>
          <a:xfrm>
            <a:off x="10326319" y="475488"/>
            <a:ext cx="1024128" cy="242248"/>
          </a:xfrm>
          <a:prstGeom prst="rect">
            <a:avLst/>
          </a:prstGeom>
        </p:spPr>
      </p:pic>
      <p:sp>
        <p:nvSpPr>
          <p:cNvPr id="3" name="TextBox 2"/>
          <p:cNvSpPr txBox="1"/>
          <p:nvPr/>
        </p:nvSpPr>
        <p:spPr>
          <a:xfrm>
            <a:off x="841248" y="548640"/>
            <a:ext cx="8595360" cy="274320"/>
          </a:xfrm>
          <a:prstGeom prst="rect">
            <a:avLst/>
          </a:prstGeom>
          <a:noFill/>
        </p:spPr>
        <p:txBody>
          <a:bodyPr wrap="square" anchor="t" lIns="0" rIns="0" tIns="0" bIns="0">
            <a:spAutoFit/>
          </a:bodyPr>
          <a:lstStyle/>
          <a:p>
            <a:pPr algn="l">
              <a:lnSpc>
                <a:spcPct val="106000"/>
              </a:lnSpc>
              <a:spcBef>
                <a:spcPts val="0"/>
              </a:spcBef>
              <a:spcAft>
                <a:spcPts val="0"/>
              </a:spcAft>
            </a:pPr>
            <a:r>
              <a:rPr sz="1250" b="1" spc="220">
                <a:solidFill>
                  <a:srgbClr val="EE0000"/>
                </a:solidFill>
                <a:latin typeface="Red Hat Display"/>
              </a:rPr>
              <a:t>M08 · APPLICATION SECURITY TESTING</a:t>
            </a:r>
          </a:p>
        </p:txBody>
      </p:sp>
      <p:sp>
        <p:nvSpPr>
          <p:cNvPr id="4" name="TextBox 3"/>
          <p:cNvSpPr txBox="1"/>
          <p:nvPr/>
        </p:nvSpPr>
        <p:spPr>
          <a:xfrm>
            <a:off x="841248" y="877824"/>
            <a:ext cx="10515600" cy="548640"/>
          </a:xfrm>
          <a:prstGeom prst="rect">
            <a:avLst/>
          </a:prstGeom>
          <a:noFill/>
        </p:spPr>
        <p:txBody>
          <a:bodyPr wrap="none" anchor="t" lIns="0" rIns="0" tIns="0" bIns="0">
            <a:spAutoFit/>
          </a:bodyPr>
          <a:lstStyle/>
          <a:p>
            <a:pPr algn="l">
              <a:lnSpc>
                <a:spcPct val="100000"/>
              </a:lnSpc>
              <a:spcBef>
                <a:spcPts val="0"/>
              </a:spcBef>
              <a:spcAft>
                <a:spcPts val="0"/>
              </a:spcAft>
            </a:pPr>
            <a:r>
              <a:rPr sz="2500" b="1">
                <a:solidFill>
                  <a:srgbClr val="1A1A1A"/>
                </a:solidFill>
                <a:latin typeface="Red Hat Display"/>
              </a:rPr>
              <a:t>The red-to-green gauntlet</a:t>
            </a:r>
          </a:p>
        </p:txBody>
      </p:sp>
      <p:cxnSp>
        <p:nvCxnSpPr>
          <p:cNvPr id="5" name="Connector 4"/>
          <p:cNvCxnSpPr/>
          <p:nvPr/>
        </p:nvCxnSpPr>
        <p:spPr>
          <a:xfrm>
            <a:off x="841248" y="1554480"/>
            <a:ext cx="1371600" cy="0"/>
          </a:xfrm>
          <a:prstGeom prst="bentConnector3">
            <a:avLst/>
          </a:prstGeom>
          <a:ln w="31750">
            <a:solidFill>
              <a:srgbClr val="EE0000"/>
            </a:solidFill>
          </a:ln>
          <a:effectLst/>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841248" y="1664208"/>
            <a:ext cx="10515600" cy="365760"/>
          </a:xfrm>
          <a:prstGeom prst="rect">
            <a:avLst/>
          </a:prstGeom>
          <a:noFill/>
        </p:spPr>
        <p:txBody>
          <a:bodyPr wrap="square" anchor="t" lIns="0" rIns="0" tIns="0" bIns="0">
            <a:spAutoFit/>
          </a:bodyPr>
          <a:lstStyle/>
          <a:p>
            <a:pPr algn="l">
              <a:lnSpc>
                <a:spcPct val="106000"/>
              </a:lnSpc>
              <a:spcBef>
                <a:spcPts val="0"/>
              </a:spcBef>
              <a:spcAft>
                <a:spcPts val="0"/>
              </a:spcAft>
            </a:pPr>
            <a:r>
              <a:rPr sz="1350" b="0">
                <a:solidFill>
                  <a:srgbClr val="555960"/>
                </a:solidFill>
                <a:latin typeface="Red Hat Text"/>
              </a:rPr>
              <a:t>five gates, five fixes, one green run</a:t>
            </a:r>
          </a:p>
        </p:txBody>
      </p:sp>
      <p:sp>
        <p:nvSpPr>
          <p:cNvPr id="7" name="Rounded Rectangle 6"/>
          <p:cNvSpPr/>
          <p:nvPr/>
        </p:nvSpPr>
        <p:spPr>
          <a:xfrm>
            <a:off x="841248" y="2670048"/>
            <a:ext cx="5715000" cy="438912"/>
          </a:xfrm>
          <a:prstGeom prst="roundRect">
            <a:avLst>
              <a:gd name="adj" fmla="val 6000"/>
            </a:avLst>
          </a:prstGeom>
          <a:solidFill>
            <a:srgbClr val="F5F6F8"/>
          </a:solidFill>
          <a:ln w="12700">
            <a:solidFill>
              <a:srgbClr val="DDE1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check_steel.png"/>
          <p:cNvPicPr>
            <a:picLocks noChangeAspect="1"/>
          </p:cNvPicPr>
          <p:nvPr/>
        </p:nvPicPr>
        <p:blipFill>
          <a:blip r:embed="rId3"/>
          <a:stretch>
            <a:fillRect/>
          </a:stretch>
        </p:blipFill>
        <p:spPr>
          <a:xfrm>
            <a:off x="987552" y="2770632"/>
            <a:ext cx="237744" cy="237744"/>
          </a:xfrm>
          <a:prstGeom prst="rect">
            <a:avLst/>
          </a:prstGeom>
        </p:spPr>
      </p:pic>
      <p:sp>
        <p:nvSpPr>
          <p:cNvPr id="9" name="TextBox 8"/>
          <p:cNvSpPr txBox="1"/>
          <p:nvPr/>
        </p:nvSpPr>
        <p:spPr>
          <a:xfrm>
            <a:off x="1353312" y="2670048"/>
            <a:ext cx="5029200" cy="438912"/>
          </a:xfrm>
          <a:prstGeom prst="rect">
            <a:avLst/>
          </a:prstGeom>
          <a:noFill/>
        </p:spPr>
        <p:txBody>
          <a:bodyPr wrap="square" anchor="ctr" lIns="0" rIns="0" tIns="0" bIns="0">
            <a:spAutoFit/>
          </a:bodyPr>
          <a:lstStyle/>
          <a:p>
            <a:pPr algn="l">
              <a:lnSpc>
                <a:spcPct val="106000"/>
              </a:lnSpc>
              <a:spcBef>
                <a:spcPts val="0"/>
              </a:spcBef>
              <a:spcAft>
                <a:spcPts val="0"/>
              </a:spcAft>
            </a:pPr>
            <a:r>
              <a:rPr sz="1200" b="0">
                <a:solidFill>
                  <a:srgbClr val="1A1A1A"/>
                </a:solidFill>
                <a:latin typeface="Red Hat Text"/>
              </a:rPr>
              <a:t>The demo arc: ONE seeded branch, five real flaws, every gate starts RED</a:t>
            </a:r>
          </a:p>
        </p:txBody>
      </p:sp>
      <p:sp>
        <p:nvSpPr>
          <p:cNvPr id="10" name="Rounded Rectangle 9"/>
          <p:cNvSpPr/>
          <p:nvPr/>
        </p:nvSpPr>
        <p:spPr>
          <a:xfrm>
            <a:off x="841248" y="3182112"/>
            <a:ext cx="5715000" cy="438912"/>
          </a:xfrm>
          <a:prstGeom prst="roundRect">
            <a:avLst>
              <a:gd name="adj" fmla="val 6000"/>
            </a:avLst>
          </a:prstGeom>
          <a:solidFill>
            <a:srgbClr val="F5F6F8"/>
          </a:solidFill>
          <a:ln w="12700">
            <a:solidFill>
              <a:srgbClr val="DDE1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1" name="Picture 10" descr="check_steel.png"/>
          <p:cNvPicPr>
            <a:picLocks noChangeAspect="1"/>
          </p:cNvPicPr>
          <p:nvPr/>
        </p:nvPicPr>
        <p:blipFill>
          <a:blip r:embed="rId3"/>
          <a:stretch>
            <a:fillRect/>
          </a:stretch>
        </p:blipFill>
        <p:spPr>
          <a:xfrm>
            <a:off x="987552" y="3282696"/>
            <a:ext cx="237744" cy="237744"/>
          </a:xfrm>
          <a:prstGeom prst="rect">
            <a:avLst/>
          </a:prstGeom>
        </p:spPr>
      </p:pic>
      <p:sp>
        <p:nvSpPr>
          <p:cNvPr id="12" name="TextBox 11"/>
          <p:cNvSpPr txBox="1"/>
          <p:nvPr/>
        </p:nvSpPr>
        <p:spPr>
          <a:xfrm>
            <a:off x="1353312" y="3182112"/>
            <a:ext cx="5029200" cy="438912"/>
          </a:xfrm>
          <a:prstGeom prst="rect">
            <a:avLst/>
          </a:prstGeom>
          <a:noFill/>
        </p:spPr>
        <p:txBody>
          <a:bodyPr wrap="square" anchor="ctr" lIns="0" rIns="0" tIns="0" bIns="0">
            <a:spAutoFit/>
          </a:bodyPr>
          <a:lstStyle/>
          <a:p>
            <a:pPr algn="l">
              <a:lnSpc>
                <a:spcPct val="106000"/>
              </a:lnSpc>
              <a:spcBef>
                <a:spcPts val="0"/>
              </a:spcBef>
              <a:spcAft>
                <a:spcPts val="0"/>
              </a:spcAft>
            </a:pPr>
            <a:r>
              <a:rPr sz="1200" b="0">
                <a:solidFill>
                  <a:srgbClr val="1A1A1A"/>
                </a:solidFill>
                <a:latin typeface="Red Hat Text"/>
              </a:rPr>
              <a:t>SAST red → externalize the hard-coded secret (Config, Secrets &amp; Multi-Environment's pattern) → green, and the next gate fires</a:t>
            </a:r>
          </a:p>
        </p:txBody>
      </p:sp>
      <p:sp>
        <p:nvSpPr>
          <p:cNvPr id="13" name="Rounded Rectangle 12"/>
          <p:cNvSpPr/>
          <p:nvPr/>
        </p:nvSpPr>
        <p:spPr>
          <a:xfrm>
            <a:off x="841248" y="3694176"/>
            <a:ext cx="5715000" cy="438912"/>
          </a:xfrm>
          <a:prstGeom prst="roundRect">
            <a:avLst>
              <a:gd name="adj" fmla="val 6000"/>
            </a:avLst>
          </a:prstGeom>
          <a:solidFill>
            <a:srgbClr val="F5F6F8"/>
          </a:solidFill>
          <a:ln w="12700">
            <a:solidFill>
              <a:srgbClr val="DDE1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4" name="Picture 13" descr="check_steel.png"/>
          <p:cNvPicPr>
            <a:picLocks noChangeAspect="1"/>
          </p:cNvPicPr>
          <p:nvPr/>
        </p:nvPicPr>
        <p:blipFill>
          <a:blip r:embed="rId3"/>
          <a:stretch>
            <a:fillRect/>
          </a:stretch>
        </p:blipFill>
        <p:spPr>
          <a:xfrm>
            <a:off x="987552" y="3794760"/>
            <a:ext cx="237744" cy="237744"/>
          </a:xfrm>
          <a:prstGeom prst="rect">
            <a:avLst/>
          </a:prstGeom>
        </p:spPr>
      </p:pic>
      <p:sp>
        <p:nvSpPr>
          <p:cNvPr id="15" name="TextBox 14"/>
          <p:cNvSpPr txBox="1"/>
          <p:nvPr/>
        </p:nvSpPr>
        <p:spPr>
          <a:xfrm>
            <a:off x="1353312" y="3694176"/>
            <a:ext cx="5029200" cy="438912"/>
          </a:xfrm>
          <a:prstGeom prst="rect">
            <a:avLst/>
          </a:prstGeom>
          <a:noFill/>
        </p:spPr>
        <p:txBody>
          <a:bodyPr wrap="square" anchor="ctr" lIns="0" rIns="0" tIns="0" bIns="0">
            <a:spAutoFit/>
          </a:bodyPr>
          <a:lstStyle/>
          <a:p>
            <a:pPr algn="l">
              <a:lnSpc>
                <a:spcPct val="106000"/>
              </a:lnSpc>
              <a:spcBef>
                <a:spcPts val="0"/>
              </a:spcBef>
              <a:spcAft>
                <a:spcPts val="0"/>
              </a:spcAft>
            </a:pPr>
            <a:r>
              <a:rPr sz="1200" b="0">
                <a:solidFill>
                  <a:srgbClr val="1A1A1A"/>
                </a:solidFill>
                <a:latin typeface="Red Hat Text"/>
              </a:rPr>
              <a:t>SCA red → drop the vulnerable `commons-collections` dependency → green</a:t>
            </a:r>
          </a:p>
        </p:txBody>
      </p:sp>
      <p:sp>
        <p:nvSpPr>
          <p:cNvPr id="16" name="Rounded Rectangle 15"/>
          <p:cNvSpPr/>
          <p:nvPr/>
        </p:nvSpPr>
        <p:spPr>
          <a:xfrm>
            <a:off x="841248" y="4206240"/>
            <a:ext cx="5715000" cy="438912"/>
          </a:xfrm>
          <a:prstGeom prst="roundRect">
            <a:avLst>
              <a:gd name="adj" fmla="val 6000"/>
            </a:avLst>
          </a:prstGeom>
          <a:solidFill>
            <a:srgbClr val="F5F6F8"/>
          </a:solidFill>
          <a:ln w="12700">
            <a:solidFill>
              <a:srgbClr val="DDE1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7" name="Picture 16" descr="check_steel.png"/>
          <p:cNvPicPr>
            <a:picLocks noChangeAspect="1"/>
          </p:cNvPicPr>
          <p:nvPr/>
        </p:nvPicPr>
        <p:blipFill>
          <a:blip r:embed="rId3"/>
          <a:stretch>
            <a:fillRect/>
          </a:stretch>
        </p:blipFill>
        <p:spPr>
          <a:xfrm>
            <a:off x="987552" y="4306824"/>
            <a:ext cx="237744" cy="237744"/>
          </a:xfrm>
          <a:prstGeom prst="rect">
            <a:avLst/>
          </a:prstGeom>
        </p:spPr>
      </p:pic>
      <p:sp>
        <p:nvSpPr>
          <p:cNvPr id="18" name="TextBox 17"/>
          <p:cNvSpPr txBox="1"/>
          <p:nvPr/>
        </p:nvSpPr>
        <p:spPr>
          <a:xfrm>
            <a:off x="1353312" y="4206240"/>
            <a:ext cx="5029200" cy="438912"/>
          </a:xfrm>
          <a:prstGeom prst="rect">
            <a:avLst/>
          </a:prstGeom>
          <a:noFill/>
        </p:spPr>
        <p:txBody>
          <a:bodyPr wrap="square" anchor="ctr" lIns="0" rIns="0" tIns="0" bIns="0">
            <a:spAutoFit/>
          </a:bodyPr>
          <a:lstStyle/>
          <a:p>
            <a:pPr algn="l">
              <a:lnSpc>
                <a:spcPct val="106000"/>
              </a:lnSpc>
              <a:spcBef>
                <a:spcPts val="0"/>
              </a:spcBef>
              <a:spcAft>
                <a:spcPts val="0"/>
              </a:spcAft>
            </a:pPr>
            <a:r>
              <a:rPr sz="1200" b="0">
                <a:solidFill>
                  <a:srgbClr val="1A1A1A"/>
                </a:solidFill>
                <a:latin typeface="Red Hat Text"/>
              </a:rPr>
              <a:t>Image red → stop baking log4shell into the image → green (defense in depth, live)</a:t>
            </a:r>
          </a:p>
        </p:txBody>
      </p:sp>
      <p:sp>
        <p:nvSpPr>
          <p:cNvPr id="19" name="Rounded Rectangle 18"/>
          <p:cNvSpPr/>
          <p:nvPr/>
        </p:nvSpPr>
        <p:spPr>
          <a:xfrm>
            <a:off x="841248" y="4718304"/>
            <a:ext cx="5715000" cy="438912"/>
          </a:xfrm>
          <a:prstGeom prst="roundRect">
            <a:avLst>
              <a:gd name="adj" fmla="val 6000"/>
            </a:avLst>
          </a:prstGeom>
          <a:solidFill>
            <a:srgbClr val="F5F6F8"/>
          </a:solidFill>
          <a:ln w="12700">
            <a:solidFill>
              <a:srgbClr val="DDE1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0" name="Picture 19" descr="check_steel.png"/>
          <p:cNvPicPr>
            <a:picLocks noChangeAspect="1"/>
          </p:cNvPicPr>
          <p:nvPr/>
        </p:nvPicPr>
        <p:blipFill>
          <a:blip r:embed="rId3"/>
          <a:stretch>
            <a:fillRect/>
          </a:stretch>
        </p:blipFill>
        <p:spPr>
          <a:xfrm>
            <a:off x="987552" y="4818888"/>
            <a:ext cx="237744" cy="237744"/>
          </a:xfrm>
          <a:prstGeom prst="rect">
            <a:avLst/>
          </a:prstGeom>
        </p:spPr>
      </p:pic>
      <p:sp>
        <p:nvSpPr>
          <p:cNvPr id="21" name="TextBox 20"/>
          <p:cNvSpPr txBox="1"/>
          <p:nvPr/>
        </p:nvSpPr>
        <p:spPr>
          <a:xfrm>
            <a:off x="1353312" y="4718304"/>
            <a:ext cx="5029200" cy="438912"/>
          </a:xfrm>
          <a:prstGeom prst="rect">
            <a:avLst/>
          </a:prstGeom>
          <a:noFill/>
        </p:spPr>
        <p:txBody>
          <a:bodyPr wrap="square" anchor="ctr" lIns="0" rIns="0" tIns="0" bIns="0">
            <a:spAutoFit/>
          </a:bodyPr>
          <a:lstStyle/>
          <a:p>
            <a:pPr algn="l">
              <a:lnSpc>
                <a:spcPct val="106000"/>
              </a:lnSpc>
              <a:spcBef>
                <a:spcPts val="0"/>
              </a:spcBef>
              <a:spcAft>
                <a:spcPts val="0"/>
              </a:spcAft>
            </a:pPr>
            <a:r>
              <a:rPr sz="1200" b="0">
                <a:solidFill>
                  <a:srgbClr val="1A1A1A"/>
                </a:solidFill>
                <a:latin typeface="Red Hat Text"/>
              </a:rPr>
              <a:t>Config red → restore the hardened Deployment manifest → green, the app deploys and gets its Route</a:t>
            </a:r>
          </a:p>
        </p:txBody>
      </p:sp>
      <p:sp>
        <p:nvSpPr>
          <p:cNvPr id="22" name="Rounded Rectangle 21"/>
          <p:cNvSpPr/>
          <p:nvPr/>
        </p:nvSpPr>
        <p:spPr>
          <a:xfrm>
            <a:off x="841248" y="5230368"/>
            <a:ext cx="5715000" cy="438912"/>
          </a:xfrm>
          <a:prstGeom prst="roundRect">
            <a:avLst>
              <a:gd name="adj" fmla="val 6000"/>
            </a:avLst>
          </a:prstGeom>
          <a:solidFill>
            <a:srgbClr val="F5F6F8"/>
          </a:solidFill>
          <a:ln w="12700">
            <a:solidFill>
              <a:srgbClr val="DDE1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3" name="Picture 22" descr="check_steel.png"/>
          <p:cNvPicPr>
            <a:picLocks noChangeAspect="1"/>
          </p:cNvPicPr>
          <p:nvPr/>
        </p:nvPicPr>
        <p:blipFill>
          <a:blip r:embed="rId3"/>
          <a:stretch>
            <a:fillRect/>
          </a:stretch>
        </p:blipFill>
        <p:spPr>
          <a:xfrm>
            <a:off x="987552" y="5330952"/>
            <a:ext cx="237744" cy="237744"/>
          </a:xfrm>
          <a:prstGeom prst="rect">
            <a:avLst/>
          </a:prstGeom>
        </p:spPr>
      </p:pic>
      <p:sp>
        <p:nvSpPr>
          <p:cNvPr id="24" name="TextBox 23"/>
          <p:cNvSpPr txBox="1"/>
          <p:nvPr/>
        </p:nvSpPr>
        <p:spPr>
          <a:xfrm>
            <a:off x="1353312" y="5230368"/>
            <a:ext cx="5029200" cy="438912"/>
          </a:xfrm>
          <a:prstGeom prst="rect">
            <a:avLst/>
          </a:prstGeom>
          <a:noFill/>
        </p:spPr>
        <p:txBody>
          <a:bodyPr wrap="square" anchor="ctr" lIns="0" rIns="0" tIns="0" bIns="0">
            <a:spAutoFit/>
          </a:bodyPr>
          <a:lstStyle/>
          <a:p>
            <a:pPr algn="l">
              <a:lnSpc>
                <a:spcPct val="106000"/>
              </a:lnSpc>
              <a:spcBef>
                <a:spcPts val="0"/>
              </a:spcBef>
              <a:spcAft>
                <a:spcPts val="0"/>
              </a:spcAft>
            </a:pPr>
            <a:r>
              <a:rPr sz="1200" b="0">
                <a:solidFill>
                  <a:srgbClr val="1A1A1A"/>
                </a:solidFill>
                <a:latin typeface="Red Hat Text"/>
              </a:rPr>
              <a:t>DAST red → add the HTTP security headers → EVERY gate green, the Route opens in the browser</a:t>
            </a:r>
          </a:p>
        </p:txBody>
      </p:sp>
      <p:sp>
        <p:nvSpPr>
          <p:cNvPr id="25" name="Rounded Rectangle 24"/>
          <p:cNvSpPr/>
          <p:nvPr/>
        </p:nvSpPr>
        <p:spPr>
          <a:xfrm>
            <a:off x="6812280" y="2670048"/>
            <a:ext cx="4538167" cy="2999232"/>
          </a:xfrm>
          <a:prstGeom prst="roundRect">
            <a:avLst>
              <a:gd name="adj" fmla="val 4000"/>
            </a:avLst>
          </a:prstGeom>
          <a:solidFill>
            <a:srgbClr val="FFFFFF"/>
          </a:solidFill>
          <a:ln w="15240">
            <a:solidFill>
              <a:srgbClr val="DDE1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ounded Rectangle 25"/>
          <p:cNvSpPr/>
          <p:nvPr/>
        </p:nvSpPr>
        <p:spPr>
          <a:xfrm>
            <a:off x="7013448" y="2871216"/>
            <a:ext cx="1298448" cy="310896"/>
          </a:xfrm>
          <a:prstGeom prst="roundRect">
            <a:avLst>
              <a:gd name="adj" fmla="val 50000"/>
            </a:avLst>
          </a:prstGeom>
          <a:solidFill>
            <a:srgbClr val="FCEC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7013448" y="2871216"/>
            <a:ext cx="1298448" cy="310896"/>
          </a:xfrm>
          <a:prstGeom prst="rect">
            <a:avLst/>
          </a:prstGeom>
          <a:noFill/>
        </p:spPr>
        <p:txBody>
          <a:bodyPr wrap="none" anchor="ctr" lIns="0" rIns="0" tIns="0" bIns="0">
            <a:spAutoFit/>
          </a:bodyPr>
          <a:lstStyle/>
          <a:p>
            <a:pPr algn="ctr">
              <a:lnSpc>
                <a:spcPct val="106000"/>
              </a:lnSpc>
              <a:spcBef>
                <a:spcPts val="0"/>
              </a:spcBef>
              <a:spcAft>
                <a:spcPts val="0"/>
              </a:spcAft>
            </a:pPr>
            <a:r>
              <a:rPr sz="850" b="1">
                <a:solidFill>
                  <a:srgbClr val="B80000"/>
                </a:solidFill>
                <a:latin typeface="Red Hat Display"/>
              </a:rPr>
              <a:t>MEDIA PASS</a:t>
            </a:r>
          </a:p>
        </p:txBody>
      </p:sp>
      <p:pic>
        <p:nvPicPr>
          <p:cNvPr id="28" name="Picture 27" descr="eye_slate.png"/>
          <p:cNvPicPr>
            <a:picLocks noChangeAspect="1"/>
          </p:cNvPicPr>
          <p:nvPr/>
        </p:nvPicPr>
        <p:blipFill>
          <a:blip r:embed="rId4"/>
          <a:stretch>
            <a:fillRect/>
          </a:stretch>
        </p:blipFill>
        <p:spPr>
          <a:xfrm>
            <a:off x="8843619" y="3383280"/>
            <a:ext cx="475488" cy="475488"/>
          </a:xfrm>
          <a:prstGeom prst="rect">
            <a:avLst/>
          </a:prstGeom>
        </p:spPr>
      </p:pic>
      <p:sp>
        <p:nvSpPr>
          <p:cNvPr id="29" name="TextBox 28"/>
          <p:cNvSpPr txBox="1"/>
          <p:nvPr/>
        </p:nvSpPr>
        <p:spPr>
          <a:xfrm>
            <a:off x="7050024" y="3995928"/>
            <a:ext cx="4062679" cy="1536192"/>
          </a:xfrm>
          <a:prstGeom prst="rect">
            <a:avLst/>
          </a:prstGeom>
          <a:noFill/>
        </p:spPr>
        <p:txBody>
          <a:bodyPr wrap="square" anchor="t" lIns="0" rIns="0" tIns="0" bIns="0">
            <a:spAutoFit/>
          </a:bodyPr>
          <a:lstStyle/>
          <a:p>
            <a:pPr algn="l">
              <a:lnSpc>
                <a:spcPct val="120000"/>
              </a:lnSpc>
              <a:spcBef>
                <a:spcPts val="0"/>
              </a:spcBef>
              <a:spcAft>
                <a:spcPts val="0"/>
              </a:spcAft>
            </a:pPr>
            <a:r>
              <a:rPr sz="950" b="0">
                <a:solidFill>
                  <a:srgbClr val="8A9099"/>
                </a:solidFill>
                <a:latin typeface="Red Hat Text"/>
              </a:rPr>
              <a:t>The wrap-up diagram app-security-testing-02-red-to-green.svg — the `seed-appsec` branch ("five flaws · every gate RED") flowing left to right through five fix steps ("externalize secret" · "drop vuln dep" · "stop baking log4shell" · "harden manifest" · "add headers") into a single green end state "every gate GREEN · scanned · signed · deployed."</a:t>
            </a:r>
          </a:p>
        </p:txBody>
      </p:sp>
      <p:cxnSp>
        <p:nvCxnSpPr>
          <p:cNvPr id="30" name="Connector 29"/>
          <p:cNvCxnSpPr/>
          <p:nvPr/>
        </p:nvCxnSpPr>
        <p:spPr>
          <a:xfrm>
            <a:off x="841248" y="6437376"/>
            <a:ext cx="10509199" cy="0"/>
          </a:xfrm>
          <a:prstGeom prst="bentConnector3">
            <a:avLst/>
          </a:prstGeom>
          <a:ln w="12700">
            <a:solidFill>
              <a:srgbClr val="DDE1E6"/>
            </a:solidFill>
          </a:ln>
          <a:effectLst/>
        </p:spPr>
        <p:style>
          <a:lnRef idx="2">
            <a:schemeClr val="accent1"/>
          </a:lnRef>
          <a:fillRef idx="0">
            <a:schemeClr val="accent1"/>
          </a:fillRef>
          <a:effectRef idx="1">
            <a:schemeClr val="accent1"/>
          </a:effectRef>
          <a:fontRef idx="minor">
            <a:schemeClr val="tx1"/>
          </a:fontRef>
        </p:style>
      </p:cxnSp>
      <p:sp>
        <p:nvSpPr>
          <p:cNvPr id="31" name="TextBox 30"/>
          <p:cNvSpPr txBox="1"/>
          <p:nvPr/>
        </p:nvSpPr>
        <p:spPr>
          <a:xfrm>
            <a:off x="841248" y="6473952"/>
            <a:ext cx="7315200" cy="274320"/>
          </a:xfrm>
          <a:prstGeom prst="rect">
            <a:avLst/>
          </a:prstGeom>
          <a:noFill/>
        </p:spPr>
        <p:txBody>
          <a:bodyPr wrap="square" anchor="t" lIns="0" rIns="0" tIns="0" bIns="0">
            <a:spAutoFit/>
          </a:bodyPr>
          <a:lstStyle/>
          <a:p>
            <a:pPr algn="l">
              <a:lnSpc>
                <a:spcPct val="106000"/>
              </a:lnSpc>
              <a:spcBef>
                <a:spcPts val="0"/>
              </a:spcBef>
              <a:spcAft>
                <a:spcPts val="0"/>
              </a:spcAft>
            </a:pPr>
            <a:r>
              <a:rPr sz="950" b="0">
                <a:solidFill>
                  <a:srgbClr val="8A9099"/>
                </a:solidFill>
                <a:latin typeface="Red Hat Text"/>
              </a:rPr>
              <a:t>CONFIDENTIAL</a:t>
            </a:r>
          </a:p>
        </p:txBody>
      </p:sp>
      <p:sp>
        <p:nvSpPr>
          <p:cNvPr id="32" name="TextBox 31"/>
          <p:cNvSpPr txBox="1"/>
          <p:nvPr/>
        </p:nvSpPr>
        <p:spPr>
          <a:xfrm>
            <a:off x="10801807" y="6473952"/>
            <a:ext cx="548640" cy="274320"/>
          </a:xfrm>
          <a:prstGeom prst="rect">
            <a:avLst/>
          </a:prstGeom>
          <a:noFill/>
        </p:spPr>
        <p:txBody>
          <a:bodyPr wrap="square" anchor="t" lIns="0" rIns="0" tIns="0" bIns="0">
            <a:spAutoFit/>
          </a:bodyPr>
          <a:lstStyle/>
          <a:p>
            <a:pPr algn="r">
              <a:lnSpc>
                <a:spcPct val="106000"/>
              </a:lnSpc>
              <a:spcBef>
                <a:spcPts val="0"/>
              </a:spcBef>
              <a:spcAft>
                <a:spcPts val="0"/>
              </a:spcAft>
            </a:pPr>
            <a:r>
              <a:rPr sz="950" b="0">
                <a:solidFill>
                  <a:srgbClr val="8A9099"/>
                </a:solidFill>
                <a:latin typeface="Red Hat Text"/>
              </a:rPr>
              <a:t>58</a:t>
            </a:r>
          </a:p>
        </p:txBody>
      </p:sp>
    </p:spTree>
  </p:cSld>
  <p:clrMapOvr>
    <a:masterClrMapping/>
  </p:clrMapOvr>
</p:sld>
</file>

<file path=ppt/slides/slide6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redhat_logo.jpg"/>
          <p:cNvPicPr>
            <a:picLocks noChangeAspect="1"/>
          </p:cNvPicPr>
          <p:nvPr/>
        </p:nvPicPr>
        <p:blipFill>
          <a:blip r:embed="rId2"/>
          <a:stretch>
            <a:fillRect/>
          </a:stretch>
        </p:blipFill>
        <p:spPr>
          <a:xfrm>
            <a:off x="10326319" y="475488"/>
            <a:ext cx="1024128" cy="242248"/>
          </a:xfrm>
          <a:prstGeom prst="rect">
            <a:avLst/>
          </a:prstGeom>
        </p:spPr>
      </p:pic>
      <p:sp>
        <p:nvSpPr>
          <p:cNvPr id="3" name="TextBox 2"/>
          <p:cNvSpPr txBox="1"/>
          <p:nvPr/>
        </p:nvSpPr>
        <p:spPr>
          <a:xfrm>
            <a:off x="841248" y="548640"/>
            <a:ext cx="8595360" cy="274320"/>
          </a:xfrm>
          <a:prstGeom prst="rect">
            <a:avLst/>
          </a:prstGeom>
          <a:noFill/>
        </p:spPr>
        <p:txBody>
          <a:bodyPr wrap="square" anchor="t" lIns="0" rIns="0" tIns="0" bIns="0">
            <a:spAutoFit/>
          </a:bodyPr>
          <a:lstStyle/>
          <a:p>
            <a:pPr algn="l">
              <a:lnSpc>
                <a:spcPct val="106000"/>
              </a:lnSpc>
              <a:spcBef>
                <a:spcPts val="0"/>
              </a:spcBef>
              <a:spcAft>
                <a:spcPts val="0"/>
              </a:spcAft>
            </a:pPr>
            <a:r>
              <a:rPr sz="1250" b="1" spc="220">
                <a:solidFill>
                  <a:srgbClr val="EE0000"/>
                </a:solidFill>
                <a:latin typeface="Red Hat Display"/>
              </a:rPr>
              <a:t>M08 · APPLICATION SECURITY TESTING</a:t>
            </a:r>
          </a:p>
        </p:txBody>
      </p:sp>
      <p:sp>
        <p:nvSpPr>
          <p:cNvPr id="4" name="TextBox 3"/>
          <p:cNvSpPr txBox="1"/>
          <p:nvPr/>
        </p:nvSpPr>
        <p:spPr>
          <a:xfrm>
            <a:off x="841248" y="877824"/>
            <a:ext cx="10515600" cy="548640"/>
          </a:xfrm>
          <a:prstGeom prst="rect">
            <a:avLst/>
          </a:prstGeom>
          <a:noFill/>
        </p:spPr>
        <p:txBody>
          <a:bodyPr wrap="none" anchor="t" lIns="0" rIns="0" tIns="0" bIns="0">
            <a:spAutoFit/>
          </a:bodyPr>
          <a:lstStyle/>
          <a:p>
            <a:pPr algn="l">
              <a:lnSpc>
                <a:spcPct val="100000"/>
              </a:lnSpc>
              <a:spcBef>
                <a:spcPts val="0"/>
              </a:spcBef>
              <a:spcAft>
                <a:spcPts val="0"/>
              </a:spcAft>
            </a:pPr>
            <a:r>
              <a:rPr sz="2500" b="1">
                <a:solidFill>
                  <a:srgbClr val="1A1A1A"/>
                </a:solidFill>
                <a:latin typeface="Red Hat Display"/>
              </a:rPr>
              <a:t>What's included, what's third-party [OCP]</a:t>
            </a:r>
          </a:p>
        </p:txBody>
      </p:sp>
      <p:cxnSp>
        <p:nvCxnSpPr>
          <p:cNvPr id="5" name="Connector 4"/>
          <p:cNvCxnSpPr/>
          <p:nvPr/>
        </p:nvCxnSpPr>
        <p:spPr>
          <a:xfrm>
            <a:off x="841248" y="1554480"/>
            <a:ext cx="1371600" cy="0"/>
          </a:xfrm>
          <a:prstGeom prst="bentConnector3">
            <a:avLst/>
          </a:prstGeom>
          <a:ln w="31750">
            <a:solidFill>
              <a:srgbClr val="EE0000"/>
            </a:solidFill>
          </a:ln>
          <a:effectLst/>
        </p:spPr>
        <p:style>
          <a:lnRef idx="2">
            <a:schemeClr val="accent1"/>
          </a:lnRef>
          <a:fillRef idx="0">
            <a:schemeClr val="accent1"/>
          </a:fillRef>
          <a:effectRef idx="1">
            <a:schemeClr val="accent1"/>
          </a:effectRef>
          <a:fontRef idx="minor">
            <a:schemeClr val="tx1"/>
          </a:fontRef>
        </p:style>
      </p:cxnSp>
      <p:sp>
        <p:nvSpPr>
          <p:cNvPr id="6" name="Rounded Rectangle 5"/>
          <p:cNvSpPr/>
          <p:nvPr/>
        </p:nvSpPr>
        <p:spPr>
          <a:xfrm>
            <a:off x="841248" y="2395728"/>
            <a:ext cx="5715000" cy="438912"/>
          </a:xfrm>
          <a:prstGeom prst="roundRect">
            <a:avLst>
              <a:gd name="adj" fmla="val 6000"/>
            </a:avLst>
          </a:prstGeom>
          <a:solidFill>
            <a:srgbClr val="F5F6F8"/>
          </a:solidFill>
          <a:ln w="12700">
            <a:solidFill>
              <a:srgbClr val="DDE1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check_steel.png"/>
          <p:cNvPicPr>
            <a:picLocks noChangeAspect="1"/>
          </p:cNvPicPr>
          <p:nvPr/>
        </p:nvPicPr>
        <p:blipFill>
          <a:blip r:embed="rId3"/>
          <a:stretch>
            <a:fillRect/>
          </a:stretch>
        </p:blipFill>
        <p:spPr>
          <a:xfrm>
            <a:off x="987552" y="2496312"/>
            <a:ext cx="237744" cy="237744"/>
          </a:xfrm>
          <a:prstGeom prst="rect">
            <a:avLst/>
          </a:prstGeom>
        </p:spPr>
      </p:pic>
      <p:sp>
        <p:nvSpPr>
          <p:cNvPr id="8" name="TextBox 7"/>
          <p:cNvSpPr txBox="1"/>
          <p:nvPr/>
        </p:nvSpPr>
        <p:spPr>
          <a:xfrm>
            <a:off x="1353312" y="2395728"/>
            <a:ext cx="5029200" cy="438912"/>
          </a:xfrm>
          <a:prstGeom prst="rect">
            <a:avLst/>
          </a:prstGeom>
          <a:noFill/>
        </p:spPr>
        <p:txBody>
          <a:bodyPr wrap="square" anchor="ctr" lIns="0" rIns="0" tIns="0" bIns="0">
            <a:spAutoFit/>
          </a:bodyPr>
          <a:lstStyle/>
          <a:p>
            <a:pPr algn="l">
              <a:lnSpc>
                <a:spcPct val="106000"/>
              </a:lnSpc>
              <a:spcBef>
                <a:spcPts val="0"/>
              </a:spcBef>
              <a:spcAft>
                <a:spcPts val="0"/>
              </a:spcAft>
            </a:pPr>
            <a:r>
              <a:rPr sz="1200" b="0">
                <a:solidFill>
                  <a:srgbClr val="1A1A1A"/>
                </a:solidFill>
                <a:latin typeface="Red Hat Text"/>
              </a:rPr>
              <a:t>[OCP]: the capstone runs on the INCLUDED OpenShift Pipelines and Red Hat Advanced Cluster Security</a:t>
            </a:r>
          </a:p>
        </p:txBody>
      </p:sp>
      <p:sp>
        <p:nvSpPr>
          <p:cNvPr id="9" name="Rounded Rectangle 8"/>
          <p:cNvSpPr/>
          <p:nvPr/>
        </p:nvSpPr>
        <p:spPr>
          <a:xfrm>
            <a:off x="841248" y="2907792"/>
            <a:ext cx="5715000" cy="438912"/>
          </a:xfrm>
          <a:prstGeom prst="roundRect">
            <a:avLst>
              <a:gd name="adj" fmla="val 6000"/>
            </a:avLst>
          </a:prstGeom>
          <a:solidFill>
            <a:srgbClr val="F5F6F8"/>
          </a:solidFill>
          <a:ln w="12700">
            <a:solidFill>
              <a:srgbClr val="DDE1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0" name="Picture 9" descr="check_steel.png"/>
          <p:cNvPicPr>
            <a:picLocks noChangeAspect="1"/>
          </p:cNvPicPr>
          <p:nvPr/>
        </p:nvPicPr>
        <p:blipFill>
          <a:blip r:embed="rId3"/>
          <a:stretch>
            <a:fillRect/>
          </a:stretch>
        </p:blipFill>
        <p:spPr>
          <a:xfrm>
            <a:off x="987552" y="3008376"/>
            <a:ext cx="237744" cy="237744"/>
          </a:xfrm>
          <a:prstGeom prst="rect">
            <a:avLst/>
          </a:prstGeom>
        </p:spPr>
      </p:pic>
      <p:sp>
        <p:nvSpPr>
          <p:cNvPr id="11" name="TextBox 10"/>
          <p:cNvSpPr txBox="1"/>
          <p:nvPr/>
        </p:nvSpPr>
        <p:spPr>
          <a:xfrm>
            <a:off x="1353312" y="2907792"/>
            <a:ext cx="5029200" cy="438912"/>
          </a:xfrm>
          <a:prstGeom prst="rect">
            <a:avLst/>
          </a:prstGeom>
          <a:noFill/>
        </p:spPr>
        <p:txBody>
          <a:bodyPr wrap="square" anchor="ctr" lIns="0" rIns="0" tIns="0" bIns="0">
            <a:spAutoFit/>
          </a:bodyPr>
          <a:lstStyle/>
          <a:p>
            <a:pPr algn="l">
              <a:lnSpc>
                <a:spcPct val="106000"/>
              </a:lnSpc>
              <a:spcBef>
                <a:spcPts val="0"/>
              </a:spcBef>
              <a:spcAft>
                <a:spcPts val="0"/>
              </a:spcAft>
            </a:pPr>
            <a:r>
              <a:rPr sz="1200" b="0">
                <a:solidFill>
                  <a:srgbClr val="1A1A1A"/>
                </a:solidFill>
                <a:latin typeface="Red Hat Text"/>
              </a:rPr>
              <a:t>The three SCANNERS are third-party open source — called out plainly so you know what you adopt</a:t>
            </a:r>
          </a:p>
        </p:txBody>
      </p:sp>
      <p:sp>
        <p:nvSpPr>
          <p:cNvPr id="12" name="Rounded Rectangle 11"/>
          <p:cNvSpPr/>
          <p:nvPr/>
        </p:nvSpPr>
        <p:spPr>
          <a:xfrm>
            <a:off x="841248" y="3419856"/>
            <a:ext cx="5715000" cy="438912"/>
          </a:xfrm>
          <a:prstGeom prst="roundRect">
            <a:avLst>
              <a:gd name="adj" fmla="val 6000"/>
            </a:avLst>
          </a:prstGeom>
          <a:solidFill>
            <a:srgbClr val="F5F6F8"/>
          </a:solidFill>
          <a:ln w="12700">
            <a:solidFill>
              <a:srgbClr val="DDE1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3" name="Picture 12" descr="check_steel.png"/>
          <p:cNvPicPr>
            <a:picLocks noChangeAspect="1"/>
          </p:cNvPicPr>
          <p:nvPr/>
        </p:nvPicPr>
        <p:blipFill>
          <a:blip r:embed="rId3"/>
          <a:stretch>
            <a:fillRect/>
          </a:stretch>
        </p:blipFill>
        <p:spPr>
          <a:xfrm>
            <a:off x="987552" y="3520440"/>
            <a:ext cx="237744" cy="237744"/>
          </a:xfrm>
          <a:prstGeom prst="rect">
            <a:avLst/>
          </a:prstGeom>
        </p:spPr>
      </p:pic>
      <p:sp>
        <p:nvSpPr>
          <p:cNvPr id="14" name="TextBox 13"/>
          <p:cNvSpPr txBox="1"/>
          <p:nvPr/>
        </p:nvSpPr>
        <p:spPr>
          <a:xfrm>
            <a:off x="1353312" y="3419856"/>
            <a:ext cx="5029200" cy="438912"/>
          </a:xfrm>
          <a:prstGeom prst="rect">
            <a:avLst/>
          </a:prstGeom>
          <a:noFill/>
        </p:spPr>
        <p:txBody>
          <a:bodyPr wrap="square" anchor="ctr" lIns="0" rIns="0" tIns="0" bIns="0">
            <a:spAutoFit/>
          </a:bodyPr>
          <a:lstStyle/>
          <a:p>
            <a:pPr algn="l">
              <a:lnSpc>
                <a:spcPct val="106000"/>
              </a:lnSpc>
              <a:spcBef>
                <a:spcPts val="0"/>
              </a:spcBef>
              <a:spcAft>
                <a:spcPts val="0"/>
              </a:spcAft>
            </a:pPr>
            <a:r>
              <a:rPr sz="1200" b="0">
                <a:solidFill>
                  <a:srgbClr val="1A1A1A"/>
                </a:solidFill>
                <a:latin typeface="Red Hat Text"/>
              </a:rPr>
              <a:t>SonarQube Community Build — SAST, quality gates, the dashboard (no pull-request analysis)</a:t>
            </a:r>
          </a:p>
        </p:txBody>
      </p:sp>
      <p:sp>
        <p:nvSpPr>
          <p:cNvPr id="15" name="Rounded Rectangle 14"/>
          <p:cNvSpPr/>
          <p:nvPr/>
        </p:nvSpPr>
        <p:spPr>
          <a:xfrm>
            <a:off x="841248" y="3931920"/>
            <a:ext cx="5715000" cy="438912"/>
          </a:xfrm>
          <a:prstGeom prst="roundRect">
            <a:avLst>
              <a:gd name="adj" fmla="val 6000"/>
            </a:avLst>
          </a:prstGeom>
          <a:solidFill>
            <a:srgbClr val="F5F6F8"/>
          </a:solidFill>
          <a:ln w="12700">
            <a:solidFill>
              <a:srgbClr val="DDE1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6" name="Picture 15" descr="check_steel.png"/>
          <p:cNvPicPr>
            <a:picLocks noChangeAspect="1"/>
          </p:cNvPicPr>
          <p:nvPr/>
        </p:nvPicPr>
        <p:blipFill>
          <a:blip r:embed="rId3"/>
          <a:stretch>
            <a:fillRect/>
          </a:stretch>
        </p:blipFill>
        <p:spPr>
          <a:xfrm>
            <a:off x="987552" y="4032504"/>
            <a:ext cx="237744" cy="237744"/>
          </a:xfrm>
          <a:prstGeom prst="rect">
            <a:avLst/>
          </a:prstGeom>
        </p:spPr>
      </p:pic>
      <p:sp>
        <p:nvSpPr>
          <p:cNvPr id="17" name="TextBox 16"/>
          <p:cNvSpPr txBox="1"/>
          <p:nvPr/>
        </p:nvSpPr>
        <p:spPr>
          <a:xfrm>
            <a:off x="1353312" y="3931920"/>
            <a:ext cx="5029200" cy="438912"/>
          </a:xfrm>
          <a:prstGeom prst="rect">
            <a:avLst/>
          </a:prstGeom>
          <a:noFill/>
        </p:spPr>
        <p:txBody>
          <a:bodyPr wrap="square" anchor="ctr" lIns="0" rIns="0" tIns="0" bIns="0">
            <a:spAutoFit/>
          </a:bodyPr>
          <a:lstStyle/>
          <a:p>
            <a:pPr algn="l">
              <a:lnSpc>
                <a:spcPct val="106000"/>
              </a:lnSpc>
              <a:spcBef>
                <a:spcPts val="0"/>
              </a:spcBef>
              <a:spcAft>
                <a:spcPts val="0"/>
              </a:spcAft>
            </a:pPr>
            <a:r>
              <a:rPr sz="1200" b="0">
                <a:solidFill>
                  <a:srgbClr val="1A1A1A"/>
                </a:solidFill>
                <a:latin typeface="Red Hat Text"/>
              </a:rPr>
              <a:t>Trivy — SCA, license inspection, and the CycloneDX SBOM (open source, from Aqua Security)</a:t>
            </a:r>
          </a:p>
        </p:txBody>
      </p:sp>
      <p:sp>
        <p:nvSpPr>
          <p:cNvPr id="18" name="Rounded Rectangle 17"/>
          <p:cNvSpPr/>
          <p:nvPr/>
        </p:nvSpPr>
        <p:spPr>
          <a:xfrm>
            <a:off x="841248" y="4443984"/>
            <a:ext cx="5715000" cy="438912"/>
          </a:xfrm>
          <a:prstGeom prst="roundRect">
            <a:avLst>
              <a:gd name="adj" fmla="val 6000"/>
            </a:avLst>
          </a:prstGeom>
          <a:solidFill>
            <a:srgbClr val="F5F6F8"/>
          </a:solidFill>
          <a:ln w="12700">
            <a:solidFill>
              <a:srgbClr val="DDE1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9" name="Picture 18" descr="check_steel.png"/>
          <p:cNvPicPr>
            <a:picLocks noChangeAspect="1"/>
          </p:cNvPicPr>
          <p:nvPr/>
        </p:nvPicPr>
        <p:blipFill>
          <a:blip r:embed="rId3"/>
          <a:stretch>
            <a:fillRect/>
          </a:stretch>
        </p:blipFill>
        <p:spPr>
          <a:xfrm>
            <a:off x="987552" y="4544568"/>
            <a:ext cx="237744" cy="237744"/>
          </a:xfrm>
          <a:prstGeom prst="rect">
            <a:avLst/>
          </a:prstGeom>
        </p:spPr>
      </p:pic>
      <p:sp>
        <p:nvSpPr>
          <p:cNvPr id="20" name="TextBox 19"/>
          <p:cNvSpPr txBox="1"/>
          <p:nvPr/>
        </p:nvSpPr>
        <p:spPr>
          <a:xfrm>
            <a:off x="1353312" y="4443984"/>
            <a:ext cx="5029200" cy="438912"/>
          </a:xfrm>
          <a:prstGeom prst="rect">
            <a:avLst/>
          </a:prstGeom>
          <a:noFill/>
        </p:spPr>
        <p:txBody>
          <a:bodyPr wrap="square" anchor="ctr" lIns="0" rIns="0" tIns="0" bIns="0">
            <a:spAutoFit/>
          </a:bodyPr>
          <a:lstStyle/>
          <a:p>
            <a:pPr algn="l">
              <a:lnSpc>
                <a:spcPct val="106000"/>
              </a:lnSpc>
              <a:spcBef>
                <a:spcPts val="0"/>
              </a:spcBef>
              <a:spcAft>
                <a:spcPts val="0"/>
              </a:spcAft>
            </a:pPr>
            <a:r>
              <a:rPr sz="1200" b="0">
                <a:solidFill>
                  <a:srgbClr val="1A1A1A"/>
                </a:solidFill>
                <a:latin typeface="Red Hat Text"/>
              </a:rPr>
              <a:t>ZAP — the baseline DAST scan (open source)</a:t>
            </a:r>
          </a:p>
        </p:txBody>
      </p:sp>
      <p:sp>
        <p:nvSpPr>
          <p:cNvPr id="21" name="Rounded Rectangle 20"/>
          <p:cNvSpPr/>
          <p:nvPr/>
        </p:nvSpPr>
        <p:spPr>
          <a:xfrm>
            <a:off x="841248" y="4956048"/>
            <a:ext cx="5715000" cy="438912"/>
          </a:xfrm>
          <a:prstGeom prst="roundRect">
            <a:avLst>
              <a:gd name="adj" fmla="val 6000"/>
            </a:avLst>
          </a:prstGeom>
          <a:solidFill>
            <a:srgbClr val="F5F6F8"/>
          </a:solidFill>
          <a:ln w="12700">
            <a:solidFill>
              <a:srgbClr val="DDE1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2" name="Picture 21" descr="check_steel.png"/>
          <p:cNvPicPr>
            <a:picLocks noChangeAspect="1"/>
          </p:cNvPicPr>
          <p:nvPr/>
        </p:nvPicPr>
        <p:blipFill>
          <a:blip r:embed="rId3"/>
          <a:stretch>
            <a:fillRect/>
          </a:stretch>
        </p:blipFill>
        <p:spPr>
          <a:xfrm>
            <a:off x="987552" y="5056632"/>
            <a:ext cx="237744" cy="237744"/>
          </a:xfrm>
          <a:prstGeom prst="rect">
            <a:avLst/>
          </a:prstGeom>
        </p:spPr>
      </p:pic>
      <p:sp>
        <p:nvSpPr>
          <p:cNvPr id="23" name="TextBox 22"/>
          <p:cNvSpPr txBox="1"/>
          <p:nvPr/>
        </p:nvSpPr>
        <p:spPr>
          <a:xfrm>
            <a:off x="1353312" y="4956048"/>
            <a:ext cx="5029200" cy="438912"/>
          </a:xfrm>
          <a:prstGeom prst="rect">
            <a:avLst/>
          </a:prstGeom>
          <a:noFill/>
        </p:spPr>
        <p:txBody>
          <a:bodyPr wrap="square" anchor="ctr" lIns="0" rIns="0" tIns="0" bIns="0">
            <a:spAutoFit/>
          </a:bodyPr>
          <a:lstStyle/>
          <a:p>
            <a:pPr algn="l">
              <a:lnSpc>
                <a:spcPct val="106000"/>
              </a:lnSpc>
              <a:spcBef>
                <a:spcPts val="0"/>
              </a:spcBef>
              <a:spcAft>
                <a:spcPts val="0"/>
              </a:spcAft>
            </a:pPr>
            <a:r>
              <a:rPr sz="1200" b="0">
                <a:solidFill>
                  <a:srgbClr val="1A1A1A"/>
                </a:solidFill>
                <a:latin typeface="Red Hat Text"/>
              </a:rPr>
              <a:t>The TECHNIQUE transfers — five gates, defense in depth, findings you can read; swap scanners freely</a:t>
            </a:r>
          </a:p>
        </p:txBody>
      </p:sp>
      <p:sp>
        <p:nvSpPr>
          <p:cNvPr id="24" name="Rounded Rectangle 23"/>
          <p:cNvSpPr/>
          <p:nvPr/>
        </p:nvSpPr>
        <p:spPr>
          <a:xfrm>
            <a:off x="6812280" y="2395728"/>
            <a:ext cx="4538167" cy="2999232"/>
          </a:xfrm>
          <a:prstGeom prst="roundRect">
            <a:avLst>
              <a:gd name="adj" fmla="val 4000"/>
            </a:avLst>
          </a:prstGeom>
          <a:solidFill>
            <a:srgbClr val="FFFFFF"/>
          </a:solidFill>
          <a:ln w="15240">
            <a:solidFill>
              <a:srgbClr val="DDE1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ounded Rectangle 24"/>
          <p:cNvSpPr/>
          <p:nvPr/>
        </p:nvSpPr>
        <p:spPr>
          <a:xfrm>
            <a:off x="7013448" y="2596896"/>
            <a:ext cx="1298448" cy="310896"/>
          </a:xfrm>
          <a:prstGeom prst="roundRect">
            <a:avLst>
              <a:gd name="adj" fmla="val 50000"/>
            </a:avLst>
          </a:prstGeom>
          <a:solidFill>
            <a:srgbClr val="FCEC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013448" y="2596896"/>
            <a:ext cx="1298448" cy="310896"/>
          </a:xfrm>
          <a:prstGeom prst="rect">
            <a:avLst/>
          </a:prstGeom>
          <a:noFill/>
        </p:spPr>
        <p:txBody>
          <a:bodyPr wrap="none" anchor="ctr" lIns="0" rIns="0" tIns="0" bIns="0">
            <a:spAutoFit/>
          </a:bodyPr>
          <a:lstStyle/>
          <a:p>
            <a:pPr algn="ctr">
              <a:lnSpc>
                <a:spcPct val="106000"/>
              </a:lnSpc>
              <a:spcBef>
                <a:spcPts val="0"/>
              </a:spcBef>
              <a:spcAft>
                <a:spcPts val="0"/>
              </a:spcAft>
            </a:pPr>
            <a:r>
              <a:rPr sz="850" b="1">
                <a:solidFill>
                  <a:srgbClr val="B80000"/>
                </a:solidFill>
                <a:latin typeface="Red Hat Display"/>
              </a:rPr>
              <a:t>MEDIA PASS</a:t>
            </a:r>
          </a:p>
        </p:txBody>
      </p:sp>
      <p:pic>
        <p:nvPicPr>
          <p:cNvPr id="27" name="Picture 26" descr="eye_slate.png"/>
          <p:cNvPicPr>
            <a:picLocks noChangeAspect="1"/>
          </p:cNvPicPr>
          <p:nvPr/>
        </p:nvPicPr>
        <p:blipFill>
          <a:blip r:embed="rId4"/>
          <a:stretch>
            <a:fillRect/>
          </a:stretch>
        </p:blipFill>
        <p:spPr>
          <a:xfrm>
            <a:off x="8843619" y="3108960"/>
            <a:ext cx="475488" cy="475488"/>
          </a:xfrm>
          <a:prstGeom prst="rect">
            <a:avLst/>
          </a:prstGeom>
        </p:spPr>
      </p:pic>
      <p:sp>
        <p:nvSpPr>
          <p:cNvPr id="28" name="TextBox 27"/>
          <p:cNvSpPr txBox="1"/>
          <p:nvPr/>
        </p:nvSpPr>
        <p:spPr>
          <a:xfrm>
            <a:off x="7050024" y="3721608"/>
            <a:ext cx="4062679" cy="1536192"/>
          </a:xfrm>
          <a:prstGeom prst="rect">
            <a:avLst/>
          </a:prstGeom>
          <a:noFill/>
        </p:spPr>
        <p:txBody>
          <a:bodyPr wrap="square" anchor="t" lIns="0" rIns="0" tIns="0" bIns="0">
            <a:spAutoFit/>
          </a:bodyPr>
          <a:lstStyle/>
          <a:p>
            <a:pPr algn="l">
              <a:lnSpc>
                <a:spcPct val="120000"/>
              </a:lnSpc>
              <a:spcBef>
                <a:spcPts val="0"/>
              </a:spcBef>
              <a:spcAft>
                <a:spcPts val="0"/>
              </a:spcAft>
            </a:pPr>
            <a:r>
              <a:rPr sz="950" b="0">
                <a:solidFill>
                  <a:srgbClr val="8A9099"/>
                </a:solidFill>
                <a:latin typeface="Red Hat Text"/>
              </a:rPr>
              <a:t>A two-column "what you adopt" card. LEFT "[OCP] — included" with the OpenShift Pipelines and RHACS marks. RIGHT "third-party open source" listing SonarQube Community Build, Trivy, and ZAP. Footer ribbon: "the technique is the skill; the scanners are swappable." No version numbers on the card (course standard).</a:t>
            </a:r>
          </a:p>
        </p:txBody>
      </p:sp>
      <p:cxnSp>
        <p:nvCxnSpPr>
          <p:cNvPr id="29" name="Connector 28"/>
          <p:cNvCxnSpPr/>
          <p:nvPr/>
        </p:nvCxnSpPr>
        <p:spPr>
          <a:xfrm>
            <a:off x="841248" y="6437376"/>
            <a:ext cx="10509199" cy="0"/>
          </a:xfrm>
          <a:prstGeom prst="bentConnector3">
            <a:avLst/>
          </a:prstGeom>
          <a:ln w="12700">
            <a:solidFill>
              <a:srgbClr val="DDE1E6"/>
            </a:solidFill>
          </a:ln>
          <a:effectLst/>
        </p:spPr>
        <p:style>
          <a:lnRef idx="2">
            <a:schemeClr val="accent1"/>
          </a:lnRef>
          <a:fillRef idx="0">
            <a:schemeClr val="accent1"/>
          </a:fillRef>
          <a:effectRef idx="1">
            <a:schemeClr val="accent1"/>
          </a:effectRef>
          <a:fontRef idx="minor">
            <a:schemeClr val="tx1"/>
          </a:fontRef>
        </p:style>
      </p:cxnSp>
      <p:sp>
        <p:nvSpPr>
          <p:cNvPr id="30" name="TextBox 29"/>
          <p:cNvSpPr txBox="1"/>
          <p:nvPr/>
        </p:nvSpPr>
        <p:spPr>
          <a:xfrm>
            <a:off x="841248" y="6473952"/>
            <a:ext cx="7315200" cy="274320"/>
          </a:xfrm>
          <a:prstGeom prst="rect">
            <a:avLst/>
          </a:prstGeom>
          <a:noFill/>
        </p:spPr>
        <p:txBody>
          <a:bodyPr wrap="square" anchor="t" lIns="0" rIns="0" tIns="0" bIns="0">
            <a:spAutoFit/>
          </a:bodyPr>
          <a:lstStyle/>
          <a:p>
            <a:pPr algn="l">
              <a:lnSpc>
                <a:spcPct val="106000"/>
              </a:lnSpc>
              <a:spcBef>
                <a:spcPts val="0"/>
              </a:spcBef>
              <a:spcAft>
                <a:spcPts val="0"/>
              </a:spcAft>
            </a:pPr>
            <a:r>
              <a:rPr sz="950" b="0">
                <a:solidFill>
                  <a:srgbClr val="8A9099"/>
                </a:solidFill>
                <a:latin typeface="Red Hat Text"/>
              </a:rPr>
              <a:t>CONFIDENTIAL</a:t>
            </a:r>
          </a:p>
        </p:txBody>
      </p:sp>
      <p:sp>
        <p:nvSpPr>
          <p:cNvPr id="31" name="TextBox 30"/>
          <p:cNvSpPr txBox="1"/>
          <p:nvPr/>
        </p:nvSpPr>
        <p:spPr>
          <a:xfrm>
            <a:off x="10801807" y="6473952"/>
            <a:ext cx="548640" cy="274320"/>
          </a:xfrm>
          <a:prstGeom prst="rect">
            <a:avLst/>
          </a:prstGeom>
          <a:noFill/>
        </p:spPr>
        <p:txBody>
          <a:bodyPr wrap="square" anchor="t" lIns="0" rIns="0" tIns="0" bIns="0">
            <a:spAutoFit/>
          </a:bodyPr>
          <a:lstStyle/>
          <a:p>
            <a:pPr algn="r">
              <a:lnSpc>
                <a:spcPct val="106000"/>
              </a:lnSpc>
              <a:spcBef>
                <a:spcPts val="0"/>
              </a:spcBef>
              <a:spcAft>
                <a:spcPts val="0"/>
              </a:spcAft>
            </a:pPr>
            <a:r>
              <a:rPr sz="950" b="0">
                <a:solidFill>
                  <a:srgbClr val="8A9099"/>
                </a:solidFill>
                <a:latin typeface="Red Hat Text"/>
              </a:rPr>
              <a:t>59</a:t>
            </a:r>
          </a:p>
        </p:txBody>
      </p:sp>
    </p:spTree>
  </p:cSld>
  <p:clrMapOvr>
    <a:masterClrMapping/>
  </p:clrMapOvr>
</p:sld>
</file>

<file path=ppt/slides/slide6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redhat_logo.jpg"/>
          <p:cNvPicPr>
            <a:picLocks noChangeAspect="1"/>
          </p:cNvPicPr>
          <p:nvPr/>
        </p:nvPicPr>
        <p:blipFill>
          <a:blip r:embed="rId2"/>
          <a:stretch>
            <a:fillRect/>
          </a:stretch>
        </p:blipFill>
        <p:spPr>
          <a:xfrm>
            <a:off x="841248" y="731520"/>
            <a:ext cx="1554480" cy="367699"/>
          </a:xfrm>
          <a:prstGeom prst="rect">
            <a:avLst/>
          </a:prstGeom>
        </p:spPr>
      </p:pic>
      <p:sp>
        <p:nvSpPr>
          <p:cNvPr id="3" name="TextBox 2"/>
          <p:cNvSpPr txBox="1"/>
          <p:nvPr/>
        </p:nvSpPr>
        <p:spPr>
          <a:xfrm>
            <a:off x="841248" y="2514600"/>
            <a:ext cx="9601200" cy="274320"/>
          </a:xfrm>
          <a:prstGeom prst="rect">
            <a:avLst/>
          </a:prstGeom>
          <a:noFill/>
        </p:spPr>
        <p:txBody>
          <a:bodyPr wrap="square" anchor="t" lIns="0" rIns="0" tIns="0" bIns="0">
            <a:spAutoFit/>
          </a:bodyPr>
          <a:lstStyle/>
          <a:p>
            <a:pPr algn="l">
              <a:lnSpc>
                <a:spcPct val="106000"/>
              </a:lnSpc>
              <a:spcBef>
                <a:spcPts val="0"/>
              </a:spcBef>
              <a:spcAft>
                <a:spcPts val="0"/>
              </a:spcAft>
            </a:pPr>
            <a:r>
              <a:rPr sz="1250" b="1" spc="180">
                <a:solidFill>
                  <a:srgbClr val="EE0000"/>
                </a:solidFill>
                <a:latin typeface="Red Hat Display"/>
              </a:rPr>
              <a:t>B · DELIVERY &amp; TRUST</a:t>
            </a:r>
          </a:p>
        </p:txBody>
      </p:sp>
      <p:sp>
        <p:nvSpPr>
          <p:cNvPr id="4" name="TextBox 3"/>
          <p:cNvSpPr txBox="1"/>
          <p:nvPr/>
        </p:nvSpPr>
        <p:spPr>
          <a:xfrm>
            <a:off x="841248" y="2880360"/>
            <a:ext cx="2103120" cy="1188720"/>
          </a:xfrm>
          <a:prstGeom prst="rect">
            <a:avLst/>
          </a:prstGeom>
          <a:noFill/>
        </p:spPr>
        <p:txBody>
          <a:bodyPr wrap="none" anchor="t" lIns="0" rIns="0" tIns="0" bIns="0">
            <a:spAutoFit/>
          </a:bodyPr>
          <a:lstStyle/>
          <a:p>
            <a:pPr algn="l">
              <a:lnSpc>
                <a:spcPct val="90000"/>
              </a:lnSpc>
              <a:spcBef>
                <a:spcPts val="0"/>
              </a:spcBef>
              <a:spcAft>
                <a:spcPts val="0"/>
              </a:spcAft>
            </a:pPr>
            <a:r>
              <a:rPr sz="5200" b="1">
                <a:solidFill>
                  <a:srgbClr val="B80000"/>
                </a:solidFill>
                <a:latin typeface="Red Hat Display"/>
              </a:rPr>
              <a:t>M09</a:t>
            </a:r>
          </a:p>
        </p:txBody>
      </p:sp>
      <p:sp>
        <p:nvSpPr>
          <p:cNvPr id="5" name="TextBox 4"/>
          <p:cNvSpPr txBox="1"/>
          <p:nvPr/>
        </p:nvSpPr>
        <p:spPr>
          <a:xfrm>
            <a:off x="3127248" y="2971800"/>
            <a:ext cx="8412480" cy="1188720"/>
          </a:xfrm>
          <a:prstGeom prst="rect">
            <a:avLst/>
          </a:prstGeom>
          <a:noFill/>
        </p:spPr>
        <p:txBody>
          <a:bodyPr wrap="square" anchor="t" lIns="0" rIns="0" tIns="0" bIns="0">
            <a:spAutoFit/>
          </a:bodyPr>
          <a:lstStyle/>
          <a:p>
            <a:pPr algn="l">
              <a:lnSpc>
                <a:spcPct val="102000"/>
              </a:lnSpc>
              <a:spcBef>
                <a:spcPts val="0"/>
              </a:spcBef>
              <a:spcAft>
                <a:spcPts val="0"/>
              </a:spcAft>
            </a:pPr>
            <a:r>
              <a:rPr sz="3000" b="1">
                <a:solidFill>
                  <a:srgbClr val="1A1A1A"/>
                </a:solidFill>
                <a:latin typeface="Red Hat Display"/>
              </a:rPr>
              <a:t>Trusted Software Supply Chain</a:t>
            </a:r>
          </a:p>
        </p:txBody>
      </p:sp>
      <p:cxnSp>
        <p:nvCxnSpPr>
          <p:cNvPr id="6" name="Connector 5"/>
          <p:cNvCxnSpPr/>
          <p:nvPr/>
        </p:nvCxnSpPr>
        <p:spPr>
          <a:xfrm>
            <a:off x="841248" y="4443984"/>
            <a:ext cx="1463040" cy="0"/>
          </a:xfrm>
          <a:prstGeom prst="bentConnector3">
            <a:avLst/>
          </a:prstGeom>
          <a:ln w="38100">
            <a:solidFill>
              <a:srgbClr val="EE0000"/>
            </a:solidFill>
          </a:ln>
          <a:effectLst/>
        </p:spPr>
        <p:style>
          <a:lnRef idx="2">
            <a:schemeClr val="accent1"/>
          </a:lnRef>
          <a:fillRef idx="0">
            <a:schemeClr val="accent1"/>
          </a:fillRef>
          <a:effectRef idx="1">
            <a:schemeClr val="accent1"/>
          </a:effectRef>
          <a:fontRef idx="minor">
            <a:schemeClr val="tx1"/>
          </a:fontRef>
        </p:style>
      </p:cxnSp>
    </p:spTree>
  </p:cSld>
  <p:clrMapOvr>
    <a:masterClrMapping/>
  </p:clrMapOvr>
</p:sld>
</file>

<file path=ppt/slides/slide6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redhat_logo.jpg"/>
          <p:cNvPicPr>
            <a:picLocks noChangeAspect="1"/>
          </p:cNvPicPr>
          <p:nvPr/>
        </p:nvPicPr>
        <p:blipFill>
          <a:blip r:embed="rId2"/>
          <a:stretch>
            <a:fillRect/>
          </a:stretch>
        </p:blipFill>
        <p:spPr>
          <a:xfrm>
            <a:off x="10326319" y="475488"/>
            <a:ext cx="1024128" cy="242248"/>
          </a:xfrm>
          <a:prstGeom prst="rect">
            <a:avLst/>
          </a:prstGeom>
        </p:spPr>
      </p:pic>
      <p:sp>
        <p:nvSpPr>
          <p:cNvPr id="3" name="TextBox 2"/>
          <p:cNvSpPr txBox="1"/>
          <p:nvPr/>
        </p:nvSpPr>
        <p:spPr>
          <a:xfrm>
            <a:off x="841248" y="548640"/>
            <a:ext cx="8595360" cy="274320"/>
          </a:xfrm>
          <a:prstGeom prst="rect">
            <a:avLst/>
          </a:prstGeom>
          <a:noFill/>
        </p:spPr>
        <p:txBody>
          <a:bodyPr wrap="square" anchor="t" lIns="0" rIns="0" tIns="0" bIns="0">
            <a:spAutoFit/>
          </a:bodyPr>
          <a:lstStyle/>
          <a:p>
            <a:pPr algn="l">
              <a:lnSpc>
                <a:spcPct val="106000"/>
              </a:lnSpc>
              <a:spcBef>
                <a:spcPts val="0"/>
              </a:spcBef>
              <a:spcAft>
                <a:spcPts val="0"/>
              </a:spcAft>
            </a:pPr>
            <a:r>
              <a:rPr sz="1250" b="1" spc="220">
                <a:solidFill>
                  <a:srgbClr val="EE0000"/>
                </a:solidFill>
                <a:latin typeface="Red Hat Display"/>
              </a:rPr>
              <a:t>M09 · TRUSTED SOFTWARE SUPPLY CHAIN</a:t>
            </a:r>
          </a:p>
        </p:txBody>
      </p:sp>
      <p:sp>
        <p:nvSpPr>
          <p:cNvPr id="4" name="TextBox 3"/>
          <p:cNvSpPr txBox="1"/>
          <p:nvPr/>
        </p:nvSpPr>
        <p:spPr>
          <a:xfrm>
            <a:off x="841248" y="877824"/>
            <a:ext cx="10515600" cy="548640"/>
          </a:xfrm>
          <a:prstGeom prst="rect">
            <a:avLst/>
          </a:prstGeom>
          <a:noFill/>
        </p:spPr>
        <p:txBody>
          <a:bodyPr wrap="none" anchor="t" lIns="0" rIns="0" tIns="0" bIns="0">
            <a:spAutoFit/>
          </a:bodyPr>
          <a:lstStyle/>
          <a:p>
            <a:pPr algn="l">
              <a:lnSpc>
                <a:spcPct val="100000"/>
              </a:lnSpc>
              <a:spcBef>
                <a:spcPts val="0"/>
              </a:spcBef>
              <a:spcAft>
                <a:spcPts val="0"/>
              </a:spcAft>
            </a:pPr>
            <a:r>
              <a:rPr sz="2500" b="1">
                <a:solidFill>
                  <a:srgbClr val="1A1A1A"/>
                </a:solidFill>
                <a:latin typeface="Red Hat Display"/>
              </a:rPr>
              <a:t>The audit Parasol couldn't pass</a:t>
            </a:r>
          </a:p>
        </p:txBody>
      </p:sp>
      <p:cxnSp>
        <p:nvCxnSpPr>
          <p:cNvPr id="5" name="Connector 4"/>
          <p:cNvCxnSpPr/>
          <p:nvPr/>
        </p:nvCxnSpPr>
        <p:spPr>
          <a:xfrm>
            <a:off x="841248" y="1554480"/>
            <a:ext cx="1371600" cy="0"/>
          </a:xfrm>
          <a:prstGeom prst="bentConnector3">
            <a:avLst/>
          </a:prstGeom>
          <a:ln w="31750">
            <a:solidFill>
              <a:srgbClr val="EE0000"/>
            </a:solidFill>
          </a:ln>
          <a:effectLst/>
        </p:spPr>
        <p:style>
          <a:lnRef idx="2">
            <a:schemeClr val="accent1"/>
          </a:lnRef>
          <a:fillRef idx="0">
            <a:schemeClr val="accent1"/>
          </a:fillRef>
          <a:effectRef idx="1">
            <a:schemeClr val="accent1"/>
          </a:effectRef>
          <a:fontRef idx="minor">
            <a:schemeClr val="tx1"/>
          </a:fontRef>
        </p:style>
      </p:cxnSp>
      <p:sp>
        <p:nvSpPr>
          <p:cNvPr id="6" name="Rounded Rectangle 5"/>
          <p:cNvSpPr/>
          <p:nvPr/>
        </p:nvSpPr>
        <p:spPr>
          <a:xfrm>
            <a:off x="841248" y="2395728"/>
            <a:ext cx="5715000" cy="530352"/>
          </a:xfrm>
          <a:prstGeom prst="roundRect">
            <a:avLst>
              <a:gd name="adj" fmla="val 6000"/>
            </a:avLst>
          </a:prstGeom>
          <a:solidFill>
            <a:srgbClr val="F5F6F8"/>
          </a:solidFill>
          <a:ln w="12700">
            <a:solidFill>
              <a:srgbClr val="DDE1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check_steel.png"/>
          <p:cNvPicPr>
            <a:picLocks noChangeAspect="1"/>
          </p:cNvPicPr>
          <p:nvPr/>
        </p:nvPicPr>
        <p:blipFill>
          <a:blip r:embed="rId3"/>
          <a:stretch>
            <a:fillRect/>
          </a:stretch>
        </p:blipFill>
        <p:spPr>
          <a:xfrm>
            <a:off x="987552" y="2542032"/>
            <a:ext cx="237744" cy="237744"/>
          </a:xfrm>
          <a:prstGeom prst="rect">
            <a:avLst/>
          </a:prstGeom>
        </p:spPr>
      </p:pic>
      <p:sp>
        <p:nvSpPr>
          <p:cNvPr id="8" name="TextBox 7"/>
          <p:cNvSpPr txBox="1"/>
          <p:nvPr/>
        </p:nvSpPr>
        <p:spPr>
          <a:xfrm>
            <a:off x="1353312" y="2395728"/>
            <a:ext cx="5029200" cy="530352"/>
          </a:xfrm>
          <a:prstGeom prst="rect">
            <a:avLst/>
          </a:prstGeom>
          <a:noFill/>
        </p:spPr>
        <p:txBody>
          <a:bodyPr wrap="square" anchor="ctr" lIns="0" rIns="0" tIns="0" bIns="0">
            <a:spAutoFit/>
          </a:bodyPr>
          <a:lstStyle/>
          <a:p>
            <a:pPr algn="l">
              <a:lnSpc>
                <a:spcPct val="106000"/>
              </a:lnSpc>
              <a:spcBef>
                <a:spcPts val="0"/>
              </a:spcBef>
              <a:spcAft>
                <a:spcPts val="0"/>
              </a:spcAft>
            </a:pPr>
            <a:r>
              <a:rPr sz="1200" b="0">
                <a:solidFill>
                  <a:srgbClr val="1A1A1A"/>
                </a:solidFill>
                <a:latin typeface="Red Hat Text"/>
              </a:rPr>
              <a:t>Pipeline builds and deploys reliably</a:t>
            </a:r>
          </a:p>
        </p:txBody>
      </p:sp>
      <p:sp>
        <p:nvSpPr>
          <p:cNvPr id="9" name="Rounded Rectangle 8"/>
          <p:cNvSpPr/>
          <p:nvPr/>
        </p:nvSpPr>
        <p:spPr>
          <a:xfrm>
            <a:off x="841248" y="2999232"/>
            <a:ext cx="5715000" cy="530352"/>
          </a:xfrm>
          <a:prstGeom prst="roundRect">
            <a:avLst>
              <a:gd name="adj" fmla="val 6000"/>
            </a:avLst>
          </a:prstGeom>
          <a:solidFill>
            <a:srgbClr val="F5F6F8"/>
          </a:solidFill>
          <a:ln w="12700">
            <a:solidFill>
              <a:srgbClr val="DDE1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0" name="Picture 9" descr="check_steel.png"/>
          <p:cNvPicPr>
            <a:picLocks noChangeAspect="1"/>
          </p:cNvPicPr>
          <p:nvPr/>
        </p:nvPicPr>
        <p:blipFill>
          <a:blip r:embed="rId3"/>
          <a:stretch>
            <a:fillRect/>
          </a:stretch>
        </p:blipFill>
        <p:spPr>
          <a:xfrm>
            <a:off x="987552" y="3145536"/>
            <a:ext cx="237744" cy="237744"/>
          </a:xfrm>
          <a:prstGeom prst="rect">
            <a:avLst/>
          </a:prstGeom>
        </p:spPr>
      </p:pic>
      <p:sp>
        <p:nvSpPr>
          <p:cNvPr id="11" name="TextBox 10"/>
          <p:cNvSpPr txBox="1"/>
          <p:nvPr/>
        </p:nvSpPr>
        <p:spPr>
          <a:xfrm>
            <a:off x="1353312" y="2999232"/>
            <a:ext cx="5029200" cy="530352"/>
          </a:xfrm>
          <a:prstGeom prst="rect">
            <a:avLst/>
          </a:prstGeom>
          <a:noFill/>
        </p:spPr>
        <p:txBody>
          <a:bodyPr wrap="square" anchor="ctr" lIns="0" rIns="0" tIns="0" bIns="0">
            <a:spAutoFit/>
          </a:bodyPr>
          <a:lstStyle/>
          <a:p>
            <a:pPr algn="l">
              <a:lnSpc>
                <a:spcPct val="106000"/>
              </a:lnSpc>
              <a:spcBef>
                <a:spcPts val="0"/>
              </a:spcBef>
              <a:spcAft>
                <a:spcPts val="0"/>
              </a:spcAft>
            </a:pPr>
            <a:r>
              <a:rPr sz="1200" b="0">
                <a:solidFill>
                  <a:srgbClr val="1A1A1A"/>
                </a:solidFill>
                <a:latin typeface="Red Hat Text"/>
              </a:rPr>
              <a:t>Auditor: what's inside this image?</a:t>
            </a:r>
          </a:p>
        </p:txBody>
      </p:sp>
      <p:sp>
        <p:nvSpPr>
          <p:cNvPr id="12" name="Rounded Rectangle 11"/>
          <p:cNvSpPr/>
          <p:nvPr/>
        </p:nvSpPr>
        <p:spPr>
          <a:xfrm>
            <a:off x="841248" y="3602736"/>
            <a:ext cx="5715000" cy="530352"/>
          </a:xfrm>
          <a:prstGeom prst="roundRect">
            <a:avLst>
              <a:gd name="adj" fmla="val 6000"/>
            </a:avLst>
          </a:prstGeom>
          <a:solidFill>
            <a:srgbClr val="F5F6F8"/>
          </a:solidFill>
          <a:ln w="12700">
            <a:solidFill>
              <a:srgbClr val="DDE1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3" name="Picture 12" descr="check_steel.png"/>
          <p:cNvPicPr>
            <a:picLocks noChangeAspect="1"/>
          </p:cNvPicPr>
          <p:nvPr/>
        </p:nvPicPr>
        <p:blipFill>
          <a:blip r:embed="rId3"/>
          <a:stretch>
            <a:fillRect/>
          </a:stretch>
        </p:blipFill>
        <p:spPr>
          <a:xfrm>
            <a:off x="987552" y="3749040"/>
            <a:ext cx="237744" cy="237744"/>
          </a:xfrm>
          <a:prstGeom prst="rect">
            <a:avLst/>
          </a:prstGeom>
        </p:spPr>
      </p:pic>
      <p:sp>
        <p:nvSpPr>
          <p:cNvPr id="14" name="TextBox 13"/>
          <p:cNvSpPr txBox="1"/>
          <p:nvPr/>
        </p:nvSpPr>
        <p:spPr>
          <a:xfrm>
            <a:off x="1353312" y="3602736"/>
            <a:ext cx="5029200" cy="530352"/>
          </a:xfrm>
          <a:prstGeom prst="rect">
            <a:avLst/>
          </a:prstGeom>
          <a:noFill/>
        </p:spPr>
        <p:txBody>
          <a:bodyPr wrap="square" anchor="ctr" lIns="0" rIns="0" tIns="0" bIns="0">
            <a:spAutoFit/>
          </a:bodyPr>
          <a:lstStyle/>
          <a:p>
            <a:pPr algn="l">
              <a:lnSpc>
                <a:spcPct val="106000"/>
              </a:lnSpc>
              <a:spcBef>
                <a:spcPts val="0"/>
              </a:spcBef>
              <a:spcAft>
                <a:spcPts val="0"/>
              </a:spcAft>
            </a:pPr>
            <a:r>
              <a:rPr sz="1200" b="0">
                <a:solidFill>
                  <a:srgbClr val="1A1A1A"/>
                </a:solidFill>
                <a:latin typeface="Red Hat Text"/>
              </a:rPr>
              <a:t>Auditor: who built it — prove it</a:t>
            </a:r>
          </a:p>
        </p:txBody>
      </p:sp>
      <p:sp>
        <p:nvSpPr>
          <p:cNvPr id="15" name="Rounded Rectangle 14"/>
          <p:cNvSpPr/>
          <p:nvPr/>
        </p:nvSpPr>
        <p:spPr>
          <a:xfrm>
            <a:off x="841248" y="4206240"/>
            <a:ext cx="5715000" cy="530352"/>
          </a:xfrm>
          <a:prstGeom prst="roundRect">
            <a:avLst>
              <a:gd name="adj" fmla="val 6000"/>
            </a:avLst>
          </a:prstGeom>
          <a:solidFill>
            <a:srgbClr val="F5F6F8"/>
          </a:solidFill>
          <a:ln w="12700">
            <a:solidFill>
              <a:srgbClr val="DDE1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6" name="Picture 15" descr="check_steel.png"/>
          <p:cNvPicPr>
            <a:picLocks noChangeAspect="1"/>
          </p:cNvPicPr>
          <p:nvPr/>
        </p:nvPicPr>
        <p:blipFill>
          <a:blip r:embed="rId3"/>
          <a:stretch>
            <a:fillRect/>
          </a:stretch>
        </p:blipFill>
        <p:spPr>
          <a:xfrm>
            <a:off x="987552" y="4352544"/>
            <a:ext cx="237744" cy="237744"/>
          </a:xfrm>
          <a:prstGeom prst="rect">
            <a:avLst/>
          </a:prstGeom>
        </p:spPr>
      </p:pic>
      <p:sp>
        <p:nvSpPr>
          <p:cNvPr id="17" name="TextBox 16"/>
          <p:cNvSpPr txBox="1"/>
          <p:nvPr/>
        </p:nvSpPr>
        <p:spPr>
          <a:xfrm>
            <a:off x="1353312" y="4206240"/>
            <a:ext cx="5029200" cy="530352"/>
          </a:xfrm>
          <a:prstGeom prst="rect">
            <a:avLst/>
          </a:prstGeom>
          <a:noFill/>
        </p:spPr>
        <p:txBody>
          <a:bodyPr wrap="square" anchor="ctr" lIns="0" rIns="0" tIns="0" bIns="0">
            <a:spAutoFit/>
          </a:bodyPr>
          <a:lstStyle/>
          <a:p>
            <a:pPr algn="l">
              <a:lnSpc>
                <a:spcPct val="106000"/>
              </a:lnSpc>
              <a:spcBef>
                <a:spcPts val="0"/>
              </a:spcBef>
              <a:spcAft>
                <a:spcPts val="0"/>
              </a:spcAft>
            </a:pPr>
            <a:r>
              <a:rPr sz="1200" b="0">
                <a:solidFill>
                  <a:srgbClr val="1A1A1A"/>
                </a:solidFill>
                <a:latin typeface="Red Hat Text"/>
              </a:rPr>
              <a:t>"It builds" ≠ "it's trustworthy"</a:t>
            </a:r>
          </a:p>
        </p:txBody>
      </p:sp>
      <p:sp>
        <p:nvSpPr>
          <p:cNvPr id="18" name="Rounded Rectangle 17"/>
          <p:cNvSpPr/>
          <p:nvPr/>
        </p:nvSpPr>
        <p:spPr>
          <a:xfrm>
            <a:off x="841248" y="4809744"/>
            <a:ext cx="5715000" cy="530352"/>
          </a:xfrm>
          <a:prstGeom prst="roundRect">
            <a:avLst>
              <a:gd name="adj" fmla="val 6000"/>
            </a:avLst>
          </a:prstGeom>
          <a:solidFill>
            <a:srgbClr val="F5F6F8"/>
          </a:solidFill>
          <a:ln w="12700">
            <a:solidFill>
              <a:srgbClr val="DDE1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9" name="Picture 18" descr="check_steel.png"/>
          <p:cNvPicPr>
            <a:picLocks noChangeAspect="1"/>
          </p:cNvPicPr>
          <p:nvPr/>
        </p:nvPicPr>
        <p:blipFill>
          <a:blip r:embed="rId3"/>
          <a:stretch>
            <a:fillRect/>
          </a:stretch>
        </p:blipFill>
        <p:spPr>
          <a:xfrm>
            <a:off x="987552" y="4956048"/>
            <a:ext cx="237744" cy="237744"/>
          </a:xfrm>
          <a:prstGeom prst="rect">
            <a:avLst/>
          </a:prstGeom>
        </p:spPr>
      </p:pic>
      <p:sp>
        <p:nvSpPr>
          <p:cNvPr id="20" name="TextBox 19"/>
          <p:cNvSpPr txBox="1"/>
          <p:nvPr/>
        </p:nvSpPr>
        <p:spPr>
          <a:xfrm>
            <a:off x="1353312" y="4809744"/>
            <a:ext cx="5029200" cy="530352"/>
          </a:xfrm>
          <a:prstGeom prst="rect">
            <a:avLst/>
          </a:prstGeom>
          <a:noFill/>
        </p:spPr>
        <p:txBody>
          <a:bodyPr wrap="square" anchor="ctr" lIns="0" rIns="0" tIns="0" bIns="0">
            <a:spAutoFit/>
          </a:bodyPr>
          <a:lstStyle/>
          <a:p>
            <a:pPr algn="l">
              <a:lnSpc>
                <a:spcPct val="106000"/>
              </a:lnSpc>
              <a:spcBef>
                <a:spcPts val="0"/>
              </a:spcBef>
              <a:spcAft>
                <a:spcPts val="0"/>
              </a:spcAft>
            </a:pPr>
            <a:r>
              <a:rPr sz="1200" b="0">
                <a:solidFill>
                  <a:srgbClr val="1A1A1A"/>
                </a:solidFill>
                <a:latin typeface="Red Hat Text"/>
              </a:rPr>
              <a:t>Three controls answer all three questions</a:t>
            </a:r>
          </a:p>
        </p:txBody>
      </p:sp>
      <p:sp>
        <p:nvSpPr>
          <p:cNvPr id="21" name="Rounded Rectangle 20"/>
          <p:cNvSpPr/>
          <p:nvPr/>
        </p:nvSpPr>
        <p:spPr>
          <a:xfrm>
            <a:off x="6812280" y="2395728"/>
            <a:ext cx="4538167" cy="2944368"/>
          </a:xfrm>
          <a:prstGeom prst="roundRect">
            <a:avLst>
              <a:gd name="adj" fmla="val 4000"/>
            </a:avLst>
          </a:prstGeom>
          <a:solidFill>
            <a:srgbClr val="FFFFFF"/>
          </a:solidFill>
          <a:ln w="15240">
            <a:solidFill>
              <a:srgbClr val="DDE1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ounded Rectangle 21"/>
          <p:cNvSpPr/>
          <p:nvPr/>
        </p:nvSpPr>
        <p:spPr>
          <a:xfrm>
            <a:off x="7013448" y="2596896"/>
            <a:ext cx="1298448" cy="310896"/>
          </a:xfrm>
          <a:prstGeom prst="roundRect">
            <a:avLst>
              <a:gd name="adj" fmla="val 50000"/>
            </a:avLst>
          </a:prstGeom>
          <a:solidFill>
            <a:srgbClr val="FCEC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7013448" y="2596896"/>
            <a:ext cx="1298448" cy="310896"/>
          </a:xfrm>
          <a:prstGeom prst="rect">
            <a:avLst/>
          </a:prstGeom>
          <a:noFill/>
        </p:spPr>
        <p:txBody>
          <a:bodyPr wrap="none" anchor="ctr" lIns="0" rIns="0" tIns="0" bIns="0">
            <a:spAutoFit/>
          </a:bodyPr>
          <a:lstStyle/>
          <a:p>
            <a:pPr algn="ctr">
              <a:lnSpc>
                <a:spcPct val="106000"/>
              </a:lnSpc>
              <a:spcBef>
                <a:spcPts val="0"/>
              </a:spcBef>
              <a:spcAft>
                <a:spcPts val="0"/>
              </a:spcAft>
            </a:pPr>
            <a:r>
              <a:rPr sz="850" b="1">
                <a:solidFill>
                  <a:srgbClr val="B80000"/>
                </a:solidFill>
                <a:latin typeface="Red Hat Display"/>
              </a:rPr>
              <a:t>MEDIA PASS</a:t>
            </a:r>
          </a:p>
        </p:txBody>
      </p:sp>
      <p:pic>
        <p:nvPicPr>
          <p:cNvPr id="24" name="Picture 23" descr="eye_slate.png"/>
          <p:cNvPicPr>
            <a:picLocks noChangeAspect="1"/>
          </p:cNvPicPr>
          <p:nvPr/>
        </p:nvPicPr>
        <p:blipFill>
          <a:blip r:embed="rId4"/>
          <a:stretch>
            <a:fillRect/>
          </a:stretch>
        </p:blipFill>
        <p:spPr>
          <a:xfrm>
            <a:off x="8843619" y="3108960"/>
            <a:ext cx="475488" cy="475488"/>
          </a:xfrm>
          <a:prstGeom prst="rect">
            <a:avLst/>
          </a:prstGeom>
        </p:spPr>
      </p:pic>
      <p:sp>
        <p:nvSpPr>
          <p:cNvPr id="25" name="TextBox 24"/>
          <p:cNvSpPr txBox="1"/>
          <p:nvPr/>
        </p:nvSpPr>
        <p:spPr>
          <a:xfrm>
            <a:off x="7050024" y="3721608"/>
            <a:ext cx="4062679" cy="1481328"/>
          </a:xfrm>
          <a:prstGeom prst="rect">
            <a:avLst/>
          </a:prstGeom>
          <a:noFill/>
        </p:spPr>
        <p:txBody>
          <a:bodyPr wrap="square" anchor="t" lIns="0" rIns="0" tIns="0" bIns="0">
            <a:spAutoFit/>
          </a:bodyPr>
          <a:lstStyle/>
          <a:p>
            <a:pPr algn="l">
              <a:lnSpc>
                <a:spcPct val="120000"/>
              </a:lnSpc>
              <a:spcBef>
                <a:spcPts val="0"/>
              </a:spcBef>
              <a:spcAft>
                <a:spcPts val="0"/>
              </a:spcAft>
            </a:pPr>
            <a:r>
              <a:rPr sz="950" b="0">
                <a:solidFill>
                  <a:srgbClr val="8A9099"/>
                </a:solidFill>
                <a:latin typeface="Red Hat Text"/>
              </a:rPr>
              <a:t>A "PASSED build" box on the left with three red question marks (what's inside? / who built it? / prove it), an arrow to a "TRUSTWORTHY artifact" box on the right.</a:t>
            </a:r>
          </a:p>
        </p:txBody>
      </p:sp>
      <p:cxnSp>
        <p:nvCxnSpPr>
          <p:cNvPr id="26" name="Connector 25"/>
          <p:cNvCxnSpPr/>
          <p:nvPr/>
        </p:nvCxnSpPr>
        <p:spPr>
          <a:xfrm>
            <a:off x="841248" y="6437376"/>
            <a:ext cx="10509199" cy="0"/>
          </a:xfrm>
          <a:prstGeom prst="bentConnector3">
            <a:avLst/>
          </a:prstGeom>
          <a:ln w="12700">
            <a:solidFill>
              <a:srgbClr val="DDE1E6"/>
            </a:solidFill>
          </a:ln>
          <a:effectLst/>
        </p:spPr>
        <p:style>
          <a:lnRef idx="2">
            <a:schemeClr val="accent1"/>
          </a:lnRef>
          <a:fillRef idx="0">
            <a:schemeClr val="accent1"/>
          </a:fillRef>
          <a:effectRef idx="1">
            <a:schemeClr val="accent1"/>
          </a:effectRef>
          <a:fontRef idx="minor">
            <a:schemeClr val="tx1"/>
          </a:fontRef>
        </p:style>
      </p:cxnSp>
      <p:sp>
        <p:nvSpPr>
          <p:cNvPr id="27" name="TextBox 26"/>
          <p:cNvSpPr txBox="1"/>
          <p:nvPr/>
        </p:nvSpPr>
        <p:spPr>
          <a:xfrm>
            <a:off x="841248" y="6473952"/>
            <a:ext cx="7315200" cy="274320"/>
          </a:xfrm>
          <a:prstGeom prst="rect">
            <a:avLst/>
          </a:prstGeom>
          <a:noFill/>
        </p:spPr>
        <p:txBody>
          <a:bodyPr wrap="square" anchor="t" lIns="0" rIns="0" tIns="0" bIns="0">
            <a:spAutoFit/>
          </a:bodyPr>
          <a:lstStyle/>
          <a:p>
            <a:pPr algn="l">
              <a:lnSpc>
                <a:spcPct val="106000"/>
              </a:lnSpc>
              <a:spcBef>
                <a:spcPts val="0"/>
              </a:spcBef>
              <a:spcAft>
                <a:spcPts val="0"/>
              </a:spcAft>
            </a:pPr>
            <a:r>
              <a:rPr sz="950" b="0">
                <a:solidFill>
                  <a:srgbClr val="8A9099"/>
                </a:solidFill>
                <a:latin typeface="Red Hat Text"/>
              </a:rPr>
              <a:t>CONFIDENTIAL</a:t>
            </a:r>
          </a:p>
        </p:txBody>
      </p:sp>
      <p:sp>
        <p:nvSpPr>
          <p:cNvPr id="28" name="TextBox 27"/>
          <p:cNvSpPr txBox="1"/>
          <p:nvPr/>
        </p:nvSpPr>
        <p:spPr>
          <a:xfrm>
            <a:off x="10801807" y="6473952"/>
            <a:ext cx="548640" cy="274320"/>
          </a:xfrm>
          <a:prstGeom prst="rect">
            <a:avLst/>
          </a:prstGeom>
          <a:noFill/>
        </p:spPr>
        <p:txBody>
          <a:bodyPr wrap="square" anchor="t" lIns="0" rIns="0" tIns="0" bIns="0">
            <a:spAutoFit/>
          </a:bodyPr>
          <a:lstStyle/>
          <a:p>
            <a:pPr algn="r">
              <a:lnSpc>
                <a:spcPct val="106000"/>
              </a:lnSpc>
              <a:spcBef>
                <a:spcPts val="0"/>
              </a:spcBef>
              <a:spcAft>
                <a:spcPts val="0"/>
              </a:spcAft>
            </a:pPr>
            <a:r>
              <a:rPr sz="950" b="0">
                <a:solidFill>
                  <a:srgbClr val="8A9099"/>
                </a:solidFill>
                <a:latin typeface="Red Hat Text"/>
              </a:rPr>
              <a:t>60</a:t>
            </a:r>
          </a:p>
        </p:txBody>
      </p:sp>
    </p:spTree>
  </p:cSld>
  <p:clrMapOvr>
    <a:masterClrMapping/>
  </p:clrMapOvr>
</p:sld>
</file>

<file path=ppt/slides/slide7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redhat_logo.jpg"/>
          <p:cNvPicPr>
            <a:picLocks noChangeAspect="1"/>
          </p:cNvPicPr>
          <p:nvPr/>
        </p:nvPicPr>
        <p:blipFill>
          <a:blip r:embed="rId2"/>
          <a:stretch>
            <a:fillRect/>
          </a:stretch>
        </p:blipFill>
        <p:spPr>
          <a:xfrm>
            <a:off x="10326319" y="475488"/>
            <a:ext cx="1024128" cy="242248"/>
          </a:xfrm>
          <a:prstGeom prst="rect">
            <a:avLst/>
          </a:prstGeom>
        </p:spPr>
      </p:pic>
      <p:sp>
        <p:nvSpPr>
          <p:cNvPr id="3" name="TextBox 2"/>
          <p:cNvSpPr txBox="1"/>
          <p:nvPr/>
        </p:nvSpPr>
        <p:spPr>
          <a:xfrm>
            <a:off x="841248" y="548640"/>
            <a:ext cx="8595360" cy="274320"/>
          </a:xfrm>
          <a:prstGeom prst="rect">
            <a:avLst/>
          </a:prstGeom>
          <a:noFill/>
        </p:spPr>
        <p:txBody>
          <a:bodyPr wrap="square" anchor="t" lIns="0" rIns="0" tIns="0" bIns="0">
            <a:spAutoFit/>
          </a:bodyPr>
          <a:lstStyle/>
          <a:p>
            <a:pPr algn="l">
              <a:lnSpc>
                <a:spcPct val="106000"/>
              </a:lnSpc>
              <a:spcBef>
                <a:spcPts val="0"/>
              </a:spcBef>
              <a:spcAft>
                <a:spcPts val="0"/>
              </a:spcAft>
            </a:pPr>
            <a:r>
              <a:rPr sz="1250" b="1" spc="220">
                <a:solidFill>
                  <a:srgbClr val="EE0000"/>
                </a:solidFill>
                <a:latin typeface="Red Hat Display"/>
              </a:rPr>
              <a:t>M09 · TRUSTED SOFTWARE SUPPLY CHAIN</a:t>
            </a:r>
          </a:p>
        </p:txBody>
      </p:sp>
      <p:sp>
        <p:nvSpPr>
          <p:cNvPr id="4" name="TextBox 3"/>
          <p:cNvSpPr txBox="1"/>
          <p:nvPr/>
        </p:nvSpPr>
        <p:spPr>
          <a:xfrm>
            <a:off x="841248" y="877824"/>
            <a:ext cx="10515600" cy="548640"/>
          </a:xfrm>
          <a:prstGeom prst="rect">
            <a:avLst/>
          </a:prstGeom>
          <a:noFill/>
        </p:spPr>
        <p:txBody>
          <a:bodyPr wrap="none" anchor="t" lIns="0" rIns="0" tIns="0" bIns="0">
            <a:spAutoFit/>
          </a:bodyPr>
          <a:lstStyle/>
          <a:p>
            <a:pPr algn="l">
              <a:lnSpc>
                <a:spcPct val="100000"/>
              </a:lnSpc>
              <a:spcBef>
                <a:spcPts val="0"/>
              </a:spcBef>
              <a:spcAft>
                <a:spcPts val="0"/>
              </a:spcAft>
            </a:pPr>
            <a:r>
              <a:rPr sz="2500" b="1">
                <a:solidFill>
                  <a:srgbClr val="1A1A1A"/>
                </a:solidFill>
                <a:latin typeface="Red Hat Display"/>
              </a:rPr>
              <a:t>You ship your dependencies</a:t>
            </a:r>
          </a:p>
        </p:txBody>
      </p:sp>
      <p:cxnSp>
        <p:nvCxnSpPr>
          <p:cNvPr id="5" name="Connector 4"/>
          <p:cNvCxnSpPr/>
          <p:nvPr/>
        </p:nvCxnSpPr>
        <p:spPr>
          <a:xfrm>
            <a:off x="841248" y="1554480"/>
            <a:ext cx="1371600" cy="0"/>
          </a:xfrm>
          <a:prstGeom prst="bentConnector3">
            <a:avLst/>
          </a:prstGeom>
          <a:ln w="31750">
            <a:solidFill>
              <a:srgbClr val="EE0000"/>
            </a:solidFill>
          </a:ln>
          <a:effectLst/>
        </p:spPr>
        <p:style>
          <a:lnRef idx="2">
            <a:schemeClr val="accent1"/>
          </a:lnRef>
          <a:fillRef idx="0">
            <a:schemeClr val="accent1"/>
          </a:fillRef>
          <a:effectRef idx="1">
            <a:schemeClr val="accent1"/>
          </a:effectRef>
          <a:fontRef idx="minor">
            <a:schemeClr val="tx1"/>
          </a:fontRef>
        </p:style>
      </p:cxnSp>
      <p:sp>
        <p:nvSpPr>
          <p:cNvPr id="6" name="Rounded Rectangle 5"/>
          <p:cNvSpPr/>
          <p:nvPr/>
        </p:nvSpPr>
        <p:spPr>
          <a:xfrm>
            <a:off x="841248" y="2395728"/>
            <a:ext cx="5715000" cy="530352"/>
          </a:xfrm>
          <a:prstGeom prst="roundRect">
            <a:avLst>
              <a:gd name="adj" fmla="val 6000"/>
            </a:avLst>
          </a:prstGeom>
          <a:solidFill>
            <a:srgbClr val="F5F6F8"/>
          </a:solidFill>
          <a:ln w="12700">
            <a:solidFill>
              <a:srgbClr val="DDE1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check_steel.png"/>
          <p:cNvPicPr>
            <a:picLocks noChangeAspect="1"/>
          </p:cNvPicPr>
          <p:nvPr/>
        </p:nvPicPr>
        <p:blipFill>
          <a:blip r:embed="rId3"/>
          <a:stretch>
            <a:fillRect/>
          </a:stretch>
        </p:blipFill>
        <p:spPr>
          <a:xfrm>
            <a:off x="987552" y="2542032"/>
            <a:ext cx="237744" cy="237744"/>
          </a:xfrm>
          <a:prstGeom prst="rect">
            <a:avLst/>
          </a:prstGeom>
        </p:spPr>
      </p:pic>
      <p:sp>
        <p:nvSpPr>
          <p:cNvPr id="8" name="TextBox 7"/>
          <p:cNvSpPr txBox="1"/>
          <p:nvPr/>
        </p:nvSpPr>
        <p:spPr>
          <a:xfrm>
            <a:off x="1353312" y="2395728"/>
            <a:ext cx="5029200" cy="530352"/>
          </a:xfrm>
          <a:prstGeom prst="rect">
            <a:avLst/>
          </a:prstGeom>
          <a:noFill/>
        </p:spPr>
        <p:txBody>
          <a:bodyPr wrap="square" anchor="ctr" lIns="0" rIns="0" tIns="0" bIns="0">
            <a:spAutoFit/>
          </a:bodyPr>
          <a:lstStyle/>
          <a:p>
            <a:pPr algn="l">
              <a:lnSpc>
                <a:spcPct val="106000"/>
              </a:lnSpc>
              <a:spcBef>
                <a:spcPts val="0"/>
              </a:spcBef>
              <a:spcAft>
                <a:spcPts val="0"/>
              </a:spcAft>
            </a:pPr>
            <a:r>
              <a:rPr sz="1200" b="0">
                <a:solidFill>
                  <a:srgbClr val="1A1A1A"/>
                </a:solidFill>
                <a:latin typeface="Red Hat Text"/>
              </a:rPr>
              <a:t>Your code is a fraction of what you deploy</a:t>
            </a:r>
          </a:p>
        </p:txBody>
      </p:sp>
      <p:sp>
        <p:nvSpPr>
          <p:cNvPr id="9" name="Rounded Rectangle 8"/>
          <p:cNvSpPr/>
          <p:nvPr/>
        </p:nvSpPr>
        <p:spPr>
          <a:xfrm>
            <a:off x="841248" y="2999232"/>
            <a:ext cx="5715000" cy="530352"/>
          </a:xfrm>
          <a:prstGeom prst="roundRect">
            <a:avLst>
              <a:gd name="adj" fmla="val 6000"/>
            </a:avLst>
          </a:prstGeom>
          <a:solidFill>
            <a:srgbClr val="F5F6F8"/>
          </a:solidFill>
          <a:ln w="12700">
            <a:solidFill>
              <a:srgbClr val="DDE1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0" name="Picture 9" descr="check_steel.png"/>
          <p:cNvPicPr>
            <a:picLocks noChangeAspect="1"/>
          </p:cNvPicPr>
          <p:nvPr/>
        </p:nvPicPr>
        <p:blipFill>
          <a:blip r:embed="rId3"/>
          <a:stretch>
            <a:fillRect/>
          </a:stretch>
        </p:blipFill>
        <p:spPr>
          <a:xfrm>
            <a:off x="987552" y="3145536"/>
            <a:ext cx="237744" cy="237744"/>
          </a:xfrm>
          <a:prstGeom prst="rect">
            <a:avLst/>
          </a:prstGeom>
        </p:spPr>
      </p:pic>
      <p:sp>
        <p:nvSpPr>
          <p:cNvPr id="11" name="TextBox 10"/>
          <p:cNvSpPr txBox="1"/>
          <p:nvPr/>
        </p:nvSpPr>
        <p:spPr>
          <a:xfrm>
            <a:off x="1353312" y="2999232"/>
            <a:ext cx="5029200" cy="530352"/>
          </a:xfrm>
          <a:prstGeom prst="rect">
            <a:avLst/>
          </a:prstGeom>
          <a:noFill/>
        </p:spPr>
        <p:txBody>
          <a:bodyPr wrap="square" anchor="ctr" lIns="0" rIns="0" tIns="0" bIns="0">
            <a:spAutoFit/>
          </a:bodyPr>
          <a:lstStyle/>
          <a:p>
            <a:pPr algn="l">
              <a:lnSpc>
                <a:spcPct val="106000"/>
              </a:lnSpc>
              <a:spcBef>
                <a:spcPts val="0"/>
              </a:spcBef>
              <a:spcAft>
                <a:spcPts val="0"/>
              </a:spcAft>
            </a:pPr>
            <a:r>
              <a:rPr sz="1200" b="0">
                <a:solidFill>
                  <a:srgbClr val="1A1A1A"/>
                </a:solidFill>
                <a:latin typeface="Red Hat Text"/>
              </a:rPr>
              <a:t>The rest: runtime, libraries, base OS layers</a:t>
            </a:r>
          </a:p>
        </p:txBody>
      </p:sp>
      <p:sp>
        <p:nvSpPr>
          <p:cNvPr id="12" name="Rounded Rectangle 11"/>
          <p:cNvSpPr/>
          <p:nvPr/>
        </p:nvSpPr>
        <p:spPr>
          <a:xfrm>
            <a:off x="841248" y="3602736"/>
            <a:ext cx="5715000" cy="530352"/>
          </a:xfrm>
          <a:prstGeom prst="roundRect">
            <a:avLst>
              <a:gd name="adj" fmla="val 6000"/>
            </a:avLst>
          </a:prstGeom>
          <a:solidFill>
            <a:srgbClr val="F5F6F8"/>
          </a:solidFill>
          <a:ln w="12700">
            <a:solidFill>
              <a:srgbClr val="DDE1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3" name="Picture 12" descr="check_steel.png"/>
          <p:cNvPicPr>
            <a:picLocks noChangeAspect="1"/>
          </p:cNvPicPr>
          <p:nvPr/>
        </p:nvPicPr>
        <p:blipFill>
          <a:blip r:embed="rId3"/>
          <a:stretch>
            <a:fillRect/>
          </a:stretch>
        </p:blipFill>
        <p:spPr>
          <a:xfrm>
            <a:off x="987552" y="3749040"/>
            <a:ext cx="237744" cy="237744"/>
          </a:xfrm>
          <a:prstGeom prst="rect">
            <a:avLst/>
          </a:prstGeom>
        </p:spPr>
      </p:pic>
      <p:sp>
        <p:nvSpPr>
          <p:cNvPr id="14" name="TextBox 13"/>
          <p:cNvSpPr txBox="1"/>
          <p:nvPr/>
        </p:nvSpPr>
        <p:spPr>
          <a:xfrm>
            <a:off x="1353312" y="3602736"/>
            <a:ext cx="5029200" cy="530352"/>
          </a:xfrm>
          <a:prstGeom prst="rect">
            <a:avLst/>
          </a:prstGeom>
          <a:noFill/>
        </p:spPr>
        <p:txBody>
          <a:bodyPr wrap="square" anchor="ctr" lIns="0" rIns="0" tIns="0" bIns="0">
            <a:spAutoFit/>
          </a:bodyPr>
          <a:lstStyle/>
          <a:p>
            <a:pPr algn="l">
              <a:lnSpc>
                <a:spcPct val="106000"/>
              </a:lnSpc>
              <a:spcBef>
                <a:spcPts val="0"/>
              </a:spcBef>
              <a:spcAft>
                <a:spcPts val="0"/>
              </a:spcAft>
            </a:pPr>
            <a:r>
              <a:rPr sz="1200" b="0">
                <a:solidFill>
                  <a:srgbClr val="1A1A1A"/>
                </a:solidFill>
                <a:latin typeface="Red Hat Text"/>
              </a:rPr>
              <a:t>Log4Shell: is it in anything we ship?</a:t>
            </a:r>
          </a:p>
        </p:txBody>
      </p:sp>
      <p:sp>
        <p:nvSpPr>
          <p:cNvPr id="15" name="Rounded Rectangle 14"/>
          <p:cNvSpPr/>
          <p:nvPr/>
        </p:nvSpPr>
        <p:spPr>
          <a:xfrm>
            <a:off x="841248" y="4206240"/>
            <a:ext cx="5715000" cy="530352"/>
          </a:xfrm>
          <a:prstGeom prst="roundRect">
            <a:avLst>
              <a:gd name="adj" fmla="val 6000"/>
            </a:avLst>
          </a:prstGeom>
          <a:solidFill>
            <a:srgbClr val="F5F6F8"/>
          </a:solidFill>
          <a:ln w="12700">
            <a:solidFill>
              <a:srgbClr val="DDE1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6" name="Picture 15" descr="check_steel.png"/>
          <p:cNvPicPr>
            <a:picLocks noChangeAspect="1"/>
          </p:cNvPicPr>
          <p:nvPr/>
        </p:nvPicPr>
        <p:blipFill>
          <a:blip r:embed="rId3"/>
          <a:stretch>
            <a:fillRect/>
          </a:stretch>
        </p:blipFill>
        <p:spPr>
          <a:xfrm>
            <a:off x="987552" y="4352544"/>
            <a:ext cx="237744" cy="237744"/>
          </a:xfrm>
          <a:prstGeom prst="rect">
            <a:avLst/>
          </a:prstGeom>
        </p:spPr>
      </p:pic>
      <p:sp>
        <p:nvSpPr>
          <p:cNvPr id="17" name="TextBox 16"/>
          <p:cNvSpPr txBox="1"/>
          <p:nvPr/>
        </p:nvSpPr>
        <p:spPr>
          <a:xfrm>
            <a:off x="1353312" y="4206240"/>
            <a:ext cx="5029200" cy="530352"/>
          </a:xfrm>
          <a:prstGeom prst="rect">
            <a:avLst/>
          </a:prstGeom>
          <a:noFill/>
        </p:spPr>
        <p:txBody>
          <a:bodyPr wrap="square" anchor="ctr" lIns="0" rIns="0" tIns="0" bIns="0">
            <a:spAutoFit/>
          </a:bodyPr>
          <a:lstStyle/>
          <a:p>
            <a:pPr algn="l">
              <a:lnSpc>
                <a:spcPct val="106000"/>
              </a:lnSpc>
              <a:spcBef>
                <a:spcPts val="0"/>
              </a:spcBef>
              <a:spcAft>
                <a:spcPts val="0"/>
              </a:spcAft>
            </a:pPr>
            <a:r>
              <a:rPr sz="1200" b="0">
                <a:solidFill>
                  <a:srgbClr val="1A1A1A"/>
                </a:solidFill>
                <a:latin typeface="Red Hat Text"/>
              </a:rPr>
              <a:t>Answer in minutes, not a weekend</a:t>
            </a:r>
          </a:p>
        </p:txBody>
      </p:sp>
      <p:sp>
        <p:nvSpPr>
          <p:cNvPr id="18" name="Rounded Rectangle 17"/>
          <p:cNvSpPr/>
          <p:nvPr/>
        </p:nvSpPr>
        <p:spPr>
          <a:xfrm>
            <a:off x="841248" y="4809744"/>
            <a:ext cx="5715000" cy="530352"/>
          </a:xfrm>
          <a:prstGeom prst="roundRect">
            <a:avLst>
              <a:gd name="adj" fmla="val 6000"/>
            </a:avLst>
          </a:prstGeom>
          <a:solidFill>
            <a:srgbClr val="F5F6F8"/>
          </a:solidFill>
          <a:ln w="12700">
            <a:solidFill>
              <a:srgbClr val="DDE1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9" name="Picture 18" descr="check_steel.png"/>
          <p:cNvPicPr>
            <a:picLocks noChangeAspect="1"/>
          </p:cNvPicPr>
          <p:nvPr/>
        </p:nvPicPr>
        <p:blipFill>
          <a:blip r:embed="rId3"/>
          <a:stretch>
            <a:fillRect/>
          </a:stretch>
        </p:blipFill>
        <p:spPr>
          <a:xfrm>
            <a:off x="987552" y="4956048"/>
            <a:ext cx="237744" cy="237744"/>
          </a:xfrm>
          <a:prstGeom prst="rect">
            <a:avLst/>
          </a:prstGeom>
        </p:spPr>
      </p:pic>
      <p:sp>
        <p:nvSpPr>
          <p:cNvPr id="20" name="TextBox 19"/>
          <p:cNvSpPr txBox="1"/>
          <p:nvPr/>
        </p:nvSpPr>
        <p:spPr>
          <a:xfrm>
            <a:off x="1353312" y="4809744"/>
            <a:ext cx="5029200" cy="530352"/>
          </a:xfrm>
          <a:prstGeom prst="rect">
            <a:avLst/>
          </a:prstGeom>
          <a:noFill/>
        </p:spPr>
        <p:txBody>
          <a:bodyPr wrap="square" anchor="ctr" lIns="0" rIns="0" tIns="0" bIns="0">
            <a:spAutoFit/>
          </a:bodyPr>
          <a:lstStyle/>
          <a:p>
            <a:pPr algn="l">
              <a:lnSpc>
                <a:spcPct val="106000"/>
              </a:lnSpc>
              <a:spcBef>
                <a:spcPts val="0"/>
              </a:spcBef>
              <a:spcAft>
                <a:spcPts val="0"/>
              </a:spcAft>
            </a:pPr>
            <a:r>
              <a:rPr sz="1200" b="0">
                <a:solidFill>
                  <a:srgbClr val="1A1A1A"/>
                </a:solidFill>
                <a:latin typeface="Red Hat Text"/>
              </a:rPr>
              <a:t>SLSA grades your build process, not your code</a:t>
            </a:r>
          </a:p>
        </p:txBody>
      </p:sp>
      <p:sp>
        <p:nvSpPr>
          <p:cNvPr id="21" name="Rounded Rectangle 20"/>
          <p:cNvSpPr/>
          <p:nvPr/>
        </p:nvSpPr>
        <p:spPr>
          <a:xfrm>
            <a:off x="6812280" y="2395728"/>
            <a:ext cx="4538167" cy="2944368"/>
          </a:xfrm>
          <a:prstGeom prst="roundRect">
            <a:avLst>
              <a:gd name="adj" fmla="val 4000"/>
            </a:avLst>
          </a:prstGeom>
          <a:solidFill>
            <a:srgbClr val="FFFFFF"/>
          </a:solidFill>
          <a:ln w="15240">
            <a:solidFill>
              <a:srgbClr val="DDE1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ounded Rectangle 21"/>
          <p:cNvSpPr/>
          <p:nvPr/>
        </p:nvSpPr>
        <p:spPr>
          <a:xfrm>
            <a:off x="7013448" y="2596896"/>
            <a:ext cx="1298448" cy="310896"/>
          </a:xfrm>
          <a:prstGeom prst="roundRect">
            <a:avLst>
              <a:gd name="adj" fmla="val 50000"/>
            </a:avLst>
          </a:prstGeom>
          <a:solidFill>
            <a:srgbClr val="FCEC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7013448" y="2596896"/>
            <a:ext cx="1298448" cy="310896"/>
          </a:xfrm>
          <a:prstGeom prst="rect">
            <a:avLst/>
          </a:prstGeom>
          <a:noFill/>
        </p:spPr>
        <p:txBody>
          <a:bodyPr wrap="none" anchor="ctr" lIns="0" rIns="0" tIns="0" bIns="0">
            <a:spAutoFit/>
          </a:bodyPr>
          <a:lstStyle/>
          <a:p>
            <a:pPr algn="ctr">
              <a:lnSpc>
                <a:spcPct val="106000"/>
              </a:lnSpc>
              <a:spcBef>
                <a:spcPts val="0"/>
              </a:spcBef>
              <a:spcAft>
                <a:spcPts val="0"/>
              </a:spcAft>
            </a:pPr>
            <a:r>
              <a:rPr sz="850" b="1">
                <a:solidFill>
                  <a:srgbClr val="B80000"/>
                </a:solidFill>
                <a:latin typeface="Red Hat Display"/>
              </a:rPr>
              <a:t>MEDIA PASS</a:t>
            </a:r>
          </a:p>
        </p:txBody>
      </p:sp>
      <p:pic>
        <p:nvPicPr>
          <p:cNvPr id="24" name="Picture 23" descr="eye_slate.png"/>
          <p:cNvPicPr>
            <a:picLocks noChangeAspect="1"/>
          </p:cNvPicPr>
          <p:nvPr/>
        </p:nvPicPr>
        <p:blipFill>
          <a:blip r:embed="rId4"/>
          <a:stretch>
            <a:fillRect/>
          </a:stretch>
        </p:blipFill>
        <p:spPr>
          <a:xfrm>
            <a:off x="8843619" y="3108960"/>
            <a:ext cx="475488" cy="475488"/>
          </a:xfrm>
          <a:prstGeom prst="rect">
            <a:avLst/>
          </a:prstGeom>
        </p:spPr>
      </p:pic>
      <p:sp>
        <p:nvSpPr>
          <p:cNvPr id="25" name="TextBox 24"/>
          <p:cNvSpPr txBox="1"/>
          <p:nvPr/>
        </p:nvSpPr>
        <p:spPr>
          <a:xfrm>
            <a:off x="7050024" y="3721608"/>
            <a:ext cx="4062679" cy="1481328"/>
          </a:xfrm>
          <a:prstGeom prst="rect">
            <a:avLst/>
          </a:prstGeom>
          <a:noFill/>
        </p:spPr>
        <p:txBody>
          <a:bodyPr wrap="square" anchor="t" lIns="0" rIns="0" tIns="0" bIns="0">
            <a:spAutoFit/>
          </a:bodyPr>
          <a:lstStyle/>
          <a:p>
            <a:pPr algn="l">
              <a:lnSpc>
                <a:spcPct val="120000"/>
              </a:lnSpc>
              <a:spcBef>
                <a:spcPts val="0"/>
              </a:spcBef>
              <a:spcAft>
                <a:spcPts val="0"/>
              </a:spcAft>
            </a:pPr>
            <a:r>
              <a:rPr sz="950" b="0">
                <a:solidFill>
                  <a:srgbClr val="8A9099"/>
                </a:solidFill>
                <a:latin typeface="Red Hat Text"/>
              </a:rPr>
              <a:t>A container image drawn as an iceberg — a thin "your code" sliver above the waterline, a large "dependencies + base OS" mass below.</a:t>
            </a:r>
          </a:p>
        </p:txBody>
      </p:sp>
      <p:cxnSp>
        <p:nvCxnSpPr>
          <p:cNvPr id="26" name="Connector 25"/>
          <p:cNvCxnSpPr/>
          <p:nvPr/>
        </p:nvCxnSpPr>
        <p:spPr>
          <a:xfrm>
            <a:off x="841248" y="6437376"/>
            <a:ext cx="10509199" cy="0"/>
          </a:xfrm>
          <a:prstGeom prst="bentConnector3">
            <a:avLst/>
          </a:prstGeom>
          <a:ln w="12700">
            <a:solidFill>
              <a:srgbClr val="DDE1E6"/>
            </a:solidFill>
          </a:ln>
          <a:effectLst/>
        </p:spPr>
        <p:style>
          <a:lnRef idx="2">
            <a:schemeClr val="accent1"/>
          </a:lnRef>
          <a:fillRef idx="0">
            <a:schemeClr val="accent1"/>
          </a:fillRef>
          <a:effectRef idx="1">
            <a:schemeClr val="accent1"/>
          </a:effectRef>
          <a:fontRef idx="minor">
            <a:schemeClr val="tx1"/>
          </a:fontRef>
        </p:style>
      </p:cxnSp>
      <p:sp>
        <p:nvSpPr>
          <p:cNvPr id="27" name="TextBox 26"/>
          <p:cNvSpPr txBox="1"/>
          <p:nvPr/>
        </p:nvSpPr>
        <p:spPr>
          <a:xfrm>
            <a:off x="841248" y="6473952"/>
            <a:ext cx="7315200" cy="274320"/>
          </a:xfrm>
          <a:prstGeom prst="rect">
            <a:avLst/>
          </a:prstGeom>
          <a:noFill/>
        </p:spPr>
        <p:txBody>
          <a:bodyPr wrap="square" anchor="t" lIns="0" rIns="0" tIns="0" bIns="0">
            <a:spAutoFit/>
          </a:bodyPr>
          <a:lstStyle/>
          <a:p>
            <a:pPr algn="l">
              <a:lnSpc>
                <a:spcPct val="106000"/>
              </a:lnSpc>
              <a:spcBef>
                <a:spcPts val="0"/>
              </a:spcBef>
              <a:spcAft>
                <a:spcPts val="0"/>
              </a:spcAft>
            </a:pPr>
            <a:r>
              <a:rPr sz="950" b="0">
                <a:solidFill>
                  <a:srgbClr val="8A9099"/>
                </a:solidFill>
                <a:latin typeface="Red Hat Text"/>
              </a:rPr>
              <a:t>CONFIDENTIAL</a:t>
            </a:r>
          </a:p>
        </p:txBody>
      </p:sp>
      <p:sp>
        <p:nvSpPr>
          <p:cNvPr id="28" name="TextBox 27"/>
          <p:cNvSpPr txBox="1"/>
          <p:nvPr/>
        </p:nvSpPr>
        <p:spPr>
          <a:xfrm>
            <a:off x="10801807" y="6473952"/>
            <a:ext cx="548640" cy="274320"/>
          </a:xfrm>
          <a:prstGeom prst="rect">
            <a:avLst/>
          </a:prstGeom>
          <a:noFill/>
        </p:spPr>
        <p:txBody>
          <a:bodyPr wrap="square" anchor="t" lIns="0" rIns="0" tIns="0" bIns="0">
            <a:spAutoFit/>
          </a:bodyPr>
          <a:lstStyle/>
          <a:p>
            <a:pPr algn="r">
              <a:lnSpc>
                <a:spcPct val="106000"/>
              </a:lnSpc>
              <a:spcBef>
                <a:spcPts val="0"/>
              </a:spcBef>
              <a:spcAft>
                <a:spcPts val="0"/>
              </a:spcAft>
            </a:pPr>
            <a:r>
              <a:rPr sz="950" b="0">
                <a:solidFill>
                  <a:srgbClr val="8A9099"/>
                </a:solidFill>
                <a:latin typeface="Red Hat Text"/>
              </a:rPr>
              <a:t>61</a:t>
            </a:r>
          </a:p>
        </p:txBody>
      </p:sp>
    </p:spTree>
  </p:cSld>
  <p:clrMapOvr>
    <a:masterClrMapping/>
  </p:clrMapOvr>
</p:sld>
</file>

<file path=ppt/slides/slide7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redhat_logo.jpg"/>
          <p:cNvPicPr>
            <a:picLocks noChangeAspect="1"/>
          </p:cNvPicPr>
          <p:nvPr/>
        </p:nvPicPr>
        <p:blipFill>
          <a:blip r:embed="rId2"/>
          <a:stretch>
            <a:fillRect/>
          </a:stretch>
        </p:blipFill>
        <p:spPr>
          <a:xfrm>
            <a:off x="10326319" y="475488"/>
            <a:ext cx="1024128" cy="242248"/>
          </a:xfrm>
          <a:prstGeom prst="rect">
            <a:avLst/>
          </a:prstGeom>
        </p:spPr>
      </p:pic>
      <p:sp>
        <p:nvSpPr>
          <p:cNvPr id="3" name="TextBox 2"/>
          <p:cNvSpPr txBox="1"/>
          <p:nvPr/>
        </p:nvSpPr>
        <p:spPr>
          <a:xfrm>
            <a:off x="841248" y="548640"/>
            <a:ext cx="8595360" cy="274320"/>
          </a:xfrm>
          <a:prstGeom prst="rect">
            <a:avLst/>
          </a:prstGeom>
          <a:noFill/>
        </p:spPr>
        <p:txBody>
          <a:bodyPr wrap="square" anchor="t" lIns="0" rIns="0" tIns="0" bIns="0">
            <a:spAutoFit/>
          </a:bodyPr>
          <a:lstStyle/>
          <a:p>
            <a:pPr algn="l">
              <a:lnSpc>
                <a:spcPct val="106000"/>
              </a:lnSpc>
              <a:spcBef>
                <a:spcPts val="0"/>
              </a:spcBef>
              <a:spcAft>
                <a:spcPts val="0"/>
              </a:spcAft>
            </a:pPr>
            <a:r>
              <a:rPr sz="1250" b="1" spc="220">
                <a:solidFill>
                  <a:srgbClr val="EE0000"/>
                </a:solidFill>
                <a:latin typeface="Red Hat Display"/>
              </a:rPr>
              <a:t>M09 · TRUSTED SOFTWARE SUPPLY CHAIN</a:t>
            </a:r>
          </a:p>
        </p:txBody>
      </p:sp>
      <p:sp>
        <p:nvSpPr>
          <p:cNvPr id="4" name="TextBox 3"/>
          <p:cNvSpPr txBox="1"/>
          <p:nvPr/>
        </p:nvSpPr>
        <p:spPr>
          <a:xfrm>
            <a:off x="841248" y="877824"/>
            <a:ext cx="10515600" cy="548640"/>
          </a:xfrm>
          <a:prstGeom prst="rect">
            <a:avLst/>
          </a:prstGeom>
          <a:noFill/>
        </p:spPr>
        <p:txBody>
          <a:bodyPr wrap="none" anchor="t" lIns="0" rIns="0" tIns="0" bIns="0">
            <a:spAutoFit/>
          </a:bodyPr>
          <a:lstStyle/>
          <a:p>
            <a:pPr algn="l">
              <a:lnSpc>
                <a:spcPct val="100000"/>
              </a:lnSpc>
              <a:spcBef>
                <a:spcPts val="0"/>
              </a:spcBef>
              <a:spcAft>
                <a:spcPts val="0"/>
              </a:spcAft>
            </a:pPr>
            <a:r>
              <a:rPr sz="2500" b="1">
                <a:solidFill>
                  <a:srgbClr val="1A1A1A"/>
                </a:solidFill>
                <a:latin typeface="Red Hat Display"/>
              </a:rPr>
              <a:t>Three artifacts, three questions</a:t>
            </a:r>
          </a:p>
        </p:txBody>
      </p:sp>
      <p:cxnSp>
        <p:nvCxnSpPr>
          <p:cNvPr id="5" name="Connector 4"/>
          <p:cNvCxnSpPr/>
          <p:nvPr/>
        </p:nvCxnSpPr>
        <p:spPr>
          <a:xfrm>
            <a:off x="841248" y="1554480"/>
            <a:ext cx="1371600" cy="0"/>
          </a:xfrm>
          <a:prstGeom prst="bentConnector3">
            <a:avLst/>
          </a:prstGeom>
          <a:ln w="31750">
            <a:solidFill>
              <a:srgbClr val="EE0000"/>
            </a:solidFill>
          </a:ln>
          <a:effectLst/>
        </p:spPr>
        <p:style>
          <a:lnRef idx="2">
            <a:schemeClr val="accent1"/>
          </a:lnRef>
          <a:fillRef idx="0">
            <a:schemeClr val="accent1"/>
          </a:fillRef>
          <a:effectRef idx="1">
            <a:schemeClr val="accent1"/>
          </a:effectRef>
          <a:fontRef idx="minor">
            <a:schemeClr val="tx1"/>
          </a:fontRef>
        </p:style>
      </p:cxnSp>
      <p:sp>
        <p:nvSpPr>
          <p:cNvPr id="6" name="Rounded Rectangle 5"/>
          <p:cNvSpPr/>
          <p:nvPr/>
        </p:nvSpPr>
        <p:spPr>
          <a:xfrm>
            <a:off x="841248" y="2395728"/>
            <a:ext cx="5715000" cy="530352"/>
          </a:xfrm>
          <a:prstGeom prst="roundRect">
            <a:avLst>
              <a:gd name="adj" fmla="val 6000"/>
            </a:avLst>
          </a:prstGeom>
          <a:solidFill>
            <a:srgbClr val="F5F6F8"/>
          </a:solidFill>
          <a:ln w="12700">
            <a:solidFill>
              <a:srgbClr val="DDE1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check_steel.png"/>
          <p:cNvPicPr>
            <a:picLocks noChangeAspect="1"/>
          </p:cNvPicPr>
          <p:nvPr/>
        </p:nvPicPr>
        <p:blipFill>
          <a:blip r:embed="rId3"/>
          <a:stretch>
            <a:fillRect/>
          </a:stretch>
        </p:blipFill>
        <p:spPr>
          <a:xfrm>
            <a:off x="987552" y="2542032"/>
            <a:ext cx="237744" cy="237744"/>
          </a:xfrm>
          <a:prstGeom prst="rect">
            <a:avLst/>
          </a:prstGeom>
        </p:spPr>
      </p:pic>
      <p:sp>
        <p:nvSpPr>
          <p:cNvPr id="8" name="TextBox 7"/>
          <p:cNvSpPr txBox="1"/>
          <p:nvPr/>
        </p:nvSpPr>
        <p:spPr>
          <a:xfrm>
            <a:off x="1353312" y="2395728"/>
            <a:ext cx="5029200" cy="530352"/>
          </a:xfrm>
          <a:prstGeom prst="rect">
            <a:avLst/>
          </a:prstGeom>
          <a:noFill/>
        </p:spPr>
        <p:txBody>
          <a:bodyPr wrap="square" anchor="ctr" lIns="0" rIns="0" tIns="0" bIns="0">
            <a:spAutoFit/>
          </a:bodyPr>
          <a:lstStyle/>
          <a:p>
            <a:pPr algn="l">
              <a:lnSpc>
                <a:spcPct val="106000"/>
              </a:lnSpc>
              <a:spcBef>
                <a:spcPts val="0"/>
              </a:spcBef>
              <a:spcAft>
                <a:spcPts val="0"/>
              </a:spcAft>
            </a:pPr>
            <a:r>
              <a:rPr sz="1200" b="0">
                <a:solidFill>
                  <a:srgbClr val="1A1A1A"/>
                </a:solidFill>
                <a:latin typeface="Red Hat Text"/>
              </a:rPr>
              <a:t>Signature: intact, and it's ours</a:t>
            </a:r>
          </a:p>
        </p:txBody>
      </p:sp>
      <p:sp>
        <p:nvSpPr>
          <p:cNvPr id="9" name="Rounded Rectangle 8"/>
          <p:cNvSpPr/>
          <p:nvPr/>
        </p:nvSpPr>
        <p:spPr>
          <a:xfrm>
            <a:off x="841248" y="2999232"/>
            <a:ext cx="5715000" cy="530352"/>
          </a:xfrm>
          <a:prstGeom prst="roundRect">
            <a:avLst>
              <a:gd name="adj" fmla="val 6000"/>
            </a:avLst>
          </a:prstGeom>
          <a:solidFill>
            <a:srgbClr val="F5F6F8"/>
          </a:solidFill>
          <a:ln w="12700">
            <a:solidFill>
              <a:srgbClr val="DDE1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0" name="Picture 9" descr="check_steel.png"/>
          <p:cNvPicPr>
            <a:picLocks noChangeAspect="1"/>
          </p:cNvPicPr>
          <p:nvPr/>
        </p:nvPicPr>
        <p:blipFill>
          <a:blip r:embed="rId3"/>
          <a:stretch>
            <a:fillRect/>
          </a:stretch>
        </p:blipFill>
        <p:spPr>
          <a:xfrm>
            <a:off x="987552" y="3145536"/>
            <a:ext cx="237744" cy="237744"/>
          </a:xfrm>
          <a:prstGeom prst="rect">
            <a:avLst/>
          </a:prstGeom>
        </p:spPr>
      </p:pic>
      <p:sp>
        <p:nvSpPr>
          <p:cNvPr id="11" name="TextBox 10"/>
          <p:cNvSpPr txBox="1"/>
          <p:nvPr/>
        </p:nvSpPr>
        <p:spPr>
          <a:xfrm>
            <a:off x="1353312" y="2999232"/>
            <a:ext cx="5029200" cy="530352"/>
          </a:xfrm>
          <a:prstGeom prst="rect">
            <a:avLst/>
          </a:prstGeom>
          <a:noFill/>
        </p:spPr>
        <p:txBody>
          <a:bodyPr wrap="square" anchor="ctr" lIns="0" rIns="0" tIns="0" bIns="0">
            <a:spAutoFit/>
          </a:bodyPr>
          <a:lstStyle/>
          <a:p>
            <a:pPr algn="l">
              <a:lnSpc>
                <a:spcPct val="106000"/>
              </a:lnSpc>
              <a:spcBef>
                <a:spcPts val="0"/>
              </a:spcBef>
              <a:spcAft>
                <a:spcPts val="0"/>
              </a:spcAft>
            </a:pPr>
            <a:r>
              <a:rPr sz="1200" b="0">
                <a:solidFill>
                  <a:srgbClr val="1A1A1A"/>
                </a:solidFill>
                <a:latin typeface="Red Hat Text"/>
              </a:rPr>
              <a:t>Attestation: how it was built (SLSA provenance)</a:t>
            </a:r>
          </a:p>
        </p:txBody>
      </p:sp>
      <p:sp>
        <p:nvSpPr>
          <p:cNvPr id="12" name="Rounded Rectangle 11"/>
          <p:cNvSpPr/>
          <p:nvPr/>
        </p:nvSpPr>
        <p:spPr>
          <a:xfrm>
            <a:off x="841248" y="3602736"/>
            <a:ext cx="5715000" cy="530352"/>
          </a:xfrm>
          <a:prstGeom prst="roundRect">
            <a:avLst>
              <a:gd name="adj" fmla="val 6000"/>
            </a:avLst>
          </a:prstGeom>
          <a:solidFill>
            <a:srgbClr val="F5F6F8"/>
          </a:solidFill>
          <a:ln w="12700">
            <a:solidFill>
              <a:srgbClr val="DDE1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3" name="Picture 12" descr="check_steel.png"/>
          <p:cNvPicPr>
            <a:picLocks noChangeAspect="1"/>
          </p:cNvPicPr>
          <p:nvPr/>
        </p:nvPicPr>
        <p:blipFill>
          <a:blip r:embed="rId3"/>
          <a:stretch>
            <a:fillRect/>
          </a:stretch>
        </p:blipFill>
        <p:spPr>
          <a:xfrm>
            <a:off x="987552" y="3749040"/>
            <a:ext cx="237744" cy="237744"/>
          </a:xfrm>
          <a:prstGeom prst="rect">
            <a:avLst/>
          </a:prstGeom>
        </p:spPr>
      </p:pic>
      <p:sp>
        <p:nvSpPr>
          <p:cNvPr id="14" name="TextBox 13"/>
          <p:cNvSpPr txBox="1"/>
          <p:nvPr/>
        </p:nvSpPr>
        <p:spPr>
          <a:xfrm>
            <a:off x="1353312" y="3602736"/>
            <a:ext cx="5029200" cy="530352"/>
          </a:xfrm>
          <a:prstGeom prst="rect">
            <a:avLst/>
          </a:prstGeom>
          <a:noFill/>
        </p:spPr>
        <p:txBody>
          <a:bodyPr wrap="square" anchor="ctr" lIns="0" rIns="0" tIns="0" bIns="0">
            <a:spAutoFit/>
          </a:bodyPr>
          <a:lstStyle/>
          <a:p>
            <a:pPr algn="l">
              <a:lnSpc>
                <a:spcPct val="106000"/>
              </a:lnSpc>
              <a:spcBef>
                <a:spcPts val="0"/>
              </a:spcBef>
              <a:spcAft>
                <a:spcPts val="0"/>
              </a:spcAft>
            </a:pPr>
            <a:r>
              <a:rPr sz="1200" b="0">
                <a:solidFill>
                  <a:srgbClr val="1A1A1A"/>
                </a:solidFill>
                <a:latin typeface="Red Hat Text"/>
              </a:rPr>
              <a:t>SBOM: what's inside (every component)</a:t>
            </a:r>
          </a:p>
        </p:txBody>
      </p:sp>
      <p:sp>
        <p:nvSpPr>
          <p:cNvPr id="15" name="Rounded Rectangle 14"/>
          <p:cNvSpPr/>
          <p:nvPr/>
        </p:nvSpPr>
        <p:spPr>
          <a:xfrm>
            <a:off x="841248" y="4206240"/>
            <a:ext cx="5715000" cy="530352"/>
          </a:xfrm>
          <a:prstGeom prst="roundRect">
            <a:avLst>
              <a:gd name="adj" fmla="val 6000"/>
            </a:avLst>
          </a:prstGeom>
          <a:solidFill>
            <a:srgbClr val="F5F6F8"/>
          </a:solidFill>
          <a:ln w="12700">
            <a:solidFill>
              <a:srgbClr val="DDE1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6" name="Picture 15" descr="check_steel.png"/>
          <p:cNvPicPr>
            <a:picLocks noChangeAspect="1"/>
          </p:cNvPicPr>
          <p:nvPr/>
        </p:nvPicPr>
        <p:blipFill>
          <a:blip r:embed="rId3"/>
          <a:stretch>
            <a:fillRect/>
          </a:stretch>
        </p:blipFill>
        <p:spPr>
          <a:xfrm>
            <a:off x="987552" y="4352544"/>
            <a:ext cx="237744" cy="237744"/>
          </a:xfrm>
          <a:prstGeom prst="rect">
            <a:avLst/>
          </a:prstGeom>
        </p:spPr>
      </p:pic>
      <p:sp>
        <p:nvSpPr>
          <p:cNvPr id="17" name="TextBox 16"/>
          <p:cNvSpPr txBox="1"/>
          <p:nvPr/>
        </p:nvSpPr>
        <p:spPr>
          <a:xfrm>
            <a:off x="1353312" y="4206240"/>
            <a:ext cx="5029200" cy="530352"/>
          </a:xfrm>
          <a:prstGeom prst="rect">
            <a:avLst/>
          </a:prstGeom>
          <a:noFill/>
        </p:spPr>
        <p:txBody>
          <a:bodyPr wrap="square" anchor="ctr" lIns="0" rIns="0" tIns="0" bIns="0">
            <a:spAutoFit/>
          </a:bodyPr>
          <a:lstStyle/>
          <a:p>
            <a:pPr algn="l">
              <a:lnSpc>
                <a:spcPct val="106000"/>
              </a:lnSpc>
              <a:spcBef>
                <a:spcPts val="0"/>
              </a:spcBef>
              <a:spcAft>
                <a:spcPts val="0"/>
              </a:spcAft>
            </a:pPr>
            <a:r>
              <a:rPr sz="1200" b="0">
                <a:solidFill>
                  <a:srgbClr val="1A1A1A"/>
                </a:solidFill>
                <a:latin typeface="Red Hat Text"/>
              </a:rPr>
              <a:t>People conflate them — they're different facts</a:t>
            </a:r>
          </a:p>
        </p:txBody>
      </p:sp>
      <p:sp>
        <p:nvSpPr>
          <p:cNvPr id="18" name="Rounded Rectangle 17"/>
          <p:cNvSpPr/>
          <p:nvPr/>
        </p:nvSpPr>
        <p:spPr>
          <a:xfrm>
            <a:off x="841248" y="4809744"/>
            <a:ext cx="5715000" cy="530352"/>
          </a:xfrm>
          <a:prstGeom prst="roundRect">
            <a:avLst>
              <a:gd name="adj" fmla="val 6000"/>
            </a:avLst>
          </a:prstGeom>
          <a:solidFill>
            <a:srgbClr val="F5F6F8"/>
          </a:solidFill>
          <a:ln w="12700">
            <a:solidFill>
              <a:srgbClr val="DDE1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9" name="Picture 18" descr="check_steel.png"/>
          <p:cNvPicPr>
            <a:picLocks noChangeAspect="1"/>
          </p:cNvPicPr>
          <p:nvPr/>
        </p:nvPicPr>
        <p:blipFill>
          <a:blip r:embed="rId3"/>
          <a:stretch>
            <a:fillRect/>
          </a:stretch>
        </p:blipFill>
        <p:spPr>
          <a:xfrm>
            <a:off x="987552" y="4956048"/>
            <a:ext cx="237744" cy="237744"/>
          </a:xfrm>
          <a:prstGeom prst="rect">
            <a:avLst/>
          </a:prstGeom>
        </p:spPr>
      </p:pic>
      <p:sp>
        <p:nvSpPr>
          <p:cNvPr id="20" name="TextBox 19"/>
          <p:cNvSpPr txBox="1"/>
          <p:nvPr/>
        </p:nvSpPr>
        <p:spPr>
          <a:xfrm>
            <a:off x="1353312" y="4809744"/>
            <a:ext cx="5029200" cy="530352"/>
          </a:xfrm>
          <a:prstGeom prst="rect">
            <a:avLst/>
          </a:prstGeom>
          <a:noFill/>
        </p:spPr>
        <p:txBody>
          <a:bodyPr wrap="square" anchor="ctr" lIns="0" rIns="0" tIns="0" bIns="0">
            <a:spAutoFit/>
          </a:bodyPr>
          <a:lstStyle/>
          <a:p>
            <a:pPr algn="l">
              <a:lnSpc>
                <a:spcPct val="106000"/>
              </a:lnSpc>
              <a:spcBef>
                <a:spcPts val="0"/>
              </a:spcBef>
              <a:spcAft>
                <a:spcPts val="0"/>
              </a:spcAft>
            </a:pPr>
            <a:r>
              <a:rPr sz="1200" b="0">
                <a:solidFill>
                  <a:srgbClr val="1A1A1A"/>
                </a:solidFill>
                <a:latin typeface="Red Hat Text"/>
              </a:rPr>
              <a:t>You need all three; they reinforce each other</a:t>
            </a:r>
          </a:p>
        </p:txBody>
      </p:sp>
      <p:sp>
        <p:nvSpPr>
          <p:cNvPr id="21" name="Rounded Rectangle 20"/>
          <p:cNvSpPr/>
          <p:nvPr/>
        </p:nvSpPr>
        <p:spPr>
          <a:xfrm>
            <a:off x="6812280" y="2395728"/>
            <a:ext cx="4538167" cy="2944368"/>
          </a:xfrm>
          <a:prstGeom prst="roundRect">
            <a:avLst>
              <a:gd name="adj" fmla="val 4000"/>
            </a:avLst>
          </a:prstGeom>
          <a:solidFill>
            <a:srgbClr val="FFFFFF"/>
          </a:solidFill>
          <a:ln w="15240">
            <a:solidFill>
              <a:srgbClr val="DDE1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ounded Rectangle 21"/>
          <p:cNvSpPr/>
          <p:nvPr/>
        </p:nvSpPr>
        <p:spPr>
          <a:xfrm>
            <a:off x="7013448" y="2596896"/>
            <a:ext cx="1298448" cy="310896"/>
          </a:xfrm>
          <a:prstGeom prst="roundRect">
            <a:avLst>
              <a:gd name="adj" fmla="val 50000"/>
            </a:avLst>
          </a:prstGeom>
          <a:solidFill>
            <a:srgbClr val="FCEC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7013448" y="2596896"/>
            <a:ext cx="1298448" cy="310896"/>
          </a:xfrm>
          <a:prstGeom prst="rect">
            <a:avLst/>
          </a:prstGeom>
          <a:noFill/>
        </p:spPr>
        <p:txBody>
          <a:bodyPr wrap="none" anchor="ctr" lIns="0" rIns="0" tIns="0" bIns="0">
            <a:spAutoFit/>
          </a:bodyPr>
          <a:lstStyle/>
          <a:p>
            <a:pPr algn="ctr">
              <a:lnSpc>
                <a:spcPct val="106000"/>
              </a:lnSpc>
              <a:spcBef>
                <a:spcPts val="0"/>
              </a:spcBef>
              <a:spcAft>
                <a:spcPts val="0"/>
              </a:spcAft>
            </a:pPr>
            <a:r>
              <a:rPr sz="850" b="1">
                <a:solidFill>
                  <a:srgbClr val="B80000"/>
                </a:solidFill>
                <a:latin typeface="Red Hat Display"/>
              </a:rPr>
              <a:t>MEDIA PASS</a:t>
            </a:r>
          </a:p>
        </p:txBody>
      </p:sp>
      <p:pic>
        <p:nvPicPr>
          <p:cNvPr id="24" name="Picture 23" descr="eye_slate.png"/>
          <p:cNvPicPr>
            <a:picLocks noChangeAspect="1"/>
          </p:cNvPicPr>
          <p:nvPr/>
        </p:nvPicPr>
        <p:blipFill>
          <a:blip r:embed="rId4"/>
          <a:stretch>
            <a:fillRect/>
          </a:stretch>
        </p:blipFill>
        <p:spPr>
          <a:xfrm>
            <a:off x="8843619" y="3108960"/>
            <a:ext cx="475488" cy="475488"/>
          </a:xfrm>
          <a:prstGeom prst="rect">
            <a:avLst/>
          </a:prstGeom>
        </p:spPr>
      </p:pic>
      <p:sp>
        <p:nvSpPr>
          <p:cNvPr id="25" name="TextBox 24"/>
          <p:cNvSpPr txBox="1"/>
          <p:nvPr/>
        </p:nvSpPr>
        <p:spPr>
          <a:xfrm>
            <a:off x="7050024" y="3721608"/>
            <a:ext cx="4062679" cy="1481328"/>
          </a:xfrm>
          <a:prstGeom prst="rect">
            <a:avLst/>
          </a:prstGeom>
          <a:noFill/>
        </p:spPr>
        <p:txBody>
          <a:bodyPr wrap="square" anchor="t" lIns="0" rIns="0" tIns="0" bIns="0">
            <a:spAutoFit/>
          </a:bodyPr>
          <a:lstStyle/>
          <a:p>
            <a:pPr algn="l">
              <a:lnSpc>
                <a:spcPct val="120000"/>
              </a:lnSpc>
              <a:spcBef>
                <a:spcPts val="0"/>
              </a:spcBef>
              <a:spcAft>
                <a:spcPts val="0"/>
              </a:spcAft>
            </a:pPr>
            <a:r>
              <a:rPr sz="950" b="0">
                <a:solidFill>
                  <a:srgbClr val="8A9099"/>
                </a:solidFill>
                <a:latin typeface="Red Hat Text"/>
              </a:rPr>
              <a:t>Reuse concept diagram trusted-supply-chain-...-01 (the trust triangle / pipeline) — signature / attestation / SBOM as three labelled artifacts beside the image.</a:t>
            </a:r>
          </a:p>
        </p:txBody>
      </p:sp>
      <p:cxnSp>
        <p:nvCxnSpPr>
          <p:cNvPr id="26" name="Connector 25"/>
          <p:cNvCxnSpPr/>
          <p:nvPr/>
        </p:nvCxnSpPr>
        <p:spPr>
          <a:xfrm>
            <a:off x="841248" y="6437376"/>
            <a:ext cx="10509199" cy="0"/>
          </a:xfrm>
          <a:prstGeom prst="bentConnector3">
            <a:avLst/>
          </a:prstGeom>
          <a:ln w="12700">
            <a:solidFill>
              <a:srgbClr val="DDE1E6"/>
            </a:solidFill>
          </a:ln>
          <a:effectLst/>
        </p:spPr>
        <p:style>
          <a:lnRef idx="2">
            <a:schemeClr val="accent1"/>
          </a:lnRef>
          <a:fillRef idx="0">
            <a:schemeClr val="accent1"/>
          </a:fillRef>
          <a:effectRef idx="1">
            <a:schemeClr val="accent1"/>
          </a:effectRef>
          <a:fontRef idx="minor">
            <a:schemeClr val="tx1"/>
          </a:fontRef>
        </p:style>
      </p:cxnSp>
      <p:sp>
        <p:nvSpPr>
          <p:cNvPr id="27" name="TextBox 26"/>
          <p:cNvSpPr txBox="1"/>
          <p:nvPr/>
        </p:nvSpPr>
        <p:spPr>
          <a:xfrm>
            <a:off x="841248" y="6473952"/>
            <a:ext cx="7315200" cy="274320"/>
          </a:xfrm>
          <a:prstGeom prst="rect">
            <a:avLst/>
          </a:prstGeom>
          <a:noFill/>
        </p:spPr>
        <p:txBody>
          <a:bodyPr wrap="square" anchor="t" lIns="0" rIns="0" tIns="0" bIns="0">
            <a:spAutoFit/>
          </a:bodyPr>
          <a:lstStyle/>
          <a:p>
            <a:pPr algn="l">
              <a:lnSpc>
                <a:spcPct val="106000"/>
              </a:lnSpc>
              <a:spcBef>
                <a:spcPts val="0"/>
              </a:spcBef>
              <a:spcAft>
                <a:spcPts val="0"/>
              </a:spcAft>
            </a:pPr>
            <a:r>
              <a:rPr sz="950" b="0">
                <a:solidFill>
                  <a:srgbClr val="8A9099"/>
                </a:solidFill>
                <a:latin typeface="Red Hat Text"/>
              </a:rPr>
              <a:t>CONFIDENTIAL</a:t>
            </a:r>
          </a:p>
        </p:txBody>
      </p:sp>
      <p:sp>
        <p:nvSpPr>
          <p:cNvPr id="28" name="TextBox 27"/>
          <p:cNvSpPr txBox="1"/>
          <p:nvPr/>
        </p:nvSpPr>
        <p:spPr>
          <a:xfrm>
            <a:off x="10801807" y="6473952"/>
            <a:ext cx="548640" cy="274320"/>
          </a:xfrm>
          <a:prstGeom prst="rect">
            <a:avLst/>
          </a:prstGeom>
          <a:noFill/>
        </p:spPr>
        <p:txBody>
          <a:bodyPr wrap="square" anchor="t" lIns="0" rIns="0" tIns="0" bIns="0">
            <a:spAutoFit/>
          </a:bodyPr>
          <a:lstStyle/>
          <a:p>
            <a:pPr algn="r">
              <a:lnSpc>
                <a:spcPct val="106000"/>
              </a:lnSpc>
              <a:spcBef>
                <a:spcPts val="0"/>
              </a:spcBef>
              <a:spcAft>
                <a:spcPts val="0"/>
              </a:spcAft>
            </a:pPr>
            <a:r>
              <a:rPr sz="950" b="0">
                <a:solidFill>
                  <a:srgbClr val="8A9099"/>
                </a:solidFill>
                <a:latin typeface="Red Hat Text"/>
              </a:rPr>
              <a:t>62</a:t>
            </a:r>
          </a:p>
        </p:txBody>
      </p:sp>
    </p:spTree>
  </p:cSld>
  <p:clrMapOvr>
    <a:masterClrMapping/>
  </p:clrMapOvr>
</p:sld>
</file>

<file path=ppt/slides/slide7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redhat_logo.jpg"/>
          <p:cNvPicPr>
            <a:picLocks noChangeAspect="1"/>
          </p:cNvPicPr>
          <p:nvPr/>
        </p:nvPicPr>
        <p:blipFill>
          <a:blip r:embed="rId2"/>
          <a:stretch>
            <a:fillRect/>
          </a:stretch>
        </p:blipFill>
        <p:spPr>
          <a:xfrm>
            <a:off x="10326319" y="475488"/>
            <a:ext cx="1024128" cy="242248"/>
          </a:xfrm>
          <a:prstGeom prst="rect">
            <a:avLst/>
          </a:prstGeom>
        </p:spPr>
      </p:pic>
      <p:sp>
        <p:nvSpPr>
          <p:cNvPr id="3" name="TextBox 2"/>
          <p:cNvSpPr txBox="1"/>
          <p:nvPr/>
        </p:nvSpPr>
        <p:spPr>
          <a:xfrm>
            <a:off x="841248" y="548640"/>
            <a:ext cx="8595360" cy="274320"/>
          </a:xfrm>
          <a:prstGeom prst="rect">
            <a:avLst/>
          </a:prstGeom>
          <a:noFill/>
        </p:spPr>
        <p:txBody>
          <a:bodyPr wrap="square" anchor="t" lIns="0" rIns="0" tIns="0" bIns="0">
            <a:spAutoFit/>
          </a:bodyPr>
          <a:lstStyle/>
          <a:p>
            <a:pPr algn="l">
              <a:lnSpc>
                <a:spcPct val="106000"/>
              </a:lnSpc>
              <a:spcBef>
                <a:spcPts val="0"/>
              </a:spcBef>
              <a:spcAft>
                <a:spcPts val="0"/>
              </a:spcAft>
            </a:pPr>
            <a:r>
              <a:rPr sz="1250" b="1" spc="220">
                <a:solidFill>
                  <a:srgbClr val="EE0000"/>
                </a:solidFill>
                <a:latin typeface="Red Hat Display"/>
              </a:rPr>
              <a:t>M09 · TRUSTED SOFTWARE SUPPLY CHAIN</a:t>
            </a:r>
          </a:p>
        </p:txBody>
      </p:sp>
      <p:sp>
        <p:nvSpPr>
          <p:cNvPr id="4" name="TextBox 3"/>
          <p:cNvSpPr txBox="1"/>
          <p:nvPr/>
        </p:nvSpPr>
        <p:spPr>
          <a:xfrm>
            <a:off x="841248" y="877824"/>
            <a:ext cx="10515600" cy="548640"/>
          </a:xfrm>
          <a:prstGeom prst="rect">
            <a:avLst/>
          </a:prstGeom>
          <a:noFill/>
        </p:spPr>
        <p:txBody>
          <a:bodyPr wrap="none" anchor="t" lIns="0" rIns="0" tIns="0" bIns="0">
            <a:spAutoFit/>
          </a:bodyPr>
          <a:lstStyle/>
          <a:p>
            <a:pPr algn="l">
              <a:lnSpc>
                <a:spcPct val="100000"/>
              </a:lnSpc>
              <a:spcBef>
                <a:spcPts val="0"/>
              </a:spcBef>
              <a:spcAft>
                <a:spcPts val="0"/>
              </a:spcAft>
            </a:pPr>
            <a:r>
              <a:rPr sz="2500" b="1">
                <a:solidFill>
                  <a:srgbClr val="1A1A1A"/>
                </a:solidFill>
                <a:latin typeface="Red Hat Display"/>
              </a:rPr>
              <a:t>Gate at build, admit at run</a:t>
            </a:r>
          </a:p>
        </p:txBody>
      </p:sp>
      <p:cxnSp>
        <p:nvCxnSpPr>
          <p:cNvPr id="5" name="Connector 4"/>
          <p:cNvCxnSpPr/>
          <p:nvPr/>
        </p:nvCxnSpPr>
        <p:spPr>
          <a:xfrm>
            <a:off x="841248" y="1554480"/>
            <a:ext cx="1371600" cy="0"/>
          </a:xfrm>
          <a:prstGeom prst="bentConnector3">
            <a:avLst/>
          </a:prstGeom>
          <a:ln w="31750">
            <a:solidFill>
              <a:srgbClr val="EE0000"/>
            </a:solidFill>
          </a:ln>
          <a:effectLst/>
        </p:spPr>
        <p:style>
          <a:lnRef idx="2">
            <a:schemeClr val="accent1"/>
          </a:lnRef>
          <a:fillRef idx="0">
            <a:schemeClr val="accent1"/>
          </a:fillRef>
          <a:effectRef idx="1">
            <a:schemeClr val="accent1"/>
          </a:effectRef>
          <a:fontRef idx="minor">
            <a:schemeClr val="tx1"/>
          </a:fontRef>
        </p:style>
      </p:cxnSp>
      <p:sp>
        <p:nvSpPr>
          <p:cNvPr id="6" name="Rounded Rectangle 5"/>
          <p:cNvSpPr/>
          <p:nvPr/>
        </p:nvSpPr>
        <p:spPr>
          <a:xfrm>
            <a:off x="841248" y="2395728"/>
            <a:ext cx="5715000" cy="530352"/>
          </a:xfrm>
          <a:prstGeom prst="roundRect">
            <a:avLst>
              <a:gd name="adj" fmla="val 6000"/>
            </a:avLst>
          </a:prstGeom>
          <a:solidFill>
            <a:srgbClr val="F5F6F8"/>
          </a:solidFill>
          <a:ln w="12700">
            <a:solidFill>
              <a:srgbClr val="DDE1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check_steel.png"/>
          <p:cNvPicPr>
            <a:picLocks noChangeAspect="1"/>
          </p:cNvPicPr>
          <p:nvPr/>
        </p:nvPicPr>
        <p:blipFill>
          <a:blip r:embed="rId3"/>
          <a:stretch>
            <a:fillRect/>
          </a:stretch>
        </p:blipFill>
        <p:spPr>
          <a:xfrm>
            <a:off x="987552" y="2542032"/>
            <a:ext cx="237744" cy="237744"/>
          </a:xfrm>
          <a:prstGeom prst="rect">
            <a:avLst/>
          </a:prstGeom>
        </p:spPr>
      </p:pic>
      <p:sp>
        <p:nvSpPr>
          <p:cNvPr id="8" name="TextBox 7"/>
          <p:cNvSpPr txBox="1"/>
          <p:nvPr/>
        </p:nvSpPr>
        <p:spPr>
          <a:xfrm>
            <a:off x="1353312" y="2395728"/>
            <a:ext cx="5029200" cy="530352"/>
          </a:xfrm>
          <a:prstGeom prst="rect">
            <a:avLst/>
          </a:prstGeom>
          <a:noFill/>
        </p:spPr>
        <p:txBody>
          <a:bodyPr wrap="square" anchor="ctr" lIns="0" rIns="0" tIns="0" bIns="0">
            <a:spAutoFit/>
          </a:bodyPr>
          <a:lstStyle/>
          <a:p>
            <a:pPr algn="l">
              <a:lnSpc>
                <a:spcPct val="106000"/>
              </a:lnSpc>
              <a:spcBef>
                <a:spcPts val="0"/>
              </a:spcBef>
              <a:spcAft>
                <a:spcPts val="0"/>
              </a:spcAft>
            </a:pPr>
            <a:r>
              <a:rPr sz="1200" b="0">
                <a:solidFill>
                  <a:srgbClr val="1A1A1A"/>
                </a:solidFill>
                <a:latin typeface="Red Hat Text"/>
              </a:rPr>
              <a:t>Gate (build): scan, fail the build on a CVE</a:t>
            </a:r>
          </a:p>
        </p:txBody>
      </p:sp>
      <p:sp>
        <p:nvSpPr>
          <p:cNvPr id="9" name="Rounded Rectangle 8"/>
          <p:cNvSpPr/>
          <p:nvPr/>
        </p:nvSpPr>
        <p:spPr>
          <a:xfrm>
            <a:off x="841248" y="2999232"/>
            <a:ext cx="5715000" cy="530352"/>
          </a:xfrm>
          <a:prstGeom prst="roundRect">
            <a:avLst>
              <a:gd name="adj" fmla="val 6000"/>
            </a:avLst>
          </a:prstGeom>
          <a:solidFill>
            <a:srgbClr val="F5F6F8"/>
          </a:solidFill>
          <a:ln w="12700">
            <a:solidFill>
              <a:srgbClr val="DDE1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0" name="Picture 9" descr="check_steel.png"/>
          <p:cNvPicPr>
            <a:picLocks noChangeAspect="1"/>
          </p:cNvPicPr>
          <p:nvPr/>
        </p:nvPicPr>
        <p:blipFill>
          <a:blip r:embed="rId3"/>
          <a:stretch>
            <a:fillRect/>
          </a:stretch>
        </p:blipFill>
        <p:spPr>
          <a:xfrm>
            <a:off x="987552" y="3145536"/>
            <a:ext cx="237744" cy="237744"/>
          </a:xfrm>
          <a:prstGeom prst="rect">
            <a:avLst/>
          </a:prstGeom>
        </p:spPr>
      </p:pic>
      <p:sp>
        <p:nvSpPr>
          <p:cNvPr id="11" name="TextBox 10"/>
          <p:cNvSpPr txBox="1"/>
          <p:nvPr/>
        </p:nvSpPr>
        <p:spPr>
          <a:xfrm>
            <a:off x="1353312" y="2999232"/>
            <a:ext cx="5029200" cy="530352"/>
          </a:xfrm>
          <a:prstGeom prst="rect">
            <a:avLst/>
          </a:prstGeom>
          <a:noFill/>
        </p:spPr>
        <p:txBody>
          <a:bodyPr wrap="square" anchor="ctr" lIns="0" rIns="0" tIns="0" bIns="0">
            <a:spAutoFit/>
          </a:bodyPr>
          <a:lstStyle/>
          <a:p>
            <a:pPr algn="l">
              <a:lnSpc>
                <a:spcPct val="106000"/>
              </a:lnSpc>
              <a:spcBef>
                <a:spcPts val="0"/>
              </a:spcBef>
              <a:spcAft>
                <a:spcPts val="0"/>
              </a:spcAft>
            </a:pPr>
            <a:r>
              <a:rPr sz="1200" b="0">
                <a:solidFill>
                  <a:srgbClr val="1A1A1A"/>
                </a:solidFill>
                <a:latin typeface="Red Hat Text"/>
              </a:rPr>
              <a:t>Shift-left: the developer sees it in their run</a:t>
            </a:r>
          </a:p>
        </p:txBody>
      </p:sp>
      <p:sp>
        <p:nvSpPr>
          <p:cNvPr id="12" name="Rounded Rectangle 11"/>
          <p:cNvSpPr/>
          <p:nvPr/>
        </p:nvSpPr>
        <p:spPr>
          <a:xfrm>
            <a:off x="841248" y="3602736"/>
            <a:ext cx="5715000" cy="530352"/>
          </a:xfrm>
          <a:prstGeom prst="roundRect">
            <a:avLst>
              <a:gd name="adj" fmla="val 6000"/>
            </a:avLst>
          </a:prstGeom>
          <a:solidFill>
            <a:srgbClr val="F5F6F8"/>
          </a:solidFill>
          <a:ln w="12700">
            <a:solidFill>
              <a:srgbClr val="DDE1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3" name="Picture 12" descr="check_steel.png"/>
          <p:cNvPicPr>
            <a:picLocks noChangeAspect="1"/>
          </p:cNvPicPr>
          <p:nvPr/>
        </p:nvPicPr>
        <p:blipFill>
          <a:blip r:embed="rId3"/>
          <a:stretch>
            <a:fillRect/>
          </a:stretch>
        </p:blipFill>
        <p:spPr>
          <a:xfrm>
            <a:off x="987552" y="3749040"/>
            <a:ext cx="237744" cy="237744"/>
          </a:xfrm>
          <a:prstGeom prst="rect">
            <a:avLst/>
          </a:prstGeom>
        </p:spPr>
      </p:pic>
      <p:sp>
        <p:nvSpPr>
          <p:cNvPr id="14" name="TextBox 13"/>
          <p:cNvSpPr txBox="1"/>
          <p:nvPr/>
        </p:nvSpPr>
        <p:spPr>
          <a:xfrm>
            <a:off x="1353312" y="3602736"/>
            <a:ext cx="5029200" cy="530352"/>
          </a:xfrm>
          <a:prstGeom prst="rect">
            <a:avLst/>
          </a:prstGeom>
          <a:noFill/>
        </p:spPr>
        <p:txBody>
          <a:bodyPr wrap="square" anchor="ctr" lIns="0" rIns="0" tIns="0" bIns="0">
            <a:spAutoFit/>
          </a:bodyPr>
          <a:lstStyle/>
          <a:p>
            <a:pPr algn="l">
              <a:lnSpc>
                <a:spcPct val="106000"/>
              </a:lnSpc>
              <a:spcBef>
                <a:spcPts val="0"/>
              </a:spcBef>
              <a:spcAft>
                <a:spcPts val="0"/>
              </a:spcAft>
            </a:pPr>
            <a:r>
              <a:rPr sz="1200" b="0">
                <a:solidFill>
                  <a:srgbClr val="1A1A1A"/>
                </a:solidFill>
                <a:latin typeface="Red Hat Text"/>
              </a:rPr>
              <a:t>Admission (run): cluster verifies signature at pull</a:t>
            </a:r>
          </a:p>
        </p:txBody>
      </p:sp>
      <p:sp>
        <p:nvSpPr>
          <p:cNvPr id="15" name="Rounded Rectangle 14"/>
          <p:cNvSpPr/>
          <p:nvPr/>
        </p:nvSpPr>
        <p:spPr>
          <a:xfrm>
            <a:off x="841248" y="4206240"/>
            <a:ext cx="5715000" cy="530352"/>
          </a:xfrm>
          <a:prstGeom prst="roundRect">
            <a:avLst>
              <a:gd name="adj" fmla="val 6000"/>
            </a:avLst>
          </a:prstGeom>
          <a:solidFill>
            <a:srgbClr val="F5F6F8"/>
          </a:solidFill>
          <a:ln w="12700">
            <a:solidFill>
              <a:srgbClr val="DDE1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6" name="Picture 15" descr="check_steel.png"/>
          <p:cNvPicPr>
            <a:picLocks noChangeAspect="1"/>
          </p:cNvPicPr>
          <p:nvPr/>
        </p:nvPicPr>
        <p:blipFill>
          <a:blip r:embed="rId3"/>
          <a:stretch>
            <a:fillRect/>
          </a:stretch>
        </p:blipFill>
        <p:spPr>
          <a:xfrm>
            <a:off x="987552" y="4352544"/>
            <a:ext cx="237744" cy="237744"/>
          </a:xfrm>
          <a:prstGeom prst="rect">
            <a:avLst/>
          </a:prstGeom>
        </p:spPr>
      </p:pic>
      <p:sp>
        <p:nvSpPr>
          <p:cNvPr id="17" name="TextBox 16"/>
          <p:cNvSpPr txBox="1"/>
          <p:nvPr/>
        </p:nvSpPr>
        <p:spPr>
          <a:xfrm>
            <a:off x="1353312" y="4206240"/>
            <a:ext cx="5029200" cy="530352"/>
          </a:xfrm>
          <a:prstGeom prst="rect">
            <a:avLst/>
          </a:prstGeom>
          <a:noFill/>
        </p:spPr>
        <p:txBody>
          <a:bodyPr wrap="square" anchor="ctr" lIns="0" rIns="0" tIns="0" bIns="0">
            <a:spAutoFit/>
          </a:bodyPr>
          <a:lstStyle/>
          <a:p>
            <a:pPr algn="l">
              <a:lnSpc>
                <a:spcPct val="106000"/>
              </a:lnSpc>
              <a:spcBef>
                <a:spcPts val="0"/>
              </a:spcBef>
              <a:spcAft>
                <a:spcPts val="0"/>
              </a:spcAft>
            </a:pPr>
            <a:r>
              <a:rPr sz="1200" b="0">
                <a:solidFill>
                  <a:srgbClr val="1A1A1A"/>
                </a:solidFill>
                <a:latin typeface="Red Hat Text"/>
              </a:rPr>
              <a:t>Unsigned image → refused, no matter what</a:t>
            </a:r>
          </a:p>
        </p:txBody>
      </p:sp>
      <p:sp>
        <p:nvSpPr>
          <p:cNvPr id="18" name="Rounded Rectangle 17"/>
          <p:cNvSpPr/>
          <p:nvPr/>
        </p:nvSpPr>
        <p:spPr>
          <a:xfrm>
            <a:off x="841248" y="4809744"/>
            <a:ext cx="5715000" cy="530352"/>
          </a:xfrm>
          <a:prstGeom prst="roundRect">
            <a:avLst>
              <a:gd name="adj" fmla="val 6000"/>
            </a:avLst>
          </a:prstGeom>
          <a:solidFill>
            <a:srgbClr val="F5F6F8"/>
          </a:solidFill>
          <a:ln w="12700">
            <a:solidFill>
              <a:srgbClr val="DDE1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9" name="Picture 18" descr="check_steel.png"/>
          <p:cNvPicPr>
            <a:picLocks noChangeAspect="1"/>
          </p:cNvPicPr>
          <p:nvPr/>
        </p:nvPicPr>
        <p:blipFill>
          <a:blip r:embed="rId3"/>
          <a:stretch>
            <a:fillRect/>
          </a:stretch>
        </p:blipFill>
        <p:spPr>
          <a:xfrm>
            <a:off x="987552" y="4956048"/>
            <a:ext cx="237744" cy="237744"/>
          </a:xfrm>
          <a:prstGeom prst="rect">
            <a:avLst/>
          </a:prstGeom>
        </p:spPr>
      </p:pic>
      <p:sp>
        <p:nvSpPr>
          <p:cNvPr id="20" name="TextBox 19"/>
          <p:cNvSpPr txBox="1"/>
          <p:nvPr/>
        </p:nvSpPr>
        <p:spPr>
          <a:xfrm>
            <a:off x="1353312" y="4809744"/>
            <a:ext cx="5029200" cy="530352"/>
          </a:xfrm>
          <a:prstGeom prst="rect">
            <a:avLst/>
          </a:prstGeom>
          <a:noFill/>
        </p:spPr>
        <p:txBody>
          <a:bodyPr wrap="square" anchor="ctr" lIns="0" rIns="0" tIns="0" bIns="0">
            <a:spAutoFit/>
          </a:bodyPr>
          <a:lstStyle/>
          <a:p>
            <a:pPr algn="l">
              <a:lnSpc>
                <a:spcPct val="106000"/>
              </a:lnSpc>
              <a:spcBef>
                <a:spcPts val="0"/>
              </a:spcBef>
              <a:spcAft>
                <a:spcPts val="0"/>
              </a:spcAft>
            </a:pPr>
            <a:r>
              <a:rPr sz="1200" b="0">
                <a:solidFill>
                  <a:srgbClr val="1A1A1A"/>
                </a:solidFill>
                <a:latin typeface="Red Hat Text"/>
              </a:rPr>
              <a:t>Mature answer is both, not either</a:t>
            </a:r>
          </a:p>
        </p:txBody>
      </p:sp>
      <p:sp>
        <p:nvSpPr>
          <p:cNvPr id="21" name="Rounded Rectangle 20"/>
          <p:cNvSpPr/>
          <p:nvPr/>
        </p:nvSpPr>
        <p:spPr>
          <a:xfrm>
            <a:off x="6812280" y="2395728"/>
            <a:ext cx="4538167" cy="2944368"/>
          </a:xfrm>
          <a:prstGeom prst="roundRect">
            <a:avLst>
              <a:gd name="adj" fmla="val 4000"/>
            </a:avLst>
          </a:prstGeom>
          <a:solidFill>
            <a:srgbClr val="FFFFFF"/>
          </a:solidFill>
          <a:ln w="15240">
            <a:solidFill>
              <a:srgbClr val="DDE1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ounded Rectangle 21"/>
          <p:cNvSpPr/>
          <p:nvPr/>
        </p:nvSpPr>
        <p:spPr>
          <a:xfrm>
            <a:off x="7013448" y="2596896"/>
            <a:ext cx="1298448" cy="310896"/>
          </a:xfrm>
          <a:prstGeom prst="roundRect">
            <a:avLst>
              <a:gd name="adj" fmla="val 50000"/>
            </a:avLst>
          </a:prstGeom>
          <a:solidFill>
            <a:srgbClr val="FCEC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7013448" y="2596896"/>
            <a:ext cx="1298448" cy="310896"/>
          </a:xfrm>
          <a:prstGeom prst="rect">
            <a:avLst/>
          </a:prstGeom>
          <a:noFill/>
        </p:spPr>
        <p:txBody>
          <a:bodyPr wrap="none" anchor="ctr" lIns="0" rIns="0" tIns="0" bIns="0">
            <a:spAutoFit/>
          </a:bodyPr>
          <a:lstStyle/>
          <a:p>
            <a:pPr algn="ctr">
              <a:lnSpc>
                <a:spcPct val="106000"/>
              </a:lnSpc>
              <a:spcBef>
                <a:spcPts val="0"/>
              </a:spcBef>
              <a:spcAft>
                <a:spcPts val="0"/>
              </a:spcAft>
            </a:pPr>
            <a:r>
              <a:rPr sz="850" b="1">
                <a:solidFill>
                  <a:srgbClr val="B80000"/>
                </a:solidFill>
                <a:latin typeface="Red Hat Display"/>
              </a:rPr>
              <a:t>MEDIA PASS</a:t>
            </a:r>
          </a:p>
        </p:txBody>
      </p:sp>
      <p:pic>
        <p:nvPicPr>
          <p:cNvPr id="24" name="Picture 23" descr="eye_slate.png"/>
          <p:cNvPicPr>
            <a:picLocks noChangeAspect="1"/>
          </p:cNvPicPr>
          <p:nvPr/>
        </p:nvPicPr>
        <p:blipFill>
          <a:blip r:embed="rId4"/>
          <a:stretch>
            <a:fillRect/>
          </a:stretch>
        </p:blipFill>
        <p:spPr>
          <a:xfrm>
            <a:off x="8843619" y="3108960"/>
            <a:ext cx="475488" cy="475488"/>
          </a:xfrm>
          <a:prstGeom prst="rect">
            <a:avLst/>
          </a:prstGeom>
        </p:spPr>
      </p:pic>
      <p:sp>
        <p:nvSpPr>
          <p:cNvPr id="25" name="TextBox 24"/>
          <p:cNvSpPr txBox="1"/>
          <p:nvPr/>
        </p:nvSpPr>
        <p:spPr>
          <a:xfrm>
            <a:off x="7050024" y="3721608"/>
            <a:ext cx="4062679" cy="1481328"/>
          </a:xfrm>
          <a:prstGeom prst="rect">
            <a:avLst/>
          </a:prstGeom>
          <a:noFill/>
        </p:spPr>
        <p:txBody>
          <a:bodyPr wrap="square" anchor="t" lIns="0" rIns="0" tIns="0" bIns="0">
            <a:spAutoFit/>
          </a:bodyPr>
          <a:lstStyle/>
          <a:p>
            <a:pPr algn="l">
              <a:lnSpc>
                <a:spcPct val="120000"/>
              </a:lnSpc>
              <a:spcBef>
                <a:spcPts val="0"/>
              </a:spcBef>
              <a:spcAft>
                <a:spcPts val="0"/>
              </a:spcAft>
            </a:pPr>
            <a:r>
              <a:rPr sz="950" b="0">
                <a:solidFill>
                  <a:srgbClr val="8A9099"/>
                </a:solidFill>
                <a:latin typeface="Red Hat Text"/>
              </a:rPr>
              <a:t>Two gates in series — a pipeline "scan gate" (fails a red image) and a cluster "admission gate" (refuses an unsigned image), with a caption "both, not either."</a:t>
            </a:r>
          </a:p>
        </p:txBody>
      </p:sp>
      <p:cxnSp>
        <p:nvCxnSpPr>
          <p:cNvPr id="26" name="Connector 25"/>
          <p:cNvCxnSpPr/>
          <p:nvPr/>
        </p:nvCxnSpPr>
        <p:spPr>
          <a:xfrm>
            <a:off x="841248" y="6437376"/>
            <a:ext cx="10509199" cy="0"/>
          </a:xfrm>
          <a:prstGeom prst="bentConnector3">
            <a:avLst/>
          </a:prstGeom>
          <a:ln w="12700">
            <a:solidFill>
              <a:srgbClr val="DDE1E6"/>
            </a:solidFill>
          </a:ln>
          <a:effectLst/>
        </p:spPr>
        <p:style>
          <a:lnRef idx="2">
            <a:schemeClr val="accent1"/>
          </a:lnRef>
          <a:fillRef idx="0">
            <a:schemeClr val="accent1"/>
          </a:fillRef>
          <a:effectRef idx="1">
            <a:schemeClr val="accent1"/>
          </a:effectRef>
          <a:fontRef idx="minor">
            <a:schemeClr val="tx1"/>
          </a:fontRef>
        </p:style>
      </p:cxnSp>
      <p:sp>
        <p:nvSpPr>
          <p:cNvPr id="27" name="TextBox 26"/>
          <p:cNvSpPr txBox="1"/>
          <p:nvPr/>
        </p:nvSpPr>
        <p:spPr>
          <a:xfrm>
            <a:off x="841248" y="6473952"/>
            <a:ext cx="7315200" cy="274320"/>
          </a:xfrm>
          <a:prstGeom prst="rect">
            <a:avLst/>
          </a:prstGeom>
          <a:noFill/>
        </p:spPr>
        <p:txBody>
          <a:bodyPr wrap="square" anchor="t" lIns="0" rIns="0" tIns="0" bIns="0">
            <a:spAutoFit/>
          </a:bodyPr>
          <a:lstStyle/>
          <a:p>
            <a:pPr algn="l">
              <a:lnSpc>
                <a:spcPct val="106000"/>
              </a:lnSpc>
              <a:spcBef>
                <a:spcPts val="0"/>
              </a:spcBef>
              <a:spcAft>
                <a:spcPts val="0"/>
              </a:spcAft>
            </a:pPr>
            <a:r>
              <a:rPr sz="950" b="0">
                <a:solidFill>
                  <a:srgbClr val="8A9099"/>
                </a:solidFill>
                <a:latin typeface="Red Hat Text"/>
              </a:rPr>
              <a:t>CONFIDENTIAL</a:t>
            </a:r>
          </a:p>
        </p:txBody>
      </p:sp>
      <p:sp>
        <p:nvSpPr>
          <p:cNvPr id="28" name="TextBox 27"/>
          <p:cNvSpPr txBox="1"/>
          <p:nvPr/>
        </p:nvSpPr>
        <p:spPr>
          <a:xfrm>
            <a:off x="10801807" y="6473952"/>
            <a:ext cx="548640" cy="274320"/>
          </a:xfrm>
          <a:prstGeom prst="rect">
            <a:avLst/>
          </a:prstGeom>
          <a:noFill/>
        </p:spPr>
        <p:txBody>
          <a:bodyPr wrap="square" anchor="t" lIns="0" rIns="0" tIns="0" bIns="0">
            <a:spAutoFit/>
          </a:bodyPr>
          <a:lstStyle/>
          <a:p>
            <a:pPr algn="r">
              <a:lnSpc>
                <a:spcPct val="106000"/>
              </a:lnSpc>
              <a:spcBef>
                <a:spcPts val="0"/>
              </a:spcBef>
              <a:spcAft>
                <a:spcPts val="0"/>
              </a:spcAft>
            </a:pPr>
            <a:r>
              <a:rPr sz="950" b="0">
                <a:solidFill>
                  <a:srgbClr val="8A9099"/>
                </a:solidFill>
                <a:latin typeface="Red Hat Text"/>
              </a:rPr>
              <a:t>63</a:t>
            </a:r>
          </a:p>
        </p:txBody>
      </p:sp>
    </p:spTree>
  </p:cSld>
  <p:clrMapOvr>
    <a:masterClrMapping/>
  </p:clrMapOvr>
</p:sld>
</file>

<file path=ppt/slides/slide7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redhat_logo.jpg"/>
          <p:cNvPicPr>
            <a:picLocks noChangeAspect="1"/>
          </p:cNvPicPr>
          <p:nvPr/>
        </p:nvPicPr>
        <p:blipFill>
          <a:blip r:embed="rId2"/>
          <a:stretch>
            <a:fillRect/>
          </a:stretch>
        </p:blipFill>
        <p:spPr>
          <a:xfrm>
            <a:off x="10326319" y="475488"/>
            <a:ext cx="1024128" cy="242248"/>
          </a:xfrm>
          <a:prstGeom prst="rect">
            <a:avLst/>
          </a:prstGeom>
        </p:spPr>
      </p:pic>
      <p:sp>
        <p:nvSpPr>
          <p:cNvPr id="3" name="TextBox 2"/>
          <p:cNvSpPr txBox="1"/>
          <p:nvPr/>
        </p:nvSpPr>
        <p:spPr>
          <a:xfrm>
            <a:off x="841248" y="548640"/>
            <a:ext cx="8595360" cy="274320"/>
          </a:xfrm>
          <a:prstGeom prst="rect">
            <a:avLst/>
          </a:prstGeom>
          <a:noFill/>
        </p:spPr>
        <p:txBody>
          <a:bodyPr wrap="square" anchor="t" lIns="0" rIns="0" tIns="0" bIns="0">
            <a:spAutoFit/>
          </a:bodyPr>
          <a:lstStyle/>
          <a:p>
            <a:pPr algn="l">
              <a:lnSpc>
                <a:spcPct val="106000"/>
              </a:lnSpc>
              <a:spcBef>
                <a:spcPts val="0"/>
              </a:spcBef>
              <a:spcAft>
                <a:spcPts val="0"/>
              </a:spcAft>
            </a:pPr>
            <a:r>
              <a:rPr sz="1250" b="1" spc="220">
                <a:solidFill>
                  <a:srgbClr val="EE0000"/>
                </a:solidFill>
                <a:latin typeface="Red Hat Display"/>
              </a:rPr>
              <a:t>M09 · TRUSTED SOFTWARE SUPPLY CHAIN</a:t>
            </a:r>
          </a:p>
        </p:txBody>
      </p:sp>
      <p:sp>
        <p:nvSpPr>
          <p:cNvPr id="4" name="TextBox 3"/>
          <p:cNvSpPr txBox="1"/>
          <p:nvPr/>
        </p:nvSpPr>
        <p:spPr>
          <a:xfrm>
            <a:off x="841248" y="877824"/>
            <a:ext cx="10515600" cy="548640"/>
          </a:xfrm>
          <a:prstGeom prst="rect">
            <a:avLst/>
          </a:prstGeom>
          <a:noFill/>
        </p:spPr>
        <p:txBody>
          <a:bodyPr wrap="none" anchor="t" lIns="0" rIns="0" tIns="0" bIns="0">
            <a:spAutoFit/>
          </a:bodyPr>
          <a:lstStyle/>
          <a:p>
            <a:pPr algn="l">
              <a:lnSpc>
                <a:spcPct val="100000"/>
              </a:lnSpc>
              <a:spcBef>
                <a:spcPts val="0"/>
              </a:spcBef>
              <a:spcAft>
                <a:spcPts val="0"/>
              </a:spcAft>
            </a:pPr>
            <a:r>
              <a:rPr sz="2500" b="1">
                <a:solidFill>
                  <a:srgbClr val="1A1A1A"/>
                </a:solidFill>
                <a:latin typeface="Red Hat Display"/>
              </a:rPr>
              <a:t>A gate you can trust must be deterministic</a:t>
            </a:r>
          </a:p>
        </p:txBody>
      </p:sp>
      <p:cxnSp>
        <p:nvCxnSpPr>
          <p:cNvPr id="5" name="Connector 4"/>
          <p:cNvCxnSpPr/>
          <p:nvPr/>
        </p:nvCxnSpPr>
        <p:spPr>
          <a:xfrm>
            <a:off x="841248" y="1554480"/>
            <a:ext cx="1371600" cy="0"/>
          </a:xfrm>
          <a:prstGeom prst="bentConnector3">
            <a:avLst/>
          </a:prstGeom>
          <a:ln w="31750">
            <a:solidFill>
              <a:srgbClr val="EE0000"/>
            </a:solidFill>
          </a:ln>
          <a:effectLst/>
        </p:spPr>
        <p:style>
          <a:lnRef idx="2">
            <a:schemeClr val="accent1"/>
          </a:lnRef>
          <a:fillRef idx="0">
            <a:schemeClr val="accent1"/>
          </a:fillRef>
          <a:effectRef idx="1">
            <a:schemeClr val="accent1"/>
          </a:effectRef>
          <a:fontRef idx="minor">
            <a:schemeClr val="tx1"/>
          </a:fontRef>
        </p:style>
      </p:cxnSp>
      <p:sp>
        <p:nvSpPr>
          <p:cNvPr id="6" name="Rounded Rectangle 5"/>
          <p:cNvSpPr/>
          <p:nvPr/>
        </p:nvSpPr>
        <p:spPr>
          <a:xfrm>
            <a:off x="841248" y="2395728"/>
            <a:ext cx="5715000" cy="530352"/>
          </a:xfrm>
          <a:prstGeom prst="roundRect">
            <a:avLst>
              <a:gd name="adj" fmla="val 6000"/>
            </a:avLst>
          </a:prstGeom>
          <a:solidFill>
            <a:srgbClr val="F5F6F8"/>
          </a:solidFill>
          <a:ln w="12700">
            <a:solidFill>
              <a:srgbClr val="DDE1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check_steel.png"/>
          <p:cNvPicPr>
            <a:picLocks noChangeAspect="1"/>
          </p:cNvPicPr>
          <p:nvPr/>
        </p:nvPicPr>
        <p:blipFill>
          <a:blip r:embed="rId3"/>
          <a:stretch>
            <a:fillRect/>
          </a:stretch>
        </p:blipFill>
        <p:spPr>
          <a:xfrm>
            <a:off x="987552" y="2542032"/>
            <a:ext cx="237744" cy="237744"/>
          </a:xfrm>
          <a:prstGeom prst="rect">
            <a:avLst/>
          </a:prstGeom>
        </p:spPr>
      </p:pic>
      <p:sp>
        <p:nvSpPr>
          <p:cNvPr id="8" name="TextBox 7"/>
          <p:cNvSpPr txBox="1"/>
          <p:nvPr/>
        </p:nvSpPr>
        <p:spPr>
          <a:xfrm>
            <a:off x="1353312" y="2395728"/>
            <a:ext cx="5029200" cy="530352"/>
          </a:xfrm>
          <a:prstGeom prst="rect">
            <a:avLst/>
          </a:prstGeom>
          <a:noFill/>
        </p:spPr>
        <p:txBody>
          <a:bodyPr wrap="square" anchor="ctr" lIns="0" rIns="0" tIns="0" bIns="0">
            <a:spAutoFit/>
          </a:bodyPr>
          <a:lstStyle/>
          <a:p>
            <a:pPr algn="l">
              <a:lnSpc>
                <a:spcPct val="106000"/>
              </a:lnSpc>
              <a:spcBef>
                <a:spcPts val="0"/>
              </a:spcBef>
              <a:spcAft>
                <a:spcPts val="0"/>
              </a:spcAft>
            </a:pPr>
            <a:r>
              <a:rPr sz="1200" b="0">
                <a:solidFill>
                  <a:srgbClr val="1A1A1A"/>
                </a:solidFill>
                <a:latin typeface="Red Hat Text"/>
              </a:rPr>
              <a:t>"Any fixable CVE" fires on drifting base-OS CVEs</a:t>
            </a:r>
          </a:p>
        </p:txBody>
      </p:sp>
      <p:sp>
        <p:nvSpPr>
          <p:cNvPr id="9" name="Rounded Rectangle 8"/>
          <p:cNvSpPr/>
          <p:nvPr/>
        </p:nvSpPr>
        <p:spPr>
          <a:xfrm>
            <a:off x="841248" y="2999232"/>
            <a:ext cx="5715000" cy="530352"/>
          </a:xfrm>
          <a:prstGeom prst="roundRect">
            <a:avLst>
              <a:gd name="adj" fmla="val 6000"/>
            </a:avLst>
          </a:prstGeom>
          <a:solidFill>
            <a:srgbClr val="F5F6F8"/>
          </a:solidFill>
          <a:ln w="12700">
            <a:solidFill>
              <a:srgbClr val="DDE1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0" name="Picture 9" descr="check_steel.png"/>
          <p:cNvPicPr>
            <a:picLocks noChangeAspect="1"/>
          </p:cNvPicPr>
          <p:nvPr/>
        </p:nvPicPr>
        <p:blipFill>
          <a:blip r:embed="rId3"/>
          <a:stretch>
            <a:fillRect/>
          </a:stretch>
        </p:blipFill>
        <p:spPr>
          <a:xfrm>
            <a:off x="987552" y="3145536"/>
            <a:ext cx="237744" cy="237744"/>
          </a:xfrm>
          <a:prstGeom prst="rect">
            <a:avLst/>
          </a:prstGeom>
        </p:spPr>
      </p:pic>
      <p:sp>
        <p:nvSpPr>
          <p:cNvPr id="11" name="TextBox 10"/>
          <p:cNvSpPr txBox="1"/>
          <p:nvPr/>
        </p:nvSpPr>
        <p:spPr>
          <a:xfrm>
            <a:off x="1353312" y="2999232"/>
            <a:ext cx="5029200" cy="530352"/>
          </a:xfrm>
          <a:prstGeom prst="rect">
            <a:avLst/>
          </a:prstGeom>
          <a:noFill/>
        </p:spPr>
        <p:txBody>
          <a:bodyPr wrap="square" anchor="ctr" lIns="0" rIns="0" tIns="0" bIns="0">
            <a:spAutoFit/>
          </a:bodyPr>
          <a:lstStyle/>
          <a:p>
            <a:pPr algn="l">
              <a:lnSpc>
                <a:spcPct val="106000"/>
              </a:lnSpc>
              <a:spcBef>
                <a:spcPts val="0"/>
              </a:spcBef>
              <a:spcAft>
                <a:spcPts val="0"/>
              </a:spcAft>
            </a:pPr>
            <a:r>
              <a:rPr sz="1200" b="0">
                <a:solidFill>
                  <a:srgbClr val="1A1A1A"/>
                </a:solidFill>
                <a:latin typeface="Red Hat Text"/>
              </a:rPr>
              <a:t>Same image: pass Monday, fail Friday</a:t>
            </a:r>
          </a:p>
        </p:txBody>
      </p:sp>
      <p:sp>
        <p:nvSpPr>
          <p:cNvPr id="12" name="Rounded Rectangle 11"/>
          <p:cNvSpPr/>
          <p:nvPr/>
        </p:nvSpPr>
        <p:spPr>
          <a:xfrm>
            <a:off x="841248" y="3602736"/>
            <a:ext cx="5715000" cy="530352"/>
          </a:xfrm>
          <a:prstGeom prst="roundRect">
            <a:avLst>
              <a:gd name="adj" fmla="val 6000"/>
            </a:avLst>
          </a:prstGeom>
          <a:solidFill>
            <a:srgbClr val="F5F6F8"/>
          </a:solidFill>
          <a:ln w="12700">
            <a:solidFill>
              <a:srgbClr val="DDE1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3" name="Picture 12" descr="check_steel.png"/>
          <p:cNvPicPr>
            <a:picLocks noChangeAspect="1"/>
          </p:cNvPicPr>
          <p:nvPr/>
        </p:nvPicPr>
        <p:blipFill>
          <a:blip r:embed="rId3"/>
          <a:stretch>
            <a:fillRect/>
          </a:stretch>
        </p:blipFill>
        <p:spPr>
          <a:xfrm>
            <a:off x="987552" y="3749040"/>
            <a:ext cx="237744" cy="237744"/>
          </a:xfrm>
          <a:prstGeom prst="rect">
            <a:avLst/>
          </a:prstGeom>
        </p:spPr>
      </p:pic>
      <p:sp>
        <p:nvSpPr>
          <p:cNvPr id="14" name="TextBox 13"/>
          <p:cNvSpPr txBox="1"/>
          <p:nvPr/>
        </p:nvSpPr>
        <p:spPr>
          <a:xfrm>
            <a:off x="1353312" y="3602736"/>
            <a:ext cx="5029200" cy="530352"/>
          </a:xfrm>
          <a:prstGeom prst="rect">
            <a:avLst/>
          </a:prstGeom>
          <a:noFill/>
        </p:spPr>
        <p:txBody>
          <a:bodyPr wrap="square" anchor="ctr" lIns="0" rIns="0" tIns="0" bIns="0">
            <a:spAutoFit/>
          </a:bodyPr>
          <a:lstStyle/>
          <a:p>
            <a:pPr algn="l">
              <a:lnSpc>
                <a:spcPct val="106000"/>
              </a:lnSpc>
              <a:spcBef>
                <a:spcPts val="0"/>
              </a:spcBef>
              <a:spcAft>
                <a:spcPts val="0"/>
              </a:spcAft>
            </a:pPr>
            <a:r>
              <a:rPr sz="1200" b="0">
                <a:solidFill>
                  <a:srgbClr val="1A1A1A"/>
                </a:solidFill>
                <a:latin typeface="Red Hat Text"/>
              </a:rPr>
              <a:t>Scope the gate to one policy category</a:t>
            </a:r>
          </a:p>
        </p:txBody>
      </p:sp>
      <p:sp>
        <p:nvSpPr>
          <p:cNvPr id="15" name="Rounded Rectangle 14"/>
          <p:cNvSpPr/>
          <p:nvPr/>
        </p:nvSpPr>
        <p:spPr>
          <a:xfrm>
            <a:off x="841248" y="4206240"/>
            <a:ext cx="5715000" cy="530352"/>
          </a:xfrm>
          <a:prstGeom prst="roundRect">
            <a:avLst>
              <a:gd name="adj" fmla="val 6000"/>
            </a:avLst>
          </a:prstGeom>
          <a:solidFill>
            <a:srgbClr val="F5F6F8"/>
          </a:solidFill>
          <a:ln w="12700">
            <a:solidFill>
              <a:srgbClr val="DDE1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6" name="Picture 15" descr="check_steel.png"/>
          <p:cNvPicPr>
            <a:picLocks noChangeAspect="1"/>
          </p:cNvPicPr>
          <p:nvPr/>
        </p:nvPicPr>
        <p:blipFill>
          <a:blip r:embed="rId3"/>
          <a:stretch>
            <a:fillRect/>
          </a:stretch>
        </p:blipFill>
        <p:spPr>
          <a:xfrm>
            <a:off x="987552" y="4352544"/>
            <a:ext cx="237744" cy="237744"/>
          </a:xfrm>
          <a:prstGeom prst="rect">
            <a:avLst/>
          </a:prstGeom>
        </p:spPr>
      </p:pic>
      <p:sp>
        <p:nvSpPr>
          <p:cNvPr id="17" name="TextBox 16"/>
          <p:cNvSpPr txBox="1"/>
          <p:nvPr/>
        </p:nvSpPr>
        <p:spPr>
          <a:xfrm>
            <a:off x="1353312" y="4206240"/>
            <a:ext cx="5029200" cy="530352"/>
          </a:xfrm>
          <a:prstGeom prst="rect">
            <a:avLst/>
          </a:prstGeom>
          <a:noFill/>
        </p:spPr>
        <p:txBody>
          <a:bodyPr wrap="square" anchor="ctr" lIns="0" rIns="0" tIns="0" bIns="0">
            <a:spAutoFit/>
          </a:bodyPr>
          <a:lstStyle/>
          <a:p>
            <a:pPr algn="l">
              <a:lnSpc>
                <a:spcPct val="106000"/>
              </a:lnSpc>
              <a:spcBef>
                <a:spcPts val="0"/>
              </a:spcBef>
              <a:spcAft>
                <a:spcPts val="0"/>
              </a:spcAft>
            </a:pPr>
            <a:r>
              <a:rPr sz="1200" b="0">
                <a:solidFill>
                  <a:srgbClr val="1A1A1A"/>
                </a:solidFill>
                <a:latin typeface="Red Hat Text"/>
              </a:rPr>
              <a:t>Keys on the seeded dependency, not the base</a:t>
            </a:r>
          </a:p>
        </p:txBody>
      </p:sp>
      <p:sp>
        <p:nvSpPr>
          <p:cNvPr id="18" name="Rounded Rectangle 17"/>
          <p:cNvSpPr/>
          <p:nvPr/>
        </p:nvSpPr>
        <p:spPr>
          <a:xfrm>
            <a:off x="841248" y="4809744"/>
            <a:ext cx="5715000" cy="530352"/>
          </a:xfrm>
          <a:prstGeom prst="roundRect">
            <a:avLst>
              <a:gd name="adj" fmla="val 6000"/>
            </a:avLst>
          </a:prstGeom>
          <a:solidFill>
            <a:srgbClr val="F5F6F8"/>
          </a:solidFill>
          <a:ln w="12700">
            <a:solidFill>
              <a:srgbClr val="DDE1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9" name="Picture 18" descr="check_steel.png"/>
          <p:cNvPicPr>
            <a:picLocks noChangeAspect="1"/>
          </p:cNvPicPr>
          <p:nvPr/>
        </p:nvPicPr>
        <p:blipFill>
          <a:blip r:embed="rId3"/>
          <a:stretch>
            <a:fillRect/>
          </a:stretch>
        </p:blipFill>
        <p:spPr>
          <a:xfrm>
            <a:off x="987552" y="4956048"/>
            <a:ext cx="237744" cy="237744"/>
          </a:xfrm>
          <a:prstGeom prst="rect">
            <a:avLst/>
          </a:prstGeom>
        </p:spPr>
      </p:pic>
      <p:sp>
        <p:nvSpPr>
          <p:cNvPr id="20" name="TextBox 19"/>
          <p:cNvSpPr txBox="1"/>
          <p:nvPr/>
        </p:nvSpPr>
        <p:spPr>
          <a:xfrm>
            <a:off x="1353312" y="4809744"/>
            <a:ext cx="5029200" cy="530352"/>
          </a:xfrm>
          <a:prstGeom prst="rect">
            <a:avLst/>
          </a:prstGeom>
          <a:noFill/>
        </p:spPr>
        <p:txBody>
          <a:bodyPr wrap="square" anchor="ctr" lIns="0" rIns="0" tIns="0" bIns="0">
            <a:spAutoFit/>
          </a:bodyPr>
          <a:lstStyle/>
          <a:p>
            <a:pPr algn="l">
              <a:lnSpc>
                <a:spcPct val="106000"/>
              </a:lnSpc>
              <a:spcBef>
                <a:spcPts val="0"/>
              </a:spcBef>
              <a:spcAft>
                <a:spcPts val="0"/>
              </a:spcAft>
            </a:pPr>
            <a:r>
              <a:rPr sz="1200" b="0">
                <a:solidFill>
                  <a:srgbClr val="1A1A1A"/>
                </a:solidFill>
                <a:latin typeface="Red Hat Text"/>
              </a:rPr>
              <a:t>Remove the dependency → green, every time</a:t>
            </a:r>
          </a:p>
        </p:txBody>
      </p:sp>
      <p:sp>
        <p:nvSpPr>
          <p:cNvPr id="21" name="Rounded Rectangle 20"/>
          <p:cNvSpPr/>
          <p:nvPr/>
        </p:nvSpPr>
        <p:spPr>
          <a:xfrm>
            <a:off x="6812280" y="2395728"/>
            <a:ext cx="4538167" cy="2944368"/>
          </a:xfrm>
          <a:prstGeom prst="roundRect">
            <a:avLst>
              <a:gd name="adj" fmla="val 4000"/>
            </a:avLst>
          </a:prstGeom>
          <a:solidFill>
            <a:srgbClr val="FFFFFF"/>
          </a:solidFill>
          <a:ln w="15240">
            <a:solidFill>
              <a:srgbClr val="DDE1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ounded Rectangle 21"/>
          <p:cNvSpPr/>
          <p:nvPr/>
        </p:nvSpPr>
        <p:spPr>
          <a:xfrm>
            <a:off x="7013448" y="2596896"/>
            <a:ext cx="1298448" cy="310896"/>
          </a:xfrm>
          <a:prstGeom prst="roundRect">
            <a:avLst>
              <a:gd name="adj" fmla="val 50000"/>
            </a:avLst>
          </a:prstGeom>
          <a:solidFill>
            <a:srgbClr val="FCEC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7013448" y="2596896"/>
            <a:ext cx="1298448" cy="310896"/>
          </a:xfrm>
          <a:prstGeom prst="rect">
            <a:avLst/>
          </a:prstGeom>
          <a:noFill/>
        </p:spPr>
        <p:txBody>
          <a:bodyPr wrap="none" anchor="ctr" lIns="0" rIns="0" tIns="0" bIns="0">
            <a:spAutoFit/>
          </a:bodyPr>
          <a:lstStyle/>
          <a:p>
            <a:pPr algn="ctr">
              <a:lnSpc>
                <a:spcPct val="106000"/>
              </a:lnSpc>
              <a:spcBef>
                <a:spcPts val="0"/>
              </a:spcBef>
              <a:spcAft>
                <a:spcPts val="0"/>
              </a:spcAft>
            </a:pPr>
            <a:r>
              <a:rPr sz="850" b="1">
                <a:solidFill>
                  <a:srgbClr val="B80000"/>
                </a:solidFill>
                <a:latin typeface="Red Hat Display"/>
              </a:rPr>
              <a:t>MEDIA PASS</a:t>
            </a:r>
          </a:p>
        </p:txBody>
      </p:sp>
      <p:pic>
        <p:nvPicPr>
          <p:cNvPr id="24" name="Picture 23" descr="eye_slate.png"/>
          <p:cNvPicPr>
            <a:picLocks noChangeAspect="1"/>
          </p:cNvPicPr>
          <p:nvPr/>
        </p:nvPicPr>
        <p:blipFill>
          <a:blip r:embed="rId4"/>
          <a:stretch>
            <a:fillRect/>
          </a:stretch>
        </p:blipFill>
        <p:spPr>
          <a:xfrm>
            <a:off x="8843619" y="3108960"/>
            <a:ext cx="475488" cy="475488"/>
          </a:xfrm>
          <a:prstGeom prst="rect">
            <a:avLst/>
          </a:prstGeom>
        </p:spPr>
      </p:pic>
      <p:sp>
        <p:nvSpPr>
          <p:cNvPr id="25" name="TextBox 24"/>
          <p:cNvSpPr txBox="1"/>
          <p:nvPr/>
        </p:nvSpPr>
        <p:spPr>
          <a:xfrm>
            <a:off x="7050024" y="3721608"/>
            <a:ext cx="4062679" cy="1481328"/>
          </a:xfrm>
          <a:prstGeom prst="rect">
            <a:avLst/>
          </a:prstGeom>
          <a:noFill/>
        </p:spPr>
        <p:txBody>
          <a:bodyPr wrap="square" anchor="t" lIns="0" rIns="0" tIns="0" bIns="0">
            <a:spAutoFit/>
          </a:bodyPr>
          <a:lstStyle/>
          <a:p>
            <a:pPr algn="l">
              <a:lnSpc>
                <a:spcPct val="120000"/>
              </a:lnSpc>
              <a:spcBef>
                <a:spcPts val="0"/>
              </a:spcBef>
              <a:spcAft>
                <a:spcPts val="0"/>
              </a:spcAft>
            </a:pPr>
            <a:r>
              <a:rPr sz="950" b="0">
                <a:solidFill>
                  <a:srgbClr val="8A9099"/>
                </a:solidFill>
                <a:latin typeface="Red Hat Text"/>
              </a:rPr>
              <a:t>A dial labelled "gate scope" turned from "any CVE (noisy, non-deterministic)" to "one policy category (deterministic)"; a small green check beside "remove the dependency."</a:t>
            </a:r>
          </a:p>
        </p:txBody>
      </p:sp>
      <p:cxnSp>
        <p:nvCxnSpPr>
          <p:cNvPr id="26" name="Connector 25"/>
          <p:cNvCxnSpPr/>
          <p:nvPr/>
        </p:nvCxnSpPr>
        <p:spPr>
          <a:xfrm>
            <a:off x="841248" y="6437376"/>
            <a:ext cx="10509199" cy="0"/>
          </a:xfrm>
          <a:prstGeom prst="bentConnector3">
            <a:avLst/>
          </a:prstGeom>
          <a:ln w="12700">
            <a:solidFill>
              <a:srgbClr val="DDE1E6"/>
            </a:solidFill>
          </a:ln>
          <a:effectLst/>
        </p:spPr>
        <p:style>
          <a:lnRef idx="2">
            <a:schemeClr val="accent1"/>
          </a:lnRef>
          <a:fillRef idx="0">
            <a:schemeClr val="accent1"/>
          </a:fillRef>
          <a:effectRef idx="1">
            <a:schemeClr val="accent1"/>
          </a:effectRef>
          <a:fontRef idx="minor">
            <a:schemeClr val="tx1"/>
          </a:fontRef>
        </p:style>
      </p:cxnSp>
      <p:sp>
        <p:nvSpPr>
          <p:cNvPr id="27" name="TextBox 26"/>
          <p:cNvSpPr txBox="1"/>
          <p:nvPr/>
        </p:nvSpPr>
        <p:spPr>
          <a:xfrm>
            <a:off x="841248" y="6473952"/>
            <a:ext cx="7315200" cy="274320"/>
          </a:xfrm>
          <a:prstGeom prst="rect">
            <a:avLst/>
          </a:prstGeom>
          <a:noFill/>
        </p:spPr>
        <p:txBody>
          <a:bodyPr wrap="square" anchor="t" lIns="0" rIns="0" tIns="0" bIns="0">
            <a:spAutoFit/>
          </a:bodyPr>
          <a:lstStyle/>
          <a:p>
            <a:pPr algn="l">
              <a:lnSpc>
                <a:spcPct val="106000"/>
              </a:lnSpc>
              <a:spcBef>
                <a:spcPts val="0"/>
              </a:spcBef>
              <a:spcAft>
                <a:spcPts val="0"/>
              </a:spcAft>
            </a:pPr>
            <a:r>
              <a:rPr sz="950" b="0">
                <a:solidFill>
                  <a:srgbClr val="8A9099"/>
                </a:solidFill>
                <a:latin typeface="Red Hat Text"/>
              </a:rPr>
              <a:t>CONFIDENTIAL</a:t>
            </a:r>
          </a:p>
        </p:txBody>
      </p:sp>
      <p:sp>
        <p:nvSpPr>
          <p:cNvPr id="28" name="TextBox 27"/>
          <p:cNvSpPr txBox="1"/>
          <p:nvPr/>
        </p:nvSpPr>
        <p:spPr>
          <a:xfrm>
            <a:off x="10801807" y="6473952"/>
            <a:ext cx="548640" cy="274320"/>
          </a:xfrm>
          <a:prstGeom prst="rect">
            <a:avLst/>
          </a:prstGeom>
          <a:noFill/>
        </p:spPr>
        <p:txBody>
          <a:bodyPr wrap="square" anchor="t" lIns="0" rIns="0" tIns="0" bIns="0">
            <a:spAutoFit/>
          </a:bodyPr>
          <a:lstStyle/>
          <a:p>
            <a:pPr algn="r">
              <a:lnSpc>
                <a:spcPct val="106000"/>
              </a:lnSpc>
              <a:spcBef>
                <a:spcPts val="0"/>
              </a:spcBef>
              <a:spcAft>
                <a:spcPts val="0"/>
              </a:spcAft>
            </a:pPr>
            <a:r>
              <a:rPr sz="950" b="0">
                <a:solidFill>
                  <a:srgbClr val="8A9099"/>
                </a:solidFill>
                <a:latin typeface="Red Hat Text"/>
              </a:rPr>
              <a:t>64</a:t>
            </a:r>
          </a:p>
        </p:txBody>
      </p:sp>
    </p:spTree>
  </p:cSld>
  <p:clrMapOvr>
    <a:masterClrMapping/>
  </p:clrMapOvr>
</p:sld>
</file>

<file path=ppt/slides/slide7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redhat_logo.jpg"/>
          <p:cNvPicPr>
            <a:picLocks noChangeAspect="1"/>
          </p:cNvPicPr>
          <p:nvPr/>
        </p:nvPicPr>
        <p:blipFill>
          <a:blip r:embed="rId2"/>
          <a:stretch>
            <a:fillRect/>
          </a:stretch>
        </p:blipFill>
        <p:spPr>
          <a:xfrm>
            <a:off x="10326319" y="475488"/>
            <a:ext cx="1024128" cy="242248"/>
          </a:xfrm>
          <a:prstGeom prst="rect">
            <a:avLst/>
          </a:prstGeom>
        </p:spPr>
      </p:pic>
      <p:sp>
        <p:nvSpPr>
          <p:cNvPr id="3" name="TextBox 2"/>
          <p:cNvSpPr txBox="1"/>
          <p:nvPr/>
        </p:nvSpPr>
        <p:spPr>
          <a:xfrm>
            <a:off x="841248" y="548640"/>
            <a:ext cx="8595360" cy="274320"/>
          </a:xfrm>
          <a:prstGeom prst="rect">
            <a:avLst/>
          </a:prstGeom>
          <a:noFill/>
        </p:spPr>
        <p:txBody>
          <a:bodyPr wrap="square" anchor="t" lIns="0" rIns="0" tIns="0" bIns="0">
            <a:spAutoFit/>
          </a:bodyPr>
          <a:lstStyle/>
          <a:p>
            <a:pPr algn="l">
              <a:lnSpc>
                <a:spcPct val="106000"/>
              </a:lnSpc>
              <a:spcBef>
                <a:spcPts val="0"/>
              </a:spcBef>
              <a:spcAft>
                <a:spcPts val="0"/>
              </a:spcAft>
            </a:pPr>
            <a:r>
              <a:rPr sz="1250" b="1" spc="220">
                <a:solidFill>
                  <a:srgbClr val="EE0000"/>
                </a:solidFill>
                <a:latin typeface="Red Hat Display"/>
              </a:rPr>
              <a:t>M09 · TRUSTED SOFTWARE SUPPLY CHAIN</a:t>
            </a:r>
          </a:p>
        </p:txBody>
      </p:sp>
      <p:sp>
        <p:nvSpPr>
          <p:cNvPr id="4" name="TextBox 3"/>
          <p:cNvSpPr txBox="1"/>
          <p:nvPr/>
        </p:nvSpPr>
        <p:spPr>
          <a:xfrm>
            <a:off x="841248" y="877824"/>
            <a:ext cx="10515600" cy="548640"/>
          </a:xfrm>
          <a:prstGeom prst="rect">
            <a:avLst/>
          </a:prstGeom>
          <a:noFill/>
        </p:spPr>
        <p:txBody>
          <a:bodyPr wrap="none" anchor="t" lIns="0" rIns="0" tIns="0" bIns="0">
            <a:spAutoFit/>
          </a:bodyPr>
          <a:lstStyle/>
          <a:p>
            <a:pPr algn="l">
              <a:lnSpc>
                <a:spcPct val="100000"/>
              </a:lnSpc>
              <a:spcBef>
                <a:spcPts val="0"/>
              </a:spcBef>
              <a:spcAft>
                <a:spcPts val="0"/>
              </a:spcAft>
            </a:pPr>
            <a:r>
              <a:rPr sz="2500" b="1">
                <a:solidFill>
                  <a:srgbClr val="1A1A1A"/>
                </a:solidFill>
                <a:latin typeface="Red Hat Display"/>
              </a:rPr>
              <a:t>Signing for free — Tekton Chains</a:t>
            </a:r>
          </a:p>
        </p:txBody>
      </p:sp>
      <p:cxnSp>
        <p:nvCxnSpPr>
          <p:cNvPr id="5" name="Connector 4"/>
          <p:cNvCxnSpPr/>
          <p:nvPr/>
        </p:nvCxnSpPr>
        <p:spPr>
          <a:xfrm>
            <a:off x="841248" y="1554480"/>
            <a:ext cx="1371600" cy="0"/>
          </a:xfrm>
          <a:prstGeom prst="bentConnector3">
            <a:avLst/>
          </a:prstGeom>
          <a:ln w="31750">
            <a:solidFill>
              <a:srgbClr val="EE0000"/>
            </a:solidFill>
          </a:ln>
          <a:effectLst/>
        </p:spPr>
        <p:style>
          <a:lnRef idx="2">
            <a:schemeClr val="accent1"/>
          </a:lnRef>
          <a:fillRef idx="0">
            <a:schemeClr val="accent1"/>
          </a:fillRef>
          <a:effectRef idx="1">
            <a:schemeClr val="accent1"/>
          </a:effectRef>
          <a:fontRef idx="minor">
            <a:schemeClr val="tx1"/>
          </a:fontRef>
        </p:style>
      </p:cxnSp>
      <p:sp>
        <p:nvSpPr>
          <p:cNvPr id="6" name="Rounded Rectangle 5"/>
          <p:cNvSpPr/>
          <p:nvPr/>
        </p:nvSpPr>
        <p:spPr>
          <a:xfrm>
            <a:off x="841248" y="2395728"/>
            <a:ext cx="5715000" cy="530352"/>
          </a:xfrm>
          <a:prstGeom prst="roundRect">
            <a:avLst>
              <a:gd name="adj" fmla="val 6000"/>
            </a:avLst>
          </a:prstGeom>
          <a:solidFill>
            <a:srgbClr val="F5F6F8"/>
          </a:solidFill>
          <a:ln w="12700">
            <a:solidFill>
              <a:srgbClr val="DDE1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check_steel.png"/>
          <p:cNvPicPr>
            <a:picLocks noChangeAspect="1"/>
          </p:cNvPicPr>
          <p:nvPr/>
        </p:nvPicPr>
        <p:blipFill>
          <a:blip r:embed="rId3"/>
          <a:stretch>
            <a:fillRect/>
          </a:stretch>
        </p:blipFill>
        <p:spPr>
          <a:xfrm>
            <a:off x="987552" y="2542032"/>
            <a:ext cx="237744" cy="237744"/>
          </a:xfrm>
          <a:prstGeom prst="rect">
            <a:avLst/>
          </a:prstGeom>
        </p:spPr>
      </p:pic>
      <p:sp>
        <p:nvSpPr>
          <p:cNvPr id="8" name="TextBox 7"/>
          <p:cNvSpPr txBox="1"/>
          <p:nvPr/>
        </p:nvSpPr>
        <p:spPr>
          <a:xfrm>
            <a:off x="1353312" y="2395728"/>
            <a:ext cx="5029200" cy="530352"/>
          </a:xfrm>
          <a:prstGeom prst="rect">
            <a:avLst/>
          </a:prstGeom>
          <a:noFill/>
        </p:spPr>
        <p:txBody>
          <a:bodyPr wrap="square" anchor="ctr" lIns="0" rIns="0" tIns="0" bIns="0">
            <a:spAutoFit/>
          </a:bodyPr>
          <a:lstStyle/>
          <a:p>
            <a:pPr algn="l">
              <a:lnSpc>
                <a:spcPct val="106000"/>
              </a:lnSpc>
              <a:spcBef>
                <a:spcPts val="0"/>
              </a:spcBef>
              <a:spcAft>
                <a:spcPts val="0"/>
              </a:spcAft>
            </a:pPr>
            <a:r>
              <a:rPr sz="1200" b="0">
                <a:solidFill>
                  <a:srgbClr val="1A1A1A"/>
                </a:solidFill>
                <a:latin typeface="Red Hat Text"/>
              </a:rPr>
              <a:t>Chains signs every pipeline-built image</a:t>
            </a:r>
          </a:p>
        </p:txBody>
      </p:sp>
      <p:sp>
        <p:nvSpPr>
          <p:cNvPr id="9" name="Rounded Rectangle 8"/>
          <p:cNvSpPr/>
          <p:nvPr/>
        </p:nvSpPr>
        <p:spPr>
          <a:xfrm>
            <a:off x="841248" y="2999232"/>
            <a:ext cx="5715000" cy="530352"/>
          </a:xfrm>
          <a:prstGeom prst="roundRect">
            <a:avLst>
              <a:gd name="adj" fmla="val 6000"/>
            </a:avLst>
          </a:prstGeom>
          <a:solidFill>
            <a:srgbClr val="F5F6F8"/>
          </a:solidFill>
          <a:ln w="12700">
            <a:solidFill>
              <a:srgbClr val="DDE1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0" name="Picture 9" descr="check_steel.png"/>
          <p:cNvPicPr>
            <a:picLocks noChangeAspect="1"/>
          </p:cNvPicPr>
          <p:nvPr/>
        </p:nvPicPr>
        <p:blipFill>
          <a:blip r:embed="rId3"/>
          <a:stretch>
            <a:fillRect/>
          </a:stretch>
        </p:blipFill>
        <p:spPr>
          <a:xfrm>
            <a:off x="987552" y="3145536"/>
            <a:ext cx="237744" cy="237744"/>
          </a:xfrm>
          <a:prstGeom prst="rect">
            <a:avLst/>
          </a:prstGeom>
        </p:spPr>
      </p:pic>
      <p:sp>
        <p:nvSpPr>
          <p:cNvPr id="11" name="TextBox 10"/>
          <p:cNvSpPr txBox="1"/>
          <p:nvPr/>
        </p:nvSpPr>
        <p:spPr>
          <a:xfrm>
            <a:off x="1353312" y="2999232"/>
            <a:ext cx="5029200" cy="530352"/>
          </a:xfrm>
          <a:prstGeom prst="rect">
            <a:avLst/>
          </a:prstGeom>
          <a:noFill/>
        </p:spPr>
        <p:txBody>
          <a:bodyPr wrap="square" anchor="ctr" lIns="0" rIns="0" tIns="0" bIns="0">
            <a:spAutoFit/>
          </a:bodyPr>
          <a:lstStyle/>
          <a:p>
            <a:pPr algn="l">
              <a:lnSpc>
                <a:spcPct val="106000"/>
              </a:lnSpc>
              <a:spcBef>
                <a:spcPts val="0"/>
              </a:spcBef>
              <a:spcAft>
                <a:spcPts val="0"/>
              </a:spcAft>
            </a:pPr>
            <a:r>
              <a:rPr sz="1200" b="0">
                <a:solidFill>
                  <a:srgbClr val="1A1A1A"/>
                </a:solidFill>
                <a:latin typeface="Red Hat Text"/>
              </a:rPr>
              <a:t>No per-build wiring — it just watches</a:t>
            </a:r>
          </a:p>
        </p:txBody>
      </p:sp>
      <p:sp>
        <p:nvSpPr>
          <p:cNvPr id="12" name="Rounded Rectangle 11"/>
          <p:cNvSpPr/>
          <p:nvPr/>
        </p:nvSpPr>
        <p:spPr>
          <a:xfrm>
            <a:off x="841248" y="3602736"/>
            <a:ext cx="5715000" cy="530352"/>
          </a:xfrm>
          <a:prstGeom prst="roundRect">
            <a:avLst>
              <a:gd name="adj" fmla="val 6000"/>
            </a:avLst>
          </a:prstGeom>
          <a:solidFill>
            <a:srgbClr val="F5F6F8"/>
          </a:solidFill>
          <a:ln w="12700">
            <a:solidFill>
              <a:srgbClr val="DDE1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3" name="Picture 12" descr="check_steel.png"/>
          <p:cNvPicPr>
            <a:picLocks noChangeAspect="1"/>
          </p:cNvPicPr>
          <p:nvPr/>
        </p:nvPicPr>
        <p:blipFill>
          <a:blip r:embed="rId3"/>
          <a:stretch>
            <a:fillRect/>
          </a:stretch>
        </p:blipFill>
        <p:spPr>
          <a:xfrm>
            <a:off x="987552" y="3749040"/>
            <a:ext cx="237744" cy="237744"/>
          </a:xfrm>
          <a:prstGeom prst="rect">
            <a:avLst/>
          </a:prstGeom>
        </p:spPr>
      </p:pic>
      <p:sp>
        <p:nvSpPr>
          <p:cNvPr id="14" name="TextBox 13"/>
          <p:cNvSpPr txBox="1"/>
          <p:nvPr/>
        </p:nvSpPr>
        <p:spPr>
          <a:xfrm>
            <a:off x="1353312" y="3602736"/>
            <a:ext cx="5029200" cy="530352"/>
          </a:xfrm>
          <a:prstGeom prst="rect">
            <a:avLst/>
          </a:prstGeom>
          <a:noFill/>
        </p:spPr>
        <p:txBody>
          <a:bodyPr wrap="square" anchor="ctr" lIns="0" rIns="0" tIns="0" bIns="0">
            <a:spAutoFit/>
          </a:bodyPr>
          <a:lstStyle/>
          <a:p>
            <a:pPr algn="l">
              <a:lnSpc>
                <a:spcPct val="106000"/>
              </a:lnSpc>
              <a:spcBef>
                <a:spcPts val="0"/>
              </a:spcBef>
              <a:spcAft>
                <a:spcPts val="0"/>
              </a:spcAft>
            </a:pPr>
            <a:r>
              <a:rPr sz="1200" b="0">
                <a:solidFill>
                  <a:srgbClr val="1A1A1A"/>
                </a:solidFill>
                <a:latin typeface="Red Hat Text"/>
              </a:rPr>
              <a:t>Emits SLSA provenance automatically</a:t>
            </a:r>
          </a:p>
        </p:txBody>
      </p:sp>
      <p:sp>
        <p:nvSpPr>
          <p:cNvPr id="15" name="Rounded Rectangle 14"/>
          <p:cNvSpPr/>
          <p:nvPr/>
        </p:nvSpPr>
        <p:spPr>
          <a:xfrm>
            <a:off x="841248" y="4206240"/>
            <a:ext cx="5715000" cy="530352"/>
          </a:xfrm>
          <a:prstGeom prst="roundRect">
            <a:avLst>
              <a:gd name="adj" fmla="val 6000"/>
            </a:avLst>
          </a:prstGeom>
          <a:solidFill>
            <a:srgbClr val="F5F6F8"/>
          </a:solidFill>
          <a:ln w="12700">
            <a:solidFill>
              <a:srgbClr val="DDE1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6" name="Picture 15" descr="check_steel.png"/>
          <p:cNvPicPr>
            <a:picLocks noChangeAspect="1"/>
          </p:cNvPicPr>
          <p:nvPr/>
        </p:nvPicPr>
        <p:blipFill>
          <a:blip r:embed="rId3"/>
          <a:stretch>
            <a:fillRect/>
          </a:stretch>
        </p:blipFill>
        <p:spPr>
          <a:xfrm>
            <a:off x="987552" y="4352544"/>
            <a:ext cx="237744" cy="237744"/>
          </a:xfrm>
          <a:prstGeom prst="rect">
            <a:avLst/>
          </a:prstGeom>
        </p:spPr>
      </p:pic>
      <p:sp>
        <p:nvSpPr>
          <p:cNvPr id="17" name="TextBox 16"/>
          <p:cNvSpPr txBox="1"/>
          <p:nvPr/>
        </p:nvSpPr>
        <p:spPr>
          <a:xfrm>
            <a:off x="1353312" y="4206240"/>
            <a:ext cx="5029200" cy="530352"/>
          </a:xfrm>
          <a:prstGeom prst="rect">
            <a:avLst/>
          </a:prstGeom>
          <a:noFill/>
        </p:spPr>
        <p:txBody>
          <a:bodyPr wrap="square" anchor="ctr" lIns="0" rIns="0" tIns="0" bIns="0">
            <a:spAutoFit/>
          </a:bodyPr>
          <a:lstStyle/>
          <a:p>
            <a:pPr algn="l">
              <a:lnSpc>
                <a:spcPct val="106000"/>
              </a:lnSpc>
              <a:spcBef>
                <a:spcPts val="0"/>
              </a:spcBef>
              <a:spcAft>
                <a:spcPts val="0"/>
              </a:spcAft>
            </a:pPr>
            <a:r>
              <a:rPr sz="1200" b="0">
                <a:solidFill>
                  <a:srgbClr val="1A1A1A"/>
                </a:solidFill>
                <a:latin typeface="Red Hat Text"/>
              </a:rPr>
              <a:t>Key-based here; keyless (RHTAS) is the enterprise path</a:t>
            </a:r>
          </a:p>
        </p:txBody>
      </p:sp>
      <p:sp>
        <p:nvSpPr>
          <p:cNvPr id="18" name="Rounded Rectangle 17"/>
          <p:cNvSpPr/>
          <p:nvPr/>
        </p:nvSpPr>
        <p:spPr>
          <a:xfrm>
            <a:off x="841248" y="4809744"/>
            <a:ext cx="5715000" cy="530352"/>
          </a:xfrm>
          <a:prstGeom prst="roundRect">
            <a:avLst>
              <a:gd name="adj" fmla="val 6000"/>
            </a:avLst>
          </a:prstGeom>
          <a:solidFill>
            <a:srgbClr val="F5F6F8"/>
          </a:solidFill>
          <a:ln w="12700">
            <a:solidFill>
              <a:srgbClr val="DDE1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9" name="Picture 18" descr="check_steel.png"/>
          <p:cNvPicPr>
            <a:picLocks noChangeAspect="1"/>
          </p:cNvPicPr>
          <p:nvPr/>
        </p:nvPicPr>
        <p:blipFill>
          <a:blip r:embed="rId3"/>
          <a:stretch>
            <a:fillRect/>
          </a:stretch>
        </p:blipFill>
        <p:spPr>
          <a:xfrm>
            <a:off x="987552" y="4956048"/>
            <a:ext cx="237744" cy="237744"/>
          </a:xfrm>
          <a:prstGeom prst="rect">
            <a:avLst/>
          </a:prstGeom>
        </p:spPr>
      </p:pic>
      <p:sp>
        <p:nvSpPr>
          <p:cNvPr id="20" name="TextBox 19"/>
          <p:cNvSpPr txBox="1"/>
          <p:nvPr/>
        </p:nvSpPr>
        <p:spPr>
          <a:xfrm>
            <a:off x="1353312" y="4809744"/>
            <a:ext cx="5029200" cy="530352"/>
          </a:xfrm>
          <a:prstGeom prst="rect">
            <a:avLst/>
          </a:prstGeom>
          <a:noFill/>
        </p:spPr>
        <p:txBody>
          <a:bodyPr wrap="square" anchor="ctr" lIns="0" rIns="0" tIns="0" bIns="0">
            <a:spAutoFit/>
          </a:bodyPr>
          <a:lstStyle/>
          <a:p>
            <a:pPr algn="l">
              <a:lnSpc>
                <a:spcPct val="106000"/>
              </a:lnSpc>
              <a:spcBef>
                <a:spcPts val="0"/>
              </a:spcBef>
              <a:spcAft>
                <a:spcPts val="0"/>
              </a:spcAft>
            </a:pPr>
            <a:r>
              <a:rPr sz="1200" b="0">
                <a:solidFill>
                  <a:srgbClr val="1A1A1A"/>
                </a:solidFill>
                <a:latin typeface="Red Hat Text"/>
              </a:rPr>
              <a:t>Signature + provenance stored beside the image</a:t>
            </a:r>
          </a:p>
        </p:txBody>
      </p:sp>
      <p:sp>
        <p:nvSpPr>
          <p:cNvPr id="21" name="Rounded Rectangle 20"/>
          <p:cNvSpPr/>
          <p:nvPr/>
        </p:nvSpPr>
        <p:spPr>
          <a:xfrm>
            <a:off x="6812280" y="2395728"/>
            <a:ext cx="4538167" cy="2944368"/>
          </a:xfrm>
          <a:prstGeom prst="roundRect">
            <a:avLst>
              <a:gd name="adj" fmla="val 4000"/>
            </a:avLst>
          </a:prstGeom>
          <a:solidFill>
            <a:srgbClr val="FFFFFF"/>
          </a:solidFill>
          <a:ln w="15240">
            <a:solidFill>
              <a:srgbClr val="DDE1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ounded Rectangle 21"/>
          <p:cNvSpPr/>
          <p:nvPr/>
        </p:nvSpPr>
        <p:spPr>
          <a:xfrm>
            <a:off x="7013448" y="2596896"/>
            <a:ext cx="1298448" cy="310896"/>
          </a:xfrm>
          <a:prstGeom prst="roundRect">
            <a:avLst>
              <a:gd name="adj" fmla="val 50000"/>
            </a:avLst>
          </a:prstGeom>
          <a:solidFill>
            <a:srgbClr val="FCEC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7013448" y="2596896"/>
            <a:ext cx="1298448" cy="310896"/>
          </a:xfrm>
          <a:prstGeom prst="rect">
            <a:avLst/>
          </a:prstGeom>
          <a:noFill/>
        </p:spPr>
        <p:txBody>
          <a:bodyPr wrap="none" anchor="ctr" lIns="0" rIns="0" tIns="0" bIns="0">
            <a:spAutoFit/>
          </a:bodyPr>
          <a:lstStyle/>
          <a:p>
            <a:pPr algn="ctr">
              <a:lnSpc>
                <a:spcPct val="106000"/>
              </a:lnSpc>
              <a:spcBef>
                <a:spcPts val="0"/>
              </a:spcBef>
              <a:spcAft>
                <a:spcPts val="0"/>
              </a:spcAft>
            </a:pPr>
            <a:r>
              <a:rPr sz="850" b="1">
                <a:solidFill>
                  <a:srgbClr val="B80000"/>
                </a:solidFill>
                <a:latin typeface="Red Hat Display"/>
              </a:rPr>
              <a:t>MEDIA PASS</a:t>
            </a:r>
          </a:p>
        </p:txBody>
      </p:sp>
      <p:pic>
        <p:nvPicPr>
          <p:cNvPr id="24" name="Picture 23" descr="eye_slate.png"/>
          <p:cNvPicPr>
            <a:picLocks noChangeAspect="1"/>
          </p:cNvPicPr>
          <p:nvPr/>
        </p:nvPicPr>
        <p:blipFill>
          <a:blip r:embed="rId4"/>
          <a:stretch>
            <a:fillRect/>
          </a:stretch>
        </p:blipFill>
        <p:spPr>
          <a:xfrm>
            <a:off x="8843619" y="3108960"/>
            <a:ext cx="475488" cy="475488"/>
          </a:xfrm>
          <a:prstGeom prst="rect">
            <a:avLst/>
          </a:prstGeom>
        </p:spPr>
      </p:pic>
      <p:sp>
        <p:nvSpPr>
          <p:cNvPr id="25" name="TextBox 24"/>
          <p:cNvSpPr txBox="1"/>
          <p:nvPr/>
        </p:nvSpPr>
        <p:spPr>
          <a:xfrm>
            <a:off x="7050024" y="3721608"/>
            <a:ext cx="4062679" cy="1481328"/>
          </a:xfrm>
          <a:prstGeom prst="rect">
            <a:avLst/>
          </a:prstGeom>
          <a:noFill/>
        </p:spPr>
        <p:txBody>
          <a:bodyPr wrap="square" anchor="t" lIns="0" rIns="0" tIns="0" bIns="0">
            <a:spAutoFit/>
          </a:bodyPr>
          <a:lstStyle/>
          <a:p>
            <a:pPr algn="l">
              <a:lnSpc>
                <a:spcPct val="120000"/>
              </a:lnSpc>
              <a:spcBef>
                <a:spcPts val="0"/>
              </a:spcBef>
              <a:spcAft>
                <a:spcPts val="0"/>
              </a:spcAft>
            </a:pPr>
            <a:r>
              <a:rPr sz="950" b="0">
                <a:solidFill>
                  <a:srgbClr val="8A9099"/>
                </a:solidFill>
                <a:latin typeface="Red Hat Text"/>
              </a:rPr>
              <a:t>A build step with a small "Chains" badge auto-attaching a .sig and .att to the image icon; a side note "key-based (lab) vs keyless / RHTAS (enterprise)".</a:t>
            </a:r>
          </a:p>
        </p:txBody>
      </p:sp>
      <p:cxnSp>
        <p:nvCxnSpPr>
          <p:cNvPr id="26" name="Connector 25"/>
          <p:cNvCxnSpPr/>
          <p:nvPr/>
        </p:nvCxnSpPr>
        <p:spPr>
          <a:xfrm>
            <a:off x="841248" y="6437376"/>
            <a:ext cx="10509199" cy="0"/>
          </a:xfrm>
          <a:prstGeom prst="bentConnector3">
            <a:avLst/>
          </a:prstGeom>
          <a:ln w="12700">
            <a:solidFill>
              <a:srgbClr val="DDE1E6"/>
            </a:solidFill>
          </a:ln>
          <a:effectLst/>
        </p:spPr>
        <p:style>
          <a:lnRef idx="2">
            <a:schemeClr val="accent1"/>
          </a:lnRef>
          <a:fillRef idx="0">
            <a:schemeClr val="accent1"/>
          </a:fillRef>
          <a:effectRef idx="1">
            <a:schemeClr val="accent1"/>
          </a:effectRef>
          <a:fontRef idx="minor">
            <a:schemeClr val="tx1"/>
          </a:fontRef>
        </p:style>
      </p:cxnSp>
      <p:sp>
        <p:nvSpPr>
          <p:cNvPr id="27" name="TextBox 26"/>
          <p:cNvSpPr txBox="1"/>
          <p:nvPr/>
        </p:nvSpPr>
        <p:spPr>
          <a:xfrm>
            <a:off x="841248" y="6473952"/>
            <a:ext cx="7315200" cy="274320"/>
          </a:xfrm>
          <a:prstGeom prst="rect">
            <a:avLst/>
          </a:prstGeom>
          <a:noFill/>
        </p:spPr>
        <p:txBody>
          <a:bodyPr wrap="square" anchor="t" lIns="0" rIns="0" tIns="0" bIns="0">
            <a:spAutoFit/>
          </a:bodyPr>
          <a:lstStyle/>
          <a:p>
            <a:pPr algn="l">
              <a:lnSpc>
                <a:spcPct val="106000"/>
              </a:lnSpc>
              <a:spcBef>
                <a:spcPts val="0"/>
              </a:spcBef>
              <a:spcAft>
                <a:spcPts val="0"/>
              </a:spcAft>
            </a:pPr>
            <a:r>
              <a:rPr sz="950" b="0">
                <a:solidFill>
                  <a:srgbClr val="8A9099"/>
                </a:solidFill>
                <a:latin typeface="Red Hat Text"/>
              </a:rPr>
              <a:t>CONFIDENTIAL</a:t>
            </a:r>
          </a:p>
        </p:txBody>
      </p:sp>
      <p:sp>
        <p:nvSpPr>
          <p:cNvPr id="28" name="TextBox 27"/>
          <p:cNvSpPr txBox="1"/>
          <p:nvPr/>
        </p:nvSpPr>
        <p:spPr>
          <a:xfrm>
            <a:off x="10801807" y="6473952"/>
            <a:ext cx="548640" cy="274320"/>
          </a:xfrm>
          <a:prstGeom prst="rect">
            <a:avLst/>
          </a:prstGeom>
          <a:noFill/>
        </p:spPr>
        <p:txBody>
          <a:bodyPr wrap="square" anchor="t" lIns="0" rIns="0" tIns="0" bIns="0">
            <a:spAutoFit/>
          </a:bodyPr>
          <a:lstStyle/>
          <a:p>
            <a:pPr algn="r">
              <a:lnSpc>
                <a:spcPct val="106000"/>
              </a:lnSpc>
              <a:spcBef>
                <a:spcPts val="0"/>
              </a:spcBef>
              <a:spcAft>
                <a:spcPts val="0"/>
              </a:spcAft>
            </a:pPr>
            <a:r>
              <a:rPr sz="950" b="0">
                <a:solidFill>
                  <a:srgbClr val="8A9099"/>
                </a:solidFill>
                <a:latin typeface="Red Hat Text"/>
              </a:rPr>
              <a:t>65</a:t>
            </a:r>
          </a:p>
        </p:txBody>
      </p:sp>
    </p:spTree>
  </p:cSld>
  <p:clrMapOvr>
    <a:masterClrMapping/>
  </p:clrMapOvr>
</p:sld>
</file>

<file path=ppt/slides/slide7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redhat_logo.jpg"/>
          <p:cNvPicPr>
            <a:picLocks noChangeAspect="1"/>
          </p:cNvPicPr>
          <p:nvPr/>
        </p:nvPicPr>
        <p:blipFill>
          <a:blip r:embed="rId2"/>
          <a:stretch>
            <a:fillRect/>
          </a:stretch>
        </p:blipFill>
        <p:spPr>
          <a:xfrm>
            <a:off x="10326319" y="475488"/>
            <a:ext cx="1024128" cy="242248"/>
          </a:xfrm>
          <a:prstGeom prst="rect">
            <a:avLst/>
          </a:prstGeom>
        </p:spPr>
      </p:pic>
      <p:sp>
        <p:nvSpPr>
          <p:cNvPr id="3" name="TextBox 2"/>
          <p:cNvSpPr txBox="1"/>
          <p:nvPr/>
        </p:nvSpPr>
        <p:spPr>
          <a:xfrm>
            <a:off x="841248" y="548640"/>
            <a:ext cx="8595360" cy="274320"/>
          </a:xfrm>
          <a:prstGeom prst="rect">
            <a:avLst/>
          </a:prstGeom>
          <a:noFill/>
        </p:spPr>
        <p:txBody>
          <a:bodyPr wrap="square" anchor="t" lIns="0" rIns="0" tIns="0" bIns="0">
            <a:spAutoFit/>
          </a:bodyPr>
          <a:lstStyle/>
          <a:p>
            <a:pPr algn="l">
              <a:lnSpc>
                <a:spcPct val="106000"/>
              </a:lnSpc>
              <a:spcBef>
                <a:spcPts val="0"/>
              </a:spcBef>
              <a:spcAft>
                <a:spcPts val="0"/>
              </a:spcAft>
            </a:pPr>
            <a:r>
              <a:rPr sz="1250" b="1" spc="220">
                <a:solidFill>
                  <a:srgbClr val="EE0000"/>
                </a:solidFill>
                <a:latin typeface="Red Hat Display"/>
              </a:rPr>
              <a:t>M09 · TRUSTED SOFTWARE SUPPLY CHAIN</a:t>
            </a:r>
          </a:p>
        </p:txBody>
      </p:sp>
      <p:sp>
        <p:nvSpPr>
          <p:cNvPr id="4" name="TextBox 3"/>
          <p:cNvSpPr txBox="1"/>
          <p:nvPr/>
        </p:nvSpPr>
        <p:spPr>
          <a:xfrm>
            <a:off x="841248" y="877824"/>
            <a:ext cx="10515600" cy="548640"/>
          </a:xfrm>
          <a:prstGeom prst="rect">
            <a:avLst/>
          </a:prstGeom>
          <a:noFill/>
        </p:spPr>
        <p:txBody>
          <a:bodyPr wrap="none" anchor="t" lIns="0" rIns="0" tIns="0" bIns="0">
            <a:spAutoFit/>
          </a:bodyPr>
          <a:lstStyle/>
          <a:p>
            <a:pPr algn="l">
              <a:lnSpc>
                <a:spcPct val="100000"/>
              </a:lnSpc>
              <a:spcBef>
                <a:spcPts val="0"/>
              </a:spcBef>
              <a:spcAft>
                <a:spcPts val="0"/>
              </a:spcAft>
            </a:pPr>
            <a:r>
              <a:rPr sz="2500" b="1">
                <a:solidFill>
                  <a:srgbClr val="1A1A1A"/>
                </a:solidFill>
                <a:latin typeface="Red Hat Display"/>
              </a:rPr>
              <a:t>What you'll do</a:t>
            </a:r>
          </a:p>
        </p:txBody>
      </p:sp>
      <p:cxnSp>
        <p:nvCxnSpPr>
          <p:cNvPr id="5" name="Connector 4"/>
          <p:cNvCxnSpPr/>
          <p:nvPr/>
        </p:nvCxnSpPr>
        <p:spPr>
          <a:xfrm>
            <a:off x="841248" y="1554480"/>
            <a:ext cx="1371600" cy="0"/>
          </a:xfrm>
          <a:prstGeom prst="bentConnector3">
            <a:avLst/>
          </a:prstGeom>
          <a:ln w="31750">
            <a:solidFill>
              <a:srgbClr val="EE0000"/>
            </a:solidFill>
          </a:ln>
          <a:effectLst/>
        </p:spPr>
        <p:style>
          <a:lnRef idx="2">
            <a:schemeClr val="accent1"/>
          </a:lnRef>
          <a:fillRef idx="0">
            <a:schemeClr val="accent1"/>
          </a:fillRef>
          <a:effectRef idx="1">
            <a:schemeClr val="accent1"/>
          </a:effectRef>
          <a:fontRef idx="minor">
            <a:schemeClr val="tx1"/>
          </a:fontRef>
        </p:style>
      </p:cxnSp>
      <p:sp>
        <p:nvSpPr>
          <p:cNvPr id="6" name="Rounded Rectangle 5"/>
          <p:cNvSpPr/>
          <p:nvPr/>
        </p:nvSpPr>
        <p:spPr>
          <a:xfrm>
            <a:off x="841248" y="2395728"/>
            <a:ext cx="5715000" cy="530352"/>
          </a:xfrm>
          <a:prstGeom prst="roundRect">
            <a:avLst>
              <a:gd name="adj" fmla="val 6000"/>
            </a:avLst>
          </a:prstGeom>
          <a:solidFill>
            <a:srgbClr val="F5F6F8"/>
          </a:solidFill>
          <a:ln w="12700">
            <a:solidFill>
              <a:srgbClr val="DDE1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check_steel.png"/>
          <p:cNvPicPr>
            <a:picLocks noChangeAspect="1"/>
          </p:cNvPicPr>
          <p:nvPr/>
        </p:nvPicPr>
        <p:blipFill>
          <a:blip r:embed="rId3"/>
          <a:stretch>
            <a:fillRect/>
          </a:stretch>
        </p:blipFill>
        <p:spPr>
          <a:xfrm>
            <a:off x="987552" y="2542032"/>
            <a:ext cx="237744" cy="237744"/>
          </a:xfrm>
          <a:prstGeom prst="rect">
            <a:avLst/>
          </a:prstGeom>
        </p:spPr>
      </p:pic>
      <p:sp>
        <p:nvSpPr>
          <p:cNvPr id="8" name="TextBox 7"/>
          <p:cNvSpPr txBox="1"/>
          <p:nvPr/>
        </p:nvSpPr>
        <p:spPr>
          <a:xfrm>
            <a:off x="1353312" y="2395728"/>
            <a:ext cx="5029200" cy="530352"/>
          </a:xfrm>
          <a:prstGeom prst="rect">
            <a:avLst/>
          </a:prstGeom>
          <a:noFill/>
        </p:spPr>
        <p:txBody>
          <a:bodyPr wrap="square" anchor="ctr" lIns="0" rIns="0" tIns="0" bIns="0">
            <a:spAutoFit/>
          </a:bodyPr>
          <a:lstStyle/>
          <a:p>
            <a:pPr algn="l">
              <a:lnSpc>
                <a:spcPct val="106000"/>
              </a:lnSpc>
              <a:spcBef>
                <a:spcPts val="0"/>
              </a:spcBef>
              <a:spcAft>
                <a:spcPts val="0"/>
              </a:spcAft>
            </a:pPr>
            <a:r>
              <a:rPr sz="1200" b="0">
                <a:solidFill>
                  <a:srgbClr val="1A1A1A"/>
                </a:solidFill>
                <a:latin typeface="Red Hat Text"/>
              </a:rPr>
              <a:t>Watch the gate refuse a seeded build (Log4Shell)</a:t>
            </a:r>
          </a:p>
        </p:txBody>
      </p:sp>
      <p:sp>
        <p:nvSpPr>
          <p:cNvPr id="9" name="Rounded Rectangle 8"/>
          <p:cNvSpPr/>
          <p:nvPr/>
        </p:nvSpPr>
        <p:spPr>
          <a:xfrm>
            <a:off x="841248" y="2999232"/>
            <a:ext cx="5715000" cy="530352"/>
          </a:xfrm>
          <a:prstGeom prst="roundRect">
            <a:avLst>
              <a:gd name="adj" fmla="val 6000"/>
            </a:avLst>
          </a:prstGeom>
          <a:solidFill>
            <a:srgbClr val="F5F6F8"/>
          </a:solidFill>
          <a:ln w="12700">
            <a:solidFill>
              <a:srgbClr val="DDE1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0" name="Picture 9" descr="check_steel.png"/>
          <p:cNvPicPr>
            <a:picLocks noChangeAspect="1"/>
          </p:cNvPicPr>
          <p:nvPr/>
        </p:nvPicPr>
        <p:blipFill>
          <a:blip r:embed="rId3"/>
          <a:stretch>
            <a:fillRect/>
          </a:stretch>
        </p:blipFill>
        <p:spPr>
          <a:xfrm>
            <a:off x="987552" y="3145536"/>
            <a:ext cx="237744" cy="237744"/>
          </a:xfrm>
          <a:prstGeom prst="rect">
            <a:avLst/>
          </a:prstGeom>
        </p:spPr>
      </p:pic>
      <p:sp>
        <p:nvSpPr>
          <p:cNvPr id="11" name="TextBox 10"/>
          <p:cNvSpPr txBox="1"/>
          <p:nvPr/>
        </p:nvSpPr>
        <p:spPr>
          <a:xfrm>
            <a:off x="1353312" y="2999232"/>
            <a:ext cx="5029200" cy="530352"/>
          </a:xfrm>
          <a:prstGeom prst="rect">
            <a:avLst/>
          </a:prstGeom>
          <a:noFill/>
        </p:spPr>
        <p:txBody>
          <a:bodyPr wrap="square" anchor="ctr" lIns="0" rIns="0" tIns="0" bIns="0">
            <a:spAutoFit/>
          </a:bodyPr>
          <a:lstStyle/>
          <a:p>
            <a:pPr algn="l">
              <a:lnSpc>
                <a:spcPct val="106000"/>
              </a:lnSpc>
              <a:spcBef>
                <a:spcPts val="0"/>
              </a:spcBef>
              <a:spcAft>
                <a:spcPts val="0"/>
              </a:spcAft>
            </a:pPr>
            <a:r>
              <a:rPr sz="1200" b="0">
                <a:solidFill>
                  <a:srgbClr val="1A1A1A"/>
                </a:solidFill>
                <a:latin typeface="Red Hat Text"/>
              </a:rPr>
              <a:t>Your clean image is already built, scanned, signed</a:t>
            </a:r>
          </a:p>
        </p:txBody>
      </p:sp>
      <p:sp>
        <p:nvSpPr>
          <p:cNvPr id="12" name="Rounded Rectangle 11"/>
          <p:cNvSpPr/>
          <p:nvPr/>
        </p:nvSpPr>
        <p:spPr>
          <a:xfrm>
            <a:off x="841248" y="3602736"/>
            <a:ext cx="5715000" cy="530352"/>
          </a:xfrm>
          <a:prstGeom prst="roundRect">
            <a:avLst>
              <a:gd name="adj" fmla="val 6000"/>
            </a:avLst>
          </a:prstGeom>
          <a:solidFill>
            <a:srgbClr val="F5F6F8"/>
          </a:solidFill>
          <a:ln w="12700">
            <a:solidFill>
              <a:srgbClr val="DDE1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3" name="Picture 12" descr="check_steel.png"/>
          <p:cNvPicPr>
            <a:picLocks noChangeAspect="1"/>
          </p:cNvPicPr>
          <p:nvPr/>
        </p:nvPicPr>
        <p:blipFill>
          <a:blip r:embed="rId3"/>
          <a:stretch>
            <a:fillRect/>
          </a:stretch>
        </p:blipFill>
        <p:spPr>
          <a:xfrm>
            <a:off x="987552" y="3749040"/>
            <a:ext cx="237744" cy="237744"/>
          </a:xfrm>
          <a:prstGeom prst="rect">
            <a:avLst/>
          </a:prstGeom>
        </p:spPr>
      </p:pic>
      <p:sp>
        <p:nvSpPr>
          <p:cNvPr id="14" name="TextBox 13"/>
          <p:cNvSpPr txBox="1"/>
          <p:nvPr/>
        </p:nvSpPr>
        <p:spPr>
          <a:xfrm>
            <a:off x="1353312" y="3602736"/>
            <a:ext cx="5029200" cy="530352"/>
          </a:xfrm>
          <a:prstGeom prst="rect">
            <a:avLst/>
          </a:prstGeom>
          <a:noFill/>
        </p:spPr>
        <p:txBody>
          <a:bodyPr wrap="square" anchor="ctr" lIns="0" rIns="0" tIns="0" bIns="0">
            <a:spAutoFit/>
          </a:bodyPr>
          <a:lstStyle/>
          <a:p>
            <a:pPr algn="l">
              <a:lnSpc>
                <a:spcPct val="106000"/>
              </a:lnSpc>
              <a:spcBef>
                <a:spcPts val="0"/>
              </a:spcBef>
              <a:spcAft>
                <a:spcPts val="0"/>
              </a:spcAft>
            </a:pPr>
            <a:r>
              <a:rPr sz="1200" b="0">
                <a:solidFill>
                  <a:srgbClr val="1A1A1A"/>
                </a:solidFill>
                <a:latin typeface="Red Hat Text"/>
              </a:rPr>
              <a:t>Verify it yourself with cosign (fetched from RHTAS)</a:t>
            </a:r>
          </a:p>
        </p:txBody>
      </p:sp>
      <p:sp>
        <p:nvSpPr>
          <p:cNvPr id="15" name="Rounded Rectangle 14"/>
          <p:cNvSpPr/>
          <p:nvPr/>
        </p:nvSpPr>
        <p:spPr>
          <a:xfrm>
            <a:off x="841248" y="4206240"/>
            <a:ext cx="5715000" cy="530352"/>
          </a:xfrm>
          <a:prstGeom prst="roundRect">
            <a:avLst>
              <a:gd name="adj" fmla="val 6000"/>
            </a:avLst>
          </a:prstGeom>
          <a:solidFill>
            <a:srgbClr val="F5F6F8"/>
          </a:solidFill>
          <a:ln w="12700">
            <a:solidFill>
              <a:srgbClr val="DDE1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6" name="Picture 15" descr="check_steel.png"/>
          <p:cNvPicPr>
            <a:picLocks noChangeAspect="1"/>
          </p:cNvPicPr>
          <p:nvPr/>
        </p:nvPicPr>
        <p:blipFill>
          <a:blip r:embed="rId3"/>
          <a:stretch>
            <a:fillRect/>
          </a:stretch>
        </p:blipFill>
        <p:spPr>
          <a:xfrm>
            <a:off x="987552" y="4352544"/>
            <a:ext cx="237744" cy="237744"/>
          </a:xfrm>
          <a:prstGeom prst="rect">
            <a:avLst/>
          </a:prstGeom>
        </p:spPr>
      </p:pic>
      <p:sp>
        <p:nvSpPr>
          <p:cNvPr id="17" name="TextBox 16"/>
          <p:cNvSpPr txBox="1"/>
          <p:nvPr/>
        </p:nvSpPr>
        <p:spPr>
          <a:xfrm>
            <a:off x="1353312" y="4206240"/>
            <a:ext cx="5029200" cy="530352"/>
          </a:xfrm>
          <a:prstGeom prst="rect">
            <a:avLst/>
          </a:prstGeom>
          <a:noFill/>
        </p:spPr>
        <p:txBody>
          <a:bodyPr wrap="square" anchor="ctr" lIns="0" rIns="0" tIns="0" bIns="0">
            <a:spAutoFit/>
          </a:bodyPr>
          <a:lstStyle/>
          <a:p>
            <a:pPr algn="l">
              <a:lnSpc>
                <a:spcPct val="106000"/>
              </a:lnSpc>
              <a:spcBef>
                <a:spcPts val="0"/>
              </a:spcBef>
              <a:spcAft>
                <a:spcPts val="0"/>
              </a:spcAft>
            </a:pPr>
            <a:r>
              <a:rPr sz="1200" b="0">
                <a:solidFill>
                  <a:srgbClr val="1A1A1A"/>
                </a:solidFill>
                <a:latin typeface="Red Hat Text"/>
              </a:rPr>
              <a:t>Read the SLSA provenance; sign the SBOM keylessly → Rekor</a:t>
            </a:r>
          </a:p>
        </p:txBody>
      </p:sp>
      <p:sp>
        <p:nvSpPr>
          <p:cNvPr id="18" name="Rounded Rectangle 17"/>
          <p:cNvSpPr/>
          <p:nvPr/>
        </p:nvSpPr>
        <p:spPr>
          <a:xfrm>
            <a:off x="841248" y="4809744"/>
            <a:ext cx="5715000" cy="530352"/>
          </a:xfrm>
          <a:prstGeom prst="roundRect">
            <a:avLst>
              <a:gd name="adj" fmla="val 6000"/>
            </a:avLst>
          </a:prstGeom>
          <a:solidFill>
            <a:srgbClr val="F5F6F8"/>
          </a:solidFill>
          <a:ln w="12700">
            <a:solidFill>
              <a:srgbClr val="DDE1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9" name="Picture 18" descr="check_steel.png"/>
          <p:cNvPicPr>
            <a:picLocks noChangeAspect="1"/>
          </p:cNvPicPr>
          <p:nvPr/>
        </p:nvPicPr>
        <p:blipFill>
          <a:blip r:embed="rId3"/>
          <a:stretch>
            <a:fillRect/>
          </a:stretch>
        </p:blipFill>
        <p:spPr>
          <a:xfrm>
            <a:off x="987552" y="4956048"/>
            <a:ext cx="237744" cy="237744"/>
          </a:xfrm>
          <a:prstGeom prst="rect">
            <a:avLst/>
          </a:prstGeom>
        </p:spPr>
      </p:pic>
      <p:sp>
        <p:nvSpPr>
          <p:cNvPr id="20" name="TextBox 19"/>
          <p:cNvSpPr txBox="1"/>
          <p:nvPr/>
        </p:nvSpPr>
        <p:spPr>
          <a:xfrm>
            <a:off x="1353312" y="4809744"/>
            <a:ext cx="5029200" cy="530352"/>
          </a:xfrm>
          <a:prstGeom prst="rect">
            <a:avLst/>
          </a:prstGeom>
          <a:noFill/>
        </p:spPr>
        <p:txBody>
          <a:bodyPr wrap="square" anchor="ctr" lIns="0" rIns="0" tIns="0" bIns="0">
            <a:spAutoFit/>
          </a:bodyPr>
          <a:lstStyle/>
          <a:p>
            <a:pPr algn="l">
              <a:lnSpc>
                <a:spcPct val="106000"/>
              </a:lnSpc>
              <a:spcBef>
                <a:spcPts val="0"/>
              </a:spcBef>
              <a:spcAft>
                <a:spcPts val="0"/>
              </a:spcAft>
            </a:pPr>
            <a:r>
              <a:rPr sz="1200" b="0">
                <a:solidFill>
                  <a:srgbClr val="1A1A1A"/>
                </a:solidFill>
                <a:latin typeface="Red Hat Text"/>
              </a:rPr>
              <a:t>Watch the cluster refuse an unsigned image</a:t>
            </a:r>
          </a:p>
        </p:txBody>
      </p:sp>
      <p:sp>
        <p:nvSpPr>
          <p:cNvPr id="21" name="Rounded Rectangle 20"/>
          <p:cNvSpPr/>
          <p:nvPr/>
        </p:nvSpPr>
        <p:spPr>
          <a:xfrm>
            <a:off x="6812280" y="2395728"/>
            <a:ext cx="4538167" cy="2944368"/>
          </a:xfrm>
          <a:prstGeom prst="roundRect">
            <a:avLst>
              <a:gd name="adj" fmla="val 4000"/>
            </a:avLst>
          </a:prstGeom>
          <a:solidFill>
            <a:srgbClr val="FFFFFF"/>
          </a:solidFill>
          <a:ln w="15240">
            <a:solidFill>
              <a:srgbClr val="DDE1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ounded Rectangle 21"/>
          <p:cNvSpPr/>
          <p:nvPr/>
        </p:nvSpPr>
        <p:spPr>
          <a:xfrm>
            <a:off x="7013448" y="2596896"/>
            <a:ext cx="1298448" cy="310896"/>
          </a:xfrm>
          <a:prstGeom prst="roundRect">
            <a:avLst>
              <a:gd name="adj" fmla="val 50000"/>
            </a:avLst>
          </a:prstGeom>
          <a:solidFill>
            <a:srgbClr val="FCEC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7013448" y="2596896"/>
            <a:ext cx="1298448" cy="310896"/>
          </a:xfrm>
          <a:prstGeom prst="rect">
            <a:avLst/>
          </a:prstGeom>
          <a:noFill/>
        </p:spPr>
        <p:txBody>
          <a:bodyPr wrap="none" anchor="ctr" lIns="0" rIns="0" tIns="0" bIns="0">
            <a:spAutoFit/>
          </a:bodyPr>
          <a:lstStyle/>
          <a:p>
            <a:pPr algn="ctr">
              <a:lnSpc>
                <a:spcPct val="106000"/>
              </a:lnSpc>
              <a:spcBef>
                <a:spcPts val="0"/>
              </a:spcBef>
              <a:spcAft>
                <a:spcPts val="0"/>
              </a:spcAft>
            </a:pPr>
            <a:r>
              <a:rPr sz="850" b="1">
                <a:solidFill>
                  <a:srgbClr val="B80000"/>
                </a:solidFill>
                <a:latin typeface="Red Hat Display"/>
              </a:rPr>
              <a:t>MEDIA PASS</a:t>
            </a:r>
          </a:p>
        </p:txBody>
      </p:sp>
      <p:pic>
        <p:nvPicPr>
          <p:cNvPr id="24" name="Picture 23" descr="eye_slate.png"/>
          <p:cNvPicPr>
            <a:picLocks noChangeAspect="1"/>
          </p:cNvPicPr>
          <p:nvPr/>
        </p:nvPicPr>
        <p:blipFill>
          <a:blip r:embed="rId4"/>
          <a:stretch>
            <a:fillRect/>
          </a:stretch>
        </p:blipFill>
        <p:spPr>
          <a:xfrm>
            <a:off x="8843619" y="3108960"/>
            <a:ext cx="475488" cy="475488"/>
          </a:xfrm>
          <a:prstGeom prst="rect">
            <a:avLst/>
          </a:prstGeom>
        </p:spPr>
      </p:pic>
      <p:sp>
        <p:nvSpPr>
          <p:cNvPr id="25" name="TextBox 24"/>
          <p:cNvSpPr txBox="1"/>
          <p:nvPr/>
        </p:nvSpPr>
        <p:spPr>
          <a:xfrm>
            <a:off x="7050024" y="3721608"/>
            <a:ext cx="4062679" cy="1481328"/>
          </a:xfrm>
          <a:prstGeom prst="rect">
            <a:avLst/>
          </a:prstGeom>
          <a:noFill/>
        </p:spPr>
        <p:txBody>
          <a:bodyPr wrap="square" anchor="t" lIns="0" rIns="0" tIns="0" bIns="0">
            <a:spAutoFit/>
          </a:bodyPr>
          <a:lstStyle/>
          <a:p>
            <a:pPr algn="l">
              <a:lnSpc>
                <a:spcPct val="120000"/>
              </a:lnSpc>
              <a:spcBef>
                <a:spcPts val="0"/>
              </a:spcBef>
              <a:spcAft>
                <a:spcPts val="0"/>
              </a:spcAft>
            </a:pPr>
            <a:r>
              <a:rPr sz="950" b="0">
                <a:solidFill>
                  <a:srgbClr val="8A9099"/>
                </a:solidFill>
                <a:latin typeface="Red Hat Text"/>
              </a:rPr>
              <a:t>Numbered arc strip: gate refuses seeded → verify signed :latest → read provenance → keyless sign → Rekor entry → admission refuses unsigned.</a:t>
            </a:r>
          </a:p>
        </p:txBody>
      </p:sp>
      <p:cxnSp>
        <p:nvCxnSpPr>
          <p:cNvPr id="26" name="Connector 25"/>
          <p:cNvCxnSpPr/>
          <p:nvPr/>
        </p:nvCxnSpPr>
        <p:spPr>
          <a:xfrm>
            <a:off x="841248" y="6437376"/>
            <a:ext cx="10509199" cy="0"/>
          </a:xfrm>
          <a:prstGeom prst="bentConnector3">
            <a:avLst/>
          </a:prstGeom>
          <a:ln w="12700">
            <a:solidFill>
              <a:srgbClr val="DDE1E6"/>
            </a:solidFill>
          </a:ln>
          <a:effectLst/>
        </p:spPr>
        <p:style>
          <a:lnRef idx="2">
            <a:schemeClr val="accent1"/>
          </a:lnRef>
          <a:fillRef idx="0">
            <a:schemeClr val="accent1"/>
          </a:fillRef>
          <a:effectRef idx="1">
            <a:schemeClr val="accent1"/>
          </a:effectRef>
          <a:fontRef idx="minor">
            <a:schemeClr val="tx1"/>
          </a:fontRef>
        </p:style>
      </p:cxnSp>
      <p:sp>
        <p:nvSpPr>
          <p:cNvPr id="27" name="TextBox 26"/>
          <p:cNvSpPr txBox="1"/>
          <p:nvPr/>
        </p:nvSpPr>
        <p:spPr>
          <a:xfrm>
            <a:off x="841248" y="6473952"/>
            <a:ext cx="7315200" cy="274320"/>
          </a:xfrm>
          <a:prstGeom prst="rect">
            <a:avLst/>
          </a:prstGeom>
          <a:noFill/>
        </p:spPr>
        <p:txBody>
          <a:bodyPr wrap="square" anchor="t" lIns="0" rIns="0" tIns="0" bIns="0">
            <a:spAutoFit/>
          </a:bodyPr>
          <a:lstStyle/>
          <a:p>
            <a:pPr algn="l">
              <a:lnSpc>
                <a:spcPct val="106000"/>
              </a:lnSpc>
              <a:spcBef>
                <a:spcPts val="0"/>
              </a:spcBef>
              <a:spcAft>
                <a:spcPts val="0"/>
              </a:spcAft>
            </a:pPr>
            <a:r>
              <a:rPr sz="950" b="0">
                <a:solidFill>
                  <a:srgbClr val="8A9099"/>
                </a:solidFill>
                <a:latin typeface="Red Hat Text"/>
              </a:rPr>
              <a:t>CONFIDENTIAL</a:t>
            </a:r>
          </a:p>
        </p:txBody>
      </p:sp>
      <p:sp>
        <p:nvSpPr>
          <p:cNvPr id="28" name="TextBox 27"/>
          <p:cNvSpPr txBox="1"/>
          <p:nvPr/>
        </p:nvSpPr>
        <p:spPr>
          <a:xfrm>
            <a:off x="10801807" y="6473952"/>
            <a:ext cx="548640" cy="274320"/>
          </a:xfrm>
          <a:prstGeom prst="rect">
            <a:avLst/>
          </a:prstGeom>
          <a:noFill/>
        </p:spPr>
        <p:txBody>
          <a:bodyPr wrap="square" anchor="t" lIns="0" rIns="0" tIns="0" bIns="0">
            <a:spAutoFit/>
          </a:bodyPr>
          <a:lstStyle/>
          <a:p>
            <a:pPr algn="r">
              <a:lnSpc>
                <a:spcPct val="106000"/>
              </a:lnSpc>
              <a:spcBef>
                <a:spcPts val="0"/>
              </a:spcBef>
              <a:spcAft>
                <a:spcPts val="0"/>
              </a:spcAft>
            </a:pPr>
            <a:r>
              <a:rPr sz="950" b="0">
                <a:solidFill>
                  <a:srgbClr val="8A9099"/>
                </a:solidFill>
                <a:latin typeface="Red Hat Text"/>
              </a:rPr>
              <a:t>66</a:t>
            </a:r>
          </a:p>
        </p:txBody>
      </p:sp>
    </p:spTree>
  </p:cSld>
  <p:clrMapOvr>
    <a:masterClrMapping/>
  </p:clrMapOvr>
</p:sld>
</file>

<file path=ppt/slides/slide7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redhat_logo.jpg"/>
          <p:cNvPicPr>
            <a:picLocks noChangeAspect="1"/>
          </p:cNvPicPr>
          <p:nvPr/>
        </p:nvPicPr>
        <p:blipFill>
          <a:blip r:embed="rId2"/>
          <a:stretch>
            <a:fillRect/>
          </a:stretch>
        </p:blipFill>
        <p:spPr>
          <a:xfrm>
            <a:off x="10326319" y="475488"/>
            <a:ext cx="1024128" cy="242248"/>
          </a:xfrm>
          <a:prstGeom prst="rect">
            <a:avLst/>
          </a:prstGeom>
        </p:spPr>
      </p:pic>
      <p:sp>
        <p:nvSpPr>
          <p:cNvPr id="3" name="TextBox 2"/>
          <p:cNvSpPr txBox="1"/>
          <p:nvPr/>
        </p:nvSpPr>
        <p:spPr>
          <a:xfrm>
            <a:off x="841248" y="548640"/>
            <a:ext cx="8595360" cy="274320"/>
          </a:xfrm>
          <a:prstGeom prst="rect">
            <a:avLst/>
          </a:prstGeom>
          <a:noFill/>
        </p:spPr>
        <p:txBody>
          <a:bodyPr wrap="square" anchor="t" lIns="0" rIns="0" tIns="0" bIns="0">
            <a:spAutoFit/>
          </a:bodyPr>
          <a:lstStyle/>
          <a:p>
            <a:pPr algn="l">
              <a:lnSpc>
                <a:spcPct val="106000"/>
              </a:lnSpc>
              <a:spcBef>
                <a:spcPts val="0"/>
              </a:spcBef>
              <a:spcAft>
                <a:spcPts val="0"/>
              </a:spcAft>
            </a:pPr>
            <a:r>
              <a:rPr sz="1250" b="1" spc="220">
                <a:solidFill>
                  <a:srgbClr val="EE0000"/>
                </a:solidFill>
                <a:latin typeface="Red Hat Display"/>
              </a:rPr>
              <a:t>M09 · TRUSTED SOFTWARE SUPPLY CHAIN</a:t>
            </a:r>
          </a:p>
        </p:txBody>
      </p:sp>
      <p:sp>
        <p:nvSpPr>
          <p:cNvPr id="4" name="TextBox 3"/>
          <p:cNvSpPr txBox="1"/>
          <p:nvPr/>
        </p:nvSpPr>
        <p:spPr>
          <a:xfrm>
            <a:off x="841248" y="877824"/>
            <a:ext cx="10515600" cy="548640"/>
          </a:xfrm>
          <a:prstGeom prst="rect">
            <a:avLst/>
          </a:prstGeom>
          <a:noFill/>
        </p:spPr>
        <p:txBody>
          <a:bodyPr wrap="none" anchor="t" lIns="0" rIns="0" tIns="0" bIns="0">
            <a:spAutoFit/>
          </a:bodyPr>
          <a:lstStyle/>
          <a:p>
            <a:pPr algn="l">
              <a:lnSpc>
                <a:spcPct val="100000"/>
              </a:lnSpc>
              <a:spcBef>
                <a:spcPts val="0"/>
              </a:spcBef>
              <a:spcAft>
                <a:spcPts val="0"/>
              </a:spcAft>
            </a:pPr>
            <a:r>
              <a:rPr sz="2500" b="1">
                <a:solidFill>
                  <a:srgbClr val="1A1A1A"/>
                </a:solidFill>
                <a:latin typeface="Red Hat Display"/>
              </a:rPr>
              <a:t>Map to your org — and when not</a:t>
            </a:r>
          </a:p>
        </p:txBody>
      </p:sp>
      <p:cxnSp>
        <p:nvCxnSpPr>
          <p:cNvPr id="5" name="Connector 4"/>
          <p:cNvCxnSpPr/>
          <p:nvPr/>
        </p:nvCxnSpPr>
        <p:spPr>
          <a:xfrm>
            <a:off x="841248" y="1554480"/>
            <a:ext cx="1371600" cy="0"/>
          </a:xfrm>
          <a:prstGeom prst="bentConnector3">
            <a:avLst/>
          </a:prstGeom>
          <a:ln w="31750">
            <a:solidFill>
              <a:srgbClr val="EE0000"/>
            </a:solidFill>
          </a:ln>
          <a:effectLst/>
        </p:spPr>
        <p:style>
          <a:lnRef idx="2">
            <a:schemeClr val="accent1"/>
          </a:lnRef>
          <a:fillRef idx="0">
            <a:schemeClr val="accent1"/>
          </a:fillRef>
          <a:effectRef idx="1">
            <a:schemeClr val="accent1"/>
          </a:effectRef>
          <a:fontRef idx="minor">
            <a:schemeClr val="tx1"/>
          </a:fontRef>
        </p:style>
      </p:cxnSp>
      <p:sp>
        <p:nvSpPr>
          <p:cNvPr id="6" name="Rounded Rectangle 5"/>
          <p:cNvSpPr/>
          <p:nvPr/>
        </p:nvSpPr>
        <p:spPr>
          <a:xfrm>
            <a:off x="841248" y="2395728"/>
            <a:ext cx="5715000" cy="530352"/>
          </a:xfrm>
          <a:prstGeom prst="roundRect">
            <a:avLst>
              <a:gd name="adj" fmla="val 6000"/>
            </a:avLst>
          </a:prstGeom>
          <a:solidFill>
            <a:srgbClr val="F5F6F8"/>
          </a:solidFill>
          <a:ln w="12700">
            <a:solidFill>
              <a:srgbClr val="DDE1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check_steel.png"/>
          <p:cNvPicPr>
            <a:picLocks noChangeAspect="1"/>
          </p:cNvPicPr>
          <p:nvPr/>
        </p:nvPicPr>
        <p:blipFill>
          <a:blip r:embed="rId3"/>
          <a:stretch>
            <a:fillRect/>
          </a:stretch>
        </p:blipFill>
        <p:spPr>
          <a:xfrm>
            <a:off x="987552" y="2542032"/>
            <a:ext cx="237744" cy="237744"/>
          </a:xfrm>
          <a:prstGeom prst="rect">
            <a:avLst/>
          </a:prstGeom>
        </p:spPr>
      </p:pic>
      <p:sp>
        <p:nvSpPr>
          <p:cNvPr id="8" name="TextBox 7"/>
          <p:cNvSpPr txBox="1"/>
          <p:nvPr/>
        </p:nvSpPr>
        <p:spPr>
          <a:xfrm>
            <a:off x="1353312" y="2395728"/>
            <a:ext cx="5029200" cy="530352"/>
          </a:xfrm>
          <a:prstGeom prst="rect">
            <a:avLst/>
          </a:prstGeom>
          <a:noFill/>
        </p:spPr>
        <p:txBody>
          <a:bodyPr wrap="square" anchor="ctr" lIns="0" rIns="0" tIns="0" bIns="0">
            <a:spAutoFit/>
          </a:bodyPr>
          <a:lstStyle/>
          <a:p>
            <a:pPr algn="l">
              <a:lnSpc>
                <a:spcPct val="106000"/>
              </a:lnSpc>
              <a:spcBef>
                <a:spcPts val="0"/>
              </a:spcBef>
              <a:spcAft>
                <a:spcPts val="0"/>
              </a:spcAft>
            </a:pPr>
            <a:r>
              <a:rPr sz="1200" b="0">
                <a:solidFill>
                  <a:srgbClr val="1A1A1A"/>
                </a:solidFill>
                <a:latin typeface="Red Hat Text"/>
              </a:rPr>
              <a:t>Next Log4Shell: query, or a weekend of grep?</a:t>
            </a:r>
          </a:p>
        </p:txBody>
      </p:sp>
      <p:sp>
        <p:nvSpPr>
          <p:cNvPr id="9" name="Rounded Rectangle 8"/>
          <p:cNvSpPr/>
          <p:nvPr/>
        </p:nvSpPr>
        <p:spPr>
          <a:xfrm>
            <a:off x="841248" y="2999232"/>
            <a:ext cx="5715000" cy="530352"/>
          </a:xfrm>
          <a:prstGeom prst="roundRect">
            <a:avLst>
              <a:gd name="adj" fmla="val 6000"/>
            </a:avLst>
          </a:prstGeom>
          <a:solidFill>
            <a:srgbClr val="F5F6F8"/>
          </a:solidFill>
          <a:ln w="12700">
            <a:solidFill>
              <a:srgbClr val="DDE1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0" name="Picture 9" descr="check_steel.png"/>
          <p:cNvPicPr>
            <a:picLocks noChangeAspect="1"/>
          </p:cNvPicPr>
          <p:nvPr/>
        </p:nvPicPr>
        <p:blipFill>
          <a:blip r:embed="rId3"/>
          <a:stretch>
            <a:fillRect/>
          </a:stretch>
        </p:blipFill>
        <p:spPr>
          <a:xfrm>
            <a:off x="987552" y="3145536"/>
            <a:ext cx="237744" cy="237744"/>
          </a:xfrm>
          <a:prstGeom prst="rect">
            <a:avLst/>
          </a:prstGeom>
        </p:spPr>
      </p:pic>
      <p:sp>
        <p:nvSpPr>
          <p:cNvPr id="11" name="TextBox 10"/>
          <p:cNvSpPr txBox="1"/>
          <p:nvPr/>
        </p:nvSpPr>
        <p:spPr>
          <a:xfrm>
            <a:off x="1353312" y="2999232"/>
            <a:ext cx="5029200" cy="530352"/>
          </a:xfrm>
          <a:prstGeom prst="rect">
            <a:avLst/>
          </a:prstGeom>
          <a:noFill/>
        </p:spPr>
        <p:txBody>
          <a:bodyPr wrap="square" anchor="ctr" lIns="0" rIns="0" tIns="0" bIns="0">
            <a:spAutoFit/>
          </a:bodyPr>
          <a:lstStyle/>
          <a:p>
            <a:pPr algn="l">
              <a:lnSpc>
                <a:spcPct val="106000"/>
              </a:lnSpc>
              <a:spcBef>
                <a:spcPts val="0"/>
              </a:spcBef>
              <a:spcAft>
                <a:spcPts val="0"/>
              </a:spcAft>
            </a:pPr>
            <a:r>
              <a:rPr sz="1200" b="0">
                <a:solidFill>
                  <a:srgbClr val="1A1A1A"/>
                </a:solidFill>
                <a:latin typeface="Red Hat Text"/>
              </a:rPr>
              <a:t>Do you sign — and does anything check it?</a:t>
            </a:r>
          </a:p>
        </p:txBody>
      </p:sp>
      <p:sp>
        <p:nvSpPr>
          <p:cNvPr id="12" name="Rounded Rectangle 11"/>
          <p:cNvSpPr/>
          <p:nvPr/>
        </p:nvSpPr>
        <p:spPr>
          <a:xfrm>
            <a:off x="841248" y="3602736"/>
            <a:ext cx="5715000" cy="530352"/>
          </a:xfrm>
          <a:prstGeom prst="roundRect">
            <a:avLst>
              <a:gd name="adj" fmla="val 6000"/>
            </a:avLst>
          </a:prstGeom>
          <a:solidFill>
            <a:srgbClr val="F5F6F8"/>
          </a:solidFill>
          <a:ln w="12700">
            <a:solidFill>
              <a:srgbClr val="DDE1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3" name="Picture 12" descr="check_steel.png"/>
          <p:cNvPicPr>
            <a:picLocks noChangeAspect="1"/>
          </p:cNvPicPr>
          <p:nvPr/>
        </p:nvPicPr>
        <p:blipFill>
          <a:blip r:embed="rId3"/>
          <a:stretch>
            <a:fillRect/>
          </a:stretch>
        </p:blipFill>
        <p:spPr>
          <a:xfrm>
            <a:off x="987552" y="3749040"/>
            <a:ext cx="237744" cy="237744"/>
          </a:xfrm>
          <a:prstGeom prst="rect">
            <a:avLst/>
          </a:prstGeom>
        </p:spPr>
      </p:pic>
      <p:sp>
        <p:nvSpPr>
          <p:cNvPr id="14" name="TextBox 13"/>
          <p:cNvSpPr txBox="1"/>
          <p:nvPr/>
        </p:nvSpPr>
        <p:spPr>
          <a:xfrm>
            <a:off x="1353312" y="3602736"/>
            <a:ext cx="5029200" cy="530352"/>
          </a:xfrm>
          <a:prstGeom prst="rect">
            <a:avLst/>
          </a:prstGeom>
          <a:noFill/>
        </p:spPr>
        <p:txBody>
          <a:bodyPr wrap="square" anchor="ctr" lIns="0" rIns="0" tIns="0" bIns="0">
            <a:spAutoFit/>
          </a:bodyPr>
          <a:lstStyle/>
          <a:p>
            <a:pPr algn="l">
              <a:lnSpc>
                <a:spcPct val="106000"/>
              </a:lnSpc>
              <a:spcBef>
                <a:spcPts val="0"/>
              </a:spcBef>
              <a:spcAft>
                <a:spcPts val="0"/>
              </a:spcAft>
            </a:pPr>
            <a:r>
              <a:rPr sz="1200" b="0">
                <a:solidFill>
                  <a:srgbClr val="1A1A1A"/>
                </a:solidFill>
                <a:latin typeface="Red Hat Text"/>
              </a:rPr>
              <a:t>Gate, admission, or both — which is missing?</a:t>
            </a:r>
          </a:p>
        </p:txBody>
      </p:sp>
      <p:sp>
        <p:nvSpPr>
          <p:cNvPr id="15" name="Rounded Rectangle 14"/>
          <p:cNvSpPr/>
          <p:nvPr/>
        </p:nvSpPr>
        <p:spPr>
          <a:xfrm>
            <a:off x="841248" y="4206240"/>
            <a:ext cx="5715000" cy="530352"/>
          </a:xfrm>
          <a:prstGeom prst="roundRect">
            <a:avLst>
              <a:gd name="adj" fmla="val 6000"/>
            </a:avLst>
          </a:prstGeom>
          <a:solidFill>
            <a:srgbClr val="F5F6F8"/>
          </a:solidFill>
          <a:ln w="12700">
            <a:solidFill>
              <a:srgbClr val="DDE1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6" name="Picture 15" descr="check_steel.png"/>
          <p:cNvPicPr>
            <a:picLocks noChangeAspect="1"/>
          </p:cNvPicPr>
          <p:nvPr/>
        </p:nvPicPr>
        <p:blipFill>
          <a:blip r:embed="rId3"/>
          <a:stretch>
            <a:fillRect/>
          </a:stretch>
        </p:blipFill>
        <p:spPr>
          <a:xfrm>
            <a:off x="987552" y="4352544"/>
            <a:ext cx="237744" cy="237744"/>
          </a:xfrm>
          <a:prstGeom prst="rect">
            <a:avLst/>
          </a:prstGeom>
        </p:spPr>
      </p:pic>
      <p:sp>
        <p:nvSpPr>
          <p:cNvPr id="17" name="TextBox 16"/>
          <p:cNvSpPr txBox="1"/>
          <p:nvPr/>
        </p:nvSpPr>
        <p:spPr>
          <a:xfrm>
            <a:off x="1353312" y="4206240"/>
            <a:ext cx="5029200" cy="530352"/>
          </a:xfrm>
          <a:prstGeom prst="rect">
            <a:avLst/>
          </a:prstGeom>
          <a:noFill/>
        </p:spPr>
        <p:txBody>
          <a:bodyPr wrap="square" anchor="ctr" lIns="0" rIns="0" tIns="0" bIns="0">
            <a:spAutoFit/>
          </a:bodyPr>
          <a:lstStyle/>
          <a:p>
            <a:pPr algn="l">
              <a:lnSpc>
                <a:spcPct val="106000"/>
              </a:lnSpc>
              <a:spcBef>
                <a:spcPts val="0"/>
              </a:spcBef>
              <a:spcAft>
                <a:spcPts val="0"/>
              </a:spcAft>
            </a:pPr>
            <a:r>
              <a:rPr sz="1200" b="0">
                <a:solidFill>
                  <a:srgbClr val="1A1A1A"/>
                </a:solidFill>
                <a:latin typeface="Red Hat Text"/>
              </a:rPr>
              <a:t>Don't gate on non-deterministic policy people can't act on</a:t>
            </a:r>
          </a:p>
        </p:txBody>
      </p:sp>
      <p:sp>
        <p:nvSpPr>
          <p:cNvPr id="18" name="Rounded Rectangle 17"/>
          <p:cNvSpPr/>
          <p:nvPr/>
        </p:nvSpPr>
        <p:spPr>
          <a:xfrm>
            <a:off x="841248" y="4809744"/>
            <a:ext cx="5715000" cy="530352"/>
          </a:xfrm>
          <a:prstGeom prst="roundRect">
            <a:avLst>
              <a:gd name="adj" fmla="val 6000"/>
            </a:avLst>
          </a:prstGeom>
          <a:solidFill>
            <a:srgbClr val="F5F6F8"/>
          </a:solidFill>
          <a:ln w="12700">
            <a:solidFill>
              <a:srgbClr val="DDE1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9" name="Picture 18" descr="check_steel.png"/>
          <p:cNvPicPr>
            <a:picLocks noChangeAspect="1"/>
          </p:cNvPicPr>
          <p:nvPr/>
        </p:nvPicPr>
        <p:blipFill>
          <a:blip r:embed="rId3"/>
          <a:stretch>
            <a:fillRect/>
          </a:stretch>
        </p:blipFill>
        <p:spPr>
          <a:xfrm>
            <a:off x="987552" y="4956048"/>
            <a:ext cx="237744" cy="237744"/>
          </a:xfrm>
          <a:prstGeom prst="rect">
            <a:avLst/>
          </a:prstGeom>
        </p:spPr>
      </p:pic>
      <p:sp>
        <p:nvSpPr>
          <p:cNvPr id="20" name="TextBox 19"/>
          <p:cNvSpPr txBox="1"/>
          <p:nvPr/>
        </p:nvSpPr>
        <p:spPr>
          <a:xfrm>
            <a:off x="1353312" y="4809744"/>
            <a:ext cx="5029200" cy="530352"/>
          </a:xfrm>
          <a:prstGeom prst="rect">
            <a:avLst/>
          </a:prstGeom>
          <a:noFill/>
        </p:spPr>
        <p:txBody>
          <a:bodyPr wrap="square" anchor="ctr" lIns="0" rIns="0" tIns="0" bIns="0">
            <a:spAutoFit/>
          </a:bodyPr>
          <a:lstStyle/>
          <a:p>
            <a:pPr algn="l">
              <a:lnSpc>
                <a:spcPct val="106000"/>
              </a:lnSpc>
              <a:spcBef>
                <a:spcPts val="0"/>
              </a:spcBef>
              <a:spcAft>
                <a:spcPts val="0"/>
              </a:spcAft>
            </a:pPr>
            <a:r>
              <a:rPr sz="1200" b="0">
                <a:solidFill>
                  <a:srgbClr val="1A1A1A"/>
                </a:solidFill>
                <a:latin typeface="Red Hat Text"/>
              </a:rPr>
              <a:t>Don't sign images you never verify</a:t>
            </a:r>
          </a:p>
        </p:txBody>
      </p:sp>
      <p:sp>
        <p:nvSpPr>
          <p:cNvPr id="21" name="Rounded Rectangle 20"/>
          <p:cNvSpPr/>
          <p:nvPr/>
        </p:nvSpPr>
        <p:spPr>
          <a:xfrm>
            <a:off x="6812280" y="2395728"/>
            <a:ext cx="4538167" cy="2944368"/>
          </a:xfrm>
          <a:prstGeom prst="roundRect">
            <a:avLst>
              <a:gd name="adj" fmla="val 4000"/>
            </a:avLst>
          </a:prstGeom>
          <a:solidFill>
            <a:srgbClr val="FFFFFF"/>
          </a:solidFill>
          <a:ln w="15240">
            <a:solidFill>
              <a:srgbClr val="DDE1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ounded Rectangle 21"/>
          <p:cNvSpPr/>
          <p:nvPr/>
        </p:nvSpPr>
        <p:spPr>
          <a:xfrm>
            <a:off x="7013448" y="2596896"/>
            <a:ext cx="1298448" cy="310896"/>
          </a:xfrm>
          <a:prstGeom prst="roundRect">
            <a:avLst>
              <a:gd name="adj" fmla="val 50000"/>
            </a:avLst>
          </a:prstGeom>
          <a:solidFill>
            <a:srgbClr val="FCEC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7013448" y="2596896"/>
            <a:ext cx="1298448" cy="310896"/>
          </a:xfrm>
          <a:prstGeom prst="rect">
            <a:avLst/>
          </a:prstGeom>
          <a:noFill/>
        </p:spPr>
        <p:txBody>
          <a:bodyPr wrap="none" anchor="ctr" lIns="0" rIns="0" tIns="0" bIns="0">
            <a:spAutoFit/>
          </a:bodyPr>
          <a:lstStyle/>
          <a:p>
            <a:pPr algn="ctr">
              <a:lnSpc>
                <a:spcPct val="106000"/>
              </a:lnSpc>
              <a:spcBef>
                <a:spcPts val="0"/>
              </a:spcBef>
              <a:spcAft>
                <a:spcPts val="0"/>
              </a:spcAft>
            </a:pPr>
            <a:r>
              <a:rPr sz="850" b="1">
                <a:solidFill>
                  <a:srgbClr val="B80000"/>
                </a:solidFill>
                <a:latin typeface="Red Hat Display"/>
              </a:rPr>
              <a:t>MEDIA PASS</a:t>
            </a:r>
          </a:p>
        </p:txBody>
      </p:sp>
      <p:pic>
        <p:nvPicPr>
          <p:cNvPr id="24" name="Picture 23" descr="eye_slate.png"/>
          <p:cNvPicPr>
            <a:picLocks noChangeAspect="1"/>
          </p:cNvPicPr>
          <p:nvPr/>
        </p:nvPicPr>
        <p:blipFill>
          <a:blip r:embed="rId4"/>
          <a:stretch>
            <a:fillRect/>
          </a:stretch>
        </p:blipFill>
        <p:spPr>
          <a:xfrm>
            <a:off x="8843619" y="3108960"/>
            <a:ext cx="475488" cy="475488"/>
          </a:xfrm>
          <a:prstGeom prst="rect">
            <a:avLst/>
          </a:prstGeom>
        </p:spPr>
      </p:pic>
      <p:sp>
        <p:nvSpPr>
          <p:cNvPr id="25" name="TextBox 24"/>
          <p:cNvSpPr txBox="1"/>
          <p:nvPr/>
        </p:nvSpPr>
        <p:spPr>
          <a:xfrm>
            <a:off x="7050024" y="3721608"/>
            <a:ext cx="4062679" cy="1481328"/>
          </a:xfrm>
          <a:prstGeom prst="rect">
            <a:avLst/>
          </a:prstGeom>
          <a:noFill/>
        </p:spPr>
        <p:txBody>
          <a:bodyPr wrap="square" anchor="t" lIns="0" rIns="0" tIns="0" bIns="0">
            <a:spAutoFit/>
          </a:bodyPr>
          <a:lstStyle/>
          <a:p>
            <a:pPr algn="l">
              <a:lnSpc>
                <a:spcPct val="120000"/>
              </a:lnSpc>
              <a:spcBef>
                <a:spcPts val="0"/>
              </a:spcBef>
              <a:spcAft>
                <a:spcPts val="0"/>
              </a:spcAft>
            </a:pPr>
            <a:r>
              <a:rPr sz="950" b="0">
                <a:solidFill>
                  <a:srgbClr val="8A9099"/>
                </a:solidFill>
                <a:latin typeface="Red Hat Text"/>
              </a:rPr>
              <a:t>Two-column card "query / fire drill" and "signed + enforced / signed + ignored", with a footnote pointer to the GitOps and Registry-governance modules.</a:t>
            </a:r>
          </a:p>
        </p:txBody>
      </p:sp>
      <p:cxnSp>
        <p:nvCxnSpPr>
          <p:cNvPr id="26" name="Connector 25"/>
          <p:cNvCxnSpPr/>
          <p:nvPr/>
        </p:nvCxnSpPr>
        <p:spPr>
          <a:xfrm>
            <a:off x="841248" y="6437376"/>
            <a:ext cx="10509199" cy="0"/>
          </a:xfrm>
          <a:prstGeom prst="bentConnector3">
            <a:avLst/>
          </a:prstGeom>
          <a:ln w="12700">
            <a:solidFill>
              <a:srgbClr val="DDE1E6"/>
            </a:solidFill>
          </a:ln>
          <a:effectLst/>
        </p:spPr>
        <p:style>
          <a:lnRef idx="2">
            <a:schemeClr val="accent1"/>
          </a:lnRef>
          <a:fillRef idx="0">
            <a:schemeClr val="accent1"/>
          </a:fillRef>
          <a:effectRef idx="1">
            <a:schemeClr val="accent1"/>
          </a:effectRef>
          <a:fontRef idx="minor">
            <a:schemeClr val="tx1"/>
          </a:fontRef>
        </p:style>
      </p:cxnSp>
      <p:sp>
        <p:nvSpPr>
          <p:cNvPr id="27" name="TextBox 26"/>
          <p:cNvSpPr txBox="1"/>
          <p:nvPr/>
        </p:nvSpPr>
        <p:spPr>
          <a:xfrm>
            <a:off x="841248" y="6473952"/>
            <a:ext cx="7315200" cy="274320"/>
          </a:xfrm>
          <a:prstGeom prst="rect">
            <a:avLst/>
          </a:prstGeom>
          <a:noFill/>
        </p:spPr>
        <p:txBody>
          <a:bodyPr wrap="square" anchor="t" lIns="0" rIns="0" tIns="0" bIns="0">
            <a:spAutoFit/>
          </a:bodyPr>
          <a:lstStyle/>
          <a:p>
            <a:pPr algn="l">
              <a:lnSpc>
                <a:spcPct val="106000"/>
              </a:lnSpc>
              <a:spcBef>
                <a:spcPts val="0"/>
              </a:spcBef>
              <a:spcAft>
                <a:spcPts val="0"/>
              </a:spcAft>
            </a:pPr>
            <a:r>
              <a:rPr sz="950" b="0">
                <a:solidFill>
                  <a:srgbClr val="8A9099"/>
                </a:solidFill>
                <a:latin typeface="Red Hat Text"/>
              </a:rPr>
              <a:t>CONFIDENTIAL</a:t>
            </a:r>
          </a:p>
        </p:txBody>
      </p:sp>
      <p:sp>
        <p:nvSpPr>
          <p:cNvPr id="28" name="TextBox 27"/>
          <p:cNvSpPr txBox="1"/>
          <p:nvPr/>
        </p:nvSpPr>
        <p:spPr>
          <a:xfrm>
            <a:off x="10801807" y="6473952"/>
            <a:ext cx="548640" cy="274320"/>
          </a:xfrm>
          <a:prstGeom prst="rect">
            <a:avLst/>
          </a:prstGeom>
          <a:noFill/>
        </p:spPr>
        <p:txBody>
          <a:bodyPr wrap="square" anchor="t" lIns="0" rIns="0" tIns="0" bIns="0">
            <a:spAutoFit/>
          </a:bodyPr>
          <a:lstStyle/>
          <a:p>
            <a:pPr algn="r">
              <a:lnSpc>
                <a:spcPct val="106000"/>
              </a:lnSpc>
              <a:spcBef>
                <a:spcPts val="0"/>
              </a:spcBef>
              <a:spcAft>
                <a:spcPts val="0"/>
              </a:spcAft>
            </a:pPr>
            <a:r>
              <a:rPr sz="950" b="0">
                <a:solidFill>
                  <a:srgbClr val="8A9099"/>
                </a:solidFill>
                <a:latin typeface="Red Hat Text"/>
              </a:rPr>
              <a:t>67</a:t>
            </a:r>
          </a:p>
        </p:txBody>
      </p:sp>
    </p:spTree>
  </p:cSld>
  <p:clrMapOvr>
    <a:masterClrMapping/>
  </p:clrMapOvr>
</p:sld>
</file>

<file path=ppt/slides/slide7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redhat_logo.jpg"/>
          <p:cNvPicPr>
            <a:picLocks noChangeAspect="1"/>
          </p:cNvPicPr>
          <p:nvPr/>
        </p:nvPicPr>
        <p:blipFill>
          <a:blip r:embed="rId2"/>
          <a:stretch>
            <a:fillRect/>
          </a:stretch>
        </p:blipFill>
        <p:spPr>
          <a:xfrm>
            <a:off x="841248" y="731520"/>
            <a:ext cx="1554480" cy="367699"/>
          </a:xfrm>
          <a:prstGeom prst="rect">
            <a:avLst/>
          </a:prstGeom>
        </p:spPr>
      </p:pic>
      <p:sp>
        <p:nvSpPr>
          <p:cNvPr id="3" name="TextBox 2"/>
          <p:cNvSpPr txBox="1"/>
          <p:nvPr/>
        </p:nvSpPr>
        <p:spPr>
          <a:xfrm>
            <a:off x="841248" y="2514600"/>
            <a:ext cx="9601200" cy="274320"/>
          </a:xfrm>
          <a:prstGeom prst="rect">
            <a:avLst/>
          </a:prstGeom>
          <a:noFill/>
        </p:spPr>
        <p:txBody>
          <a:bodyPr wrap="square" anchor="t" lIns="0" rIns="0" tIns="0" bIns="0">
            <a:spAutoFit/>
          </a:bodyPr>
          <a:lstStyle/>
          <a:p>
            <a:pPr algn="l">
              <a:lnSpc>
                <a:spcPct val="106000"/>
              </a:lnSpc>
              <a:spcBef>
                <a:spcPts val="0"/>
              </a:spcBef>
              <a:spcAft>
                <a:spcPts val="0"/>
              </a:spcAft>
            </a:pPr>
            <a:r>
              <a:rPr sz="1250" b="1" spc="180">
                <a:solidFill>
                  <a:srgbClr val="EE0000"/>
                </a:solidFill>
                <a:latin typeface="Red Hat Display"/>
              </a:rPr>
              <a:t>B · DELIVERY &amp; TRUST</a:t>
            </a:r>
          </a:p>
        </p:txBody>
      </p:sp>
      <p:sp>
        <p:nvSpPr>
          <p:cNvPr id="4" name="TextBox 3"/>
          <p:cNvSpPr txBox="1"/>
          <p:nvPr/>
        </p:nvSpPr>
        <p:spPr>
          <a:xfrm>
            <a:off x="841248" y="2880360"/>
            <a:ext cx="2103120" cy="1188720"/>
          </a:xfrm>
          <a:prstGeom prst="rect">
            <a:avLst/>
          </a:prstGeom>
          <a:noFill/>
        </p:spPr>
        <p:txBody>
          <a:bodyPr wrap="none" anchor="t" lIns="0" rIns="0" tIns="0" bIns="0">
            <a:spAutoFit/>
          </a:bodyPr>
          <a:lstStyle/>
          <a:p>
            <a:pPr algn="l">
              <a:lnSpc>
                <a:spcPct val="90000"/>
              </a:lnSpc>
              <a:spcBef>
                <a:spcPts val="0"/>
              </a:spcBef>
              <a:spcAft>
                <a:spcPts val="0"/>
              </a:spcAft>
            </a:pPr>
            <a:r>
              <a:rPr sz="5200" b="1">
                <a:solidFill>
                  <a:srgbClr val="B80000"/>
                </a:solidFill>
                <a:latin typeface="Red Hat Display"/>
              </a:rPr>
              <a:t>M10</a:t>
            </a:r>
          </a:p>
        </p:txBody>
      </p:sp>
      <p:sp>
        <p:nvSpPr>
          <p:cNvPr id="5" name="TextBox 4"/>
          <p:cNvSpPr txBox="1"/>
          <p:nvPr/>
        </p:nvSpPr>
        <p:spPr>
          <a:xfrm>
            <a:off x="3127248" y="2971800"/>
            <a:ext cx="8412480" cy="1188720"/>
          </a:xfrm>
          <a:prstGeom prst="rect">
            <a:avLst/>
          </a:prstGeom>
          <a:noFill/>
        </p:spPr>
        <p:txBody>
          <a:bodyPr wrap="square" anchor="t" lIns="0" rIns="0" tIns="0" bIns="0">
            <a:spAutoFit/>
          </a:bodyPr>
          <a:lstStyle/>
          <a:p>
            <a:pPr algn="l">
              <a:lnSpc>
                <a:spcPct val="102000"/>
              </a:lnSpc>
              <a:spcBef>
                <a:spcPts val="0"/>
              </a:spcBef>
              <a:spcAft>
                <a:spcPts val="0"/>
              </a:spcAft>
            </a:pPr>
            <a:r>
              <a:rPr sz="3000" b="1">
                <a:solidFill>
                  <a:srgbClr val="1A1A1A"/>
                </a:solidFill>
                <a:latin typeface="Red Hat Display"/>
              </a:rPr>
              <a:t>GitOps Fundamentals</a:t>
            </a:r>
          </a:p>
        </p:txBody>
      </p:sp>
      <p:cxnSp>
        <p:nvCxnSpPr>
          <p:cNvPr id="6" name="Connector 5"/>
          <p:cNvCxnSpPr/>
          <p:nvPr/>
        </p:nvCxnSpPr>
        <p:spPr>
          <a:xfrm>
            <a:off x="841248" y="4443984"/>
            <a:ext cx="1463040" cy="0"/>
          </a:xfrm>
          <a:prstGeom prst="bentConnector3">
            <a:avLst/>
          </a:prstGeom>
          <a:ln w="38100">
            <a:solidFill>
              <a:srgbClr val="EE0000"/>
            </a:solidFill>
          </a:ln>
          <a:effectLst/>
        </p:spPr>
        <p:style>
          <a:lnRef idx="2">
            <a:schemeClr val="accent1"/>
          </a:lnRef>
          <a:fillRef idx="0">
            <a:schemeClr val="accent1"/>
          </a:fillRef>
          <a:effectRef idx="1">
            <a:schemeClr val="accent1"/>
          </a:effectRef>
          <a:fontRef idx="minor">
            <a:schemeClr val="tx1"/>
          </a:fontRef>
        </p:style>
      </p:cxnSp>
    </p:spTree>
  </p:cSld>
  <p:clrMapOvr>
    <a:masterClrMapping/>
  </p:clrMapOvr>
</p:sld>
</file>

<file path=ppt/slides/slide7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redhat_logo.jpg"/>
          <p:cNvPicPr>
            <a:picLocks noChangeAspect="1"/>
          </p:cNvPicPr>
          <p:nvPr/>
        </p:nvPicPr>
        <p:blipFill>
          <a:blip r:embed="rId2"/>
          <a:stretch>
            <a:fillRect/>
          </a:stretch>
        </p:blipFill>
        <p:spPr>
          <a:xfrm>
            <a:off x="10326319" y="475488"/>
            <a:ext cx="1024128" cy="242248"/>
          </a:xfrm>
          <a:prstGeom prst="rect">
            <a:avLst/>
          </a:prstGeom>
        </p:spPr>
      </p:pic>
      <p:sp>
        <p:nvSpPr>
          <p:cNvPr id="3" name="TextBox 2"/>
          <p:cNvSpPr txBox="1"/>
          <p:nvPr/>
        </p:nvSpPr>
        <p:spPr>
          <a:xfrm>
            <a:off x="841248" y="548640"/>
            <a:ext cx="8595360" cy="274320"/>
          </a:xfrm>
          <a:prstGeom prst="rect">
            <a:avLst/>
          </a:prstGeom>
          <a:noFill/>
        </p:spPr>
        <p:txBody>
          <a:bodyPr wrap="square" anchor="t" lIns="0" rIns="0" tIns="0" bIns="0">
            <a:spAutoFit/>
          </a:bodyPr>
          <a:lstStyle/>
          <a:p>
            <a:pPr algn="l">
              <a:lnSpc>
                <a:spcPct val="106000"/>
              </a:lnSpc>
              <a:spcBef>
                <a:spcPts val="0"/>
              </a:spcBef>
              <a:spcAft>
                <a:spcPts val="0"/>
              </a:spcAft>
            </a:pPr>
            <a:r>
              <a:rPr sz="1250" b="1" spc="220">
                <a:solidFill>
                  <a:srgbClr val="EE0000"/>
                </a:solidFill>
                <a:latin typeface="Red Hat Display"/>
              </a:rPr>
              <a:t>M10 · GITOPS FUNDAMENTALS</a:t>
            </a:r>
          </a:p>
        </p:txBody>
      </p:sp>
      <p:sp>
        <p:nvSpPr>
          <p:cNvPr id="4" name="TextBox 3"/>
          <p:cNvSpPr txBox="1"/>
          <p:nvPr/>
        </p:nvSpPr>
        <p:spPr>
          <a:xfrm>
            <a:off x="841248" y="877824"/>
            <a:ext cx="10515600" cy="548640"/>
          </a:xfrm>
          <a:prstGeom prst="rect">
            <a:avLst/>
          </a:prstGeom>
          <a:noFill/>
        </p:spPr>
        <p:txBody>
          <a:bodyPr wrap="none" anchor="t" lIns="0" rIns="0" tIns="0" bIns="0">
            <a:spAutoFit/>
          </a:bodyPr>
          <a:lstStyle/>
          <a:p>
            <a:pPr algn="l">
              <a:lnSpc>
                <a:spcPct val="100000"/>
              </a:lnSpc>
              <a:spcBef>
                <a:spcPts val="0"/>
              </a:spcBef>
              <a:spcAft>
                <a:spcPts val="0"/>
              </a:spcAft>
            </a:pPr>
            <a:r>
              <a:rPr sz="2500" b="1">
                <a:solidFill>
                  <a:srgbClr val="1A1A1A"/>
                </a:solidFill>
                <a:latin typeface="Red Hat Display"/>
              </a:rPr>
              <a:t>The cluster nobody can vouch for</a:t>
            </a:r>
          </a:p>
        </p:txBody>
      </p:sp>
      <p:cxnSp>
        <p:nvCxnSpPr>
          <p:cNvPr id="5" name="Connector 4"/>
          <p:cNvCxnSpPr/>
          <p:nvPr/>
        </p:nvCxnSpPr>
        <p:spPr>
          <a:xfrm>
            <a:off x="841248" y="1554480"/>
            <a:ext cx="1371600" cy="0"/>
          </a:xfrm>
          <a:prstGeom prst="bentConnector3">
            <a:avLst/>
          </a:prstGeom>
          <a:ln w="31750">
            <a:solidFill>
              <a:srgbClr val="EE0000"/>
            </a:solidFill>
          </a:ln>
          <a:effectLst/>
        </p:spPr>
        <p:style>
          <a:lnRef idx="2">
            <a:schemeClr val="accent1"/>
          </a:lnRef>
          <a:fillRef idx="0">
            <a:schemeClr val="accent1"/>
          </a:fillRef>
          <a:effectRef idx="1">
            <a:schemeClr val="accent1"/>
          </a:effectRef>
          <a:fontRef idx="minor">
            <a:schemeClr val="tx1"/>
          </a:fontRef>
        </p:style>
      </p:cxnSp>
      <p:sp>
        <p:nvSpPr>
          <p:cNvPr id="6" name="Rounded Rectangle 5"/>
          <p:cNvSpPr/>
          <p:nvPr/>
        </p:nvSpPr>
        <p:spPr>
          <a:xfrm>
            <a:off x="841248" y="2395728"/>
            <a:ext cx="5715000" cy="530352"/>
          </a:xfrm>
          <a:prstGeom prst="roundRect">
            <a:avLst>
              <a:gd name="adj" fmla="val 6000"/>
            </a:avLst>
          </a:prstGeom>
          <a:solidFill>
            <a:srgbClr val="F5F6F8"/>
          </a:solidFill>
          <a:ln w="12700">
            <a:solidFill>
              <a:srgbClr val="DDE1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check_steel.png"/>
          <p:cNvPicPr>
            <a:picLocks noChangeAspect="1"/>
          </p:cNvPicPr>
          <p:nvPr/>
        </p:nvPicPr>
        <p:blipFill>
          <a:blip r:embed="rId3"/>
          <a:stretch>
            <a:fillRect/>
          </a:stretch>
        </p:blipFill>
        <p:spPr>
          <a:xfrm>
            <a:off x="987552" y="2542032"/>
            <a:ext cx="237744" cy="237744"/>
          </a:xfrm>
          <a:prstGeom prst="rect">
            <a:avLst/>
          </a:prstGeom>
        </p:spPr>
      </p:pic>
      <p:sp>
        <p:nvSpPr>
          <p:cNvPr id="8" name="TextBox 7"/>
          <p:cNvSpPr txBox="1"/>
          <p:nvPr/>
        </p:nvSpPr>
        <p:spPr>
          <a:xfrm>
            <a:off x="1353312" y="2395728"/>
            <a:ext cx="5029200" cy="530352"/>
          </a:xfrm>
          <a:prstGeom prst="rect">
            <a:avLst/>
          </a:prstGeom>
          <a:noFill/>
        </p:spPr>
        <p:txBody>
          <a:bodyPr wrap="square" anchor="ctr" lIns="0" rIns="0" tIns="0" bIns="0">
            <a:spAutoFit/>
          </a:bodyPr>
          <a:lstStyle/>
          <a:p>
            <a:pPr algn="l">
              <a:lnSpc>
                <a:spcPct val="106000"/>
              </a:lnSpc>
              <a:spcBef>
                <a:spcPts val="0"/>
              </a:spcBef>
              <a:spcAft>
                <a:spcPts val="0"/>
              </a:spcAft>
            </a:pPr>
            <a:r>
              <a:rPr sz="1200" b="0">
                <a:solidFill>
                  <a:srgbClr val="1A1A1A"/>
                </a:solidFill>
                <a:latin typeface="Red Hat Text"/>
              </a:rPr>
              <a:t>Claims config lives in Git — base + 3 overlays</a:t>
            </a:r>
          </a:p>
        </p:txBody>
      </p:sp>
      <p:sp>
        <p:nvSpPr>
          <p:cNvPr id="9" name="Rounded Rectangle 8"/>
          <p:cNvSpPr/>
          <p:nvPr/>
        </p:nvSpPr>
        <p:spPr>
          <a:xfrm>
            <a:off x="841248" y="2999232"/>
            <a:ext cx="5715000" cy="530352"/>
          </a:xfrm>
          <a:prstGeom prst="roundRect">
            <a:avLst>
              <a:gd name="adj" fmla="val 6000"/>
            </a:avLst>
          </a:prstGeom>
          <a:solidFill>
            <a:srgbClr val="F5F6F8"/>
          </a:solidFill>
          <a:ln w="12700">
            <a:solidFill>
              <a:srgbClr val="DDE1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0" name="Picture 9" descr="check_steel.png"/>
          <p:cNvPicPr>
            <a:picLocks noChangeAspect="1"/>
          </p:cNvPicPr>
          <p:nvPr/>
        </p:nvPicPr>
        <p:blipFill>
          <a:blip r:embed="rId3"/>
          <a:stretch>
            <a:fillRect/>
          </a:stretch>
        </p:blipFill>
        <p:spPr>
          <a:xfrm>
            <a:off x="987552" y="3145536"/>
            <a:ext cx="237744" cy="237744"/>
          </a:xfrm>
          <a:prstGeom prst="rect">
            <a:avLst/>
          </a:prstGeom>
        </p:spPr>
      </p:pic>
      <p:sp>
        <p:nvSpPr>
          <p:cNvPr id="11" name="TextBox 10"/>
          <p:cNvSpPr txBox="1"/>
          <p:nvPr/>
        </p:nvSpPr>
        <p:spPr>
          <a:xfrm>
            <a:off x="1353312" y="2999232"/>
            <a:ext cx="5029200" cy="530352"/>
          </a:xfrm>
          <a:prstGeom prst="rect">
            <a:avLst/>
          </a:prstGeom>
          <a:noFill/>
        </p:spPr>
        <p:txBody>
          <a:bodyPr wrap="square" anchor="ctr" lIns="0" rIns="0" tIns="0" bIns="0">
            <a:spAutoFit/>
          </a:bodyPr>
          <a:lstStyle/>
          <a:p>
            <a:pPr algn="l">
              <a:lnSpc>
                <a:spcPct val="106000"/>
              </a:lnSpc>
              <a:spcBef>
                <a:spcPts val="0"/>
              </a:spcBef>
              <a:spcAft>
                <a:spcPts val="0"/>
              </a:spcAft>
            </a:pPr>
            <a:r>
              <a:rPr sz="1200" b="0">
                <a:solidFill>
                  <a:srgbClr val="1A1A1A"/>
                </a:solidFill>
                <a:latin typeface="Red Hat Text"/>
              </a:rPr>
              <a:t>Yet dev and stage get changed by hand</a:t>
            </a:r>
          </a:p>
        </p:txBody>
      </p:sp>
      <p:sp>
        <p:nvSpPr>
          <p:cNvPr id="12" name="Rounded Rectangle 11"/>
          <p:cNvSpPr/>
          <p:nvPr/>
        </p:nvSpPr>
        <p:spPr>
          <a:xfrm>
            <a:off x="841248" y="3602736"/>
            <a:ext cx="5715000" cy="530352"/>
          </a:xfrm>
          <a:prstGeom prst="roundRect">
            <a:avLst>
              <a:gd name="adj" fmla="val 6000"/>
            </a:avLst>
          </a:prstGeom>
          <a:solidFill>
            <a:srgbClr val="F5F6F8"/>
          </a:solidFill>
          <a:ln w="12700">
            <a:solidFill>
              <a:srgbClr val="DDE1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3" name="Picture 12" descr="check_steel.png"/>
          <p:cNvPicPr>
            <a:picLocks noChangeAspect="1"/>
          </p:cNvPicPr>
          <p:nvPr/>
        </p:nvPicPr>
        <p:blipFill>
          <a:blip r:embed="rId3"/>
          <a:stretch>
            <a:fillRect/>
          </a:stretch>
        </p:blipFill>
        <p:spPr>
          <a:xfrm>
            <a:off x="987552" y="3749040"/>
            <a:ext cx="237744" cy="237744"/>
          </a:xfrm>
          <a:prstGeom prst="rect">
            <a:avLst/>
          </a:prstGeom>
        </p:spPr>
      </p:pic>
      <p:sp>
        <p:nvSpPr>
          <p:cNvPr id="14" name="TextBox 13"/>
          <p:cNvSpPr txBox="1"/>
          <p:nvPr/>
        </p:nvSpPr>
        <p:spPr>
          <a:xfrm>
            <a:off x="1353312" y="3602736"/>
            <a:ext cx="5029200" cy="530352"/>
          </a:xfrm>
          <a:prstGeom prst="rect">
            <a:avLst/>
          </a:prstGeom>
          <a:noFill/>
        </p:spPr>
        <p:txBody>
          <a:bodyPr wrap="square" anchor="ctr" lIns="0" rIns="0" tIns="0" bIns="0">
            <a:spAutoFit/>
          </a:bodyPr>
          <a:lstStyle/>
          <a:p>
            <a:pPr algn="l">
              <a:lnSpc>
                <a:spcPct val="106000"/>
              </a:lnSpc>
              <a:spcBef>
                <a:spcPts val="0"/>
              </a:spcBef>
              <a:spcAft>
                <a:spcPts val="0"/>
              </a:spcAft>
            </a:pPr>
            <a:r>
              <a:rPr sz="1200" b="0">
                <a:solidFill>
                  <a:srgbClr val="1A1A1A"/>
                </a:solidFill>
                <a:latin typeface="Red Hat Text"/>
              </a:rPr>
              <a:t>An `oc apply` here, a console scale there</a:t>
            </a:r>
          </a:p>
        </p:txBody>
      </p:sp>
      <p:sp>
        <p:nvSpPr>
          <p:cNvPr id="15" name="Rounded Rectangle 14"/>
          <p:cNvSpPr/>
          <p:nvPr/>
        </p:nvSpPr>
        <p:spPr>
          <a:xfrm>
            <a:off x="841248" y="4206240"/>
            <a:ext cx="5715000" cy="530352"/>
          </a:xfrm>
          <a:prstGeom prst="roundRect">
            <a:avLst>
              <a:gd name="adj" fmla="val 6000"/>
            </a:avLst>
          </a:prstGeom>
          <a:solidFill>
            <a:srgbClr val="F5F6F8"/>
          </a:solidFill>
          <a:ln w="12700">
            <a:solidFill>
              <a:srgbClr val="DDE1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6" name="Picture 15" descr="check_steel.png"/>
          <p:cNvPicPr>
            <a:picLocks noChangeAspect="1"/>
          </p:cNvPicPr>
          <p:nvPr/>
        </p:nvPicPr>
        <p:blipFill>
          <a:blip r:embed="rId3"/>
          <a:stretch>
            <a:fillRect/>
          </a:stretch>
        </p:blipFill>
        <p:spPr>
          <a:xfrm>
            <a:off x="987552" y="4352544"/>
            <a:ext cx="237744" cy="237744"/>
          </a:xfrm>
          <a:prstGeom prst="rect">
            <a:avLst/>
          </a:prstGeom>
        </p:spPr>
      </p:pic>
      <p:sp>
        <p:nvSpPr>
          <p:cNvPr id="17" name="TextBox 16"/>
          <p:cNvSpPr txBox="1"/>
          <p:nvPr/>
        </p:nvSpPr>
        <p:spPr>
          <a:xfrm>
            <a:off x="1353312" y="4206240"/>
            <a:ext cx="5029200" cy="530352"/>
          </a:xfrm>
          <a:prstGeom prst="rect">
            <a:avLst/>
          </a:prstGeom>
          <a:noFill/>
        </p:spPr>
        <p:txBody>
          <a:bodyPr wrap="square" anchor="ctr" lIns="0" rIns="0" tIns="0" bIns="0">
            <a:spAutoFit/>
          </a:bodyPr>
          <a:lstStyle/>
          <a:p>
            <a:pPr algn="l">
              <a:lnSpc>
                <a:spcPct val="106000"/>
              </a:lnSpc>
              <a:spcBef>
                <a:spcPts val="0"/>
              </a:spcBef>
              <a:spcAft>
                <a:spcPts val="0"/>
              </a:spcAft>
            </a:pPr>
            <a:r>
              <a:rPr sz="1200" b="0">
                <a:solidFill>
                  <a:srgbClr val="1A1A1A"/>
                </a:solidFill>
                <a:latin typeface="Red Hat Text"/>
              </a:rPr>
              <a:t>Now the cluster ≠ the repo that describes it</a:t>
            </a:r>
          </a:p>
        </p:txBody>
      </p:sp>
      <p:sp>
        <p:nvSpPr>
          <p:cNvPr id="18" name="Rounded Rectangle 17"/>
          <p:cNvSpPr/>
          <p:nvPr/>
        </p:nvSpPr>
        <p:spPr>
          <a:xfrm>
            <a:off x="841248" y="4809744"/>
            <a:ext cx="5715000" cy="530352"/>
          </a:xfrm>
          <a:prstGeom prst="roundRect">
            <a:avLst>
              <a:gd name="adj" fmla="val 6000"/>
            </a:avLst>
          </a:prstGeom>
          <a:solidFill>
            <a:srgbClr val="F5F6F8"/>
          </a:solidFill>
          <a:ln w="12700">
            <a:solidFill>
              <a:srgbClr val="DDE1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9" name="Picture 18" descr="check_steel.png"/>
          <p:cNvPicPr>
            <a:picLocks noChangeAspect="1"/>
          </p:cNvPicPr>
          <p:nvPr/>
        </p:nvPicPr>
        <p:blipFill>
          <a:blip r:embed="rId3"/>
          <a:stretch>
            <a:fillRect/>
          </a:stretch>
        </p:blipFill>
        <p:spPr>
          <a:xfrm>
            <a:off x="987552" y="4956048"/>
            <a:ext cx="237744" cy="237744"/>
          </a:xfrm>
          <a:prstGeom prst="rect">
            <a:avLst/>
          </a:prstGeom>
        </p:spPr>
      </p:pic>
      <p:sp>
        <p:nvSpPr>
          <p:cNvPr id="20" name="TextBox 19"/>
          <p:cNvSpPr txBox="1"/>
          <p:nvPr/>
        </p:nvSpPr>
        <p:spPr>
          <a:xfrm>
            <a:off x="1353312" y="4809744"/>
            <a:ext cx="5029200" cy="530352"/>
          </a:xfrm>
          <a:prstGeom prst="rect">
            <a:avLst/>
          </a:prstGeom>
          <a:noFill/>
        </p:spPr>
        <p:txBody>
          <a:bodyPr wrap="square" anchor="ctr" lIns="0" rIns="0" tIns="0" bIns="0">
            <a:spAutoFit/>
          </a:bodyPr>
          <a:lstStyle/>
          <a:p>
            <a:pPr algn="l">
              <a:lnSpc>
                <a:spcPct val="106000"/>
              </a:lnSpc>
              <a:spcBef>
                <a:spcPts val="0"/>
              </a:spcBef>
              <a:spcAft>
                <a:spcPts val="0"/>
              </a:spcAft>
            </a:pPr>
            <a:r>
              <a:rPr sz="1200" b="0">
                <a:solidFill>
                  <a:srgbClr val="1A1A1A"/>
                </a:solidFill>
                <a:latin typeface="Red Hat Text"/>
              </a:rPr>
              <a:t>Nobody can say what is actually running</a:t>
            </a:r>
          </a:p>
        </p:txBody>
      </p:sp>
      <p:sp>
        <p:nvSpPr>
          <p:cNvPr id="21" name="Rounded Rectangle 20"/>
          <p:cNvSpPr/>
          <p:nvPr/>
        </p:nvSpPr>
        <p:spPr>
          <a:xfrm>
            <a:off x="6812280" y="2395728"/>
            <a:ext cx="4538167" cy="2944368"/>
          </a:xfrm>
          <a:prstGeom prst="roundRect">
            <a:avLst>
              <a:gd name="adj" fmla="val 4000"/>
            </a:avLst>
          </a:prstGeom>
          <a:solidFill>
            <a:srgbClr val="FFFFFF"/>
          </a:solidFill>
          <a:ln w="15240">
            <a:solidFill>
              <a:srgbClr val="DDE1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ounded Rectangle 21"/>
          <p:cNvSpPr/>
          <p:nvPr/>
        </p:nvSpPr>
        <p:spPr>
          <a:xfrm>
            <a:off x="7013448" y="2596896"/>
            <a:ext cx="1298448" cy="310896"/>
          </a:xfrm>
          <a:prstGeom prst="roundRect">
            <a:avLst>
              <a:gd name="adj" fmla="val 50000"/>
            </a:avLst>
          </a:prstGeom>
          <a:solidFill>
            <a:srgbClr val="FCEC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7013448" y="2596896"/>
            <a:ext cx="1298448" cy="310896"/>
          </a:xfrm>
          <a:prstGeom prst="rect">
            <a:avLst/>
          </a:prstGeom>
          <a:noFill/>
        </p:spPr>
        <p:txBody>
          <a:bodyPr wrap="none" anchor="ctr" lIns="0" rIns="0" tIns="0" bIns="0">
            <a:spAutoFit/>
          </a:bodyPr>
          <a:lstStyle/>
          <a:p>
            <a:pPr algn="ctr">
              <a:lnSpc>
                <a:spcPct val="106000"/>
              </a:lnSpc>
              <a:spcBef>
                <a:spcPts val="0"/>
              </a:spcBef>
              <a:spcAft>
                <a:spcPts val="0"/>
              </a:spcAft>
            </a:pPr>
            <a:r>
              <a:rPr sz="850" b="1">
                <a:solidFill>
                  <a:srgbClr val="B80000"/>
                </a:solidFill>
                <a:latin typeface="Red Hat Display"/>
              </a:rPr>
              <a:t>MEDIA PASS</a:t>
            </a:r>
          </a:p>
        </p:txBody>
      </p:sp>
      <p:pic>
        <p:nvPicPr>
          <p:cNvPr id="24" name="Picture 23" descr="eye_slate.png"/>
          <p:cNvPicPr>
            <a:picLocks noChangeAspect="1"/>
          </p:cNvPicPr>
          <p:nvPr/>
        </p:nvPicPr>
        <p:blipFill>
          <a:blip r:embed="rId4"/>
          <a:stretch>
            <a:fillRect/>
          </a:stretch>
        </p:blipFill>
        <p:spPr>
          <a:xfrm>
            <a:off x="8843619" y="3108960"/>
            <a:ext cx="475488" cy="475488"/>
          </a:xfrm>
          <a:prstGeom prst="rect">
            <a:avLst/>
          </a:prstGeom>
        </p:spPr>
      </p:pic>
      <p:sp>
        <p:nvSpPr>
          <p:cNvPr id="25" name="TextBox 24"/>
          <p:cNvSpPr txBox="1"/>
          <p:nvPr/>
        </p:nvSpPr>
        <p:spPr>
          <a:xfrm>
            <a:off x="7050024" y="3721608"/>
            <a:ext cx="4062679" cy="1481328"/>
          </a:xfrm>
          <a:prstGeom prst="rect">
            <a:avLst/>
          </a:prstGeom>
          <a:noFill/>
        </p:spPr>
        <p:txBody>
          <a:bodyPr wrap="square" anchor="t" lIns="0" rIns="0" tIns="0" bIns="0">
            <a:spAutoFit/>
          </a:bodyPr>
          <a:lstStyle/>
          <a:p>
            <a:pPr algn="l">
              <a:lnSpc>
                <a:spcPct val="120000"/>
              </a:lnSpc>
              <a:spcBef>
                <a:spcPts val="0"/>
              </a:spcBef>
              <a:spcAft>
                <a:spcPts val="0"/>
              </a:spcAft>
            </a:pPr>
            <a:r>
              <a:rPr sz="950" b="0">
                <a:solidFill>
                  <a:srgbClr val="8A9099"/>
                </a:solidFill>
                <a:latin typeface="Red Hat Text"/>
              </a:rPr>
              <a:t>A "Git repo (base + overlays)" box and a "live cluster" box that have visibly diverged (red mismatch), with a question mark over the cluster.</a:t>
            </a:r>
          </a:p>
        </p:txBody>
      </p:sp>
      <p:cxnSp>
        <p:nvCxnSpPr>
          <p:cNvPr id="26" name="Connector 25"/>
          <p:cNvCxnSpPr/>
          <p:nvPr/>
        </p:nvCxnSpPr>
        <p:spPr>
          <a:xfrm>
            <a:off x="841248" y="6437376"/>
            <a:ext cx="10509199" cy="0"/>
          </a:xfrm>
          <a:prstGeom prst="bentConnector3">
            <a:avLst/>
          </a:prstGeom>
          <a:ln w="12700">
            <a:solidFill>
              <a:srgbClr val="DDE1E6"/>
            </a:solidFill>
          </a:ln>
          <a:effectLst/>
        </p:spPr>
        <p:style>
          <a:lnRef idx="2">
            <a:schemeClr val="accent1"/>
          </a:lnRef>
          <a:fillRef idx="0">
            <a:schemeClr val="accent1"/>
          </a:fillRef>
          <a:effectRef idx="1">
            <a:schemeClr val="accent1"/>
          </a:effectRef>
          <a:fontRef idx="minor">
            <a:schemeClr val="tx1"/>
          </a:fontRef>
        </p:style>
      </p:cxnSp>
      <p:sp>
        <p:nvSpPr>
          <p:cNvPr id="27" name="TextBox 26"/>
          <p:cNvSpPr txBox="1"/>
          <p:nvPr/>
        </p:nvSpPr>
        <p:spPr>
          <a:xfrm>
            <a:off x="841248" y="6473952"/>
            <a:ext cx="7315200" cy="274320"/>
          </a:xfrm>
          <a:prstGeom prst="rect">
            <a:avLst/>
          </a:prstGeom>
          <a:noFill/>
        </p:spPr>
        <p:txBody>
          <a:bodyPr wrap="square" anchor="t" lIns="0" rIns="0" tIns="0" bIns="0">
            <a:spAutoFit/>
          </a:bodyPr>
          <a:lstStyle/>
          <a:p>
            <a:pPr algn="l">
              <a:lnSpc>
                <a:spcPct val="106000"/>
              </a:lnSpc>
              <a:spcBef>
                <a:spcPts val="0"/>
              </a:spcBef>
              <a:spcAft>
                <a:spcPts val="0"/>
              </a:spcAft>
            </a:pPr>
            <a:r>
              <a:rPr sz="950" b="0">
                <a:solidFill>
                  <a:srgbClr val="8A9099"/>
                </a:solidFill>
                <a:latin typeface="Red Hat Text"/>
              </a:rPr>
              <a:t>CONFIDENTIAL</a:t>
            </a:r>
          </a:p>
        </p:txBody>
      </p:sp>
      <p:sp>
        <p:nvSpPr>
          <p:cNvPr id="28" name="TextBox 27"/>
          <p:cNvSpPr txBox="1"/>
          <p:nvPr/>
        </p:nvSpPr>
        <p:spPr>
          <a:xfrm>
            <a:off x="10801807" y="6473952"/>
            <a:ext cx="548640" cy="274320"/>
          </a:xfrm>
          <a:prstGeom prst="rect">
            <a:avLst/>
          </a:prstGeom>
          <a:noFill/>
        </p:spPr>
        <p:txBody>
          <a:bodyPr wrap="square" anchor="t" lIns="0" rIns="0" tIns="0" bIns="0">
            <a:spAutoFit/>
          </a:bodyPr>
          <a:lstStyle/>
          <a:p>
            <a:pPr algn="r">
              <a:lnSpc>
                <a:spcPct val="106000"/>
              </a:lnSpc>
              <a:spcBef>
                <a:spcPts val="0"/>
              </a:spcBef>
              <a:spcAft>
                <a:spcPts val="0"/>
              </a:spcAft>
            </a:pPr>
            <a:r>
              <a:rPr sz="950" b="0">
                <a:solidFill>
                  <a:srgbClr val="8A9099"/>
                </a:solidFill>
                <a:latin typeface="Red Hat Text"/>
              </a:rPr>
              <a:t>68</a:t>
            </a:r>
          </a:p>
        </p:txBody>
      </p:sp>
    </p:spTree>
  </p:cSld>
  <p:clrMapOvr>
    <a:masterClrMapping/>
  </p:clrMapOvr>
</p:sld>
</file>

<file path=ppt/slides/slide7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redhat_logo.jpg"/>
          <p:cNvPicPr>
            <a:picLocks noChangeAspect="1"/>
          </p:cNvPicPr>
          <p:nvPr/>
        </p:nvPicPr>
        <p:blipFill>
          <a:blip r:embed="rId2"/>
          <a:stretch>
            <a:fillRect/>
          </a:stretch>
        </p:blipFill>
        <p:spPr>
          <a:xfrm>
            <a:off x="10326319" y="475488"/>
            <a:ext cx="1024128" cy="242248"/>
          </a:xfrm>
          <a:prstGeom prst="rect">
            <a:avLst/>
          </a:prstGeom>
        </p:spPr>
      </p:pic>
      <p:sp>
        <p:nvSpPr>
          <p:cNvPr id="3" name="TextBox 2"/>
          <p:cNvSpPr txBox="1"/>
          <p:nvPr/>
        </p:nvSpPr>
        <p:spPr>
          <a:xfrm>
            <a:off x="841248" y="548640"/>
            <a:ext cx="8595360" cy="274320"/>
          </a:xfrm>
          <a:prstGeom prst="rect">
            <a:avLst/>
          </a:prstGeom>
          <a:noFill/>
        </p:spPr>
        <p:txBody>
          <a:bodyPr wrap="square" anchor="t" lIns="0" rIns="0" tIns="0" bIns="0">
            <a:spAutoFit/>
          </a:bodyPr>
          <a:lstStyle/>
          <a:p>
            <a:pPr algn="l">
              <a:lnSpc>
                <a:spcPct val="106000"/>
              </a:lnSpc>
              <a:spcBef>
                <a:spcPts val="0"/>
              </a:spcBef>
              <a:spcAft>
                <a:spcPts val="0"/>
              </a:spcAft>
            </a:pPr>
            <a:r>
              <a:rPr sz="1250" b="1" spc="220">
                <a:solidFill>
                  <a:srgbClr val="EE0000"/>
                </a:solidFill>
                <a:latin typeface="Red Hat Display"/>
              </a:rPr>
              <a:t>M10 · GITOPS FUNDAMENTALS</a:t>
            </a:r>
          </a:p>
        </p:txBody>
      </p:sp>
      <p:sp>
        <p:nvSpPr>
          <p:cNvPr id="4" name="TextBox 3"/>
          <p:cNvSpPr txBox="1"/>
          <p:nvPr/>
        </p:nvSpPr>
        <p:spPr>
          <a:xfrm>
            <a:off x="841248" y="877824"/>
            <a:ext cx="10515600" cy="548640"/>
          </a:xfrm>
          <a:prstGeom prst="rect">
            <a:avLst/>
          </a:prstGeom>
          <a:noFill/>
        </p:spPr>
        <p:txBody>
          <a:bodyPr wrap="none" anchor="t" lIns="0" rIns="0" tIns="0" bIns="0">
            <a:spAutoFit/>
          </a:bodyPr>
          <a:lstStyle/>
          <a:p>
            <a:pPr algn="l">
              <a:lnSpc>
                <a:spcPct val="100000"/>
              </a:lnSpc>
              <a:spcBef>
                <a:spcPts val="0"/>
              </a:spcBef>
              <a:spcAft>
                <a:spcPts val="0"/>
              </a:spcAft>
            </a:pPr>
            <a:r>
              <a:rPr sz="2500" b="1">
                <a:solidFill>
                  <a:srgbClr val="1A1A1A"/>
                </a:solidFill>
                <a:latin typeface="Red Hat Display"/>
              </a:rPr>
              <a:t>Push versus pull</a:t>
            </a:r>
          </a:p>
        </p:txBody>
      </p:sp>
      <p:cxnSp>
        <p:nvCxnSpPr>
          <p:cNvPr id="5" name="Connector 4"/>
          <p:cNvCxnSpPr/>
          <p:nvPr/>
        </p:nvCxnSpPr>
        <p:spPr>
          <a:xfrm>
            <a:off x="841248" y="1554480"/>
            <a:ext cx="1371600" cy="0"/>
          </a:xfrm>
          <a:prstGeom prst="bentConnector3">
            <a:avLst/>
          </a:prstGeom>
          <a:ln w="31750">
            <a:solidFill>
              <a:srgbClr val="EE0000"/>
            </a:solidFill>
          </a:ln>
          <a:effectLst/>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841248" y="1664208"/>
            <a:ext cx="10515600" cy="365760"/>
          </a:xfrm>
          <a:prstGeom prst="rect">
            <a:avLst/>
          </a:prstGeom>
          <a:noFill/>
        </p:spPr>
        <p:txBody>
          <a:bodyPr wrap="square" anchor="t" lIns="0" rIns="0" tIns="0" bIns="0">
            <a:spAutoFit/>
          </a:bodyPr>
          <a:lstStyle/>
          <a:p>
            <a:pPr algn="l">
              <a:lnSpc>
                <a:spcPct val="106000"/>
              </a:lnSpc>
              <a:spcBef>
                <a:spcPts val="0"/>
              </a:spcBef>
              <a:spcAft>
                <a:spcPts val="0"/>
              </a:spcAft>
            </a:pPr>
            <a:r>
              <a:rPr sz="1350" b="0">
                <a:solidFill>
                  <a:srgbClr val="555960"/>
                </a:solidFill>
                <a:latin typeface="Red Hat Text"/>
              </a:rPr>
              <a:t>two ways a change reaches the cluster</a:t>
            </a:r>
          </a:p>
        </p:txBody>
      </p:sp>
      <p:sp>
        <p:nvSpPr>
          <p:cNvPr id="7" name="Rounded Rectangle 6"/>
          <p:cNvSpPr/>
          <p:nvPr/>
        </p:nvSpPr>
        <p:spPr>
          <a:xfrm>
            <a:off x="841248" y="2670048"/>
            <a:ext cx="5715000" cy="530352"/>
          </a:xfrm>
          <a:prstGeom prst="roundRect">
            <a:avLst>
              <a:gd name="adj" fmla="val 6000"/>
            </a:avLst>
          </a:prstGeom>
          <a:solidFill>
            <a:srgbClr val="F5F6F8"/>
          </a:solidFill>
          <a:ln w="12700">
            <a:solidFill>
              <a:srgbClr val="DDE1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check_steel.png"/>
          <p:cNvPicPr>
            <a:picLocks noChangeAspect="1"/>
          </p:cNvPicPr>
          <p:nvPr/>
        </p:nvPicPr>
        <p:blipFill>
          <a:blip r:embed="rId3"/>
          <a:stretch>
            <a:fillRect/>
          </a:stretch>
        </p:blipFill>
        <p:spPr>
          <a:xfrm>
            <a:off x="987552" y="2816352"/>
            <a:ext cx="237744" cy="237744"/>
          </a:xfrm>
          <a:prstGeom prst="rect">
            <a:avLst/>
          </a:prstGeom>
        </p:spPr>
      </p:pic>
      <p:sp>
        <p:nvSpPr>
          <p:cNvPr id="9" name="TextBox 8"/>
          <p:cNvSpPr txBox="1"/>
          <p:nvPr/>
        </p:nvSpPr>
        <p:spPr>
          <a:xfrm>
            <a:off x="1353312" y="2670048"/>
            <a:ext cx="5029200" cy="530352"/>
          </a:xfrm>
          <a:prstGeom prst="rect">
            <a:avLst/>
          </a:prstGeom>
          <a:noFill/>
        </p:spPr>
        <p:txBody>
          <a:bodyPr wrap="square" anchor="ctr" lIns="0" rIns="0" tIns="0" bIns="0">
            <a:spAutoFit/>
          </a:bodyPr>
          <a:lstStyle/>
          <a:p>
            <a:pPr algn="l">
              <a:lnSpc>
                <a:spcPct val="106000"/>
              </a:lnSpc>
              <a:spcBef>
                <a:spcPts val="0"/>
              </a:spcBef>
              <a:spcAft>
                <a:spcPts val="0"/>
              </a:spcAft>
            </a:pPr>
            <a:r>
              <a:rPr sz="1200" b="0">
                <a:solidFill>
                  <a:srgbClr val="1A1A1A"/>
                </a:solidFill>
                <a:latin typeface="Red Hat Text"/>
              </a:rPr>
              <a:t>Push: CI holds cluster creds, applies from outside</a:t>
            </a:r>
          </a:p>
        </p:txBody>
      </p:sp>
      <p:sp>
        <p:nvSpPr>
          <p:cNvPr id="10" name="Rounded Rectangle 9"/>
          <p:cNvSpPr/>
          <p:nvPr/>
        </p:nvSpPr>
        <p:spPr>
          <a:xfrm>
            <a:off x="841248" y="3273552"/>
            <a:ext cx="5715000" cy="530352"/>
          </a:xfrm>
          <a:prstGeom prst="roundRect">
            <a:avLst>
              <a:gd name="adj" fmla="val 6000"/>
            </a:avLst>
          </a:prstGeom>
          <a:solidFill>
            <a:srgbClr val="F5F6F8"/>
          </a:solidFill>
          <a:ln w="12700">
            <a:solidFill>
              <a:srgbClr val="DDE1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1" name="Picture 10" descr="check_steel.png"/>
          <p:cNvPicPr>
            <a:picLocks noChangeAspect="1"/>
          </p:cNvPicPr>
          <p:nvPr/>
        </p:nvPicPr>
        <p:blipFill>
          <a:blip r:embed="rId3"/>
          <a:stretch>
            <a:fillRect/>
          </a:stretch>
        </p:blipFill>
        <p:spPr>
          <a:xfrm>
            <a:off x="987552" y="3419856"/>
            <a:ext cx="237744" cy="237744"/>
          </a:xfrm>
          <a:prstGeom prst="rect">
            <a:avLst/>
          </a:prstGeom>
        </p:spPr>
      </p:pic>
      <p:sp>
        <p:nvSpPr>
          <p:cNvPr id="12" name="TextBox 11"/>
          <p:cNvSpPr txBox="1"/>
          <p:nvPr/>
        </p:nvSpPr>
        <p:spPr>
          <a:xfrm>
            <a:off x="1353312" y="3273552"/>
            <a:ext cx="5029200" cy="530352"/>
          </a:xfrm>
          <a:prstGeom prst="rect">
            <a:avLst/>
          </a:prstGeom>
          <a:noFill/>
        </p:spPr>
        <p:txBody>
          <a:bodyPr wrap="square" anchor="ctr" lIns="0" rIns="0" tIns="0" bIns="0">
            <a:spAutoFit/>
          </a:bodyPr>
          <a:lstStyle/>
          <a:p>
            <a:pPr algn="l">
              <a:lnSpc>
                <a:spcPct val="106000"/>
              </a:lnSpc>
              <a:spcBef>
                <a:spcPts val="0"/>
              </a:spcBef>
              <a:spcAft>
                <a:spcPts val="0"/>
              </a:spcAft>
            </a:pPr>
            <a:r>
              <a:rPr sz="1200" b="0">
                <a:solidFill>
                  <a:srgbClr val="1A1A1A"/>
                </a:solidFill>
                <a:latin typeface="Red Hat Text"/>
              </a:rPr>
              <a:t>Pull: a controller in the cluster reads Git</a:t>
            </a:r>
          </a:p>
        </p:txBody>
      </p:sp>
      <p:sp>
        <p:nvSpPr>
          <p:cNvPr id="13" name="Rounded Rectangle 12"/>
          <p:cNvSpPr/>
          <p:nvPr/>
        </p:nvSpPr>
        <p:spPr>
          <a:xfrm>
            <a:off x="841248" y="3877056"/>
            <a:ext cx="5715000" cy="530352"/>
          </a:xfrm>
          <a:prstGeom prst="roundRect">
            <a:avLst>
              <a:gd name="adj" fmla="val 6000"/>
            </a:avLst>
          </a:prstGeom>
          <a:solidFill>
            <a:srgbClr val="F5F6F8"/>
          </a:solidFill>
          <a:ln w="12700">
            <a:solidFill>
              <a:srgbClr val="DDE1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4" name="Picture 13" descr="check_steel.png"/>
          <p:cNvPicPr>
            <a:picLocks noChangeAspect="1"/>
          </p:cNvPicPr>
          <p:nvPr/>
        </p:nvPicPr>
        <p:blipFill>
          <a:blip r:embed="rId3"/>
          <a:stretch>
            <a:fillRect/>
          </a:stretch>
        </p:blipFill>
        <p:spPr>
          <a:xfrm>
            <a:off x="987552" y="4023360"/>
            <a:ext cx="237744" cy="237744"/>
          </a:xfrm>
          <a:prstGeom prst="rect">
            <a:avLst/>
          </a:prstGeom>
        </p:spPr>
      </p:pic>
      <p:sp>
        <p:nvSpPr>
          <p:cNvPr id="15" name="TextBox 14"/>
          <p:cNvSpPr txBox="1"/>
          <p:nvPr/>
        </p:nvSpPr>
        <p:spPr>
          <a:xfrm>
            <a:off x="1353312" y="3877056"/>
            <a:ext cx="5029200" cy="530352"/>
          </a:xfrm>
          <a:prstGeom prst="rect">
            <a:avLst/>
          </a:prstGeom>
          <a:noFill/>
        </p:spPr>
        <p:txBody>
          <a:bodyPr wrap="square" anchor="ctr" lIns="0" rIns="0" tIns="0" bIns="0">
            <a:spAutoFit/>
          </a:bodyPr>
          <a:lstStyle/>
          <a:p>
            <a:pPr algn="l">
              <a:lnSpc>
                <a:spcPct val="106000"/>
              </a:lnSpc>
              <a:spcBef>
                <a:spcPts val="0"/>
              </a:spcBef>
              <a:spcAft>
                <a:spcPts val="0"/>
              </a:spcAft>
            </a:pPr>
            <a:r>
              <a:rPr sz="1200" b="0">
                <a:solidFill>
                  <a:srgbClr val="1A1A1A"/>
                </a:solidFill>
                <a:latin typeface="Red Hat Text"/>
              </a:rPr>
              <a:t>Pull keeps Git true continuously, not just at deploy</a:t>
            </a:r>
          </a:p>
        </p:txBody>
      </p:sp>
      <p:sp>
        <p:nvSpPr>
          <p:cNvPr id="16" name="Rounded Rectangle 15"/>
          <p:cNvSpPr/>
          <p:nvPr/>
        </p:nvSpPr>
        <p:spPr>
          <a:xfrm>
            <a:off x="841248" y="4480560"/>
            <a:ext cx="5715000" cy="530352"/>
          </a:xfrm>
          <a:prstGeom prst="roundRect">
            <a:avLst>
              <a:gd name="adj" fmla="val 6000"/>
            </a:avLst>
          </a:prstGeom>
          <a:solidFill>
            <a:srgbClr val="F5F6F8"/>
          </a:solidFill>
          <a:ln w="12700">
            <a:solidFill>
              <a:srgbClr val="DDE1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7" name="Picture 16" descr="check_steel.png"/>
          <p:cNvPicPr>
            <a:picLocks noChangeAspect="1"/>
          </p:cNvPicPr>
          <p:nvPr/>
        </p:nvPicPr>
        <p:blipFill>
          <a:blip r:embed="rId3"/>
          <a:stretch>
            <a:fillRect/>
          </a:stretch>
        </p:blipFill>
        <p:spPr>
          <a:xfrm>
            <a:off x="987552" y="4626864"/>
            <a:ext cx="237744" cy="237744"/>
          </a:xfrm>
          <a:prstGeom prst="rect">
            <a:avLst/>
          </a:prstGeom>
        </p:spPr>
      </p:pic>
      <p:sp>
        <p:nvSpPr>
          <p:cNvPr id="18" name="TextBox 17"/>
          <p:cNvSpPr txBox="1"/>
          <p:nvPr/>
        </p:nvSpPr>
        <p:spPr>
          <a:xfrm>
            <a:off x="1353312" y="4480560"/>
            <a:ext cx="5029200" cy="530352"/>
          </a:xfrm>
          <a:prstGeom prst="rect">
            <a:avLst/>
          </a:prstGeom>
          <a:noFill/>
        </p:spPr>
        <p:txBody>
          <a:bodyPr wrap="square" anchor="ctr" lIns="0" rIns="0" tIns="0" bIns="0">
            <a:spAutoFit/>
          </a:bodyPr>
          <a:lstStyle/>
          <a:p>
            <a:pPr algn="l">
              <a:lnSpc>
                <a:spcPct val="106000"/>
              </a:lnSpc>
              <a:spcBef>
                <a:spcPts val="0"/>
              </a:spcBef>
              <a:spcAft>
                <a:spcPts val="0"/>
              </a:spcAft>
            </a:pPr>
            <a:r>
              <a:rPr sz="1200" b="0">
                <a:solidFill>
                  <a:srgbClr val="1A1A1A"/>
                </a:solidFill>
                <a:latin typeface="Red Hat Text"/>
              </a:rPr>
              <a:t>No outside system holds a key to prod</a:t>
            </a:r>
          </a:p>
        </p:txBody>
      </p:sp>
      <p:sp>
        <p:nvSpPr>
          <p:cNvPr id="19" name="Rounded Rectangle 18"/>
          <p:cNvSpPr/>
          <p:nvPr/>
        </p:nvSpPr>
        <p:spPr>
          <a:xfrm>
            <a:off x="841248" y="5084064"/>
            <a:ext cx="5715000" cy="530352"/>
          </a:xfrm>
          <a:prstGeom prst="roundRect">
            <a:avLst>
              <a:gd name="adj" fmla="val 6000"/>
            </a:avLst>
          </a:prstGeom>
          <a:solidFill>
            <a:srgbClr val="F5F6F8"/>
          </a:solidFill>
          <a:ln w="12700">
            <a:solidFill>
              <a:srgbClr val="DDE1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0" name="Picture 19" descr="check_steel.png"/>
          <p:cNvPicPr>
            <a:picLocks noChangeAspect="1"/>
          </p:cNvPicPr>
          <p:nvPr/>
        </p:nvPicPr>
        <p:blipFill>
          <a:blip r:embed="rId3"/>
          <a:stretch>
            <a:fillRect/>
          </a:stretch>
        </p:blipFill>
        <p:spPr>
          <a:xfrm>
            <a:off x="987552" y="5230368"/>
            <a:ext cx="237744" cy="237744"/>
          </a:xfrm>
          <a:prstGeom prst="rect">
            <a:avLst/>
          </a:prstGeom>
        </p:spPr>
      </p:pic>
      <p:sp>
        <p:nvSpPr>
          <p:cNvPr id="21" name="TextBox 20"/>
          <p:cNvSpPr txBox="1"/>
          <p:nvPr/>
        </p:nvSpPr>
        <p:spPr>
          <a:xfrm>
            <a:off x="1353312" y="5084064"/>
            <a:ext cx="5029200" cy="530352"/>
          </a:xfrm>
          <a:prstGeom prst="rect">
            <a:avLst/>
          </a:prstGeom>
          <a:noFill/>
        </p:spPr>
        <p:txBody>
          <a:bodyPr wrap="square" anchor="ctr" lIns="0" rIns="0" tIns="0" bIns="0">
            <a:spAutoFit/>
          </a:bodyPr>
          <a:lstStyle/>
          <a:p>
            <a:pPr algn="l">
              <a:lnSpc>
                <a:spcPct val="106000"/>
              </a:lnSpc>
              <a:spcBef>
                <a:spcPts val="0"/>
              </a:spcBef>
              <a:spcAft>
                <a:spcPts val="0"/>
              </a:spcAft>
            </a:pPr>
            <a:r>
              <a:rPr sz="1200" b="0">
                <a:solidFill>
                  <a:srgbClr val="1A1A1A"/>
                </a:solidFill>
                <a:latin typeface="Red Hat Text"/>
              </a:rPr>
              <a:t>Pull is what "GitOps" means</a:t>
            </a:r>
          </a:p>
        </p:txBody>
      </p:sp>
      <p:sp>
        <p:nvSpPr>
          <p:cNvPr id="22" name="Rounded Rectangle 21"/>
          <p:cNvSpPr/>
          <p:nvPr/>
        </p:nvSpPr>
        <p:spPr>
          <a:xfrm>
            <a:off x="6812280" y="2670048"/>
            <a:ext cx="4538167" cy="2944368"/>
          </a:xfrm>
          <a:prstGeom prst="roundRect">
            <a:avLst>
              <a:gd name="adj" fmla="val 4000"/>
            </a:avLst>
          </a:prstGeom>
          <a:solidFill>
            <a:srgbClr val="FFFFFF"/>
          </a:solidFill>
          <a:ln w="15240">
            <a:solidFill>
              <a:srgbClr val="DDE1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ounded Rectangle 22"/>
          <p:cNvSpPr/>
          <p:nvPr/>
        </p:nvSpPr>
        <p:spPr>
          <a:xfrm>
            <a:off x="7013448" y="2871216"/>
            <a:ext cx="1298448" cy="310896"/>
          </a:xfrm>
          <a:prstGeom prst="roundRect">
            <a:avLst>
              <a:gd name="adj" fmla="val 50000"/>
            </a:avLst>
          </a:prstGeom>
          <a:solidFill>
            <a:srgbClr val="FCEC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7013448" y="2871216"/>
            <a:ext cx="1298448" cy="310896"/>
          </a:xfrm>
          <a:prstGeom prst="rect">
            <a:avLst/>
          </a:prstGeom>
          <a:noFill/>
        </p:spPr>
        <p:txBody>
          <a:bodyPr wrap="none" anchor="ctr" lIns="0" rIns="0" tIns="0" bIns="0">
            <a:spAutoFit/>
          </a:bodyPr>
          <a:lstStyle/>
          <a:p>
            <a:pPr algn="ctr">
              <a:lnSpc>
                <a:spcPct val="106000"/>
              </a:lnSpc>
              <a:spcBef>
                <a:spcPts val="0"/>
              </a:spcBef>
              <a:spcAft>
                <a:spcPts val="0"/>
              </a:spcAft>
            </a:pPr>
            <a:r>
              <a:rPr sz="850" b="1">
                <a:solidFill>
                  <a:srgbClr val="B80000"/>
                </a:solidFill>
                <a:latin typeface="Red Hat Display"/>
              </a:rPr>
              <a:t>MEDIA PASS</a:t>
            </a:r>
          </a:p>
        </p:txBody>
      </p:sp>
      <p:pic>
        <p:nvPicPr>
          <p:cNvPr id="25" name="Picture 24" descr="eye_slate.png"/>
          <p:cNvPicPr>
            <a:picLocks noChangeAspect="1"/>
          </p:cNvPicPr>
          <p:nvPr/>
        </p:nvPicPr>
        <p:blipFill>
          <a:blip r:embed="rId4"/>
          <a:stretch>
            <a:fillRect/>
          </a:stretch>
        </p:blipFill>
        <p:spPr>
          <a:xfrm>
            <a:off x="8843619" y="3383280"/>
            <a:ext cx="475488" cy="475488"/>
          </a:xfrm>
          <a:prstGeom prst="rect">
            <a:avLst/>
          </a:prstGeom>
        </p:spPr>
      </p:pic>
      <p:sp>
        <p:nvSpPr>
          <p:cNvPr id="26" name="TextBox 25"/>
          <p:cNvSpPr txBox="1"/>
          <p:nvPr/>
        </p:nvSpPr>
        <p:spPr>
          <a:xfrm>
            <a:off x="7050024" y="3995928"/>
            <a:ext cx="4062679" cy="1481328"/>
          </a:xfrm>
          <a:prstGeom prst="rect">
            <a:avLst/>
          </a:prstGeom>
          <a:noFill/>
        </p:spPr>
        <p:txBody>
          <a:bodyPr wrap="square" anchor="t" lIns="0" rIns="0" tIns="0" bIns="0">
            <a:spAutoFit/>
          </a:bodyPr>
          <a:lstStyle/>
          <a:p>
            <a:pPr algn="l">
              <a:lnSpc>
                <a:spcPct val="120000"/>
              </a:lnSpc>
              <a:spcBef>
                <a:spcPts val="0"/>
              </a:spcBef>
              <a:spcAft>
                <a:spcPts val="0"/>
              </a:spcAft>
            </a:pPr>
            <a:r>
              <a:rPr sz="950" b="0">
                <a:solidFill>
                  <a:srgbClr val="8A9099"/>
                </a:solidFill>
                <a:latin typeface="Red Hat Text"/>
              </a:rPr>
              <a:t>Concept diagram gitops-fundamentals-01-push-vs-pull — CI pushing into a namespace (blue) vs a controller in the cluster pulling from Git and reconciling (green).</a:t>
            </a:r>
          </a:p>
        </p:txBody>
      </p:sp>
      <p:cxnSp>
        <p:nvCxnSpPr>
          <p:cNvPr id="27" name="Connector 26"/>
          <p:cNvCxnSpPr/>
          <p:nvPr/>
        </p:nvCxnSpPr>
        <p:spPr>
          <a:xfrm>
            <a:off x="841248" y="6437376"/>
            <a:ext cx="10509199" cy="0"/>
          </a:xfrm>
          <a:prstGeom prst="bentConnector3">
            <a:avLst/>
          </a:prstGeom>
          <a:ln w="12700">
            <a:solidFill>
              <a:srgbClr val="DDE1E6"/>
            </a:solidFill>
          </a:ln>
          <a:effectLst/>
        </p:spPr>
        <p:style>
          <a:lnRef idx="2">
            <a:schemeClr val="accent1"/>
          </a:lnRef>
          <a:fillRef idx="0">
            <a:schemeClr val="accent1"/>
          </a:fillRef>
          <a:effectRef idx="1">
            <a:schemeClr val="accent1"/>
          </a:effectRef>
          <a:fontRef idx="minor">
            <a:schemeClr val="tx1"/>
          </a:fontRef>
        </p:style>
      </p:cxnSp>
      <p:sp>
        <p:nvSpPr>
          <p:cNvPr id="28" name="TextBox 27"/>
          <p:cNvSpPr txBox="1"/>
          <p:nvPr/>
        </p:nvSpPr>
        <p:spPr>
          <a:xfrm>
            <a:off x="841248" y="6473952"/>
            <a:ext cx="7315200" cy="274320"/>
          </a:xfrm>
          <a:prstGeom prst="rect">
            <a:avLst/>
          </a:prstGeom>
          <a:noFill/>
        </p:spPr>
        <p:txBody>
          <a:bodyPr wrap="square" anchor="t" lIns="0" rIns="0" tIns="0" bIns="0">
            <a:spAutoFit/>
          </a:bodyPr>
          <a:lstStyle/>
          <a:p>
            <a:pPr algn="l">
              <a:lnSpc>
                <a:spcPct val="106000"/>
              </a:lnSpc>
              <a:spcBef>
                <a:spcPts val="0"/>
              </a:spcBef>
              <a:spcAft>
                <a:spcPts val="0"/>
              </a:spcAft>
            </a:pPr>
            <a:r>
              <a:rPr sz="950" b="0">
                <a:solidFill>
                  <a:srgbClr val="8A9099"/>
                </a:solidFill>
                <a:latin typeface="Red Hat Text"/>
              </a:rPr>
              <a:t>CONFIDENTIAL</a:t>
            </a:r>
          </a:p>
        </p:txBody>
      </p:sp>
      <p:sp>
        <p:nvSpPr>
          <p:cNvPr id="29" name="TextBox 28"/>
          <p:cNvSpPr txBox="1"/>
          <p:nvPr/>
        </p:nvSpPr>
        <p:spPr>
          <a:xfrm>
            <a:off x="10801807" y="6473952"/>
            <a:ext cx="548640" cy="274320"/>
          </a:xfrm>
          <a:prstGeom prst="rect">
            <a:avLst/>
          </a:prstGeom>
          <a:noFill/>
        </p:spPr>
        <p:txBody>
          <a:bodyPr wrap="square" anchor="t" lIns="0" rIns="0" tIns="0" bIns="0">
            <a:spAutoFit/>
          </a:bodyPr>
          <a:lstStyle/>
          <a:p>
            <a:pPr algn="r">
              <a:lnSpc>
                <a:spcPct val="106000"/>
              </a:lnSpc>
              <a:spcBef>
                <a:spcPts val="0"/>
              </a:spcBef>
              <a:spcAft>
                <a:spcPts val="0"/>
              </a:spcAft>
            </a:pPr>
            <a:r>
              <a:rPr sz="950" b="0">
                <a:solidFill>
                  <a:srgbClr val="8A9099"/>
                </a:solidFill>
                <a:latin typeface="Red Hat Text"/>
              </a:rPr>
              <a:t>69</a:t>
            </a:r>
          </a:p>
        </p:txBody>
      </p:sp>
    </p:spTree>
  </p:cSld>
  <p:clrMapOvr>
    <a:masterClrMapping/>
  </p:clrMapOvr>
</p:sld>
</file>

<file path=ppt/slides/slide8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redhat_logo.jpg"/>
          <p:cNvPicPr>
            <a:picLocks noChangeAspect="1"/>
          </p:cNvPicPr>
          <p:nvPr/>
        </p:nvPicPr>
        <p:blipFill>
          <a:blip r:embed="rId2"/>
          <a:stretch>
            <a:fillRect/>
          </a:stretch>
        </p:blipFill>
        <p:spPr>
          <a:xfrm>
            <a:off x="10326319" y="475488"/>
            <a:ext cx="1024128" cy="242248"/>
          </a:xfrm>
          <a:prstGeom prst="rect">
            <a:avLst/>
          </a:prstGeom>
        </p:spPr>
      </p:pic>
      <p:sp>
        <p:nvSpPr>
          <p:cNvPr id="3" name="TextBox 2"/>
          <p:cNvSpPr txBox="1"/>
          <p:nvPr/>
        </p:nvSpPr>
        <p:spPr>
          <a:xfrm>
            <a:off x="841248" y="548640"/>
            <a:ext cx="8595360" cy="274320"/>
          </a:xfrm>
          <a:prstGeom prst="rect">
            <a:avLst/>
          </a:prstGeom>
          <a:noFill/>
        </p:spPr>
        <p:txBody>
          <a:bodyPr wrap="square" anchor="t" lIns="0" rIns="0" tIns="0" bIns="0">
            <a:spAutoFit/>
          </a:bodyPr>
          <a:lstStyle/>
          <a:p>
            <a:pPr algn="l">
              <a:lnSpc>
                <a:spcPct val="106000"/>
              </a:lnSpc>
              <a:spcBef>
                <a:spcPts val="0"/>
              </a:spcBef>
              <a:spcAft>
                <a:spcPts val="0"/>
              </a:spcAft>
            </a:pPr>
            <a:r>
              <a:rPr sz="1250" b="1" spc="220">
                <a:solidFill>
                  <a:srgbClr val="EE0000"/>
                </a:solidFill>
                <a:latin typeface="Red Hat Display"/>
              </a:rPr>
              <a:t>M10 · GITOPS FUNDAMENTALS</a:t>
            </a:r>
          </a:p>
        </p:txBody>
      </p:sp>
      <p:sp>
        <p:nvSpPr>
          <p:cNvPr id="4" name="TextBox 3"/>
          <p:cNvSpPr txBox="1"/>
          <p:nvPr/>
        </p:nvSpPr>
        <p:spPr>
          <a:xfrm>
            <a:off x="841248" y="877824"/>
            <a:ext cx="10515600" cy="548640"/>
          </a:xfrm>
          <a:prstGeom prst="rect">
            <a:avLst/>
          </a:prstGeom>
          <a:noFill/>
        </p:spPr>
        <p:txBody>
          <a:bodyPr wrap="none" anchor="t" lIns="0" rIns="0" tIns="0" bIns="0">
            <a:spAutoFit/>
          </a:bodyPr>
          <a:lstStyle/>
          <a:p>
            <a:pPr algn="l">
              <a:lnSpc>
                <a:spcPct val="100000"/>
              </a:lnSpc>
              <a:spcBef>
                <a:spcPts val="0"/>
              </a:spcBef>
              <a:spcAft>
                <a:spcPts val="0"/>
              </a:spcAft>
            </a:pPr>
            <a:r>
              <a:rPr sz="2500" b="1">
                <a:solidFill>
                  <a:srgbClr val="1A1A1A"/>
                </a:solidFill>
                <a:latin typeface="Red Hat Display"/>
              </a:rPr>
              <a:t>The reconcile loop and the Application</a:t>
            </a:r>
          </a:p>
        </p:txBody>
      </p:sp>
      <p:cxnSp>
        <p:nvCxnSpPr>
          <p:cNvPr id="5" name="Connector 4"/>
          <p:cNvCxnSpPr/>
          <p:nvPr/>
        </p:nvCxnSpPr>
        <p:spPr>
          <a:xfrm>
            <a:off x="841248" y="1554480"/>
            <a:ext cx="1371600" cy="0"/>
          </a:xfrm>
          <a:prstGeom prst="bentConnector3">
            <a:avLst/>
          </a:prstGeom>
          <a:ln w="31750">
            <a:solidFill>
              <a:srgbClr val="EE0000"/>
            </a:solidFill>
          </a:ln>
          <a:effectLst/>
        </p:spPr>
        <p:style>
          <a:lnRef idx="2">
            <a:schemeClr val="accent1"/>
          </a:lnRef>
          <a:fillRef idx="0">
            <a:schemeClr val="accent1"/>
          </a:fillRef>
          <a:effectRef idx="1">
            <a:schemeClr val="accent1"/>
          </a:effectRef>
          <a:fontRef idx="minor">
            <a:schemeClr val="tx1"/>
          </a:fontRef>
        </p:style>
      </p:cxnSp>
      <p:sp>
        <p:nvSpPr>
          <p:cNvPr id="6" name="Rounded Rectangle 5"/>
          <p:cNvSpPr/>
          <p:nvPr/>
        </p:nvSpPr>
        <p:spPr>
          <a:xfrm>
            <a:off x="841248" y="2395728"/>
            <a:ext cx="5715000" cy="530352"/>
          </a:xfrm>
          <a:prstGeom prst="roundRect">
            <a:avLst>
              <a:gd name="adj" fmla="val 6000"/>
            </a:avLst>
          </a:prstGeom>
          <a:solidFill>
            <a:srgbClr val="F5F6F8"/>
          </a:solidFill>
          <a:ln w="12700">
            <a:solidFill>
              <a:srgbClr val="DDE1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check_steel.png"/>
          <p:cNvPicPr>
            <a:picLocks noChangeAspect="1"/>
          </p:cNvPicPr>
          <p:nvPr/>
        </p:nvPicPr>
        <p:blipFill>
          <a:blip r:embed="rId3"/>
          <a:stretch>
            <a:fillRect/>
          </a:stretch>
        </p:blipFill>
        <p:spPr>
          <a:xfrm>
            <a:off x="987552" y="2542032"/>
            <a:ext cx="237744" cy="237744"/>
          </a:xfrm>
          <a:prstGeom prst="rect">
            <a:avLst/>
          </a:prstGeom>
        </p:spPr>
      </p:pic>
      <p:sp>
        <p:nvSpPr>
          <p:cNvPr id="8" name="TextBox 7"/>
          <p:cNvSpPr txBox="1"/>
          <p:nvPr/>
        </p:nvSpPr>
        <p:spPr>
          <a:xfrm>
            <a:off x="1353312" y="2395728"/>
            <a:ext cx="5029200" cy="530352"/>
          </a:xfrm>
          <a:prstGeom prst="rect">
            <a:avLst/>
          </a:prstGeom>
          <a:noFill/>
        </p:spPr>
        <p:txBody>
          <a:bodyPr wrap="square" anchor="ctr" lIns="0" rIns="0" tIns="0" bIns="0">
            <a:spAutoFit/>
          </a:bodyPr>
          <a:lstStyle/>
          <a:p>
            <a:pPr algn="l">
              <a:lnSpc>
                <a:spcPct val="106000"/>
              </a:lnSpc>
              <a:spcBef>
                <a:spcPts val="0"/>
              </a:spcBef>
              <a:spcAft>
                <a:spcPts val="0"/>
              </a:spcAft>
            </a:pPr>
            <a:r>
              <a:rPr sz="1200" b="0">
                <a:solidFill>
                  <a:srgbClr val="1A1A1A"/>
                </a:solidFill>
                <a:latin typeface="Red Hat Text"/>
              </a:rPr>
              <a:t>Desired = a Git path at a revision</a:t>
            </a:r>
          </a:p>
        </p:txBody>
      </p:sp>
      <p:sp>
        <p:nvSpPr>
          <p:cNvPr id="9" name="Rounded Rectangle 8"/>
          <p:cNvSpPr/>
          <p:nvPr/>
        </p:nvSpPr>
        <p:spPr>
          <a:xfrm>
            <a:off x="841248" y="2999232"/>
            <a:ext cx="5715000" cy="530352"/>
          </a:xfrm>
          <a:prstGeom prst="roundRect">
            <a:avLst>
              <a:gd name="adj" fmla="val 6000"/>
            </a:avLst>
          </a:prstGeom>
          <a:solidFill>
            <a:srgbClr val="F5F6F8"/>
          </a:solidFill>
          <a:ln w="12700">
            <a:solidFill>
              <a:srgbClr val="DDE1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0" name="Picture 9" descr="check_steel.png"/>
          <p:cNvPicPr>
            <a:picLocks noChangeAspect="1"/>
          </p:cNvPicPr>
          <p:nvPr/>
        </p:nvPicPr>
        <p:blipFill>
          <a:blip r:embed="rId3"/>
          <a:stretch>
            <a:fillRect/>
          </a:stretch>
        </p:blipFill>
        <p:spPr>
          <a:xfrm>
            <a:off x="987552" y="3145536"/>
            <a:ext cx="237744" cy="237744"/>
          </a:xfrm>
          <a:prstGeom prst="rect">
            <a:avLst/>
          </a:prstGeom>
        </p:spPr>
      </p:pic>
      <p:sp>
        <p:nvSpPr>
          <p:cNvPr id="11" name="TextBox 10"/>
          <p:cNvSpPr txBox="1"/>
          <p:nvPr/>
        </p:nvSpPr>
        <p:spPr>
          <a:xfrm>
            <a:off x="1353312" y="2999232"/>
            <a:ext cx="5029200" cy="530352"/>
          </a:xfrm>
          <a:prstGeom prst="rect">
            <a:avLst/>
          </a:prstGeom>
          <a:noFill/>
        </p:spPr>
        <p:txBody>
          <a:bodyPr wrap="square" anchor="ctr" lIns="0" rIns="0" tIns="0" bIns="0">
            <a:spAutoFit/>
          </a:bodyPr>
          <a:lstStyle/>
          <a:p>
            <a:pPr algn="l">
              <a:lnSpc>
                <a:spcPct val="106000"/>
              </a:lnSpc>
              <a:spcBef>
                <a:spcPts val="0"/>
              </a:spcBef>
              <a:spcAft>
                <a:spcPts val="0"/>
              </a:spcAft>
            </a:pPr>
            <a:r>
              <a:rPr sz="1200" b="0">
                <a:solidFill>
                  <a:srgbClr val="1A1A1A"/>
                </a:solidFill>
                <a:latin typeface="Red Hat Text"/>
              </a:rPr>
              <a:t>Live = the objects in a namespace</a:t>
            </a:r>
          </a:p>
        </p:txBody>
      </p:sp>
      <p:sp>
        <p:nvSpPr>
          <p:cNvPr id="12" name="Rounded Rectangle 11"/>
          <p:cNvSpPr/>
          <p:nvPr/>
        </p:nvSpPr>
        <p:spPr>
          <a:xfrm>
            <a:off x="841248" y="3602736"/>
            <a:ext cx="5715000" cy="530352"/>
          </a:xfrm>
          <a:prstGeom prst="roundRect">
            <a:avLst>
              <a:gd name="adj" fmla="val 6000"/>
            </a:avLst>
          </a:prstGeom>
          <a:solidFill>
            <a:srgbClr val="F5F6F8"/>
          </a:solidFill>
          <a:ln w="12700">
            <a:solidFill>
              <a:srgbClr val="DDE1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3" name="Picture 12" descr="check_steel.png"/>
          <p:cNvPicPr>
            <a:picLocks noChangeAspect="1"/>
          </p:cNvPicPr>
          <p:nvPr/>
        </p:nvPicPr>
        <p:blipFill>
          <a:blip r:embed="rId3"/>
          <a:stretch>
            <a:fillRect/>
          </a:stretch>
        </p:blipFill>
        <p:spPr>
          <a:xfrm>
            <a:off x="987552" y="3749040"/>
            <a:ext cx="237744" cy="237744"/>
          </a:xfrm>
          <a:prstGeom prst="rect">
            <a:avLst/>
          </a:prstGeom>
        </p:spPr>
      </p:pic>
      <p:sp>
        <p:nvSpPr>
          <p:cNvPr id="14" name="TextBox 13"/>
          <p:cNvSpPr txBox="1"/>
          <p:nvPr/>
        </p:nvSpPr>
        <p:spPr>
          <a:xfrm>
            <a:off x="1353312" y="3602736"/>
            <a:ext cx="5029200" cy="530352"/>
          </a:xfrm>
          <a:prstGeom prst="rect">
            <a:avLst/>
          </a:prstGeom>
          <a:noFill/>
        </p:spPr>
        <p:txBody>
          <a:bodyPr wrap="square" anchor="ctr" lIns="0" rIns="0" tIns="0" bIns="0">
            <a:spAutoFit/>
          </a:bodyPr>
          <a:lstStyle/>
          <a:p>
            <a:pPr algn="l">
              <a:lnSpc>
                <a:spcPct val="106000"/>
              </a:lnSpc>
              <a:spcBef>
                <a:spcPts val="0"/>
              </a:spcBef>
              <a:spcAft>
                <a:spcPts val="0"/>
              </a:spcAft>
            </a:pPr>
            <a:r>
              <a:rPr sz="1200" b="0">
                <a:solidFill>
                  <a:srgbClr val="1A1A1A"/>
                </a:solidFill>
                <a:latin typeface="Red Hat Text"/>
              </a:rPr>
              <a:t>Controller diffs them, forever</a:t>
            </a:r>
          </a:p>
        </p:txBody>
      </p:sp>
      <p:sp>
        <p:nvSpPr>
          <p:cNvPr id="15" name="Rounded Rectangle 14"/>
          <p:cNvSpPr/>
          <p:nvPr/>
        </p:nvSpPr>
        <p:spPr>
          <a:xfrm>
            <a:off x="841248" y="4206240"/>
            <a:ext cx="5715000" cy="530352"/>
          </a:xfrm>
          <a:prstGeom prst="roundRect">
            <a:avLst>
              <a:gd name="adj" fmla="val 6000"/>
            </a:avLst>
          </a:prstGeom>
          <a:solidFill>
            <a:srgbClr val="F5F6F8"/>
          </a:solidFill>
          <a:ln w="12700">
            <a:solidFill>
              <a:srgbClr val="DDE1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6" name="Picture 15" descr="check_steel.png"/>
          <p:cNvPicPr>
            <a:picLocks noChangeAspect="1"/>
          </p:cNvPicPr>
          <p:nvPr/>
        </p:nvPicPr>
        <p:blipFill>
          <a:blip r:embed="rId3"/>
          <a:stretch>
            <a:fillRect/>
          </a:stretch>
        </p:blipFill>
        <p:spPr>
          <a:xfrm>
            <a:off x="987552" y="4352544"/>
            <a:ext cx="237744" cy="237744"/>
          </a:xfrm>
          <a:prstGeom prst="rect">
            <a:avLst/>
          </a:prstGeom>
        </p:spPr>
      </p:pic>
      <p:sp>
        <p:nvSpPr>
          <p:cNvPr id="17" name="TextBox 16"/>
          <p:cNvSpPr txBox="1"/>
          <p:nvPr/>
        </p:nvSpPr>
        <p:spPr>
          <a:xfrm>
            <a:off x="1353312" y="4206240"/>
            <a:ext cx="5029200" cy="530352"/>
          </a:xfrm>
          <a:prstGeom prst="rect">
            <a:avLst/>
          </a:prstGeom>
          <a:noFill/>
        </p:spPr>
        <p:txBody>
          <a:bodyPr wrap="square" anchor="ctr" lIns="0" rIns="0" tIns="0" bIns="0">
            <a:spAutoFit/>
          </a:bodyPr>
          <a:lstStyle/>
          <a:p>
            <a:pPr algn="l">
              <a:lnSpc>
                <a:spcPct val="106000"/>
              </a:lnSpc>
              <a:spcBef>
                <a:spcPts val="0"/>
              </a:spcBef>
              <a:spcAft>
                <a:spcPts val="0"/>
              </a:spcAft>
            </a:pPr>
            <a:r>
              <a:rPr sz="1200" b="0">
                <a:solidFill>
                  <a:srgbClr val="1A1A1A"/>
                </a:solidFill>
                <a:latin typeface="Red Hat Text"/>
              </a:rPr>
              <a:t>Reports sync status + health</a:t>
            </a:r>
          </a:p>
        </p:txBody>
      </p:sp>
      <p:sp>
        <p:nvSpPr>
          <p:cNvPr id="18" name="Rounded Rectangle 17"/>
          <p:cNvSpPr/>
          <p:nvPr/>
        </p:nvSpPr>
        <p:spPr>
          <a:xfrm>
            <a:off x="841248" y="4809744"/>
            <a:ext cx="5715000" cy="530352"/>
          </a:xfrm>
          <a:prstGeom prst="roundRect">
            <a:avLst>
              <a:gd name="adj" fmla="val 6000"/>
            </a:avLst>
          </a:prstGeom>
          <a:solidFill>
            <a:srgbClr val="F5F6F8"/>
          </a:solidFill>
          <a:ln w="12700">
            <a:solidFill>
              <a:srgbClr val="DDE1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9" name="Picture 18" descr="check_steel.png"/>
          <p:cNvPicPr>
            <a:picLocks noChangeAspect="1"/>
          </p:cNvPicPr>
          <p:nvPr/>
        </p:nvPicPr>
        <p:blipFill>
          <a:blip r:embed="rId3"/>
          <a:stretch>
            <a:fillRect/>
          </a:stretch>
        </p:blipFill>
        <p:spPr>
          <a:xfrm>
            <a:off x="987552" y="4956048"/>
            <a:ext cx="237744" cy="237744"/>
          </a:xfrm>
          <a:prstGeom prst="rect">
            <a:avLst/>
          </a:prstGeom>
        </p:spPr>
      </p:pic>
      <p:sp>
        <p:nvSpPr>
          <p:cNvPr id="20" name="TextBox 19"/>
          <p:cNvSpPr txBox="1"/>
          <p:nvPr/>
        </p:nvSpPr>
        <p:spPr>
          <a:xfrm>
            <a:off x="1353312" y="4809744"/>
            <a:ext cx="5029200" cy="530352"/>
          </a:xfrm>
          <a:prstGeom prst="rect">
            <a:avLst/>
          </a:prstGeom>
          <a:noFill/>
        </p:spPr>
        <p:txBody>
          <a:bodyPr wrap="square" anchor="ctr" lIns="0" rIns="0" tIns="0" bIns="0">
            <a:spAutoFit/>
          </a:bodyPr>
          <a:lstStyle/>
          <a:p>
            <a:pPr algn="l">
              <a:lnSpc>
                <a:spcPct val="106000"/>
              </a:lnSpc>
              <a:spcBef>
                <a:spcPts val="0"/>
              </a:spcBef>
              <a:spcAft>
                <a:spcPts val="0"/>
              </a:spcAft>
            </a:pPr>
            <a:r>
              <a:rPr sz="1200" b="0">
                <a:solidFill>
                  <a:srgbClr val="1A1A1A"/>
                </a:solidFill>
                <a:latin typeface="Red Hat Text"/>
              </a:rPr>
              <a:t>Application CR binds one source to one destination</a:t>
            </a:r>
          </a:p>
        </p:txBody>
      </p:sp>
      <p:sp>
        <p:nvSpPr>
          <p:cNvPr id="21" name="Rounded Rectangle 20"/>
          <p:cNvSpPr/>
          <p:nvPr/>
        </p:nvSpPr>
        <p:spPr>
          <a:xfrm>
            <a:off x="6812280" y="2395728"/>
            <a:ext cx="4538167" cy="2944368"/>
          </a:xfrm>
          <a:prstGeom prst="roundRect">
            <a:avLst>
              <a:gd name="adj" fmla="val 4000"/>
            </a:avLst>
          </a:prstGeom>
          <a:solidFill>
            <a:srgbClr val="FFFFFF"/>
          </a:solidFill>
          <a:ln w="15240">
            <a:solidFill>
              <a:srgbClr val="DDE1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ounded Rectangle 21"/>
          <p:cNvSpPr/>
          <p:nvPr/>
        </p:nvSpPr>
        <p:spPr>
          <a:xfrm>
            <a:off x="7013448" y="2596896"/>
            <a:ext cx="1298448" cy="310896"/>
          </a:xfrm>
          <a:prstGeom prst="roundRect">
            <a:avLst>
              <a:gd name="adj" fmla="val 50000"/>
            </a:avLst>
          </a:prstGeom>
          <a:solidFill>
            <a:srgbClr val="FCEC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7013448" y="2596896"/>
            <a:ext cx="1298448" cy="310896"/>
          </a:xfrm>
          <a:prstGeom prst="rect">
            <a:avLst/>
          </a:prstGeom>
          <a:noFill/>
        </p:spPr>
        <p:txBody>
          <a:bodyPr wrap="none" anchor="ctr" lIns="0" rIns="0" tIns="0" bIns="0">
            <a:spAutoFit/>
          </a:bodyPr>
          <a:lstStyle/>
          <a:p>
            <a:pPr algn="ctr">
              <a:lnSpc>
                <a:spcPct val="106000"/>
              </a:lnSpc>
              <a:spcBef>
                <a:spcPts val="0"/>
              </a:spcBef>
              <a:spcAft>
                <a:spcPts val="0"/>
              </a:spcAft>
            </a:pPr>
            <a:r>
              <a:rPr sz="850" b="1">
                <a:solidFill>
                  <a:srgbClr val="B80000"/>
                </a:solidFill>
                <a:latin typeface="Red Hat Display"/>
              </a:rPr>
              <a:t>MEDIA PASS</a:t>
            </a:r>
          </a:p>
        </p:txBody>
      </p:sp>
      <p:pic>
        <p:nvPicPr>
          <p:cNvPr id="24" name="Picture 23" descr="eye_slate.png"/>
          <p:cNvPicPr>
            <a:picLocks noChangeAspect="1"/>
          </p:cNvPicPr>
          <p:nvPr/>
        </p:nvPicPr>
        <p:blipFill>
          <a:blip r:embed="rId4"/>
          <a:stretch>
            <a:fillRect/>
          </a:stretch>
        </p:blipFill>
        <p:spPr>
          <a:xfrm>
            <a:off x="8843619" y="3108960"/>
            <a:ext cx="475488" cy="475488"/>
          </a:xfrm>
          <a:prstGeom prst="rect">
            <a:avLst/>
          </a:prstGeom>
        </p:spPr>
      </p:pic>
      <p:sp>
        <p:nvSpPr>
          <p:cNvPr id="25" name="TextBox 24"/>
          <p:cNvSpPr txBox="1"/>
          <p:nvPr/>
        </p:nvSpPr>
        <p:spPr>
          <a:xfrm>
            <a:off x="7050024" y="3721608"/>
            <a:ext cx="4062679" cy="1481328"/>
          </a:xfrm>
          <a:prstGeom prst="rect">
            <a:avLst/>
          </a:prstGeom>
          <a:noFill/>
        </p:spPr>
        <p:txBody>
          <a:bodyPr wrap="square" anchor="t" lIns="0" rIns="0" tIns="0" bIns="0">
            <a:spAutoFit/>
          </a:bodyPr>
          <a:lstStyle/>
          <a:p>
            <a:pPr algn="l">
              <a:lnSpc>
                <a:spcPct val="120000"/>
              </a:lnSpc>
              <a:spcBef>
                <a:spcPts val="0"/>
              </a:spcBef>
              <a:spcAft>
                <a:spcPts val="0"/>
              </a:spcAft>
            </a:pPr>
            <a:r>
              <a:rPr sz="950" b="0">
                <a:solidFill>
                  <a:srgbClr val="8A9099"/>
                </a:solidFill>
                <a:latin typeface="Red Hat Text"/>
              </a:rPr>
              <a:t>Concept diagram gitops-fundamentals-02-reconcile-loop — Git (desired) → Application → reconcile diff → Synced/Healthy or OutOfSync → Sync back to live.</a:t>
            </a:r>
          </a:p>
        </p:txBody>
      </p:sp>
      <p:cxnSp>
        <p:nvCxnSpPr>
          <p:cNvPr id="26" name="Connector 25"/>
          <p:cNvCxnSpPr/>
          <p:nvPr/>
        </p:nvCxnSpPr>
        <p:spPr>
          <a:xfrm>
            <a:off x="841248" y="6437376"/>
            <a:ext cx="10509199" cy="0"/>
          </a:xfrm>
          <a:prstGeom prst="bentConnector3">
            <a:avLst/>
          </a:prstGeom>
          <a:ln w="12700">
            <a:solidFill>
              <a:srgbClr val="DDE1E6"/>
            </a:solidFill>
          </a:ln>
          <a:effectLst/>
        </p:spPr>
        <p:style>
          <a:lnRef idx="2">
            <a:schemeClr val="accent1"/>
          </a:lnRef>
          <a:fillRef idx="0">
            <a:schemeClr val="accent1"/>
          </a:fillRef>
          <a:effectRef idx="1">
            <a:schemeClr val="accent1"/>
          </a:effectRef>
          <a:fontRef idx="minor">
            <a:schemeClr val="tx1"/>
          </a:fontRef>
        </p:style>
      </p:cxnSp>
      <p:sp>
        <p:nvSpPr>
          <p:cNvPr id="27" name="TextBox 26"/>
          <p:cNvSpPr txBox="1"/>
          <p:nvPr/>
        </p:nvSpPr>
        <p:spPr>
          <a:xfrm>
            <a:off x="841248" y="6473952"/>
            <a:ext cx="7315200" cy="274320"/>
          </a:xfrm>
          <a:prstGeom prst="rect">
            <a:avLst/>
          </a:prstGeom>
          <a:noFill/>
        </p:spPr>
        <p:txBody>
          <a:bodyPr wrap="square" anchor="t" lIns="0" rIns="0" tIns="0" bIns="0">
            <a:spAutoFit/>
          </a:bodyPr>
          <a:lstStyle/>
          <a:p>
            <a:pPr algn="l">
              <a:lnSpc>
                <a:spcPct val="106000"/>
              </a:lnSpc>
              <a:spcBef>
                <a:spcPts val="0"/>
              </a:spcBef>
              <a:spcAft>
                <a:spcPts val="0"/>
              </a:spcAft>
            </a:pPr>
            <a:r>
              <a:rPr sz="950" b="0">
                <a:solidFill>
                  <a:srgbClr val="8A9099"/>
                </a:solidFill>
                <a:latin typeface="Red Hat Text"/>
              </a:rPr>
              <a:t>CONFIDENTIAL</a:t>
            </a:r>
          </a:p>
        </p:txBody>
      </p:sp>
      <p:sp>
        <p:nvSpPr>
          <p:cNvPr id="28" name="TextBox 27"/>
          <p:cNvSpPr txBox="1"/>
          <p:nvPr/>
        </p:nvSpPr>
        <p:spPr>
          <a:xfrm>
            <a:off x="10801807" y="6473952"/>
            <a:ext cx="548640" cy="274320"/>
          </a:xfrm>
          <a:prstGeom prst="rect">
            <a:avLst/>
          </a:prstGeom>
          <a:noFill/>
        </p:spPr>
        <p:txBody>
          <a:bodyPr wrap="square" anchor="t" lIns="0" rIns="0" tIns="0" bIns="0">
            <a:spAutoFit/>
          </a:bodyPr>
          <a:lstStyle/>
          <a:p>
            <a:pPr algn="r">
              <a:lnSpc>
                <a:spcPct val="106000"/>
              </a:lnSpc>
              <a:spcBef>
                <a:spcPts val="0"/>
              </a:spcBef>
              <a:spcAft>
                <a:spcPts val="0"/>
              </a:spcAft>
            </a:pPr>
            <a:r>
              <a:rPr sz="950" b="0">
                <a:solidFill>
                  <a:srgbClr val="8A9099"/>
                </a:solidFill>
                <a:latin typeface="Red Hat Text"/>
              </a:rPr>
              <a:t>70</a:t>
            </a:r>
          </a:p>
        </p:txBody>
      </p:sp>
    </p:spTree>
  </p:cSld>
  <p:clrMapOvr>
    <a:masterClrMapping/>
  </p:clrMapOvr>
</p:sld>
</file>

<file path=ppt/slides/slide8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redhat_logo.jpg"/>
          <p:cNvPicPr>
            <a:picLocks noChangeAspect="1"/>
          </p:cNvPicPr>
          <p:nvPr/>
        </p:nvPicPr>
        <p:blipFill>
          <a:blip r:embed="rId2"/>
          <a:stretch>
            <a:fillRect/>
          </a:stretch>
        </p:blipFill>
        <p:spPr>
          <a:xfrm>
            <a:off x="10326319" y="475488"/>
            <a:ext cx="1024128" cy="242248"/>
          </a:xfrm>
          <a:prstGeom prst="rect">
            <a:avLst/>
          </a:prstGeom>
        </p:spPr>
      </p:pic>
      <p:sp>
        <p:nvSpPr>
          <p:cNvPr id="3" name="TextBox 2"/>
          <p:cNvSpPr txBox="1"/>
          <p:nvPr/>
        </p:nvSpPr>
        <p:spPr>
          <a:xfrm>
            <a:off x="841248" y="548640"/>
            <a:ext cx="8595360" cy="274320"/>
          </a:xfrm>
          <a:prstGeom prst="rect">
            <a:avLst/>
          </a:prstGeom>
          <a:noFill/>
        </p:spPr>
        <p:txBody>
          <a:bodyPr wrap="square" anchor="t" lIns="0" rIns="0" tIns="0" bIns="0">
            <a:spAutoFit/>
          </a:bodyPr>
          <a:lstStyle/>
          <a:p>
            <a:pPr algn="l">
              <a:lnSpc>
                <a:spcPct val="106000"/>
              </a:lnSpc>
              <a:spcBef>
                <a:spcPts val="0"/>
              </a:spcBef>
              <a:spcAft>
                <a:spcPts val="0"/>
              </a:spcAft>
            </a:pPr>
            <a:r>
              <a:rPr sz="1250" b="1" spc="220">
                <a:solidFill>
                  <a:srgbClr val="EE0000"/>
                </a:solidFill>
                <a:latin typeface="Red Hat Display"/>
              </a:rPr>
              <a:t>M10 · GITOPS FUNDAMENTALS</a:t>
            </a:r>
          </a:p>
        </p:txBody>
      </p:sp>
      <p:sp>
        <p:nvSpPr>
          <p:cNvPr id="4" name="TextBox 3"/>
          <p:cNvSpPr txBox="1"/>
          <p:nvPr/>
        </p:nvSpPr>
        <p:spPr>
          <a:xfrm>
            <a:off x="841248" y="877824"/>
            <a:ext cx="10515600" cy="548640"/>
          </a:xfrm>
          <a:prstGeom prst="rect">
            <a:avLst/>
          </a:prstGeom>
          <a:noFill/>
        </p:spPr>
        <p:txBody>
          <a:bodyPr wrap="none" anchor="t" lIns="0" rIns="0" tIns="0" bIns="0">
            <a:spAutoFit/>
          </a:bodyPr>
          <a:lstStyle/>
          <a:p>
            <a:pPr algn="l">
              <a:lnSpc>
                <a:spcPct val="100000"/>
              </a:lnSpc>
              <a:spcBef>
                <a:spcPts val="0"/>
              </a:spcBef>
              <a:spcAft>
                <a:spcPts val="0"/>
              </a:spcAft>
            </a:pPr>
            <a:r>
              <a:rPr sz="2500" b="1">
                <a:solidFill>
                  <a:srgbClr val="1A1A1A"/>
                </a:solidFill>
                <a:latin typeface="Red Hat Display"/>
              </a:rPr>
              <a:t>Drift and self-heal — Git wins</a:t>
            </a:r>
          </a:p>
        </p:txBody>
      </p:sp>
      <p:cxnSp>
        <p:nvCxnSpPr>
          <p:cNvPr id="5" name="Connector 4"/>
          <p:cNvCxnSpPr/>
          <p:nvPr/>
        </p:nvCxnSpPr>
        <p:spPr>
          <a:xfrm>
            <a:off x="841248" y="1554480"/>
            <a:ext cx="1371600" cy="0"/>
          </a:xfrm>
          <a:prstGeom prst="bentConnector3">
            <a:avLst/>
          </a:prstGeom>
          <a:ln w="31750">
            <a:solidFill>
              <a:srgbClr val="EE0000"/>
            </a:solidFill>
          </a:ln>
          <a:effectLst/>
        </p:spPr>
        <p:style>
          <a:lnRef idx="2">
            <a:schemeClr val="accent1"/>
          </a:lnRef>
          <a:fillRef idx="0">
            <a:schemeClr val="accent1"/>
          </a:fillRef>
          <a:effectRef idx="1">
            <a:schemeClr val="accent1"/>
          </a:effectRef>
          <a:fontRef idx="minor">
            <a:schemeClr val="tx1"/>
          </a:fontRef>
        </p:style>
      </p:cxnSp>
      <p:sp>
        <p:nvSpPr>
          <p:cNvPr id="6" name="Rounded Rectangle 5"/>
          <p:cNvSpPr/>
          <p:nvPr/>
        </p:nvSpPr>
        <p:spPr>
          <a:xfrm>
            <a:off x="841248" y="2395728"/>
            <a:ext cx="5715000" cy="530352"/>
          </a:xfrm>
          <a:prstGeom prst="roundRect">
            <a:avLst>
              <a:gd name="adj" fmla="val 6000"/>
            </a:avLst>
          </a:prstGeom>
          <a:solidFill>
            <a:srgbClr val="F5F6F8"/>
          </a:solidFill>
          <a:ln w="12700">
            <a:solidFill>
              <a:srgbClr val="DDE1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check_steel.png"/>
          <p:cNvPicPr>
            <a:picLocks noChangeAspect="1"/>
          </p:cNvPicPr>
          <p:nvPr/>
        </p:nvPicPr>
        <p:blipFill>
          <a:blip r:embed="rId3"/>
          <a:stretch>
            <a:fillRect/>
          </a:stretch>
        </p:blipFill>
        <p:spPr>
          <a:xfrm>
            <a:off x="987552" y="2542032"/>
            <a:ext cx="237744" cy="237744"/>
          </a:xfrm>
          <a:prstGeom prst="rect">
            <a:avLst/>
          </a:prstGeom>
        </p:spPr>
      </p:pic>
      <p:sp>
        <p:nvSpPr>
          <p:cNvPr id="8" name="TextBox 7"/>
          <p:cNvSpPr txBox="1"/>
          <p:nvPr/>
        </p:nvSpPr>
        <p:spPr>
          <a:xfrm>
            <a:off x="1353312" y="2395728"/>
            <a:ext cx="5029200" cy="530352"/>
          </a:xfrm>
          <a:prstGeom prst="rect">
            <a:avLst/>
          </a:prstGeom>
          <a:noFill/>
        </p:spPr>
        <p:txBody>
          <a:bodyPr wrap="square" anchor="ctr" lIns="0" rIns="0" tIns="0" bIns="0">
            <a:spAutoFit/>
          </a:bodyPr>
          <a:lstStyle/>
          <a:p>
            <a:pPr algn="l">
              <a:lnSpc>
                <a:spcPct val="106000"/>
              </a:lnSpc>
              <a:spcBef>
                <a:spcPts val="0"/>
              </a:spcBef>
              <a:spcAft>
                <a:spcPts val="0"/>
              </a:spcAft>
            </a:pPr>
            <a:r>
              <a:rPr sz="1200" b="0">
                <a:solidFill>
                  <a:srgbClr val="1A1A1A"/>
                </a:solidFill>
                <a:latin typeface="Red Hat Text"/>
              </a:rPr>
              <a:t>Drift: someone scales the live app by hand</a:t>
            </a:r>
          </a:p>
        </p:txBody>
      </p:sp>
      <p:sp>
        <p:nvSpPr>
          <p:cNvPr id="9" name="Rounded Rectangle 8"/>
          <p:cNvSpPr/>
          <p:nvPr/>
        </p:nvSpPr>
        <p:spPr>
          <a:xfrm>
            <a:off x="841248" y="2999232"/>
            <a:ext cx="5715000" cy="530352"/>
          </a:xfrm>
          <a:prstGeom prst="roundRect">
            <a:avLst>
              <a:gd name="adj" fmla="val 6000"/>
            </a:avLst>
          </a:prstGeom>
          <a:solidFill>
            <a:srgbClr val="F5F6F8"/>
          </a:solidFill>
          <a:ln w="12700">
            <a:solidFill>
              <a:srgbClr val="DDE1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0" name="Picture 9" descr="check_steel.png"/>
          <p:cNvPicPr>
            <a:picLocks noChangeAspect="1"/>
          </p:cNvPicPr>
          <p:nvPr/>
        </p:nvPicPr>
        <p:blipFill>
          <a:blip r:embed="rId3"/>
          <a:stretch>
            <a:fillRect/>
          </a:stretch>
        </p:blipFill>
        <p:spPr>
          <a:xfrm>
            <a:off x="987552" y="3145536"/>
            <a:ext cx="237744" cy="237744"/>
          </a:xfrm>
          <a:prstGeom prst="rect">
            <a:avLst/>
          </a:prstGeom>
        </p:spPr>
      </p:pic>
      <p:sp>
        <p:nvSpPr>
          <p:cNvPr id="11" name="TextBox 10"/>
          <p:cNvSpPr txBox="1"/>
          <p:nvPr/>
        </p:nvSpPr>
        <p:spPr>
          <a:xfrm>
            <a:off x="1353312" y="2999232"/>
            <a:ext cx="5029200" cy="530352"/>
          </a:xfrm>
          <a:prstGeom prst="rect">
            <a:avLst/>
          </a:prstGeom>
          <a:noFill/>
        </p:spPr>
        <p:txBody>
          <a:bodyPr wrap="square" anchor="ctr" lIns="0" rIns="0" tIns="0" bIns="0">
            <a:spAutoFit/>
          </a:bodyPr>
          <a:lstStyle/>
          <a:p>
            <a:pPr algn="l">
              <a:lnSpc>
                <a:spcPct val="106000"/>
              </a:lnSpc>
              <a:spcBef>
                <a:spcPts val="0"/>
              </a:spcBef>
              <a:spcAft>
                <a:spcPts val="0"/>
              </a:spcAft>
            </a:pPr>
            <a:r>
              <a:rPr sz="1200" b="0">
                <a:solidFill>
                  <a:srgbClr val="1A1A1A"/>
                </a:solidFill>
                <a:latin typeface="Red Hat Text"/>
              </a:rPr>
              <a:t>Argo flags it OutOfSync, shows the exact diff</a:t>
            </a:r>
          </a:p>
        </p:txBody>
      </p:sp>
      <p:sp>
        <p:nvSpPr>
          <p:cNvPr id="12" name="Rounded Rectangle 11"/>
          <p:cNvSpPr/>
          <p:nvPr/>
        </p:nvSpPr>
        <p:spPr>
          <a:xfrm>
            <a:off x="841248" y="3602736"/>
            <a:ext cx="5715000" cy="530352"/>
          </a:xfrm>
          <a:prstGeom prst="roundRect">
            <a:avLst>
              <a:gd name="adj" fmla="val 6000"/>
            </a:avLst>
          </a:prstGeom>
          <a:solidFill>
            <a:srgbClr val="F5F6F8"/>
          </a:solidFill>
          <a:ln w="12700">
            <a:solidFill>
              <a:srgbClr val="DDE1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3" name="Picture 12" descr="check_steel.png"/>
          <p:cNvPicPr>
            <a:picLocks noChangeAspect="1"/>
          </p:cNvPicPr>
          <p:nvPr/>
        </p:nvPicPr>
        <p:blipFill>
          <a:blip r:embed="rId3"/>
          <a:stretch>
            <a:fillRect/>
          </a:stretch>
        </p:blipFill>
        <p:spPr>
          <a:xfrm>
            <a:off x="987552" y="3749040"/>
            <a:ext cx="237744" cy="237744"/>
          </a:xfrm>
          <a:prstGeom prst="rect">
            <a:avLst/>
          </a:prstGeom>
        </p:spPr>
      </p:pic>
      <p:sp>
        <p:nvSpPr>
          <p:cNvPr id="14" name="TextBox 13"/>
          <p:cNvSpPr txBox="1"/>
          <p:nvPr/>
        </p:nvSpPr>
        <p:spPr>
          <a:xfrm>
            <a:off x="1353312" y="3602736"/>
            <a:ext cx="5029200" cy="530352"/>
          </a:xfrm>
          <a:prstGeom prst="rect">
            <a:avLst/>
          </a:prstGeom>
          <a:noFill/>
        </p:spPr>
        <p:txBody>
          <a:bodyPr wrap="square" anchor="ctr" lIns="0" rIns="0" tIns="0" bIns="0">
            <a:spAutoFit/>
          </a:bodyPr>
          <a:lstStyle/>
          <a:p>
            <a:pPr algn="l">
              <a:lnSpc>
                <a:spcPct val="106000"/>
              </a:lnSpc>
              <a:spcBef>
                <a:spcPts val="0"/>
              </a:spcBef>
              <a:spcAft>
                <a:spcPts val="0"/>
              </a:spcAft>
            </a:pPr>
            <a:r>
              <a:rPr sz="1200" b="0">
                <a:solidFill>
                  <a:srgbClr val="1A1A1A"/>
                </a:solidFill>
                <a:latin typeface="Red Hat Text"/>
              </a:rPr>
              <a:t>Manual sync: you press Sync, it snaps back</a:t>
            </a:r>
          </a:p>
        </p:txBody>
      </p:sp>
      <p:sp>
        <p:nvSpPr>
          <p:cNvPr id="15" name="Rounded Rectangle 14"/>
          <p:cNvSpPr/>
          <p:nvPr/>
        </p:nvSpPr>
        <p:spPr>
          <a:xfrm>
            <a:off x="841248" y="4206240"/>
            <a:ext cx="5715000" cy="530352"/>
          </a:xfrm>
          <a:prstGeom prst="roundRect">
            <a:avLst>
              <a:gd name="adj" fmla="val 6000"/>
            </a:avLst>
          </a:prstGeom>
          <a:solidFill>
            <a:srgbClr val="F5F6F8"/>
          </a:solidFill>
          <a:ln w="12700">
            <a:solidFill>
              <a:srgbClr val="DDE1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6" name="Picture 15" descr="check_steel.png"/>
          <p:cNvPicPr>
            <a:picLocks noChangeAspect="1"/>
          </p:cNvPicPr>
          <p:nvPr/>
        </p:nvPicPr>
        <p:blipFill>
          <a:blip r:embed="rId3"/>
          <a:stretch>
            <a:fillRect/>
          </a:stretch>
        </p:blipFill>
        <p:spPr>
          <a:xfrm>
            <a:off x="987552" y="4352544"/>
            <a:ext cx="237744" cy="237744"/>
          </a:xfrm>
          <a:prstGeom prst="rect">
            <a:avLst/>
          </a:prstGeom>
        </p:spPr>
      </p:pic>
      <p:sp>
        <p:nvSpPr>
          <p:cNvPr id="17" name="TextBox 16"/>
          <p:cNvSpPr txBox="1"/>
          <p:nvPr/>
        </p:nvSpPr>
        <p:spPr>
          <a:xfrm>
            <a:off x="1353312" y="4206240"/>
            <a:ext cx="5029200" cy="530352"/>
          </a:xfrm>
          <a:prstGeom prst="rect">
            <a:avLst/>
          </a:prstGeom>
          <a:noFill/>
        </p:spPr>
        <p:txBody>
          <a:bodyPr wrap="square" anchor="ctr" lIns="0" rIns="0" tIns="0" bIns="0">
            <a:spAutoFit/>
          </a:bodyPr>
          <a:lstStyle/>
          <a:p>
            <a:pPr algn="l">
              <a:lnSpc>
                <a:spcPct val="106000"/>
              </a:lnSpc>
              <a:spcBef>
                <a:spcPts val="0"/>
              </a:spcBef>
              <a:spcAft>
                <a:spcPts val="0"/>
              </a:spcAft>
            </a:pPr>
            <a:r>
              <a:rPr sz="1200" b="0">
                <a:solidFill>
                  <a:srgbClr val="1A1A1A"/>
                </a:solidFill>
                <a:latin typeface="Red Hat Text"/>
              </a:rPr>
              <a:t>Self-heal: watch-triggered, reverts in seconds</a:t>
            </a:r>
          </a:p>
        </p:txBody>
      </p:sp>
      <p:sp>
        <p:nvSpPr>
          <p:cNvPr id="18" name="Rounded Rectangle 17"/>
          <p:cNvSpPr/>
          <p:nvPr/>
        </p:nvSpPr>
        <p:spPr>
          <a:xfrm>
            <a:off x="841248" y="4809744"/>
            <a:ext cx="5715000" cy="530352"/>
          </a:xfrm>
          <a:prstGeom prst="roundRect">
            <a:avLst>
              <a:gd name="adj" fmla="val 6000"/>
            </a:avLst>
          </a:prstGeom>
          <a:solidFill>
            <a:srgbClr val="F5F6F8"/>
          </a:solidFill>
          <a:ln w="12700">
            <a:solidFill>
              <a:srgbClr val="DDE1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9" name="Picture 18" descr="check_steel.png"/>
          <p:cNvPicPr>
            <a:picLocks noChangeAspect="1"/>
          </p:cNvPicPr>
          <p:nvPr/>
        </p:nvPicPr>
        <p:blipFill>
          <a:blip r:embed="rId3"/>
          <a:stretch>
            <a:fillRect/>
          </a:stretch>
        </p:blipFill>
        <p:spPr>
          <a:xfrm>
            <a:off x="987552" y="4956048"/>
            <a:ext cx="237744" cy="237744"/>
          </a:xfrm>
          <a:prstGeom prst="rect">
            <a:avLst/>
          </a:prstGeom>
        </p:spPr>
      </p:pic>
      <p:sp>
        <p:nvSpPr>
          <p:cNvPr id="20" name="TextBox 19"/>
          <p:cNvSpPr txBox="1"/>
          <p:nvPr/>
        </p:nvSpPr>
        <p:spPr>
          <a:xfrm>
            <a:off x="1353312" y="4809744"/>
            <a:ext cx="5029200" cy="530352"/>
          </a:xfrm>
          <a:prstGeom prst="rect">
            <a:avLst/>
          </a:prstGeom>
          <a:noFill/>
        </p:spPr>
        <p:txBody>
          <a:bodyPr wrap="square" anchor="ctr" lIns="0" rIns="0" tIns="0" bIns="0">
            <a:spAutoFit/>
          </a:bodyPr>
          <a:lstStyle/>
          <a:p>
            <a:pPr algn="l">
              <a:lnSpc>
                <a:spcPct val="106000"/>
              </a:lnSpc>
              <a:spcBef>
                <a:spcPts val="0"/>
              </a:spcBef>
              <a:spcAft>
                <a:spcPts val="0"/>
              </a:spcAft>
            </a:pPr>
            <a:r>
              <a:rPr sz="1200" b="0">
                <a:solidFill>
                  <a:srgbClr val="1A1A1A"/>
                </a:solidFill>
                <a:latin typeface="Red Hat Text"/>
              </a:rPr>
              <a:t>You cannot out-edit Git</a:t>
            </a:r>
          </a:p>
        </p:txBody>
      </p:sp>
      <p:sp>
        <p:nvSpPr>
          <p:cNvPr id="21" name="Rounded Rectangle 20"/>
          <p:cNvSpPr/>
          <p:nvPr/>
        </p:nvSpPr>
        <p:spPr>
          <a:xfrm>
            <a:off x="6812280" y="2395728"/>
            <a:ext cx="4538167" cy="2944368"/>
          </a:xfrm>
          <a:prstGeom prst="roundRect">
            <a:avLst>
              <a:gd name="adj" fmla="val 4000"/>
            </a:avLst>
          </a:prstGeom>
          <a:solidFill>
            <a:srgbClr val="FFFFFF"/>
          </a:solidFill>
          <a:ln w="15240">
            <a:solidFill>
              <a:srgbClr val="DDE1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ounded Rectangle 21"/>
          <p:cNvSpPr/>
          <p:nvPr/>
        </p:nvSpPr>
        <p:spPr>
          <a:xfrm>
            <a:off x="7013448" y="2596896"/>
            <a:ext cx="1298448" cy="310896"/>
          </a:xfrm>
          <a:prstGeom prst="roundRect">
            <a:avLst>
              <a:gd name="adj" fmla="val 50000"/>
            </a:avLst>
          </a:prstGeom>
          <a:solidFill>
            <a:srgbClr val="FCEC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7013448" y="2596896"/>
            <a:ext cx="1298448" cy="310896"/>
          </a:xfrm>
          <a:prstGeom prst="rect">
            <a:avLst/>
          </a:prstGeom>
          <a:noFill/>
        </p:spPr>
        <p:txBody>
          <a:bodyPr wrap="none" anchor="ctr" lIns="0" rIns="0" tIns="0" bIns="0">
            <a:spAutoFit/>
          </a:bodyPr>
          <a:lstStyle/>
          <a:p>
            <a:pPr algn="ctr">
              <a:lnSpc>
                <a:spcPct val="106000"/>
              </a:lnSpc>
              <a:spcBef>
                <a:spcPts val="0"/>
              </a:spcBef>
              <a:spcAft>
                <a:spcPts val="0"/>
              </a:spcAft>
            </a:pPr>
            <a:r>
              <a:rPr sz="850" b="1">
                <a:solidFill>
                  <a:srgbClr val="B80000"/>
                </a:solidFill>
                <a:latin typeface="Red Hat Display"/>
              </a:rPr>
              <a:t>MEDIA PASS</a:t>
            </a:r>
          </a:p>
        </p:txBody>
      </p:sp>
      <p:pic>
        <p:nvPicPr>
          <p:cNvPr id="24" name="Picture 23" descr="eye_slate.png"/>
          <p:cNvPicPr>
            <a:picLocks noChangeAspect="1"/>
          </p:cNvPicPr>
          <p:nvPr/>
        </p:nvPicPr>
        <p:blipFill>
          <a:blip r:embed="rId4"/>
          <a:stretch>
            <a:fillRect/>
          </a:stretch>
        </p:blipFill>
        <p:spPr>
          <a:xfrm>
            <a:off x="8843619" y="3108960"/>
            <a:ext cx="475488" cy="475488"/>
          </a:xfrm>
          <a:prstGeom prst="rect">
            <a:avLst/>
          </a:prstGeom>
        </p:spPr>
      </p:pic>
      <p:sp>
        <p:nvSpPr>
          <p:cNvPr id="25" name="TextBox 24"/>
          <p:cNvSpPr txBox="1"/>
          <p:nvPr/>
        </p:nvSpPr>
        <p:spPr>
          <a:xfrm>
            <a:off x="7050024" y="3721608"/>
            <a:ext cx="4062679" cy="1481328"/>
          </a:xfrm>
          <a:prstGeom prst="rect">
            <a:avLst/>
          </a:prstGeom>
          <a:noFill/>
        </p:spPr>
        <p:txBody>
          <a:bodyPr wrap="square" anchor="t" lIns="0" rIns="0" tIns="0" bIns="0">
            <a:spAutoFit/>
          </a:bodyPr>
          <a:lstStyle/>
          <a:p>
            <a:pPr algn="l">
              <a:lnSpc>
                <a:spcPct val="120000"/>
              </a:lnSpc>
              <a:spcBef>
                <a:spcPts val="0"/>
              </a:spcBef>
              <a:spcAft>
                <a:spcPts val="0"/>
              </a:spcAft>
            </a:pPr>
            <a:r>
              <a:rPr sz="950" b="0">
                <a:solidFill>
                  <a:srgbClr val="8A9099"/>
                </a:solidFill>
                <a:latin typeface="Red Hat Text"/>
              </a:rPr>
              <a:t>A three-step strip — (1) live scaled to 3, (2) Argo OutOfSync diff 3-vs-1, (3) reverted to 1 — with a small clock showing "~seconds" over the self-heal arrow.</a:t>
            </a:r>
          </a:p>
        </p:txBody>
      </p:sp>
      <p:cxnSp>
        <p:nvCxnSpPr>
          <p:cNvPr id="26" name="Connector 25"/>
          <p:cNvCxnSpPr/>
          <p:nvPr/>
        </p:nvCxnSpPr>
        <p:spPr>
          <a:xfrm>
            <a:off x="841248" y="6437376"/>
            <a:ext cx="10509199" cy="0"/>
          </a:xfrm>
          <a:prstGeom prst="bentConnector3">
            <a:avLst/>
          </a:prstGeom>
          <a:ln w="12700">
            <a:solidFill>
              <a:srgbClr val="DDE1E6"/>
            </a:solidFill>
          </a:ln>
          <a:effectLst/>
        </p:spPr>
        <p:style>
          <a:lnRef idx="2">
            <a:schemeClr val="accent1"/>
          </a:lnRef>
          <a:fillRef idx="0">
            <a:schemeClr val="accent1"/>
          </a:fillRef>
          <a:effectRef idx="1">
            <a:schemeClr val="accent1"/>
          </a:effectRef>
          <a:fontRef idx="minor">
            <a:schemeClr val="tx1"/>
          </a:fontRef>
        </p:style>
      </p:cxnSp>
      <p:sp>
        <p:nvSpPr>
          <p:cNvPr id="27" name="TextBox 26"/>
          <p:cNvSpPr txBox="1"/>
          <p:nvPr/>
        </p:nvSpPr>
        <p:spPr>
          <a:xfrm>
            <a:off x="841248" y="6473952"/>
            <a:ext cx="7315200" cy="274320"/>
          </a:xfrm>
          <a:prstGeom prst="rect">
            <a:avLst/>
          </a:prstGeom>
          <a:noFill/>
        </p:spPr>
        <p:txBody>
          <a:bodyPr wrap="square" anchor="t" lIns="0" rIns="0" tIns="0" bIns="0">
            <a:spAutoFit/>
          </a:bodyPr>
          <a:lstStyle/>
          <a:p>
            <a:pPr algn="l">
              <a:lnSpc>
                <a:spcPct val="106000"/>
              </a:lnSpc>
              <a:spcBef>
                <a:spcPts val="0"/>
              </a:spcBef>
              <a:spcAft>
                <a:spcPts val="0"/>
              </a:spcAft>
            </a:pPr>
            <a:r>
              <a:rPr sz="950" b="0">
                <a:solidFill>
                  <a:srgbClr val="8A9099"/>
                </a:solidFill>
                <a:latin typeface="Red Hat Text"/>
              </a:rPr>
              <a:t>CONFIDENTIAL</a:t>
            </a:r>
          </a:p>
        </p:txBody>
      </p:sp>
      <p:sp>
        <p:nvSpPr>
          <p:cNvPr id="28" name="TextBox 27"/>
          <p:cNvSpPr txBox="1"/>
          <p:nvPr/>
        </p:nvSpPr>
        <p:spPr>
          <a:xfrm>
            <a:off x="10801807" y="6473952"/>
            <a:ext cx="548640" cy="274320"/>
          </a:xfrm>
          <a:prstGeom prst="rect">
            <a:avLst/>
          </a:prstGeom>
          <a:noFill/>
        </p:spPr>
        <p:txBody>
          <a:bodyPr wrap="square" anchor="t" lIns="0" rIns="0" tIns="0" bIns="0">
            <a:spAutoFit/>
          </a:bodyPr>
          <a:lstStyle/>
          <a:p>
            <a:pPr algn="r">
              <a:lnSpc>
                <a:spcPct val="106000"/>
              </a:lnSpc>
              <a:spcBef>
                <a:spcPts val="0"/>
              </a:spcBef>
              <a:spcAft>
                <a:spcPts val="0"/>
              </a:spcAft>
            </a:pPr>
            <a:r>
              <a:rPr sz="950" b="0">
                <a:solidFill>
                  <a:srgbClr val="8A9099"/>
                </a:solidFill>
                <a:latin typeface="Red Hat Text"/>
              </a:rPr>
              <a:t>71</a:t>
            </a:r>
          </a:p>
        </p:txBody>
      </p:sp>
    </p:spTree>
  </p:cSld>
  <p:clrMapOvr>
    <a:masterClrMapping/>
  </p:clrMapOvr>
</p:sld>
</file>

<file path=ppt/slides/slide8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redhat_logo.jpg"/>
          <p:cNvPicPr>
            <a:picLocks noChangeAspect="1"/>
          </p:cNvPicPr>
          <p:nvPr/>
        </p:nvPicPr>
        <p:blipFill>
          <a:blip r:embed="rId2"/>
          <a:stretch>
            <a:fillRect/>
          </a:stretch>
        </p:blipFill>
        <p:spPr>
          <a:xfrm>
            <a:off x="10326319" y="475488"/>
            <a:ext cx="1024128" cy="242248"/>
          </a:xfrm>
          <a:prstGeom prst="rect">
            <a:avLst/>
          </a:prstGeom>
        </p:spPr>
      </p:pic>
      <p:sp>
        <p:nvSpPr>
          <p:cNvPr id="3" name="TextBox 2"/>
          <p:cNvSpPr txBox="1"/>
          <p:nvPr/>
        </p:nvSpPr>
        <p:spPr>
          <a:xfrm>
            <a:off x="841248" y="548640"/>
            <a:ext cx="8595360" cy="274320"/>
          </a:xfrm>
          <a:prstGeom prst="rect">
            <a:avLst/>
          </a:prstGeom>
          <a:noFill/>
        </p:spPr>
        <p:txBody>
          <a:bodyPr wrap="square" anchor="t" lIns="0" rIns="0" tIns="0" bIns="0">
            <a:spAutoFit/>
          </a:bodyPr>
          <a:lstStyle/>
          <a:p>
            <a:pPr algn="l">
              <a:lnSpc>
                <a:spcPct val="106000"/>
              </a:lnSpc>
              <a:spcBef>
                <a:spcPts val="0"/>
              </a:spcBef>
              <a:spcAft>
                <a:spcPts val="0"/>
              </a:spcAft>
            </a:pPr>
            <a:r>
              <a:rPr sz="1250" b="1" spc="220">
                <a:solidFill>
                  <a:srgbClr val="EE0000"/>
                </a:solidFill>
                <a:latin typeface="Red Hat Display"/>
              </a:rPr>
              <a:t>M10 · GITOPS FUNDAMENTALS</a:t>
            </a:r>
          </a:p>
        </p:txBody>
      </p:sp>
      <p:sp>
        <p:nvSpPr>
          <p:cNvPr id="4" name="TextBox 3"/>
          <p:cNvSpPr txBox="1"/>
          <p:nvPr/>
        </p:nvSpPr>
        <p:spPr>
          <a:xfrm>
            <a:off x="841248" y="877824"/>
            <a:ext cx="10515600" cy="548640"/>
          </a:xfrm>
          <a:prstGeom prst="rect">
            <a:avLst/>
          </a:prstGeom>
          <a:noFill/>
        </p:spPr>
        <p:txBody>
          <a:bodyPr wrap="none" anchor="t" lIns="0" rIns="0" tIns="0" bIns="0">
            <a:spAutoFit/>
          </a:bodyPr>
          <a:lstStyle/>
          <a:p>
            <a:pPr algn="l">
              <a:lnSpc>
                <a:spcPct val="100000"/>
              </a:lnSpc>
              <a:spcBef>
                <a:spcPts val="0"/>
              </a:spcBef>
              <a:spcAft>
                <a:spcPts val="0"/>
              </a:spcAft>
            </a:pPr>
            <a:r>
              <a:rPr sz="2500" b="1">
                <a:solidFill>
                  <a:srgbClr val="1A1A1A"/>
                </a:solidFill>
                <a:latin typeface="Red Hat Display"/>
              </a:rPr>
              <a:t>Kustomize and Helm — what GitOps reconciles</a:t>
            </a:r>
          </a:p>
        </p:txBody>
      </p:sp>
      <p:cxnSp>
        <p:nvCxnSpPr>
          <p:cNvPr id="5" name="Connector 4"/>
          <p:cNvCxnSpPr/>
          <p:nvPr/>
        </p:nvCxnSpPr>
        <p:spPr>
          <a:xfrm>
            <a:off x="841248" y="1554480"/>
            <a:ext cx="1371600" cy="0"/>
          </a:xfrm>
          <a:prstGeom prst="bentConnector3">
            <a:avLst/>
          </a:prstGeom>
          <a:ln w="31750">
            <a:solidFill>
              <a:srgbClr val="EE0000"/>
            </a:solidFill>
          </a:ln>
          <a:effectLst/>
        </p:spPr>
        <p:style>
          <a:lnRef idx="2">
            <a:schemeClr val="accent1"/>
          </a:lnRef>
          <a:fillRef idx="0">
            <a:schemeClr val="accent1"/>
          </a:fillRef>
          <a:effectRef idx="1">
            <a:schemeClr val="accent1"/>
          </a:effectRef>
          <a:fontRef idx="minor">
            <a:schemeClr val="tx1"/>
          </a:fontRef>
        </p:style>
      </p:cxnSp>
      <p:sp>
        <p:nvSpPr>
          <p:cNvPr id="6" name="Rounded Rectangle 5"/>
          <p:cNvSpPr/>
          <p:nvPr/>
        </p:nvSpPr>
        <p:spPr>
          <a:xfrm>
            <a:off x="841248" y="2395728"/>
            <a:ext cx="5715000" cy="530352"/>
          </a:xfrm>
          <a:prstGeom prst="roundRect">
            <a:avLst>
              <a:gd name="adj" fmla="val 6000"/>
            </a:avLst>
          </a:prstGeom>
          <a:solidFill>
            <a:srgbClr val="F5F6F8"/>
          </a:solidFill>
          <a:ln w="12700">
            <a:solidFill>
              <a:srgbClr val="DDE1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check_steel.png"/>
          <p:cNvPicPr>
            <a:picLocks noChangeAspect="1"/>
          </p:cNvPicPr>
          <p:nvPr/>
        </p:nvPicPr>
        <p:blipFill>
          <a:blip r:embed="rId3"/>
          <a:stretch>
            <a:fillRect/>
          </a:stretch>
        </p:blipFill>
        <p:spPr>
          <a:xfrm>
            <a:off x="987552" y="2542032"/>
            <a:ext cx="237744" cy="237744"/>
          </a:xfrm>
          <a:prstGeom prst="rect">
            <a:avLst/>
          </a:prstGeom>
        </p:spPr>
      </p:pic>
      <p:sp>
        <p:nvSpPr>
          <p:cNvPr id="8" name="TextBox 7"/>
          <p:cNvSpPr txBox="1"/>
          <p:nvPr/>
        </p:nvSpPr>
        <p:spPr>
          <a:xfrm>
            <a:off x="1353312" y="2395728"/>
            <a:ext cx="5029200" cy="530352"/>
          </a:xfrm>
          <a:prstGeom prst="rect">
            <a:avLst/>
          </a:prstGeom>
          <a:noFill/>
        </p:spPr>
        <p:txBody>
          <a:bodyPr wrap="square" anchor="ctr" lIns="0" rIns="0" tIns="0" bIns="0">
            <a:spAutoFit/>
          </a:bodyPr>
          <a:lstStyle/>
          <a:p>
            <a:pPr algn="l">
              <a:lnSpc>
                <a:spcPct val="106000"/>
              </a:lnSpc>
              <a:spcBef>
                <a:spcPts val="0"/>
              </a:spcBef>
              <a:spcAft>
                <a:spcPts val="0"/>
              </a:spcAft>
            </a:pPr>
            <a:r>
              <a:rPr sz="1200" b="0">
                <a:solidFill>
                  <a:srgbClr val="1A1A1A"/>
                </a:solidFill>
                <a:latin typeface="Red Hat Text"/>
              </a:rPr>
              <a:t>GitOps reconciles whatever your repo renders</a:t>
            </a:r>
          </a:p>
        </p:txBody>
      </p:sp>
      <p:sp>
        <p:nvSpPr>
          <p:cNvPr id="9" name="Rounded Rectangle 8"/>
          <p:cNvSpPr/>
          <p:nvPr/>
        </p:nvSpPr>
        <p:spPr>
          <a:xfrm>
            <a:off x="841248" y="2999232"/>
            <a:ext cx="5715000" cy="530352"/>
          </a:xfrm>
          <a:prstGeom prst="roundRect">
            <a:avLst>
              <a:gd name="adj" fmla="val 6000"/>
            </a:avLst>
          </a:prstGeom>
          <a:solidFill>
            <a:srgbClr val="F5F6F8"/>
          </a:solidFill>
          <a:ln w="12700">
            <a:solidFill>
              <a:srgbClr val="DDE1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0" name="Picture 9" descr="check_steel.png"/>
          <p:cNvPicPr>
            <a:picLocks noChangeAspect="1"/>
          </p:cNvPicPr>
          <p:nvPr/>
        </p:nvPicPr>
        <p:blipFill>
          <a:blip r:embed="rId3"/>
          <a:stretch>
            <a:fillRect/>
          </a:stretch>
        </p:blipFill>
        <p:spPr>
          <a:xfrm>
            <a:off x="987552" y="3145536"/>
            <a:ext cx="237744" cy="237744"/>
          </a:xfrm>
          <a:prstGeom prst="rect">
            <a:avLst/>
          </a:prstGeom>
        </p:spPr>
      </p:pic>
      <p:sp>
        <p:nvSpPr>
          <p:cNvPr id="11" name="TextBox 10"/>
          <p:cNvSpPr txBox="1"/>
          <p:nvPr/>
        </p:nvSpPr>
        <p:spPr>
          <a:xfrm>
            <a:off x="1353312" y="2999232"/>
            <a:ext cx="5029200" cy="530352"/>
          </a:xfrm>
          <a:prstGeom prst="rect">
            <a:avLst/>
          </a:prstGeom>
          <a:noFill/>
        </p:spPr>
        <p:txBody>
          <a:bodyPr wrap="square" anchor="ctr" lIns="0" rIns="0" tIns="0" bIns="0">
            <a:spAutoFit/>
          </a:bodyPr>
          <a:lstStyle/>
          <a:p>
            <a:pPr algn="l">
              <a:lnSpc>
                <a:spcPct val="106000"/>
              </a:lnSpc>
              <a:spcBef>
                <a:spcPts val="0"/>
              </a:spcBef>
              <a:spcAft>
                <a:spcPts val="0"/>
              </a:spcAft>
            </a:pPr>
            <a:r>
              <a:rPr sz="1200" b="0">
                <a:solidFill>
                  <a:srgbClr val="1A1A1A"/>
                </a:solidFill>
                <a:latin typeface="Red Hat Text"/>
              </a:rPr>
              <a:t>Kustomize: base + overlays you own (this repo)</a:t>
            </a:r>
          </a:p>
        </p:txBody>
      </p:sp>
      <p:sp>
        <p:nvSpPr>
          <p:cNvPr id="12" name="Rounded Rectangle 11"/>
          <p:cNvSpPr/>
          <p:nvPr/>
        </p:nvSpPr>
        <p:spPr>
          <a:xfrm>
            <a:off x="841248" y="3602736"/>
            <a:ext cx="5715000" cy="530352"/>
          </a:xfrm>
          <a:prstGeom prst="roundRect">
            <a:avLst>
              <a:gd name="adj" fmla="val 6000"/>
            </a:avLst>
          </a:prstGeom>
          <a:solidFill>
            <a:srgbClr val="F5F6F8"/>
          </a:solidFill>
          <a:ln w="12700">
            <a:solidFill>
              <a:srgbClr val="DDE1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3" name="Picture 12" descr="check_steel.png"/>
          <p:cNvPicPr>
            <a:picLocks noChangeAspect="1"/>
          </p:cNvPicPr>
          <p:nvPr/>
        </p:nvPicPr>
        <p:blipFill>
          <a:blip r:embed="rId3"/>
          <a:stretch>
            <a:fillRect/>
          </a:stretch>
        </p:blipFill>
        <p:spPr>
          <a:xfrm>
            <a:off x="987552" y="3749040"/>
            <a:ext cx="237744" cy="237744"/>
          </a:xfrm>
          <a:prstGeom prst="rect">
            <a:avLst/>
          </a:prstGeom>
        </p:spPr>
      </p:pic>
      <p:sp>
        <p:nvSpPr>
          <p:cNvPr id="14" name="TextBox 13"/>
          <p:cNvSpPr txBox="1"/>
          <p:nvPr/>
        </p:nvSpPr>
        <p:spPr>
          <a:xfrm>
            <a:off x="1353312" y="3602736"/>
            <a:ext cx="5029200" cy="530352"/>
          </a:xfrm>
          <a:prstGeom prst="rect">
            <a:avLst/>
          </a:prstGeom>
          <a:noFill/>
        </p:spPr>
        <p:txBody>
          <a:bodyPr wrap="square" anchor="ctr" lIns="0" rIns="0" tIns="0" bIns="0">
            <a:spAutoFit/>
          </a:bodyPr>
          <a:lstStyle/>
          <a:p>
            <a:pPr algn="l">
              <a:lnSpc>
                <a:spcPct val="106000"/>
              </a:lnSpc>
              <a:spcBef>
                <a:spcPts val="0"/>
              </a:spcBef>
              <a:spcAft>
                <a:spcPts val="0"/>
              </a:spcAft>
            </a:pPr>
            <a:r>
              <a:rPr sz="1200" b="0">
                <a:solidFill>
                  <a:srgbClr val="1A1A1A"/>
                </a:solidFill>
                <a:latin typeface="Red Hat Text"/>
              </a:rPr>
              <a:t>Helm: a packaged chart with values</a:t>
            </a:r>
          </a:p>
        </p:txBody>
      </p:sp>
      <p:sp>
        <p:nvSpPr>
          <p:cNvPr id="15" name="Rounded Rectangle 14"/>
          <p:cNvSpPr/>
          <p:nvPr/>
        </p:nvSpPr>
        <p:spPr>
          <a:xfrm>
            <a:off x="841248" y="4206240"/>
            <a:ext cx="5715000" cy="530352"/>
          </a:xfrm>
          <a:prstGeom prst="roundRect">
            <a:avLst>
              <a:gd name="adj" fmla="val 6000"/>
            </a:avLst>
          </a:prstGeom>
          <a:solidFill>
            <a:srgbClr val="F5F6F8"/>
          </a:solidFill>
          <a:ln w="12700">
            <a:solidFill>
              <a:srgbClr val="DDE1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6" name="Picture 15" descr="check_steel.png"/>
          <p:cNvPicPr>
            <a:picLocks noChangeAspect="1"/>
          </p:cNvPicPr>
          <p:nvPr/>
        </p:nvPicPr>
        <p:blipFill>
          <a:blip r:embed="rId3"/>
          <a:stretch>
            <a:fillRect/>
          </a:stretch>
        </p:blipFill>
        <p:spPr>
          <a:xfrm>
            <a:off x="987552" y="4352544"/>
            <a:ext cx="237744" cy="237744"/>
          </a:xfrm>
          <a:prstGeom prst="rect">
            <a:avLst/>
          </a:prstGeom>
        </p:spPr>
      </p:pic>
      <p:sp>
        <p:nvSpPr>
          <p:cNvPr id="17" name="TextBox 16"/>
          <p:cNvSpPr txBox="1"/>
          <p:nvPr/>
        </p:nvSpPr>
        <p:spPr>
          <a:xfrm>
            <a:off x="1353312" y="4206240"/>
            <a:ext cx="5029200" cy="530352"/>
          </a:xfrm>
          <a:prstGeom prst="rect">
            <a:avLst/>
          </a:prstGeom>
          <a:noFill/>
        </p:spPr>
        <p:txBody>
          <a:bodyPr wrap="square" anchor="ctr" lIns="0" rIns="0" tIns="0" bIns="0">
            <a:spAutoFit/>
          </a:bodyPr>
          <a:lstStyle/>
          <a:p>
            <a:pPr algn="l">
              <a:lnSpc>
                <a:spcPct val="106000"/>
              </a:lnSpc>
              <a:spcBef>
                <a:spcPts val="0"/>
              </a:spcBef>
              <a:spcAft>
                <a:spcPts val="0"/>
              </a:spcAft>
            </a:pPr>
            <a:r>
              <a:rPr sz="1200" b="0">
                <a:solidFill>
                  <a:srgbClr val="1A1A1A"/>
                </a:solidFill>
                <a:latin typeface="Red Hat Text"/>
              </a:rPr>
              <a:t>Argo renders either; source points at either</a:t>
            </a:r>
          </a:p>
        </p:txBody>
      </p:sp>
      <p:sp>
        <p:nvSpPr>
          <p:cNvPr id="18" name="Rounded Rectangle 17"/>
          <p:cNvSpPr/>
          <p:nvPr/>
        </p:nvSpPr>
        <p:spPr>
          <a:xfrm>
            <a:off x="841248" y="4809744"/>
            <a:ext cx="5715000" cy="530352"/>
          </a:xfrm>
          <a:prstGeom prst="roundRect">
            <a:avLst>
              <a:gd name="adj" fmla="val 6000"/>
            </a:avLst>
          </a:prstGeom>
          <a:solidFill>
            <a:srgbClr val="F5F6F8"/>
          </a:solidFill>
          <a:ln w="12700">
            <a:solidFill>
              <a:srgbClr val="DDE1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9" name="Picture 18" descr="check_steel.png"/>
          <p:cNvPicPr>
            <a:picLocks noChangeAspect="1"/>
          </p:cNvPicPr>
          <p:nvPr/>
        </p:nvPicPr>
        <p:blipFill>
          <a:blip r:embed="rId3"/>
          <a:stretch>
            <a:fillRect/>
          </a:stretch>
        </p:blipFill>
        <p:spPr>
          <a:xfrm>
            <a:off x="987552" y="4956048"/>
            <a:ext cx="237744" cy="237744"/>
          </a:xfrm>
          <a:prstGeom prst="rect">
            <a:avLst/>
          </a:prstGeom>
        </p:spPr>
      </p:pic>
      <p:sp>
        <p:nvSpPr>
          <p:cNvPr id="20" name="TextBox 19"/>
          <p:cNvSpPr txBox="1"/>
          <p:nvPr/>
        </p:nvSpPr>
        <p:spPr>
          <a:xfrm>
            <a:off x="1353312" y="4809744"/>
            <a:ext cx="5029200" cy="530352"/>
          </a:xfrm>
          <a:prstGeom prst="rect">
            <a:avLst/>
          </a:prstGeom>
          <a:noFill/>
        </p:spPr>
        <p:txBody>
          <a:bodyPr wrap="square" anchor="ctr" lIns="0" rIns="0" tIns="0" bIns="0">
            <a:spAutoFit/>
          </a:bodyPr>
          <a:lstStyle/>
          <a:p>
            <a:pPr algn="l">
              <a:lnSpc>
                <a:spcPct val="106000"/>
              </a:lnSpc>
              <a:spcBef>
                <a:spcPts val="0"/>
              </a:spcBef>
              <a:spcAft>
                <a:spcPts val="0"/>
              </a:spcAft>
            </a:pPr>
            <a:r>
              <a:rPr sz="1200" b="0">
                <a:solidFill>
                  <a:srgbClr val="1A1A1A"/>
                </a:solidFill>
                <a:latin typeface="Red Hat Text"/>
              </a:rPr>
              <a:t>Same image everywhere — only config moves</a:t>
            </a:r>
          </a:p>
        </p:txBody>
      </p:sp>
      <p:sp>
        <p:nvSpPr>
          <p:cNvPr id="21" name="Rounded Rectangle 20"/>
          <p:cNvSpPr/>
          <p:nvPr/>
        </p:nvSpPr>
        <p:spPr>
          <a:xfrm>
            <a:off x="6812280" y="2395728"/>
            <a:ext cx="4538167" cy="2944368"/>
          </a:xfrm>
          <a:prstGeom prst="roundRect">
            <a:avLst>
              <a:gd name="adj" fmla="val 4000"/>
            </a:avLst>
          </a:prstGeom>
          <a:solidFill>
            <a:srgbClr val="FFFFFF"/>
          </a:solidFill>
          <a:ln w="15240">
            <a:solidFill>
              <a:srgbClr val="DDE1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ounded Rectangle 21"/>
          <p:cNvSpPr/>
          <p:nvPr/>
        </p:nvSpPr>
        <p:spPr>
          <a:xfrm>
            <a:off x="7013448" y="2596896"/>
            <a:ext cx="1298448" cy="310896"/>
          </a:xfrm>
          <a:prstGeom prst="roundRect">
            <a:avLst>
              <a:gd name="adj" fmla="val 50000"/>
            </a:avLst>
          </a:prstGeom>
          <a:solidFill>
            <a:srgbClr val="FCEC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7013448" y="2596896"/>
            <a:ext cx="1298448" cy="310896"/>
          </a:xfrm>
          <a:prstGeom prst="rect">
            <a:avLst/>
          </a:prstGeom>
          <a:noFill/>
        </p:spPr>
        <p:txBody>
          <a:bodyPr wrap="none" anchor="ctr" lIns="0" rIns="0" tIns="0" bIns="0">
            <a:spAutoFit/>
          </a:bodyPr>
          <a:lstStyle/>
          <a:p>
            <a:pPr algn="ctr">
              <a:lnSpc>
                <a:spcPct val="106000"/>
              </a:lnSpc>
              <a:spcBef>
                <a:spcPts val="0"/>
              </a:spcBef>
              <a:spcAft>
                <a:spcPts val="0"/>
              </a:spcAft>
            </a:pPr>
            <a:r>
              <a:rPr sz="850" b="1">
                <a:solidFill>
                  <a:srgbClr val="B80000"/>
                </a:solidFill>
                <a:latin typeface="Red Hat Display"/>
              </a:rPr>
              <a:t>MEDIA PASS</a:t>
            </a:r>
          </a:p>
        </p:txBody>
      </p:sp>
      <p:pic>
        <p:nvPicPr>
          <p:cNvPr id="24" name="Picture 23" descr="eye_slate.png"/>
          <p:cNvPicPr>
            <a:picLocks noChangeAspect="1"/>
          </p:cNvPicPr>
          <p:nvPr/>
        </p:nvPicPr>
        <p:blipFill>
          <a:blip r:embed="rId4"/>
          <a:stretch>
            <a:fillRect/>
          </a:stretch>
        </p:blipFill>
        <p:spPr>
          <a:xfrm>
            <a:off x="8843619" y="3108960"/>
            <a:ext cx="475488" cy="475488"/>
          </a:xfrm>
          <a:prstGeom prst="rect">
            <a:avLst/>
          </a:prstGeom>
        </p:spPr>
      </p:pic>
      <p:sp>
        <p:nvSpPr>
          <p:cNvPr id="25" name="TextBox 24"/>
          <p:cNvSpPr txBox="1"/>
          <p:nvPr/>
        </p:nvSpPr>
        <p:spPr>
          <a:xfrm>
            <a:off x="7050024" y="3721608"/>
            <a:ext cx="4062679" cy="1481328"/>
          </a:xfrm>
          <a:prstGeom prst="rect">
            <a:avLst/>
          </a:prstGeom>
          <a:noFill/>
        </p:spPr>
        <p:txBody>
          <a:bodyPr wrap="square" anchor="t" lIns="0" rIns="0" tIns="0" bIns="0">
            <a:spAutoFit/>
          </a:bodyPr>
          <a:lstStyle/>
          <a:p>
            <a:pPr algn="l">
              <a:lnSpc>
                <a:spcPct val="120000"/>
              </a:lnSpc>
              <a:spcBef>
                <a:spcPts val="0"/>
              </a:spcBef>
              <a:spcAft>
                <a:spcPts val="0"/>
              </a:spcAft>
            </a:pPr>
            <a:r>
              <a:rPr sz="950" b="0">
                <a:solidFill>
                  <a:srgbClr val="8A9099"/>
                </a:solidFill>
                <a:latin typeface="Red Hat Text"/>
              </a:rPr>
              <a:t>One base card feeding three overlay cards (dev 1 / stage 2 / prod 3 replicas), all carrying the same image tag; a small "or Helm chart + values" alternative below the base.</a:t>
            </a:r>
          </a:p>
        </p:txBody>
      </p:sp>
      <p:cxnSp>
        <p:nvCxnSpPr>
          <p:cNvPr id="26" name="Connector 25"/>
          <p:cNvCxnSpPr/>
          <p:nvPr/>
        </p:nvCxnSpPr>
        <p:spPr>
          <a:xfrm>
            <a:off x="841248" y="6437376"/>
            <a:ext cx="10509199" cy="0"/>
          </a:xfrm>
          <a:prstGeom prst="bentConnector3">
            <a:avLst/>
          </a:prstGeom>
          <a:ln w="12700">
            <a:solidFill>
              <a:srgbClr val="DDE1E6"/>
            </a:solidFill>
          </a:ln>
          <a:effectLst/>
        </p:spPr>
        <p:style>
          <a:lnRef idx="2">
            <a:schemeClr val="accent1"/>
          </a:lnRef>
          <a:fillRef idx="0">
            <a:schemeClr val="accent1"/>
          </a:fillRef>
          <a:effectRef idx="1">
            <a:schemeClr val="accent1"/>
          </a:effectRef>
          <a:fontRef idx="minor">
            <a:schemeClr val="tx1"/>
          </a:fontRef>
        </p:style>
      </p:cxnSp>
      <p:sp>
        <p:nvSpPr>
          <p:cNvPr id="27" name="TextBox 26"/>
          <p:cNvSpPr txBox="1"/>
          <p:nvPr/>
        </p:nvSpPr>
        <p:spPr>
          <a:xfrm>
            <a:off x="841248" y="6473952"/>
            <a:ext cx="7315200" cy="274320"/>
          </a:xfrm>
          <a:prstGeom prst="rect">
            <a:avLst/>
          </a:prstGeom>
          <a:noFill/>
        </p:spPr>
        <p:txBody>
          <a:bodyPr wrap="square" anchor="t" lIns="0" rIns="0" tIns="0" bIns="0">
            <a:spAutoFit/>
          </a:bodyPr>
          <a:lstStyle/>
          <a:p>
            <a:pPr algn="l">
              <a:lnSpc>
                <a:spcPct val="106000"/>
              </a:lnSpc>
              <a:spcBef>
                <a:spcPts val="0"/>
              </a:spcBef>
              <a:spcAft>
                <a:spcPts val="0"/>
              </a:spcAft>
            </a:pPr>
            <a:r>
              <a:rPr sz="950" b="0">
                <a:solidFill>
                  <a:srgbClr val="8A9099"/>
                </a:solidFill>
                <a:latin typeface="Red Hat Text"/>
              </a:rPr>
              <a:t>CONFIDENTIAL</a:t>
            </a:r>
          </a:p>
        </p:txBody>
      </p:sp>
      <p:sp>
        <p:nvSpPr>
          <p:cNvPr id="28" name="TextBox 27"/>
          <p:cNvSpPr txBox="1"/>
          <p:nvPr/>
        </p:nvSpPr>
        <p:spPr>
          <a:xfrm>
            <a:off x="10801807" y="6473952"/>
            <a:ext cx="548640" cy="274320"/>
          </a:xfrm>
          <a:prstGeom prst="rect">
            <a:avLst/>
          </a:prstGeom>
          <a:noFill/>
        </p:spPr>
        <p:txBody>
          <a:bodyPr wrap="square" anchor="t" lIns="0" rIns="0" tIns="0" bIns="0">
            <a:spAutoFit/>
          </a:bodyPr>
          <a:lstStyle/>
          <a:p>
            <a:pPr algn="r">
              <a:lnSpc>
                <a:spcPct val="106000"/>
              </a:lnSpc>
              <a:spcBef>
                <a:spcPts val="0"/>
              </a:spcBef>
              <a:spcAft>
                <a:spcPts val="0"/>
              </a:spcAft>
            </a:pPr>
            <a:r>
              <a:rPr sz="950" b="0">
                <a:solidFill>
                  <a:srgbClr val="8A9099"/>
                </a:solidFill>
                <a:latin typeface="Red Hat Text"/>
              </a:rPr>
              <a:t>72</a:t>
            </a:r>
          </a:p>
        </p:txBody>
      </p:sp>
    </p:spTree>
  </p:cSld>
  <p:clrMapOvr>
    <a:masterClrMapping/>
  </p:clrMapOvr>
</p:sld>
</file>

<file path=ppt/slides/slide8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redhat_logo.jpg"/>
          <p:cNvPicPr>
            <a:picLocks noChangeAspect="1"/>
          </p:cNvPicPr>
          <p:nvPr/>
        </p:nvPicPr>
        <p:blipFill>
          <a:blip r:embed="rId2"/>
          <a:stretch>
            <a:fillRect/>
          </a:stretch>
        </p:blipFill>
        <p:spPr>
          <a:xfrm>
            <a:off x="10326319" y="475488"/>
            <a:ext cx="1024128" cy="242248"/>
          </a:xfrm>
          <a:prstGeom prst="rect">
            <a:avLst/>
          </a:prstGeom>
        </p:spPr>
      </p:pic>
      <p:sp>
        <p:nvSpPr>
          <p:cNvPr id="3" name="TextBox 2"/>
          <p:cNvSpPr txBox="1"/>
          <p:nvPr/>
        </p:nvSpPr>
        <p:spPr>
          <a:xfrm>
            <a:off x="841248" y="548640"/>
            <a:ext cx="8595360" cy="274320"/>
          </a:xfrm>
          <a:prstGeom prst="rect">
            <a:avLst/>
          </a:prstGeom>
          <a:noFill/>
        </p:spPr>
        <p:txBody>
          <a:bodyPr wrap="square" anchor="t" lIns="0" rIns="0" tIns="0" bIns="0">
            <a:spAutoFit/>
          </a:bodyPr>
          <a:lstStyle/>
          <a:p>
            <a:pPr algn="l">
              <a:lnSpc>
                <a:spcPct val="106000"/>
              </a:lnSpc>
              <a:spcBef>
                <a:spcPts val="0"/>
              </a:spcBef>
              <a:spcAft>
                <a:spcPts val="0"/>
              </a:spcAft>
            </a:pPr>
            <a:r>
              <a:rPr sz="1250" b="1" spc="220">
                <a:solidFill>
                  <a:srgbClr val="EE0000"/>
                </a:solidFill>
                <a:latin typeface="Red Hat Display"/>
              </a:rPr>
              <a:t>M10 · GITOPS FUNDAMENTALS</a:t>
            </a:r>
          </a:p>
        </p:txBody>
      </p:sp>
      <p:sp>
        <p:nvSpPr>
          <p:cNvPr id="4" name="TextBox 3"/>
          <p:cNvSpPr txBox="1"/>
          <p:nvPr/>
        </p:nvSpPr>
        <p:spPr>
          <a:xfrm>
            <a:off x="841248" y="877824"/>
            <a:ext cx="10515600" cy="548640"/>
          </a:xfrm>
          <a:prstGeom prst="rect">
            <a:avLst/>
          </a:prstGeom>
          <a:noFill/>
        </p:spPr>
        <p:txBody>
          <a:bodyPr wrap="none" anchor="t" lIns="0" rIns="0" tIns="0" bIns="0">
            <a:spAutoFit/>
          </a:bodyPr>
          <a:lstStyle/>
          <a:p>
            <a:pPr algn="l">
              <a:lnSpc>
                <a:spcPct val="100000"/>
              </a:lnSpc>
              <a:spcBef>
                <a:spcPts val="0"/>
              </a:spcBef>
              <a:spcAft>
                <a:spcPts val="0"/>
              </a:spcAft>
            </a:pPr>
            <a:r>
              <a:rPr sz="2500" b="1">
                <a:solidFill>
                  <a:srgbClr val="1A1A1A"/>
                </a:solidFill>
                <a:latin typeface="Red Hat Display"/>
              </a:rPr>
              <a:t>What you'll do</a:t>
            </a:r>
          </a:p>
        </p:txBody>
      </p:sp>
      <p:cxnSp>
        <p:nvCxnSpPr>
          <p:cNvPr id="5" name="Connector 4"/>
          <p:cNvCxnSpPr/>
          <p:nvPr/>
        </p:nvCxnSpPr>
        <p:spPr>
          <a:xfrm>
            <a:off x="841248" y="1554480"/>
            <a:ext cx="1371600" cy="0"/>
          </a:xfrm>
          <a:prstGeom prst="bentConnector3">
            <a:avLst/>
          </a:prstGeom>
          <a:ln w="31750">
            <a:solidFill>
              <a:srgbClr val="EE0000"/>
            </a:solidFill>
          </a:ln>
          <a:effectLst/>
        </p:spPr>
        <p:style>
          <a:lnRef idx="2">
            <a:schemeClr val="accent1"/>
          </a:lnRef>
          <a:fillRef idx="0">
            <a:schemeClr val="accent1"/>
          </a:fillRef>
          <a:effectRef idx="1">
            <a:schemeClr val="accent1"/>
          </a:effectRef>
          <a:fontRef idx="minor">
            <a:schemeClr val="tx1"/>
          </a:fontRef>
        </p:style>
      </p:cxnSp>
      <p:sp>
        <p:nvSpPr>
          <p:cNvPr id="6" name="Rounded Rectangle 5"/>
          <p:cNvSpPr/>
          <p:nvPr/>
        </p:nvSpPr>
        <p:spPr>
          <a:xfrm>
            <a:off x="841248" y="2395728"/>
            <a:ext cx="5715000" cy="530352"/>
          </a:xfrm>
          <a:prstGeom prst="roundRect">
            <a:avLst>
              <a:gd name="adj" fmla="val 6000"/>
            </a:avLst>
          </a:prstGeom>
          <a:solidFill>
            <a:srgbClr val="F5F6F8"/>
          </a:solidFill>
          <a:ln w="12700">
            <a:solidFill>
              <a:srgbClr val="DDE1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check_steel.png"/>
          <p:cNvPicPr>
            <a:picLocks noChangeAspect="1"/>
          </p:cNvPicPr>
          <p:nvPr/>
        </p:nvPicPr>
        <p:blipFill>
          <a:blip r:embed="rId3"/>
          <a:stretch>
            <a:fillRect/>
          </a:stretch>
        </p:blipFill>
        <p:spPr>
          <a:xfrm>
            <a:off x="987552" y="2542032"/>
            <a:ext cx="237744" cy="237744"/>
          </a:xfrm>
          <a:prstGeom prst="rect">
            <a:avLst/>
          </a:prstGeom>
        </p:spPr>
      </p:pic>
      <p:sp>
        <p:nvSpPr>
          <p:cNvPr id="8" name="TextBox 7"/>
          <p:cNvSpPr txBox="1"/>
          <p:nvPr/>
        </p:nvSpPr>
        <p:spPr>
          <a:xfrm>
            <a:off x="1353312" y="2395728"/>
            <a:ext cx="5029200" cy="530352"/>
          </a:xfrm>
          <a:prstGeom prst="rect">
            <a:avLst/>
          </a:prstGeom>
          <a:noFill/>
        </p:spPr>
        <p:txBody>
          <a:bodyPr wrap="square" anchor="ctr" lIns="0" rIns="0" tIns="0" bIns="0">
            <a:spAutoFit/>
          </a:bodyPr>
          <a:lstStyle/>
          <a:p>
            <a:pPr algn="l">
              <a:lnSpc>
                <a:spcPct val="106000"/>
              </a:lnSpc>
              <a:spcBef>
                <a:spcPts val="0"/>
              </a:spcBef>
              <a:spcAft>
                <a:spcPts val="0"/>
              </a:spcAft>
            </a:pPr>
            <a:r>
              <a:rPr sz="1200" b="0">
                <a:solidFill>
                  <a:srgbClr val="1A1A1A"/>
                </a:solidFill>
                <a:latin typeface="Red Hat Text"/>
              </a:rPr>
              <a:t>Tour the fork; render the desired state</a:t>
            </a:r>
          </a:p>
        </p:txBody>
      </p:sp>
      <p:sp>
        <p:nvSpPr>
          <p:cNvPr id="9" name="Rounded Rectangle 8"/>
          <p:cNvSpPr/>
          <p:nvPr/>
        </p:nvSpPr>
        <p:spPr>
          <a:xfrm>
            <a:off x="841248" y="2999232"/>
            <a:ext cx="5715000" cy="530352"/>
          </a:xfrm>
          <a:prstGeom prst="roundRect">
            <a:avLst>
              <a:gd name="adj" fmla="val 6000"/>
            </a:avLst>
          </a:prstGeom>
          <a:solidFill>
            <a:srgbClr val="F5F6F8"/>
          </a:solidFill>
          <a:ln w="12700">
            <a:solidFill>
              <a:srgbClr val="DDE1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0" name="Picture 9" descr="check_steel.png"/>
          <p:cNvPicPr>
            <a:picLocks noChangeAspect="1"/>
          </p:cNvPicPr>
          <p:nvPr/>
        </p:nvPicPr>
        <p:blipFill>
          <a:blip r:embed="rId3"/>
          <a:stretch>
            <a:fillRect/>
          </a:stretch>
        </p:blipFill>
        <p:spPr>
          <a:xfrm>
            <a:off x="987552" y="3145536"/>
            <a:ext cx="237744" cy="237744"/>
          </a:xfrm>
          <a:prstGeom prst="rect">
            <a:avLst/>
          </a:prstGeom>
        </p:spPr>
      </p:pic>
      <p:sp>
        <p:nvSpPr>
          <p:cNvPr id="11" name="TextBox 10"/>
          <p:cNvSpPr txBox="1"/>
          <p:nvPr/>
        </p:nvSpPr>
        <p:spPr>
          <a:xfrm>
            <a:off x="1353312" y="2999232"/>
            <a:ext cx="5029200" cy="530352"/>
          </a:xfrm>
          <a:prstGeom prst="rect">
            <a:avLst/>
          </a:prstGeom>
          <a:noFill/>
        </p:spPr>
        <p:txBody>
          <a:bodyPr wrap="square" anchor="ctr" lIns="0" rIns="0" tIns="0" bIns="0">
            <a:spAutoFit/>
          </a:bodyPr>
          <a:lstStyle/>
          <a:p>
            <a:pPr algn="l">
              <a:lnSpc>
                <a:spcPct val="106000"/>
              </a:lnSpc>
              <a:spcBef>
                <a:spcPts val="0"/>
              </a:spcBef>
              <a:spcAft>
                <a:spcPts val="0"/>
              </a:spcAft>
            </a:pPr>
            <a:r>
              <a:rPr sz="1200" b="0">
                <a:solidFill>
                  <a:srgbClr val="1A1A1A"/>
                </a:solidFill>
                <a:latin typeface="Red Hat Text"/>
              </a:rPr>
              <a:t>Create an Application in the Argo CD UI; sync it</a:t>
            </a:r>
          </a:p>
        </p:txBody>
      </p:sp>
      <p:sp>
        <p:nvSpPr>
          <p:cNvPr id="12" name="Rounded Rectangle 11"/>
          <p:cNvSpPr/>
          <p:nvPr/>
        </p:nvSpPr>
        <p:spPr>
          <a:xfrm>
            <a:off x="841248" y="3602736"/>
            <a:ext cx="5715000" cy="530352"/>
          </a:xfrm>
          <a:prstGeom prst="roundRect">
            <a:avLst>
              <a:gd name="adj" fmla="val 6000"/>
            </a:avLst>
          </a:prstGeom>
          <a:solidFill>
            <a:srgbClr val="F5F6F8"/>
          </a:solidFill>
          <a:ln w="12700">
            <a:solidFill>
              <a:srgbClr val="DDE1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3" name="Picture 12" descr="check_steel.png"/>
          <p:cNvPicPr>
            <a:picLocks noChangeAspect="1"/>
          </p:cNvPicPr>
          <p:nvPr/>
        </p:nvPicPr>
        <p:blipFill>
          <a:blip r:embed="rId3"/>
          <a:stretch>
            <a:fillRect/>
          </a:stretch>
        </p:blipFill>
        <p:spPr>
          <a:xfrm>
            <a:off x="987552" y="3749040"/>
            <a:ext cx="237744" cy="237744"/>
          </a:xfrm>
          <a:prstGeom prst="rect">
            <a:avLst/>
          </a:prstGeom>
        </p:spPr>
      </p:pic>
      <p:sp>
        <p:nvSpPr>
          <p:cNvPr id="14" name="TextBox 13"/>
          <p:cNvSpPr txBox="1"/>
          <p:nvPr/>
        </p:nvSpPr>
        <p:spPr>
          <a:xfrm>
            <a:off x="1353312" y="3602736"/>
            <a:ext cx="5029200" cy="530352"/>
          </a:xfrm>
          <a:prstGeom prst="rect">
            <a:avLst/>
          </a:prstGeom>
          <a:noFill/>
        </p:spPr>
        <p:txBody>
          <a:bodyPr wrap="square" anchor="ctr" lIns="0" rIns="0" tIns="0" bIns="0">
            <a:spAutoFit/>
          </a:bodyPr>
          <a:lstStyle/>
          <a:p>
            <a:pPr algn="l">
              <a:lnSpc>
                <a:spcPct val="106000"/>
              </a:lnSpc>
              <a:spcBef>
                <a:spcPts val="0"/>
              </a:spcBef>
              <a:spcAft>
                <a:spcPts val="0"/>
              </a:spcAft>
            </a:pPr>
            <a:r>
              <a:rPr sz="1200" b="0">
                <a:solidFill>
                  <a:srgbClr val="1A1A1A"/>
                </a:solidFill>
                <a:latin typeface="Red Hat Text"/>
              </a:rPr>
              <a:t>Drift the live app; watch Git win (Sync, then self-heal)</a:t>
            </a:r>
          </a:p>
        </p:txBody>
      </p:sp>
      <p:sp>
        <p:nvSpPr>
          <p:cNvPr id="15" name="Rounded Rectangle 14"/>
          <p:cNvSpPr/>
          <p:nvPr/>
        </p:nvSpPr>
        <p:spPr>
          <a:xfrm>
            <a:off x="841248" y="4206240"/>
            <a:ext cx="5715000" cy="530352"/>
          </a:xfrm>
          <a:prstGeom prst="roundRect">
            <a:avLst>
              <a:gd name="adj" fmla="val 6000"/>
            </a:avLst>
          </a:prstGeom>
          <a:solidFill>
            <a:srgbClr val="F5F6F8"/>
          </a:solidFill>
          <a:ln w="12700">
            <a:solidFill>
              <a:srgbClr val="DDE1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6" name="Picture 15" descr="check_steel.png"/>
          <p:cNvPicPr>
            <a:picLocks noChangeAspect="1"/>
          </p:cNvPicPr>
          <p:nvPr/>
        </p:nvPicPr>
        <p:blipFill>
          <a:blip r:embed="rId3"/>
          <a:stretch>
            <a:fillRect/>
          </a:stretch>
        </p:blipFill>
        <p:spPr>
          <a:xfrm>
            <a:off x="987552" y="4352544"/>
            <a:ext cx="237744" cy="237744"/>
          </a:xfrm>
          <a:prstGeom prst="rect">
            <a:avLst/>
          </a:prstGeom>
        </p:spPr>
      </p:pic>
      <p:sp>
        <p:nvSpPr>
          <p:cNvPr id="17" name="TextBox 16"/>
          <p:cNvSpPr txBox="1"/>
          <p:nvPr/>
        </p:nvSpPr>
        <p:spPr>
          <a:xfrm>
            <a:off x="1353312" y="4206240"/>
            <a:ext cx="5029200" cy="530352"/>
          </a:xfrm>
          <a:prstGeom prst="rect">
            <a:avLst/>
          </a:prstGeom>
          <a:noFill/>
        </p:spPr>
        <p:txBody>
          <a:bodyPr wrap="square" anchor="ctr" lIns="0" rIns="0" tIns="0" bIns="0">
            <a:spAutoFit/>
          </a:bodyPr>
          <a:lstStyle/>
          <a:p>
            <a:pPr algn="l">
              <a:lnSpc>
                <a:spcPct val="106000"/>
              </a:lnSpc>
              <a:spcBef>
                <a:spcPts val="0"/>
              </a:spcBef>
              <a:spcAft>
                <a:spcPts val="0"/>
              </a:spcAft>
            </a:pPr>
            <a:r>
              <a:rPr sz="1200" b="0">
                <a:solidFill>
                  <a:srgbClr val="1A1A1A"/>
                </a:solidFill>
                <a:latin typeface="Red Hat Text"/>
              </a:rPr>
              <a:t>Edit Git → the change arrives in stage</a:t>
            </a:r>
          </a:p>
        </p:txBody>
      </p:sp>
      <p:sp>
        <p:nvSpPr>
          <p:cNvPr id="18" name="Rounded Rectangle 17"/>
          <p:cNvSpPr/>
          <p:nvPr/>
        </p:nvSpPr>
        <p:spPr>
          <a:xfrm>
            <a:off x="841248" y="4809744"/>
            <a:ext cx="5715000" cy="530352"/>
          </a:xfrm>
          <a:prstGeom prst="roundRect">
            <a:avLst>
              <a:gd name="adj" fmla="val 6000"/>
            </a:avLst>
          </a:prstGeom>
          <a:solidFill>
            <a:srgbClr val="F5F6F8"/>
          </a:solidFill>
          <a:ln w="12700">
            <a:solidFill>
              <a:srgbClr val="DDE1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9" name="Picture 18" descr="check_steel.png"/>
          <p:cNvPicPr>
            <a:picLocks noChangeAspect="1"/>
          </p:cNvPicPr>
          <p:nvPr/>
        </p:nvPicPr>
        <p:blipFill>
          <a:blip r:embed="rId3"/>
          <a:stretch>
            <a:fillRect/>
          </a:stretch>
        </p:blipFill>
        <p:spPr>
          <a:xfrm>
            <a:off x="987552" y="4956048"/>
            <a:ext cx="237744" cy="237744"/>
          </a:xfrm>
          <a:prstGeom prst="rect">
            <a:avLst/>
          </a:prstGeom>
        </p:spPr>
      </p:pic>
      <p:sp>
        <p:nvSpPr>
          <p:cNvPr id="20" name="TextBox 19"/>
          <p:cNvSpPr txBox="1"/>
          <p:nvPr/>
        </p:nvSpPr>
        <p:spPr>
          <a:xfrm>
            <a:off x="1353312" y="4809744"/>
            <a:ext cx="5029200" cy="530352"/>
          </a:xfrm>
          <a:prstGeom prst="rect">
            <a:avLst/>
          </a:prstGeom>
          <a:noFill/>
        </p:spPr>
        <p:txBody>
          <a:bodyPr wrap="square" anchor="ctr" lIns="0" rIns="0" tIns="0" bIns="0">
            <a:spAutoFit/>
          </a:bodyPr>
          <a:lstStyle/>
          <a:p>
            <a:pPr algn="l">
              <a:lnSpc>
                <a:spcPct val="106000"/>
              </a:lnSpc>
              <a:spcBef>
                <a:spcPts val="0"/>
              </a:spcBef>
              <a:spcAft>
                <a:spcPts val="0"/>
              </a:spcAft>
            </a:pPr>
            <a:r>
              <a:rPr sz="1200" b="0">
                <a:solidFill>
                  <a:srgbClr val="1A1A1A"/>
                </a:solidFill>
                <a:latin typeface="Red Hat Text"/>
              </a:rPr>
              <a:t>All in your own dev and stage namespaces</a:t>
            </a:r>
          </a:p>
        </p:txBody>
      </p:sp>
      <p:sp>
        <p:nvSpPr>
          <p:cNvPr id="21" name="Rounded Rectangle 20"/>
          <p:cNvSpPr/>
          <p:nvPr/>
        </p:nvSpPr>
        <p:spPr>
          <a:xfrm>
            <a:off x="6812280" y="2395728"/>
            <a:ext cx="4538167" cy="2944368"/>
          </a:xfrm>
          <a:prstGeom prst="roundRect">
            <a:avLst>
              <a:gd name="adj" fmla="val 4000"/>
            </a:avLst>
          </a:prstGeom>
          <a:solidFill>
            <a:srgbClr val="FFFFFF"/>
          </a:solidFill>
          <a:ln w="15240">
            <a:solidFill>
              <a:srgbClr val="DDE1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ounded Rectangle 21"/>
          <p:cNvSpPr/>
          <p:nvPr/>
        </p:nvSpPr>
        <p:spPr>
          <a:xfrm>
            <a:off x="7013448" y="2596896"/>
            <a:ext cx="1298448" cy="310896"/>
          </a:xfrm>
          <a:prstGeom prst="roundRect">
            <a:avLst>
              <a:gd name="adj" fmla="val 50000"/>
            </a:avLst>
          </a:prstGeom>
          <a:solidFill>
            <a:srgbClr val="FCEC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7013448" y="2596896"/>
            <a:ext cx="1298448" cy="310896"/>
          </a:xfrm>
          <a:prstGeom prst="rect">
            <a:avLst/>
          </a:prstGeom>
          <a:noFill/>
        </p:spPr>
        <p:txBody>
          <a:bodyPr wrap="none" anchor="ctr" lIns="0" rIns="0" tIns="0" bIns="0">
            <a:spAutoFit/>
          </a:bodyPr>
          <a:lstStyle/>
          <a:p>
            <a:pPr algn="ctr">
              <a:lnSpc>
                <a:spcPct val="106000"/>
              </a:lnSpc>
              <a:spcBef>
                <a:spcPts val="0"/>
              </a:spcBef>
              <a:spcAft>
                <a:spcPts val="0"/>
              </a:spcAft>
            </a:pPr>
            <a:r>
              <a:rPr sz="850" b="1">
                <a:solidFill>
                  <a:srgbClr val="B80000"/>
                </a:solidFill>
                <a:latin typeface="Red Hat Display"/>
              </a:rPr>
              <a:t>MEDIA PASS</a:t>
            </a:r>
          </a:p>
        </p:txBody>
      </p:sp>
      <p:pic>
        <p:nvPicPr>
          <p:cNvPr id="24" name="Picture 23" descr="eye_slate.png"/>
          <p:cNvPicPr>
            <a:picLocks noChangeAspect="1"/>
          </p:cNvPicPr>
          <p:nvPr/>
        </p:nvPicPr>
        <p:blipFill>
          <a:blip r:embed="rId4"/>
          <a:stretch>
            <a:fillRect/>
          </a:stretch>
        </p:blipFill>
        <p:spPr>
          <a:xfrm>
            <a:off x="8843619" y="3108960"/>
            <a:ext cx="475488" cy="475488"/>
          </a:xfrm>
          <a:prstGeom prst="rect">
            <a:avLst/>
          </a:prstGeom>
        </p:spPr>
      </p:pic>
      <p:sp>
        <p:nvSpPr>
          <p:cNvPr id="25" name="TextBox 24"/>
          <p:cNvSpPr txBox="1"/>
          <p:nvPr/>
        </p:nvSpPr>
        <p:spPr>
          <a:xfrm>
            <a:off x="7050024" y="3721608"/>
            <a:ext cx="4062679" cy="1481328"/>
          </a:xfrm>
          <a:prstGeom prst="rect">
            <a:avLst/>
          </a:prstGeom>
          <a:noFill/>
        </p:spPr>
        <p:txBody>
          <a:bodyPr wrap="square" anchor="t" lIns="0" rIns="0" tIns="0" bIns="0">
            <a:spAutoFit/>
          </a:bodyPr>
          <a:lstStyle/>
          <a:p>
            <a:pPr algn="l">
              <a:lnSpc>
                <a:spcPct val="120000"/>
              </a:lnSpc>
              <a:spcBef>
                <a:spcPts val="0"/>
              </a:spcBef>
              <a:spcAft>
                <a:spcPts val="0"/>
              </a:spcAft>
            </a:pPr>
            <a:r>
              <a:rPr sz="950" b="0">
                <a:solidFill>
                  <a:srgbClr val="8A9099"/>
                </a:solidFill>
                <a:latin typeface="Red Hat Text"/>
              </a:rPr>
              <a:t>Numbered arc strip: tour repo → create + sync app → drift + revert → git-driven change to stage.</a:t>
            </a:r>
          </a:p>
        </p:txBody>
      </p:sp>
      <p:cxnSp>
        <p:nvCxnSpPr>
          <p:cNvPr id="26" name="Connector 25"/>
          <p:cNvCxnSpPr/>
          <p:nvPr/>
        </p:nvCxnSpPr>
        <p:spPr>
          <a:xfrm>
            <a:off x="841248" y="6437376"/>
            <a:ext cx="10509199" cy="0"/>
          </a:xfrm>
          <a:prstGeom prst="bentConnector3">
            <a:avLst/>
          </a:prstGeom>
          <a:ln w="12700">
            <a:solidFill>
              <a:srgbClr val="DDE1E6"/>
            </a:solidFill>
          </a:ln>
          <a:effectLst/>
        </p:spPr>
        <p:style>
          <a:lnRef idx="2">
            <a:schemeClr val="accent1"/>
          </a:lnRef>
          <a:fillRef idx="0">
            <a:schemeClr val="accent1"/>
          </a:fillRef>
          <a:effectRef idx="1">
            <a:schemeClr val="accent1"/>
          </a:effectRef>
          <a:fontRef idx="minor">
            <a:schemeClr val="tx1"/>
          </a:fontRef>
        </p:style>
      </p:cxnSp>
      <p:sp>
        <p:nvSpPr>
          <p:cNvPr id="27" name="TextBox 26"/>
          <p:cNvSpPr txBox="1"/>
          <p:nvPr/>
        </p:nvSpPr>
        <p:spPr>
          <a:xfrm>
            <a:off x="841248" y="6473952"/>
            <a:ext cx="7315200" cy="274320"/>
          </a:xfrm>
          <a:prstGeom prst="rect">
            <a:avLst/>
          </a:prstGeom>
          <a:noFill/>
        </p:spPr>
        <p:txBody>
          <a:bodyPr wrap="square" anchor="t" lIns="0" rIns="0" tIns="0" bIns="0">
            <a:spAutoFit/>
          </a:bodyPr>
          <a:lstStyle/>
          <a:p>
            <a:pPr algn="l">
              <a:lnSpc>
                <a:spcPct val="106000"/>
              </a:lnSpc>
              <a:spcBef>
                <a:spcPts val="0"/>
              </a:spcBef>
              <a:spcAft>
                <a:spcPts val="0"/>
              </a:spcAft>
            </a:pPr>
            <a:r>
              <a:rPr sz="950" b="0">
                <a:solidFill>
                  <a:srgbClr val="8A9099"/>
                </a:solidFill>
                <a:latin typeface="Red Hat Text"/>
              </a:rPr>
              <a:t>CONFIDENTIAL</a:t>
            </a:r>
          </a:p>
        </p:txBody>
      </p:sp>
      <p:sp>
        <p:nvSpPr>
          <p:cNvPr id="28" name="TextBox 27"/>
          <p:cNvSpPr txBox="1"/>
          <p:nvPr/>
        </p:nvSpPr>
        <p:spPr>
          <a:xfrm>
            <a:off x="10801807" y="6473952"/>
            <a:ext cx="548640" cy="274320"/>
          </a:xfrm>
          <a:prstGeom prst="rect">
            <a:avLst/>
          </a:prstGeom>
          <a:noFill/>
        </p:spPr>
        <p:txBody>
          <a:bodyPr wrap="square" anchor="t" lIns="0" rIns="0" tIns="0" bIns="0">
            <a:spAutoFit/>
          </a:bodyPr>
          <a:lstStyle/>
          <a:p>
            <a:pPr algn="r">
              <a:lnSpc>
                <a:spcPct val="106000"/>
              </a:lnSpc>
              <a:spcBef>
                <a:spcPts val="0"/>
              </a:spcBef>
              <a:spcAft>
                <a:spcPts val="0"/>
              </a:spcAft>
            </a:pPr>
            <a:r>
              <a:rPr sz="950" b="0">
                <a:solidFill>
                  <a:srgbClr val="8A9099"/>
                </a:solidFill>
                <a:latin typeface="Red Hat Text"/>
              </a:rPr>
              <a:t>73</a:t>
            </a:r>
          </a:p>
        </p:txBody>
      </p:sp>
    </p:spTree>
  </p:cSld>
  <p:clrMapOvr>
    <a:masterClrMapping/>
  </p:clrMapOvr>
</p:sld>
</file>

<file path=ppt/slides/slide8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redhat_logo.jpg"/>
          <p:cNvPicPr>
            <a:picLocks noChangeAspect="1"/>
          </p:cNvPicPr>
          <p:nvPr/>
        </p:nvPicPr>
        <p:blipFill>
          <a:blip r:embed="rId2"/>
          <a:stretch>
            <a:fillRect/>
          </a:stretch>
        </p:blipFill>
        <p:spPr>
          <a:xfrm>
            <a:off x="10326319" y="475488"/>
            <a:ext cx="1024128" cy="242248"/>
          </a:xfrm>
          <a:prstGeom prst="rect">
            <a:avLst/>
          </a:prstGeom>
        </p:spPr>
      </p:pic>
      <p:sp>
        <p:nvSpPr>
          <p:cNvPr id="3" name="TextBox 2"/>
          <p:cNvSpPr txBox="1"/>
          <p:nvPr/>
        </p:nvSpPr>
        <p:spPr>
          <a:xfrm>
            <a:off x="841248" y="548640"/>
            <a:ext cx="8595360" cy="274320"/>
          </a:xfrm>
          <a:prstGeom prst="rect">
            <a:avLst/>
          </a:prstGeom>
          <a:noFill/>
        </p:spPr>
        <p:txBody>
          <a:bodyPr wrap="square" anchor="t" lIns="0" rIns="0" tIns="0" bIns="0">
            <a:spAutoFit/>
          </a:bodyPr>
          <a:lstStyle/>
          <a:p>
            <a:pPr algn="l">
              <a:lnSpc>
                <a:spcPct val="106000"/>
              </a:lnSpc>
              <a:spcBef>
                <a:spcPts val="0"/>
              </a:spcBef>
              <a:spcAft>
                <a:spcPts val="0"/>
              </a:spcAft>
            </a:pPr>
            <a:r>
              <a:rPr sz="1250" b="1" spc="220">
                <a:solidFill>
                  <a:srgbClr val="EE0000"/>
                </a:solidFill>
                <a:latin typeface="Red Hat Display"/>
              </a:rPr>
              <a:t>M10 · GITOPS FUNDAMENTALS</a:t>
            </a:r>
          </a:p>
        </p:txBody>
      </p:sp>
      <p:sp>
        <p:nvSpPr>
          <p:cNvPr id="4" name="TextBox 3"/>
          <p:cNvSpPr txBox="1"/>
          <p:nvPr/>
        </p:nvSpPr>
        <p:spPr>
          <a:xfrm>
            <a:off x="841248" y="877824"/>
            <a:ext cx="10515600" cy="548640"/>
          </a:xfrm>
          <a:prstGeom prst="rect">
            <a:avLst/>
          </a:prstGeom>
          <a:noFill/>
        </p:spPr>
        <p:txBody>
          <a:bodyPr wrap="none" anchor="t" lIns="0" rIns="0" tIns="0" bIns="0">
            <a:spAutoFit/>
          </a:bodyPr>
          <a:lstStyle/>
          <a:p>
            <a:pPr algn="l">
              <a:lnSpc>
                <a:spcPct val="100000"/>
              </a:lnSpc>
              <a:spcBef>
                <a:spcPts val="0"/>
              </a:spcBef>
              <a:spcAft>
                <a:spcPts val="0"/>
              </a:spcAft>
            </a:pPr>
            <a:r>
              <a:rPr sz="2500" b="1">
                <a:solidFill>
                  <a:srgbClr val="1A1A1A"/>
                </a:solidFill>
                <a:latin typeface="Red Hat Display"/>
              </a:rPr>
              <a:t>Map to your org — and when not</a:t>
            </a:r>
          </a:p>
        </p:txBody>
      </p:sp>
      <p:cxnSp>
        <p:nvCxnSpPr>
          <p:cNvPr id="5" name="Connector 4"/>
          <p:cNvCxnSpPr/>
          <p:nvPr/>
        </p:nvCxnSpPr>
        <p:spPr>
          <a:xfrm>
            <a:off x="841248" y="1554480"/>
            <a:ext cx="1371600" cy="0"/>
          </a:xfrm>
          <a:prstGeom prst="bentConnector3">
            <a:avLst/>
          </a:prstGeom>
          <a:ln w="31750">
            <a:solidFill>
              <a:srgbClr val="EE0000"/>
            </a:solidFill>
          </a:ln>
          <a:effectLst/>
        </p:spPr>
        <p:style>
          <a:lnRef idx="2">
            <a:schemeClr val="accent1"/>
          </a:lnRef>
          <a:fillRef idx="0">
            <a:schemeClr val="accent1"/>
          </a:fillRef>
          <a:effectRef idx="1">
            <a:schemeClr val="accent1"/>
          </a:effectRef>
          <a:fontRef idx="minor">
            <a:schemeClr val="tx1"/>
          </a:fontRef>
        </p:style>
      </p:cxnSp>
      <p:sp>
        <p:nvSpPr>
          <p:cNvPr id="6" name="Rounded Rectangle 5"/>
          <p:cNvSpPr/>
          <p:nvPr/>
        </p:nvSpPr>
        <p:spPr>
          <a:xfrm>
            <a:off x="841248" y="2395728"/>
            <a:ext cx="5715000" cy="530352"/>
          </a:xfrm>
          <a:prstGeom prst="roundRect">
            <a:avLst>
              <a:gd name="adj" fmla="val 6000"/>
            </a:avLst>
          </a:prstGeom>
          <a:solidFill>
            <a:srgbClr val="F5F6F8"/>
          </a:solidFill>
          <a:ln w="12700">
            <a:solidFill>
              <a:srgbClr val="DDE1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check_steel.png"/>
          <p:cNvPicPr>
            <a:picLocks noChangeAspect="1"/>
          </p:cNvPicPr>
          <p:nvPr/>
        </p:nvPicPr>
        <p:blipFill>
          <a:blip r:embed="rId3"/>
          <a:stretch>
            <a:fillRect/>
          </a:stretch>
        </p:blipFill>
        <p:spPr>
          <a:xfrm>
            <a:off x="987552" y="2542032"/>
            <a:ext cx="237744" cy="237744"/>
          </a:xfrm>
          <a:prstGeom prst="rect">
            <a:avLst/>
          </a:prstGeom>
        </p:spPr>
      </p:pic>
      <p:sp>
        <p:nvSpPr>
          <p:cNvPr id="8" name="TextBox 7"/>
          <p:cNvSpPr txBox="1"/>
          <p:nvPr/>
        </p:nvSpPr>
        <p:spPr>
          <a:xfrm>
            <a:off x="1353312" y="2395728"/>
            <a:ext cx="5029200" cy="530352"/>
          </a:xfrm>
          <a:prstGeom prst="rect">
            <a:avLst/>
          </a:prstGeom>
          <a:noFill/>
        </p:spPr>
        <p:txBody>
          <a:bodyPr wrap="square" anchor="ctr" lIns="0" rIns="0" tIns="0" bIns="0">
            <a:spAutoFit/>
          </a:bodyPr>
          <a:lstStyle/>
          <a:p>
            <a:pPr algn="l">
              <a:lnSpc>
                <a:spcPct val="106000"/>
              </a:lnSpc>
              <a:spcBef>
                <a:spcPts val="0"/>
              </a:spcBef>
              <a:spcAft>
                <a:spcPts val="0"/>
              </a:spcAft>
            </a:pPr>
            <a:r>
              <a:rPr sz="1200" b="0">
                <a:solidFill>
                  <a:srgbClr val="1A1A1A"/>
                </a:solidFill>
                <a:latin typeface="Red Hat Text"/>
              </a:rPr>
              <a:t>Is your true state a Git commit, or the cluster?</a:t>
            </a:r>
          </a:p>
        </p:txBody>
      </p:sp>
      <p:sp>
        <p:nvSpPr>
          <p:cNvPr id="9" name="Rounded Rectangle 8"/>
          <p:cNvSpPr/>
          <p:nvPr/>
        </p:nvSpPr>
        <p:spPr>
          <a:xfrm>
            <a:off x="841248" y="2999232"/>
            <a:ext cx="5715000" cy="530352"/>
          </a:xfrm>
          <a:prstGeom prst="roundRect">
            <a:avLst>
              <a:gd name="adj" fmla="val 6000"/>
            </a:avLst>
          </a:prstGeom>
          <a:solidFill>
            <a:srgbClr val="F5F6F8"/>
          </a:solidFill>
          <a:ln w="12700">
            <a:solidFill>
              <a:srgbClr val="DDE1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0" name="Picture 9" descr="check_steel.png"/>
          <p:cNvPicPr>
            <a:picLocks noChangeAspect="1"/>
          </p:cNvPicPr>
          <p:nvPr/>
        </p:nvPicPr>
        <p:blipFill>
          <a:blip r:embed="rId3"/>
          <a:stretch>
            <a:fillRect/>
          </a:stretch>
        </p:blipFill>
        <p:spPr>
          <a:xfrm>
            <a:off x="987552" y="3145536"/>
            <a:ext cx="237744" cy="237744"/>
          </a:xfrm>
          <a:prstGeom prst="rect">
            <a:avLst/>
          </a:prstGeom>
        </p:spPr>
      </p:pic>
      <p:sp>
        <p:nvSpPr>
          <p:cNvPr id="11" name="TextBox 10"/>
          <p:cNvSpPr txBox="1"/>
          <p:nvPr/>
        </p:nvSpPr>
        <p:spPr>
          <a:xfrm>
            <a:off x="1353312" y="2999232"/>
            <a:ext cx="5029200" cy="530352"/>
          </a:xfrm>
          <a:prstGeom prst="rect">
            <a:avLst/>
          </a:prstGeom>
          <a:noFill/>
        </p:spPr>
        <p:txBody>
          <a:bodyPr wrap="square" anchor="ctr" lIns="0" rIns="0" tIns="0" bIns="0">
            <a:spAutoFit/>
          </a:bodyPr>
          <a:lstStyle/>
          <a:p>
            <a:pPr algn="l">
              <a:lnSpc>
                <a:spcPct val="106000"/>
              </a:lnSpc>
              <a:spcBef>
                <a:spcPts val="0"/>
              </a:spcBef>
              <a:spcAft>
                <a:spcPts val="0"/>
              </a:spcAft>
            </a:pPr>
            <a:r>
              <a:rPr sz="1200" b="0">
                <a:solidFill>
                  <a:srgbClr val="1A1A1A"/>
                </a:solidFill>
                <a:latin typeface="Red Hat Text"/>
              </a:rPr>
              <a:t>Your last "someone changed something and forgot"?</a:t>
            </a:r>
          </a:p>
        </p:txBody>
      </p:sp>
      <p:sp>
        <p:nvSpPr>
          <p:cNvPr id="12" name="Rounded Rectangle 11"/>
          <p:cNvSpPr/>
          <p:nvPr/>
        </p:nvSpPr>
        <p:spPr>
          <a:xfrm>
            <a:off x="841248" y="3602736"/>
            <a:ext cx="5715000" cy="530352"/>
          </a:xfrm>
          <a:prstGeom prst="roundRect">
            <a:avLst>
              <a:gd name="adj" fmla="val 6000"/>
            </a:avLst>
          </a:prstGeom>
          <a:solidFill>
            <a:srgbClr val="F5F6F8"/>
          </a:solidFill>
          <a:ln w="12700">
            <a:solidFill>
              <a:srgbClr val="DDE1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3" name="Picture 12" descr="check_steel.png"/>
          <p:cNvPicPr>
            <a:picLocks noChangeAspect="1"/>
          </p:cNvPicPr>
          <p:nvPr/>
        </p:nvPicPr>
        <p:blipFill>
          <a:blip r:embed="rId3"/>
          <a:stretch>
            <a:fillRect/>
          </a:stretch>
        </p:blipFill>
        <p:spPr>
          <a:xfrm>
            <a:off x="987552" y="3749040"/>
            <a:ext cx="237744" cy="237744"/>
          </a:xfrm>
          <a:prstGeom prst="rect">
            <a:avLst/>
          </a:prstGeom>
        </p:spPr>
      </p:pic>
      <p:sp>
        <p:nvSpPr>
          <p:cNvPr id="14" name="TextBox 13"/>
          <p:cNvSpPr txBox="1"/>
          <p:nvPr/>
        </p:nvSpPr>
        <p:spPr>
          <a:xfrm>
            <a:off x="1353312" y="3602736"/>
            <a:ext cx="5029200" cy="530352"/>
          </a:xfrm>
          <a:prstGeom prst="rect">
            <a:avLst/>
          </a:prstGeom>
          <a:noFill/>
        </p:spPr>
        <p:txBody>
          <a:bodyPr wrap="square" anchor="ctr" lIns="0" rIns="0" tIns="0" bIns="0">
            <a:spAutoFit/>
          </a:bodyPr>
          <a:lstStyle/>
          <a:p>
            <a:pPr algn="l">
              <a:lnSpc>
                <a:spcPct val="106000"/>
              </a:lnSpc>
              <a:spcBef>
                <a:spcPts val="0"/>
              </a:spcBef>
              <a:spcAft>
                <a:spcPts val="0"/>
              </a:spcAft>
            </a:pPr>
            <a:r>
              <a:rPr sz="1200" b="0">
                <a:solidFill>
                  <a:srgbClr val="1A1A1A"/>
                </a:solidFill>
                <a:latin typeface="Red Hat Text"/>
              </a:rPr>
              <a:t>Promotion: a pull request, or a privileged deploy?</a:t>
            </a:r>
          </a:p>
        </p:txBody>
      </p:sp>
      <p:sp>
        <p:nvSpPr>
          <p:cNvPr id="15" name="Rounded Rectangle 14"/>
          <p:cNvSpPr/>
          <p:nvPr/>
        </p:nvSpPr>
        <p:spPr>
          <a:xfrm>
            <a:off x="841248" y="4206240"/>
            <a:ext cx="5715000" cy="530352"/>
          </a:xfrm>
          <a:prstGeom prst="roundRect">
            <a:avLst>
              <a:gd name="adj" fmla="val 6000"/>
            </a:avLst>
          </a:prstGeom>
          <a:solidFill>
            <a:srgbClr val="F5F6F8"/>
          </a:solidFill>
          <a:ln w="12700">
            <a:solidFill>
              <a:srgbClr val="DDE1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6" name="Picture 15" descr="check_steel.png"/>
          <p:cNvPicPr>
            <a:picLocks noChangeAspect="1"/>
          </p:cNvPicPr>
          <p:nvPr/>
        </p:nvPicPr>
        <p:blipFill>
          <a:blip r:embed="rId3"/>
          <a:stretch>
            <a:fillRect/>
          </a:stretch>
        </p:blipFill>
        <p:spPr>
          <a:xfrm>
            <a:off x="987552" y="4352544"/>
            <a:ext cx="237744" cy="237744"/>
          </a:xfrm>
          <a:prstGeom prst="rect">
            <a:avLst/>
          </a:prstGeom>
        </p:spPr>
      </p:pic>
      <p:sp>
        <p:nvSpPr>
          <p:cNvPr id="17" name="TextBox 16"/>
          <p:cNvSpPr txBox="1"/>
          <p:nvPr/>
        </p:nvSpPr>
        <p:spPr>
          <a:xfrm>
            <a:off x="1353312" y="4206240"/>
            <a:ext cx="5029200" cy="530352"/>
          </a:xfrm>
          <a:prstGeom prst="rect">
            <a:avLst/>
          </a:prstGeom>
          <a:noFill/>
        </p:spPr>
        <p:txBody>
          <a:bodyPr wrap="square" anchor="ctr" lIns="0" rIns="0" tIns="0" bIns="0">
            <a:spAutoFit/>
          </a:bodyPr>
          <a:lstStyle/>
          <a:p>
            <a:pPr algn="l">
              <a:lnSpc>
                <a:spcPct val="106000"/>
              </a:lnSpc>
              <a:spcBef>
                <a:spcPts val="0"/>
              </a:spcBef>
              <a:spcAft>
                <a:spcPts val="0"/>
              </a:spcAft>
            </a:pPr>
            <a:r>
              <a:rPr sz="1200" b="0">
                <a:solidFill>
                  <a:srgbClr val="1A1A1A"/>
                </a:solidFill>
                <a:latin typeface="Red Hat Text"/>
              </a:rPr>
              <a:t>Don't GitOps one-off, imperative work</a:t>
            </a:r>
          </a:p>
        </p:txBody>
      </p:sp>
      <p:sp>
        <p:nvSpPr>
          <p:cNvPr id="18" name="Rounded Rectangle 17"/>
          <p:cNvSpPr/>
          <p:nvPr/>
        </p:nvSpPr>
        <p:spPr>
          <a:xfrm>
            <a:off x="841248" y="4809744"/>
            <a:ext cx="5715000" cy="530352"/>
          </a:xfrm>
          <a:prstGeom prst="roundRect">
            <a:avLst>
              <a:gd name="adj" fmla="val 6000"/>
            </a:avLst>
          </a:prstGeom>
          <a:solidFill>
            <a:srgbClr val="F5F6F8"/>
          </a:solidFill>
          <a:ln w="12700">
            <a:solidFill>
              <a:srgbClr val="DDE1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9" name="Picture 18" descr="check_steel.png"/>
          <p:cNvPicPr>
            <a:picLocks noChangeAspect="1"/>
          </p:cNvPicPr>
          <p:nvPr/>
        </p:nvPicPr>
        <p:blipFill>
          <a:blip r:embed="rId3"/>
          <a:stretch>
            <a:fillRect/>
          </a:stretch>
        </p:blipFill>
        <p:spPr>
          <a:xfrm>
            <a:off x="987552" y="4956048"/>
            <a:ext cx="237744" cy="237744"/>
          </a:xfrm>
          <a:prstGeom prst="rect">
            <a:avLst/>
          </a:prstGeom>
        </p:spPr>
      </p:pic>
      <p:sp>
        <p:nvSpPr>
          <p:cNvPr id="20" name="TextBox 19"/>
          <p:cNvSpPr txBox="1"/>
          <p:nvPr/>
        </p:nvSpPr>
        <p:spPr>
          <a:xfrm>
            <a:off x="1353312" y="4809744"/>
            <a:ext cx="5029200" cy="530352"/>
          </a:xfrm>
          <a:prstGeom prst="rect">
            <a:avLst/>
          </a:prstGeom>
          <a:noFill/>
        </p:spPr>
        <p:txBody>
          <a:bodyPr wrap="square" anchor="ctr" lIns="0" rIns="0" tIns="0" bIns="0">
            <a:spAutoFit/>
          </a:bodyPr>
          <a:lstStyle/>
          <a:p>
            <a:pPr algn="l">
              <a:lnSpc>
                <a:spcPct val="106000"/>
              </a:lnSpc>
              <a:spcBef>
                <a:spcPts val="0"/>
              </a:spcBef>
              <a:spcAft>
                <a:spcPts val="0"/>
              </a:spcAft>
            </a:pPr>
            <a:r>
              <a:rPr sz="1200" b="0">
                <a:solidFill>
                  <a:srgbClr val="1A1A1A"/>
                </a:solidFill>
                <a:latin typeface="Red Hat Text"/>
              </a:rPr>
              <a:t>Never commit secrets; source them, reconcile the reference</a:t>
            </a:r>
          </a:p>
        </p:txBody>
      </p:sp>
      <p:sp>
        <p:nvSpPr>
          <p:cNvPr id="21" name="Rounded Rectangle 20"/>
          <p:cNvSpPr/>
          <p:nvPr/>
        </p:nvSpPr>
        <p:spPr>
          <a:xfrm>
            <a:off x="6812280" y="2395728"/>
            <a:ext cx="4538167" cy="2944368"/>
          </a:xfrm>
          <a:prstGeom prst="roundRect">
            <a:avLst>
              <a:gd name="adj" fmla="val 4000"/>
            </a:avLst>
          </a:prstGeom>
          <a:solidFill>
            <a:srgbClr val="FFFFFF"/>
          </a:solidFill>
          <a:ln w="15240">
            <a:solidFill>
              <a:srgbClr val="DDE1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ounded Rectangle 21"/>
          <p:cNvSpPr/>
          <p:nvPr/>
        </p:nvSpPr>
        <p:spPr>
          <a:xfrm>
            <a:off x="7013448" y="2596896"/>
            <a:ext cx="1298448" cy="310896"/>
          </a:xfrm>
          <a:prstGeom prst="roundRect">
            <a:avLst>
              <a:gd name="adj" fmla="val 50000"/>
            </a:avLst>
          </a:prstGeom>
          <a:solidFill>
            <a:srgbClr val="FCEC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7013448" y="2596896"/>
            <a:ext cx="1298448" cy="310896"/>
          </a:xfrm>
          <a:prstGeom prst="rect">
            <a:avLst/>
          </a:prstGeom>
          <a:noFill/>
        </p:spPr>
        <p:txBody>
          <a:bodyPr wrap="none" anchor="ctr" lIns="0" rIns="0" tIns="0" bIns="0">
            <a:spAutoFit/>
          </a:bodyPr>
          <a:lstStyle/>
          <a:p>
            <a:pPr algn="ctr">
              <a:lnSpc>
                <a:spcPct val="106000"/>
              </a:lnSpc>
              <a:spcBef>
                <a:spcPts val="0"/>
              </a:spcBef>
              <a:spcAft>
                <a:spcPts val="0"/>
              </a:spcAft>
            </a:pPr>
            <a:r>
              <a:rPr sz="850" b="1">
                <a:solidFill>
                  <a:srgbClr val="B80000"/>
                </a:solidFill>
                <a:latin typeface="Red Hat Display"/>
              </a:rPr>
              <a:t>MEDIA PASS</a:t>
            </a:r>
          </a:p>
        </p:txBody>
      </p:sp>
      <p:pic>
        <p:nvPicPr>
          <p:cNvPr id="24" name="Picture 23" descr="eye_slate.png"/>
          <p:cNvPicPr>
            <a:picLocks noChangeAspect="1"/>
          </p:cNvPicPr>
          <p:nvPr/>
        </p:nvPicPr>
        <p:blipFill>
          <a:blip r:embed="rId4"/>
          <a:stretch>
            <a:fillRect/>
          </a:stretch>
        </p:blipFill>
        <p:spPr>
          <a:xfrm>
            <a:off x="8843619" y="3108960"/>
            <a:ext cx="475488" cy="475488"/>
          </a:xfrm>
          <a:prstGeom prst="rect">
            <a:avLst/>
          </a:prstGeom>
        </p:spPr>
      </p:pic>
      <p:sp>
        <p:nvSpPr>
          <p:cNvPr id="25" name="TextBox 24"/>
          <p:cNvSpPr txBox="1"/>
          <p:nvPr/>
        </p:nvSpPr>
        <p:spPr>
          <a:xfrm>
            <a:off x="7050024" y="3721608"/>
            <a:ext cx="4062679" cy="1481328"/>
          </a:xfrm>
          <a:prstGeom prst="rect">
            <a:avLst/>
          </a:prstGeom>
          <a:noFill/>
        </p:spPr>
        <p:txBody>
          <a:bodyPr wrap="square" anchor="t" lIns="0" rIns="0" tIns="0" bIns="0">
            <a:spAutoFit/>
          </a:bodyPr>
          <a:lstStyle/>
          <a:p>
            <a:pPr algn="l">
              <a:lnSpc>
                <a:spcPct val="120000"/>
              </a:lnSpc>
              <a:spcBef>
                <a:spcPts val="0"/>
              </a:spcBef>
              <a:spcAft>
                <a:spcPts val="0"/>
              </a:spcAft>
            </a:pPr>
            <a:r>
              <a:rPr sz="950" b="0">
                <a:solidFill>
                  <a:srgbClr val="8A9099"/>
                </a:solidFill>
                <a:latin typeface="Red Hat Text"/>
              </a:rPr>
              <a:t>Two-column card "reach for GitOps / reach for a Job or the CLI", with a footnote pointer to the GitOps-at-Scale module and the External Secrets pattern.</a:t>
            </a:r>
          </a:p>
        </p:txBody>
      </p:sp>
      <p:cxnSp>
        <p:nvCxnSpPr>
          <p:cNvPr id="26" name="Connector 25"/>
          <p:cNvCxnSpPr/>
          <p:nvPr/>
        </p:nvCxnSpPr>
        <p:spPr>
          <a:xfrm>
            <a:off x="841248" y="6437376"/>
            <a:ext cx="10509199" cy="0"/>
          </a:xfrm>
          <a:prstGeom prst="bentConnector3">
            <a:avLst/>
          </a:prstGeom>
          <a:ln w="12700">
            <a:solidFill>
              <a:srgbClr val="DDE1E6"/>
            </a:solidFill>
          </a:ln>
          <a:effectLst/>
        </p:spPr>
        <p:style>
          <a:lnRef idx="2">
            <a:schemeClr val="accent1"/>
          </a:lnRef>
          <a:fillRef idx="0">
            <a:schemeClr val="accent1"/>
          </a:fillRef>
          <a:effectRef idx="1">
            <a:schemeClr val="accent1"/>
          </a:effectRef>
          <a:fontRef idx="minor">
            <a:schemeClr val="tx1"/>
          </a:fontRef>
        </p:style>
      </p:cxnSp>
      <p:sp>
        <p:nvSpPr>
          <p:cNvPr id="27" name="TextBox 26"/>
          <p:cNvSpPr txBox="1"/>
          <p:nvPr/>
        </p:nvSpPr>
        <p:spPr>
          <a:xfrm>
            <a:off x="841248" y="6473952"/>
            <a:ext cx="7315200" cy="274320"/>
          </a:xfrm>
          <a:prstGeom prst="rect">
            <a:avLst/>
          </a:prstGeom>
          <a:noFill/>
        </p:spPr>
        <p:txBody>
          <a:bodyPr wrap="square" anchor="t" lIns="0" rIns="0" tIns="0" bIns="0">
            <a:spAutoFit/>
          </a:bodyPr>
          <a:lstStyle/>
          <a:p>
            <a:pPr algn="l">
              <a:lnSpc>
                <a:spcPct val="106000"/>
              </a:lnSpc>
              <a:spcBef>
                <a:spcPts val="0"/>
              </a:spcBef>
              <a:spcAft>
                <a:spcPts val="0"/>
              </a:spcAft>
            </a:pPr>
            <a:r>
              <a:rPr sz="950" b="0">
                <a:solidFill>
                  <a:srgbClr val="8A9099"/>
                </a:solidFill>
                <a:latin typeface="Red Hat Text"/>
              </a:rPr>
              <a:t>CONFIDENTIAL</a:t>
            </a:r>
          </a:p>
        </p:txBody>
      </p:sp>
      <p:sp>
        <p:nvSpPr>
          <p:cNvPr id="28" name="TextBox 27"/>
          <p:cNvSpPr txBox="1"/>
          <p:nvPr/>
        </p:nvSpPr>
        <p:spPr>
          <a:xfrm>
            <a:off x="10801807" y="6473952"/>
            <a:ext cx="548640" cy="274320"/>
          </a:xfrm>
          <a:prstGeom prst="rect">
            <a:avLst/>
          </a:prstGeom>
          <a:noFill/>
        </p:spPr>
        <p:txBody>
          <a:bodyPr wrap="square" anchor="t" lIns="0" rIns="0" tIns="0" bIns="0">
            <a:spAutoFit/>
          </a:bodyPr>
          <a:lstStyle/>
          <a:p>
            <a:pPr algn="r">
              <a:lnSpc>
                <a:spcPct val="106000"/>
              </a:lnSpc>
              <a:spcBef>
                <a:spcPts val="0"/>
              </a:spcBef>
              <a:spcAft>
                <a:spcPts val="0"/>
              </a:spcAft>
            </a:pPr>
            <a:r>
              <a:rPr sz="950" b="0">
                <a:solidFill>
                  <a:srgbClr val="8A9099"/>
                </a:solidFill>
                <a:latin typeface="Red Hat Text"/>
              </a:rPr>
              <a:t>74</a:t>
            </a:r>
          </a:p>
        </p:txBody>
      </p:sp>
    </p:spTree>
  </p:cSld>
  <p:clrMapOvr>
    <a:masterClrMapping/>
  </p:clrMapOvr>
</p:sld>
</file>

<file path=ppt/slides/slide8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redhat_logo.jpg"/>
          <p:cNvPicPr>
            <a:picLocks noChangeAspect="1"/>
          </p:cNvPicPr>
          <p:nvPr/>
        </p:nvPicPr>
        <p:blipFill>
          <a:blip r:embed="rId2"/>
          <a:stretch>
            <a:fillRect/>
          </a:stretch>
        </p:blipFill>
        <p:spPr>
          <a:xfrm>
            <a:off x="841248" y="731520"/>
            <a:ext cx="1554480" cy="367699"/>
          </a:xfrm>
          <a:prstGeom prst="rect">
            <a:avLst/>
          </a:prstGeom>
        </p:spPr>
      </p:pic>
      <p:sp>
        <p:nvSpPr>
          <p:cNvPr id="3" name="TextBox 2"/>
          <p:cNvSpPr txBox="1"/>
          <p:nvPr/>
        </p:nvSpPr>
        <p:spPr>
          <a:xfrm>
            <a:off x="841248" y="2514600"/>
            <a:ext cx="9601200" cy="274320"/>
          </a:xfrm>
          <a:prstGeom prst="rect">
            <a:avLst/>
          </a:prstGeom>
          <a:noFill/>
        </p:spPr>
        <p:txBody>
          <a:bodyPr wrap="square" anchor="t" lIns="0" rIns="0" tIns="0" bIns="0">
            <a:spAutoFit/>
          </a:bodyPr>
          <a:lstStyle/>
          <a:p>
            <a:pPr algn="l">
              <a:lnSpc>
                <a:spcPct val="106000"/>
              </a:lnSpc>
              <a:spcBef>
                <a:spcPts val="0"/>
              </a:spcBef>
              <a:spcAft>
                <a:spcPts val="0"/>
              </a:spcAft>
            </a:pPr>
            <a:r>
              <a:rPr sz="1250" b="1" spc="180">
                <a:solidFill>
                  <a:srgbClr val="EE0000"/>
                </a:solidFill>
                <a:latin typeface="Red Hat Display"/>
              </a:rPr>
              <a:t>B · DELIVERY &amp; TRUST</a:t>
            </a:r>
          </a:p>
        </p:txBody>
      </p:sp>
      <p:sp>
        <p:nvSpPr>
          <p:cNvPr id="4" name="TextBox 3"/>
          <p:cNvSpPr txBox="1"/>
          <p:nvPr/>
        </p:nvSpPr>
        <p:spPr>
          <a:xfrm>
            <a:off x="841248" y="2880360"/>
            <a:ext cx="2103120" cy="1188720"/>
          </a:xfrm>
          <a:prstGeom prst="rect">
            <a:avLst/>
          </a:prstGeom>
          <a:noFill/>
        </p:spPr>
        <p:txBody>
          <a:bodyPr wrap="none" anchor="t" lIns="0" rIns="0" tIns="0" bIns="0">
            <a:spAutoFit/>
          </a:bodyPr>
          <a:lstStyle/>
          <a:p>
            <a:pPr algn="l">
              <a:lnSpc>
                <a:spcPct val="90000"/>
              </a:lnSpc>
              <a:spcBef>
                <a:spcPts val="0"/>
              </a:spcBef>
              <a:spcAft>
                <a:spcPts val="0"/>
              </a:spcAft>
            </a:pPr>
            <a:r>
              <a:rPr sz="5200" b="1">
                <a:solidFill>
                  <a:srgbClr val="B80000"/>
                </a:solidFill>
                <a:latin typeface="Red Hat Display"/>
              </a:rPr>
              <a:t>M11</a:t>
            </a:r>
          </a:p>
        </p:txBody>
      </p:sp>
      <p:sp>
        <p:nvSpPr>
          <p:cNvPr id="5" name="TextBox 4"/>
          <p:cNvSpPr txBox="1"/>
          <p:nvPr/>
        </p:nvSpPr>
        <p:spPr>
          <a:xfrm>
            <a:off x="3127248" y="2971800"/>
            <a:ext cx="8412480" cy="1188720"/>
          </a:xfrm>
          <a:prstGeom prst="rect">
            <a:avLst/>
          </a:prstGeom>
          <a:noFill/>
        </p:spPr>
        <p:txBody>
          <a:bodyPr wrap="square" anchor="t" lIns="0" rIns="0" tIns="0" bIns="0">
            <a:spAutoFit/>
          </a:bodyPr>
          <a:lstStyle/>
          <a:p>
            <a:pPr algn="l">
              <a:lnSpc>
                <a:spcPct val="102000"/>
              </a:lnSpc>
              <a:spcBef>
                <a:spcPts val="0"/>
              </a:spcBef>
              <a:spcAft>
                <a:spcPts val="0"/>
              </a:spcAft>
            </a:pPr>
            <a:r>
              <a:rPr sz="3000" b="1">
                <a:solidFill>
                  <a:srgbClr val="1A1A1A"/>
                </a:solidFill>
                <a:latin typeface="Red Hat Display"/>
              </a:rPr>
              <a:t>GitOps at Scale &amp; Progressive Delivery</a:t>
            </a:r>
          </a:p>
        </p:txBody>
      </p:sp>
      <p:cxnSp>
        <p:nvCxnSpPr>
          <p:cNvPr id="6" name="Connector 5"/>
          <p:cNvCxnSpPr/>
          <p:nvPr/>
        </p:nvCxnSpPr>
        <p:spPr>
          <a:xfrm>
            <a:off x="841248" y="4443984"/>
            <a:ext cx="1463040" cy="0"/>
          </a:xfrm>
          <a:prstGeom prst="bentConnector3">
            <a:avLst/>
          </a:prstGeom>
          <a:ln w="38100">
            <a:solidFill>
              <a:srgbClr val="EE0000"/>
            </a:solidFill>
          </a:ln>
          <a:effectLst/>
        </p:spPr>
        <p:style>
          <a:lnRef idx="2">
            <a:schemeClr val="accent1"/>
          </a:lnRef>
          <a:fillRef idx="0">
            <a:schemeClr val="accent1"/>
          </a:fillRef>
          <a:effectRef idx="1">
            <a:schemeClr val="accent1"/>
          </a:effectRef>
          <a:fontRef idx="minor">
            <a:schemeClr val="tx1"/>
          </a:fontRef>
        </p:style>
      </p:cxnSp>
    </p:spTree>
  </p:cSld>
  <p:clrMapOvr>
    <a:masterClrMapping/>
  </p:clrMapOvr>
</p:sld>
</file>

<file path=ppt/slides/slide8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redhat_logo.jpg"/>
          <p:cNvPicPr>
            <a:picLocks noChangeAspect="1"/>
          </p:cNvPicPr>
          <p:nvPr/>
        </p:nvPicPr>
        <p:blipFill>
          <a:blip r:embed="rId2"/>
          <a:stretch>
            <a:fillRect/>
          </a:stretch>
        </p:blipFill>
        <p:spPr>
          <a:xfrm>
            <a:off x="10326319" y="475488"/>
            <a:ext cx="1024128" cy="242248"/>
          </a:xfrm>
          <a:prstGeom prst="rect">
            <a:avLst/>
          </a:prstGeom>
        </p:spPr>
      </p:pic>
      <p:sp>
        <p:nvSpPr>
          <p:cNvPr id="3" name="TextBox 2"/>
          <p:cNvSpPr txBox="1"/>
          <p:nvPr/>
        </p:nvSpPr>
        <p:spPr>
          <a:xfrm>
            <a:off x="841248" y="548640"/>
            <a:ext cx="8595360" cy="274320"/>
          </a:xfrm>
          <a:prstGeom prst="rect">
            <a:avLst/>
          </a:prstGeom>
          <a:noFill/>
        </p:spPr>
        <p:txBody>
          <a:bodyPr wrap="square" anchor="t" lIns="0" rIns="0" tIns="0" bIns="0">
            <a:spAutoFit/>
          </a:bodyPr>
          <a:lstStyle/>
          <a:p>
            <a:pPr algn="l">
              <a:lnSpc>
                <a:spcPct val="106000"/>
              </a:lnSpc>
              <a:spcBef>
                <a:spcPts val="0"/>
              </a:spcBef>
              <a:spcAft>
                <a:spcPts val="0"/>
              </a:spcAft>
            </a:pPr>
            <a:r>
              <a:rPr sz="1250" b="1" spc="220">
                <a:solidFill>
                  <a:srgbClr val="EE0000"/>
                </a:solidFill>
                <a:latin typeface="Red Hat Display"/>
              </a:rPr>
              <a:t>M11 · GITOPS AT SCALE &amp; PROGRESSIVE DELIVERY</a:t>
            </a:r>
          </a:p>
        </p:txBody>
      </p:sp>
      <p:sp>
        <p:nvSpPr>
          <p:cNvPr id="4" name="TextBox 3"/>
          <p:cNvSpPr txBox="1"/>
          <p:nvPr/>
        </p:nvSpPr>
        <p:spPr>
          <a:xfrm>
            <a:off x="841248" y="877824"/>
            <a:ext cx="10515600" cy="548640"/>
          </a:xfrm>
          <a:prstGeom prst="rect">
            <a:avLst/>
          </a:prstGeom>
          <a:noFill/>
        </p:spPr>
        <p:txBody>
          <a:bodyPr wrap="none" anchor="t" lIns="0" rIns="0" tIns="0" bIns="0">
            <a:spAutoFit/>
          </a:bodyPr>
          <a:lstStyle/>
          <a:p>
            <a:pPr algn="l">
              <a:lnSpc>
                <a:spcPct val="100000"/>
              </a:lnSpc>
              <a:spcBef>
                <a:spcPts val="0"/>
              </a:spcBef>
              <a:spcAft>
                <a:spcPts val="0"/>
              </a:spcAft>
            </a:pPr>
            <a:r>
              <a:rPr sz="2500" b="1">
                <a:solidFill>
                  <a:srgbClr val="1A1A1A"/>
                </a:solidFill>
                <a:latin typeface="Red Hat Display"/>
              </a:rPr>
              <a:t>Thirty-six Applications nobody wants to</a:t>
            </a:r>
          </a:p>
        </p:txBody>
      </p:sp>
      <p:cxnSp>
        <p:nvCxnSpPr>
          <p:cNvPr id="5" name="Connector 4"/>
          <p:cNvCxnSpPr/>
          <p:nvPr/>
        </p:nvCxnSpPr>
        <p:spPr>
          <a:xfrm>
            <a:off x="841248" y="1554480"/>
            <a:ext cx="1371600" cy="0"/>
          </a:xfrm>
          <a:prstGeom prst="bentConnector3">
            <a:avLst/>
          </a:prstGeom>
          <a:ln w="31750">
            <a:solidFill>
              <a:srgbClr val="EE0000"/>
            </a:solidFill>
          </a:ln>
          <a:effectLst/>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841248" y="1664208"/>
            <a:ext cx="10515600" cy="365760"/>
          </a:xfrm>
          <a:prstGeom prst="rect">
            <a:avLst/>
          </a:prstGeom>
          <a:noFill/>
        </p:spPr>
        <p:txBody>
          <a:bodyPr wrap="square" anchor="t" lIns="0" rIns="0" tIns="0" bIns="0">
            <a:spAutoFit/>
          </a:bodyPr>
          <a:lstStyle/>
          <a:p>
            <a:pPr algn="l">
              <a:lnSpc>
                <a:spcPct val="106000"/>
              </a:lnSpc>
              <a:spcBef>
                <a:spcPts val="0"/>
              </a:spcBef>
              <a:spcAft>
                <a:spcPts val="0"/>
              </a:spcAft>
            </a:pPr>
            <a:r>
              <a:rPr sz="1350" b="0">
                <a:solidFill>
                  <a:srgbClr val="555960"/>
                </a:solidFill>
                <a:latin typeface="Red Hat Text"/>
              </a:rPr>
              <a:t>write</a:t>
            </a:r>
          </a:p>
        </p:txBody>
      </p:sp>
      <p:sp>
        <p:nvSpPr>
          <p:cNvPr id="7" name="Rounded Rectangle 6"/>
          <p:cNvSpPr/>
          <p:nvPr/>
        </p:nvSpPr>
        <p:spPr>
          <a:xfrm>
            <a:off x="841248" y="2670048"/>
            <a:ext cx="5715000" cy="530352"/>
          </a:xfrm>
          <a:prstGeom prst="roundRect">
            <a:avLst>
              <a:gd name="adj" fmla="val 6000"/>
            </a:avLst>
          </a:prstGeom>
          <a:solidFill>
            <a:srgbClr val="F5F6F8"/>
          </a:solidFill>
          <a:ln w="12700">
            <a:solidFill>
              <a:srgbClr val="DDE1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check_steel.png"/>
          <p:cNvPicPr>
            <a:picLocks noChangeAspect="1"/>
          </p:cNvPicPr>
          <p:nvPr/>
        </p:nvPicPr>
        <p:blipFill>
          <a:blip r:embed="rId3"/>
          <a:stretch>
            <a:fillRect/>
          </a:stretch>
        </p:blipFill>
        <p:spPr>
          <a:xfrm>
            <a:off x="987552" y="2816352"/>
            <a:ext cx="237744" cy="237744"/>
          </a:xfrm>
          <a:prstGeom prst="rect">
            <a:avLst/>
          </a:prstGeom>
        </p:spPr>
      </p:pic>
      <p:sp>
        <p:nvSpPr>
          <p:cNvPr id="9" name="TextBox 8"/>
          <p:cNvSpPr txBox="1"/>
          <p:nvPr/>
        </p:nvSpPr>
        <p:spPr>
          <a:xfrm>
            <a:off x="1353312" y="2670048"/>
            <a:ext cx="5029200" cy="530352"/>
          </a:xfrm>
          <a:prstGeom prst="rect">
            <a:avLst/>
          </a:prstGeom>
          <a:noFill/>
        </p:spPr>
        <p:txBody>
          <a:bodyPr wrap="square" anchor="ctr" lIns="0" rIns="0" tIns="0" bIns="0">
            <a:spAutoFit/>
          </a:bodyPr>
          <a:lstStyle/>
          <a:p>
            <a:pPr algn="l">
              <a:lnSpc>
                <a:spcPct val="106000"/>
              </a:lnSpc>
              <a:spcBef>
                <a:spcPts val="0"/>
              </a:spcBef>
              <a:spcAft>
                <a:spcPts val="0"/>
              </a:spcAft>
            </a:pPr>
            <a:r>
              <a:rPr sz="1200" b="0">
                <a:solidFill>
                  <a:srgbClr val="1A1A1A"/>
                </a:solidFill>
                <a:latin typeface="Red Hat Text"/>
              </a:rPr>
              <a:t>Claims is GitOps-managed — one Application per env</a:t>
            </a:r>
          </a:p>
        </p:txBody>
      </p:sp>
      <p:sp>
        <p:nvSpPr>
          <p:cNvPr id="10" name="Rounded Rectangle 9"/>
          <p:cNvSpPr/>
          <p:nvPr/>
        </p:nvSpPr>
        <p:spPr>
          <a:xfrm>
            <a:off x="841248" y="3273552"/>
            <a:ext cx="5715000" cy="530352"/>
          </a:xfrm>
          <a:prstGeom prst="roundRect">
            <a:avLst>
              <a:gd name="adj" fmla="val 6000"/>
            </a:avLst>
          </a:prstGeom>
          <a:solidFill>
            <a:srgbClr val="F5F6F8"/>
          </a:solidFill>
          <a:ln w="12700">
            <a:solidFill>
              <a:srgbClr val="DDE1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1" name="Picture 10" descr="check_steel.png"/>
          <p:cNvPicPr>
            <a:picLocks noChangeAspect="1"/>
          </p:cNvPicPr>
          <p:nvPr/>
        </p:nvPicPr>
        <p:blipFill>
          <a:blip r:embed="rId3"/>
          <a:stretch>
            <a:fillRect/>
          </a:stretch>
        </p:blipFill>
        <p:spPr>
          <a:xfrm>
            <a:off x="987552" y="3419856"/>
            <a:ext cx="237744" cy="237744"/>
          </a:xfrm>
          <a:prstGeom prst="rect">
            <a:avLst/>
          </a:prstGeom>
        </p:spPr>
      </p:pic>
      <p:sp>
        <p:nvSpPr>
          <p:cNvPr id="12" name="TextBox 11"/>
          <p:cNvSpPr txBox="1"/>
          <p:nvPr/>
        </p:nvSpPr>
        <p:spPr>
          <a:xfrm>
            <a:off x="1353312" y="3273552"/>
            <a:ext cx="5029200" cy="530352"/>
          </a:xfrm>
          <a:prstGeom prst="rect">
            <a:avLst/>
          </a:prstGeom>
          <a:noFill/>
        </p:spPr>
        <p:txBody>
          <a:bodyPr wrap="square" anchor="ctr" lIns="0" rIns="0" tIns="0" bIns="0">
            <a:spAutoFit/>
          </a:bodyPr>
          <a:lstStyle/>
          <a:p>
            <a:pPr algn="l">
              <a:lnSpc>
                <a:spcPct val="106000"/>
              </a:lnSpc>
              <a:spcBef>
                <a:spcPts val="0"/>
              </a:spcBef>
              <a:spcAft>
                <a:spcPts val="0"/>
              </a:spcAft>
            </a:pPr>
            <a:r>
              <a:rPr sz="1200" b="0">
                <a:solidFill>
                  <a:srgbClr val="1A1A1A"/>
                </a:solidFill>
                <a:latin typeface="Red Hat Text"/>
              </a:rPr>
              <a:t>A dozen services × three envs = 36 Applications</a:t>
            </a:r>
          </a:p>
        </p:txBody>
      </p:sp>
      <p:sp>
        <p:nvSpPr>
          <p:cNvPr id="13" name="Rounded Rectangle 12"/>
          <p:cNvSpPr/>
          <p:nvPr/>
        </p:nvSpPr>
        <p:spPr>
          <a:xfrm>
            <a:off x="841248" y="3877056"/>
            <a:ext cx="5715000" cy="530352"/>
          </a:xfrm>
          <a:prstGeom prst="roundRect">
            <a:avLst>
              <a:gd name="adj" fmla="val 6000"/>
            </a:avLst>
          </a:prstGeom>
          <a:solidFill>
            <a:srgbClr val="F5F6F8"/>
          </a:solidFill>
          <a:ln w="12700">
            <a:solidFill>
              <a:srgbClr val="DDE1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4" name="Picture 13" descr="check_steel.png"/>
          <p:cNvPicPr>
            <a:picLocks noChangeAspect="1"/>
          </p:cNvPicPr>
          <p:nvPr/>
        </p:nvPicPr>
        <p:blipFill>
          <a:blip r:embed="rId3"/>
          <a:stretch>
            <a:fillRect/>
          </a:stretch>
        </p:blipFill>
        <p:spPr>
          <a:xfrm>
            <a:off x="987552" y="4023360"/>
            <a:ext cx="237744" cy="237744"/>
          </a:xfrm>
          <a:prstGeom prst="rect">
            <a:avLst/>
          </a:prstGeom>
        </p:spPr>
      </p:pic>
      <p:sp>
        <p:nvSpPr>
          <p:cNvPr id="15" name="TextBox 14"/>
          <p:cNvSpPr txBox="1"/>
          <p:nvPr/>
        </p:nvSpPr>
        <p:spPr>
          <a:xfrm>
            <a:off x="1353312" y="3877056"/>
            <a:ext cx="5029200" cy="530352"/>
          </a:xfrm>
          <a:prstGeom prst="rect">
            <a:avLst/>
          </a:prstGeom>
          <a:noFill/>
        </p:spPr>
        <p:txBody>
          <a:bodyPr wrap="square" anchor="ctr" lIns="0" rIns="0" tIns="0" bIns="0">
            <a:spAutoFit/>
          </a:bodyPr>
          <a:lstStyle/>
          <a:p>
            <a:pPr algn="l">
              <a:lnSpc>
                <a:spcPct val="106000"/>
              </a:lnSpc>
              <a:spcBef>
                <a:spcPts val="0"/>
              </a:spcBef>
              <a:spcAft>
                <a:spcPts val="0"/>
              </a:spcAft>
            </a:pPr>
            <a:r>
              <a:rPr sz="1200" b="0">
                <a:solidFill>
                  <a:srgbClr val="1A1A1A"/>
                </a:solidFill>
                <a:latin typeface="Red Hat Text"/>
              </a:rPr>
              <a:t>Every one a near-copy that drifts</a:t>
            </a:r>
          </a:p>
        </p:txBody>
      </p:sp>
      <p:sp>
        <p:nvSpPr>
          <p:cNvPr id="16" name="Rounded Rectangle 15"/>
          <p:cNvSpPr/>
          <p:nvPr/>
        </p:nvSpPr>
        <p:spPr>
          <a:xfrm>
            <a:off x="841248" y="4480560"/>
            <a:ext cx="5715000" cy="530352"/>
          </a:xfrm>
          <a:prstGeom prst="roundRect">
            <a:avLst>
              <a:gd name="adj" fmla="val 6000"/>
            </a:avLst>
          </a:prstGeom>
          <a:solidFill>
            <a:srgbClr val="F5F6F8"/>
          </a:solidFill>
          <a:ln w="12700">
            <a:solidFill>
              <a:srgbClr val="DDE1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7" name="Picture 16" descr="check_steel.png"/>
          <p:cNvPicPr>
            <a:picLocks noChangeAspect="1"/>
          </p:cNvPicPr>
          <p:nvPr/>
        </p:nvPicPr>
        <p:blipFill>
          <a:blip r:embed="rId3"/>
          <a:stretch>
            <a:fillRect/>
          </a:stretch>
        </p:blipFill>
        <p:spPr>
          <a:xfrm>
            <a:off x="987552" y="4626864"/>
            <a:ext cx="237744" cy="237744"/>
          </a:xfrm>
          <a:prstGeom prst="rect">
            <a:avLst/>
          </a:prstGeom>
        </p:spPr>
      </p:pic>
      <p:sp>
        <p:nvSpPr>
          <p:cNvPr id="18" name="TextBox 17"/>
          <p:cNvSpPr txBox="1"/>
          <p:nvPr/>
        </p:nvSpPr>
        <p:spPr>
          <a:xfrm>
            <a:off x="1353312" y="4480560"/>
            <a:ext cx="5029200" cy="530352"/>
          </a:xfrm>
          <a:prstGeom prst="rect">
            <a:avLst/>
          </a:prstGeom>
          <a:noFill/>
        </p:spPr>
        <p:txBody>
          <a:bodyPr wrap="square" anchor="ctr" lIns="0" rIns="0" tIns="0" bIns="0">
            <a:spAutoFit/>
          </a:bodyPr>
          <a:lstStyle/>
          <a:p>
            <a:pPr algn="l">
              <a:lnSpc>
                <a:spcPct val="106000"/>
              </a:lnSpc>
              <a:spcBef>
                <a:spcPts val="0"/>
              </a:spcBef>
              <a:spcAft>
                <a:spcPts val="0"/>
              </a:spcAft>
            </a:pPr>
            <a:r>
              <a:rPr sz="1200" b="0">
                <a:solidFill>
                  <a:srgbClr val="1A1A1A"/>
                </a:solidFill>
                <a:latin typeface="Red Hat Text"/>
              </a:rPr>
              <a:t>And prod takes new builds all-at-once</a:t>
            </a:r>
          </a:p>
        </p:txBody>
      </p:sp>
      <p:sp>
        <p:nvSpPr>
          <p:cNvPr id="19" name="Rounded Rectangle 18"/>
          <p:cNvSpPr/>
          <p:nvPr/>
        </p:nvSpPr>
        <p:spPr>
          <a:xfrm>
            <a:off x="841248" y="5084064"/>
            <a:ext cx="5715000" cy="530352"/>
          </a:xfrm>
          <a:prstGeom prst="roundRect">
            <a:avLst>
              <a:gd name="adj" fmla="val 6000"/>
            </a:avLst>
          </a:prstGeom>
          <a:solidFill>
            <a:srgbClr val="F5F6F8"/>
          </a:solidFill>
          <a:ln w="12700">
            <a:solidFill>
              <a:srgbClr val="DDE1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0" name="Picture 19" descr="check_steel.png"/>
          <p:cNvPicPr>
            <a:picLocks noChangeAspect="1"/>
          </p:cNvPicPr>
          <p:nvPr/>
        </p:nvPicPr>
        <p:blipFill>
          <a:blip r:embed="rId3"/>
          <a:stretch>
            <a:fillRect/>
          </a:stretch>
        </p:blipFill>
        <p:spPr>
          <a:xfrm>
            <a:off x="987552" y="5230368"/>
            <a:ext cx="237744" cy="237744"/>
          </a:xfrm>
          <a:prstGeom prst="rect">
            <a:avLst/>
          </a:prstGeom>
        </p:spPr>
      </p:pic>
      <p:sp>
        <p:nvSpPr>
          <p:cNvPr id="21" name="TextBox 20"/>
          <p:cNvSpPr txBox="1"/>
          <p:nvPr/>
        </p:nvSpPr>
        <p:spPr>
          <a:xfrm>
            <a:off x="1353312" y="5084064"/>
            <a:ext cx="5029200" cy="530352"/>
          </a:xfrm>
          <a:prstGeom prst="rect">
            <a:avLst/>
          </a:prstGeom>
          <a:noFill/>
        </p:spPr>
        <p:txBody>
          <a:bodyPr wrap="square" anchor="ctr" lIns="0" rIns="0" tIns="0" bIns="0">
            <a:spAutoFit/>
          </a:bodyPr>
          <a:lstStyle/>
          <a:p>
            <a:pPr algn="l">
              <a:lnSpc>
                <a:spcPct val="106000"/>
              </a:lnSpc>
              <a:spcBef>
                <a:spcPts val="0"/>
              </a:spcBef>
              <a:spcAft>
                <a:spcPts val="0"/>
              </a:spcAft>
            </a:pPr>
            <a:r>
              <a:rPr sz="1200" b="0">
                <a:solidFill>
                  <a:srgbClr val="1A1A1A"/>
                </a:solidFill>
                <a:latin typeface="Red Hat Text"/>
              </a:rPr>
              <a:t>Scale and safety both break here</a:t>
            </a:r>
          </a:p>
        </p:txBody>
      </p:sp>
      <p:sp>
        <p:nvSpPr>
          <p:cNvPr id="22" name="Rounded Rectangle 21"/>
          <p:cNvSpPr/>
          <p:nvPr/>
        </p:nvSpPr>
        <p:spPr>
          <a:xfrm>
            <a:off x="6812280" y="2670048"/>
            <a:ext cx="4538167" cy="2944368"/>
          </a:xfrm>
          <a:prstGeom prst="roundRect">
            <a:avLst>
              <a:gd name="adj" fmla="val 4000"/>
            </a:avLst>
          </a:prstGeom>
          <a:solidFill>
            <a:srgbClr val="FFFFFF"/>
          </a:solidFill>
          <a:ln w="15240">
            <a:solidFill>
              <a:srgbClr val="DDE1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ounded Rectangle 22"/>
          <p:cNvSpPr/>
          <p:nvPr/>
        </p:nvSpPr>
        <p:spPr>
          <a:xfrm>
            <a:off x="7013448" y="2871216"/>
            <a:ext cx="1298448" cy="310896"/>
          </a:xfrm>
          <a:prstGeom prst="roundRect">
            <a:avLst>
              <a:gd name="adj" fmla="val 50000"/>
            </a:avLst>
          </a:prstGeom>
          <a:solidFill>
            <a:srgbClr val="FCEC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7013448" y="2871216"/>
            <a:ext cx="1298448" cy="310896"/>
          </a:xfrm>
          <a:prstGeom prst="rect">
            <a:avLst/>
          </a:prstGeom>
          <a:noFill/>
        </p:spPr>
        <p:txBody>
          <a:bodyPr wrap="none" anchor="ctr" lIns="0" rIns="0" tIns="0" bIns="0">
            <a:spAutoFit/>
          </a:bodyPr>
          <a:lstStyle/>
          <a:p>
            <a:pPr algn="ctr">
              <a:lnSpc>
                <a:spcPct val="106000"/>
              </a:lnSpc>
              <a:spcBef>
                <a:spcPts val="0"/>
              </a:spcBef>
              <a:spcAft>
                <a:spcPts val="0"/>
              </a:spcAft>
            </a:pPr>
            <a:r>
              <a:rPr sz="850" b="1">
                <a:solidFill>
                  <a:srgbClr val="B80000"/>
                </a:solidFill>
                <a:latin typeface="Red Hat Display"/>
              </a:rPr>
              <a:t>MEDIA PASS</a:t>
            </a:r>
          </a:p>
        </p:txBody>
      </p:sp>
      <p:pic>
        <p:nvPicPr>
          <p:cNvPr id="25" name="Picture 24" descr="eye_slate.png"/>
          <p:cNvPicPr>
            <a:picLocks noChangeAspect="1"/>
          </p:cNvPicPr>
          <p:nvPr/>
        </p:nvPicPr>
        <p:blipFill>
          <a:blip r:embed="rId4"/>
          <a:stretch>
            <a:fillRect/>
          </a:stretch>
        </p:blipFill>
        <p:spPr>
          <a:xfrm>
            <a:off x="8843619" y="3383280"/>
            <a:ext cx="475488" cy="475488"/>
          </a:xfrm>
          <a:prstGeom prst="rect">
            <a:avLst/>
          </a:prstGeom>
        </p:spPr>
      </p:pic>
      <p:sp>
        <p:nvSpPr>
          <p:cNvPr id="26" name="TextBox 25"/>
          <p:cNvSpPr txBox="1"/>
          <p:nvPr/>
        </p:nvSpPr>
        <p:spPr>
          <a:xfrm>
            <a:off x="7050024" y="3995928"/>
            <a:ext cx="4062679" cy="1481328"/>
          </a:xfrm>
          <a:prstGeom prst="rect">
            <a:avLst/>
          </a:prstGeom>
          <a:noFill/>
        </p:spPr>
        <p:txBody>
          <a:bodyPr wrap="square" anchor="t" lIns="0" rIns="0" tIns="0" bIns="0">
            <a:spAutoFit/>
          </a:bodyPr>
          <a:lstStyle/>
          <a:p>
            <a:pPr algn="l">
              <a:lnSpc>
                <a:spcPct val="120000"/>
              </a:lnSpc>
              <a:spcBef>
                <a:spcPts val="0"/>
              </a:spcBef>
              <a:spcAft>
                <a:spcPts val="0"/>
              </a:spcAft>
            </a:pPr>
            <a:r>
              <a:rPr sz="950" b="0">
                <a:solidFill>
                  <a:srgbClr val="8A9099"/>
                </a:solidFill>
                <a:latin typeface="Red Hat Text"/>
              </a:rPr>
              <a:t>Left: a wall of near-identical "Application" cards (36) tinted red/drift. Right: one "ApplicationSet" object. A "ship 100% at once?" grenade over a prod box.</a:t>
            </a:r>
          </a:p>
        </p:txBody>
      </p:sp>
      <p:cxnSp>
        <p:nvCxnSpPr>
          <p:cNvPr id="27" name="Connector 26"/>
          <p:cNvCxnSpPr/>
          <p:nvPr/>
        </p:nvCxnSpPr>
        <p:spPr>
          <a:xfrm>
            <a:off x="841248" y="6437376"/>
            <a:ext cx="10509199" cy="0"/>
          </a:xfrm>
          <a:prstGeom prst="bentConnector3">
            <a:avLst/>
          </a:prstGeom>
          <a:ln w="12700">
            <a:solidFill>
              <a:srgbClr val="DDE1E6"/>
            </a:solidFill>
          </a:ln>
          <a:effectLst/>
        </p:spPr>
        <p:style>
          <a:lnRef idx="2">
            <a:schemeClr val="accent1"/>
          </a:lnRef>
          <a:fillRef idx="0">
            <a:schemeClr val="accent1"/>
          </a:fillRef>
          <a:effectRef idx="1">
            <a:schemeClr val="accent1"/>
          </a:effectRef>
          <a:fontRef idx="minor">
            <a:schemeClr val="tx1"/>
          </a:fontRef>
        </p:style>
      </p:cxnSp>
      <p:sp>
        <p:nvSpPr>
          <p:cNvPr id="28" name="TextBox 27"/>
          <p:cNvSpPr txBox="1"/>
          <p:nvPr/>
        </p:nvSpPr>
        <p:spPr>
          <a:xfrm>
            <a:off x="841248" y="6473952"/>
            <a:ext cx="7315200" cy="274320"/>
          </a:xfrm>
          <a:prstGeom prst="rect">
            <a:avLst/>
          </a:prstGeom>
          <a:noFill/>
        </p:spPr>
        <p:txBody>
          <a:bodyPr wrap="square" anchor="t" lIns="0" rIns="0" tIns="0" bIns="0">
            <a:spAutoFit/>
          </a:bodyPr>
          <a:lstStyle/>
          <a:p>
            <a:pPr algn="l">
              <a:lnSpc>
                <a:spcPct val="106000"/>
              </a:lnSpc>
              <a:spcBef>
                <a:spcPts val="0"/>
              </a:spcBef>
              <a:spcAft>
                <a:spcPts val="0"/>
              </a:spcAft>
            </a:pPr>
            <a:r>
              <a:rPr sz="950" b="0">
                <a:solidFill>
                  <a:srgbClr val="8A9099"/>
                </a:solidFill>
                <a:latin typeface="Red Hat Text"/>
              </a:rPr>
              <a:t>CONFIDENTIAL</a:t>
            </a:r>
          </a:p>
        </p:txBody>
      </p:sp>
      <p:sp>
        <p:nvSpPr>
          <p:cNvPr id="29" name="TextBox 28"/>
          <p:cNvSpPr txBox="1"/>
          <p:nvPr/>
        </p:nvSpPr>
        <p:spPr>
          <a:xfrm>
            <a:off x="10801807" y="6473952"/>
            <a:ext cx="548640" cy="274320"/>
          </a:xfrm>
          <a:prstGeom prst="rect">
            <a:avLst/>
          </a:prstGeom>
          <a:noFill/>
        </p:spPr>
        <p:txBody>
          <a:bodyPr wrap="square" anchor="t" lIns="0" rIns="0" tIns="0" bIns="0">
            <a:spAutoFit/>
          </a:bodyPr>
          <a:lstStyle/>
          <a:p>
            <a:pPr algn="r">
              <a:lnSpc>
                <a:spcPct val="106000"/>
              </a:lnSpc>
              <a:spcBef>
                <a:spcPts val="0"/>
              </a:spcBef>
              <a:spcAft>
                <a:spcPts val="0"/>
              </a:spcAft>
            </a:pPr>
            <a:r>
              <a:rPr sz="950" b="0">
                <a:solidFill>
                  <a:srgbClr val="8A9099"/>
                </a:solidFill>
                <a:latin typeface="Red Hat Text"/>
              </a:rPr>
              <a:t>75</a:t>
            </a:r>
          </a:p>
        </p:txBody>
      </p:sp>
    </p:spTree>
  </p:cSld>
  <p:clrMapOvr>
    <a:masterClrMapping/>
  </p:clrMapOvr>
</p:sld>
</file>

<file path=ppt/slides/slide8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redhat_logo.jpg"/>
          <p:cNvPicPr>
            <a:picLocks noChangeAspect="1"/>
          </p:cNvPicPr>
          <p:nvPr/>
        </p:nvPicPr>
        <p:blipFill>
          <a:blip r:embed="rId2"/>
          <a:stretch>
            <a:fillRect/>
          </a:stretch>
        </p:blipFill>
        <p:spPr>
          <a:xfrm>
            <a:off x="10326319" y="475488"/>
            <a:ext cx="1024128" cy="242248"/>
          </a:xfrm>
          <a:prstGeom prst="rect">
            <a:avLst/>
          </a:prstGeom>
        </p:spPr>
      </p:pic>
      <p:sp>
        <p:nvSpPr>
          <p:cNvPr id="3" name="TextBox 2"/>
          <p:cNvSpPr txBox="1"/>
          <p:nvPr/>
        </p:nvSpPr>
        <p:spPr>
          <a:xfrm>
            <a:off x="841248" y="548640"/>
            <a:ext cx="8595360" cy="274320"/>
          </a:xfrm>
          <a:prstGeom prst="rect">
            <a:avLst/>
          </a:prstGeom>
          <a:noFill/>
        </p:spPr>
        <p:txBody>
          <a:bodyPr wrap="square" anchor="t" lIns="0" rIns="0" tIns="0" bIns="0">
            <a:spAutoFit/>
          </a:bodyPr>
          <a:lstStyle/>
          <a:p>
            <a:pPr algn="l">
              <a:lnSpc>
                <a:spcPct val="106000"/>
              </a:lnSpc>
              <a:spcBef>
                <a:spcPts val="0"/>
              </a:spcBef>
              <a:spcAft>
                <a:spcPts val="0"/>
              </a:spcAft>
            </a:pPr>
            <a:r>
              <a:rPr sz="1250" b="1" spc="220">
                <a:solidFill>
                  <a:srgbClr val="EE0000"/>
                </a:solidFill>
                <a:latin typeface="Red Hat Display"/>
              </a:rPr>
              <a:t>M11 · GITOPS AT SCALE &amp; PROGRESSIVE DELIVERY</a:t>
            </a:r>
          </a:p>
        </p:txBody>
      </p:sp>
      <p:sp>
        <p:nvSpPr>
          <p:cNvPr id="4" name="TextBox 3"/>
          <p:cNvSpPr txBox="1"/>
          <p:nvPr/>
        </p:nvSpPr>
        <p:spPr>
          <a:xfrm>
            <a:off x="841248" y="877824"/>
            <a:ext cx="10515600" cy="548640"/>
          </a:xfrm>
          <a:prstGeom prst="rect">
            <a:avLst/>
          </a:prstGeom>
          <a:noFill/>
        </p:spPr>
        <p:txBody>
          <a:bodyPr wrap="none" anchor="t" lIns="0" rIns="0" tIns="0" bIns="0">
            <a:spAutoFit/>
          </a:bodyPr>
          <a:lstStyle/>
          <a:p>
            <a:pPr algn="l">
              <a:lnSpc>
                <a:spcPct val="100000"/>
              </a:lnSpc>
              <a:spcBef>
                <a:spcPts val="0"/>
              </a:spcBef>
              <a:spcAft>
                <a:spcPts val="0"/>
              </a:spcAft>
            </a:pPr>
            <a:r>
              <a:rPr sz="2500" b="1">
                <a:solidFill>
                  <a:srgbClr val="1A1A1A"/>
                </a:solidFill>
                <a:latin typeface="Red Hat Display"/>
              </a:rPr>
              <a:t>One ApplicationSet generates the fleet</a:t>
            </a:r>
          </a:p>
        </p:txBody>
      </p:sp>
      <p:cxnSp>
        <p:nvCxnSpPr>
          <p:cNvPr id="5" name="Connector 4"/>
          <p:cNvCxnSpPr/>
          <p:nvPr/>
        </p:nvCxnSpPr>
        <p:spPr>
          <a:xfrm>
            <a:off x="841248" y="1554480"/>
            <a:ext cx="1371600" cy="0"/>
          </a:xfrm>
          <a:prstGeom prst="bentConnector3">
            <a:avLst/>
          </a:prstGeom>
          <a:ln w="31750">
            <a:solidFill>
              <a:srgbClr val="EE0000"/>
            </a:solidFill>
          </a:ln>
          <a:effectLst/>
        </p:spPr>
        <p:style>
          <a:lnRef idx="2">
            <a:schemeClr val="accent1"/>
          </a:lnRef>
          <a:fillRef idx="0">
            <a:schemeClr val="accent1"/>
          </a:fillRef>
          <a:effectRef idx="1">
            <a:schemeClr val="accent1"/>
          </a:effectRef>
          <a:fontRef idx="minor">
            <a:schemeClr val="tx1"/>
          </a:fontRef>
        </p:style>
      </p:cxnSp>
      <p:sp>
        <p:nvSpPr>
          <p:cNvPr id="6" name="Rounded Rectangle 5"/>
          <p:cNvSpPr/>
          <p:nvPr/>
        </p:nvSpPr>
        <p:spPr>
          <a:xfrm>
            <a:off x="841248" y="2395728"/>
            <a:ext cx="5715000" cy="530352"/>
          </a:xfrm>
          <a:prstGeom prst="roundRect">
            <a:avLst>
              <a:gd name="adj" fmla="val 6000"/>
            </a:avLst>
          </a:prstGeom>
          <a:solidFill>
            <a:srgbClr val="F5F6F8"/>
          </a:solidFill>
          <a:ln w="12700">
            <a:solidFill>
              <a:srgbClr val="DDE1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check_steel.png"/>
          <p:cNvPicPr>
            <a:picLocks noChangeAspect="1"/>
          </p:cNvPicPr>
          <p:nvPr/>
        </p:nvPicPr>
        <p:blipFill>
          <a:blip r:embed="rId3"/>
          <a:stretch>
            <a:fillRect/>
          </a:stretch>
        </p:blipFill>
        <p:spPr>
          <a:xfrm>
            <a:off x="987552" y="2542032"/>
            <a:ext cx="237744" cy="237744"/>
          </a:xfrm>
          <a:prstGeom prst="rect">
            <a:avLst/>
          </a:prstGeom>
        </p:spPr>
      </p:pic>
      <p:sp>
        <p:nvSpPr>
          <p:cNvPr id="8" name="TextBox 7"/>
          <p:cNvSpPr txBox="1"/>
          <p:nvPr/>
        </p:nvSpPr>
        <p:spPr>
          <a:xfrm>
            <a:off x="1353312" y="2395728"/>
            <a:ext cx="5029200" cy="530352"/>
          </a:xfrm>
          <a:prstGeom prst="rect">
            <a:avLst/>
          </a:prstGeom>
          <a:noFill/>
        </p:spPr>
        <p:txBody>
          <a:bodyPr wrap="square" anchor="ctr" lIns="0" rIns="0" tIns="0" bIns="0">
            <a:spAutoFit/>
          </a:bodyPr>
          <a:lstStyle/>
          <a:p>
            <a:pPr algn="l">
              <a:lnSpc>
                <a:spcPct val="106000"/>
              </a:lnSpc>
              <a:spcBef>
                <a:spcPts val="0"/>
              </a:spcBef>
              <a:spcAft>
                <a:spcPts val="0"/>
              </a:spcAft>
            </a:pPr>
            <a:r>
              <a:rPr sz="1200" b="0">
                <a:solidFill>
                  <a:srgbClr val="1A1A1A"/>
                </a:solidFill>
                <a:latin typeface="Red Hat Text"/>
              </a:rPr>
              <a:t>Describe the Application once, as a template</a:t>
            </a:r>
          </a:p>
        </p:txBody>
      </p:sp>
      <p:sp>
        <p:nvSpPr>
          <p:cNvPr id="9" name="Rounded Rectangle 8"/>
          <p:cNvSpPr/>
          <p:nvPr/>
        </p:nvSpPr>
        <p:spPr>
          <a:xfrm>
            <a:off x="841248" y="2999232"/>
            <a:ext cx="5715000" cy="530352"/>
          </a:xfrm>
          <a:prstGeom prst="roundRect">
            <a:avLst>
              <a:gd name="adj" fmla="val 6000"/>
            </a:avLst>
          </a:prstGeom>
          <a:solidFill>
            <a:srgbClr val="F5F6F8"/>
          </a:solidFill>
          <a:ln w="12700">
            <a:solidFill>
              <a:srgbClr val="DDE1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0" name="Picture 9" descr="check_steel.png"/>
          <p:cNvPicPr>
            <a:picLocks noChangeAspect="1"/>
          </p:cNvPicPr>
          <p:nvPr/>
        </p:nvPicPr>
        <p:blipFill>
          <a:blip r:embed="rId3"/>
          <a:stretch>
            <a:fillRect/>
          </a:stretch>
        </p:blipFill>
        <p:spPr>
          <a:xfrm>
            <a:off x="987552" y="3145536"/>
            <a:ext cx="237744" cy="237744"/>
          </a:xfrm>
          <a:prstGeom prst="rect">
            <a:avLst/>
          </a:prstGeom>
        </p:spPr>
      </p:pic>
      <p:sp>
        <p:nvSpPr>
          <p:cNvPr id="11" name="TextBox 10"/>
          <p:cNvSpPr txBox="1"/>
          <p:nvPr/>
        </p:nvSpPr>
        <p:spPr>
          <a:xfrm>
            <a:off x="1353312" y="2999232"/>
            <a:ext cx="5029200" cy="530352"/>
          </a:xfrm>
          <a:prstGeom prst="rect">
            <a:avLst/>
          </a:prstGeom>
          <a:noFill/>
        </p:spPr>
        <p:txBody>
          <a:bodyPr wrap="square" anchor="ctr" lIns="0" rIns="0" tIns="0" bIns="0">
            <a:spAutoFit/>
          </a:bodyPr>
          <a:lstStyle/>
          <a:p>
            <a:pPr algn="l">
              <a:lnSpc>
                <a:spcPct val="106000"/>
              </a:lnSpc>
              <a:spcBef>
                <a:spcPts val="0"/>
              </a:spcBef>
              <a:spcAft>
                <a:spcPts val="0"/>
              </a:spcAft>
            </a:pPr>
            <a:r>
              <a:rPr sz="1200" b="0">
                <a:solidFill>
                  <a:srgbClr val="1A1A1A"/>
                </a:solidFill>
                <a:latin typeface="Red Hat Text"/>
              </a:rPr>
              <a:t>A generator produces the parameters</a:t>
            </a:r>
          </a:p>
        </p:txBody>
      </p:sp>
      <p:sp>
        <p:nvSpPr>
          <p:cNvPr id="12" name="Rounded Rectangle 11"/>
          <p:cNvSpPr/>
          <p:nvPr/>
        </p:nvSpPr>
        <p:spPr>
          <a:xfrm>
            <a:off x="841248" y="3602736"/>
            <a:ext cx="5715000" cy="530352"/>
          </a:xfrm>
          <a:prstGeom prst="roundRect">
            <a:avLst>
              <a:gd name="adj" fmla="val 6000"/>
            </a:avLst>
          </a:prstGeom>
          <a:solidFill>
            <a:srgbClr val="F5F6F8"/>
          </a:solidFill>
          <a:ln w="12700">
            <a:solidFill>
              <a:srgbClr val="DDE1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3" name="Picture 12" descr="check_steel.png"/>
          <p:cNvPicPr>
            <a:picLocks noChangeAspect="1"/>
          </p:cNvPicPr>
          <p:nvPr/>
        </p:nvPicPr>
        <p:blipFill>
          <a:blip r:embed="rId3"/>
          <a:stretch>
            <a:fillRect/>
          </a:stretch>
        </p:blipFill>
        <p:spPr>
          <a:xfrm>
            <a:off x="987552" y="3749040"/>
            <a:ext cx="237744" cy="237744"/>
          </a:xfrm>
          <a:prstGeom prst="rect">
            <a:avLst/>
          </a:prstGeom>
        </p:spPr>
      </p:pic>
      <p:sp>
        <p:nvSpPr>
          <p:cNvPr id="14" name="TextBox 13"/>
          <p:cNvSpPr txBox="1"/>
          <p:nvPr/>
        </p:nvSpPr>
        <p:spPr>
          <a:xfrm>
            <a:off x="1353312" y="3602736"/>
            <a:ext cx="5029200" cy="530352"/>
          </a:xfrm>
          <a:prstGeom prst="rect">
            <a:avLst/>
          </a:prstGeom>
          <a:noFill/>
        </p:spPr>
        <p:txBody>
          <a:bodyPr wrap="square" anchor="ctr" lIns="0" rIns="0" tIns="0" bIns="0">
            <a:spAutoFit/>
          </a:bodyPr>
          <a:lstStyle/>
          <a:p>
            <a:pPr algn="l">
              <a:lnSpc>
                <a:spcPct val="106000"/>
              </a:lnSpc>
              <a:spcBef>
                <a:spcPts val="0"/>
              </a:spcBef>
              <a:spcAft>
                <a:spcPts val="0"/>
              </a:spcAft>
            </a:pPr>
            <a:r>
              <a:rPr sz="1200" b="0">
                <a:solidFill>
                  <a:srgbClr val="1A1A1A"/>
                </a:solidFill>
                <a:latin typeface="Red Hat Text"/>
              </a:rPr>
              <a:t>One Application per environment, stamped out</a:t>
            </a:r>
          </a:p>
        </p:txBody>
      </p:sp>
      <p:sp>
        <p:nvSpPr>
          <p:cNvPr id="15" name="Rounded Rectangle 14"/>
          <p:cNvSpPr/>
          <p:nvPr/>
        </p:nvSpPr>
        <p:spPr>
          <a:xfrm>
            <a:off x="841248" y="4206240"/>
            <a:ext cx="5715000" cy="530352"/>
          </a:xfrm>
          <a:prstGeom prst="roundRect">
            <a:avLst>
              <a:gd name="adj" fmla="val 6000"/>
            </a:avLst>
          </a:prstGeom>
          <a:solidFill>
            <a:srgbClr val="F5F6F8"/>
          </a:solidFill>
          <a:ln w="12700">
            <a:solidFill>
              <a:srgbClr val="DDE1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6" name="Picture 15" descr="check_steel.png"/>
          <p:cNvPicPr>
            <a:picLocks noChangeAspect="1"/>
          </p:cNvPicPr>
          <p:nvPr/>
        </p:nvPicPr>
        <p:blipFill>
          <a:blip r:embed="rId3"/>
          <a:stretch>
            <a:fillRect/>
          </a:stretch>
        </p:blipFill>
        <p:spPr>
          <a:xfrm>
            <a:off x="987552" y="4352544"/>
            <a:ext cx="237744" cy="237744"/>
          </a:xfrm>
          <a:prstGeom prst="rect">
            <a:avLst/>
          </a:prstGeom>
        </p:spPr>
      </p:pic>
      <p:sp>
        <p:nvSpPr>
          <p:cNvPr id="17" name="TextBox 16"/>
          <p:cNvSpPr txBox="1"/>
          <p:nvPr/>
        </p:nvSpPr>
        <p:spPr>
          <a:xfrm>
            <a:off x="1353312" y="4206240"/>
            <a:ext cx="5029200" cy="530352"/>
          </a:xfrm>
          <a:prstGeom prst="rect">
            <a:avLst/>
          </a:prstGeom>
          <a:noFill/>
        </p:spPr>
        <p:txBody>
          <a:bodyPr wrap="square" anchor="ctr" lIns="0" rIns="0" tIns="0" bIns="0">
            <a:spAutoFit/>
          </a:bodyPr>
          <a:lstStyle/>
          <a:p>
            <a:pPr algn="l">
              <a:lnSpc>
                <a:spcPct val="106000"/>
              </a:lnSpc>
              <a:spcBef>
                <a:spcPts val="0"/>
              </a:spcBef>
              <a:spcAft>
                <a:spcPts val="0"/>
              </a:spcAft>
            </a:pPr>
            <a:r>
              <a:rPr sz="1200" b="0">
                <a:solidFill>
                  <a:srgbClr val="1A1A1A"/>
                </a:solidFill>
                <a:latin typeface="Red Hat Text"/>
              </a:rPr>
              <a:t>Generators: list, git (folders), cluster, matrix</a:t>
            </a:r>
          </a:p>
        </p:txBody>
      </p:sp>
      <p:sp>
        <p:nvSpPr>
          <p:cNvPr id="18" name="Rounded Rectangle 17"/>
          <p:cNvSpPr/>
          <p:nvPr/>
        </p:nvSpPr>
        <p:spPr>
          <a:xfrm>
            <a:off x="841248" y="4809744"/>
            <a:ext cx="5715000" cy="530352"/>
          </a:xfrm>
          <a:prstGeom prst="roundRect">
            <a:avLst>
              <a:gd name="adj" fmla="val 6000"/>
            </a:avLst>
          </a:prstGeom>
          <a:solidFill>
            <a:srgbClr val="F5F6F8"/>
          </a:solidFill>
          <a:ln w="12700">
            <a:solidFill>
              <a:srgbClr val="DDE1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9" name="Picture 18" descr="check_steel.png"/>
          <p:cNvPicPr>
            <a:picLocks noChangeAspect="1"/>
          </p:cNvPicPr>
          <p:nvPr/>
        </p:nvPicPr>
        <p:blipFill>
          <a:blip r:embed="rId3"/>
          <a:stretch>
            <a:fillRect/>
          </a:stretch>
        </p:blipFill>
        <p:spPr>
          <a:xfrm>
            <a:off x="987552" y="4956048"/>
            <a:ext cx="237744" cy="237744"/>
          </a:xfrm>
          <a:prstGeom prst="rect">
            <a:avLst/>
          </a:prstGeom>
        </p:spPr>
      </p:pic>
      <p:sp>
        <p:nvSpPr>
          <p:cNvPr id="20" name="TextBox 19"/>
          <p:cNvSpPr txBox="1"/>
          <p:nvPr/>
        </p:nvSpPr>
        <p:spPr>
          <a:xfrm>
            <a:off x="1353312" y="4809744"/>
            <a:ext cx="5029200" cy="530352"/>
          </a:xfrm>
          <a:prstGeom prst="rect">
            <a:avLst/>
          </a:prstGeom>
          <a:noFill/>
        </p:spPr>
        <p:txBody>
          <a:bodyPr wrap="square" anchor="ctr" lIns="0" rIns="0" tIns="0" bIns="0">
            <a:spAutoFit/>
          </a:bodyPr>
          <a:lstStyle/>
          <a:p>
            <a:pPr algn="l">
              <a:lnSpc>
                <a:spcPct val="106000"/>
              </a:lnSpc>
              <a:spcBef>
                <a:spcPts val="0"/>
              </a:spcBef>
              <a:spcAft>
                <a:spcPts val="0"/>
              </a:spcAft>
            </a:pPr>
            <a:r>
              <a:rPr sz="1200" b="0">
                <a:solidFill>
                  <a:srgbClr val="1A1A1A"/>
                </a:solidFill>
                <a:latin typeface="Red Hat Text"/>
              </a:rPr>
              <a:t>Take a position: folders, not branches</a:t>
            </a:r>
          </a:p>
        </p:txBody>
      </p:sp>
      <p:sp>
        <p:nvSpPr>
          <p:cNvPr id="21" name="Rounded Rectangle 20"/>
          <p:cNvSpPr/>
          <p:nvPr/>
        </p:nvSpPr>
        <p:spPr>
          <a:xfrm>
            <a:off x="6812280" y="2395728"/>
            <a:ext cx="4538167" cy="2944368"/>
          </a:xfrm>
          <a:prstGeom prst="roundRect">
            <a:avLst>
              <a:gd name="adj" fmla="val 4000"/>
            </a:avLst>
          </a:prstGeom>
          <a:solidFill>
            <a:srgbClr val="FFFFFF"/>
          </a:solidFill>
          <a:ln w="15240">
            <a:solidFill>
              <a:srgbClr val="DDE1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ounded Rectangle 21"/>
          <p:cNvSpPr/>
          <p:nvPr/>
        </p:nvSpPr>
        <p:spPr>
          <a:xfrm>
            <a:off x="7013448" y="2596896"/>
            <a:ext cx="1298448" cy="310896"/>
          </a:xfrm>
          <a:prstGeom prst="roundRect">
            <a:avLst>
              <a:gd name="adj" fmla="val 50000"/>
            </a:avLst>
          </a:prstGeom>
          <a:solidFill>
            <a:srgbClr val="FCEC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7013448" y="2596896"/>
            <a:ext cx="1298448" cy="310896"/>
          </a:xfrm>
          <a:prstGeom prst="rect">
            <a:avLst/>
          </a:prstGeom>
          <a:noFill/>
        </p:spPr>
        <p:txBody>
          <a:bodyPr wrap="none" anchor="ctr" lIns="0" rIns="0" tIns="0" bIns="0">
            <a:spAutoFit/>
          </a:bodyPr>
          <a:lstStyle/>
          <a:p>
            <a:pPr algn="ctr">
              <a:lnSpc>
                <a:spcPct val="106000"/>
              </a:lnSpc>
              <a:spcBef>
                <a:spcPts val="0"/>
              </a:spcBef>
              <a:spcAft>
                <a:spcPts val="0"/>
              </a:spcAft>
            </a:pPr>
            <a:r>
              <a:rPr sz="850" b="1">
                <a:solidFill>
                  <a:srgbClr val="B80000"/>
                </a:solidFill>
                <a:latin typeface="Red Hat Display"/>
              </a:rPr>
              <a:t>MEDIA PASS</a:t>
            </a:r>
          </a:p>
        </p:txBody>
      </p:sp>
      <p:pic>
        <p:nvPicPr>
          <p:cNvPr id="24" name="Picture 23" descr="eye_slate.png"/>
          <p:cNvPicPr>
            <a:picLocks noChangeAspect="1"/>
          </p:cNvPicPr>
          <p:nvPr/>
        </p:nvPicPr>
        <p:blipFill>
          <a:blip r:embed="rId4"/>
          <a:stretch>
            <a:fillRect/>
          </a:stretch>
        </p:blipFill>
        <p:spPr>
          <a:xfrm>
            <a:off x="8843619" y="3108960"/>
            <a:ext cx="475488" cy="475488"/>
          </a:xfrm>
          <a:prstGeom prst="rect">
            <a:avLst/>
          </a:prstGeom>
        </p:spPr>
      </p:pic>
      <p:sp>
        <p:nvSpPr>
          <p:cNvPr id="25" name="TextBox 24"/>
          <p:cNvSpPr txBox="1"/>
          <p:nvPr/>
        </p:nvSpPr>
        <p:spPr>
          <a:xfrm>
            <a:off x="7050024" y="3721608"/>
            <a:ext cx="4062679" cy="1481328"/>
          </a:xfrm>
          <a:prstGeom prst="rect">
            <a:avLst/>
          </a:prstGeom>
          <a:noFill/>
        </p:spPr>
        <p:txBody>
          <a:bodyPr wrap="square" anchor="t" lIns="0" rIns="0" tIns="0" bIns="0">
            <a:spAutoFit/>
          </a:bodyPr>
          <a:lstStyle/>
          <a:p>
            <a:pPr algn="l">
              <a:lnSpc>
                <a:spcPct val="120000"/>
              </a:lnSpc>
              <a:spcBef>
                <a:spcPts val="0"/>
              </a:spcBef>
              <a:spcAft>
                <a:spcPts val="0"/>
              </a:spcAft>
            </a:pPr>
            <a:r>
              <a:rPr sz="950" b="0">
                <a:solidFill>
                  <a:srgbClr val="8A9099"/>
                </a:solidFill>
                <a:latin typeface="Red Hat Text"/>
              </a:rPr>
              <a:t>Concept diagram gitops-at-scale-01-appset — generator (dev/stage/prod) → one template → three generated Applications, prod tinted as a Rollout.</a:t>
            </a:r>
          </a:p>
        </p:txBody>
      </p:sp>
      <p:cxnSp>
        <p:nvCxnSpPr>
          <p:cNvPr id="26" name="Connector 25"/>
          <p:cNvCxnSpPr/>
          <p:nvPr/>
        </p:nvCxnSpPr>
        <p:spPr>
          <a:xfrm>
            <a:off x="841248" y="6437376"/>
            <a:ext cx="10509199" cy="0"/>
          </a:xfrm>
          <a:prstGeom prst="bentConnector3">
            <a:avLst/>
          </a:prstGeom>
          <a:ln w="12700">
            <a:solidFill>
              <a:srgbClr val="DDE1E6"/>
            </a:solidFill>
          </a:ln>
          <a:effectLst/>
        </p:spPr>
        <p:style>
          <a:lnRef idx="2">
            <a:schemeClr val="accent1"/>
          </a:lnRef>
          <a:fillRef idx="0">
            <a:schemeClr val="accent1"/>
          </a:fillRef>
          <a:effectRef idx="1">
            <a:schemeClr val="accent1"/>
          </a:effectRef>
          <a:fontRef idx="minor">
            <a:schemeClr val="tx1"/>
          </a:fontRef>
        </p:style>
      </p:cxnSp>
      <p:sp>
        <p:nvSpPr>
          <p:cNvPr id="27" name="TextBox 26"/>
          <p:cNvSpPr txBox="1"/>
          <p:nvPr/>
        </p:nvSpPr>
        <p:spPr>
          <a:xfrm>
            <a:off x="841248" y="6473952"/>
            <a:ext cx="7315200" cy="274320"/>
          </a:xfrm>
          <a:prstGeom prst="rect">
            <a:avLst/>
          </a:prstGeom>
          <a:noFill/>
        </p:spPr>
        <p:txBody>
          <a:bodyPr wrap="square" anchor="t" lIns="0" rIns="0" tIns="0" bIns="0">
            <a:spAutoFit/>
          </a:bodyPr>
          <a:lstStyle/>
          <a:p>
            <a:pPr algn="l">
              <a:lnSpc>
                <a:spcPct val="106000"/>
              </a:lnSpc>
              <a:spcBef>
                <a:spcPts val="0"/>
              </a:spcBef>
              <a:spcAft>
                <a:spcPts val="0"/>
              </a:spcAft>
            </a:pPr>
            <a:r>
              <a:rPr sz="950" b="0">
                <a:solidFill>
                  <a:srgbClr val="8A9099"/>
                </a:solidFill>
                <a:latin typeface="Red Hat Text"/>
              </a:rPr>
              <a:t>CONFIDENTIAL</a:t>
            </a:r>
          </a:p>
        </p:txBody>
      </p:sp>
      <p:sp>
        <p:nvSpPr>
          <p:cNvPr id="28" name="TextBox 27"/>
          <p:cNvSpPr txBox="1"/>
          <p:nvPr/>
        </p:nvSpPr>
        <p:spPr>
          <a:xfrm>
            <a:off x="10801807" y="6473952"/>
            <a:ext cx="548640" cy="274320"/>
          </a:xfrm>
          <a:prstGeom prst="rect">
            <a:avLst/>
          </a:prstGeom>
          <a:noFill/>
        </p:spPr>
        <p:txBody>
          <a:bodyPr wrap="square" anchor="t" lIns="0" rIns="0" tIns="0" bIns="0">
            <a:spAutoFit/>
          </a:bodyPr>
          <a:lstStyle/>
          <a:p>
            <a:pPr algn="r">
              <a:lnSpc>
                <a:spcPct val="106000"/>
              </a:lnSpc>
              <a:spcBef>
                <a:spcPts val="0"/>
              </a:spcBef>
              <a:spcAft>
                <a:spcPts val="0"/>
              </a:spcAft>
            </a:pPr>
            <a:r>
              <a:rPr sz="950" b="0">
                <a:solidFill>
                  <a:srgbClr val="8A9099"/>
                </a:solidFill>
                <a:latin typeface="Red Hat Text"/>
              </a:rPr>
              <a:t>76</a:t>
            </a:r>
          </a:p>
        </p:txBody>
      </p:sp>
    </p:spTree>
  </p:cSld>
  <p:clrMapOvr>
    <a:masterClrMapping/>
  </p:clrMapOvr>
</p:sld>
</file>

<file path=ppt/slides/slide8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redhat_logo.jpg"/>
          <p:cNvPicPr>
            <a:picLocks noChangeAspect="1"/>
          </p:cNvPicPr>
          <p:nvPr/>
        </p:nvPicPr>
        <p:blipFill>
          <a:blip r:embed="rId2"/>
          <a:stretch>
            <a:fillRect/>
          </a:stretch>
        </p:blipFill>
        <p:spPr>
          <a:xfrm>
            <a:off x="10326319" y="475488"/>
            <a:ext cx="1024128" cy="242248"/>
          </a:xfrm>
          <a:prstGeom prst="rect">
            <a:avLst/>
          </a:prstGeom>
        </p:spPr>
      </p:pic>
      <p:sp>
        <p:nvSpPr>
          <p:cNvPr id="3" name="TextBox 2"/>
          <p:cNvSpPr txBox="1"/>
          <p:nvPr/>
        </p:nvSpPr>
        <p:spPr>
          <a:xfrm>
            <a:off x="841248" y="548640"/>
            <a:ext cx="8595360" cy="274320"/>
          </a:xfrm>
          <a:prstGeom prst="rect">
            <a:avLst/>
          </a:prstGeom>
          <a:noFill/>
        </p:spPr>
        <p:txBody>
          <a:bodyPr wrap="square" anchor="t" lIns="0" rIns="0" tIns="0" bIns="0">
            <a:spAutoFit/>
          </a:bodyPr>
          <a:lstStyle/>
          <a:p>
            <a:pPr algn="l">
              <a:lnSpc>
                <a:spcPct val="106000"/>
              </a:lnSpc>
              <a:spcBef>
                <a:spcPts val="0"/>
              </a:spcBef>
              <a:spcAft>
                <a:spcPts val="0"/>
              </a:spcAft>
            </a:pPr>
            <a:r>
              <a:rPr sz="1250" b="1" spc="220">
                <a:solidFill>
                  <a:srgbClr val="EE0000"/>
                </a:solidFill>
                <a:latin typeface="Red Hat Display"/>
              </a:rPr>
              <a:t>M11 · GITOPS AT SCALE &amp; PROGRESSIVE DELIVERY</a:t>
            </a:r>
          </a:p>
        </p:txBody>
      </p:sp>
      <p:sp>
        <p:nvSpPr>
          <p:cNvPr id="4" name="TextBox 3"/>
          <p:cNvSpPr txBox="1"/>
          <p:nvPr/>
        </p:nvSpPr>
        <p:spPr>
          <a:xfrm>
            <a:off x="841248" y="877824"/>
            <a:ext cx="10515600" cy="548640"/>
          </a:xfrm>
          <a:prstGeom prst="rect">
            <a:avLst/>
          </a:prstGeom>
          <a:noFill/>
        </p:spPr>
        <p:txBody>
          <a:bodyPr wrap="none" anchor="t" lIns="0" rIns="0" tIns="0" bIns="0">
            <a:spAutoFit/>
          </a:bodyPr>
          <a:lstStyle/>
          <a:p>
            <a:pPr algn="l">
              <a:lnSpc>
                <a:spcPct val="100000"/>
              </a:lnSpc>
              <a:spcBef>
                <a:spcPts val="0"/>
              </a:spcBef>
              <a:spcAft>
                <a:spcPts val="0"/>
              </a:spcAft>
            </a:pPr>
            <a:r>
              <a:rPr sz="2500" b="1">
                <a:solidFill>
                  <a:srgbClr val="1A1A1A"/>
                </a:solidFill>
                <a:latin typeface="Red Hat Display"/>
              </a:rPr>
              <a:t>Order matters — sync waves and hooks</a:t>
            </a:r>
          </a:p>
        </p:txBody>
      </p:sp>
      <p:cxnSp>
        <p:nvCxnSpPr>
          <p:cNvPr id="5" name="Connector 4"/>
          <p:cNvCxnSpPr/>
          <p:nvPr/>
        </p:nvCxnSpPr>
        <p:spPr>
          <a:xfrm>
            <a:off x="841248" y="1554480"/>
            <a:ext cx="1371600" cy="0"/>
          </a:xfrm>
          <a:prstGeom prst="bentConnector3">
            <a:avLst/>
          </a:prstGeom>
          <a:ln w="31750">
            <a:solidFill>
              <a:srgbClr val="EE0000"/>
            </a:solidFill>
          </a:ln>
          <a:effectLst/>
        </p:spPr>
        <p:style>
          <a:lnRef idx="2">
            <a:schemeClr val="accent1"/>
          </a:lnRef>
          <a:fillRef idx="0">
            <a:schemeClr val="accent1"/>
          </a:fillRef>
          <a:effectRef idx="1">
            <a:schemeClr val="accent1"/>
          </a:effectRef>
          <a:fontRef idx="minor">
            <a:schemeClr val="tx1"/>
          </a:fontRef>
        </p:style>
      </p:cxnSp>
      <p:sp>
        <p:nvSpPr>
          <p:cNvPr id="6" name="Rounded Rectangle 5"/>
          <p:cNvSpPr/>
          <p:nvPr/>
        </p:nvSpPr>
        <p:spPr>
          <a:xfrm>
            <a:off x="841248" y="2395728"/>
            <a:ext cx="5715000" cy="530352"/>
          </a:xfrm>
          <a:prstGeom prst="roundRect">
            <a:avLst>
              <a:gd name="adj" fmla="val 6000"/>
            </a:avLst>
          </a:prstGeom>
          <a:solidFill>
            <a:srgbClr val="F5F6F8"/>
          </a:solidFill>
          <a:ln w="12700">
            <a:solidFill>
              <a:srgbClr val="DDE1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check_steel.png"/>
          <p:cNvPicPr>
            <a:picLocks noChangeAspect="1"/>
          </p:cNvPicPr>
          <p:nvPr/>
        </p:nvPicPr>
        <p:blipFill>
          <a:blip r:embed="rId3"/>
          <a:stretch>
            <a:fillRect/>
          </a:stretch>
        </p:blipFill>
        <p:spPr>
          <a:xfrm>
            <a:off x="987552" y="2542032"/>
            <a:ext cx="237744" cy="237744"/>
          </a:xfrm>
          <a:prstGeom prst="rect">
            <a:avLst/>
          </a:prstGeom>
        </p:spPr>
      </p:pic>
      <p:sp>
        <p:nvSpPr>
          <p:cNvPr id="8" name="TextBox 7"/>
          <p:cNvSpPr txBox="1"/>
          <p:nvPr/>
        </p:nvSpPr>
        <p:spPr>
          <a:xfrm>
            <a:off x="1353312" y="2395728"/>
            <a:ext cx="5029200" cy="530352"/>
          </a:xfrm>
          <a:prstGeom prst="rect">
            <a:avLst/>
          </a:prstGeom>
          <a:noFill/>
        </p:spPr>
        <p:txBody>
          <a:bodyPr wrap="square" anchor="ctr" lIns="0" rIns="0" tIns="0" bIns="0">
            <a:spAutoFit/>
          </a:bodyPr>
          <a:lstStyle/>
          <a:p>
            <a:pPr algn="l">
              <a:lnSpc>
                <a:spcPct val="106000"/>
              </a:lnSpc>
              <a:spcBef>
                <a:spcPts val="0"/>
              </a:spcBef>
              <a:spcAft>
                <a:spcPts val="0"/>
              </a:spcAft>
            </a:pPr>
            <a:r>
              <a:rPr sz="1200" b="0">
                <a:solidFill>
                  <a:srgbClr val="1A1A1A"/>
                </a:solidFill>
                <a:latin typeface="Red Hat Text"/>
              </a:rPr>
              <a:t>Some objects must be ready before others</a:t>
            </a:r>
          </a:p>
        </p:txBody>
      </p:sp>
      <p:sp>
        <p:nvSpPr>
          <p:cNvPr id="9" name="Rounded Rectangle 8"/>
          <p:cNvSpPr/>
          <p:nvPr/>
        </p:nvSpPr>
        <p:spPr>
          <a:xfrm>
            <a:off x="841248" y="2999232"/>
            <a:ext cx="5715000" cy="530352"/>
          </a:xfrm>
          <a:prstGeom prst="roundRect">
            <a:avLst>
              <a:gd name="adj" fmla="val 6000"/>
            </a:avLst>
          </a:prstGeom>
          <a:solidFill>
            <a:srgbClr val="F5F6F8"/>
          </a:solidFill>
          <a:ln w="12700">
            <a:solidFill>
              <a:srgbClr val="DDE1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0" name="Picture 9" descr="check_steel.png"/>
          <p:cNvPicPr>
            <a:picLocks noChangeAspect="1"/>
          </p:cNvPicPr>
          <p:nvPr/>
        </p:nvPicPr>
        <p:blipFill>
          <a:blip r:embed="rId3"/>
          <a:stretch>
            <a:fillRect/>
          </a:stretch>
        </p:blipFill>
        <p:spPr>
          <a:xfrm>
            <a:off x="987552" y="3145536"/>
            <a:ext cx="237744" cy="237744"/>
          </a:xfrm>
          <a:prstGeom prst="rect">
            <a:avLst/>
          </a:prstGeom>
        </p:spPr>
      </p:pic>
      <p:sp>
        <p:nvSpPr>
          <p:cNvPr id="11" name="TextBox 10"/>
          <p:cNvSpPr txBox="1"/>
          <p:nvPr/>
        </p:nvSpPr>
        <p:spPr>
          <a:xfrm>
            <a:off x="1353312" y="2999232"/>
            <a:ext cx="5029200" cy="530352"/>
          </a:xfrm>
          <a:prstGeom prst="rect">
            <a:avLst/>
          </a:prstGeom>
          <a:noFill/>
        </p:spPr>
        <p:txBody>
          <a:bodyPr wrap="square" anchor="ctr" lIns="0" rIns="0" tIns="0" bIns="0">
            <a:spAutoFit/>
          </a:bodyPr>
          <a:lstStyle/>
          <a:p>
            <a:pPr algn="l">
              <a:lnSpc>
                <a:spcPct val="106000"/>
              </a:lnSpc>
              <a:spcBef>
                <a:spcPts val="0"/>
              </a:spcBef>
              <a:spcAft>
                <a:spcPts val="0"/>
              </a:spcAft>
            </a:pPr>
            <a:r>
              <a:rPr sz="1200" b="0">
                <a:solidFill>
                  <a:srgbClr val="1A1A1A"/>
                </a:solidFill>
                <a:latin typeface="Red Hat Text"/>
              </a:rPr>
              <a:t>Migration: after the DB, before the app</a:t>
            </a:r>
          </a:p>
        </p:txBody>
      </p:sp>
      <p:sp>
        <p:nvSpPr>
          <p:cNvPr id="12" name="Rounded Rectangle 11"/>
          <p:cNvSpPr/>
          <p:nvPr/>
        </p:nvSpPr>
        <p:spPr>
          <a:xfrm>
            <a:off x="841248" y="3602736"/>
            <a:ext cx="5715000" cy="530352"/>
          </a:xfrm>
          <a:prstGeom prst="roundRect">
            <a:avLst>
              <a:gd name="adj" fmla="val 6000"/>
            </a:avLst>
          </a:prstGeom>
          <a:solidFill>
            <a:srgbClr val="F5F6F8"/>
          </a:solidFill>
          <a:ln w="12700">
            <a:solidFill>
              <a:srgbClr val="DDE1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3" name="Picture 12" descr="check_steel.png"/>
          <p:cNvPicPr>
            <a:picLocks noChangeAspect="1"/>
          </p:cNvPicPr>
          <p:nvPr/>
        </p:nvPicPr>
        <p:blipFill>
          <a:blip r:embed="rId3"/>
          <a:stretch>
            <a:fillRect/>
          </a:stretch>
        </p:blipFill>
        <p:spPr>
          <a:xfrm>
            <a:off x="987552" y="3749040"/>
            <a:ext cx="237744" cy="237744"/>
          </a:xfrm>
          <a:prstGeom prst="rect">
            <a:avLst/>
          </a:prstGeom>
        </p:spPr>
      </p:pic>
      <p:sp>
        <p:nvSpPr>
          <p:cNvPr id="14" name="TextBox 13"/>
          <p:cNvSpPr txBox="1"/>
          <p:nvPr/>
        </p:nvSpPr>
        <p:spPr>
          <a:xfrm>
            <a:off x="1353312" y="3602736"/>
            <a:ext cx="5029200" cy="530352"/>
          </a:xfrm>
          <a:prstGeom prst="rect">
            <a:avLst/>
          </a:prstGeom>
          <a:noFill/>
        </p:spPr>
        <p:txBody>
          <a:bodyPr wrap="square" anchor="ctr" lIns="0" rIns="0" tIns="0" bIns="0">
            <a:spAutoFit/>
          </a:bodyPr>
          <a:lstStyle/>
          <a:p>
            <a:pPr algn="l">
              <a:lnSpc>
                <a:spcPct val="106000"/>
              </a:lnSpc>
              <a:spcBef>
                <a:spcPts val="0"/>
              </a:spcBef>
              <a:spcAft>
                <a:spcPts val="0"/>
              </a:spcAft>
            </a:pPr>
            <a:r>
              <a:rPr sz="1200" b="0">
                <a:solidFill>
                  <a:srgbClr val="1A1A1A"/>
                </a:solidFill>
                <a:latin typeface="Red Hat Text"/>
              </a:rPr>
              <a:t>Sync waves order the apply (0, 1, 2…)</a:t>
            </a:r>
          </a:p>
        </p:txBody>
      </p:sp>
      <p:sp>
        <p:nvSpPr>
          <p:cNvPr id="15" name="Rounded Rectangle 14"/>
          <p:cNvSpPr/>
          <p:nvPr/>
        </p:nvSpPr>
        <p:spPr>
          <a:xfrm>
            <a:off x="841248" y="4206240"/>
            <a:ext cx="5715000" cy="530352"/>
          </a:xfrm>
          <a:prstGeom prst="roundRect">
            <a:avLst>
              <a:gd name="adj" fmla="val 6000"/>
            </a:avLst>
          </a:prstGeom>
          <a:solidFill>
            <a:srgbClr val="F5F6F8"/>
          </a:solidFill>
          <a:ln w="12700">
            <a:solidFill>
              <a:srgbClr val="DDE1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6" name="Picture 15" descr="check_steel.png"/>
          <p:cNvPicPr>
            <a:picLocks noChangeAspect="1"/>
          </p:cNvPicPr>
          <p:nvPr/>
        </p:nvPicPr>
        <p:blipFill>
          <a:blip r:embed="rId3"/>
          <a:stretch>
            <a:fillRect/>
          </a:stretch>
        </p:blipFill>
        <p:spPr>
          <a:xfrm>
            <a:off x="987552" y="4352544"/>
            <a:ext cx="237744" cy="237744"/>
          </a:xfrm>
          <a:prstGeom prst="rect">
            <a:avLst/>
          </a:prstGeom>
        </p:spPr>
      </p:pic>
      <p:sp>
        <p:nvSpPr>
          <p:cNvPr id="17" name="TextBox 16"/>
          <p:cNvSpPr txBox="1"/>
          <p:nvPr/>
        </p:nvSpPr>
        <p:spPr>
          <a:xfrm>
            <a:off x="1353312" y="4206240"/>
            <a:ext cx="5029200" cy="530352"/>
          </a:xfrm>
          <a:prstGeom prst="rect">
            <a:avLst/>
          </a:prstGeom>
          <a:noFill/>
        </p:spPr>
        <p:txBody>
          <a:bodyPr wrap="square" anchor="ctr" lIns="0" rIns="0" tIns="0" bIns="0">
            <a:spAutoFit/>
          </a:bodyPr>
          <a:lstStyle/>
          <a:p>
            <a:pPr algn="l">
              <a:lnSpc>
                <a:spcPct val="106000"/>
              </a:lnSpc>
              <a:spcBef>
                <a:spcPts val="0"/>
              </a:spcBef>
              <a:spcAft>
                <a:spcPts val="0"/>
              </a:spcAft>
            </a:pPr>
            <a:r>
              <a:rPr sz="1200" b="0">
                <a:solidFill>
                  <a:srgbClr val="1A1A1A"/>
                </a:solidFill>
                <a:latin typeface="Red Hat Text"/>
              </a:rPr>
              <a:t>A Sync hook slots in a one-shot Job</a:t>
            </a:r>
          </a:p>
        </p:txBody>
      </p:sp>
      <p:sp>
        <p:nvSpPr>
          <p:cNvPr id="18" name="Rounded Rectangle 17"/>
          <p:cNvSpPr/>
          <p:nvPr/>
        </p:nvSpPr>
        <p:spPr>
          <a:xfrm>
            <a:off x="841248" y="4809744"/>
            <a:ext cx="5715000" cy="530352"/>
          </a:xfrm>
          <a:prstGeom prst="roundRect">
            <a:avLst>
              <a:gd name="adj" fmla="val 6000"/>
            </a:avLst>
          </a:prstGeom>
          <a:solidFill>
            <a:srgbClr val="F5F6F8"/>
          </a:solidFill>
          <a:ln w="12700">
            <a:solidFill>
              <a:srgbClr val="DDE1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9" name="Picture 18" descr="check_steel.png"/>
          <p:cNvPicPr>
            <a:picLocks noChangeAspect="1"/>
          </p:cNvPicPr>
          <p:nvPr/>
        </p:nvPicPr>
        <p:blipFill>
          <a:blip r:embed="rId3"/>
          <a:stretch>
            <a:fillRect/>
          </a:stretch>
        </p:blipFill>
        <p:spPr>
          <a:xfrm>
            <a:off x="987552" y="4956048"/>
            <a:ext cx="237744" cy="237744"/>
          </a:xfrm>
          <a:prstGeom prst="rect">
            <a:avLst/>
          </a:prstGeom>
        </p:spPr>
      </p:pic>
      <p:sp>
        <p:nvSpPr>
          <p:cNvPr id="20" name="TextBox 19"/>
          <p:cNvSpPr txBox="1"/>
          <p:nvPr/>
        </p:nvSpPr>
        <p:spPr>
          <a:xfrm>
            <a:off x="1353312" y="4809744"/>
            <a:ext cx="5029200" cy="530352"/>
          </a:xfrm>
          <a:prstGeom prst="rect">
            <a:avLst/>
          </a:prstGeom>
          <a:noFill/>
        </p:spPr>
        <p:txBody>
          <a:bodyPr wrap="square" anchor="ctr" lIns="0" rIns="0" tIns="0" bIns="0">
            <a:spAutoFit/>
          </a:bodyPr>
          <a:lstStyle/>
          <a:p>
            <a:pPr algn="l">
              <a:lnSpc>
                <a:spcPct val="106000"/>
              </a:lnSpc>
              <a:spcBef>
                <a:spcPts val="0"/>
              </a:spcBef>
              <a:spcAft>
                <a:spcPts val="0"/>
              </a:spcAft>
            </a:pPr>
            <a:r>
              <a:rPr sz="1200" b="0">
                <a:solidFill>
                  <a:srgbClr val="1A1A1A"/>
                </a:solidFill>
                <a:latin typeface="Red Hat Text"/>
              </a:rPr>
              <a:t>DB (0) → migration (1) → app (2)</a:t>
            </a:r>
          </a:p>
        </p:txBody>
      </p:sp>
      <p:sp>
        <p:nvSpPr>
          <p:cNvPr id="21" name="Rounded Rectangle 20"/>
          <p:cNvSpPr/>
          <p:nvPr/>
        </p:nvSpPr>
        <p:spPr>
          <a:xfrm>
            <a:off x="6812280" y="2395728"/>
            <a:ext cx="4538167" cy="2944368"/>
          </a:xfrm>
          <a:prstGeom prst="roundRect">
            <a:avLst>
              <a:gd name="adj" fmla="val 4000"/>
            </a:avLst>
          </a:prstGeom>
          <a:solidFill>
            <a:srgbClr val="FFFFFF"/>
          </a:solidFill>
          <a:ln w="15240">
            <a:solidFill>
              <a:srgbClr val="DDE1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ounded Rectangle 21"/>
          <p:cNvSpPr/>
          <p:nvPr/>
        </p:nvSpPr>
        <p:spPr>
          <a:xfrm>
            <a:off x="7013448" y="2596896"/>
            <a:ext cx="1298448" cy="310896"/>
          </a:xfrm>
          <a:prstGeom prst="roundRect">
            <a:avLst>
              <a:gd name="adj" fmla="val 50000"/>
            </a:avLst>
          </a:prstGeom>
          <a:solidFill>
            <a:srgbClr val="FCEC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7013448" y="2596896"/>
            <a:ext cx="1298448" cy="310896"/>
          </a:xfrm>
          <a:prstGeom prst="rect">
            <a:avLst/>
          </a:prstGeom>
          <a:noFill/>
        </p:spPr>
        <p:txBody>
          <a:bodyPr wrap="none" anchor="ctr" lIns="0" rIns="0" tIns="0" bIns="0">
            <a:spAutoFit/>
          </a:bodyPr>
          <a:lstStyle/>
          <a:p>
            <a:pPr algn="ctr">
              <a:lnSpc>
                <a:spcPct val="106000"/>
              </a:lnSpc>
              <a:spcBef>
                <a:spcPts val="0"/>
              </a:spcBef>
              <a:spcAft>
                <a:spcPts val="0"/>
              </a:spcAft>
            </a:pPr>
            <a:r>
              <a:rPr sz="850" b="1">
                <a:solidFill>
                  <a:srgbClr val="B80000"/>
                </a:solidFill>
                <a:latin typeface="Red Hat Display"/>
              </a:rPr>
              <a:t>MEDIA PASS</a:t>
            </a:r>
          </a:p>
        </p:txBody>
      </p:sp>
      <p:pic>
        <p:nvPicPr>
          <p:cNvPr id="24" name="Picture 23" descr="eye_slate.png"/>
          <p:cNvPicPr>
            <a:picLocks noChangeAspect="1"/>
          </p:cNvPicPr>
          <p:nvPr/>
        </p:nvPicPr>
        <p:blipFill>
          <a:blip r:embed="rId4"/>
          <a:stretch>
            <a:fillRect/>
          </a:stretch>
        </p:blipFill>
        <p:spPr>
          <a:xfrm>
            <a:off x="8843619" y="3108960"/>
            <a:ext cx="475488" cy="475488"/>
          </a:xfrm>
          <a:prstGeom prst="rect">
            <a:avLst/>
          </a:prstGeom>
        </p:spPr>
      </p:pic>
      <p:sp>
        <p:nvSpPr>
          <p:cNvPr id="25" name="TextBox 24"/>
          <p:cNvSpPr txBox="1"/>
          <p:nvPr/>
        </p:nvSpPr>
        <p:spPr>
          <a:xfrm>
            <a:off x="7050024" y="3721608"/>
            <a:ext cx="4062679" cy="1481328"/>
          </a:xfrm>
          <a:prstGeom prst="rect">
            <a:avLst/>
          </a:prstGeom>
          <a:noFill/>
        </p:spPr>
        <p:txBody>
          <a:bodyPr wrap="square" anchor="t" lIns="0" rIns="0" tIns="0" bIns="0">
            <a:spAutoFit/>
          </a:bodyPr>
          <a:lstStyle/>
          <a:p>
            <a:pPr algn="l">
              <a:lnSpc>
                <a:spcPct val="120000"/>
              </a:lnSpc>
              <a:spcBef>
                <a:spcPts val="0"/>
              </a:spcBef>
              <a:spcAft>
                <a:spcPts val="0"/>
              </a:spcAft>
            </a:pPr>
            <a:r>
              <a:rPr sz="950" b="0">
                <a:solidFill>
                  <a:srgbClr val="8A9099"/>
                </a:solidFill>
                <a:latin typeface="Red Hat Text"/>
              </a:rPr>
              <a:t>Concept diagram gitops-at-scale-02-sync-waves — three waves left to right, the middle one (migration Job) styled as a hook.</a:t>
            </a:r>
          </a:p>
        </p:txBody>
      </p:sp>
      <p:cxnSp>
        <p:nvCxnSpPr>
          <p:cNvPr id="26" name="Connector 25"/>
          <p:cNvCxnSpPr/>
          <p:nvPr/>
        </p:nvCxnSpPr>
        <p:spPr>
          <a:xfrm>
            <a:off x="841248" y="6437376"/>
            <a:ext cx="10509199" cy="0"/>
          </a:xfrm>
          <a:prstGeom prst="bentConnector3">
            <a:avLst/>
          </a:prstGeom>
          <a:ln w="12700">
            <a:solidFill>
              <a:srgbClr val="DDE1E6"/>
            </a:solidFill>
          </a:ln>
          <a:effectLst/>
        </p:spPr>
        <p:style>
          <a:lnRef idx="2">
            <a:schemeClr val="accent1"/>
          </a:lnRef>
          <a:fillRef idx="0">
            <a:schemeClr val="accent1"/>
          </a:fillRef>
          <a:effectRef idx="1">
            <a:schemeClr val="accent1"/>
          </a:effectRef>
          <a:fontRef idx="minor">
            <a:schemeClr val="tx1"/>
          </a:fontRef>
        </p:style>
      </p:cxnSp>
      <p:sp>
        <p:nvSpPr>
          <p:cNvPr id="27" name="TextBox 26"/>
          <p:cNvSpPr txBox="1"/>
          <p:nvPr/>
        </p:nvSpPr>
        <p:spPr>
          <a:xfrm>
            <a:off x="841248" y="6473952"/>
            <a:ext cx="7315200" cy="274320"/>
          </a:xfrm>
          <a:prstGeom prst="rect">
            <a:avLst/>
          </a:prstGeom>
          <a:noFill/>
        </p:spPr>
        <p:txBody>
          <a:bodyPr wrap="square" anchor="t" lIns="0" rIns="0" tIns="0" bIns="0">
            <a:spAutoFit/>
          </a:bodyPr>
          <a:lstStyle/>
          <a:p>
            <a:pPr algn="l">
              <a:lnSpc>
                <a:spcPct val="106000"/>
              </a:lnSpc>
              <a:spcBef>
                <a:spcPts val="0"/>
              </a:spcBef>
              <a:spcAft>
                <a:spcPts val="0"/>
              </a:spcAft>
            </a:pPr>
            <a:r>
              <a:rPr sz="950" b="0">
                <a:solidFill>
                  <a:srgbClr val="8A9099"/>
                </a:solidFill>
                <a:latin typeface="Red Hat Text"/>
              </a:rPr>
              <a:t>CONFIDENTIAL</a:t>
            </a:r>
          </a:p>
        </p:txBody>
      </p:sp>
      <p:sp>
        <p:nvSpPr>
          <p:cNvPr id="28" name="TextBox 27"/>
          <p:cNvSpPr txBox="1"/>
          <p:nvPr/>
        </p:nvSpPr>
        <p:spPr>
          <a:xfrm>
            <a:off x="10801807" y="6473952"/>
            <a:ext cx="548640" cy="274320"/>
          </a:xfrm>
          <a:prstGeom prst="rect">
            <a:avLst/>
          </a:prstGeom>
          <a:noFill/>
        </p:spPr>
        <p:txBody>
          <a:bodyPr wrap="square" anchor="t" lIns="0" rIns="0" tIns="0" bIns="0">
            <a:spAutoFit/>
          </a:bodyPr>
          <a:lstStyle/>
          <a:p>
            <a:pPr algn="r">
              <a:lnSpc>
                <a:spcPct val="106000"/>
              </a:lnSpc>
              <a:spcBef>
                <a:spcPts val="0"/>
              </a:spcBef>
              <a:spcAft>
                <a:spcPts val="0"/>
              </a:spcAft>
            </a:pPr>
            <a:r>
              <a:rPr sz="950" b="0">
                <a:solidFill>
                  <a:srgbClr val="8A9099"/>
                </a:solidFill>
                <a:latin typeface="Red Hat Text"/>
              </a:rPr>
              <a:t>77</a:t>
            </a:r>
          </a:p>
        </p:txBody>
      </p:sp>
    </p:spTree>
  </p:cSld>
  <p:clrMapOvr>
    <a:masterClrMapping/>
  </p:clrMapOvr>
</p:sld>
</file>

<file path=ppt/slides/slide8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redhat_logo.jpg"/>
          <p:cNvPicPr>
            <a:picLocks noChangeAspect="1"/>
          </p:cNvPicPr>
          <p:nvPr/>
        </p:nvPicPr>
        <p:blipFill>
          <a:blip r:embed="rId2"/>
          <a:stretch>
            <a:fillRect/>
          </a:stretch>
        </p:blipFill>
        <p:spPr>
          <a:xfrm>
            <a:off x="10326319" y="475488"/>
            <a:ext cx="1024128" cy="242248"/>
          </a:xfrm>
          <a:prstGeom prst="rect">
            <a:avLst/>
          </a:prstGeom>
        </p:spPr>
      </p:pic>
      <p:sp>
        <p:nvSpPr>
          <p:cNvPr id="3" name="TextBox 2"/>
          <p:cNvSpPr txBox="1"/>
          <p:nvPr/>
        </p:nvSpPr>
        <p:spPr>
          <a:xfrm>
            <a:off x="841248" y="548640"/>
            <a:ext cx="8595360" cy="274320"/>
          </a:xfrm>
          <a:prstGeom prst="rect">
            <a:avLst/>
          </a:prstGeom>
          <a:noFill/>
        </p:spPr>
        <p:txBody>
          <a:bodyPr wrap="square" anchor="t" lIns="0" rIns="0" tIns="0" bIns="0">
            <a:spAutoFit/>
          </a:bodyPr>
          <a:lstStyle/>
          <a:p>
            <a:pPr algn="l">
              <a:lnSpc>
                <a:spcPct val="106000"/>
              </a:lnSpc>
              <a:spcBef>
                <a:spcPts val="0"/>
              </a:spcBef>
              <a:spcAft>
                <a:spcPts val="0"/>
              </a:spcAft>
            </a:pPr>
            <a:r>
              <a:rPr sz="1250" b="1" spc="220">
                <a:solidFill>
                  <a:srgbClr val="EE0000"/>
                </a:solidFill>
                <a:latin typeface="Red Hat Display"/>
              </a:rPr>
              <a:t>M11 · GITOPS AT SCALE &amp; PROGRESSIVE DELIVERY</a:t>
            </a:r>
          </a:p>
        </p:txBody>
      </p:sp>
      <p:sp>
        <p:nvSpPr>
          <p:cNvPr id="4" name="TextBox 3"/>
          <p:cNvSpPr txBox="1"/>
          <p:nvPr/>
        </p:nvSpPr>
        <p:spPr>
          <a:xfrm>
            <a:off x="841248" y="877824"/>
            <a:ext cx="10515600" cy="548640"/>
          </a:xfrm>
          <a:prstGeom prst="rect">
            <a:avLst/>
          </a:prstGeom>
          <a:noFill/>
        </p:spPr>
        <p:txBody>
          <a:bodyPr wrap="none" anchor="t" lIns="0" rIns="0" tIns="0" bIns="0">
            <a:spAutoFit/>
          </a:bodyPr>
          <a:lstStyle/>
          <a:p>
            <a:pPr algn="l">
              <a:lnSpc>
                <a:spcPct val="100000"/>
              </a:lnSpc>
              <a:spcBef>
                <a:spcPts val="0"/>
              </a:spcBef>
              <a:spcAft>
                <a:spcPts val="0"/>
              </a:spcAft>
            </a:pPr>
            <a:r>
              <a:rPr sz="2500" b="1">
                <a:solidFill>
                  <a:srgbClr val="1A1A1A"/>
                </a:solidFill>
                <a:latin typeface="Red Hat Display"/>
              </a:rPr>
              <a:t>Progressive delivery — earn the traffic</a:t>
            </a:r>
          </a:p>
        </p:txBody>
      </p:sp>
      <p:cxnSp>
        <p:nvCxnSpPr>
          <p:cNvPr id="5" name="Connector 4"/>
          <p:cNvCxnSpPr/>
          <p:nvPr/>
        </p:nvCxnSpPr>
        <p:spPr>
          <a:xfrm>
            <a:off x="841248" y="1554480"/>
            <a:ext cx="1371600" cy="0"/>
          </a:xfrm>
          <a:prstGeom prst="bentConnector3">
            <a:avLst/>
          </a:prstGeom>
          <a:ln w="31750">
            <a:solidFill>
              <a:srgbClr val="EE0000"/>
            </a:solidFill>
          </a:ln>
          <a:effectLst/>
        </p:spPr>
        <p:style>
          <a:lnRef idx="2">
            <a:schemeClr val="accent1"/>
          </a:lnRef>
          <a:fillRef idx="0">
            <a:schemeClr val="accent1"/>
          </a:fillRef>
          <a:effectRef idx="1">
            <a:schemeClr val="accent1"/>
          </a:effectRef>
          <a:fontRef idx="minor">
            <a:schemeClr val="tx1"/>
          </a:fontRef>
        </p:style>
      </p:cxnSp>
      <p:sp>
        <p:nvSpPr>
          <p:cNvPr id="6" name="Rounded Rectangle 5"/>
          <p:cNvSpPr/>
          <p:nvPr/>
        </p:nvSpPr>
        <p:spPr>
          <a:xfrm>
            <a:off x="841248" y="2395728"/>
            <a:ext cx="5715000" cy="530352"/>
          </a:xfrm>
          <a:prstGeom prst="roundRect">
            <a:avLst>
              <a:gd name="adj" fmla="val 6000"/>
            </a:avLst>
          </a:prstGeom>
          <a:solidFill>
            <a:srgbClr val="F5F6F8"/>
          </a:solidFill>
          <a:ln w="12700">
            <a:solidFill>
              <a:srgbClr val="DDE1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check_steel.png"/>
          <p:cNvPicPr>
            <a:picLocks noChangeAspect="1"/>
          </p:cNvPicPr>
          <p:nvPr/>
        </p:nvPicPr>
        <p:blipFill>
          <a:blip r:embed="rId3"/>
          <a:stretch>
            <a:fillRect/>
          </a:stretch>
        </p:blipFill>
        <p:spPr>
          <a:xfrm>
            <a:off x="987552" y="2542032"/>
            <a:ext cx="237744" cy="237744"/>
          </a:xfrm>
          <a:prstGeom prst="rect">
            <a:avLst/>
          </a:prstGeom>
        </p:spPr>
      </p:pic>
      <p:sp>
        <p:nvSpPr>
          <p:cNvPr id="8" name="TextBox 7"/>
          <p:cNvSpPr txBox="1"/>
          <p:nvPr/>
        </p:nvSpPr>
        <p:spPr>
          <a:xfrm>
            <a:off x="1353312" y="2395728"/>
            <a:ext cx="5029200" cy="530352"/>
          </a:xfrm>
          <a:prstGeom prst="rect">
            <a:avLst/>
          </a:prstGeom>
          <a:noFill/>
        </p:spPr>
        <p:txBody>
          <a:bodyPr wrap="square" anchor="ctr" lIns="0" rIns="0" tIns="0" bIns="0">
            <a:spAutoFit/>
          </a:bodyPr>
          <a:lstStyle/>
          <a:p>
            <a:pPr algn="l">
              <a:lnSpc>
                <a:spcPct val="106000"/>
              </a:lnSpc>
              <a:spcBef>
                <a:spcPts val="0"/>
              </a:spcBef>
              <a:spcAft>
                <a:spcPts val="0"/>
              </a:spcAft>
            </a:pPr>
            <a:r>
              <a:rPr sz="1200" b="0">
                <a:solidFill>
                  <a:srgbClr val="1A1A1A"/>
                </a:solidFill>
                <a:latin typeface="Red Hat Text"/>
              </a:rPr>
              <a:t>Don't bet all of prod on one deploy</a:t>
            </a:r>
          </a:p>
        </p:txBody>
      </p:sp>
      <p:sp>
        <p:nvSpPr>
          <p:cNvPr id="9" name="Rounded Rectangle 8"/>
          <p:cNvSpPr/>
          <p:nvPr/>
        </p:nvSpPr>
        <p:spPr>
          <a:xfrm>
            <a:off x="841248" y="2999232"/>
            <a:ext cx="5715000" cy="530352"/>
          </a:xfrm>
          <a:prstGeom prst="roundRect">
            <a:avLst>
              <a:gd name="adj" fmla="val 6000"/>
            </a:avLst>
          </a:prstGeom>
          <a:solidFill>
            <a:srgbClr val="F5F6F8"/>
          </a:solidFill>
          <a:ln w="12700">
            <a:solidFill>
              <a:srgbClr val="DDE1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0" name="Picture 9" descr="check_steel.png"/>
          <p:cNvPicPr>
            <a:picLocks noChangeAspect="1"/>
          </p:cNvPicPr>
          <p:nvPr/>
        </p:nvPicPr>
        <p:blipFill>
          <a:blip r:embed="rId3"/>
          <a:stretch>
            <a:fillRect/>
          </a:stretch>
        </p:blipFill>
        <p:spPr>
          <a:xfrm>
            <a:off x="987552" y="3145536"/>
            <a:ext cx="237744" cy="237744"/>
          </a:xfrm>
          <a:prstGeom prst="rect">
            <a:avLst/>
          </a:prstGeom>
        </p:spPr>
      </p:pic>
      <p:sp>
        <p:nvSpPr>
          <p:cNvPr id="11" name="TextBox 10"/>
          <p:cNvSpPr txBox="1"/>
          <p:nvPr/>
        </p:nvSpPr>
        <p:spPr>
          <a:xfrm>
            <a:off x="1353312" y="2999232"/>
            <a:ext cx="5029200" cy="530352"/>
          </a:xfrm>
          <a:prstGeom prst="rect">
            <a:avLst/>
          </a:prstGeom>
          <a:noFill/>
        </p:spPr>
        <p:txBody>
          <a:bodyPr wrap="square" anchor="ctr" lIns="0" rIns="0" tIns="0" bIns="0">
            <a:spAutoFit/>
          </a:bodyPr>
          <a:lstStyle/>
          <a:p>
            <a:pPr algn="l">
              <a:lnSpc>
                <a:spcPct val="106000"/>
              </a:lnSpc>
              <a:spcBef>
                <a:spcPts val="0"/>
              </a:spcBef>
              <a:spcAft>
                <a:spcPts val="0"/>
              </a:spcAft>
            </a:pPr>
            <a:r>
              <a:rPr sz="1200" b="0">
                <a:solidFill>
                  <a:srgbClr val="1A1A1A"/>
                </a:solidFill>
                <a:latin typeface="Red Hat Text"/>
              </a:rPr>
              <a:t>Route a small slice to the new version</a:t>
            </a:r>
          </a:p>
        </p:txBody>
      </p:sp>
      <p:sp>
        <p:nvSpPr>
          <p:cNvPr id="12" name="Rounded Rectangle 11"/>
          <p:cNvSpPr/>
          <p:nvPr/>
        </p:nvSpPr>
        <p:spPr>
          <a:xfrm>
            <a:off x="841248" y="3602736"/>
            <a:ext cx="5715000" cy="530352"/>
          </a:xfrm>
          <a:prstGeom prst="roundRect">
            <a:avLst>
              <a:gd name="adj" fmla="val 6000"/>
            </a:avLst>
          </a:prstGeom>
          <a:solidFill>
            <a:srgbClr val="F5F6F8"/>
          </a:solidFill>
          <a:ln w="12700">
            <a:solidFill>
              <a:srgbClr val="DDE1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3" name="Picture 12" descr="check_steel.png"/>
          <p:cNvPicPr>
            <a:picLocks noChangeAspect="1"/>
          </p:cNvPicPr>
          <p:nvPr/>
        </p:nvPicPr>
        <p:blipFill>
          <a:blip r:embed="rId3"/>
          <a:stretch>
            <a:fillRect/>
          </a:stretch>
        </p:blipFill>
        <p:spPr>
          <a:xfrm>
            <a:off x="987552" y="3749040"/>
            <a:ext cx="237744" cy="237744"/>
          </a:xfrm>
          <a:prstGeom prst="rect">
            <a:avLst/>
          </a:prstGeom>
        </p:spPr>
      </p:pic>
      <p:sp>
        <p:nvSpPr>
          <p:cNvPr id="14" name="TextBox 13"/>
          <p:cNvSpPr txBox="1"/>
          <p:nvPr/>
        </p:nvSpPr>
        <p:spPr>
          <a:xfrm>
            <a:off x="1353312" y="3602736"/>
            <a:ext cx="5029200" cy="530352"/>
          </a:xfrm>
          <a:prstGeom prst="rect">
            <a:avLst/>
          </a:prstGeom>
          <a:noFill/>
        </p:spPr>
        <p:txBody>
          <a:bodyPr wrap="square" anchor="ctr" lIns="0" rIns="0" tIns="0" bIns="0">
            <a:spAutoFit/>
          </a:bodyPr>
          <a:lstStyle/>
          <a:p>
            <a:pPr algn="l">
              <a:lnSpc>
                <a:spcPct val="106000"/>
              </a:lnSpc>
              <a:spcBef>
                <a:spcPts val="0"/>
              </a:spcBef>
              <a:spcAft>
                <a:spcPts val="0"/>
              </a:spcAft>
            </a:pPr>
            <a:r>
              <a:rPr sz="1200" b="0">
                <a:solidFill>
                  <a:srgbClr val="1A1A1A"/>
                </a:solidFill>
                <a:latin typeface="Red Hat Text"/>
              </a:rPr>
              <a:t>Canary: 25% → pause → 50% → analysis → 100%</a:t>
            </a:r>
          </a:p>
        </p:txBody>
      </p:sp>
      <p:sp>
        <p:nvSpPr>
          <p:cNvPr id="15" name="Rounded Rectangle 14"/>
          <p:cNvSpPr/>
          <p:nvPr/>
        </p:nvSpPr>
        <p:spPr>
          <a:xfrm>
            <a:off x="841248" y="4206240"/>
            <a:ext cx="5715000" cy="530352"/>
          </a:xfrm>
          <a:prstGeom prst="roundRect">
            <a:avLst>
              <a:gd name="adj" fmla="val 6000"/>
            </a:avLst>
          </a:prstGeom>
          <a:solidFill>
            <a:srgbClr val="F5F6F8"/>
          </a:solidFill>
          <a:ln w="12700">
            <a:solidFill>
              <a:srgbClr val="DDE1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6" name="Picture 15" descr="check_steel.png"/>
          <p:cNvPicPr>
            <a:picLocks noChangeAspect="1"/>
          </p:cNvPicPr>
          <p:nvPr/>
        </p:nvPicPr>
        <p:blipFill>
          <a:blip r:embed="rId3"/>
          <a:stretch>
            <a:fillRect/>
          </a:stretch>
        </p:blipFill>
        <p:spPr>
          <a:xfrm>
            <a:off x="987552" y="4352544"/>
            <a:ext cx="237744" cy="237744"/>
          </a:xfrm>
          <a:prstGeom prst="rect">
            <a:avLst/>
          </a:prstGeom>
        </p:spPr>
      </p:pic>
      <p:sp>
        <p:nvSpPr>
          <p:cNvPr id="17" name="TextBox 16"/>
          <p:cNvSpPr txBox="1"/>
          <p:nvPr/>
        </p:nvSpPr>
        <p:spPr>
          <a:xfrm>
            <a:off x="1353312" y="4206240"/>
            <a:ext cx="5029200" cy="530352"/>
          </a:xfrm>
          <a:prstGeom prst="rect">
            <a:avLst/>
          </a:prstGeom>
          <a:noFill/>
        </p:spPr>
        <p:txBody>
          <a:bodyPr wrap="square" anchor="ctr" lIns="0" rIns="0" tIns="0" bIns="0">
            <a:spAutoFit/>
          </a:bodyPr>
          <a:lstStyle/>
          <a:p>
            <a:pPr algn="l">
              <a:lnSpc>
                <a:spcPct val="106000"/>
              </a:lnSpc>
              <a:spcBef>
                <a:spcPts val="0"/>
              </a:spcBef>
              <a:spcAft>
                <a:spcPts val="0"/>
              </a:spcAft>
            </a:pPr>
            <a:r>
              <a:rPr sz="1200" b="0">
                <a:solidFill>
                  <a:srgbClr val="1A1A1A"/>
                </a:solidFill>
                <a:latin typeface="Red Hat Text"/>
              </a:rPr>
              <a:t>Analysis probes real health, gates promotion</a:t>
            </a:r>
          </a:p>
        </p:txBody>
      </p:sp>
      <p:sp>
        <p:nvSpPr>
          <p:cNvPr id="18" name="Rounded Rectangle 17"/>
          <p:cNvSpPr/>
          <p:nvPr/>
        </p:nvSpPr>
        <p:spPr>
          <a:xfrm>
            <a:off x="841248" y="4809744"/>
            <a:ext cx="5715000" cy="530352"/>
          </a:xfrm>
          <a:prstGeom prst="roundRect">
            <a:avLst>
              <a:gd name="adj" fmla="val 6000"/>
            </a:avLst>
          </a:prstGeom>
          <a:solidFill>
            <a:srgbClr val="F5F6F8"/>
          </a:solidFill>
          <a:ln w="12700">
            <a:solidFill>
              <a:srgbClr val="DDE1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9" name="Picture 18" descr="check_steel.png"/>
          <p:cNvPicPr>
            <a:picLocks noChangeAspect="1"/>
          </p:cNvPicPr>
          <p:nvPr/>
        </p:nvPicPr>
        <p:blipFill>
          <a:blip r:embed="rId3"/>
          <a:stretch>
            <a:fillRect/>
          </a:stretch>
        </p:blipFill>
        <p:spPr>
          <a:xfrm>
            <a:off x="987552" y="4956048"/>
            <a:ext cx="237744" cy="237744"/>
          </a:xfrm>
          <a:prstGeom prst="rect">
            <a:avLst/>
          </a:prstGeom>
        </p:spPr>
      </p:pic>
      <p:sp>
        <p:nvSpPr>
          <p:cNvPr id="20" name="TextBox 19"/>
          <p:cNvSpPr txBox="1"/>
          <p:nvPr/>
        </p:nvSpPr>
        <p:spPr>
          <a:xfrm>
            <a:off x="1353312" y="4809744"/>
            <a:ext cx="5029200" cy="530352"/>
          </a:xfrm>
          <a:prstGeom prst="rect">
            <a:avLst/>
          </a:prstGeom>
          <a:noFill/>
        </p:spPr>
        <p:txBody>
          <a:bodyPr wrap="square" anchor="ctr" lIns="0" rIns="0" tIns="0" bIns="0">
            <a:spAutoFit/>
          </a:bodyPr>
          <a:lstStyle/>
          <a:p>
            <a:pPr algn="l">
              <a:lnSpc>
                <a:spcPct val="106000"/>
              </a:lnSpc>
              <a:spcBef>
                <a:spcPts val="0"/>
              </a:spcBef>
              <a:spcAft>
                <a:spcPts val="0"/>
              </a:spcAft>
            </a:pPr>
            <a:r>
              <a:rPr sz="1200" b="0">
                <a:solidFill>
                  <a:srgbClr val="1A1A1A"/>
                </a:solidFill>
                <a:latin typeface="Red Hat Text"/>
              </a:rPr>
              <a:t>Pod-ratio here; request-% needs a traffic router</a:t>
            </a:r>
          </a:p>
        </p:txBody>
      </p:sp>
      <p:sp>
        <p:nvSpPr>
          <p:cNvPr id="21" name="Rounded Rectangle 20"/>
          <p:cNvSpPr/>
          <p:nvPr/>
        </p:nvSpPr>
        <p:spPr>
          <a:xfrm>
            <a:off x="6812280" y="2395728"/>
            <a:ext cx="4538167" cy="2944368"/>
          </a:xfrm>
          <a:prstGeom prst="roundRect">
            <a:avLst>
              <a:gd name="adj" fmla="val 4000"/>
            </a:avLst>
          </a:prstGeom>
          <a:solidFill>
            <a:srgbClr val="FFFFFF"/>
          </a:solidFill>
          <a:ln w="15240">
            <a:solidFill>
              <a:srgbClr val="DDE1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ounded Rectangle 21"/>
          <p:cNvSpPr/>
          <p:nvPr/>
        </p:nvSpPr>
        <p:spPr>
          <a:xfrm>
            <a:off x="7013448" y="2596896"/>
            <a:ext cx="1298448" cy="310896"/>
          </a:xfrm>
          <a:prstGeom prst="roundRect">
            <a:avLst>
              <a:gd name="adj" fmla="val 50000"/>
            </a:avLst>
          </a:prstGeom>
          <a:solidFill>
            <a:srgbClr val="FCEC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7013448" y="2596896"/>
            <a:ext cx="1298448" cy="310896"/>
          </a:xfrm>
          <a:prstGeom prst="rect">
            <a:avLst/>
          </a:prstGeom>
          <a:noFill/>
        </p:spPr>
        <p:txBody>
          <a:bodyPr wrap="none" anchor="ctr" lIns="0" rIns="0" tIns="0" bIns="0">
            <a:spAutoFit/>
          </a:bodyPr>
          <a:lstStyle/>
          <a:p>
            <a:pPr algn="ctr">
              <a:lnSpc>
                <a:spcPct val="106000"/>
              </a:lnSpc>
              <a:spcBef>
                <a:spcPts val="0"/>
              </a:spcBef>
              <a:spcAft>
                <a:spcPts val="0"/>
              </a:spcAft>
            </a:pPr>
            <a:r>
              <a:rPr sz="850" b="1">
                <a:solidFill>
                  <a:srgbClr val="B80000"/>
                </a:solidFill>
                <a:latin typeface="Red Hat Display"/>
              </a:rPr>
              <a:t>MEDIA PASS</a:t>
            </a:r>
          </a:p>
        </p:txBody>
      </p:sp>
      <p:pic>
        <p:nvPicPr>
          <p:cNvPr id="24" name="Picture 23" descr="eye_slate.png"/>
          <p:cNvPicPr>
            <a:picLocks noChangeAspect="1"/>
          </p:cNvPicPr>
          <p:nvPr/>
        </p:nvPicPr>
        <p:blipFill>
          <a:blip r:embed="rId4"/>
          <a:stretch>
            <a:fillRect/>
          </a:stretch>
        </p:blipFill>
        <p:spPr>
          <a:xfrm>
            <a:off x="8843619" y="3108960"/>
            <a:ext cx="475488" cy="475488"/>
          </a:xfrm>
          <a:prstGeom prst="rect">
            <a:avLst/>
          </a:prstGeom>
        </p:spPr>
      </p:pic>
      <p:sp>
        <p:nvSpPr>
          <p:cNvPr id="25" name="TextBox 24"/>
          <p:cNvSpPr txBox="1"/>
          <p:nvPr/>
        </p:nvSpPr>
        <p:spPr>
          <a:xfrm>
            <a:off x="7050024" y="3721608"/>
            <a:ext cx="4062679" cy="1481328"/>
          </a:xfrm>
          <a:prstGeom prst="rect">
            <a:avLst/>
          </a:prstGeom>
          <a:noFill/>
        </p:spPr>
        <p:txBody>
          <a:bodyPr wrap="square" anchor="t" lIns="0" rIns="0" tIns="0" bIns="0">
            <a:spAutoFit/>
          </a:bodyPr>
          <a:lstStyle/>
          <a:p>
            <a:pPr algn="l">
              <a:lnSpc>
                <a:spcPct val="120000"/>
              </a:lnSpc>
              <a:spcBef>
                <a:spcPts val="0"/>
              </a:spcBef>
              <a:spcAft>
                <a:spcPts val="0"/>
              </a:spcAft>
            </a:pPr>
            <a:r>
              <a:rPr sz="950" b="0">
                <a:solidFill>
                  <a:srgbClr val="8A9099"/>
                </a:solidFill>
                <a:latin typeface="Red Hat Text"/>
              </a:rPr>
              <a:t>Concept diagram gitops-at-scale-03-canary-analysis — the canary flow with the analysis diamond forking to pass (100%) and fail (rollback).</a:t>
            </a:r>
          </a:p>
        </p:txBody>
      </p:sp>
      <p:cxnSp>
        <p:nvCxnSpPr>
          <p:cNvPr id="26" name="Connector 25"/>
          <p:cNvCxnSpPr/>
          <p:nvPr/>
        </p:nvCxnSpPr>
        <p:spPr>
          <a:xfrm>
            <a:off x="841248" y="6437376"/>
            <a:ext cx="10509199" cy="0"/>
          </a:xfrm>
          <a:prstGeom prst="bentConnector3">
            <a:avLst/>
          </a:prstGeom>
          <a:ln w="12700">
            <a:solidFill>
              <a:srgbClr val="DDE1E6"/>
            </a:solidFill>
          </a:ln>
          <a:effectLst/>
        </p:spPr>
        <p:style>
          <a:lnRef idx="2">
            <a:schemeClr val="accent1"/>
          </a:lnRef>
          <a:fillRef idx="0">
            <a:schemeClr val="accent1"/>
          </a:fillRef>
          <a:effectRef idx="1">
            <a:schemeClr val="accent1"/>
          </a:effectRef>
          <a:fontRef idx="minor">
            <a:schemeClr val="tx1"/>
          </a:fontRef>
        </p:style>
      </p:cxnSp>
      <p:sp>
        <p:nvSpPr>
          <p:cNvPr id="27" name="TextBox 26"/>
          <p:cNvSpPr txBox="1"/>
          <p:nvPr/>
        </p:nvSpPr>
        <p:spPr>
          <a:xfrm>
            <a:off x="841248" y="6473952"/>
            <a:ext cx="7315200" cy="274320"/>
          </a:xfrm>
          <a:prstGeom prst="rect">
            <a:avLst/>
          </a:prstGeom>
          <a:noFill/>
        </p:spPr>
        <p:txBody>
          <a:bodyPr wrap="square" anchor="t" lIns="0" rIns="0" tIns="0" bIns="0">
            <a:spAutoFit/>
          </a:bodyPr>
          <a:lstStyle/>
          <a:p>
            <a:pPr algn="l">
              <a:lnSpc>
                <a:spcPct val="106000"/>
              </a:lnSpc>
              <a:spcBef>
                <a:spcPts val="0"/>
              </a:spcBef>
              <a:spcAft>
                <a:spcPts val="0"/>
              </a:spcAft>
            </a:pPr>
            <a:r>
              <a:rPr sz="950" b="0">
                <a:solidFill>
                  <a:srgbClr val="8A9099"/>
                </a:solidFill>
                <a:latin typeface="Red Hat Text"/>
              </a:rPr>
              <a:t>CONFIDENTIAL</a:t>
            </a:r>
          </a:p>
        </p:txBody>
      </p:sp>
      <p:sp>
        <p:nvSpPr>
          <p:cNvPr id="28" name="TextBox 27"/>
          <p:cNvSpPr txBox="1"/>
          <p:nvPr/>
        </p:nvSpPr>
        <p:spPr>
          <a:xfrm>
            <a:off x="10801807" y="6473952"/>
            <a:ext cx="548640" cy="274320"/>
          </a:xfrm>
          <a:prstGeom prst="rect">
            <a:avLst/>
          </a:prstGeom>
          <a:noFill/>
        </p:spPr>
        <p:txBody>
          <a:bodyPr wrap="square" anchor="t" lIns="0" rIns="0" tIns="0" bIns="0">
            <a:spAutoFit/>
          </a:bodyPr>
          <a:lstStyle/>
          <a:p>
            <a:pPr algn="r">
              <a:lnSpc>
                <a:spcPct val="106000"/>
              </a:lnSpc>
              <a:spcBef>
                <a:spcPts val="0"/>
              </a:spcBef>
              <a:spcAft>
                <a:spcPts val="0"/>
              </a:spcAft>
            </a:pPr>
            <a:r>
              <a:rPr sz="950" b="0">
                <a:solidFill>
                  <a:srgbClr val="8A9099"/>
                </a:solidFill>
                <a:latin typeface="Red Hat Text"/>
              </a:rPr>
              <a:t>78</a:t>
            </a:r>
          </a:p>
        </p:txBody>
      </p:sp>
    </p:spTree>
  </p:cSld>
  <p:clrMapOvr>
    <a:masterClrMapping/>
  </p:clrMapOvr>
</p:sld>
</file>

<file path=ppt/slides/slide9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redhat_logo.jpg"/>
          <p:cNvPicPr>
            <a:picLocks noChangeAspect="1"/>
          </p:cNvPicPr>
          <p:nvPr/>
        </p:nvPicPr>
        <p:blipFill>
          <a:blip r:embed="rId2"/>
          <a:stretch>
            <a:fillRect/>
          </a:stretch>
        </p:blipFill>
        <p:spPr>
          <a:xfrm>
            <a:off x="10326319" y="475488"/>
            <a:ext cx="1024128" cy="242248"/>
          </a:xfrm>
          <a:prstGeom prst="rect">
            <a:avLst/>
          </a:prstGeom>
        </p:spPr>
      </p:pic>
      <p:sp>
        <p:nvSpPr>
          <p:cNvPr id="3" name="TextBox 2"/>
          <p:cNvSpPr txBox="1"/>
          <p:nvPr/>
        </p:nvSpPr>
        <p:spPr>
          <a:xfrm>
            <a:off x="841248" y="548640"/>
            <a:ext cx="8595360" cy="274320"/>
          </a:xfrm>
          <a:prstGeom prst="rect">
            <a:avLst/>
          </a:prstGeom>
          <a:noFill/>
        </p:spPr>
        <p:txBody>
          <a:bodyPr wrap="square" anchor="t" lIns="0" rIns="0" tIns="0" bIns="0">
            <a:spAutoFit/>
          </a:bodyPr>
          <a:lstStyle/>
          <a:p>
            <a:pPr algn="l">
              <a:lnSpc>
                <a:spcPct val="106000"/>
              </a:lnSpc>
              <a:spcBef>
                <a:spcPts val="0"/>
              </a:spcBef>
              <a:spcAft>
                <a:spcPts val="0"/>
              </a:spcAft>
            </a:pPr>
            <a:r>
              <a:rPr sz="1250" b="1" spc="220">
                <a:solidFill>
                  <a:srgbClr val="EE0000"/>
                </a:solidFill>
                <a:latin typeface="Red Hat Display"/>
              </a:rPr>
              <a:t>M11 · GITOPS AT SCALE &amp; PROGRESSIVE DELIVERY</a:t>
            </a:r>
          </a:p>
        </p:txBody>
      </p:sp>
      <p:sp>
        <p:nvSpPr>
          <p:cNvPr id="4" name="TextBox 3"/>
          <p:cNvSpPr txBox="1"/>
          <p:nvPr/>
        </p:nvSpPr>
        <p:spPr>
          <a:xfrm>
            <a:off x="841248" y="877824"/>
            <a:ext cx="10515600" cy="548640"/>
          </a:xfrm>
          <a:prstGeom prst="rect">
            <a:avLst/>
          </a:prstGeom>
          <a:noFill/>
        </p:spPr>
        <p:txBody>
          <a:bodyPr wrap="none" anchor="t" lIns="0" rIns="0" tIns="0" bIns="0">
            <a:spAutoFit/>
          </a:bodyPr>
          <a:lstStyle/>
          <a:p>
            <a:pPr algn="l">
              <a:lnSpc>
                <a:spcPct val="100000"/>
              </a:lnSpc>
              <a:spcBef>
                <a:spcPts val="0"/>
              </a:spcBef>
              <a:spcAft>
                <a:spcPts val="0"/>
              </a:spcAft>
            </a:pPr>
            <a:r>
              <a:rPr sz="2500" b="1">
                <a:solidFill>
                  <a:srgbClr val="1A1A1A"/>
                </a:solidFill>
                <a:latin typeface="Red Hat Display"/>
              </a:rPr>
              <a:t>The bad release that rolls itself back</a:t>
            </a:r>
          </a:p>
        </p:txBody>
      </p:sp>
      <p:cxnSp>
        <p:nvCxnSpPr>
          <p:cNvPr id="5" name="Connector 4"/>
          <p:cNvCxnSpPr/>
          <p:nvPr/>
        </p:nvCxnSpPr>
        <p:spPr>
          <a:xfrm>
            <a:off x="841248" y="1554480"/>
            <a:ext cx="1371600" cy="0"/>
          </a:xfrm>
          <a:prstGeom prst="bentConnector3">
            <a:avLst/>
          </a:prstGeom>
          <a:ln w="31750">
            <a:solidFill>
              <a:srgbClr val="EE0000"/>
            </a:solidFill>
          </a:ln>
          <a:effectLst/>
        </p:spPr>
        <p:style>
          <a:lnRef idx="2">
            <a:schemeClr val="accent1"/>
          </a:lnRef>
          <a:fillRef idx="0">
            <a:schemeClr val="accent1"/>
          </a:fillRef>
          <a:effectRef idx="1">
            <a:schemeClr val="accent1"/>
          </a:effectRef>
          <a:fontRef idx="minor">
            <a:schemeClr val="tx1"/>
          </a:fontRef>
        </p:style>
      </p:cxnSp>
      <p:sp>
        <p:nvSpPr>
          <p:cNvPr id="6" name="Rounded Rectangle 5"/>
          <p:cNvSpPr/>
          <p:nvPr/>
        </p:nvSpPr>
        <p:spPr>
          <a:xfrm>
            <a:off x="841248" y="2395728"/>
            <a:ext cx="5715000" cy="530352"/>
          </a:xfrm>
          <a:prstGeom prst="roundRect">
            <a:avLst>
              <a:gd name="adj" fmla="val 6000"/>
            </a:avLst>
          </a:prstGeom>
          <a:solidFill>
            <a:srgbClr val="F5F6F8"/>
          </a:solidFill>
          <a:ln w="12700">
            <a:solidFill>
              <a:srgbClr val="DDE1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check_steel.png"/>
          <p:cNvPicPr>
            <a:picLocks noChangeAspect="1"/>
          </p:cNvPicPr>
          <p:nvPr/>
        </p:nvPicPr>
        <p:blipFill>
          <a:blip r:embed="rId3"/>
          <a:stretch>
            <a:fillRect/>
          </a:stretch>
        </p:blipFill>
        <p:spPr>
          <a:xfrm>
            <a:off x="987552" y="2542032"/>
            <a:ext cx="237744" cy="237744"/>
          </a:xfrm>
          <a:prstGeom prst="rect">
            <a:avLst/>
          </a:prstGeom>
        </p:spPr>
      </p:pic>
      <p:sp>
        <p:nvSpPr>
          <p:cNvPr id="8" name="TextBox 7"/>
          <p:cNvSpPr txBox="1"/>
          <p:nvPr/>
        </p:nvSpPr>
        <p:spPr>
          <a:xfrm>
            <a:off x="1353312" y="2395728"/>
            <a:ext cx="5029200" cy="530352"/>
          </a:xfrm>
          <a:prstGeom prst="rect">
            <a:avLst/>
          </a:prstGeom>
          <a:noFill/>
        </p:spPr>
        <p:txBody>
          <a:bodyPr wrap="square" anchor="ctr" lIns="0" rIns="0" tIns="0" bIns="0">
            <a:spAutoFit/>
          </a:bodyPr>
          <a:lstStyle/>
          <a:p>
            <a:pPr algn="l">
              <a:lnSpc>
                <a:spcPct val="106000"/>
              </a:lnSpc>
              <a:spcBef>
                <a:spcPts val="0"/>
              </a:spcBef>
              <a:spcAft>
                <a:spcPts val="0"/>
              </a:spcAft>
            </a:pPr>
            <a:r>
              <a:rPr sz="1200" b="0">
                <a:solidFill>
                  <a:srgbClr val="1A1A1A"/>
                </a:solidFill>
                <a:latin typeface="Red Hat Text"/>
              </a:rPr>
              <a:t>Ship a build whose analysis will fail</a:t>
            </a:r>
          </a:p>
        </p:txBody>
      </p:sp>
      <p:sp>
        <p:nvSpPr>
          <p:cNvPr id="9" name="Rounded Rectangle 8"/>
          <p:cNvSpPr/>
          <p:nvPr/>
        </p:nvSpPr>
        <p:spPr>
          <a:xfrm>
            <a:off x="841248" y="2999232"/>
            <a:ext cx="5715000" cy="530352"/>
          </a:xfrm>
          <a:prstGeom prst="roundRect">
            <a:avLst>
              <a:gd name="adj" fmla="val 6000"/>
            </a:avLst>
          </a:prstGeom>
          <a:solidFill>
            <a:srgbClr val="F5F6F8"/>
          </a:solidFill>
          <a:ln w="12700">
            <a:solidFill>
              <a:srgbClr val="DDE1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0" name="Picture 9" descr="check_steel.png"/>
          <p:cNvPicPr>
            <a:picLocks noChangeAspect="1"/>
          </p:cNvPicPr>
          <p:nvPr/>
        </p:nvPicPr>
        <p:blipFill>
          <a:blip r:embed="rId3"/>
          <a:stretch>
            <a:fillRect/>
          </a:stretch>
        </p:blipFill>
        <p:spPr>
          <a:xfrm>
            <a:off x="987552" y="3145536"/>
            <a:ext cx="237744" cy="237744"/>
          </a:xfrm>
          <a:prstGeom prst="rect">
            <a:avLst/>
          </a:prstGeom>
        </p:spPr>
      </p:pic>
      <p:sp>
        <p:nvSpPr>
          <p:cNvPr id="11" name="TextBox 10"/>
          <p:cNvSpPr txBox="1"/>
          <p:nvPr/>
        </p:nvSpPr>
        <p:spPr>
          <a:xfrm>
            <a:off x="1353312" y="2999232"/>
            <a:ext cx="5029200" cy="530352"/>
          </a:xfrm>
          <a:prstGeom prst="rect">
            <a:avLst/>
          </a:prstGeom>
          <a:noFill/>
        </p:spPr>
        <p:txBody>
          <a:bodyPr wrap="square" anchor="ctr" lIns="0" rIns="0" tIns="0" bIns="0">
            <a:spAutoFit/>
          </a:bodyPr>
          <a:lstStyle/>
          <a:p>
            <a:pPr algn="l">
              <a:lnSpc>
                <a:spcPct val="106000"/>
              </a:lnSpc>
              <a:spcBef>
                <a:spcPts val="0"/>
              </a:spcBef>
              <a:spcAft>
                <a:spcPts val="0"/>
              </a:spcAft>
            </a:pPr>
            <a:r>
              <a:rPr sz="1200" b="0">
                <a:solidFill>
                  <a:srgbClr val="1A1A1A"/>
                </a:solidFill>
                <a:latin typeface="Red Hat Text"/>
              </a:rPr>
              <a:t>Canary reaches 50%, analysis reports Failed</a:t>
            </a:r>
          </a:p>
        </p:txBody>
      </p:sp>
      <p:sp>
        <p:nvSpPr>
          <p:cNvPr id="12" name="Rounded Rectangle 11"/>
          <p:cNvSpPr/>
          <p:nvPr/>
        </p:nvSpPr>
        <p:spPr>
          <a:xfrm>
            <a:off x="841248" y="3602736"/>
            <a:ext cx="5715000" cy="530352"/>
          </a:xfrm>
          <a:prstGeom prst="roundRect">
            <a:avLst>
              <a:gd name="adj" fmla="val 6000"/>
            </a:avLst>
          </a:prstGeom>
          <a:solidFill>
            <a:srgbClr val="F5F6F8"/>
          </a:solidFill>
          <a:ln w="12700">
            <a:solidFill>
              <a:srgbClr val="DDE1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3" name="Picture 12" descr="check_steel.png"/>
          <p:cNvPicPr>
            <a:picLocks noChangeAspect="1"/>
          </p:cNvPicPr>
          <p:nvPr/>
        </p:nvPicPr>
        <p:blipFill>
          <a:blip r:embed="rId3"/>
          <a:stretch>
            <a:fillRect/>
          </a:stretch>
        </p:blipFill>
        <p:spPr>
          <a:xfrm>
            <a:off x="987552" y="3749040"/>
            <a:ext cx="237744" cy="237744"/>
          </a:xfrm>
          <a:prstGeom prst="rect">
            <a:avLst/>
          </a:prstGeom>
        </p:spPr>
      </p:pic>
      <p:sp>
        <p:nvSpPr>
          <p:cNvPr id="14" name="TextBox 13"/>
          <p:cNvSpPr txBox="1"/>
          <p:nvPr/>
        </p:nvSpPr>
        <p:spPr>
          <a:xfrm>
            <a:off x="1353312" y="3602736"/>
            <a:ext cx="5029200" cy="530352"/>
          </a:xfrm>
          <a:prstGeom prst="rect">
            <a:avLst/>
          </a:prstGeom>
          <a:noFill/>
        </p:spPr>
        <p:txBody>
          <a:bodyPr wrap="square" anchor="ctr" lIns="0" rIns="0" tIns="0" bIns="0">
            <a:spAutoFit/>
          </a:bodyPr>
          <a:lstStyle/>
          <a:p>
            <a:pPr algn="l">
              <a:lnSpc>
                <a:spcPct val="106000"/>
              </a:lnSpc>
              <a:spcBef>
                <a:spcPts val="0"/>
              </a:spcBef>
              <a:spcAft>
                <a:spcPts val="0"/>
              </a:spcAft>
            </a:pPr>
            <a:r>
              <a:rPr sz="1200" b="0">
                <a:solidFill>
                  <a:srgbClr val="1A1A1A"/>
                </a:solidFill>
                <a:latin typeface="Red Hat Text"/>
              </a:rPr>
              <a:t>Rollout aborts — automatically</a:t>
            </a:r>
          </a:p>
        </p:txBody>
      </p:sp>
      <p:sp>
        <p:nvSpPr>
          <p:cNvPr id="15" name="Rounded Rectangle 14"/>
          <p:cNvSpPr/>
          <p:nvPr/>
        </p:nvSpPr>
        <p:spPr>
          <a:xfrm>
            <a:off x="841248" y="4206240"/>
            <a:ext cx="5715000" cy="530352"/>
          </a:xfrm>
          <a:prstGeom prst="roundRect">
            <a:avLst>
              <a:gd name="adj" fmla="val 6000"/>
            </a:avLst>
          </a:prstGeom>
          <a:solidFill>
            <a:srgbClr val="F5F6F8"/>
          </a:solidFill>
          <a:ln w="12700">
            <a:solidFill>
              <a:srgbClr val="DDE1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6" name="Picture 15" descr="check_steel.png"/>
          <p:cNvPicPr>
            <a:picLocks noChangeAspect="1"/>
          </p:cNvPicPr>
          <p:nvPr/>
        </p:nvPicPr>
        <p:blipFill>
          <a:blip r:embed="rId3"/>
          <a:stretch>
            <a:fillRect/>
          </a:stretch>
        </p:blipFill>
        <p:spPr>
          <a:xfrm>
            <a:off x="987552" y="4352544"/>
            <a:ext cx="237744" cy="237744"/>
          </a:xfrm>
          <a:prstGeom prst="rect">
            <a:avLst/>
          </a:prstGeom>
        </p:spPr>
      </p:pic>
      <p:sp>
        <p:nvSpPr>
          <p:cNvPr id="17" name="TextBox 16"/>
          <p:cNvSpPr txBox="1"/>
          <p:nvPr/>
        </p:nvSpPr>
        <p:spPr>
          <a:xfrm>
            <a:off x="1353312" y="4206240"/>
            <a:ext cx="5029200" cy="530352"/>
          </a:xfrm>
          <a:prstGeom prst="rect">
            <a:avLst/>
          </a:prstGeom>
          <a:noFill/>
        </p:spPr>
        <p:txBody>
          <a:bodyPr wrap="square" anchor="ctr" lIns="0" rIns="0" tIns="0" bIns="0">
            <a:spAutoFit/>
          </a:bodyPr>
          <a:lstStyle/>
          <a:p>
            <a:pPr algn="l">
              <a:lnSpc>
                <a:spcPct val="106000"/>
              </a:lnSpc>
              <a:spcBef>
                <a:spcPts val="0"/>
              </a:spcBef>
              <a:spcAft>
                <a:spcPts val="0"/>
              </a:spcAft>
            </a:pPr>
            <a:r>
              <a:rPr sz="1200" b="0">
                <a:solidFill>
                  <a:srgbClr val="1A1A1A"/>
                </a:solidFill>
                <a:latin typeface="Red Hat Text"/>
              </a:rPr>
              <a:t>Stable version never left production (200 throughout)</a:t>
            </a:r>
          </a:p>
        </p:txBody>
      </p:sp>
      <p:sp>
        <p:nvSpPr>
          <p:cNvPr id="18" name="Rounded Rectangle 17"/>
          <p:cNvSpPr/>
          <p:nvPr/>
        </p:nvSpPr>
        <p:spPr>
          <a:xfrm>
            <a:off x="841248" y="4809744"/>
            <a:ext cx="5715000" cy="530352"/>
          </a:xfrm>
          <a:prstGeom prst="roundRect">
            <a:avLst>
              <a:gd name="adj" fmla="val 6000"/>
            </a:avLst>
          </a:prstGeom>
          <a:solidFill>
            <a:srgbClr val="F5F6F8"/>
          </a:solidFill>
          <a:ln w="12700">
            <a:solidFill>
              <a:srgbClr val="DDE1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9" name="Picture 18" descr="check_steel.png"/>
          <p:cNvPicPr>
            <a:picLocks noChangeAspect="1"/>
          </p:cNvPicPr>
          <p:nvPr/>
        </p:nvPicPr>
        <p:blipFill>
          <a:blip r:embed="rId3"/>
          <a:stretch>
            <a:fillRect/>
          </a:stretch>
        </p:blipFill>
        <p:spPr>
          <a:xfrm>
            <a:off x="987552" y="4956048"/>
            <a:ext cx="237744" cy="237744"/>
          </a:xfrm>
          <a:prstGeom prst="rect">
            <a:avLst/>
          </a:prstGeom>
        </p:spPr>
      </p:pic>
      <p:sp>
        <p:nvSpPr>
          <p:cNvPr id="20" name="TextBox 19"/>
          <p:cNvSpPr txBox="1"/>
          <p:nvPr/>
        </p:nvSpPr>
        <p:spPr>
          <a:xfrm>
            <a:off x="1353312" y="4809744"/>
            <a:ext cx="5029200" cy="530352"/>
          </a:xfrm>
          <a:prstGeom prst="rect">
            <a:avLst/>
          </a:prstGeom>
          <a:noFill/>
        </p:spPr>
        <p:txBody>
          <a:bodyPr wrap="square" anchor="ctr" lIns="0" rIns="0" tIns="0" bIns="0">
            <a:spAutoFit/>
          </a:bodyPr>
          <a:lstStyle/>
          <a:p>
            <a:pPr algn="l">
              <a:lnSpc>
                <a:spcPct val="106000"/>
              </a:lnSpc>
              <a:spcBef>
                <a:spcPts val="0"/>
              </a:spcBef>
              <a:spcAft>
                <a:spcPts val="0"/>
              </a:spcAft>
            </a:pPr>
            <a:r>
              <a:rPr sz="1200" b="0">
                <a:solidFill>
                  <a:srgbClr val="1A1A1A"/>
                </a:solidFill>
                <a:latin typeface="Red Hat Text"/>
              </a:rPr>
              <a:t>Read the AnalysisRun like an incident</a:t>
            </a:r>
          </a:p>
        </p:txBody>
      </p:sp>
      <p:sp>
        <p:nvSpPr>
          <p:cNvPr id="21" name="Rounded Rectangle 20"/>
          <p:cNvSpPr/>
          <p:nvPr/>
        </p:nvSpPr>
        <p:spPr>
          <a:xfrm>
            <a:off x="6812280" y="2395728"/>
            <a:ext cx="4538167" cy="2944368"/>
          </a:xfrm>
          <a:prstGeom prst="roundRect">
            <a:avLst>
              <a:gd name="adj" fmla="val 4000"/>
            </a:avLst>
          </a:prstGeom>
          <a:solidFill>
            <a:srgbClr val="FFFFFF"/>
          </a:solidFill>
          <a:ln w="15240">
            <a:solidFill>
              <a:srgbClr val="DDE1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ounded Rectangle 21"/>
          <p:cNvSpPr/>
          <p:nvPr/>
        </p:nvSpPr>
        <p:spPr>
          <a:xfrm>
            <a:off x="7013448" y="2596896"/>
            <a:ext cx="1298448" cy="310896"/>
          </a:xfrm>
          <a:prstGeom prst="roundRect">
            <a:avLst>
              <a:gd name="adj" fmla="val 50000"/>
            </a:avLst>
          </a:prstGeom>
          <a:solidFill>
            <a:srgbClr val="FCEC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7013448" y="2596896"/>
            <a:ext cx="1298448" cy="310896"/>
          </a:xfrm>
          <a:prstGeom prst="rect">
            <a:avLst/>
          </a:prstGeom>
          <a:noFill/>
        </p:spPr>
        <p:txBody>
          <a:bodyPr wrap="none" anchor="ctr" lIns="0" rIns="0" tIns="0" bIns="0">
            <a:spAutoFit/>
          </a:bodyPr>
          <a:lstStyle/>
          <a:p>
            <a:pPr algn="ctr">
              <a:lnSpc>
                <a:spcPct val="106000"/>
              </a:lnSpc>
              <a:spcBef>
                <a:spcPts val="0"/>
              </a:spcBef>
              <a:spcAft>
                <a:spcPts val="0"/>
              </a:spcAft>
            </a:pPr>
            <a:r>
              <a:rPr sz="850" b="1">
                <a:solidFill>
                  <a:srgbClr val="B80000"/>
                </a:solidFill>
                <a:latin typeface="Red Hat Display"/>
              </a:rPr>
              <a:t>MEDIA PASS</a:t>
            </a:r>
          </a:p>
        </p:txBody>
      </p:sp>
      <p:pic>
        <p:nvPicPr>
          <p:cNvPr id="24" name="Picture 23" descr="eye_slate.png"/>
          <p:cNvPicPr>
            <a:picLocks noChangeAspect="1"/>
          </p:cNvPicPr>
          <p:nvPr/>
        </p:nvPicPr>
        <p:blipFill>
          <a:blip r:embed="rId4"/>
          <a:stretch>
            <a:fillRect/>
          </a:stretch>
        </p:blipFill>
        <p:spPr>
          <a:xfrm>
            <a:off x="8843619" y="3108960"/>
            <a:ext cx="475488" cy="475488"/>
          </a:xfrm>
          <a:prstGeom prst="rect">
            <a:avLst/>
          </a:prstGeom>
        </p:spPr>
      </p:pic>
      <p:sp>
        <p:nvSpPr>
          <p:cNvPr id="25" name="TextBox 24"/>
          <p:cNvSpPr txBox="1"/>
          <p:nvPr/>
        </p:nvSpPr>
        <p:spPr>
          <a:xfrm>
            <a:off x="7050024" y="3721608"/>
            <a:ext cx="4062679" cy="1481328"/>
          </a:xfrm>
          <a:prstGeom prst="rect">
            <a:avLst/>
          </a:prstGeom>
          <a:noFill/>
        </p:spPr>
        <p:txBody>
          <a:bodyPr wrap="square" anchor="t" lIns="0" rIns="0" tIns="0" bIns="0">
            <a:spAutoFit/>
          </a:bodyPr>
          <a:lstStyle/>
          <a:p>
            <a:pPr algn="l">
              <a:lnSpc>
                <a:spcPct val="120000"/>
              </a:lnSpc>
              <a:spcBef>
                <a:spcPts val="0"/>
              </a:spcBef>
              <a:spcAft>
                <a:spcPts val="0"/>
              </a:spcAft>
            </a:pPr>
            <a:r>
              <a:rPr sz="950" b="0">
                <a:solidFill>
                  <a:srgbClr val="8A9099"/>
                </a:solidFill>
                <a:latin typeface="Red Hat Text"/>
              </a:rPr>
              <a:t>A three-panel strip — canary at 50% (1 red, 2 blue pods) → analysis "FAILED" stamp → prod back to all-blue with a green "200" and a small "auto" clock over the rollback arrow.</a:t>
            </a:r>
          </a:p>
        </p:txBody>
      </p:sp>
      <p:cxnSp>
        <p:nvCxnSpPr>
          <p:cNvPr id="26" name="Connector 25"/>
          <p:cNvCxnSpPr/>
          <p:nvPr/>
        </p:nvCxnSpPr>
        <p:spPr>
          <a:xfrm>
            <a:off x="841248" y="6437376"/>
            <a:ext cx="10509199" cy="0"/>
          </a:xfrm>
          <a:prstGeom prst="bentConnector3">
            <a:avLst/>
          </a:prstGeom>
          <a:ln w="12700">
            <a:solidFill>
              <a:srgbClr val="DDE1E6"/>
            </a:solidFill>
          </a:ln>
          <a:effectLst/>
        </p:spPr>
        <p:style>
          <a:lnRef idx="2">
            <a:schemeClr val="accent1"/>
          </a:lnRef>
          <a:fillRef idx="0">
            <a:schemeClr val="accent1"/>
          </a:fillRef>
          <a:effectRef idx="1">
            <a:schemeClr val="accent1"/>
          </a:effectRef>
          <a:fontRef idx="minor">
            <a:schemeClr val="tx1"/>
          </a:fontRef>
        </p:style>
      </p:cxnSp>
      <p:sp>
        <p:nvSpPr>
          <p:cNvPr id="27" name="TextBox 26"/>
          <p:cNvSpPr txBox="1"/>
          <p:nvPr/>
        </p:nvSpPr>
        <p:spPr>
          <a:xfrm>
            <a:off x="841248" y="6473952"/>
            <a:ext cx="7315200" cy="274320"/>
          </a:xfrm>
          <a:prstGeom prst="rect">
            <a:avLst/>
          </a:prstGeom>
          <a:noFill/>
        </p:spPr>
        <p:txBody>
          <a:bodyPr wrap="square" anchor="t" lIns="0" rIns="0" tIns="0" bIns="0">
            <a:spAutoFit/>
          </a:bodyPr>
          <a:lstStyle/>
          <a:p>
            <a:pPr algn="l">
              <a:lnSpc>
                <a:spcPct val="106000"/>
              </a:lnSpc>
              <a:spcBef>
                <a:spcPts val="0"/>
              </a:spcBef>
              <a:spcAft>
                <a:spcPts val="0"/>
              </a:spcAft>
            </a:pPr>
            <a:r>
              <a:rPr sz="950" b="0">
                <a:solidFill>
                  <a:srgbClr val="8A9099"/>
                </a:solidFill>
                <a:latin typeface="Red Hat Text"/>
              </a:rPr>
              <a:t>CONFIDENTIAL</a:t>
            </a:r>
          </a:p>
        </p:txBody>
      </p:sp>
      <p:sp>
        <p:nvSpPr>
          <p:cNvPr id="28" name="TextBox 27"/>
          <p:cNvSpPr txBox="1"/>
          <p:nvPr/>
        </p:nvSpPr>
        <p:spPr>
          <a:xfrm>
            <a:off x="10801807" y="6473952"/>
            <a:ext cx="548640" cy="274320"/>
          </a:xfrm>
          <a:prstGeom prst="rect">
            <a:avLst/>
          </a:prstGeom>
          <a:noFill/>
        </p:spPr>
        <p:txBody>
          <a:bodyPr wrap="square" anchor="t" lIns="0" rIns="0" tIns="0" bIns="0">
            <a:spAutoFit/>
          </a:bodyPr>
          <a:lstStyle/>
          <a:p>
            <a:pPr algn="r">
              <a:lnSpc>
                <a:spcPct val="106000"/>
              </a:lnSpc>
              <a:spcBef>
                <a:spcPts val="0"/>
              </a:spcBef>
              <a:spcAft>
                <a:spcPts val="0"/>
              </a:spcAft>
            </a:pPr>
            <a:r>
              <a:rPr sz="950" b="0">
                <a:solidFill>
                  <a:srgbClr val="8A9099"/>
                </a:solidFill>
                <a:latin typeface="Red Hat Text"/>
              </a:rPr>
              <a:t>79</a:t>
            </a:r>
          </a:p>
        </p:txBody>
      </p:sp>
    </p:spTree>
  </p:cSld>
  <p:clrMapOvr>
    <a:masterClrMapping/>
  </p:clrMapOvr>
</p:sld>
</file>

<file path=ppt/slides/slide9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redhat_logo.jpg"/>
          <p:cNvPicPr>
            <a:picLocks noChangeAspect="1"/>
          </p:cNvPicPr>
          <p:nvPr/>
        </p:nvPicPr>
        <p:blipFill>
          <a:blip r:embed="rId2"/>
          <a:stretch>
            <a:fillRect/>
          </a:stretch>
        </p:blipFill>
        <p:spPr>
          <a:xfrm>
            <a:off x="10326319" y="475488"/>
            <a:ext cx="1024128" cy="242248"/>
          </a:xfrm>
          <a:prstGeom prst="rect">
            <a:avLst/>
          </a:prstGeom>
        </p:spPr>
      </p:pic>
      <p:sp>
        <p:nvSpPr>
          <p:cNvPr id="3" name="TextBox 2"/>
          <p:cNvSpPr txBox="1"/>
          <p:nvPr/>
        </p:nvSpPr>
        <p:spPr>
          <a:xfrm>
            <a:off x="841248" y="548640"/>
            <a:ext cx="8595360" cy="274320"/>
          </a:xfrm>
          <a:prstGeom prst="rect">
            <a:avLst/>
          </a:prstGeom>
          <a:noFill/>
        </p:spPr>
        <p:txBody>
          <a:bodyPr wrap="square" anchor="t" lIns="0" rIns="0" tIns="0" bIns="0">
            <a:spAutoFit/>
          </a:bodyPr>
          <a:lstStyle/>
          <a:p>
            <a:pPr algn="l">
              <a:lnSpc>
                <a:spcPct val="106000"/>
              </a:lnSpc>
              <a:spcBef>
                <a:spcPts val="0"/>
              </a:spcBef>
              <a:spcAft>
                <a:spcPts val="0"/>
              </a:spcAft>
            </a:pPr>
            <a:r>
              <a:rPr sz="1250" b="1" spc="220">
                <a:solidFill>
                  <a:srgbClr val="EE0000"/>
                </a:solidFill>
                <a:latin typeface="Red Hat Display"/>
              </a:rPr>
              <a:t>M11 · GITOPS AT SCALE &amp; PROGRESSIVE DELIVERY</a:t>
            </a:r>
          </a:p>
        </p:txBody>
      </p:sp>
      <p:sp>
        <p:nvSpPr>
          <p:cNvPr id="4" name="TextBox 3"/>
          <p:cNvSpPr txBox="1"/>
          <p:nvPr/>
        </p:nvSpPr>
        <p:spPr>
          <a:xfrm>
            <a:off x="841248" y="877824"/>
            <a:ext cx="10515600" cy="548640"/>
          </a:xfrm>
          <a:prstGeom prst="rect">
            <a:avLst/>
          </a:prstGeom>
          <a:noFill/>
        </p:spPr>
        <p:txBody>
          <a:bodyPr wrap="none" anchor="t" lIns="0" rIns="0" tIns="0" bIns="0">
            <a:spAutoFit/>
          </a:bodyPr>
          <a:lstStyle/>
          <a:p>
            <a:pPr algn="l">
              <a:lnSpc>
                <a:spcPct val="100000"/>
              </a:lnSpc>
              <a:spcBef>
                <a:spcPts val="0"/>
              </a:spcBef>
              <a:spcAft>
                <a:spcPts val="0"/>
              </a:spcAft>
            </a:pPr>
            <a:r>
              <a:rPr sz="2500" b="1">
                <a:solidFill>
                  <a:srgbClr val="1A1A1A"/>
                </a:solidFill>
                <a:latin typeface="Red Hat Display"/>
              </a:rPr>
              <a:t>Canary or blue-green — pick the shape</a:t>
            </a:r>
          </a:p>
        </p:txBody>
      </p:sp>
      <p:cxnSp>
        <p:nvCxnSpPr>
          <p:cNvPr id="5" name="Connector 4"/>
          <p:cNvCxnSpPr/>
          <p:nvPr/>
        </p:nvCxnSpPr>
        <p:spPr>
          <a:xfrm>
            <a:off x="841248" y="1554480"/>
            <a:ext cx="1371600" cy="0"/>
          </a:xfrm>
          <a:prstGeom prst="bentConnector3">
            <a:avLst/>
          </a:prstGeom>
          <a:ln w="31750">
            <a:solidFill>
              <a:srgbClr val="EE0000"/>
            </a:solidFill>
          </a:ln>
          <a:effectLst/>
        </p:spPr>
        <p:style>
          <a:lnRef idx="2">
            <a:schemeClr val="accent1"/>
          </a:lnRef>
          <a:fillRef idx="0">
            <a:schemeClr val="accent1"/>
          </a:fillRef>
          <a:effectRef idx="1">
            <a:schemeClr val="accent1"/>
          </a:effectRef>
          <a:fontRef idx="minor">
            <a:schemeClr val="tx1"/>
          </a:fontRef>
        </p:style>
      </p:cxnSp>
      <p:sp>
        <p:nvSpPr>
          <p:cNvPr id="6" name="Rounded Rectangle 5"/>
          <p:cNvSpPr/>
          <p:nvPr/>
        </p:nvSpPr>
        <p:spPr>
          <a:xfrm>
            <a:off x="841248" y="2395728"/>
            <a:ext cx="5715000" cy="530352"/>
          </a:xfrm>
          <a:prstGeom prst="roundRect">
            <a:avLst>
              <a:gd name="adj" fmla="val 6000"/>
            </a:avLst>
          </a:prstGeom>
          <a:solidFill>
            <a:srgbClr val="F5F6F8"/>
          </a:solidFill>
          <a:ln w="12700">
            <a:solidFill>
              <a:srgbClr val="DDE1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check_steel.png"/>
          <p:cNvPicPr>
            <a:picLocks noChangeAspect="1"/>
          </p:cNvPicPr>
          <p:nvPr/>
        </p:nvPicPr>
        <p:blipFill>
          <a:blip r:embed="rId3"/>
          <a:stretch>
            <a:fillRect/>
          </a:stretch>
        </p:blipFill>
        <p:spPr>
          <a:xfrm>
            <a:off x="987552" y="2542032"/>
            <a:ext cx="237744" cy="237744"/>
          </a:xfrm>
          <a:prstGeom prst="rect">
            <a:avLst/>
          </a:prstGeom>
        </p:spPr>
      </p:pic>
      <p:sp>
        <p:nvSpPr>
          <p:cNvPr id="8" name="TextBox 7"/>
          <p:cNvSpPr txBox="1"/>
          <p:nvPr/>
        </p:nvSpPr>
        <p:spPr>
          <a:xfrm>
            <a:off x="1353312" y="2395728"/>
            <a:ext cx="5029200" cy="530352"/>
          </a:xfrm>
          <a:prstGeom prst="rect">
            <a:avLst/>
          </a:prstGeom>
          <a:noFill/>
        </p:spPr>
        <p:txBody>
          <a:bodyPr wrap="square" anchor="ctr" lIns="0" rIns="0" tIns="0" bIns="0">
            <a:spAutoFit/>
          </a:bodyPr>
          <a:lstStyle/>
          <a:p>
            <a:pPr algn="l">
              <a:lnSpc>
                <a:spcPct val="106000"/>
              </a:lnSpc>
              <a:spcBef>
                <a:spcPts val="0"/>
              </a:spcBef>
              <a:spcAft>
                <a:spcPts val="0"/>
              </a:spcAft>
            </a:pPr>
            <a:r>
              <a:rPr sz="1200" b="0">
                <a:solidFill>
                  <a:srgbClr val="1A1A1A"/>
                </a:solidFill>
                <a:latin typeface="Red Hat Text"/>
              </a:rPr>
              <a:t>Canary: gradual slice, analysis-gated, small extra capacity</a:t>
            </a:r>
          </a:p>
        </p:txBody>
      </p:sp>
      <p:sp>
        <p:nvSpPr>
          <p:cNvPr id="9" name="Rounded Rectangle 8"/>
          <p:cNvSpPr/>
          <p:nvPr/>
        </p:nvSpPr>
        <p:spPr>
          <a:xfrm>
            <a:off x="841248" y="2999232"/>
            <a:ext cx="5715000" cy="530352"/>
          </a:xfrm>
          <a:prstGeom prst="roundRect">
            <a:avLst>
              <a:gd name="adj" fmla="val 6000"/>
            </a:avLst>
          </a:prstGeom>
          <a:solidFill>
            <a:srgbClr val="F5F6F8"/>
          </a:solidFill>
          <a:ln w="12700">
            <a:solidFill>
              <a:srgbClr val="DDE1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0" name="Picture 9" descr="check_steel.png"/>
          <p:cNvPicPr>
            <a:picLocks noChangeAspect="1"/>
          </p:cNvPicPr>
          <p:nvPr/>
        </p:nvPicPr>
        <p:blipFill>
          <a:blip r:embed="rId3"/>
          <a:stretch>
            <a:fillRect/>
          </a:stretch>
        </p:blipFill>
        <p:spPr>
          <a:xfrm>
            <a:off x="987552" y="3145536"/>
            <a:ext cx="237744" cy="237744"/>
          </a:xfrm>
          <a:prstGeom prst="rect">
            <a:avLst/>
          </a:prstGeom>
        </p:spPr>
      </p:pic>
      <p:sp>
        <p:nvSpPr>
          <p:cNvPr id="11" name="TextBox 10"/>
          <p:cNvSpPr txBox="1"/>
          <p:nvPr/>
        </p:nvSpPr>
        <p:spPr>
          <a:xfrm>
            <a:off x="1353312" y="2999232"/>
            <a:ext cx="5029200" cy="530352"/>
          </a:xfrm>
          <a:prstGeom prst="rect">
            <a:avLst/>
          </a:prstGeom>
          <a:noFill/>
        </p:spPr>
        <p:txBody>
          <a:bodyPr wrap="square" anchor="ctr" lIns="0" rIns="0" tIns="0" bIns="0">
            <a:spAutoFit/>
          </a:bodyPr>
          <a:lstStyle/>
          <a:p>
            <a:pPr algn="l">
              <a:lnSpc>
                <a:spcPct val="106000"/>
              </a:lnSpc>
              <a:spcBef>
                <a:spcPts val="0"/>
              </a:spcBef>
              <a:spcAft>
                <a:spcPts val="0"/>
              </a:spcAft>
            </a:pPr>
            <a:r>
              <a:rPr sz="1200" b="0">
                <a:solidFill>
                  <a:srgbClr val="1A1A1A"/>
                </a:solidFill>
                <a:latin typeface="Red Hat Text"/>
              </a:rPr>
              <a:t>Blue-green: two full copies, instant cutover, manual gate</a:t>
            </a:r>
          </a:p>
        </p:txBody>
      </p:sp>
      <p:sp>
        <p:nvSpPr>
          <p:cNvPr id="12" name="Rounded Rectangle 11"/>
          <p:cNvSpPr/>
          <p:nvPr/>
        </p:nvSpPr>
        <p:spPr>
          <a:xfrm>
            <a:off x="841248" y="3602736"/>
            <a:ext cx="5715000" cy="530352"/>
          </a:xfrm>
          <a:prstGeom prst="roundRect">
            <a:avLst>
              <a:gd name="adj" fmla="val 6000"/>
            </a:avLst>
          </a:prstGeom>
          <a:solidFill>
            <a:srgbClr val="F5F6F8"/>
          </a:solidFill>
          <a:ln w="12700">
            <a:solidFill>
              <a:srgbClr val="DDE1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3" name="Picture 12" descr="check_steel.png"/>
          <p:cNvPicPr>
            <a:picLocks noChangeAspect="1"/>
          </p:cNvPicPr>
          <p:nvPr/>
        </p:nvPicPr>
        <p:blipFill>
          <a:blip r:embed="rId3"/>
          <a:stretch>
            <a:fillRect/>
          </a:stretch>
        </p:blipFill>
        <p:spPr>
          <a:xfrm>
            <a:off x="987552" y="3749040"/>
            <a:ext cx="237744" cy="237744"/>
          </a:xfrm>
          <a:prstGeom prst="rect">
            <a:avLst/>
          </a:prstGeom>
        </p:spPr>
      </p:pic>
      <p:sp>
        <p:nvSpPr>
          <p:cNvPr id="14" name="TextBox 13"/>
          <p:cNvSpPr txBox="1"/>
          <p:nvPr/>
        </p:nvSpPr>
        <p:spPr>
          <a:xfrm>
            <a:off x="1353312" y="3602736"/>
            <a:ext cx="5029200" cy="530352"/>
          </a:xfrm>
          <a:prstGeom prst="rect">
            <a:avLst/>
          </a:prstGeom>
          <a:noFill/>
        </p:spPr>
        <p:txBody>
          <a:bodyPr wrap="square" anchor="ctr" lIns="0" rIns="0" tIns="0" bIns="0">
            <a:spAutoFit/>
          </a:bodyPr>
          <a:lstStyle/>
          <a:p>
            <a:pPr algn="l">
              <a:lnSpc>
                <a:spcPct val="106000"/>
              </a:lnSpc>
              <a:spcBef>
                <a:spcPts val="0"/>
              </a:spcBef>
              <a:spcAft>
                <a:spcPts val="0"/>
              </a:spcAft>
            </a:pPr>
            <a:r>
              <a:rPr sz="1200" b="0">
                <a:solidFill>
                  <a:srgbClr val="1A1A1A"/>
                </a:solidFill>
                <a:latin typeface="Red Hat Text"/>
              </a:rPr>
              <a:t>Canary limits blast radius, measures mid-rollout</a:t>
            </a:r>
          </a:p>
        </p:txBody>
      </p:sp>
      <p:sp>
        <p:nvSpPr>
          <p:cNvPr id="15" name="Rounded Rectangle 14"/>
          <p:cNvSpPr/>
          <p:nvPr/>
        </p:nvSpPr>
        <p:spPr>
          <a:xfrm>
            <a:off x="841248" y="4206240"/>
            <a:ext cx="5715000" cy="530352"/>
          </a:xfrm>
          <a:prstGeom prst="roundRect">
            <a:avLst>
              <a:gd name="adj" fmla="val 6000"/>
            </a:avLst>
          </a:prstGeom>
          <a:solidFill>
            <a:srgbClr val="F5F6F8"/>
          </a:solidFill>
          <a:ln w="12700">
            <a:solidFill>
              <a:srgbClr val="DDE1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6" name="Picture 15" descr="check_steel.png"/>
          <p:cNvPicPr>
            <a:picLocks noChangeAspect="1"/>
          </p:cNvPicPr>
          <p:nvPr/>
        </p:nvPicPr>
        <p:blipFill>
          <a:blip r:embed="rId3"/>
          <a:stretch>
            <a:fillRect/>
          </a:stretch>
        </p:blipFill>
        <p:spPr>
          <a:xfrm>
            <a:off x="987552" y="4352544"/>
            <a:ext cx="237744" cy="237744"/>
          </a:xfrm>
          <a:prstGeom prst="rect">
            <a:avLst/>
          </a:prstGeom>
        </p:spPr>
      </p:pic>
      <p:sp>
        <p:nvSpPr>
          <p:cNvPr id="17" name="TextBox 16"/>
          <p:cNvSpPr txBox="1"/>
          <p:nvPr/>
        </p:nvSpPr>
        <p:spPr>
          <a:xfrm>
            <a:off x="1353312" y="4206240"/>
            <a:ext cx="5029200" cy="530352"/>
          </a:xfrm>
          <a:prstGeom prst="rect">
            <a:avLst/>
          </a:prstGeom>
          <a:noFill/>
        </p:spPr>
        <p:txBody>
          <a:bodyPr wrap="square" anchor="ctr" lIns="0" rIns="0" tIns="0" bIns="0">
            <a:spAutoFit/>
          </a:bodyPr>
          <a:lstStyle/>
          <a:p>
            <a:pPr algn="l">
              <a:lnSpc>
                <a:spcPct val="106000"/>
              </a:lnSpc>
              <a:spcBef>
                <a:spcPts val="0"/>
              </a:spcBef>
              <a:spcAft>
                <a:spcPts val="0"/>
              </a:spcAft>
            </a:pPr>
            <a:r>
              <a:rPr sz="1200" b="0">
                <a:solidFill>
                  <a:srgbClr val="1A1A1A"/>
                </a:solidFill>
                <a:latin typeface="Red Hat Text"/>
              </a:rPr>
              <a:t>Blue-green: clean switch after a preview pre-flight</a:t>
            </a:r>
          </a:p>
        </p:txBody>
      </p:sp>
      <p:sp>
        <p:nvSpPr>
          <p:cNvPr id="18" name="Rounded Rectangle 17"/>
          <p:cNvSpPr/>
          <p:nvPr/>
        </p:nvSpPr>
        <p:spPr>
          <a:xfrm>
            <a:off x="841248" y="4809744"/>
            <a:ext cx="5715000" cy="530352"/>
          </a:xfrm>
          <a:prstGeom prst="roundRect">
            <a:avLst>
              <a:gd name="adj" fmla="val 6000"/>
            </a:avLst>
          </a:prstGeom>
          <a:solidFill>
            <a:srgbClr val="F5F6F8"/>
          </a:solidFill>
          <a:ln w="12700">
            <a:solidFill>
              <a:srgbClr val="DDE1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9" name="Picture 18" descr="check_steel.png"/>
          <p:cNvPicPr>
            <a:picLocks noChangeAspect="1"/>
          </p:cNvPicPr>
          <p:nvPr/>
        </p:nvPicPr>
        <p:blipFill>
          <a:blip r:embed="rId3"/>
          <a:stretch>
            <a:fillRect/>
          </a:stretch>
        </p:blipFill>
        <p:spPr>
          <a:xfrm>
            <a:off x="987552" y="4956048"/>
            <a:ext cx="237744" cy="237744"/>
          </a:xfrm>
          <a:prstGeom prst="rect">
            <a:avLst/>
          </a:prstGeom>
        </p:spPr>
      </p:pic>
      <p:sp>
        <p:nvSpPr>
          <p:cNvPr id="20" name="TextBox 19"/>
          <p:cNvSpPr txBox="1"/>
          <p:nvPr/>
        </p:nvSpPr>
        <p:spPr>
          <a:xfrm>
            <a:off x="1353312" y="4809744"/>
            <a:ext cx="5029200" cy="530352"/>
          </a:xfrm>
          <a:prstGeom prst="rect">
            <a:avLst/>
          </a:prstGeom>
          <a:noFill/>
        </p:spPr>
        <p:txBody>
          <a:bodyPr wrap="square" anchor="ctr" lIns="0" rIns="0" tIns="0" bIns="0">
            <a:spAutoFit/>
          </a:bodyPr>
          <a:lstStyle/>
          <a:p>
            <a:pPr algn="l">
              <a:lnSpc>
                <a:spcPct val="106000"/>
              </a:lnSpc>
              <a:spcBef>
                <a:spcPts val="0"/>
              </a:spcBef>
              <a:spcAft>
                <a:spcPts val="0"/>
              </a:spcAft>
            </a:pPr>
            <a:r>
              <a:rPr sz="1200" b="0">
                <a:solidFill>
                  <a:srgbClr val="1A1A1A"/>
                </a:solidFill>
                <a:latin typeface="Red Hat Text"/>
              </a:rPr>
              <a:t>Mesh / serverless shift traffic other ways (other modules)</a:t>
            </a:r>
          </a:p>
        </p:txBody>
      </p:sp>
      <p:sp>
        <p:nvSpPr>
          <p:cNvPr id="21" name="Rounded Rectangle 20"/>
          <p:cNvSpPr/>
          <p:nvPr/>
        </p:nvSpPr>
        <p:spPr>
          <a:xfrm>
            <a:off x="6812280" y="2395728"/>
            <a:ext cx="4538167" cy="2944368"/>
          </a:xfrm>
          <a:prstGeom prst="roundRect">
            <a:avLst>
              <a:gd name="adj" fmla="val 4000"/>
            </a:avLst>
          </a:prstGeom>
          <a:solidFill>
            <a:srgbClr val="FFFFFF"/>
          </a:solidFill>
          <a:ln w="15240">
            <a:solidFill>
              <a:srgbClr val="DDE1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ounded Rectangle 21"/>
          <p:cNvSpPr/>
          <p:nvPr/>
        </p:nvSpPr>
        <p:spPr>
          <a:xfrm>
            <a:off x="7013448" y="2596896"/>
            <a:ext cx="1298448" cy="310896"/>
          </a:xfrm>
          <a:prstGeom prst="roundRect">
            <a:avLst>
              <a:gd name="adj" fmla="val 50000"/>
            </a:avLst>
          </a:prstGeom>
          <a:solidFill>
            <a:srgbClr val="FCEC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7013448" y="2596896"/>
            <a:ext cx="1298448" cy="310896"/>
          </a:xfrm>
          <a:prstGeom prst="rect">
            <a:avLst/>
          </a:prstGeom>
          <a:noFill/>
        </p:spPr>
        <p:txBody>
          <a:bodyPr wrap="none" anchor="ctr" lIns="0" rIns="0" tIns="0" bIns="0">
            <a:spAutoFit/>
          </a:bodyPr>
          <a:lstStyle/>
          <a:p>
            <a:pPr algn="ctr">
              <a:lnSpc>
                <a:spcPct val="106000"/>
              </a:lnSpc>
              <a:spcBef>
                <a:spcPts val="0"/>
              </a:spcBef>
              <a:spcAft>
                <a:spcPts val="0"/>
              </a:spcAft>
            </a:pPr>
            <a:r>
              <a:rPr sz="850" b="1">
                <a:solidFill>
                  <a:srgbClr val="B80000"/>
                </a:solidFill>
                <a:latin typeface="Red Hat Display"/>
              </a:rPr>
              <a:t>MEDIA PASS</a:t>
            </a:r>
          </a:p>
        </p:txBody>
      </p:sp>
      <p:pic>
        <p:nvPicPr>
          <p:cNvPr id="24" name="Picture 23" descr="eye_slate.png"/>
          <p:cNvPicPr>
            <a:picLocks noChangeAspect="1"/>
          </p:cNvPicPr>
          <p:nvPr/>
        </p:nvPicPr>
        <p:blipFill>
          <a:blip r:embed="rId4"/>
          <a:stretch>
            <a:fillRect/>
          </a:stretch>
        </p:blipFill>
        <p:spPr>
          <a:xfrm>
            <a:off x="8843619" y="3108960"/>
            <a:ext cx="475488" cy="475488"/>
          </a:xfrm>
          <a:prstGeom prst="rect">
            <a:avLst/>
          </a:prstGeom>
        </p:spPr>
      </p:pic>
      <p:sp>
        <p:nvSpPr>
          <p:cNvPr id="25" name="TextBox 24"/>
          <p:cNvSpPr txBox="1"/>
          <p:nvPr/>
        </p:nvSpPr>
        <p:spPr>
          <a:xfrm>
            <a:off x="7050024" y="3721608"/>
            <a:ext cx="4062679" cy="1481328"/>
          </a:xfrm>
          <a:prstGeom prst="rect">
            <a:avLst/>
          </a:prstGeom>
          <a:noFill/>
        </p:spPr>
        <p:txBody>
          <a:bodyPr wrap="square" anchor="t" lIns="0" rIns="0" tIns="0" bIns="0">
            <a:spAutoFit/>
          </a:bodyPr>
          <a:lstStyle/>
          <a:p>
            <a:pPr algn="l">
              <a:lnSpc>
                <a:spcPct val="120000"/>
              </a:lnSpc>
              <a:spcBef>
                <a:spcPts val="0"/>
              </a:spcBef>
              <a:spcAft>
                <a:spcPts val="0"/>
              </a:spcAft>
            </a:pPr>
            <a:r>
              <a:rPr sz="950" b="0">
                <a:solidFill>
                  <a:srgbClr val="8A9099"/>
                </a:solidFill>
                <a:latin typeface="Red Hat Text"/>
              </a:rPr>
              <a:t>Two-column compare card (canary vs blue-green) with the decision-guide rows; a footnote strip pointing to Mesh and Serverless modules.</a:t>
            </a:r>
          </a:p>
        </p:txBody>
      </p:sp>
      <p:cxnSp>
        <p:nvCxnSpPr>
          <p:cNvPr id="26" name="Connector 25"/>
          <p:cNvCxnSpPr/>
          <p:nvPr/>
        </p:nvCxnSpPr>
        <p:spPr>
          <a:xfrm>
            <a:off x="841248" y="6437376"/>
            <a:ext cx="10509199" cy="0"/>
          </a:xfrm>
          <a:prstGeom prst="bentConnector3">
            <a:avLst/>
          </a:prstGeom>
          <a:ln w="12700">
            <a:solidFill>
              <a:srgbClr val="DDE1E6"/>
            </a:solidFill>
          </a:ln>
          <a:effectLst/>
        </p:spPr>
        <p:style>
          <a:lnRef idx="2">
            <a:schemeClr val="accent1"/>
          </a:lnRef>
          <a:fillRef idx="0">
            <a:schemeClr val="accent1"/>
          </a:fillRef>
          <a:effectRef idx="1">
            <a:schemeClr val="accent1"/>
          </a:effectRef>
          <a:fontRef idx="minor">
            <a:schemeClr val="tx1"/>
          </a:fontRef>
        </p:style>
      </p:cxnSp>
      <p:sp>
        <p:nvSpPr>
          <p:cNvPr id="27" name="TextBox 26"/>
          <p:cNvSpPr txBox="1"/>
          <p:nvPr/>
        </p:nvSpPr>
        <p:spPr>
          <a:xfrm>
            <a:off x="841248" y="6473952"/>
            <a:ext cx="7315200" cy="274320"/>
          </a:xfrm>
          <a:prstGeom prst="rect">
            <a:avLst/>
          </a:prstGeom>
          <a:noFill/>
        </p:spPr>
        <p:txBody>
          <a:bodyPr wrap="square" anchor="t" lIns="0" rIns="0" tIns="0" bIns="0">
            <a:spAutoFit/>
          </a:bodyPr>
          <a:lstStyle/>
          <a:p>
            <a:pPr algn="l">
              <a:lnSpc>
                <a:spcPct val="106000"/>
              </a:lnSpc>
              <a:spcBef>
                <a:spcPts val="0"/>
              </a:spcBef>
              <a:spcAft>
                <a:spcPts val="0"/>
              </a:spcAft>
            </a:pPr>
            <a:r>
              <a:rPr sz="950" b="0">
                <a:solidFill>
                  <a:srgbClr val="8A9099"/>
                </a:solidFill>
                <a:latin typeface="Red Hat Text"/>
              </a:rPr>
              <a:t>CONFIDENTIAL</a:t>
            </a:r>
          </a:p>
        </p:txBody>
      </p:sp>
      <p:sp>
        <p:nvSpPr>
          <p:cNvPr id="28" name="TextBox 27"/>
          <p:cNvSpPr txBox="1"/>
          <p:nvPr/>
        </p:nvSpPr>
        <p:spPr>
          <a:xfrm>
            <a:off x="10801807" y="6473952"/>
            <a:ext cx="548640" cy="274320"/>
          </a:xfrm>
          <a:prstGeom prst="rect">
            <a:avLst/>
          </a:prstGeom>
          <a:noFill/>
        </p:spPr>
        <p:txBody>
          <a:bodyPr wrap="square" anchor="t" lIns="0" rIns="0" tIns="0" bIns="0">
            <a:spAutoFit/>
          </a:bodyPr>
          <a:lstStyle/>
          <a:p>
            <a:pPr algn="r">
              <a:lnSpc>
                <a:spcPct val="106000"/>
              </a:lnSpc>
              <a:spcBef>
                <a:spcPts val="0"/>
              </a:spcBef>
              <a:spcAft>
                <a:spcPts val="0"/>
              </a:spcAft>
            </a:pPr>
            <a:r>
              <a:rPr sz="950" b="0">
                <a:solidFill>
                  <a:srgbClr val="8A9099"/>
                </a:solidFill>
                <a:latin typeface="Red Hat Text"/>
              </a:rPr>
              <a:t>80</a:t>
            </a:r>
          </a:p>
        </p:txBody>
      </p:sp>
    </p:spTree>
  </p:cSld>
  <p:clrMapOvr>
    <a:masterClrMapping/>
  </p:clrMapOvr>
</p:sld>
</file>

<file path=ppt/slides/slide9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redhat_logo.jpg"/>
          <p:cNvPicPr>
            <a:picLocks noChangeAspect="1"/>
          </p:cNvPicPr>
          <p:nvPr/>
        </p:nvPicPr>
        <p:blipFill>
          <a:blip r:embed="rId2"/>
          <a:stretch>
            <a:fillRect/>
          </a:stretch>
        </p:blipFill>
        <p:spPr>
          <a:xfrm>
            <a:off x="10326319" y="475488"/>
            <a:ext cx="1024128" cy="242248"/>
          </a:xfrm>
          <a:prstGeom prst="rect">
            <a:avLst/>
          </a:prstGeom>
        </p:spPr>
      </p:pic>
      <p:sp>
        <p:nvSpPr>
          <p:cNvPr id="3" name="TextBox 2"/>
          <p:cNvSpPr txBox="1"/>
          <p:nvPr/>
        </p:nvSpPr>
        <p:spPr>
          <a:xfrm>
            <a:off x="841248" y="548640"/>
            <a:ext cx="8595360" cy="274320"/>
          </a:xfrm>
          <a:prstGeom prst="rect">
            <a:avLst/>
          </a:prstGeom>
          <a:noFill/>
        </p:spPr>
        <p:txBody>
          <a:bodyPr wrap="square" anchor="t" lIns="0" rIns="0" tIns="0" bIns="0">
            <a:spAutoFit/>
          </a:bodyPr>
          <a:lstStyle/>
          <a:p>
            <a:pPr algn="l">
              <a:lnSpc>
                <a:spcPct val="106000"/>
              </a:lnSpc>
              <a:spcBef>
                <a:spcPts val="0"/>
              </a:spcBef>
              <a:spcAft>
                <a:spcPts val="0"/>
              </a:spcAft>
            </a:pPr>
            <a:r>
              <a:rPr sz="1250" b="1" spc="220">
                <a:solidFill>
                  <a:srgbClr val="EE0000"/>
                </a:solidFill>
                <a:latin typeface="Red Hat Display"/>
              </a:rPr>
              <a:t>M11 · GITOPS AT SCALE &amp; PROGRESSIVE DELIVERY</a:t>
            </a:r>
          </a:p>
        </p:txBody>
      </p:sp>
      <p:sp>
        <p:nvSpPr>
          <p:cNvPr id="4" name="TextBox 3"/>
          <p:cNvSpPr txBox="1"/>
          <p:nvPr/>
        </p:nvSpPr>
        <p:spPr>
          <a:xfrm>
            <a:off x="841248" y="877824"/>
            <a:ext cx="10515600" cy="548640"/>
          </a:xfrm>
          <a:prstGeom prst="rect">
            <a:avLst/>
          </a:prstGeom>
          <a:noFill/>
        </p:spPr>
        <p:txBody>
          <a:bodyPr wrap="none" anchor="t" lIns="0" rIns="0" tIns="0" bIns="0">
            <a:spAutoFit/>
          </a:bodyPr>
          <a:lstStyle/>
          <a:p>
            <a:pPr algn="l">
              <a:lnSpc>
                <a:spcPct val="100000"/>
              </a:lnSpc>
              <a:spcBef>
                <a:spcPts val="0"/>
              </a:spcBef>
              <a:spcAft>
                <a:spcPts val="0"/>
              </a:spcAft>
            </a:pPr>
            <a:r>
              <a:rPr sz="2500" b="1">
                <a:solidFill>
                  <a:srgbClr val="1A1A1A"/>
                </a:solidFill>
                <a:latin typeface="Red Hat Display"/>
              </a:rPr>
              <a:t>Map to your org — and when not</a:t>
            </a:r>
          </a:p>
        </p:txBody>
      </p:sp>
      <p:cxnSp>
        <p:nvCxnSpPr>
          <p:cNvPr id="5" name="Connector 4"/>
          <p:cNvCxnSpPr/>
          <p:nvPr/>
        </p:nvCxnSpPr>
        <p:spPr>
          <a:xfrm>
            <a:off x="841248" y="1554480"/>
            <a:ext cx="1371600" cy="0"/>
          </a:xfrm>
          <a:prstGeom prst="bentConnector3">
            <a:avLst/>
          </a:prstGeom>
          <a:ln w="31750">
            <a:solidFill>
              <a:srgbClr val="EE0000"/>
            </a:solidFill>
          </a:ln>
          <a:effectLst/>
        </p:spPr>
        <p:style>
          <a:lnRef idx="2">
            <a:schemeClr val="accent1"/>
          </a:lnRef>
          <a:fillRef idx="0">
            <a:schemeClr val="accent1"/>
          </a:fillRef>
          <a:effectRef idx="1">
            <a:schemeClr val="accent1"/>
          </a:effectRef>
          <a:fontRef idx="minor">
            <a:schemeClr val="tx1"/>
          </a:fontRef>
        </p:style>
      </p:cxnSp>
      <p:sp>
        <p:nvSpPr>
          <p:cNvPr id="6" name="Rounded Rectangle 5"/>
          <p:cNvSpPr/>
          <p:nvPr/>
        </p:nvSpPr>
        <p:spPr>
          <a:xfrm>
            <a:off x="841248" y="2395728"/>
            <a:ext cx="5715000" cy="530352"/>
          </a:xfrm>
          <a:prstGeom prst="roundRect">
            <a:avLst>
              <a:gd name="adj" fmla="val 6000"/>
            </a:avLst>
          </a:prstGeom>
          <a:solidFill>
            <a:srgbClr val="F5F6F8"/>
          </a:solidFill>
          <a:ln w="12700">
            <a:solidFill>
              <a:srgbClr val="DDE1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check_steel.png"/>
          <p:cNvPicPr>
            <a:picLocks noChangeAspect="1"/>
          </p:cNvPicPr>
          <p:nvPr/>
        </p:nvPicPr>
        <p:blipFill>
          <a:blip r:embed="rId3"/>
          <a:stretch>
            <a:fillRect/>
          </a:stretch>
        </p:blipFill>
        <p:spPr>
          <a:xfrm>
            <a:off x="987552" y="2542032"/>
            <a:ext cx="237744" cy="237744"/>
          </a:xfrm>
          <a:prstGeom prst="rect">
            <a:avLst/>
          </a:prstGeom>
        </p:spPr>
      </p:pic>
      <p:sp>
        <p:nvSpPr>
          <p:cNvPr id="8" name="TextBox 7"/>
          <p:cNvSpPr txBox="1"/>
          <p:nvPr/>
        </p:nvSpPr>
        <p:spPr>
          <a:xfrm>
            <a:off x="1353312" y="2395728"/>
            <a:ext cx="5029200" cy="530352"/>
          </a:xfrm>
          <a:prstGeom prst="rect">
            <a:avLst/>
          </a:prstGeom>
          <a:noFill/>
        </p:spPr>
        <p:txBody>
          <a:bodyPr wrap="square" anchor="ctr" lIns="0" rIns="0" tIns="0" bIns="0">
            <a:spAutoFit/>
          </a:bodyPr>
          <a:lstStyle/>
          <a:p>
            <a:pPr algn="l">
              <a:lnSpc>
                <a:spcPct val="106000"/>
              </a:lnSpc>
              <a:spcBef>
                <a:spcPts val="0"/>
              </a:spcBef>
              <a:spcAft>
                <a:spcPts val="0"/>
              </a:spcAft>
            </a:pPr>
            <a:r>
              <a:rPr sz="1200" b="0">
                <a:solidFill>
                  <a:srgbClr val="1A1A1A"/>
                </a:solidFill>
                <a:latin typeface="Red Hat Text"/>
              </a:rPr>
              <a:t>Onboarding a service = one line, not N files</a:t>
            </a:r>
          </a:p>
        </p:txBody>
      </p:sp>
      <p:sp>
        <p:nvSpPr>
          <p:cNvPr id="9" name="Rounded Rectangle 8"/>
          <p:cNvSpPr/>
          <p:nvPr/>
        </p:nvSpPr>
        <p:spPr>
          <a:xfrm>
            <a:off x="841248" y="2999232"/>
            <a:ext cx="5715000" cy="530352"/>
          </a:xfrm>
          <a:prstGeom prst="roundRect">
            <a:avLst>
              <a:gd name="adj" fmla="val 6000"/>
            </a:avLst>
          </a:prstGeom>
          <a:solidFill>
            <a:srgbClr val="F5F6F8"/>
          </a:solidFill>
          <a:ln w="12700">
            <a:solidFill>
              <a:srgbClr val="DDE1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0" name="Picture 9" descr="check_steel.png"/>
          <p:cNvPicPr>
            <a:picLocks noChangeAspect="1"/>
          </p:cNvPicPr>
          <p:nvPr/>
        </p:nvPicPr>
        <p:blipFill>
          <a:blip r:embed="rId3"/>
          <a:stretch>
            <a:fillRect/>
          </a:stretch>
        </p:blipFill>
        <p:spPr>
          <a:xfrm>
            <a:off x="987552" y="3145536"/>
            <a:ext cx="237744" cy="237744"/>
          </a:xfrm>
          <a:prstGeom prst="rect">
            <a:avLst/>
          </a:prstGeom>
        </p:spPr>
      </p:pic>
      <p:sp>
        <p:nvSpPr>
          <p:cNvPr id="11" name="TextBox 10"/>
          <p:cNvSpPr txBox="1"/>
          <p:nvPr/>
        </p:nvSpPr>
        <p:spPr>
          <a:xfrm>
            <a:off x="1353312" y="2999232"/>
            <a:ext cx="5029200" cy="530352"/>
          </a:xfrm>
          <a:prstGeom prst="rect">
            <a:avLst/>
          </a:prstGeom>
          <a:noFill/>
        </p:spPr>
        <p:txBody>
          <a:bodyPr wrap="square" anchor="ctr" lIns="0" rIns="0" tIns="0" bIns="0">
            <a:spAutoFit/>
          </a:bodyPr>
          <a:lstStyle/>
          <a:p>
            <a:pPr algn="l">
              <a:lnSpc>
                <a:spcPct val="106000"/>
              </a:lnSpc>
              <a:spcBef>
                <a:spcPts val="0"/>
              </a:spcBef>
              <a:spcAft>
                <a:spcPts val="0"/>
              </a:spcAft>
            </a:pPr>
            <a:r>
              <a:rPr sz="1200" b="0">
                <a:solidFill>
                  <a:srgbClr val="1A1A1A"/>
                </a:solidFill>
                <a:latin typeface="Red Hat Text"/>
              </a:rPr>
              <a:t>Release risk: from "hope" to "measured"</a:t>
            </a:r>
          </a:p>
        </p:txBody>
      </p:sp>
      <p:sp>
        <p:nvSpPr>
          <p:cNvPr id="12" name="Rounded Rectangle 11"/>
          <p:cNvSpPr/>
          <p:nvPr/>
        </p:nvSpPr>
        <p:spPr>
          <a:xfrm>
            <a:off x="841248" y="3602736"/>
            <a:ext cx="5715000" cy="530352"/>
          </a:xfrm>
          <a:prstGeom prst="roundRect">
            <a:avLst>
              <a:gd name="adj" fmla="val 6000"/>
            </a:avLst>
          </a:prstGeom>
          <a:solidFill>
            <a:srgbClr val="F5F6F8"/>
          </a:solidFill>
          <a:ln w="12700">
            <a:solidFill>
              <a:srgbClr val="DDE1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3" name="Picture 12" descr="check_steel.png"/>
          <p:cNvPicPr>
            <a:picLocks noChangeAspect="1"/>
          </p:cNvPicPr>
          <p:nvPr/>
        </p:nvPicPr>
        <p:blipFill>
          <a:blip r:embed="rId3"/>
          <a:stretch>
            <a:fillRect/>
          </a:stretch>
        </p:blipFill>
        <p:spPr>
          <a:xfrm>
            <a:off x="987552" y="3749040"/>
            <a:ext cx="237744" cy="237744"/>
          </a:xfrm>
          <a:prstGeom prst="rect">
            <a:avLst/>
          </a:prstGeom>
        </p:spPr>
      </p:pic>
      <p:sp>
        <p:nvSpPr>
          <p:cNvPr id="14" name="TextBox 13"/>
          <p:cNvSpPr txBox="1"/>
          <p:nvPr/>
        </p:nvSpPr>
        <p:spPr>
          <a:xfrm>
            <a:off x="1353312" y="3602736"/>
            <a:ext cx="5029200" cy="530352"/>
          </a:xfrm>
          <a:prstGeom prst="rect">
            <a:avLst/>
          </a:prstGeom>
          <a:noFill/>
        </p:spPr>
        <p:txBody>
          <a:bodyPr wrap="square" anchor="ctr" lIns="0" rIns="0" tIns="0" bIns="0">
            <a:spAutoFit/>
          </a:bodyPr>
          <a:lstStyle/>
          <a:p>
            <a:pPr algn="l">
              <a:lnSpc>
                <a:spcPct val="106000"/>
              </a:lnSpc>
              <a:spcBef>
                <a:spcPts val="0"/>
              </a:spcBef>
              <a:spcAft>
                <a:spcPts val="0"/>
              </a:spcAft>
            </a:pPr>
            <a:r>
              <a:rPr sz="1200" b="0">
                <a:solidFill>
                  <a:srgbClr val="1A1A1A"/>
                </a:solidFill>
                <a:latin typeface="Red Hat Text"/>
              </a:rPr>
              <a:t>Migration ordering: structural, not tribal</a:t>
            </a:r>
          </a:p>
        </p:txBody>
      </p:sp>
      <p:sp>
        <p:nvSpPr>
          <p:cNvPr id="15" name="Rounded Rectangle 14"/>
          <p:cNvSpPr/>
          <p:nvPr/>
        </p:nvSpPr>
        <p:spPr>
          <a:xfrm>
            <a:off x="841248" y="4206240"/>
            <a:ext cx="5715000" cy="530352"/>
          </a:xfrm>
          <a:prstGeom prst="roundRect">
            <a:avLst>
              <a:gd name="adj" fmla="val 6000"/>
            </a:avLst>
          </a:prstGeom>
          <a:solidFill>
            <a:srgbClr val="F5F6F8"/>
          </a:solidFill>
          <a:ln w="12700">
            <a:solidFill>
              <a:srgbClr val="DDE1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6" name="Picture 15" descr="check_steel.png"/>
          <p:cNvPicPr>
            <a:picLocks noChangeAspect="1"/>
          </p:cNvPicPr>
          <p:nvPr/>
        </p:nvPicPr>
        <p:blipFill>
          <a:blip r:embed="rId3"/>
          <a:stretch>
            <a:fillRect/>
          </a:stretch>
        </p:blipFill>
        <p:spPr>
          <a:xfrm>
            <a:off x="987552" y="4352544"/>
            <a:ext cx="237744" cy="237744"/>
          </a:xfrm>
          <a:prstGeom prst="rect">
            <a:avLst/>
          </a:prstGeom>
        </p:spPr>
      </p:pic>
      <p:sp>
        <p:nvSpPr>
          <p:cNvPr id="17" name="TextBox 16"/>
          <p:cNvSpPr txBox="1"/>
          <p:nvPr/>
        </p:nvSpPr>
        <p:spPr>
          <a:xfrm>
            <a:off x="1353312" y="4206240"/>
            <a:ext cx="5029200" cy="530352"/>
          </a:xfrm>
          <a:prstGeom prst="rect">
            <a:avLst/>
          </a:prstGeom>
          <a:noFill/>
        </p:spPr>
        <p:txBody>
          <a:bodyPr wrap="square" anchor="ctr" lIns="0" rIns="0" tIns="0" bIns="0">
            <a:spAutoFit/>
          </a:bodyPr>
          <a:lstStyle/>
          <a:p>
            <a:pPr algn="l">
              <a:lnSpc>
                <a:spcPct val="106000"/>
              </a:lnSpc>
              <a:spcBef>
                <a:spcPts val="0"/>
              </a:spcBef>
              <a:spcAft>
                <a:spcPts val="0"/>
              </a:spcAft>
            </a:pPr>
            <a:r>
              <a:rPr sz="1200" b="0">
                <a:solidFill>
                  <a:srgbClr val="1A1A1A"/>
                </a:solidFill>
                <a:latin typeface="Red Hat Text"/>
              </a:rPr>
              <a:t>Don't canary changes analysis can't judge</a:t>
            </a:r>
          </a:p>
        </p:txBody>
      </p:sp>
      <p:sp>
        <p:nvSpPr>
          <p:cNvPr id="18" name="Rounded Rectangle 17"/>
          <p:cNvSpPr/>
          <p:nvPr/>
        </p:nvSpPr>
        <p:spPr>
          <a:xfrm>
            <a:off x="841248" y="4809744"/>
            <a:ext cx="5715000" cy="530352"/>
          </a:xfrm>
          <a:prstGeom prst="roundRect">
            <a:avLst>
              <a:gd name="adj" fmla="val 6000"/>
            </a:avLst>
          </a:prstGeom>
          <a:solidFill>
            <a:srgbClr val="F5F6F8"/>
          </a:solidFill>
          <a:ln w="12700">
            <a:solidFill>
              <a:srgbClr val="DDE1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9" name="Picture 18" descr="check_steel.png"/>
          <p:cNvPicPr>
            <a:picLocks noChangeAspect="1"/>
          </p:cNvPicPr>
          <p:nvPr/>
        </p:nvPicPr>
        <p:blipFill>
          <a:blip r:embed="rId3"/>
          <a:stretch>
            <a:fillRect/>
          </a:stretch>
        </p:blipFill>
        <p:spPr>
          <a:xfrm>
            <a:off x="987552" y="4956048"/>
            <a:ext cx="237744" cy="237744"/>
          </a:xfrm>
          <a:prstGeom prst="rect">
            <a:avLst/>
          </a:prstGeom>
        </p:spPr>
      </p:pic>
      <p:sp>
        <p:nvSpPr>
          <p:cNvPr id="20" name="TextBox 19"/>
          <p:cNvSpPr txBox="1"/>
          <p:nvPr/>
        </p:nvSpPr>
        <p:spPr>
          <a:xfrm>
            <a:off x="1353312" y="4809744"/>
            <a:ext cx="5029200" cy="530352"/>
          </a:xfrm>
          <a:prstGeom prst="rect">
            <a:avLst/>
          </a:prstGeom>
          <a:noFill/>
        </p:spPr>
        <p:txBody>
          <a:bodyPr wrap="square" anchor="ctr" lIns="0" rIns="0" tIns="0" bIns="0">
            <a:spAutoFit/>
          </a:bodyPr>
          <a:lstStyle/>
          <a:p>
            <a:pPr algn="l">
              <a:lnSpc>
                <a:spcPct val="106000"/>
              </a:lnSpc>
              <a:spcBef>
                <a:spcPts val="0"/>
              </a:spcBef>
              <a:spcAft>
                <a:spcPts val="0"/>
              </a:spcAft>
            </a:pPr>
            <a:r>
              <a:rPr sz="1200" b="0">
                <a:solidFill>
                  <a:srgbClr val="1A1A1A"/>
                </a:solidFill>
                <a:latin typeface="Red Hat Text"/>
              </a:rPr>
              <a:t>Blue-green costs double capacity; pod-ratio ≠ exact %</a:t>
            </a:r>
          </a:p>
        </p:txBody>
      </p:sp>
      <p:sp>
        <p:nvSpPr>
          <p:cNvPr id="21" name="Rounded Rectangle 20"/>
          <p:cNvSpPr/>
          <p:nvPr/>
        </p:nvSpPr>
        <p:spPr>
          <a:xfrm>
            <a:off x="6812280" y="2395728"/>
            <a:ext cx="4538167" cy="2944368"/>
          </a:xfrm>
          <a:prstGeom prst="roundRect">
            <a:avLst>
              <a:gd name="adj" fmla="val 4000"/>
            </a:avLst>
          </a:prstGeom>
          <a:solidFill>
            <a:srgbClr val="FFFFFF"/>
          </a:solidFill>
          <a:ln w="15240">
            <a:solidFill>
              <a:srgbClr val="DDE1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ounded Rectangle 21"/>
          <p:cNvSpPr/>
          <p:nvPr/>
        </p:nvSpPr>
        <p:spPr>
          <a:xfrm>
            <a:off x="7013448" y="2596896"/>
            <a:ext cx="1298448" cy="310896"/>
          </a:xfrm>
          <a:prstGeom prst="roundRect">
            <a:avLst>
              <a:gd name="adj" fmla="val 50000"/>
            </a:avLst>
          </a:prstGeom>
          <a:solidFill>
            <a:srgbClr val="FCEC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7013448" y="2596896"/>
            <a:ext cx="1298448" cy="310896"/>
          </a:xfrm>
          <a:prstGeom prst="rect">
            <a:avLst/>
          </a:prstGeom>
          <a:noFill/>
        </p:spPr>
        <p:txBody>
          <a:bodyPr wrap="none" anchor="ctr" lIns="0" rIns="0" tIns="0" bIns="0">
            <a:spAutoFit/>
          </a:bodyPr>
          <a:lstStyle/>
          <a:p>
            <a:pPr algn="ctr">
              <a:lnSpc>
                <a:spcPct val="106000"/>
              </a:lnSpc>
              <a:spcBef>
                <a:spcPts val="0"/>
              </a:spcBef>
              <a:spcAft>
                <a:spcPts val="0"/>
              </a:spcAft>
            </a:pPr>
            <a:r>
              <a:rPr sz="850" b="1">
                <a:solidFill>
                  <a:srgbClr val="B80000"/>
                </a:solidFill>
                <a:latin typeface="Red Hat Display"/>
              </a:rPr>
              <a:t>MEDIA PASS</a:t>
            </a:r>
          </a:p>
        </p:txBody>
      </p:sp>
      <p:pic>
        <p:nvPicPr>
          <p:cNvPr id="24" name="Picture 23" descr="eye_slate.png"/>
          <p:cNvPicPr>
            <a:picLocks noChangeAspect="1"/>
          </p:cNvPicPr>
          <p:nvPr/>
        </p:nvPicPr>
        <p:blipFill>
          <a:blip r:embed="rId4"/>
          <a:stretch>
            <a:fillRect/>
          </a:stretch>
        </p:blipFill>
        <p:spPr>
          <a:xfrm>
            <a:off x="8843619" y="3108960"/>
            <a:ext cx="475488" cy="475488"/>
          </a:xfrm>
          <a:prstGeom prst="rect">
            <a:avLst/>
          </a:prstGeom>
        </p:spPr>
      </p:pic>
      <p:sp>
        <p:nvSpPr>
          <p:cNvPr id="25" name="TextBox 24"/>
          <p:cNvSpPr txBox="1"/>
          <p:nvPr/>
        </p:nvSpPr>
        <p:spPr>
          <a:xfrm>
            <a:off x="7050024" y="3721608"/>
            <a:ext cx="4062679" cy="1481328"/>
          </a:xfrm>
          <a:prstGeom prst="rect">
            <a:avLst/>
          </a:prstGeom>
          <a:noFill/>
        </p:spPr>
        <p:txBody>
          <a:bodyPr wrap="square" anchor="t" lIns="0" rIns="0" tIns="0" bIns="0">
            <a:spAutoFit/>
          </a:bodyPr>
          <a:lstStyle/>
          <a:p>
            <a:pPr algn="l">
              <a:lnSpc>
                <a:spcPct val="120000"/>
              </a:lnSpc>
              <a:spcBef>
                <a:spcPts val="0"/>
              </a:spcBef>
              <a:spcAft>
                <a:spcPts val="0"/>
              </a:spcAft>
            </a:pPr>
            <a:r>
              <a:rPr sz="950" b="0">
                <a:solidFill>
                  <a:srgbClr val="8A9099"/>
                </a:solidFill>
                <a:latin typeface="Red Hat Text"/>
              </a:rPr>
              <a:t>Two-column "reach for it / don't" card, with a small pointer to the Networking, Service Mesh, and Multi-Cluster modules.</a:t>
            </a:r>
          </a:p>
        </p:txBody>
      </p:sp>
      <p:cxnSp>
        <p:nvCxnSpPr>
          <p:cNvPr id="26" name="Connector 25"/>
          <p:cNvCxnSpPr/>
          <p:nvPr/>
        </p:nvCxnSpPr>
        <p:spPr>
          <a:xfrm>
            <a:off x="841248" y="6437376"/>
            <a:ext cx="10509199" cy="0"/>
          </a:xfrm>
          <a:prstGeom prst="bentConnector3">
            <a:avLst/>
          </a:prstGeom>
          <a:ln w="12700">
            <a:solidFill>
              <a:srgbClr val="DDE1E6"/>
            </a:solidFill>
          </a:ln>
          <a:effectLst/>
        </p:spPr>
        <p:style>
          <a:lnRef idx="2">
            <a:schemeClr val="accent1"/>
          </a:lnRef>
          <a:fillRef idx="0">
            <a:schemeClr val="accent1"/>
          </a:fillRef>
          <a:effectRef idx="1">
            <a:schemeClr val="accent1"/>
          </a:effectRef>
          <a:fontRef idx="minor">
            <a:schemeClr val="tx1"/>
          </a:fontRef>
        </p:style>
      </p:cxnSp>
      <p:sp>
        <p:nvSpPr>
          <p:cNvPr id="27" name="TextBox 26"/>
          <p:cNvSpPr txBox="1"/>
          <p:nvPr/>
        </p:nvSpPr>
        <p:spPr>
          <a:xfrm>
            <a:off x="841248" y="6473952"/>
            <a:ext cx="7315200" cy="274320"/>
          </a:xfrm>
          <a:prstGeom prst="rect">
            <a:avLst/>
          </a:prstGeom>
          <a:noFill/>
        </p:spPr>
        <p:txBody>
          <a:bodyPr wrap="square" anchor="t" lIns="0" rIns="0" tIns="0" bIns="0">
            <a:spAutoFit/>
          </a:bodyPr>
          <a:lstStyle/>
          <a:p>
            <a:pPr algn="l">
              <a:lnSpc>
                <a:spcPct val="106000"/>
              </a:lnSpc>
              <a:spcBef>
                <a:spcPts val="0"/>
              </a:spcBef>
              <a:spcAft>
                <a:spcPts val="0"/>
              </a:spcAft>
            </a:pPr>
            <a:r>
              <a:rPr sz="950" b="0">
                <a:solidFill>
                  <a:srgbClr val="8A9099"/>
                </a:solidFill>
                <a:latin typeface="Red Hat Text"/>
              </a:rPr>
              <a:t>CONFIDENTIAL</a:t>
            </a:r>
          </a:p>
        </p:txBody>
      </p:sp>
      <p:sp>
        <p:nvSpPr>
          <p:cNvPr id="28" name="TextBox 27"/>
          <p:cNvSpPr txBox="1"/>
          <p:nvPr/>
        </p:nvSpPr>
        <p:spPr>
          <a:xfrm>
            <a:off x="10801807" y="6473952"/>
            <a:ext cx="548640" cy="274320"/>
          </a:xfrm>
          <a:prstGeom prst="rect">
            <a:avLst/>
          </a:prstGeom>
          <a:noFill/>
        </p:spPr>
        <p:txBody>
          <a:bodyPr wrap="square" anchor="t" lIns="0" rIns="0" tIns="0" bIns="0">
            <a:spAutoFit/>
          </a:bodyPr>
          <a:lstStyle/>
          <a:p>
            <a:pPr algn="r">
              <a:lnSpc>
                <a:spcPct val="106000"/>
              </a:lnSpc>
              <a:spcBef>
                <a:spcPts val="0"/>
              </a:spcBef>
              <a:spcAft>
                <a:spcPts val="0"/>
              </a:spcAft>
            </a:pPr>
            <a:r>
              <a:rPr sz="950" b="0">
                <a:solidFill>
                  <a:srgbClr val="8A9099"/>
                </a:solidFill>
                <a:latin typeface="Red Hat Text"/>
              </a:rPr>
              <a:t>81</a:t>
            </a:r>
          </a:p>
        </p:txBody>
      </p:sp>
    </p:spTree>
  </p:cSld>
  <p:clrMapOvr>
    <a:masterClrMapping/>
  </p:clrMapOvr>
</p:sld>
</file>

<file path=ppt/slides/slide9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redhat_logo.jpg"/>
          <p:cNvPicPr>
            <a:picLocks noChangeAspect="1"/>
          </p:cNvPicPr>
          <p:nvPr/>
        </p:nvPicPr>
        <p:blipFill>
          <a:blip r:embed="rId2"/>
          <a:stretch>
            <a:fillRect/>
          </a:stretch>
        </p:blipFill>
        <p:spPr>
          <a:xfrm>
            <a:off x="841248" y="731520"/>
            <a:ext cx="1554480" cy="367699"/>
          </a:xfrm>
          <a:prstGeom prst="rect">
            <a:avLst/>
          </a:prstGeom>
        </p:spPr>
      </p:pic>
      <p:sp>
        <p:nvSpPr>
          <p:cNvPr id="3" name="TextBox 2"/>
          <p:cNvSpPr txBox="1"/>
          <p:nvPr/>
        </p:nvSpPr>
        <p:spPr>
          <a:xfrm>
            <a:off x="841248" y="2514600"/>
            <a:ext cx="9601200" cy="274320"/>
          </a:xfrm>
          <a:prstGeom prst="rect">
            <a:avLst/>
          </a:prstGeom>
          <a:noFill/>
        </p:spPr>
        <p:txBody>
          <a:bodyPr wrap="square" anchor="t" lIns="0" rIns="0" tIns="0" bIns="0">
            <a:spAutoFit/>
          </a:bodyPr>
          <a:lstStyle/>
          <a:p>
            <a:pPr algn="l">
              <a:lnSpc>
                <a:spcPct val="106000"/>
              </a:lnSpc>
              <a:spcBef>
                <a:spcPts val="0"/>
              </a:spcBef>
              <a:spcAft>
                <a:spcPts val="0"/>
              </a:spcAft>
            </a:pPr>
            <a:r>
              <a:rPr sz="1250" b="1" spc="180">
                <a:solidFill>
                  <a:srgbClr val="EE0000"/>
                </a:solidFill>
                <a:latin typeface="Red Hat Display"/>
              </a:rPr>
              <a:t>B · DELIVERY &amp; TRUST</a:t>
            </a:r>
          </a:p>
        </p:txBody>
      </p:sp>
      <p:sp>
        <p:nvSpPr>
          <p:cNvPr id="4" name="TextBox 3"/>
          <p:cNvSpPr txBox="1"/>
          <p:nvPr/>
        </p:nvSpPr>
        <p:spPr>
          <a:xfrm>
            <a:off x="841248" y="2880360"/>
            <a:ext cx="2103120" cy="1188720"/>
          </a:xfrm>
          <a:prstGeom prst="rect">
            <a:avLst/>
          </a:prstGeom>
          <a:noFill/>
        </p:spPr>
        <p:txBody>
          <a:bodyPr wrap="none" anchor="t" lIns="0" rIns="0" tIns="0" bIns="0">
            <a:spAutoFit/>
          </a:bodyPr>
          <a:lstStyle/>
          <a:p>
            <a:pPr algn="l">
              <a:lnSpc>
                <a:spcPct val="90000"/>
              </a:lnSpc>
              <a:spcBef>
                <a:spcPts val="0"/>
              </a:spcBef>
              <a:spcAft>
                <a:spcPts val="0"/>
              </a:spcAft>
            </a:pPr>
            <a:r>
              <a:rPr sz="5200" b="1">
                <a:solidFill>
                  <a:srgbClr val="B80000"/>
                </a:solidFill>
                <a:latin typeface="Red Hat Display"/>
              </a:rPr>
              <a:t>M12</a:t>
            </a:r>
          </a:p>
        </p:txBody>
      </p:sp>
      <p:sp>
        <p:nvSpPr>
          <p:cNvPr id="5" name="TextBox 4"/>
          <p:cNvSpPr txBox="1"/>
          <p:nvPr/>
        </p:nvSpPr>
        <p:spPr>
          <a:xfrm>
            <a:off x="3127248" y="2971800"/>
            <a:ext cx="8412480" cy="1188720"/>
          </a:xfrm>
          <a:prstGeom prst="rect">
            <a:avLst/>
          </a:prstGeom>
          <a:noFill/>
        </p:spPr>
        <p:txBody>
          <a:bodyPr wrap="square" anchor="t" lIns="0" rIns="0" tIns="0" bIns="0">
            <a:spAutoFit/>
          </a:bodyPr>
          <a:lstStyle/>
          <a:p>
            <a:pPr algn="l">
              <a:lnSpc>
                <a:spcPct val="102000"/>
              </a:lnSpc>
              <a:spcBef>
                <a:spcPts val="0"/>
              </a:spcBef>
              <a:spcAft>
                <a:spcPts val="0"/>
              </a:spcAft>
            </a:pPr>
            <a:r>
              <a:rPr sz="3000" b="1">
                <a:solidFill>
                  <a:srgbClr val="1A1A1A"/>
                </a:solidFill>
                <a:latin typeface="Red Hat Display"/>
              </a:rPr>
              <a:t>Developer Hub &amp; Golden Paths</a:t>
            </a:r>
          </a:p>
        </p:txBody>
      </p:sp>
      <p:cxnSp>
        <p:nvCxnSpPr>
          <p:cNvPr id="6" name="Connector 5"/>
          <p:cNvCxnSpPr/>
          <p:nvPr/>
        </p:nvCxnSpPr>
        <p:spPr>
          <a:xfrm>
            <a:off x="841248" y="4443984"/>
            <a:ext cx="1463040" cy="0"/>
          </a:xfrm>
          <a:prstGeom prst="bentConnector3">
            <a:avLst/>
          </a:prstGeom>
          <a:ln w="38100">
            <a:solidFill>
              <a:srgbClr val="EE0000"/>
            </a:solidFill>
          </a:ln>
          <a:effectLst/>
        </p:spPr>
        <p:style>
          <a:lnRef idx="2">
            <a:schemeClr val="accent1"/>
          </a:lnRef>
          <a:fillRef idx="0">
            <a:schemeClr val="accent1"/>
          </a:fillRef>
          <a:effectRef idx="1">
            <a:schemeClr val="accent1"/>
          </a:effectRef>
          <a:fontRef idx="minor">
            <a:schemeClr val="tx1"/>
          </a:fontRef>
        </p:style>
      </p:cxnSp>
    </p:spTree>
  </p:cSld>
  <p:clrMapOvr>
    <a:masterClrMapping/>
  </p:clrMapOvr>
</p:sld>
</file>

<file path=ppt/slides/slide9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redhat_logo.jpg"/>
          <p:cNvPicPr>
            <a:picLocks noChangeAspect="1"/>
          </p:cNvPicPr>
          <p:nvPr/>
        </p:nvPicPr>
        <p:blipFill>
          <a:blip r:embed="rId2"/>
          <a:stretch>
            <a:fillRect/>
          </a:stretch>
        </p:blipFill>
        <p:spPr>
          <a:xfrm>
            <a:off x="10326319" y="475488"/>
            <a:ext cx="1024128" cy="242248"/>
          </a:xfrm>
          <a:prstGeom prst="rect">
            <a:avLst/>
          </a:prstGeom>
        </p:spPr>
      </p:pic>
      <p:sp>
        <p:nvSpPr>
          <p:cNvPr id="3" name="TextBox 2"/>
          <p:cNvSpPr txBox="1"/>
          <p:nvPr/>
        </p:nvSpPr>
        <p:spPr>
          <a:xfrm>
            <a:off x="841248" y="548640"/>
            <a:ext cx="8595360" cy="274320"/>
          </a:xfrm>
          <a:prstGeom prst="rect">
            <a:avLst/>
          </a:prstGeom>
          <a:noFill/>
        </p:spPr>
        <p:txBody>
          <a:bodyPr wrap="square" anchor="t" lIns="0" rIns="0" tIns="0" bIns="0">
            <a:spAutoFit/>
          </a:bodyPr>
          <a:lstStyle/>
          <a:p>
            <a:pPr algn="l">
              <a:lnSpc>
                <a:spcPct val="106000"/>
              </a:lnSpc>
              <a:spcBef>
                <a:spcPts val="0"/>
              </a:spcBef>
              <a:spcAft>
                <a:spcPts val="0"/>
              </a:spcAft>
            </a:pPr>
            <a:r>
              <a:rPr sz="1250" b="1" spc="220">
                <a:solidFill>
                  <a:srgbClr val="EE0000"/>
                </a:solidFill>
                <a:latin typeface="Red Hat Display"/>
              </a:rPr>
              <a:t>M12 · DEVELOPER HUB &amp; GOLDEN PATHS</a:t>
            </a:r>
          </a:p>
        </p:txBody>
      </p:sp>
      <p:sp>
        <p:nvSpPr>
          <p:cNvPr id="4" name="TextBox 3"/>
          <p:cNvSpPr txBox="1"/>
          <p:nvPr/>
        </p:nvSpPr>
        <p:spPr>
          <a:xfrm>
            <a:off x="841248" y="877824"/>
            <a:ext cx="10515600" cy="548640"/>
          </a:xfrm>
          <a:prstGeom prst="rect">
            <a:avLst/>
          </a:prstGeom>
          <a:noFill/>
        </p:spPr>
        <p:txBody>
          <a:bodyPr wrap="none" anchor="t" lIns="0" rIns="0" tIns="0" bIns="0">
            <a:spAutoFit/>
          </a:bodyPr>
          <a:lstStyle/>
          <a:p>
            <a:pPr algn="l">
              <a:lnSpc>
                <a:spcPct val="100000"/>
              </a:lnSpc>
              <a:spcBef>
                <a:spcPts val="0"/>
              </a:spcBef>
              <a:spcAft>
                <a:spcPts val="0"/>
              </a:spcAft>
            </a:pPr>
            <a:r>
              <a:rPr sz="2500" b="1">
                <a:solidFill>
                  <a:srgbClr val="1A1A1A"/>
                </a:solidFill>
                <a:latin typeface="Red Hat Display"/>
              </a:rPr>
              <a:t>Ten tools before the first line of code</a:t>
            </a:r>
          </a:p>
        </p:txBody>
      </p:sp>
      <p:cxnSp>
        <p:nvCxnSpPr>
          <p:cNvPr id="5" name="Connector 4"/>
          <p:cNvCxnSpPr/>
          <p:nvPr/>
        </p:nvCxnSpPr>
        <p:spPr>
          <a:xfrm>
            <a:off x="841248" y="1554480"/>
            <a:ext cx="1371600" cy="0"/>
          </a:xfrm>
          <a:prstGeom prst="bentConnector3">
            <a:avLst/>
          </a:prstGeom>
          <a:ln w="31750">
            <a:solidFill>
              <a:srgbClr val="EE0000"/>
            </a:solidFill>
          </a:ln>
          <a:effectLst/>
        </p:spPr>
        <p:style>
          <a:lnRef idx="2">
            <a:schemeClr val="accent1"/>
          </a:lnRef>
          <a:fillRef idx="0">
            <a:schemeClr val="accent1"/>
          </a:fillRef>
          <a:effectRef idx="1">
            <a:schemeClr val="accent1"/>
          </a:effectRef>
          <a:fontRef idx="minor">
            <a:schemeClr val="tx1"/>
          </a:fontRef>
        </p:style>
      </p:cxnSp>
      <p:sp>
        <p:nvSpPr>
          <p:cNvPr id="6" name="Rounded Rectangle 5"/>
          <p:cNvSpPr/>
          <p:nvPr/>
        </p:nvSpPr>
        <p:spPr>
          <a:xfrm>
            <a:off x="841248" y="2395728"/>
            <a:ext cx="5715000" cy="530352"/>
          </a:xfrm>
          <a:prstGeom prst="roundRect">
            <a:avLst>
              <a:gd name="adj" fmla="val 6000"/>
            </a:avLst>
          </a:prstGeom>
          <a:solidFill>
            <a:srgbClr val="F5F6F8"/>
          </a:solidFill>
          <a:ln w="12700">
            <a:solidFill>
              <a:srgbClr val="DDE1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check_steel.png"/>
          <p:cNvPicPr>
            <a:picLocks noChangeAspect="1"/>
          </p:cNvPicPr>
          <p:nvPr/>
        </p:nvPicPr>
        <p:blipFill>
          <a:blip r:embed="rId3"/>
          <a:stretch>
            <a:fillRect/>
          </a:stretch>
        </p:blipFill>
        <p:spPr>
          <a:xfrm>
            <a:off x="987552" y="2542032"/>
            <a:ext cx="237744" cy="237744"/>
          </a:xfrm>
          <a:prstGeom prst="rect">
            <a:avLst/>
          </a:prstGeom>
        </p:spPr>
      </p:pic>
      <p:sp>
        <p:nvSpPr>
          <p:cNvPr id="8" name="TextBox 7"/>
          <p:cNvSpPr txBox="1"/>
          <p:nvPr/>
        </p:nvSpPr>
        <p:spPr>
          <a:xfrm>
            <a:off x="1353312" y="2395728"/>
            <a:ext cx="5029200" cy="530352"/>
          </a:xfrm>
          <a:prstGeom prst="rect">
            <a:avLst/>
          </a:prstGeom>
          <a:noFill/>
        </p:spPr>
        <p:txBody>
          <a:bodyPr wrap="square" anchor="ctr" lIns="0" rIns="0" tIns="0" bIns="0">
            <a:spAutoFit/>
          </a:bodyPr>
          <a:lstStyle/>
          <a:p>
            <a:pPr algn="l">
              <a:lnSpc>
                <a:spcPct val="106000"/>
              </a:lnSpc>
              <a:spcBef>
                <a:spcPts val="0"/>
              </a:spcBef>
              <a:spcAft>
                <a:spcPts val="0"/>
              </a:spcAft>
            </a:pPr>
            <a:r>
              <a:rPr sz="1200" b="0">
                <a:solidFill>
                  <a:srgbClr val="1A1A1A"/>
                </a:solidFill>
                <a:latin typeface="Red Hat Text"/>
              </a:rPr>
              <a:t>New engineer, day one, needs a service</a:t>
            </a:r>
          </a:p>
        </p:txBody>
      </p:sp>
      <p:sp>
        <p:nvSpPr>
          <p:cNvPr id="9" name="Rounded Rectangle 8"/>
          <p:cNvSpPr/>
          <p:nvPr/>
        </p:nvSpPr>
        <p:spPr>
          <a:xfrm>
            <a:off x="841248" y="2999232"/>
            <a:ext cx="5715000" cy="530352"/>
          </a:xfrm>
          <a:prstGeom prst="roundRect">
            <a:avLst>
              <a:gd name="adj" fmla="val 6000"/>
            </a:avLst>
          </a:prstGeom>
          <a:solidFill>
            <a:srgbClr val="F5F6F8"/>
          </a:solidFill>
          <a:ln w="12700">
            <a:solidFill>
              <a:srgbClr val="DDE1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0" name="Picture 9" descr="check_steel.png"/>
          <p:cNvPicPr>
            <a:picLocks noChangeAspect="1"/>
          </p:cNvPicPr>
          <p:nvPr/>
        </p:nvPicPr>
        <p:blipFill>
          <a:blip r:embed="rId3"/>
          <a:stretch>
            <a:fillRect/>
          </a:stretch>
        </p:blipFill>
        <p:spPr>
          <a:xfrm>
            <a:off x="987552" y="3145536"/>
            <a:ext cx="237744" cy="237744"/>
          </a:xfrm>
          <a:prstGeom prst="rect">
            <a:avLst/>
          </a:prstGeom>
        </p:spPr>
      </p:pic>
      <p:sp>
        <p:nvSpPr>
          <p:cNvPr id="11" name="TextBox 10"/>
          <p:cNvSpPr txBox="1"/>
          <p:nvPr/>
        </p:nvSpPr>
        <p:spPr>
          <a:xfrm>
            <a:off x="1353312" y="2999232"/>
            <a:ext cx="5029200" cy="530352"/>
          </a:xfrm>
          <a:prstGeom prst="rect">
            <a:avLst/>
          </a:prstGeom>
          <a:noFill/>
        </p:spPr>
        <p:txBody>
          <a:bodyPr wrap="square" anchor="ctr" lIns="0" rIns="0" tIns="0" bIns="0">
            <a:spAutoFit/>
          </a:bodyPr>
          <a:lstStyle/>
          <a:p>
            <a:pPr algn="l">
              <a:lnSpc>
                <a:spcPct val="106000"/>
              </a:lnSpc>
              <a:spcBef>
                <a:spcPts val="0"/>
              </a:spcBef>
              <a:spcAft>
                <a:spcPts val="0"/>
              </a:spcAft>
            </a:pPr>
            <a:r>
              <a:rPr sz="1200" b="0">
                <a:solidFill>
                  <a:srgbClr val="1A1A1A"/>
                </a:solidFill>
                <a:latin typeface="Red Hat Text"/>
              </a:rPr>
              <a:t>Build, pipeline, GitOps, probes, metrics, tracing</a:t>
            </a:r>
          </a:p>
        </p:txBody>
      </p:sp>
      <p:sp>
        <p:nvSpPr>
          <p:cNvPr id="12" name="Rounded Rectangle 11"/>
          <p:cNvSpPr/>
          <p:nvPr/>
        </p:nvSpPr>
        <p:spPr>
          <a:xfrm>
            <a:off x="841248" y="3602736"/>
            <a:ext cx="5715000" cy="530352"/>
          </a:xfrm>
          <a:prstGeom prst="roundRect">
            <a:avLst>
              <a:gd name="adj" fmla="val 6000"/>
            </a:avLst>
          </a:prstGeom>
          <a:solidFill>
            <a:srgbClr val="F5F6F8"/>
          </a:solidFill>
          <a:ln w="12700">
            <a:solidFill>
              <a:srgbClr val="DDE1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3" name="Picture 12" descr="check_steel.png"/>
          <p:cNvPicPr>
            <a:picLocks noChangeAspect="1"/>
          </p:cNvPicPr>
          <p:nvPr/>
        </p:nvPicPr>
        <p:blipFill>
          <a:blip r:embed="rId3"/>
          <a:stretch>
            <a:fillRect/>
          </a:stretch>
        </p:blipFill>
        <p:spPr>
          <a:xfrm>
            <a:off x="987552" y="3749040"/>
            <a:ext cx="237744" cy="237744"/>
          </a:xfrm>
          <a:prstGeom prst="rect">
            <a:avLst/>
          </a:prstGeom>
        </p:spPr>
      </p:pic>
      <p:sp>
        <p:nvSpPr>
          <p:cNvPr id="14" name="TextBox 13"/>
          <p:cNvSpPr txBox="1"/>
          <p:nvPr/>
        </p:nvSpPr>
        <p:spPr>
          <a:xfrm>
            <a:off x="1353312" y="3602736"/>
            <a:ext cx="5029200" cy="530352"/>
          </a:xfrm>
          <a:prstGeom prst="rect">
            <a:avLst/>
          </a:prstGeom>
          <a:noFill/>
        </p:spPr>
        <p:txBody>
          <a:bodyPr wrap="square" anchor="ctr" lIns="0" rIns="0" tIns="0" bIns="0">
            <a:spAutoFit/>
          </a:bodyPr>
          <a:lstStyle/>
          <a:p>
            <a:pPr algn="l">
              <a:lnSpc>
                <a:spcPct val="106000"/>
              </a:lnSpc>
              <a:spcBef>
                <a:spcPts val="0"/>
              </a:spcBef>
              <a:spcAft>
                <a:spcPts val="0"/>
              </a:spcAft>
            </a:pPr>
            <a:r>
              <a:rPr sz="1200" b="0">
                <a:solidFill>
                  <a:srgbClr val="1A1A1A"/>
                </a:solidFill>
                <a:latin typeface="Red Hat Text"/>
              </a:rPr>
              <a:t>Each is another tool to learn</a:t>
            </a:r>
          </a:p>
        </p:txBody>
      </p:sp>
      <p:sp>
        <p:nvSpPr>
          <p:cNvPr id="15" name="Rounded Rectangle 14"/>
          <p:cNvSpPr/>
          <p:nvPr/>
        </p:nvSpPr>
        <p:spPr>
          <a:xfrm>
            <a:off x="841248" y="4206240"/>
            <a:ext cx="5715000" cy="530352"/>
          </a:xfrm>
          <a:prstGeom prst="roundRect">
            <a:avLst>
              <a:gd name="adj" fmla="val 6000"/>
            </a:avLst>
          </a:prstGeom>
          <a:solidFill>
            <a:srgbClr val="F5F6F8"/>
          </a:solidFill>
          <a:ln w="12700">
            <a:solidFill>
              <a:srgbClr val="DDE1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6" name="Picture 15" descr="check_steel.png"/>
          <p:cNvPicPr>
            <a:picLocks noChangeAspect="1"/>
          </p:cNvPicPr>
          <p:nvPr/>
        </p:nvPicPr>
        <p:blipFill>
          <a:blip r:embed="rId3"/>
          <a:stretch>
            <a:fillRect/>
          </a:stretch>
        </p:blipFill>
        <p:spPr>
          <a:xfrm>
            <a:off x="987552" y="4352544"/>
            <a:ext cx="237744" cy="237744"/>
          </a:xfrm>
          <a:prstGeom prst="rect">
            <a:avLst/>
          </a:prstGeom>
        </p:spPr>
      </p:pic>
      <p:sp>
        <p:nvSpPr>
          <p:cNvPr id="17" name="TextBox 16"/>
          <p:cNvSpPr txBox="1"/>
          <p:nvPr/>
        </p:nvSpPr>
        <p:spPr>
          <a:xfrm>
            <a:off x="1353312" y="4206240"/>
            <a:ext cx="5029200" cy="530352"/>
          </a:xfrm>
          <a:prstGeom prst="rect">
            <a:avLst/>
          </a:prstGeom>
          <a:noFill/>
        </p:spPr>
        <p:txBody>
          <a:bodyPr wrap="square" anchor="ctr" lIns="0" rIns="0" tIns="0" bIns="0">
            <a:spAutoFit/>
          </a:bodyPr>
          <a:lstStyle/>
          <a:p>
            <a:pPr algn="l">
              <a:lnSpc>
                <a:spcPct val="106000"/>
              </a:lnSpc>
              <a:spcBef>
                <a:spcPts val="0"/>
              </a:spcBef>
              <a:spcAft>
                <a:spcPts val="0"/>
              </a:spcAft>
            </a:pPr>
            <a:r>
              <a:rPr sz="1200" b="0">
                <a:solidFill>
                  <a:srgbClr val="1A1A1A"/>
                </a:solidFill>
                <a:latin typeface="Red Hat Text"/>
              </a:rPr>
              <a:t>Standards live in a wiki — and drift</a:t>
            </a:r>
          </a:p>
        </p:txBody>
      </p:sp>
      <p:sp>
        <p:nvSpPr>
          <p:cNvPr id="18" name="Rounded Rectangle 17"/>
          <p:cNvSpPr/>
          <p:nvPr/>
        </p:nvSpPr>
        <p:spPr>
          <a:xfrm>
            <a:off x="841248" y="4809744"/>
            <a:ext cx="5715000" cy="530352"/>
          </a:xfrm>
          <a:prstGeom prst="roundRect">
            <a:avLst>
              <a:gd name="adj" fmla="val 6000"/>
            </a:avLst>
          </a:prstGeom>
          <a:solidFill>
            <a:srgbClr val="F5F6F8"/>
          </a:solidFill>
          <a:ln w="12700">
            <a:solidFill>
              <a:srgbClr val="DDE1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9" name="Picture 18" descr="check_steel.png"/>
          <p:cNvPicPr>
            <a:picLocks noChangeAspect="1"/>
          </p:cNvPicPr>
          <p:nvPr/>
        </p:nvPicPr>
        <p:blipFill>
          <a:blip r:embed="rId3"/>
          <a:stretch>
            <a:fillRect/>
          </a:stretch>
        </p:blipFill>
        <p:spPr>
          <a:xfrm>
            <a:off x="987552" y="4956048"/>
            <a:ext cx="237744" cy="237744"/>
          </a:xfrm>
          <a:prstGeom prst="rect">
            <a:avLst/>
          </a:prstGeom>
        </p:spPr>
      </p:pic>
      <p:sp>
        <p:nvSpPr>
          <p:cNvPr id="20" name="TextBox 19"/>
          <p:cNvSpPr txBox="1"/>
          <p:nvPr/>
        </p:nvSpPr>
        <p:spPr>
          <a:xfrm>
            <a:off x="1353312" y="4809744"/>
            <a:ext cx="5029200" cy="530352"/>
          </a:xfrm>
          <a:prstGeom prst="rect">
            <a:avLst/>
          </a:prstGeom>
          <a:noFill/>
        </p:spPr>
        <p:txBody>
          <a:bodyPr wrap="square" anchor="ctr" lIns="0" rIns="0" tIns="0" bIns="0">
            <a:spAutoFit/>
          </a:bodyPr>
          <a:lstStyle/>
          <a:p>
            <a:pPr algn="l">
              <a:lnSpc>
                <a:spcPct val="106000"/>
              </a:lnSpc>
              <a:spcBef>
                <a:spcPts val="0"/>
              </a:spcBef>
              <a:spcAft>
                <a:spcPts val="0"/>
              </a:spcAft>
            </a:pPr>
            <a:r>
              <a:rPr sz="1200" b="0">
                <a:solidFill>
                  <a:srgbClr val="1A1A1A"/>
                </a:solidFill>
                <a:latin typeface="Red Hat Text"/>
              </a:rPr>
              <a:t>The platform is powerful; nobody finds the on-ramp</a:t>
            </a:r>
          </a:p>
        </p:txBody>
      </p:sp>
      <p:sp>
        <p:nvSpPr>
          <p:cNvPr id="21" name="Rounded Rectangle 20"/>
          <p:cNvSpPr/>
          <p:nvPr/>
        </p:nvSpPr>
        <p:spPr>
          <a:xfrm>
            <a:off x="6812280" y="2395728"/>
            <a:ext cx="4538167" cy="2944368"/>
          </a:xfrm>
          <a:prstGeom prst="roundRect">
            <a:avLst>
              <a:gd name="adj" fmla="val 4000"/>
            </a:avLst>
          </a:prstGeom>
          <a:solidFill>
            <a:srgbClr val="FFFFFF"/>
          </a:solidFill>
          <a:ln w="15240">
            <a:solidFill>
              <a:srgbClr val="DDE1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ounded Rectangle 21"/>
          <p:cNvSpPr/>
          <p:nvPr/>
        </p:nvSpPr>
        <p:spPr>
          <a:xfrm>
            <a:off x="7013448" y="2596896"/>
            <a:ext cx="1298448" cy="310896"/>
          </a:xfrm>
          <a:prstGeom prst="roundRect">
            <a:avLst>
              <a:gd name="adj" fmla="val 50000"/>
            </a:avLst>
          </a:prstGeom>
          <a:solidFill>
            <a:srgbClr val="FCEC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7013448" y="2596896"/>
            <a:ext cx="1298448" cy="310896"/>
          </a:xfrm>
          <a:prstGeom prst="rect">
            <a:avLst/>
          </a:prstGeom>
          <a:noFill/>
        </p:spPr>
        <p:txBody>
          <a:bodyPr wrap="none" anchor="ctr" lIns="0" rIns="0" tIns="0" bIns="0">
            <a:spAutoFit/>
          </a:bodyPr>
          <a:lstStyle/>
          <a:p>
            <a:pPr algn="ctr">
              <a:lnSpc>
                <a:spcPct val="106000"/>
              </a:lnSpc>
              <a:spcBef>
                <a:spcPts val="0"/>
              </a:spcBef>
              <a:spcAft>
                <a:spcPts val="0"/>
              </a:spcAft>
            </a:pPr>
            <a:r>
              <a:rPr sz="850" b="1">
                <a:solidFill>
                  <a:srgbClr val="B80000"/>
                </a:solidFill>
                <a:latin typeface="Red Hat Display"/>
              </a:rPr>
              <a:t>MEDIA PASS</a:t>
            </a:r>
          </a:p>
        </p:txBody>
      </p:sp>
      <p:pic>
        <p:nvPicPr>
          <p:cNvPr id="24" name="Picture 23" descr="eye_slate.png"/>
          <p:cNvPicPr>
            <a:picLocks noChangeAspect="1"/>
          </p:cNvPicPr>
          <p:nvPr/>
        </p:nvPicPr>
        <p:blipFill>
          <a:blip r:embed="rId4"/>
          <a:stretch>
            <a:fillRect/>
          </a:stretch>
        </p:blipFill>
        <p:spPr>
          <a:xfrm>
            <a:off x="8843619" y="3108960"/>
            <a:ext cx="475488" cy="475488"/>
          </a:xfrm>
          <a:prstGeom prst="rect">
            <a:avLst/>
          </a:prstGeom>
        </p:spPr>
      </p:pic>
      <p:sp>
        <p:nvSpPr>
          <p:cNvPr id="25" name="TextBox 24"/>
          <p:cNvSpPr txBox="1"/>
          <p:nvPr/>
        </p:nvSpPr>
        <p:spPr>
          <a:xfrm>
            <a:off x="7050024" y="3721608"/>
            <a:ext cx="4062679" cy="1481328"/>
          </a:xfrm>
          <a:prstGeom prst="rect">
            <a:avLst/>
          </a:prstGeom>
          <a:noFill/>
        </p:spPr>
        <p:txBody>
          <a:bodyPr wrap="square" anchor="t" lIns="0" rIns="0" tIns="0" bIns="0">
            <a:spAutoFit/>
          </a:bodyPr>
          <a:lstStyle/>
          <a:p>
            <a:pPr algn="l">
              <a:lnSpc>
                <a:spcPct val="120000"/>
              </a:lnSpc>
              <a:spcBef>
                <a:spcPts val="0"/>
              </a:spcBef>
              <a:spcAft>
                <a:spcPts val="0"/>
              </a:spcAft>
            </a:pPr>
            <a:r>
              <a:rPr sz="950" b="0">
                <a:solidFill>
                  <a:srgbClr val="8A9099"/>
                </a:solidFill>
                <a:latin typeface="Red Hat Text"/>
              </a:rPr>
              <a:t>A lone developer facing a wall of nine tool logos/boxes (build, pipeline, registry, GitOps, probes, metrics, tracing, catalog, workspace) with a tangle of arrows; a small "week 1: still plumbing" clock.</a:t>
            </a:r>
          </a:p>
        </p:txBody>
      </p:sp>
      <p:cxnSp>
        <p:nvCxnSpPr>
          <p:cNvPr id="26" name="Connector 25"/>
          <p:cNvCxnSpPr/>
          <p:nvPr/>
        </p:nvCxnSpPr>
        <p:spPr>
          <a:xfrm>
            <a:off x="841248" y="6437376"/>
            <a:ext cx="10509199" cy="0"/>
          </a:xfrm>
          <a:prstGeom prst="bentConnector3">
            <a:avLst/>
          </a:prstGeom>
          <a:ln w="12700">
            <a:solidFill>
              <a:srgbClr val="DDE1E6"/>
            </a:solidFill>
          </a:ln>
          <a:effectLst/>
        </p:spPr>
        <p:style>
          <a:lnRef idx="2">
            <a:schemeClr val="accent1"/>
          </a:lnRef>
          <a:fillRef idx="0">
            <a:schemeClr val="accent1"/>
          </a:fillRef>
          <a:effectRef idx="1">
            <a:schemeClr val="accent1"/>
          </a:effectRef>
          <a:fontRef idx="minor">
            <a:schemeClr val="tx1"/>
          </a:fontRef>
        </p:style>
      </p:cxnSp>
      <p:sp>
        <p:nvSpPr>
          <p:cNvPr id="27" name="TextBox 26"/>
          <p:cNvSpPr txBox="1"/>
          <p:nvPr/>
        </p:nvSpPr>
        <p:spPr>
          <a:xfrm>
            <a:off x="841248" y="6473952"/>
            <a:ext cx="7315200" cy="274320"/>
          </a:xfrm>
          <a:prstGeom prst="rect">
            <a:avLst/>
          </a:prstGeom>
          <a:noFill/>
        </p:spPr>
        <p:txBody>
          <a:bodyPr wrap="square" anchor="t" lIns="0" rIns="0" tIns="0" bIns="0">
            <a:spAutoFit/>
          </a:bodyPr>
          <a:lstStyle/>
          <a:p>
            <a:pPr algn="l">
              <a:lnSpc>
                <a:spcPct val="106000"/>
              </a:lnSpc>
              <a:spcBef>
                <a:spcPts val="0"/>
              </a:spcBef>
              <a:spcAft>
                <a:spcPts val="0"/>
              </a:spcAft>
            </a:pPr>
            <a:r>
              <a:rPr sz="950" b="0">
                <a:solidFill>
                  <a:srgbClr val="8A9099"/>
                </a:solidFill>
                <a:latin typeface="Red Hat Text"/>
              </a:rPr>
              <a:t>CONFIDENTIAL</a:t>
            </a:r>
          </a:p>
        </p:txBody>
      </p:sp>
      <p:sp>
        <p:nvSpPr>
          <p:cNvPr id="28" name="TextBox 27"/>
          <p:cNvSpPr txBox="1"/>
          <p:nvPr/>
        </p:nvSpPr>
        <p:spPr>
          <a:xfrm>
            <a:off x="10801807" y="6473952"/>
            <a:ext cx="548640" cy="274320"/>
          </a:xfrm>
          <a:prstGeom prst="rect">
            <a:avLst/>
          </a:prstGeom>
          <a:noFill/>
        </p:spPr>
        <p:txBody>
          <a:bodyPr wrap="square" anchor="t" lIns="0" rIns="0" tIns="0" bIns="0">
            <a:spAutoFit/>
          </a:bodyPr>
          <a:lstStyle/>
          <a:p>
            <a:pPr algn="r">
              <a:lnSpc>
                <a:spcPct val="106000"/>
              </a:lnSpc>
              <a:spcBef>
                <a:spcPts val="0"/>
              </a:spcBef>
              <a:spcAft>
                <a:spcPts val="0"/>
              </a:spcAft>
            </a:pPr>
            <a:r>
              <a:rPr sz="950" b="0">
                <a:solidFill>
                  <a:srgbClr val="8A9099"/>
                </a:solidFill>
                <a:latin typeface="Red Hat Text"/>
              </a:rPr>
              <a:t>82</a:t>
            </a:r>
          </a:p>
        </p:txBody>
      </p:sp>
    </p:spTree>
  </p:cSld>
  <p:clrMapOvr>
    <a:masterClrMapping/>
  </p:clrMapOvr>
</p:sld>
</file>

<file path=ppt/slides/slide9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redhat_logo.jpg"/>
          <p:cNvPicPr>
            <a:picLocks noChangeAspect="1"/>
          </p:cNvPicPr>
          <p:nvPr/>
        </p:nvPicPr>
        <p:blipFill>
          <a:blip r:embed="rId2"/>
          <a:stretch>
            <a:fillRect/>
          </a:stretch>
        </p:blipFill>
        <p:spPr>
          <a:xfrm>
            <a:off x="10326319" y="475488"/>
            <a:ext cx="1024128" cy="242248"/>
          </a:xfrm>
          <a:prstGeom prst="rect">
            <a:avLst/>
          </a:prstGeom>
        </p:spPr>
      </p:pic>
      <p:sp>
        <p:nvSpPr>
          <p:cNvPr id="3" name="TextBox 2"/>
          <p:cNvSpPr txBox="1"/>
          <p:nvPr/>
        </p:nvSpPr>
        <p:spPr>
          <a:xfrm>
            <a:off x="841248" y="548640"/>
            <a:ext cx="8595360" cy="274320"/>
          </a:xfrm>
          <a:prstGeom prst="rect">
            <a:avLst/>
          </a:prstGeom>
          <a:noFill/>
        </p:spPr>
        <p:txBody>
          <a:bodyPr wrap="square" anchor="t" lIns="0" rIns="0" tIns="0" bIns="0">
            <a:spAutoFit/>
          </a:bodyPr>
          <a:lstStyle/>
          <a:p>
            <a:pPr algn="l">
              <a:lnSpc>
                <a:spcPct val="106000"/>
              </a:lnSpc>
              <a:spcBef>
                <a:spcPts val="0"/>
              </a:spcBef>
              <a:spcAft>
                <a:spcPts val="0"/>
              </a:spcAft>
            </a:pPr>
            <a:r>
              <a:rPr sz="1250" b="1" spc="220">
                <a:solidFill>
                  <a:srgbClr val="EE0000"/>
                </a:solidFill>
                <a:latin typeface="Red Hat Display"/>
              </a:rPr>
              <a:t>M12 · DEVELOPER HUB &amp; GOLDEN PATHS</a:t>
            </a:r>
          </a:p>
        </p:txBody>
      </p:sp>
      <p:sp>
        <p:nvSpPr>
          <p:cNvPr id="4" name="TextBox 3"/>
          <p:cNvSpPr txBox="1"/>
          <p:nvPr/>
        </p:nvSpPr>
        <p:spPr>
          <a:xfrm>
            <a:off x="841248" y="877824"/>
            <a:ext cx="10515600" cy="548640"/>
          </a:xfrm>
          <a:prstGeom prst="rect">
            <a:avLst/>
          </a:prstGeom>
          <a:noFill/>
        </p:spPr>
        <p:txBody>
          <a:bodyPr wrap="none" anchor="t" lIns="0" rIns="0" tIns="0" bIns="0">
            <a:spAutoFit/>
          </a:bodyPr>
          <a:lstStyle/>
          <a:p>
            <a:pPr algn="l">
              <a:lnSpc>
                <a:spcPct val="100000"/>
              </a:lnSpc>
              <a:spcBef>
                <a:spcPts val="0"/>
              </a:spcBef>
              <a:spcAft>
                <a:spcPts val="0"/>
              </a:spcAft>
            </a:pPr>
            <a:r>
              <a:rPr sz="2500" b="1">
                <a:solidFill>
                  <a:srgbClr val="1A1A1A"/>
                </a:solidFill>
                <a:latin typeface="Red Hat Display"/>
              </a:rPr>
              <a:t>The catalog</a:t>
            </a:r>
          </a:p>
        </p:txBody>
      </p:sp>
      <p:cxnSp>
        <p:nvCxnSpPr>
          <p:cNvPr id="5" name="Connector 4"/>
          <p:cNvCxnSpPr/>
          <p:nvPr/>
        </p:nvCxnSpPr>
        <p:spPr>
          <a:xfrm>
            <a:off x="841248" y="1554480"/>
            <a:ext cx="1371600" cy="0"/>
          </a:xfrm>
          <a:prstGeom prst="bentConnector3">
            <a:avLst/>
          </a:prstGeom>
          <a:ln w="31750">
            <a:solidFill>
              <a:srgbClr val="EE0000"/>
            </a:solidFill>
          </a:ln>
          <a:effectLst/>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841248" y="1664208"/>
            <a:ext cx="10515600" cy="365760"/>
          </a:xfrm>
          <a:prstGeom prst="rect">
            <a:avLst/>
          </a:prstGeom>
          <a:noFill/>
        </p:spPr>
        <p:txBody>
          <a:bodyPr wrap="square" anchor="t" lIns="0" rIns="0" tIns="0" bIns="0">
            <a:spAutoFit/>
          </a:bodyPr>
          <a:lstStyle/>
          <a:p>
            <a:pPr algn="l">
              <a:lnSpc>
                <a:spcPct val="106000"/>
              </a:lnSpc>
              <a:spcBef>
                <a:spcPts val="0"/>
              </a:spcBef>
              <a:spcAft>
                <a:spcPts val="0"/>
              </a:spcAft>
            </a:pPr>
            <a:r>
              <a:rPr sz="1350" b="0">
                <a:solidFill>
                  <a:srgbClr val="555960"/>
                </a:solidFill>
                <a:latin typeface="Red Hat Text"/>
              </a:rPr>
              <a:t>the org's map, not a spreadsheet</a:t>
            </a:r>
          </a:p>
        </p:txBody>
      </p:sp>
      <p:sp>
        <p:nvSpPr>
          <p:cNvPr id="7" name="Rounded Rectangle 6"/>
          <p:cNvSpPr/>
          <p:nvPr/>
        </p:nvSpPr>
        <p:spPr>
          <a:xfrm>
            <a:off x="841248" y="2670048"/>
            <a:ext cx="5715000" cy="530352"/>
          </a:xfrm>
          <a:prstGeom prst="roundRect">
            <a:avLst>
              <a:gd name="adj" fmla="val 6000"/>
            </a:avLst>
          </a:prstGeom>
          <a:solidFill>
            <a:srgbClr val="F5F6F8"/>
          </a:solidFill>
          <a:ln w="12700">
            <a:solidFill>
              <a:srgbClr val="DDE1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check_steel.png"/>
          <p:cNvPicPr>
            <a:picLocks noChangeAspect="1"/>
          </p:cNvPicPr>
          <p:nvPr/>
        </p:nvPicPr>
        <p:blipFill>
          <a:blip r:embed="rId3"/>
          <a:stretch>
            <a:fillRect/>
          </a:stretch>
        </p:blipFill>
        <p:spPr>
          <a:xfrm>
            <a:off x="987552" y="2816352"/>
            <a:ext cx="237744" cy="237744"/>
          </a:xfrm>
          <a:prstGeom prst="rect">
            <a:avLst/>
          </a:prstGeom>
        </p:spPr>
      </p:pic>
      <p:sp>
        <p:nvSpPr>
          <p:cNvPr id="9" name="TextBox 8"/>
          <p:cNvSpPr txBox="1"/>
          <p:nvPr/>
        </p:nvSpPr>
        <p:spPr>
          <a:xfrm>
            <a:off x="1353312" y="2670048"/>
            <a:ext cx="5029200" cy="530352"/>
          </a:xfrm>
          <a:prstGeom prst="rect">
            <a:avLst/>
          </a:prstGeom>
          <a:noFill/>
        </p:spPr>
        <p:txBody>
          <a:bodyPr wrap="square" anchor="ctr" lIns="0" rIns="0" tIns="0" bIns="0">
            <a:spAutoFit/>
          </a:bodyPr>
          <a:lstStyle/>
          <a:p>
            <a:pPr algn="l">
              <a:lnSpc>
                <a:spcPct val="106000"/>
              </a:lnSpc>
              <a:spcBef>
                <a:spcPts val="0"/>
              </a:spcBef>
              <a:spcAft>
                <a:spcPts val="0"/>
              </a:spcAft>
            </a:pPr>
            <a:r>
              <a:rPr sz="1200" b="0">
                <a:solidFill>
                  <a:srgbClr val="1A1A1A"/>
                </a:solidFill>
                <a:latin typeface="Red Hat Text"/>
              </a:rPr>
              <a:t>Components: the things you build and run</a:t>
            </a:r>
          </a:p>
        </p:txBody>
      </p:sp>
      <p:sp>
        <p:nvSpPr>
          <p:cNvPr id="10" name="Rounded Rectangle 9"/>
          <p:cNvSpPr/>
          <p:nvPr/>
        </p:nvSpPr>
        <p:spPr>
          <a:xfrm>
            <a:off x="841248" y="3273552"/>
            <a:ext cx="5715000" cy="530352"/>
          </a:xfrm>
          <a:prstGeom prst="roundRect">
            <a:avLst>
              <a:gd name="adj" fmla="val 6000"/>
            </a:avLst>
          </a:prstGeom>
          <a:solidFill>
            <a:srgbClr val="F5F6F8"/>
          </a:solidFill>
          <a:ln w="12700">
            <a:solidFill>
              <a:srgbClr val="DDE1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1" name="Picture 10" descr="check_steel.png"/>
          <p:cNvPicPr>
            <a:picLocks noChangeAspect="1"/>
          </p:cNvPicPr>
          <p:nvPr/>
        </p:nvPicPr>
        <p:blipFill>
          <a:blip r:embed="rId3"/>
          <a:stretch>
            <a:fillRect/>
          </a:stretch>
        </p:blipFill>
        <p:spPr>
          <a:xfrm>
            <a:off x="987552" y="3419856"/>
            <a:ext cx="237744" cy="237744"/>
          </a:xfrm>
          <a:prstGeom prst="rect">
            <a:avLst/>
          </a:prstGeom>
        </p:spPr>
      </p:pic>
      <p:sp>
        <p:nvSpPr>
          <p:cNvPr id="12" name="TextBox 11"/>
          <p:cNvSpPr txBox="1"/>
          <p:nvPr/>
        </p:nvSpPr>
        <p:spPr>
          <a:xfrm>
            <a:off x="1353312" y="3273552"/>
            <a:ext cx="5029200" cy="530352"/>
          </a:xfrm>
          <a:prstGeom prst="rect">
            <a:avLst/>
          </a:prstGeom>
          <a:noFill/>
        </p:spPr>
        <p:txBody>
          <a:bodyPr wrap="square" anchor="ctr" lIns="0" rIns="0" tIns="0" bIns="0">
            <a:spAutoFit/>
          </a:bodyPr>
          <a:lstStyle/>
          <a:p>
            <a:pPr algn="l">
              <a:lnSpc>
                <a:spcPct val="106000"/>
              </a:lnSpc>
              <a:spcBef>
                <a:spcPts val="0"/>
              </a:spcBef>
              <a:spcAft>
                <a:spcPts val="0"/>
              </a:spcAft>
            </a:pPr>
            <a:r>
              <a:rPr sz="1200" b="0">
                <a:solidFill>
                  <a:srgbClr val="1A1A1A"/>
                </a:solidFill>
                <a:latin typeface="Red Hat Text"/>
              </a:rPr>
              <a:t>APIs: the contracts they provide and consume</a:t>
            </a:r>
          </a:p>
        </p:txBody>
      </p:sp>
      <p:sp>
        <p:nvSpPr>
          <p:cNvPr id="13" name="Rounded Rectangle 12"/>
          <p:cNvSpPr/>
          <p:nvPr/>
        </p:nvSpPr>
        <p:spPr>
          <a:xfrm>
            <a:off x="841248" y="3877056"/>
            <a:ext cx="5715000" cy="530352"/>
          </a:xfrm>
          <a:prstGeom prst="roundRect">
            <a:avLst>
              <a:gd name="adj" fmla="val 6000"/>
            </a:avLst>
          </a:prstGeom>
          <a:solidFill>
            <a:srgbClr val="F5F6F8"/>
          </a:solidFill>
          <a:ln w="12700">
            <a:solidFill>
              <a:srgbClr val="DDE1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4" name="Picture 13" descr="check_steel.png"/>
          <p:cNvPicPr>
            <a:picLocks noChangeAspect="1"/>
          </p:cNvPicPr>
          <p:nvPr/>
        </p:nvPicPr>
        <p:blipFill>
          <a:blip r:embed="rId3"/>
          <a:stretch>
            <a:fillRect/>
          </a:stretch>
        </p:blipFill>
        <p:spPr>
          <a:xfrm>
            <a:off x="987552" y="4023360"/>
            <a:ext cx="237744" cy="237744"/>
          </a:xfrm>
          <a:prstGeom prst="rect">
            <a:avLst/>
          </a:prstGeom>
        </p:spPr>
      </p:pic>
      <p:sp>
        <p:nvSpPr>
          <p:cNvPr id="15" name="TextBox 14"/>
          <p:cNvSpPr txBox="1"/>
          <p:nvPr/>
        </p:nvSpPr>
        <p:spPr>
          <a:xfrm>
            <a:off x="1353312" y="3877056"/>
            <a:ext cx="5029200" cy="530352"/>
          </a:xfrm>
          <a:prstGeom prst="rect">
            <a:avLst/>
          </a:prstGeom>
          <a:noFill/>
        </p:spPr>
        <p:txBody>
          <a:bodyPr wrap="square" anchor="ctr" lIns="0" rIns="0" tIns="0" bIns="0">
            <a:spAutoFit/>
          </a:bodyPr>
          <a:lstStyle/>
          <a:p>
            <a:pPr algn="l">
              <a:lnSpc>
                <a:spcPct val="106000"/>
              </a:lnSpc>
              <a:spcBef>
                <a:spcPts val="0"/>
              </a:spcBef>
              <a:spcAft>
                <a:spcPts val="0"/>
              </a:spcAft>
            </a:pPr>
            <a:r>
              <a:rPr sz="1200" b="0">
                <a:solidFill>
                  <a:srgbClr val="1A1A1A"/>
                </a:solidFill>
                <a:latin typeface="Red Hat Text"/>
              </a:rPr>
              <a:t>Systems: groups of components that work together</a:t>
            </a:r>
          </a:p>
        </p:txBody>
      </p:sp>
      <p:sp>
        <p:nvSpPr>
          <p:cNvPr id="16" name="Rounded Rectangle 15"/>
          <p:cNvSpPr/>
          <p:nvPr/>
        </p:nvSpPr>
        <p:spPr>
          <a:xfrm>
            <a:off x="841248" y="4480560"/>
            <a:ext cx="5715000" cy="530352"/>
          </a:xfrm>
          <a:prstGeom prst="roundRect">
            <a:avLst>
              <a:gd name="adj" fmla="val 6000"/>
            </a:avLst>
          </a:prstGeom>
          <a:solidFill>
            <a:srgbClr val="F5F6F8"/>
          </a:solidFill>
          <a:ln w="12700">
            <a:solidFill>
              <a:srgbClr val="DDE1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7" name="Picture 16" descr="check_steel.png"/>
          <p:cNvPicPr>
            <a:picLocks noChangeAspect="1"/>
          </p:cNvPicPr>
          <p:nvPr/>
        </p:nvPicPr>
        <p:blipFill>
          <a:blip r:embed="rId3"/>
          <a:stretch>
            <a:fillRect/>
          </a:stretch>
        </p:blipFill>
        <p:spPr>
          <a:xfrm>
            <a:off x="987552" y="4626864"/>
            <a:ext cx="237744" cy="237744"/>
          </a:xfrm>
          <a:prstGeom prst="rect">
            <a:avLst/>
          </a:prstGeom>
        </p:spPr>
      </p:pic>
      <p:sp>
        <p:nvSpPr>
          <p:cNvPr id="18" name="TextBox 17"/>
          <p:cNvSpPr txBox="1"/>
          <p:nvPr/>
        </p:nvSpPr>
        <p:spPr>
          <a:xfrm>
            <a:off x="1353312" y="4480560"/>
            <a:ext cx="5029200" cy="530352"/>
          </a:xfrm>
          <a:prstGeom prst="rect">
            <a:avLst/>
          </a:prstGeom>
          <a:noFill/>
        </p:spPr>
        <p:txBody>
          <a:bodyPr wrap="square" anchor="ctr" lIns="0" rIns="0" tIns="0" bIns="0">
            <a:spAutoFit/>
          </a:bodyPr>
          <a:lstStyle/>
          <a:p>
            <a:pPr algn="l">
              <a:lnSpc>
                <a:spcPct val="106000"/>
              </a:lnSpc>
              <a:spcBef>
                <a:spcPts val="0"/>
              </a:spcBef>
              <a:spcAft>
                <a:spcPts val="0"/>
              </a:spcAft>
            </a:pPr>
            <a:r>
              <a:rPr sz="1200" b="0">
                <a:solidFill>
                  <a:srgbClr val="1A1A1A"/>
                </a:solidFill>
                <a:latin typeface="Red Hat Text"/>
              </a:rPr>
              <a:t>Groups: the teams that own them</a:t>
            </a:r>
          </a:p>
        </p:txBody>
      </p:sp>
      <p:sp>
        <p:nvSpPr>
          <p:cNvPr id="19" name="Rounded Rectangle 18"/>
          <p:cNvSpPr/>
          <p:nvPr/>
        </p:nvSpPr>
        <p:spPr>
          <a:xfrm>
            <a:off x="841248" y="5084064"/>
            <a:ext cx="5715000" cy="530352"/>
          </a:xfrm>
          <a:prstGeom prst="roundRect">
            <a:avLst>
              <a:gd name="adj" fmla="val 6000"/>
            </a:avLst>
          </a:prstGeom>
          <a:solidFill>
            <a:srgbClr val="F5F6F8"/>
          </a:solidFill>
          <a:ln w="12700">
            <a:solidFill>
              <a:srgbClr val="DDE1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0" name="Picture 19" descr="check_steel.png"/>
          <p:cNvPicPr>
            <a:picLocks noChangeAspect="1"/>
          </p:cNvPicPr>
          <p:nvPr/>
        </p:nvPicPr>
        <p:blipFill>
          <a:blip r:embed="rId3"/>
          <a:stretch>
            <a:fillRect/>
          </a:stretch>
        </p:blipFill>
        <p:spPr>
          <a:xfrm>
            <a:off x="987552" y="5230368"/>
            <a:ext cx="237744" cy="237744"/>
          </a:xfrm>
          <a:prstGeom prst="rect">
            <a:avLst/>
          </a:prstGeom>
        </p:spPr>
      </p:pic>
      <p:sp>
        <p:nvSpPr>
          <p:cNvPr id="21" name="TextBox 20"/>
          <p:cNvSpPr txBox="1"/>
          <p:nvPr/>
        </p:nvSpPr>
        <p:spPr>
          <a:xfrm>
            <a:off x="1353312" y="5084064"/>
            <a:ext cx="5029200" cy="530352"/>
          </a:xfrm>
          <a:prstGeom prst="rect">
            <a:avLst/>
          </a:prstGeom>
          <a:noFill/>
        </p:spPr>
        <p:txBody>
          <a:bodyPr wrap="square" anchor="ctr" lIns="0" rIns="0" tIns="0" bIns="0">
            <a:spAutoFit/>
          </a:bodyPr>
          <a:lstStyle/>
          <a:p>
            <a:pPr algn="l">
              <a:lnSpc>
                <a:spcPct val="106000"/>
              </a:lnSpc>
              <a:spcBef>
                <a:spcPts val="0"/>
              </a:spcBef>
              <a:spcAft>
                <a:spcPts val="0"/>
              </a:spcAft>
            </a:pPr>
            <a:r>
              <a:rPr sz="1200" b="0">
                <a:solidFill>
                  <a:srgbClr val="1A1A1A"/>
                </a:solidFill>
                <a:latin typeface="Red Hat Text"/>
              </a:rPr>
              <a:t>Sourced from files next to the code</a:t>
            </a:r>
          </a:p>
        </p:txBody>
      </p:sp>
      <p:sp>
        <p:nvSpPr>
          <p:cNvPr id="22" name="Rounded Rectangle 21"/>
          <p:cNvSpPr/>
          <p:nvPr/>
        </p:nvSpPr>
        <p:spPr>
          <a:xfrm>
            <a:off x="6812280" y="2670048"/>
            <a:ext cx="4538167" cy="2944368"/>
          </a:xfrm>
          <a:prstGeom prst="roundRect">
            <a:avLst>
              <a:gd name="adj" fmla="val 4000"/>
            </a:avLst>
          </a:prstGeom>
          <a:solidFill>
            <a:srgbClr val="FFFFFF"/>
          </a:solidFill>
          <a:ln w="15240">
            <a:solidFill>
              <a:srgbClr val="DDE1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ounded Rectangle 22"/>
          <p:cNvSpPr/>
          <p:nvPr/>
        </p:nvSpPr>
        <p:spPr>
          <a:xfrm>
            <a:off x="7013448" y="2871216"/>
            <a:ext cx="1298448" cy="310896"/>
          </a:xfrm>
          <a:prstGeom prst="roundRect">
            <a:avLst>
              <a:gd name="adj" fmla="val 50000"/>
            </a:avLst>
          </a:prstGeom>
          <a:solidFill>
            <a:srgbClr val="FCEC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7013448" y="2871216"/>
            <a:ext cx="1298448" cy="310896"/>
          </a:xfrm>
          <a:prstGeom prst="rect">
            <a:avLst/>
          </a:prstGeom>
          <a:noFill/>
        </p:spPr>
        <p:txBody>
          <a:bodyPr wrap="none" anchor="ctr" lIns="0" rIns="0" tIns="0" bIns="0">
            <a:spAutoFit/>
          </a:bodyPr>
          <a:lstStyle/>
          <a:p>
            <a:pPr algn="ctr">
              <a:lnSpc>
                <a:spcPct val="106000"/>
              </a:lnSpc>
              <a:spcBef>
                <a:spcPts val="0"/>
              </a:spcBef>
              <a:spcAft>
                <a:spcPts val="0"/>
              </a:spcAft>
            </a:pPr>
            <a:r>
              <a:rPr sz="850" b="1">
                <a:solidFill>
                  <a:srgbClr val="B80000"/>
                </a:solidFill>
                <a:latin typeface="Red Hat Display"/>
              </a:rPr>
              <a:t>MEDIA PASS</a:t>
            </a:r>
          </a:p>
        </p:txBody>
      </p:sp>
      <p:pic>
        <p:nvPicPr>
          <p:cNvPr id="25" name="Picture 24" descr="eye_slate.png"/>
          <p:cNvPicPr>
            <a:picLocks noChangeAspect="1"/>
          </p:cNvPicPr>
          <p:nvPr/>
        </p:nvPicPr>
        <p:blipFill>
          <a:blip r:embed="rId4"/>
          <a:stretch>
            <a:fillRect/>
          </a:stretch>
        </p:blipFill>
        <p:spPr>
          <a:xfrm>
            <a:off x="8843619" y="3383280"/>
            <a:ext cx="475488" cy="475488"/>
          </a:xfrm>
          <a:prstGeom prst="rect">
            <a:avLst/>
          </a:prstGeom>
        </p:spPr>
      </p:pic>
      <p:sp>
        <p:nvSpPr>
          <p:cNvPr id="26" name="TextBox 25"/>
          <p:cNvSpPr txBox="1"/>
          <p:nvPr/>
        </p:nvSpPr>
        <p:spPr>
          <a:xfrm>
            <a:off x="7050024" y="3995928"/>
            <a:ext cx="4062679" cy="1481328"/>
          </a:xfrm>
          <a:prstGeom prst="rect">
            <a:avLst/>
          </a:prstGeom>
          <a:noFill/>
        </p:spPr>
        <p:txBody>
          <a:bodyPr wrap="square" anchor="t" lIns="0" rIns="0" tIns="0" bIns="0">
            <a:spAutoFit/>
          </a:bodyPr>
          <a:lstStyle/>
          <a:p>
            <a:pPr algn="l">
              <a:lnSpc>
                <a:spcPct val="120000"/>
              </a:lnSpc>
              <a:spcBef>
                <a:spcPts val="0"/>
              </a:spcBef>
              <a:spcAft>
                <a:spcPts val="0"/>
              </a:spcAft>
            </a:pPr>
            <a:r>
              <a:rPr sz="950" b="0">
                <a:solidFill>
                  <a:srgbClr val="8A9099"/>
                </a:solidFill>
                <a:latin typeface="Red Hat Text"/>
              </a:rPr>
              <a:t>Concept diagram developer-hub-golden-paths-01-catalog-model — System box containing Components + an API, a Group owning them, provides/consumes arrows.</a:t>
            </a:r>
          </a:p>
        </p:txBody>
      </p:sp>
      <p:cxnSp>
        <p:nvCxnSpPr>
          <p:cNvPr id="27" name="Connector 26"/>
          <p:cNvCxnSpPr/>
          <p:nvPr/>
        </p:nvCxnSpPr>
        <p:spPr>
          <a:xfrm>
            <a:off x="841248" y="6437376"/>
            <a:ext cx="10509199" cy="0"/>
          </a:xfrm>
          <a:prstGeom prst="bentConnector3">
            <a:avLst/>
          </a:prstGeom>
          <a:ln w="12700">
            <a:solidFill>
              <a:srgbClr val="DDE1E6"/>
            </a:solidFill>
          </a:ln>
          <a:effectLst/>
        </p:spPr>
        <p:style>
          <a:lnRef idx="2">
            <a:schemeClr val="accent1"/>
          </a:lnRef>
          <a:fillRef idx="0">
            <a:schemeClr val="accent1"/>
          </a:fillRef>
          <a:effectRef idx="1">
            <a:schemeClr val="accent1"/>
          </a:effectRef>
          <a:fontRef idx="minor">
            <a:schemeClr val="tx1"/>
          </a:fontRef>
        </p:style>
      </p:cxnSp>
      <p:sp>
        <p:nvSpPr>
          <p:cNvPr id="28" name="TextBox 27"/>
          <p:cNvSpPr txBox="1"/>
          <p:nvPr/>
        </p:nvSpPr>
        <p:spPr>
          <a:xfrm>
            <a:off x="841248" y="6473952"/>
            <a:ext cx="7315200" cy="274320"/>
          </a:xfrm>
          <a:prstGeom prst="rect">
            <a:avLst/>
          </a:prstGeom>
          <a:noFill/>
        </p:spPr>
        <p:txBody>
          <a:bodyPr wrap="square" anchor="t" lIns="0" rIns="0" tIns="0" bIns="0">
            <a:spAutoFit/>
          </a:bodyPr>
          <a:lstStyle/>
          <a:p>
            <a:pPr algn="l">
              <a:lnSpc>
                <a:spcPct val="106000"/>
              </a:lnSpc>
              <a:spcBef>
                <a:spcPts val="0"/>
              </a:spcBef>
              <a:spcAft>
                <a:spcPts val="0"/>
              </a:spcAft>
            </a:pPr>
            <a:r>
              <a:rPr sz="950" b="0">
                <a:solidFill>
                  <a:srgbClr val="8A9099"/>
                </a:solidFill>
                <a:latin typeface="Red Hat Text"/>
              </a:rPr>
              <a:t>CONFIDENTIAL</a:t>
            </a:r>
          </a:p>
        </p:txBody>
      </p:sp>
      <p:sp>
        <p:nvSpPr>
          <p:cNvPr id="29" name="TextBox 28"/>
          <p:cNvSpPr txBox="1"/>
          <p:nvPr/>
        </p:nvSpPr>
        <p:spPr>
          <a:xfrm>
            <a:off x="10801807" y="6473952"/>
            <a:ext cx="548640" cy="274320"/>
          </a:xfrm>
          <a:prstGeom prst="rect">
            <a:avLst/>
          </a:prstGeom>
          <a:noFill/>
        </p:spPr>
        <p:txBody>
          <a:bodyPr wrap="square" anchor="t" lIns="0" rIns="0" tIns="0" bIns="0">
            <a:spAutoFit/>
          </a:bodyPr>
          <a:lstStyle/>
          <a:p>
            <a:pPr algn="r">
              <a:lnSpc>
                <a:spcPct val="106000"/>
              </a:lnSpc>
              <a:spcBef>
                <a:spcPts val="0"/>
              </a:spcBef>
              <a:spcAft>
                <a:spcPts val="0"/>
              </a:spcAft>
            </a:pPr>
            <a:r>
              <a:rPr sz="950" b="0">
                <a:solidFill>
                  <a:srgbClr val="8A9099"/>
                </a:solidFill>
                <a:latin typeface="Red Hat Text"/>
              </a:rPr>
              <a:t>83</a:t>
            </a:r>
          </a:p>
        </p:txBody>
      </p:sp>
    </p:spTree>
  </p:cSld>
  <p:clrMapOvr>
    <a:masterClrMapping/>
  </p:clrMapOvr>
</p:sld>
</file>

<file path=ppt/slides/slide9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redhat_logo.jpg"/>
          <p:cNvPicPr>
            <a:picLocks noChangeAspect="1"/>
          </p:cNvPicPr>
          <p:nvPr/>
        </p:nvPicPr>
        <p:blipFill>
          <a:blip r:embed="rId2"/>
          <a:stretch>
            <a:fillRect/>
          </a:stretch>
        </p:blipFill>
        <p:spPr>
          <a:xfrm>
            <a:off x="10326319" y="475488"/>
            <a:ext cx="1024128" cy="242248"/>
          </a:xfrm>
          <a:prstGeom prst="rect">
            <a:avLst/>
          </a:prstGeom>
        </p:spPr>
      </p:pic>
      <p:sp>
        <p:nvSpPr>
          <p:cNvPr id="3" name="TextBox 2"/>
          <p:cNvSpPr txBox="1"/>
          <p:nvPr/>
        </p:nvSpPr>
        <p:spPr>
          <a:xfrm>
            <a:off x="841248" y="548640"/>
            <a:ext cx="8595360" cy="274320"/>
          </a:xfrm>
          <a:prstGeom prst="rect">
            <a:avLst/>
          </a:prstGeom>
          <a:noFill/>
        </p:spPr>
        <p:txBody>
          <a:bodyPr wrap="square" anchor="t" lIns="0" rIns="0" tIns="0" bIns="0">
            <a:spAutoFit/>
          </a:bodyPr>
          <a:lstStyle/>
          <a:p>
            <a:pPr algn="l">
              <a:lnSpc>
                <a:spcPct val="106000"/>
              </a:lnSpc>
              <a:spcBef>
                <a:spcPts val="0"/>
              </a:spcBef>
              <a:spcAft>
                <a:spcPts val="0"/>
              </a:spcAft>
            </a:pPr>
            <a:r>
              <a:rPr sz="1250" b="1" spc="220">
                <a:solidFill>
                  <a:srgbClr val="EE0000"/>
                </a:solidFill>
                <a:latin typeface="Red Hat Display"/>
              </a:rPr>
              <a:t>M12 · DEVELOPER HUB &amp; GOLDEN PATHS</a:t>
            </a:r>
          </a:p>
        </p:txBody>
      </p:sp>
      <p:sp>
        <p:nvSpPr>
          <p:cNvPr id="4" name="TextBox 3"/>
          <p:cNvSpPr txBox="1"/>
          <p:nvPr/>
        </p:nvSpPr>
        <p:spPr>
          <a:xfrm>
            <a:off x="841248" y="877824"/>
            <a:ext cx="10515600" cy="548640"/>
          </a:xfrm>
          <a:prstGeom prst="rect">
            <a:avLst/>
          </a:prstGeom>
          <a:noFill/>
        </p:spPr>
        <p:txBody>
          <a:bodyPr wrap="none" anchor="t" lIns="0" rIns="0" tIns="0" bIns="0">
            <a:spAutoFit/>
          </a:bodyPr>
          <a:lstStyle/>
          <a:p>
            <a:pPr algn="l">
              <a:lnSpc>
                <a:spcPct val="100000"/>
              </a:lnSpc>
              <a:spcBef>
                <a:spcPts val="0"/>
              </a:spcBef>
              <a:spcAft>
                <a:spcPts val="0"/>
              </a:spcAft>
            </a:pPr>
            <a:r>
              <a:rPr sz="2500" b="1">
                <a:solidFill>
                  <a:srgbClr val="1A1A1A"/>
                </a:solidFill>
                <a:latin typeface="Red Hat Display"/>
              </a:rPr>
              <a:t>The golden path — a paved road, not a cage</a:t>
            </a:r>
          </a:p>
        </p:txBody>
      </p:sp>
      <p:cxnSp>
        <p:nvCxnSpPr>
          <p:cNvPr id="5" name="Connector 4"/>
          <p:cNvCxnSpPr/>
          <p:nvPr/>
        </p:nvCxnSpPr>
        <p:spPr>
          <a:xfrm>
            <a:off x="841248" y="1554480"/>
            <a:ext cx="1371600" cy="0"/>
          </a:xfrm>
          <a:prstGeom prst="bentConnector3">
            <a:avLst/>
          </a:prstGeom>
          <a:ln w="31750">
            <a:solidFill>
              <a:srgbClr val="EE0000"/>
            </a:solidFill>
          </a:ln>
          <a:effectLst/>
        </p:spPr>
        <p:style>
          <a:lnRef idx="2">
            <a:schemeClr val="accent1"/>
          </a:lnRef>
          <a:fillRef idx="0">
            <a:schemeClr val="accent1"/>
          </a:fillRef>
          <a:effectRef idx="1">
            <a:schemeClr val="accent1"/>
          </a:effectRef>
          <a:fontRef idx="minor">
            <a:schemeClr val="tx1"/>
          </a:fontRef>
        </p:style>
      </p:cxnSp>
      <p:sp>
        <p:nvSpPr>
          <p:cNvPr id="6" name="Rounded Rectangle 5"/>
          <p:cNvSpPr/>
          <p:nvPr/>
        </p:nvSpPr>
        <p:spPr>
          <a:xfrm>
            <a:off x="841248" y="2395728"/>
            <a:ext cx="5715000" cy="530352"/>
          </a:xfrm>
          <a:prstGeom prst="roundRect">
            <a:avLst>
              <a:gd name="adj" fmla="val 6000"/>
            </a:avLst>
          </a:prstGeom>
          <a:solidFill>
            <a:srgbClr val="F5F6F8"/>
          </a:solidFill>
          <a:ln w="12700">
            <a:solidFill>
              <a:srgbClr val="DDE1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check_steel.png"/>
          <p:cNvPicPr>
            <a:picLocks noChangeAspect="1"/>
          </p:cNvPicPr>
          <p:nvPr/>
        </p:nvPicPr>
        <p:blipFill>
          <a:blip r:embed="rId3"/>
          <a:stretch>
            <a:fillRect/>
          </a:stretch>
        </p:blipFill>
        <p:spPr>
          <a:xfrm>
            <a:off x="987552" y="2542032"/>
            <a:ext cx="237744" cy="237744"/>
          </a:xfrm>
          <a:prstGeom prst="rect">
            <a:avLst/>
          </a:prstGeom>
        </p:spPr>
      </p:pic>
      <p:sp>
        <p:nvSpPr>
          <p:cNvPr id="8" name="TextBox 7"/>
          <p:cNvSpPr txBox="1"/>
          <p:nvPr/>
        </p:nvSpPr>
        <p:spPr>
          <a:xfrm>
            <a:off x="1353312" y="2395728"/>
            <a:ext cx="5029200" cy="530352"/>
          </a:xfrm>
          <a:prstGeom prst="rect">
            <a:avLst/>
          </a:prstGeom>
          <a:noFill/>
        </p:spPr>
        <p:txBody>
          <a:bodyPr wrap="square" anchor="ctr" lIns="0" rIns="0" tIns="0" bIns="0">
            <a:spAutoFit/>
          </a:bodyPr>
          <a:lstStyle/>
          <a:p>
            <a:pPr algn="l">
              <a:lnSpc>
                <a:spcPct val="106000"/>
              </a:lnSpc>
              <a:spcBef>
                <a:spcPts val="0"/>
              </a:spcBef>
              <a:spcAft>
                <a:spcPts val="0"/>
              </a:spcAft>
            </a:pPr>
            <a:r>
              <a:rPr sz="1200" b="0">
                <a:solidFill>
                  <a:srgbClr val="1A1A1A"/>
                </a:solidFill>
                <a:latin typeface="Red Hat Text"/>
              </a:rPr>
              <a:t>A Software Template: a form plus steps</a:t>
            </a:r>
          </a:p>
        </p:txBody>
      </p:sp>
      <p:sp>
        <p:nvSpPr>
          <p:cNvPr id="9" name="Rounded Rectangle 8"/>
          <p:cNvSpPr/>
          <p:nvPr/>
        </p:nvSpPr>
        <p:spPr>
          <a:xfrm>
            <a:off x="841248" y="2999232"/>
            <a:ext cx="5715000" cy="530352"/>
          </a:xfrm>
          <a:prstGeom prst="roundRect">
            <a:avLst>
              <a:gd name="adj" fmla="val 6000"/>
            </a:avLst>
          </a:prstGeom>
          <a:solidFill>
            <a:srgbClr val="F5F6F8"/>
          </a:solidFill>
          <a:ln w="12700">
            <a:solidFill>
              <a:srgbClr val="DDE1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0" name="Picture 9" descr="check_steel.png"/>
          <p:cNvPicPr>
            <a:picLocks noChangeAspect="1"/>
          </p:cNvPicPr>
          <p:nvPr/>
        </p:nvPicPr>
        <p:blipFill>
          <a:blip r:embed="rId3"/>
          <a:stretch>
            <a:fillRect/>
          </a:stretch>
        </p:blipFill>
        <p:spPr>
          <a:xfrm>
            <a:off x="987552" y="3145536"/>
            <a:ext cx="237744" cy="237744"/>
          </a:xfrm>
          <a:prstGeom prst="rect">
            <a:avLst/>
          </a:prstGeom>
        </p:spPr>
      </p:pic>
      <p:sp>
        <p:nvSpPr>
          <p:cNvPr id="11" name="TextBox 10"/>
          <p:cNvSpPr txBox="1"/>
          <p:nvPr/>
        </p:nvSpPr>
        <p:spPr>
          <a:xfrm>
            <a:off x="1353312" y="2999232"/>
            <a:ext cx="5029200" cy="530352"/>
          </a:xfrm>
          <a:prstGeom prst="rect">
            <a:avLst/>
          </a:prstGeom>
          <a:noFill/>
        </p:spPr>
        <p:txBody>
          <a:bodyPr wrap="square" anchor="ctr" lIns="0" rIns="0" tIns="0" bIns="0">
            <a:spAutoFit/>
          </a:bodyPr>
          <a:lstStyle/>
          <a:p>
            <a:pPr algn="l">
              <a:lnSpc>
                <a:spcPct val="106000"/>
              </a:lnSpc>
              <a:spcBef>
                <a:spcPts val="0"/>
              </a:spcBef>
              <a:spcAft>
                <a:spcPts val="0"/>
              </a:spcAft>
            </a:pPr>
            <a:r>
              <a:rPr sz="1200" b="0">
                <a:solidFill>
                  <a:srgbClr val="1A1A1A"/>
                </a:solidFill>
                <a:latin typeface="Red Hat Text"/>
              </a:rPr>
              <a:t>Fill a couple of fields, get a service</a:t>
            </a:r>
          </a:p>
        </p:txBody>
      </p:sp>
      <p:sp>
        <p:nvSpPr>
          <p:cNvPr id="12" name="Rounded Rectangle 11"/>
          <p:cNvSpPr/>
          <p:nvPr/>
        </p:nvSpPr>
        <p:spPr>
          <a:xfrm>
            <a:off x="841248" y="3602736"/>
            <a:ext cx="5715000" cy="530352"/>
          </a:xfrm>
          <a:prstGeom prst="roundRect">
            <a:avLst>
              <a:gd name="adj" fmla="val 6000"/>
            </a:avLst>
          </a:prstGeom>
          <a:solidFill>
            <a:srgbClr val="F5F6F8"/>
          </a:solidFill>
          <a:ln w="12700">
            <a:solidFill>
              <a:srgbClr val="DDE1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3" name="Picture 12" descr="check_steel.png"/>
          <p:cNvPicPr>
            <a:picLocks noChangeAspect="1"/>
          </p:cNvPicPr>
          <p:nvPr/>
        </p:nvPicPr>
        <p:blipFill>
          <a:blip r:embed="rId3"/>
          <a:stretch>
            <a:fillRect/>
          </a:stretch>
        </p:blipFill>
        <p:spPr>
          <a:xfrm>
            <a:off x="987552" y="3749040"/>
            <a:ext cx="237744" cy="237744"/>
          </a:xfrm>
          <a:prstGeom prst="rect">
            <a:avLst/>
          </a:prstGeom>
        </p:spPr>
      </p:pic>
      <p:sp>
        <p:nvSpPr>
          <p:cNvPr id="14" name="TextBox 13"/>
          <p:cNvSpPr txBox="1"/>
          <p:nvPr/>
        </p:nvSpPr>
        <p:spPr>
          <a:xfrm>
            <a:off x="1353312" y="3602736"/>
            <a:ext cx="5029200" cy="530352"/>
          </a:xfrm>
          <a:prstGeom prst="rect">
            <a:avLst/>
          </a:prstGeom>
          <a:noFill/>
        </p:spPr>
        <p:txBody>
          <a:bodyPr wrap="square" anchor="ctr" lIns="0" rIns="0" tIns="0" bIns="0">
            <a:spAutoFit/>
          </a:bodyPr>
          <a:lstStyle/>
          <a:p>
            <a:pPr algn="l">
              <a:lnSpc>
                <a:spcPct val="106000"/>
              </a:lnSpc>
              <a:spcBef>
                <a:spcPts val="0"/>
              </a:spcBef>
              <a:spcAft>
                <a:spcPts val="0"/>
              </a:spcAft>
            </a:pPr>
            <a:r>
              <a:rPr sz="1200" b="0">
                <a:solidFill>
                  <a:srgbClr val="1A1A1A"/>
                </a:solidFill>
                <a:latin typeface="Red Hat Text"/>
              </a:rPr>
              <a:t>Probes, metrics, tracing, trusted image — pre-wired</a:t>
            </a:r>
          </a:p>
        </p:txBody>
      </p:sp>
      <p:sp>
        <p:nvSpPr>
          <p:cNvPr id="15" name="Rounded Rectangle 14"/>
          <p:cNvSpPr/>
          <p:nvPr/>
        </p:nvSpPr>
        <p:spPr>
          <a:xfrm>
            <a:off x="841248" y="4206240"/>
            <a:ext cx="5715000" cy="530352"/>
          </a:xfrm>
          <a:prstGeom prst="roundRect">
            <a:avLst>
              <a:gd name="adj" fmla="val 6000"/>
            </a:avLst>
          </a:prstGeom>
          <a:solidFill>
            <a:srgbClr val="F5F6F8"/>
          </a:solidFill>
          <a:ln w="12700">
            <a:solidFill>
              <a:srgbClr val="DDE1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6" name="Picture 15" descr="check_steel.png"/>
          <p:cNvPicPr>
            <a:picLocks noChangeAspect="1"/>
          </p:cNvPicPr>
          <p:nvPr/>
        </p:nvPicPr>
        <p:blipFill>
          <a:blip r:embed="rId3"/>
          <a:stretch>
            <a:fillRect/>
          </a:stretch>
        </p:blipFill>
        <p:spPr>
          <a:xfrm>
            <a:off x="987552" y="4352544"/>
            <a:ext cx="237744" cy="237744"/>
          </a:xfrm>
          <a:prstGeom prst="rect">
            <a:avLst/>
          </a:prstGeom>
        </p:spPr>
      </p:pic>
      <p:sp>
        <p:nvSpPr>
          <p:cNvPr id="17" name="TextBox 16"/>
          <p:cNvSpPr txBox="1"/>
          <p:nvPr/>
        </p:nvSpPr>
        <p:spPr>
          <a:xfrm>
            <a:off x="1353312" y="4206240"/>
            <a:ext cx="5029200" cy="530352"/>
          </a:xfrm>
          <a:prstGeom prst="rect">
            <a:avLst/>
          </a:prstGeom>
          <a:noFill/>
        </p:spPr>
        <p:txBody>
          <a:bodyPr wrap="square" anchor="ctr" lIns="0" rIns="0" tIns="0" bIns="0">
            <a:spAutoFit/>
          </a:bodyPr>
          <a:lstStyle/>
          <a:p>
            <a:pPr algn="l">
              <a:lnSpc>
                <a:spcPct val="106000"/>
              </a:lnSpc>
              <a:spcBef>
                <a:spcPts val="0"/>
              </a:spcBef>
              <a:spcAft>
                <a:spcPts val="0"/>
              </a:spcAft>
            </a:pPr>
            <a:r>
              <a:rPr sz="1200" b="0">
                <a:solidFill>
                  <a:srgbClr val="1A1A1A"/>
                </a:solidFill>
                <a:latin typeface="Red Hat Text"/>
              </a:rPr>
              <a:t>Plain, standard code in your own repo</a:t>
            </a:r>
          </a:p>
        </p:txBody>
      </p:sp>
      <p:sp>
        <p:nvSpPr>
          <p:cNvPr id="18" name="Rounded Rectangle 17"/>
          <p:cNvSpPr/>
          <p:nvPr/>
        </p:nvSpPr>
        <p:spPr>
          <a:xfrm>
            <a:off x="841248" y="4809744"/>
            <a:ext cx="5715000" cy="530352"/>
          </a:xfrm>
          <a:prstGeom prst="roundRect">
            <a:avLst>
              <a:gd name="adj" fmla="val 6000"/>
            </a:avLst>
          </a:prstGeom>
          <a:solidFill>
            <a:srgbClr val="F5F6F8"/>
          </a:solidFill>
          <a:ln w="12700">
            <a:solidFill>
              <a:srgbClr val="DDE1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9" name="Picture 18" descr="check_steel.png"/>
          <p:cNvPicPr>
            <a:picLocks noChangeAspect="1"/>
          </p:cNvPicPr>
          <p:nvPr/>
        </p:nvPicPr>
        <p:blipFill>
          <a:blip r:embed="rId3"/>
          <a:stretch>
            <a:fillRect/>
          </a:stretch>
        </p:blipFill>
        <p:spPr>
          <a:xfrm>
            <a:off x="987552" y="4956048"/>
            <a:ext cx="237744" cy="237744"/>
          </a:xfrm>
          <a:prstGeom prst="rect">
            <a:avLst/>
          </a:prstGeom>
        </p:spPr>
      </p:pic>
      <p:sp>
        <p:nvSpPr>
          <p:cNvPr id="20" name="TextBox 19"/>
          <p:cNvSpPr txBox="1"/>
          <p:nvPr/>
        </p:nvSpPr>
        <p:spPr>
          <a:xfrm>
            <a:off x="1353312" y="4809744"/>
            <a:ext cx="5029200" cy="530352"/>
          </a:xfrm>
          <a:prstGeom prst="rect">
            <a:avLst/>
          </a:prstGeom>
          <a:noFill/>
        </p:spPr>
        <p:txBody>
          <a:bodyPr wrap="square" anchor="ctr" lIns="0" rIns="0" tIns="0" bIns="0">
            <a:spAutoFit/>
          </a:bodyPr>
          <a:lstStyle/>
          <a:p>
            <a:pPr algn="l">
              <a:lnSpc>
                <a:spcPct val="106000"/>
              </a:lnSpc>
              <a:spcBef>
                <a:spcPts val="0"/>
              </a:spcBef>
              <a:spcAft>
                <a:spcPts val="0"/>
              </a:spcAft>
            </a:pPr>
            <a:r>
              <a:rPr sz="1200" b="0">
                <a:solidFill>
                  <a:srgbClr val="1A1A1A"/>
                </a:solidFill>
                <a:latin typeface="Red Hat Text"/>
              </a:rPr>
              <a:t>The right thing is the easy thing</a:t>
            </a:r>
          </a:p>
        </p:txBody>
      </p:sp>
      <p:sp>
        <p:nvSpPr>
          <p:cNvPr id="21" name="Rounded Rectangle 20"/>
          <p:cNvSpPr/>
          <p:nvPr/>
        </p:nvSpPr>
        <p:spPr>
          <a:xfrm>
            <a:off x="6812280" y="2395728"/>
            <a:ext cx="4538167" cy="2944368"/>
          </a:xfrm>
          <a:prstGeom prst="roundRect">
            <a:avLst>
              <a:gd name="adj" fmla="val 4000"/>
            </a:avLst>
          </a:prstGeom>
          <a:solidFill>
            <a:srgbClr val="FFFFFF"/>
          </a:solidFill>
          <a:ln w="15240">
            <a:solidFill>
              <a:srgbClr val="DDE1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ounded Rectangle 21"/>
          <p:cNvSpPr/>
          <p:nvPr/>
        </p:nvSpPr>
        <p:spPr>
          <a:xfrm>
            <a:off x="7013448" y="2596896"/>
            <a:ext cx="1298448" cy="310896"/>
          </a:xfrm>
          <a:prstGeom prst="roundRect">
            <a:avLst>
              <a:gd name="adj" fmla="val 50000"/>
            </a:avLst>
          </a:prstGeom>
          <a:solidFill>
            <a:srgbClr val="FCEC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7013448" y="2596896"/>
            <a:ext cx="1298448" cy="310896"/>
          </a:xfrm>
          <a:prstGeom prst="rect">
            <a:avLst/>
          </a:prstGeom>
          <a:noFill/>
        </p:spPr>
        <p:txBody>
          <a:bodyPr wrap="none" anchor="ctr" lIns="0" rIns="0" tIns="0" bIns="0">
            <a:spAutoFit/>
          </a:bodyPr>
          <a:lstStyle/>
          <a:p>
            <a:pPr algn="ctr">
              <a:lnSpc>
                <a:spcPct val="106000"/>
              </a:lnSpc>
              <a:spcBef>
                <a:spcPts val="0"/>
              </a:spcBef>
              <a:spcAft>
                <a:spcPts val="0"/>
              </a:spcAft>
            </a:pPr>
            <a:r>
              <a:rPr sz="850" b="1">
                <a:solidFill>
                  <a:srgbClr val="B80000"/>
                </a:solidFill>
                <a:latin typeface="Red Hat Display"/>
              </a:rPr>
              <a:t>MEDIA PASS</a:t>
            </a:r>
          </a:p>
        </p:txBody>
      </p:sp>
      <p:pic>
        <p:nvPicPr>
          <p:cNvPr id="24" name="Picture 23" descr="eye_slate.png"/>
          <p:cNvPicPr>
            <a:picLocks noChangeAspect="1"/>
          </p:cNvPicPr>
          <p:nvPr/>
        </p:nvPicPr>
        <p:blipFill>
          <a:blip r:embed="rId4"/>
          <a:stretch>
            <a:fillRect/>
          </a:stretch>
        </p:blipFill>
        <p:spPr>
          <a:xfrm>
            <a:off x="8843619" y="3108960"/>
            <a:ext cx="475488" cy="475488"/>
          </a:xfrm>
          <a:prstGeom prst="rect">
            <a:avLst/>
          </a:prstGeom>
        </p:spPr>
      </p:pic>
      <p:sp>
        <p:nvSpPr>
          <p:cNvPr id="25" name="TextBox 24"/>
          <p:cNvSpPr txBox="1"/>
          <p:nvPr/>
        </p:nvSpPr>
        <p:spPr>
          <a:xfrm>
            <a:off x="7050024" y="3721608"/>
            <a:ext cx="4062679" cy="1481328"/>
          </a:xfrm>
          <a:prstGeom prst="rect">
            <a:avLst/>
          </a:prstGeom>
          <a:noFill/>
        </p:spPr>
        <p:txBody>
          <a:bodyPr wrap="square" anchor="t" lIns="0" rIns="0" tIns="0" bIns="0">
            <a:spAutoFit/>
          </a:bodyPr>
          <a:lstStyle/>
          <a:p>
            <a:pPr algn="l">
              <a:lnSpc>
                <a:spcPct val="120000"/>
              </a:lnSpc>
              <a:spcBef>
                <a:spcPts val="0"/>
              </a:spcBef>
              <a:spcAft>
                <a:spcPts val="0"/>
              </a:spcAft>
            </a:pPr>
            <a:r>
              <a:rPr sz="950" b="0">
                <a:solidFill>
                  <a:srgbClr val="8A9099"/>
                </a:solidFill>
                <a:latin typeface="Red Hat Text"/>
              </a:rPr>
              <a:t>Concept diagram developer-hub-golden-paths-02-golden-path-flow — form → template → three outputs (scaffold skeleton, publish to Git, register in catalog) → a new repo + a catalog entry.</a:t>
            </a:r>
          </a:p>
        </p:txBody>
      </p:sp>
      <p:cxnSp>
        <p:nvCxnSpPr>
          <p:cNvPr id="26" name="Connector 25"/>
          <p:cNvCxnSpPr/>
          <p:nvPr/>
        </p:nvCxnSpPr>
        <p:spPr>
          <a:xfrm>
            <a:off x="841248" y="6437376"/>
            <a:ext cx="10509199" cy="0"/>
          </a:xfrm>
          <a:prstGeom prst="bentConnector3">
            <a:avLst/>
          </a:prstGeom>
          <a:ln w="12700">
            <a:solidFill>
              <a:srgbClr val="DDE1E6"/>
            </a:solidFill>
          </a:ln>
          <a:effectLst/>
        </p:spPr>
        <p:style>
          <a:lnRef idx="2">
            <a:schemeClr val="accent1"/>
          </a:lnRef>
          <a:fillRef idx="0">
            <a:schemeClr val="accent1"/>
          </a:fillRef>
          <a:effectRef idx="1">
            <a:schemeClr val="accent1"/>
          </a:effectRef>
          <a:fontRef idx="minor">
            <a:schemeClr val="tx1"/>
          </a:fontRef>
        </p:style>
      </p:cxnSp>
      <p:sp>
        <p:nvSpPr>
          <p:cNvPr id="27" name="TextBox 26"/>
          <p:cNvSpPr txBox="1"/>
          <p:nvPr/>
        </p:nvSpPr>
        <p:spPr>
          <a:xfrm>
            <a:off x="841248" y="6473952"/>
            <a:ext cx="7315200" cy="274320"/>
          </a:xfrm>
          <a:prstGeom prst="rect">
            <a:avLst/>
          </a:prstGeom>
          <a:noFill/>
        </p:spPr>
        <p:txBody>
          <a:bodyPr wrap="square" anchor="t" lIns="0" rIns="0" tIns="0" bIns="0">
            <a:spAutoFit/>
          </a:bodyPr>
          <a:lstStyle/>
          <a:p>
            <a:pPr algn="l">
              <a:lnSpc>
                <a:spcPct val="106000"/>
              </a:lnSpc>
              <a:spcBef>
                <a:spcPts val="0"/>
              </a:spcBef>
              <a:spcAft>
                <a:spcPts val="0"/>
              </a:spcAft>
            </a:pPr>
            <a:r>
              <a:rPr sz="950" b="0">
                <a:solidFill>
                  <a:srgbClr val="8A9099"/>
                </a:solidFill>
                <a:latin typeface="Red Hat Text"/>
              </a:rPr>
              <a:t>CONFIDENTIAL</a:t>
            </a:r>
          </a:p>
        </p:txBody>
      </p:sp>
      <p:sp>
        <p:nvSpPr>
          <p:cNvPr id="28" name="TextBox 27"/>
          <p:cNvSpPr txBox="1"/>
          <p:nvPr/>
        </p:nvSpPr>
        <p:spPr>
          <a:xfrm>
            <a:off x="10801807" y="6473952"/>
            <a:ext cx="548640" cy="274320"/>
          </a:xfrm>
          <a:prstGeom prst="rect">
            <a:avLst/>
          </a:prstGeom>
          <a:noFill/>
        </p:spPr>
        <p:txBody>
          <a:bodyPr wrap="square" anchor="t" lIns="0" rIns="0" tIns="0" bIns="0">
            <a:spAutoFit/>
          </a:bodyPr>
          <a:lstStyle/>
          <a:p>
            <a:pPr algn="r">
              <a:lnSpc>
                <a:spcPct val="106000"/>
              </a:lnSpc>
              <a:spcBef>
                <a:spcPts val="0"/>
              </a:spcBef>
              <a:spcAft>
                <a:spcPts val="0"/>
              </a:spcAft>
            </a:pPr>
            <a:r>
              <a:rPr sz="950" b="0">
                <a:solidFill>
                  <a:srgbClr val="8A9099"/>
                </a:solidFill>
                <a:latin typeface="Red Hat Text"/>
              </a:rPr>
              <a:t>84</a:t>
            </a:r>
          </a:p>
        </p:txBody>
      </p:sp>
    </p:spTree>
  </p:cSld>
  <p:clrMapOvr>
    <a:masterClrMapping/>
  </p:clrMapOvr>
</p:sld>
</file>

<file path=ppt/slides/slide9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redhat_logo.jpg"/>
          <p:cNvPicPr>
            <a:picLocks noChangeAspect="1"/>
          </p:cNvPicPr>
          <p:nvPr/>
        </p:nvPicPr>
        <p:blipFill>
          <a:blip r:embed="rId2"/>
          <a:stretch>
            <a:fillRect/>
          </a:stretch>
        </p:blipFill>
        <p:spPr>
          <a:xfrm>
            <a:off x="10326319" y="475488"/>
            <a:ext cx="1024128" cy="242248"/>
          </a:xfrm>
          <a:prstGeom prst="rect">
            <a:avLst/>
          </a:prstGeom>
        </p:spPr>
      </p:pic>
      <p:sp>
        <p:nvSpPr>
          <p:cNvPr id="3" name="TextBox 2"/>
          <p:cNvSpPr txBox="1"/>
          <p:nvPr/>
        </p:nvSpPr>
        <p:spPr>
          <a:xfrm>
            <a:off x="841248" y="548640"/>
            <a:ext cx="8595360" cy="274320"/>
          </a:xfrm>
          <a:prstGeom prst="rect">
            <a:avLst/>
          </a:prstGeom>
          <a:noFill/>
        </p:spPr>
        <p:txBody>
          <a:bodyPr wrap="square" anchor="t" lIns="0" rIns="0" tIns="0" bIns="0">
            <a:spAutoFit/>
          </a:bodyPr>
          <a:lstStyle/>
          <a:p>
            <a:pPr algn="l">
              <a:lnSpc>
                <a:spcPct val="106000"/>
              </a:lnSpc>
              <a:spcBef>
                <a:spcPts val="0"/>
              </a:spcBef>
              <a:spcAft>
                <a:spcPts val="0"/>
              </a:spcAft>
            </a:pPr>
            <a:r>
              <a:rPr sz="1250" b="1" spc="220">
                <a:solidFill>
                  <a:srgbClr val="EE0000"/>
                </a:solidFill>
                <a:latin typeface="Red Hat Display"/>
              </a:rPr>
              <a:t>M12 · DEVELOPER HUB &amp; GOLDEN PATHS</a:t>
            </a:r>
          </a:p>
        </p:txBody>
      </p:sp>
      <p:sp>
        <p:nvSpPr>
          <p:cNvPr id="4" name="TextBox 3"/>
          <p:cNvSpPr txBox="1"/>
          <p:nvPr/>
        </p:nvSpPr>
        <p:spPr>
          <a:xfrm>
            <a:off x="841248" y="877824"/>
            <a:ext cx="10515600" cy="548640"/>
          </a:xfrm>
          <a:prstGeom prst="rect">
            <a:avLst/>
          </a:prstGeom>
          <a:noFill/>
        </p:spPr>
        <p:txBody>
          <a:bodyPr wrap="none" anchor="t" lIns="0" rIns="0" tIns="0" bIns="0">
            <a:spAutoFit/>
          </a:bodyPr>
          <a:lstStyle/>
          <a:p>
            <a:pPr algn="l">
              <a:lnSpc>
                <a:spcPct val="100000"/>
              </a:lnSpc>
              <a:spcBef>
                <a:spcPts val="0"/>
              </a:spcBef>
              <a:spcAft>
                <a:spcPts val="0"/>
              </a:spcAft>
            </a:pPr>
            <a:r>
              <a:rPr sz="2500" b="1">
                <a:solidFill>
                  <a:srgbClr val="1A1A1A"/>
                </a:solidFill>
                <a:latin typeface="Red Hat Display"/>
              </a:rPr>
              <a:t>One button = modules 2 through 10</a:t>
            </a:r>
          </a:p>
        </p:txBody>
      </p:sp>
      <p:cxnSp>
        <p:nvCxnSpPr>
          <p:cNvPr id="5" name="Connector 4"/>
          <p:cNvCxnSpPr/>
          <p:nvPr/>
        </p:nvCxnSpPr>
        <p:spPr>
          <a:xfrm>
            <a:off x="841248" y="1554480"/>
            <a:ext cx="1371600" cy="0"/>
          </a:xfrm>
          <a:prstGeom prst="bentConnector3">
            <a:avLst/>
          </a:prstGeom>
          <a:ln w="31750">
            <a:solidFill>
              <a:srgbClr val="EE0000"/>
            </a:solidFill>
          </a:ln>
          <a:effectLst/>
        </p:spPr>
        <p:style>
          <a:lnRef idx="2">
            <a:schemeClr val="accent1"/>
          </a:lnRef>
          <a:fillRef idx="0">
            <a:schemeClr val="accent1"/>
          </a:fillRef>
          <a:effectRef idx="1">
            <a:schemeClr val="accent1"/>
          </a:effectRef>
          <a:fontRef idx="minor">
            <a:schemeClr val="tx1"/>
          </a:fontRef>
        </p:style>
      </p:cxnSp>
      <p:sp>
        <p:nvSpPr>
          <p:cNvPr id="6" name="Rounded Rectangle 5"/>
          <p:cNvSpPr/>
          <p:nvPr/>
        </p:nvSpPr>
        <p:spPr>
          <a:xfrm>
            <a:off x="841248" y="2395728"/>
            <a:ext cx="5715000" cy="530352"/>
          </a:xfrm>
          <a:prstGeom prst="roundRect">
            <a:avLst>
              <a:gd name="adj" fmla="val 6000"/>
            </a:avLst>
          </a:prstGeom>
          <a:solidFill>
            <a:srgbClr val="F5F6F8"/>
          </a:solidFill>
          <a:ln w="12700">
            <a:solidFill>
              <a:srgbClr val="DDE1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check_steel.png"/>
          <p:cNvPicPr>
            <a:picLocks noChangeAspect="1"/>
          </p:cNvPicPr>
          <p:nvPr/>
        </p:nvPicPr>
        <p:blipFill>
          <a:blip r:embed="rId3"/>
          <a:stretch>
            <a:fillRect/>
          </a:stretch>
        </p:blipFill>
        <p:spPr>
          <a:xfrm>
            <a:off x="987552" y="2542032"/>
            <a:ext cx="237744" cy="237744"/>
          </a:xfrm>
          <a:prstGeom prst="rect">
            <a:avLst/>
          </a:prstGeom>
        </p:spPr>
      </p:pic>
      <p:sp>
        <p:nvSpPr>
          <p:cNvPr id="8" name="TextBox 7"/>
          <p:cNvSpPr txBox="1"/>
          <p:nvPr/>
        </p:nvSpPr>
        <p:spPr>
          <a:xfrm>
            <a:off x="1353312" y="2395728"/>
            <a:ext cx="5029200" cy="530352"/>
          </a:xfrm>
          <a:prstGeom prst="rect">
            <a:avLst/>
          </a:prstGeom>
          <a:noFill/>
        </p:spPr>
        <p:txBody>
          <a:bodyPr wrap="square" anchor="ctr" lIns="0" rIns="0" tIns="0" bIns="0">
            <a:spAutoFit/>
          </a:bodyPr>
          <a:lstStyle/>
          <a:p>
            <a:pPr algn="l">
              <a:lnSpc>
                <a:spcPct val="106000"/>
              </a:lnSpc>
              <a:spcBef>
                <a:spcPts val="0"/>
              </a:spcBef>
              <a:spcAft>
                <a:spcPts val="0"/>
              </a:spcAft>
            </a:pPr>
            <a:r>
              <a:rPr sz="1200" b="0">
                <a:solidFill>
                  <a:srgbClr val="1A1A1A"/>
                </a:solidFill>
                <a:latin typeface="Red Hat Text"/>
              </a:rPr>
              <a:t>Every earlier module's decision, encoded once</a:t>
            </a:r>
          </a:p>
        </p:txBody>
      </p:sp>
      <p:sp>
        <p:nvSpPr>
          <p:cNvPr id="9" name="Rounded Rectangle 8"/>
          <p:cNvSpPr/>
          <p:nvPr/>
        </p:nvSpPr>
        <p:spPr>
          <a:xfrm>
            <a:off x="841248" y="2999232"/>
            <a:ext cx="5715000" cy="530352"/>
          </a:xfrm>
          <a:prstGeom prst="roundRect">
            <a:avLst>
              <a:gd name="adj" fmla="val 6000"/>
            </a:avLst>
          </a:prstGeom>
          <a:solidFill>
            <a:srgbClr val="F5F6F8"/>
          </a:solidFill>
          <a:ln w="12700">
            <a:solidFill>
              <a:srgbClr val="DDE1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0" name="Picture 9" descr="check_steel.png"/>
          <p:cNvPicPr>
            <a:picLocks noChangeAspect="1"/>
          </p:cNvPicPr>
          <p:nvPr/>
        </p:nvPicPr>
        <p:blipFill>
          <a:blip r:embed="rId3"/>
          <a:stretch>
            <a:fillRect/>
          </a:stretch>
        </p:blipFill>
        <p:spPr>
          <a:xfrm>
            <a:off x="987552" y="3145536"/>
            <a:ext cx="237744" cy="237744"/>
          </a:xfrm>
          <a:prstGeom prst="rect">
            <a:avLst/>
          </a:prstGeom>
        </p:spPr>
      </p:pic>
      <p:sp>
        <p:nvSpPr>
          <p:cNvPr id="11" name="TextBox 10"/>
          <p:cNvSpPr txBox="1"/>
          <p:nvPr/>
        </p:nvSpPr>
        <p:spPr>
          <a:xfrm>
            <a:off x="1353312" y="2999232"/>
            <a:ext cx="5029200" cy="530352"/>
          </a:xfrm>
          <a:prstGeom prst="rect">
            <a:avLst/>
          </a:prstGeom>
          <a:noFill/>
        </p:spPr>
        <p:txBody>
          <a:bodyPr wrap="square" anchor="ctr" lIns="0" rIns="0" tIns="0" bIns="0">
            <a:spAutoFit/>
          </a:bodyPr>
          <a:lstStyle/>
          <a:p>
            <a:pPr algn="l">
              <a:lnSpc>
                <a:spcPct val="106000"/>
              </a:lnSpc>
              <a:spcBef>
                <a:spcPts val="0"/>
              </a:spcBef>
              <a:spcAft>
                <a:spcPts val="0"/>
              </a:spcAft>
            </a:pPr>
            <a:r>
              <a:rPr sz="1200" b="0">
                <a:solidFill>
                  <a:srgbClr val="1A1A1A"/>
                </a:solidFill>
                <a:latin typeface="Red Hat Text"/>
              </a:rPr>
              <a:t>Trusted base image, probes, GitOps-ready layout</a:t>
            </a:r>
          </a:p>
        </p:txBody>
      </p:sp>
      <p:sp>
        <p:nvSpPr>
          <p:cNvPr id="12" name="Rounded Rectangle 11"/>
          <p:cNvSpPr/>
          <p:nvPr/>
        </p:nvSpPr>
        <p:spPr>
          <a:xfrm>
            <a:off x="841248" y="3602736"/>
            <a:ext cx="5715000" cy="530352"/>
          </a:xfrm>
          <a:prstGeom prst="roundRect">
            <a:avLst>
              <a:gd name="adj" fmla="val 6000"/>
            </a:avLst>
          </a:prstGeom>
          <a:solidFill>
            <a:srgbClr val="F5F6F8"/>
          </a:solidFill>
          <a:ln w="12700">
            <a:solidFill>
              <a:srgbClr val="DDE1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3" name="Picture 12" descr="check_steel.png"/>
          <p:cNvPicPr>
            <a:picLocks noChangeAspect="1"/>
          </p:cNvPicPr>
          <p:nvPr/>
        </p:nvPicPr>
        <p:blipFill>
          <a:blip r:embed="rId3"/>
          <a:stretch>
            <a:fillRect/>
          </a:stretch>
        </p:blipFill>
        <p:spPr>
          <a:xfrm>
            <a:off x="987552" y="3749040"/>
            <a:ext cx="237744" cy="237744"/>
          </a:xfrm>
          <a:prstGeom prst="rect">
            <a:avLst/>
          </a:prstGeom>
        </p:spPr>
      </p:pic>
      <p:sp>
        <p:nvSpPr>
          <p:cNvPr id="14" name="TextBox 13"/>
          <p:cNvSpPr txBox="1"/>
          <p:nvPr/>
        </p:nvSpPr>
        <p:spPr>
          <a:xfrm>
            <a:off x="1353312" y="3602736"/>
            <a:ext cx="5029200" cy="530352"/>
          </a:xfrm>
          <a:prstGeom prst="rect">
            <a:avLst/>
          </a:prstGeom>
          <a:noFill/>
        </p:spPr>
        <p:txBody>
          <a:bodyPr wrap="square" anchor="ctr" lIns="0" rIns="0" tIns="0" bIns="0">
            <a:spAutoFit/>
          </a:bodyPr>
          <a:lstStyle/>
          <a:p>
            <a:pPr algn="l">
              <a:lnSpc>
                <a:spcPct val="106000"/>
              </a:lnSpc>
              <a:spcBef>
                <a:spcPts val="0"/>
              </a:spcBef>
              <a:spcAft>
                <a:spcPts val="0"/>
              </a:spcAft>
            </a:pPr>
            <a:r>
              <a:rPr sz="1200" b="0">
                <a:solidFill>
                  <a:srgbClr val="1A1A1A"/>
                </a:solidFill>
                <a:latin typeface="Red Hat Text"/>
              </a:rPr>
              <a:t>New engineer inherits them, does not re-derive</a:t>
            </a:r>
          </a:p>
        </p:txBody>
      </p:sp>
      <p:sp>
        <p:nvSpPr>
          <p:cNvPr id="15" name="Rounded Rectangle 14"/>
          <p:cNvSpPr/>
          <p:nvPr/>
        </p:nvSpPr>
        <p:spPr>
          <a:xfrm>
            <a:off x="841248" y="4206240"/>
            <a:ext cx="5715000" cy="530352"/>
          </a:xfrm>
          <a:prstGeom prst="roundRect">
            <a:avLst>
              <a:gd name="adj" fmla="val 6000"/>
            </a:avLst>
          </a:prstGeom>
          <a:solidFill>
            <a:srgbClr val="F5F6F8"/>
          </a:solidFill>
          <a:ln w="12700">
            <a:solidFill>
              <a:srgbClr val="DDE1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6" name="Picture 15" descr="check_steel.png"/>
          <p:cNvPicPr>
            <a:picLocks noChangeAspect="1"/>
          </p:cNvPicPr>
          <p:nvPr/>
        </p:nvPicPr>
        <p:blipFill>
          <a:blip r:embed="rId3"/>
          <a:stretch>
            <a:fillRect/>
          </a:stretch>
        </p:blipFill>
        <p:spPr>
          <a:xfrm>
            <a:off x="987552" y="4352544"/>
            <a:ext cx="237744" cy="237744"/>
          </a:xfrm>
          <a:prstGeom prst="rect">
            <a:avLst/>
          </a:prstGeom>
        </p:spPr>
      </p:pic>
      <p:sp>
        <p:nvSpPr>
          <p:cNvPr id="17" name="TextBox 16"/>
          <p:cNvSpPr txBox="1"/>
          <p:nvPr/>
        </p:nvSpPr>
        <p:spPr>
          <a:xfrm>
            <a:off x="1353312" y="4206240"/>
            <a:ext cx="5029200" cy="530352"/>
          </a:xfrm>
          <a:prstGeom prst="rect">
            <a:avLst/>
          </a:prstGeom>
          <a:noFill/>
        </p:spPr>
        <p:txBody>
          <a:bodyPr wrap="square" anchor="ctr" lIns="0" rIns="0" tIns="0" bIns="0">
            <a:spAutoFit/>
          </a:bodyPr>
          <a:lstStyle/>
          <a:p>
            <a:pPr algn="l">
              <a:lnSpc>
                <a:spcPct val="106000"/>
              </a:lnSpc>
              <a:spcBef>
                <a:spcPts val="0"/>
              </a:spcBef>
              <a:spcAft>
                <a:spcPts val="0"/>
              </a:spcAft>
            </a:pPr>
            <a:r>
              <a:rPr sz="1200" b="0">
                <a:solidFill>
                  <a:srgbClr val="1A1A1A"/>
                </a:solidFill>
                <a:latin typeface="Red Hat Text"/>
              </a:rPr>
              <a:t>Compliance is the default at creation, not an audit</a:t>
            </a:r>
          </a:p>
        </p:txBody>
      </p:sp>
      <p:sp>
        <p:nvSpPr>
          <p:cNvPr id="18" name="Rounded Rectangle 17"/>
          <p:cNvSpPr/>
          <p:nvPr/>
        </p:nvSpPr>
        <p:spPr>
          <a:xfrm>
            <a:off x="841248" y="4809744"/>
            <a:ext cx="5715000" cy="530352"/>
          </a:xfrm>
          <a:prstGeom prst="roundRect">
            <a:avLst>
              <a:gd name="adj" fmla="val 6000"/>
            </a:avLst>
          </a:prstGeom>
          <a:solidFill>
            <a:srgbClr val="F5F6F8"/>
          </a:solidFill>
          <a:ln w="12700">
            <a:solidFill>
              <a:srgbClr val="DDE1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9" name="Picture 18" descr="check_steel.png"/>
          <p:cNvPicPr>
            <a:picLocks noChangeAspect="1"/>
          </p:cNvPicPr>
          <p:nvPr/>
        </p:nvPicPr>
        <p:blipFill>
          <a:blip r:embed="rId3"/>
          <a:stretch>
            <a:fillRect/>
          </a:stretch>
        </p:blipFill>
        <p:spPr>
          <a:xfrm>
            <a:off x="987552" y="4956048"/>
            <a:ext cx="237744" cy="237744"/>
          </a:xfrm>
          <a:prstGeom prst="rect">
            <a:avLst/>
          </a:prstGeom>
        </p:spPr>
      </p:pic>
      <p:sp>
        <p:nvSpPr>
          <p:cNvPr id="20" name="TextBox 19"/>
          <p:cNvSpPr txBox="1"/>
          <p:nvPr/>
        </p:nvSpPr>
        <p:spPr>
          <a:xfrm>
            <a:off x="1353312" y="4809744"/>
            <a:ext cx="5029200" cy="530352"/>
          </a:xfrm>
          <a:prstGeom prst="rect">
            <a:avLst/>
          </a:prstGeom>
          <a:noFill/>
        </p:spPr>
        <p:txBody>
          <a:bodyPr wrap="square" anchor="ctr" lIns="0" rIns="0" tIns="0" bIns="0">
            <a:spAutoFit/>
          </a:bodyPr>
          <a:lstStyle/>
          <a:p>
            <a:pPr algn="l">
              <a:lnSpc>
                <a:spcPct val="106000"/>
              </a:lnSpc>
              <a:spcBef>
                <a:spcPts val="0"/>
              </a:spcBef>
              <a:spcAft>
                <a:spcPts val="0"/>
              </a:spcAft>
            </a:pPr>
            <a:r>
              <a:rPr sz="1200" b="0">
                <a:solidFill>
                  <a:srgbClr val="1A1A1A"/>
                </a:solidFill>
                <a:latin typeface="Red Hat Text"/>
              </a:rPr>
              <a:t>Improve the template once, every future service gains</a:t>
            </a:r>
          </a:p>
        </p:txBody>
      </p:sp>
      <p:sp>
        <p:nvSpPr>
          <p:cNvPr id="21" name="Rounded Rectangle 20"/>
          <p:cNvSpPr/>
          <p:nvPr/>
        </p:nvSpPr>
        <p:spPr>
          <a:xfrm>
            <a:off x="6812280" y="2395728"/>
            <a:ext cx="4538167" cy="2944368"/>
          </a:xfrm>
          <a:prstGeom prst="roundRect">
            <a:avLst>
              <a:gd name="adj" fmla="val 4000"/>
            </a:avLst>
          </a:prstGeom>
          <a:solidFill>
            <a:srgbClr val="FFFFFF"/>
          </a:solidFill>
          <a:ln w="15240">
            <a:solidFill>
              <a:srgbClr val="DDE1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ounded Rectangle 21"/>
          <p:cNvSpPr/>
          <p:nvPr/>
        </p:nvSpPr>
        <p:spPr>
          <a:xfrm>
            <a:off x="7013448" y="2596896"/>
            <a:ext cx="1298448" cy="310896"/>
          </a:xfrm>
          <a:prstGeom prst="roundRect">
            <a:avLst>
              <a:gd name="adj" fmla="val 50000"/>
            </a:avLst>
          </a:prstGeom>
          <a:solidFill>
            <a:srgbClr val="FCEC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7013448" y="2596896"/>
            <a:ext cx="1298448" cy="310896"/>
          </a:xfrm>
          <a:prstGeom prst="rect">
            <a:avLst/>
          </a:prstGeom>
          <a:noFill/>
        </p:spPr>
        <p:txBody>
          <a:bodyPr wrap="none" anchor="ctr" lIns="0" rIns="0" tIns="0" bIns="0">
            <a:spAutoFit/>
          </a:bodyPr>
          <a:lstStyle/>
          <a:p>
            <a:pPr algn="ctr">
              <a:lnSpc>
                <a:spcPct val="106000"/>
              </a:lnSpc>
              <a:spcBef>
                <a:spcPts val="0"/>
              </a:spcBef>
              <a:spcAft>
                <a:spcPts val="0"/>
              </a:spcAft>
            </a:pPr>
            <a:r>
              <a:rPr sz="850" b="1">
                <a:solidFill>
                  <a:srgbClr val="B80000"/>
                </a:solidFill>
                <a:latin typeface="Red Hat Display"/>
              </a:rPr>
              <a:t>MEDIA PASS</a:t>
            </a:r>
          </a:p>
        </p:txBody>
      </p:sp>
      <p:pic>
        <p:nvPicPr>
          <p:cNvPr id="24" name="Picture 23" descr="eye_slate.png"/>
          <p:cNvPicPr>
            <a:picLocks noChangeAspect="1"/>
          </p:cNvPicPr>
          <p:nvPr/>
        </p:nvPicPr>
        <p:blipFill>
          <a:blip r:embed="rId4"/>
          <a:stretch>
            <a:fillRect/>
          </a:stretch>
        </p:blipFill>
        <p:spPr>
          <a:xfrm>
            <a:off x="8843619" y="3108960"/>
            <a:ext cx="475488" cy="475488"/>
          </a:xfrm>
          <a:prstGeom prst="rect">
            <a:avLst/>
          </a:prstGeom>
        </p:spPr>
      </p:pic>
      <p:sp>
        <p:nvSpPr>
          <p:cNvPr id="25" name="TextBox 24"/>
          <p:cNvSpPr txBox="1"/>
          <p:nvPr/>
        </p:nvSpPr>
        <p:spPr>
          <a:xfrm>
            <a:off x="7050024" y="3721608"/>
            <a:ext cx="4062679" cy="1481328"/>
          </a:xfrm>
          <a:prstGeom prst="rect">
            <a:avLst/>
          </a:prstGeom>
          <a:noFill/>
        </p:spPr>
        <p:txBody>
          <a:bodyPr wrap="square" anchor="t" lIns="0" rIns="0" tIns="0" bIns="0">
            <a:spAutoFit/>
          </a:bodyPr>
          <a:lstStyle/>
          <a:p>
            <a:pPr algn="l">
              <a:lnSpc>
                <a:spcPct val="120000"/>
              </a:lnSpc>
              <a:spcBef>
                <a:spcPts val="0"/>
              </a:spcBef>
              <a:spcAft>
                <a:spcPts val="0"/>
              </a:spcAft>
            </a:pPr>
            <a:r>
              <a:rPr sz="950" b="0">
                <a:solidFill>
                  <a:srgbClr val="8A9099"/>
                </a:solidFill>
                <a:latin typeface="Red Hat Text"/>
              </a:rPr>
              <a:t>A single glowing "Create" button on the left; on the right, a stack of labelled layers (trusted image, probes, metrics, tracing, catalog entry, build recipe) assembling into one service card — with a small bracket over the accreted platform layers.</a:t>
            </a:r>
          </a:p>
        </p:txBody>
      </p:sp>
      <p:cxnSp>
        <p:nvCxnSpPr>
          <p:cNvPr id="26" name="Connector 25"/>
          <p:cNvCxnSpPr/>
          <p:nvPr/>
        </p:nvCxnSpPr>
        <p:spPr>
          <a:xfrm>
            <a:off x="841248" y="6437376"/>
            <a:ext cx="10509199" cy="0"/>
          </a:xfrm>
          <a:prstGeom prst="bentConnector3">
            <a:avLst/>
          </a:prstGeom>
          <a:ln w="12700">
            <a:solidFill>
              <a:srgbClr val="DDE1E6"/>
            </a:solidFill>
          </a:ln>
          <a:effectLst/>
        </p:spPr>
        <p:style>
          <a:lnRef idx="2">
            <a:schemeClr val="accent1"/>
          </a:lnRef>
          <a:fillRef idx="0">
            <a:schemeClr val="accent1"/>
          </a:fillRef>
          <a:effectRef idx="1">
            <a:schemeClr val="accent1"/>
          </a:effectRef>
          <a:fontRef idx="minor">
            <a:schemeClr val="tx1"/>
          </a:fontRef>
        </p:style>
      </p:cxnSp>
      <p:sp>
        <p:nvSpPr>
          <p:cNvPr id="27" name="TextBox 26"/>
          <p:cNvSpPr txBox="1"/>
          <p:nvPr/>
        </p:nvSpPr>
        <p:spPr>
          <a:xfrm>
            <a:off x="841248" y="6473952"/>
            <a:ext cx="7315200" cy="274320"/>
          </a:xfrm>
          <a:prstGeom prst="rect">
            <a:avLst/>
          </a:prstGeom>
          <a:noFill/>
        </p:spPr>
        <p:txBody>
          <a:bodyPr wrap="square" anchor="t" lIns="0" rIns="0" tIns="0" bIns="0">
            <a:spAutoFit/>
          </a:bodyPr>
          <a:lstStyle/>
          <a:p>
            <a:pPr algn="l">
              <a:lnSpc>
                <a:spcPct val="106000"/>
              </a:lnSpc>
              <a:spcBef>
                <a:spcPts val="0"/>
              </a:spcBef>
              <a:spcAft>
                <a:spcPts val="0"/>
              </a:spcAft>
            </a:pPr>
            <a:r>
              <a:rPr sz="950" b="0">
                <a:solidFill>
                  <a:srgbClr val="8A9099"/>
                </a:solidFill>
                <a:latin typeface="Red Hat Text"/>
              </a:rPr>
              <a:t>CONFIDENTIAL</a:t>
            </a:r>
          </a:p>
        </p:txBody>
      </p:sp>
      <p:sp>
        <p:nvSpPr>
          <p:cNvPr id="28" name="TextBox 27"/>
          <p:cNvSpPr txBox="1"/>
          <p:nvPr/>
        </p:nvSpPr>
        <p:spPr>
          <a:xfrm>
            <a:off x="10801807" y="6473952"/>
            <a:ext cx="548640" cy="274320"/>
          </a:xfrm>
          <a:prstGeom prst="rect">
            <a:avLst/>
          </a:prstGeom>
          <a:noFill/>
        </p:spPr>
        <p:txBody>
          <a:bodyPr wrap="square" anchor="t" lIns="0" rIns="0" tIns="0" bIns="0">
            <a:spAutoFit/>
          </a:bodyPr>
          <a:lstStyle/>
          <a:p>
            <a:pPr algn="r">
              <a:lnSpc>
                <a:spcPct val="106000"/>
              </a:lnSpc>
              <a:spcBef>
                <a:spcPts val="0"/>
              </a:spcBef>
              <a:spcAft>
                <a:spcPts val="0"/>
              </a:spcAft>
            </a:pPr>
            <a:r>
              <a:rPr sz="950" b="0">
                <a:solidFill>
                  <a:srgbClr val="8A9099"/>
                </a:solidFill>
                <a:latin typeface="Red Hat Text"/>
              </a:rPr>
              <a:t>85</a:t>
            </a:r>
          </a:p>
        </p:txBody>
      </p:sp>
    </p:spTree>
  </p:cSld>
  <p:clrMapOvr>
    <a:masterClrMapping/>
  </p:clrMapOvr>
</p:sld>
</file>

<file path=ppt/slides/slide9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redhat_logo.jpg"/>
          <p:cNvPicPr>
            <a:picLocks noChangeAspect="1"/>
          </p:cNvPicPr>
          <p:nvPr/>
        </p:nvPicPr>
        <p:blipFill>
          <a:blip r:embed="rId2"/>
          <a:stretch>
            <a:fillRect/>
          </a:stretch>
        </p:blipFill>
        <p:spPr>
          <a:xfrm>
            <a:off x="10326319" y="475488"/>
            <a:ext cx="1024128" cy="242248"/>
          </a:xfrm>
          <a:prstGeom prst="rect">
            <a:avLst/>
          </a:prstGeom>
        </p:spPr>
      </p:pic>
      <p:sp>
        <p:nvSpPr>
          <p:cNvPr id="3" name="TextBox 2"/>
          <p:cNvSpPr txBox="1"/>
          <p:nvPr/>
        </p:nvSpPr>
        <p:spPr>
          <a:xfrm>
            <a:off x="841248" y="548640"/>
            <a:ext cx="8595360" cy="274320"/>
          </a:xfrm>
          <a:prstGeom prst="rect">
            <a:avLst/>
          </a:prstGeom>
          <a:noFill/>
        </p:spPr>
        <p:txBody>
          <a:bodyPr wrap="square" anchor="t" lIns="0" rIns="0" tIns="0" bIns="0">
            <a:spAutoFit/>
          </a:bodyPr>
          <a:lstStyle/>
          <a:p>
            <a:pPr algn="l">
              <a:lnSpc>
                <a:spcPct val="106000"/>
              </a:lnSpc>
              <a:spcBef>
                <a:spcPts val="0"/>
              </a:spcBef>
              <a:spcAft>
                <a:spcPts val="0"/>
              </a:spcAft>
            </a:pPr>
            <a:r>
              <a:rPr sz="1250" b="1" spc="220">
                <a:solidFill>
                  <a:srgbClr val="EE0000"/>
                </a:solidFill>
                <a:latin typeface="Red Hat Display"/>
              </a:rPr>
              <a:t>M12 · DEVELOPER HUB &amp; GOLDEN PATHS</a:t>
            </a:r>
          </a:p>
        </p:txBody>
      </p:sp>
      <p:sp>
        <p:nvSpPr>
          <p:cNvPr id="4" name="TextBox 3"/>
          <p:cNvSpPr txBox="1"/>
          <p:nvPr/>
        </p:nvSpPr>
        <p:spPr>
          <a:xfrm>
            <a:off x="841248" y="877824"/>
            <a:ext cx="10515600" cy="548640"/>
          </a:xfrm>
          <a:prstGeom prst="rect">
            <a:avLst/>
          </a:prstGeom>
          <a:noFill/>
        </p:spPr>
        <p:txBody>
          <a:bodyPr wrap="none" anchor="t" lIns="0" rIns="0" tIns="0" bIns="0">
            <a:spAutoFit/>
          </a:bodyPr>
          <a:lstStyle/>
          <a:p>
            <a:pPr algn="l">
              <a:lnSpc>
                <a:spcPct val="100000"/>
              </a:lnSpc>
              <a:spcBef>
                <a:spcPts val="0"/>
              </a:spcBef>
              <a:spcAft>
                <a:spcPts val="0"/>
              </a:spcAft>
            </a:pPr>
            <a:r>
              <a:rPr sz="2500" b="1">
                <a:solidFill>
                  <a:srgbClr val="1A1A1A"/>
                </a:solidFill>
                <a:latin typeface="Red Hat Display"/>
              </a:rPr>
              <a:t>What you'll do</a:t>
            </a:r>
          </a:p>
        </p:txBody>
      </p:sp>
      <p:cxnSp>
        <p:nvCxnSpPr>
          <p:cNvPr id="5" name="Connector 4"/>
          <p:cNvCxnSpPr/>
          <p:nvPr/>
        </p:nvCxnSpPr>
        <p:spPr>
          <a:xfrm>
            <a:off x="841248" y="1554480"/>
            <a:ext cx="1371600" cy="0"/>
          </a:xfrm>
          <a:prstGeom prst="bentConnector3">
            <a:avLst/>
          </a:prstGeom>
          <a:ln w="31750">
            <a:solidFill>
              <a:srgbClr val="EE0000"/>
            </a:solidFill>
          </a:ln>
          <a:effectLst/>
        </p:spPr>
        <p:style>
          <a:lnRef idx="2">
            <a:schemeClr val="accent1"/>
          </a:lnRef>
          <a:fillRef idx="0">
            <a:schemeClr val="accent1"/>
          </a:fillRef>
          <a:effectRef idx="1">
            <a:schemeClr val="accent1"/>
          </a:effectRef>
          <a:fontRef idx="minor">
            <a:schemeClr val="tx1"/>
          </a:fontRef>
        </p:style>
      </p:cxnSp>
      <p:sp>
        <p:nvSpPr>
          <p:cNvPr id="6" name="Rounded Rectangle 5"/>
          <p:cNvSpPr/>
          <p:nvPr/>
        </p:nvSpPr>
        <p:spPr>
          <a:xfrm>
            <a:off x="841248" y="2395728"/>
            <a:ext cx="5715000" cy="530352"/>
          </a:xfrm>
          <a:prstGeom prst="roundRect">
            <a:avLst>
              <a:gd name="adj" fmla="val 6000"/>
            </a:avLst>
          </a:prstGeom>
          <a:solidFill>
            <a:srgbClr val="F5F6F8"/>
          </a:solidFill>
          <a:ln w="12700">
            <a:solidFill>
              <a:srgbClr val="DDE1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check_steel.png"/>
          <p:cNvPicPr>
            <a:picLocks noChangeAspect="1"/>
          </p:cNvPicPr>
          <p:nvPr/>
        </p:nvPicPr>
        <p:blipFill>
          <a:blip r:embed="rId3"/>
          <a:stretch>
            <a:fillRect/>
          </a:stretch>
        </p:blipFill>
        <p:spPr>
          <a:xfrm>
            <a:off x="987552" y="2542032"/>
            <a:ext cx="237744" cy="237744"/>
          </a:xfrm>
          <a:prstGeom prst="rect">
            <a:avLst/>
          </a:prstGeom>
        </p:spPr>
      </p:pic>
      <p:sp>
        <p:nvSpPr>
          <p:cNvPr id="8" name="TextBox 7"/>
          <p:cNvSpPr txBox="1"/>
          <p:nvPr/>
        </p:nvSpPr>
        <p:spPr>
          <a:xfrm>
            <a:off x="1353312" y="2395728"/>
            <a:ext cx="5029200" cy="530352"/>
          </a:xfrm>
          <a:prstGeom prst="rect">
            <a:avLst/>
          </a:prstGeom>
          <a:noFill/>
        </p:spPr>
        <p:txBody>
          <a:bodyPr wrap="square" anchor="ctr" lIns="0" rIns="0" tIns="0" bIns="0">
            <a:spAutoFit/>
          </a:bodyPr>
          <a:lstStyle/>
          <a:p>
            <a:pPr algn="l">
              <a:lnSpc>
                <a:spcPct val="106000"/>
              </a:lnSpc>
              <a:spcBef>
                <a:spcPts val="0"/>
              </a:spcBef>
              <a:spcAft>
                <a:spcPts val="0"/>
              </a:spcAft>
            </a:pPr>
            <a:r>
              <a:rPr sz="1200" b="0">
                <a:solidFill>
                  <a:srgbClr val="1A1A1A"/>
                </a:solidFill>
                <a:latin typeface="Red Hat Text"/>
              </a:rPr>
              <a:t>Tour the catalog: find claims, its owner, its API</a:t>
            </a:r>
          </a:p>
        </p:txBody>
      </p:sp>
      <p:sp>
        <p:nvSpPr>
          <p:cNvPr id="9" name="Rounded Rectangle 8"/>
          <p:cNvSpPr/>
          <p:nvPr/>
        </p:nvSpPr>
        <p:spPr>
          <a:xfrm>
            <a:off x="841248" y="2999232"/>
            <a:ext cx="5715000" cy="530352"/>
          </a:xfrm>
          <a:prstGeom prst="roundRect">
            <a:avLst>
              <a:gd name="adj" fmla="val 6000"/>
            </a:avLst>
          </a:prstGeom>
          <a:solidFill>
            <a:srgbClr val="F5F6F8"/>
          </a:solidFill>
          <a:ln w="12700">
            <a:solidFill>
              <a:srgbClr val="DDE1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0" name="Picture 9" descr="check_steel.png"/>
          <p:cNvPicPr>
            <a:picLocks noChangeAspect="1"/>
          </p:cNvPicPr>
          <p:nvPr/>
        </p:nvPicPr>
        <p:blipFill>
          <a:blip r:embed="rId3"/>
          <a:stretch>
            <a:fillRect/>
          </a:stretch>
        </p:blipFill>
        <p:spPr>
          <a:xfrm>
            <a:off x="987552" y="3145536"/>
            <a:ext cx="237744" cy="237744"/>
          </a:xfrm>
          <a:prstGeom prst="rect">
            <a:avLst/>
          </a:prstGeom>
        </p:spPr>
      </p:pic>
      <p:sp>
        <p:nvSpPr>
          <p:cNvPr id="11" name="TextBox 10"/>
          <p:cNvSpPr txBox="1"/>
          <p:nvPr/>
        </p:nvSpPr>
        <p:spPr>
          <a:xfrm>
            <a:off x="1353312" y="2999232"/>
            <a:ext cx="5029200" cy="530352"/>
          </a:xfrm>
          <a:prstGeom prst="rect">
            <a:avLst/>
          </a:prstGeom>
          <a:noFill/>
        </p:spPr>
        <p:txBody>
          <a:bodyPr wrap="square" anchor="ctr" lIns="0" rIns="0" tIns="0" bIns="0">
            <a:spAutoFit/>
          </a:bodyPr>
          <a:lstStyle/>
          <a:p>
            <a:pPr algn="l">
              <a:lnSpc>
                <a:spcPct val="106000"/>
              </a:lnSpc>
              <a:spcBef>
                <a:spcPts val="0"/>
              </a:spcBef>
              <a:spcAft>
                <a:spcPts val="0"/>
              </a:spcAft>
            </a:pPr>
            <a:r>
              <a:rPr sz="1200" b="0">
                <a:solidFill>
                  <a:srgbClr val="1A1A1A"/>
                </a:solidFill>
                <a:latin typeface="Red Hat Text"/>
              </a:rPr>
              <a:t>Scaffold a new service from the golden path</a:t>
            </a:r>
          </a:p>
        </p:txBody>
      </p:sp>
      <p:sp>
        <p:nvSpPr>
          <p:cNvPr id="12" name="Rounded Rectangle 11"/>
          <p:cNvSpPr/>
          <p:nvPr/>
        </p:nvSpPr>
        <p:spPr>
          <a:xfrm>
            <a:off x="841248" y="3602736"/>
            <a:ext cx="5715000" cy="530352"/>
          </a:xfrm>
          <a:prstGeom prst="roundRect">
            <a:avLst>
              <a:gd name="adj" fmla="val 6000"/>
            </a:avLst>
          </a:prstGeom>
          <a:solidFill>
            <a:srgbClr val="F5F6F8"/>
          </a:solidFill>
          <a:ln w="12700">
            <a:solidFill>
              <a:srgbClr val="DDE1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3" name="Picture 12" descr="check_steel.png"/>
          <p:cNvPicPr>
            <a:picLocks noChangeAspect="1"/>
          </p:cNvPicPr>
          <p:nvPr/>
        </p:nvPicPr>
        <p:blipFill>
          <a:blip r:embed="rId3"/>
          <a:stretch>
            <a:fillRect/>
          </a:stretch>
        </p:blipFill>
        <p:spPr>
          <a:xfrm>
            <a:off x="987552" y="3749040"/>
            <a:ext cx="237744" cy="237744"/>
          </a:xfrm>
          <a:prstGeom prst="rect">
            <a:avLst/>
          </a:prstGeom>
        </p:spPr>
      </p:pic>
      <p:sp>
        <p:nvSpPr>
          <p:cNvPr id="14" name="TextBox 13"/>
          <p:cNvSpPr txBox="1"/>
          <p:nvPr/>
        </p:nvSpPr>
        <p:spPr>
          <a:xfrm>
            <a:off x="1353312" y="3602736"/>
            <a:ext cx="5029200" cy="530352"/>
          </a:xfrm>
          <a:prstGeom prst="rect">
            <a:avLst/>
          </a:prstGeom>
          <a:noFill/>
        </p:spPr>
        <p:txBody>
          <a:bodyPr wrap="square" anchor="ctr" lIns="0" rIns="0" tIns="0" bIns="0">
            <a:spAutoFit/>
          </a:bodyPr>
          <a:lstStyle/>
          <a:p>
            <a:pPr algn="l">
              <a:lnSpc>
                <a:spcPct val="106000"/>
              </a:lnSpc>
              <a:spcBef>
                <a:spcPts val="0"/>
              </a:spcBef>
              <a:spcAft>
                <a:spcPts val="0"/>
              </a:spcAft>
            </a:pPr>
            <a:r>
              <a:rPr sz="1200" b="0">
                <a:solidFill>
                  <a:srgbClr val="1A1A1A"/>
                </a:solidFill>
                <a:latin typeface="Red Hat Text"/>
              </a:rPr>
              <a:t>Inspect the paved road — nothing hand-written</a:t>
            </a:r>
          </a:p>
        </p:txBody>
      </p:sp>
      <p:sp>
        <p:nvSpPr>
          <p:cNvPr id="15" name="Rounded Rectangle 14"/>
          <p:cNvSpPr/>
          <p:nvPr/>
        </p:nvSpPr>
        <p:spPr>
          <a:xfrm>
            <a:off x="841248" y="4206240"/>
            <a:ext cx="5715000" cy="530352"/>
          </a:xfrm>
          <a:prstGeom prst="roundRect">
            <a:avLst>
              <a:gd name="adj" fmla="val 6000"/>
            </a:avLst>
          </a:prstGeom>
          <a:solidFill>
            <a:srgbClr val="F5F6F8"/>
          </a:solidFill>
          <a:ln w="12700">
            <a:solidFill>
              <a:srgbClr val="DDE1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6" name="Picture 15" descr="check_steel.png"/>
          <p:cNvPicPr>
            <a:picLocks noChangeAspect="1"/>
          </p:cNvPicPr>
          <p:nvPr/>
        </p:nvPicPr>
        <p:blipFill>
          <a:blip r:embed="rId3"/>
          <a:stretch>
            <a:fillRect/>
          </a:stretch>
        </p:blipFill>
        <p:spPr>
          <a:xfrm>
            <a:off x="987552" y="4352544"/>
            <a:ext cx="237744" cy="237744"/>
          </a:xfrm>
          <a:prstGeom prst="rect">
            <a:avLst/>
          </a:prstGeom>
        </p:spPr>
      </p:pic>
      <p:sp>
        <p:nvSpPr>
          <p:cNvPr id="17" name="TextBox 16"/>
          <p:cNvSpPr txBox="1"/>
          <p:nvPr/>
        </p:nvSpPr>
        <p:spPr>
          <a:xfrm>
            <a:off x="1353312" y="4206240"/>
            <a:ext cx="5029200" cy="530352"/>
          </a:xfrm>
          <a:prstGeom prst="rect">
            <a:avLst/>
          </a:prstGeom>
          <a:noFill/>
        </p:spPr>
        <p:txBody>
          <a:bodyPr wrap="square" anchor="ctr" lIns="0" rIns="0" tIns="0" bIns="0">
            <a:spAutoFit/>
          </a:bodyPr>
          <a:lstStyle/>
          <a:p>
            <a:pPr algn="l">
              <a:lnSpc>
                <a:spcPct val="106000"/>
              </a:lnSpc>
              <a:spcBef>
                <a:spcPts val="0"/>
              </a:spcBef>
              <a:spcAft>
                <a:spcPts val="0"/>
              </a:spcAft>
            </a:pPr>
            <a:r>
              <a:rPr sz="1200" b="0">
                <a:solidFill>
                  <a:srgbClr val="1A1A1A"/>
                </a:solidFill>
                <a:latin typeface="Red Hat Text"/>
              </a:rPr>
              <a:t>Build and run it in your namespace</a:t>
            </a:r>
          </a:p>
        </p:txBody>
      </p:sp>
      <p:sp>
        <p:nvSpPr>
          <p:cNvPr id="18" name="Rounded Rectangle 17"/>
          <p:cNvSpPr/>
          <p:nvPr/>
        </p:nvSpPr>
        <p:spPr>
          <a:xfrm>
            <a:off x="841248" y="4809744"/>
            <a:ext cx="5715000" cy="530352"/>
          </a:xfrm>
          <a:prstGeom prst="roundRect">
            <a:avLst>
              <a:gd name="adj" fmla="val 6000"/>
            </a:avLst>
          </a:prstGeom>
          <a:solidFill>
            <a:srgbClr val="F5F6F8"/>
          </a:solidFill>
          <a:ln w="12700">
            <a:solidFill>
              <a:srgbClr val="DDE1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9" name="Picture 18" descr="check_steel.png"/>
          <p:cNvPicPr>
            <a:picLocks noChangeAspect="1"/>
          </p:cNvPicPr>
          <p:nvPr/>
        </p:nvPicPr>
        <p:blipFill>
          <a:blip r:embed="rId3"/>
          <a:stretch>
            <a:fillRect/>
          </a:stretch>
        </p:blipFill>
        <p:spPr>
          <a:xfrm>
            <a:off x="987552" y="4956048"/>
            <a:ext cx="237744" cy="237744"/>
          </a:xfrm>
          <a:prstGeom prst="rect">
            <a:avLst/>
          </a:prstGeom>
        </p:spPr>
      </p:pic>
      <p:sp>
        <p:nvSpPr>
          <p:cNvPr id="20" name="TextBox 19"/>
          <p:cNvSpPr txBox="1"/>
          <p:nvPr/>
        </p:nvSpPr>
        <p:spPr>
          <a:xfrm>
            <a:off x="1353312" y="4809744"/>
            <a:ext cx="5029200" cy="530352"/>
          </a:xfrm>
          <a:prstGeom prst="rect">
            <a:avLst/>
          </a:prstGeom>
          <a:noFill/>
        </p:spPr>
        <p:txBody>
          <a:bodyPr wrap="square" anchor="ctr" lIns="0" rIns="0" tIns="0" bIns="0">
            <a:spAutoFit/>
          </a:bodyPr>
          <a:lstStyle/>
          <a:p>
            <a:pPr algn="l">
              <a:lnSpc>
                <a:spcPct val="106000"/>
              </a:lnSpc>
              <a:spcBef>
                <a:spcPts val="0"/>
              </a:spcBef>
              <a:spcAft>
                <a:spcPts val="0"/>
              </a:spcAft>
            </a:pPr>
            <a:r>
              <a:rPr sz="1200" b="0">
                <a:solidFill>
                  <a:srgbClr val="1A1A1A"/>
                </a:solidFill>
                <a:latin typeface="Red Hat Text"/>
              </a:rPr>
              <a:t>Watch health and metrics answer, unconfigured</a:t>
            </a:r>
          </a:p>
        </p:txBody>
      </p:sp>
      <p:sp>
        <p:nvSpPr>
          <p:cNvPr id="21" name="Rounded Rectangle 20"/>
          <p:cNvSpPr/>
          <p:nvPr/>
        </p:nvSpPr>
        <p:spPr>
          <a:xfrm>
            <a:off x="6812280" y="2395728"/>
            <a:ext cx="4538167" cy="2944368"/>
          </a:xfrm>
          <a:prstGeom prst="roundRect">
            <a:avLst>
              <a:gd name="adj" fmla="val 4000"/>
            </a:avLst>
          </a:prstGeom>
          <a:solidFill>
            <a:srgbClr val="FFFFFF"/>
          </a:solidFill>
          <a:ln w="15240">
            <a:solidFill>
              <a:srgbClr val="DDE1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ounded Rectangle 21"/>
          <p:cNvSpPr/>
          <p:nvPr/>
        </p:nvSpPr>
        <p:spPr>
          <a:xfrm>
            <a:off x="7013448" y="2596896"/>
            <a:ext cx="1298448" cy="310896"/>
          </a:xfrm>
          <a:prstGeom prst="roundRect">
            <a:avLst>
              <a:gd name="adj" fmla="val 50000"/>
            </a:avLst>
          </a:prstGeom>
          <a:solidFill>
            <a:srgbClr val="FCEC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7013448" y="2596896"/>
            <a:ext cx="1298448" cy="310896"/>
          </a:xfrm>
          <a:prstGeom prst="rect">
            <a:avLst/>
          </a:prstGeom>
          <a:noFill/>
        </p:spPr>
        <p:txBody>
          <a:bodyPr wrap="none" anchor="ctr" lIns="0" rIns="0" tIns="0" bIns="0">
            <a:spAutoFit/>
          </a:bodyPr>
          <a:lstStyle/>
          <a:p>
            <a:pPr algn="ctr">
              <a:lnSpc>
                <a:spcPct val="106000"/>
              </a:lnSpc>
              <a:spcBef>
                <a:spcPts val="0"/>
              </a:spcBef>
              <a:spcAft>
                <a:spcPts val="0"/>
              </a:spcAft>
            </a:pPr>
            <a:r>
              <a:rPr sz="850" b="1">
                <a:solidFill>
                  <a:srgbClr val="B80000"/>
                </a:solidFill>
                <a:latin typeface="Red Hat Display"/>
              </a:rPr>
              <a:t>MEDIA PASS</a:t>
            </a:r>
          </a:p>
        </p:txBody>
      </p:sp>
      <p:pic>
        <p:nvPicPr>
          <p:cNvPr id="24" name="Picture 23" descr="eye_slate.png"/>
          <p:cNvPicPr>
            <a:picLocks noChangeAspect="1"/>
          </p:cNvPicPr>
          <p:nvPr/>
        </p:nvPicPr>
        <p:blipFill>
          <a:blip r:embed="rId4"/>
          <a:stretch>
            <a:fillRect/>
          </a:stretch>
        </p:blipFill>
        <p:spPr>
          <a:xfrm>
            <a:off x="8843619" y="3108960"/>
            <a:ext cx="475488" cy="475488"/>
          </a:xfrm>
          <a:prstGeom prst="rect">
            <a:avLst/>
          </a:prstGeom>
        </p:spPr>
      </p:pic>
      <p:sp>
        <p:nvSpPr>
          <p:cNvPr id="25" name="TextBox 24"/>
          <p:cNvSpPr txBox="1"/>
          <p:nvPr/>
        </p:nvSpPr>
        <p:spPr>
          <a:xfrm>
            <a:off x="7050024" y="3721608"/>
            <a:ext cx="4062679" cy="1481328"/>
          </a:xfrm>
          <a:prstGeom prst="rect">
            <a:avLst/>
          </a:prstGeom>
          <a:noFill/>
        </p:spPr>
        <p:txBody>
          <a:bodyPr wrap="square" anchor="t" lIns="0" rIns="0" tIns="0" bIns="0">
            <a:spAutoFit/>
          </a:bodyPr>
          <a:lstStyle/>
          <a:p>
            <a:pPr algn="l">
              <a:lnSpc>
                <a:spcPct val="120000"/>
              </a:lnSpc>
              <a:spcBef>
                <a:spcPts val="0"/>
              </a:spcBef>
              <a:spcAft>
                <a:spcPts val="0"/>
              </a:spcAft>
            </a:pPr>
            <a:r>
              <a:rPr sz="950" b="0">
                <a:solidFill>
                  <a:srgbClr val="8A9099"/>
                </a:solidFill>
                <a:latin typeface="Red Hat Text"/>
              </a:rPr>
              <a:t>A four-step horizontal strip: Catalog → Scaffold → Inspect → Run, each with a small icon; a "break: 409" callout under Scaffold.</a:t>
            </a:r>
          </a:p>
        </p:txBody>
      </p:sp>
      <p:cxnSp>
        <p:nvCxnSpPr>
          <p:cNvPr id="26" name="Connector 25"/>
          <p:cNvCxnSpPr/>
          <p:nvPr/>
        </p:nvCxnSpPr>
        <p:spPr>
          <a:xfrm>
            <a:off x="841248" y="6437376"/>
            <a:ext cx="10509199" cy="0"/>
          </a:xfrm>
          <a:prstGeom prst="bentConnector3">
            <a:avLst/>
          </a:prstGeom>
          <a:ln w="12700">
            <a:solidFill>
              <a:srgbClr val="DDE1E6"/>
            </a:solidFill>
          </a:ln>
          <a:effectLst/>
        </p:spPr>
        <p:style>
          <a:lnRef idx="2">
            <a:schemeClr val="accent1"/>
          </a:lnRef>
          <a:fillRef idx="0">
            <a:schemeClr val="accent1"/>
          </a:fillRef>
          <a:effectRef idx="1">
            <a:schemeClr val="accent1"/>
          </a:effectRef>
          <a:fontRef idx="minor">
            <a:schemeClr val="tx1"/>
          </a:fontRef>
        </p:style>
      </p:cxnSp>
      <p:sp>
        <p:nvSpPr>
          <p:cNvPr id="27" name="TextBox 26"/>
          <p:cNvSpPr txBox="1"/>
          <p:nvPr/>
        </p:nvSpPr>
        <p:spPr>
          <a:xfrm>
            <a:off x="841248" y="6473952"/>
            <a:ext cx="7315200" cy="274320"/>
          </a:xfrm>
          <a:prstGeom prst="rect">
            <a:avLst/>
          </a:prstGeom>
          <a:noFill/>
        </p:spPr>
        <p:txBody>
          <a:bodyPr wrap="square" anchor="t" lIns="0" rIns="0" tIns="0" bIns="0">
            <a:spAutoFit/>
          </a:bodyPr>
          <a:lstStyle/>
          <a:p>
            <a:pPr algn="l">
              <a:lnSpc>
                <a:spcPct val="106000"/>
              </a:lnSpc>
              <a:spcBef>
                <a:spcPts val="0"/>
              </a:spcBef>
              <a:spcAft>
                <a:spcPts val="0"/>
              </a:spcAft>
            </a:pPr>
            <a:r>
              <a:rPr sz="950" b="0">
                <a:solidFill>
                  <a:srgbClr val="8A9099"/>
                </a:solidFill>
                <a:latin typeface="Red Hat Text"/>
              </a:rPr>
              <a:t>CONFIDENTIAL</a:t>
            </a:r>
          </a:p>
        </p:txBody>
      </p:sp>
      <p:sp>
        <p:nvSpPr>
          <p:cNvPr id="28" name="TextBox 27"/>
          <p:cNvSpPr txBox="1"/>
          <p:nvPr/>
        </p:nvSpPr>
        <p:spPr>
          <a:xfrm>
            <a:off x="10801807" y="6473952"/>
            <a:ext cx="548640" cy="274320"/>
          </a:xfrm>
          <a:prstGeom prst="rect">
            <a:avLst/>
          </a:prstGeom>
          <a:noFill/>
        </p:spPr>
        <p:txBody>
          <a:bodyPr wrap="square" anchor="t" lIns="0" rIns="0" tIns="0" bIns="0">
            <a:spAutoFit/>
          </a:bodyPr>
          <a:lstStyle/>
          <a:p>
            <a:pPr algn="r">
              <a:lnSpc>
                <a:spcPct val="106000"/>
              </a:lnSpc>
              <a:spcBef>
                <a:spcPts val="0"/>
              </a:spcBef>
              <a:spcAft>
                <a:spcPts val="0"/>
              </a:spcAft>
            </a:pPr>
            <a:r>
              <a:rPr sz="950" b="0">
                <a:solidFill>
                  <a:srgbClr val="8A9099"/>
                </a:solidFill>
                <a:latin typeface="Red Hat Text"/>
              </a:rPr>
              <a:t>86</a:t>
            </a:r>
          </a:p>
        </p:txBody>
      </p:sp>
    </p:spTree>
  </p:cSld>
  <p:clrMapOvr>
    <a:masterClrMapping/>
  </p:clrMapOvr>
</p:sld>
</file>

<file path=ppt/slides/slide9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redhat_logo.jpg"/>
          <p:cNvPicPr>
            <a:picLocks noChangeAspect="1"/>
          </p:cNvPicPr>
          <p:nvPr/>
        </p:nvPicPr>
        <p:blipFill>
          <a:blip r:embed="rId2"/>
          <a:stretch>
            <a:fillRect/>
          </a:stretch>
        </p:blipFill>
        <p:spPr>
          <a:xfrm>
            <a:off x="10326319" y="475488"/>
            <a:ext cx="1024128" cy="242248"/>
          </a:xfrm>
          <a:prstGeom prst="rect">
            <a:avLst/>
          </a:prstGeom>
        </p:spPr>
      </p:pic>
      <p:sp>
        <p:nvSpPr>
          <p:cNvPr id="3" name="TextBox 2"/>
          <p:cNvSpPr txBox="1"/>
          <p:nvPr/>
        </p:nvSpPr>
        <p:spPr>
          <a:xfrm>
            <a:off x="841248" y="548640"/>
            <a:ext cx="8595360" cy="274320"/>
          </a:xfrm>
          <a:prstGeom prst="rect">
            <a:avLst/>
          </a:prstGeom>
          <a:noFill/>
        </p:spPr>
        <p:txBody>
          <a:bodyPr wrap="square" anchor="t" lIns="0" rIns="0" tIns="0" bIns="0">
            <a:spAutoFit/>
          </a:bodyPr>
          <a:lstStyle/>
          <a:p>
            <a:pPr algn="l">
              <a:lnSpc>
                <a:spcPct val="106000"/>
              </a:lnSpc>
              <a:spcBef>
                <a:spcPts val="0"/>
              </a:spcBef>
              <a:spcAft>
                <a:spcPts val="0"/>
              </a:spcAft>
            </a:pPr>
            <a:r>
              <a:rPr sz="1250" b="1" spc="220">
                <a:solidFill>
                  <a:srgbClr val="EE0000"/>
                </a:solidFill>
                <a:latin typeface="Red Hat Display"/>
              </a:rPr>
              <a:t>M12 · DEVELOPER HUB &amp; GOLDEN PATHS</a:t>
            </a:r>
          </a:p>
        </p:txBody>
      </p:sp>
      <p:sp>
        <p:nvSpPr>
          <p:cNvPr id="4" name="TextBox 3"/>
          <p:cNvSpPr txBox="1"/>
          <p:nvPr/>
        </p:nvSpPr>
        <p:spPr>
          <a:xfrm>
            <a:off x="841248" y="877824"/>
            <a:ext cx="10515600" cy="548640"/>
          </a:xfrm>
          <a:prstGeom prst="rect">
            <a:avLst/>
          </a:prstGeom>
          <a:noFill/>
        </p:spPr>
        <p:txBody>
          <a:bodyPr wrap="none" anchor="t" lIns="0" rIns="0" tIns="0" bIns="0">
            <a:spAutoFit/>
          </a:bodyPr>
          <a:lstStyle/>
          <a:p>
            <a:pPr algn="l">
              <a:lnSpc>
                <a:spcPct val="100000"/>
              </a:lnSpc>
              <a:spcBef>
                <a:spcPts val="0"/>
              </a:spcBef>
              <a:spcAft>
                <a:spcPts val="0"/>
              </a:spcAft>
            </a:pPr>
            <a:r>
              <a:rPr sz="2500" b="1">
                <a:solidFill>
                  <a:srgbClr val="1A1A1A"/>
                </a:solidFill>
                <a:latin typeface="Red Hat Display"/>
              </a:rPr>
              <a:t>Map to your org — and when not</a:t>
            </a:r>
          </a:p>
        </p:txBody>
      </p:sp>
      <p:cxnSp>
        <p:nvCxnSpPr>
          <p:cNvPr id="5" name="Connector 4"/>
          <p:cNvCxnSpPr/>
          <p:nvPr/>
        </p:nvCxnSpPr>
        <p:spPr>
          <a:xfrm>
            <a:off x="841248" y="1554480"/>
            <a:ext cx="1371600" cy="0"/>
          </a:xfrm>
          <a:prstGeom prst="bentConnector3">
            <a:avLst/>
          </a:prstGeom>
          <a:ln w="31750">
            <a:solidFill>
              <a:srgbClr val="EE0000"/>
            </a:solidFill>
          </a:ln>
          <a:effectLst/>
        </p:spPr>
        <p:style>
          <a:lnRef idx="2">
            <a:schemeClr val="accent1"/>
          </a:lnRef>
          <a:fillRef idx="0">
            <a:schemeClr val="accent1"/>
          </a:fillRef>
          <a:effectRef idx="1">
            <a:schemeClr val="accent1"/>
          </a:effectRef>
          <a:fontRef idx="minor">
            <a:schemeClr val="tx1"/>
          </a:fontRef>
        </p:style>
      </p:cxnSp>
      <p:sp>
        <p:nvSpPr>
          <p:cNvPr id="6" name="Rounded Rectangle 5"/>
          <p:cNvSpPr/>
          <p:nvPr/>
        </p:nvSpPr>
        <p:spPr>
          <a:xfrm>
            <a:off x="841248" y="2395728"/>
            <a:ext cx="5715000" cy="530352"/>
          </a:xfrm>
          <a:prstGeom prst="roundRect">
            <a:avLst>
              <a:gd name="adj" fmla="val 6000"/>
            </a:avLst>
          </a:prstGeom>
          <a:solidFill>
            <a:srgbClr val="F5F6F8"/>
          </a:solidFill>
          <a:ln w="12700">
            <a:solidFill>
              <a:srgbClr val="DDE1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check_steel.png"/>
          <p:cNvPicPr>
            <a:picLocks noChangeAspect="1"/>
          </p:cNvPicPr>
          <p:nvPr/>
        </p:nvPicPr>
        <p:blipFill>
          <a:blip r:embed="rId3"/>
          <a:stretch>
            <a:fillRect/>
          </a:stretch>
        </p:blipFill>
        <p:spPr>
          <a:xfrm>
            <a:off x="987552" y="2542032"/>
            <a:ext cx="237744" cy="237744"/>
          </a:xfrm>
          <a:prstGeom prst="rect">
            <a:avLst/>
          </a:prstGeom>
        </p:spPr>
      </p:pic>
      <p:sp>
        <p:nvSpPr>
          <p:cNvPr id="8" name="TextBox 7"/>
          <p:cNvSpPr txBox="1"/>
          <p:nvPr/>
        </p:nvSpPr>
        <p:spPr>
          <a:xfrm>
            <a:off x="1353312" y="2395728"/>
            <a:ext cx="5029200" cy="530352"/>
          </a:xfrm>
          <a:prstGeom prst="rect">
            <a:avLst/>
          </a:prstGeom>
          <a:noFill/>
        </p:spPr>
        <p:txBody>
          <a:bodyPr wrap="square" anchor="ctr" lIns="0" rIns="0" tIns="0" bIns="0">
            <a:spAutoFit/>
          </a:bodyPr>
          <a:lstStyle/>
          <a:p>
            <a:pPr algn="l">
              <a:lnSpc>
                <a:spcPct val="106000"/>
              </a:lnSpc>
              <a:spcBef>
                <a:spcPts val="0"/>
              </a:spcBef>
              <a:spcAft>
                <a:spcPts val="0"/>
              </a:spcAft>
            </a:pPr>
            <a:r>
              <a:rPr sz="1200" b="0">
                <a:solidFill>
                  <a:srgbClr val="1A1A1A"/>
                </a:solidFill>
                <a:latin typeface="Red Hat Text"/>
              </a:rPr>
              <a:t>How does a new service get created today?</a:t>
            </a:r>
          </a:p>
        </p:txBody>
      </p:sp>
      <p:sp>
        <p:nvSpPr>
          <p:cNvPr id="9" name="Rounded Rectangle 8"/>
          <p:cNvSpPr/>
          <p:nvPr/>
        </p:nvSpPr>
        <p:spPr>
          <a:xfrm>
            <a:off x="841248" y="2999232"/>
            <a:ext cx="5715000" cy="530352"/>
          </a:xfrm>
          <a:prstGeom prst="roundRect">
            <a:avLst>
              <a:gd name="adj" fmla="val 6000"/>
            </a:avLst>
          </a:prstGeom>
          <a:solidFill>
            <a:srgbClr val="F5F6F8"/>
          </a:solidFill>
          <a:ln w="12700">
            <a:solidFill>
              <a:srgbClr val="DDE1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0" name="Picture 9" descr="check_steel.png"/>
          <p:cNvPicPr>
            <a:picLocks noChangeAspect="1"/>
          </p:cNvPicPr>
          <p:nvPr/>
        </p:nvPicPr>
        <p:blipFill>
          <a:blip r:embed="rId3"/>
          <a:stretch>
            <a:fillRect/>
          </a:stretch>
        </p:blipFill>
        <p:spPr>
          <a:xfrm>
            <a:off x="987552" y="3145536"/>
            <a:ext cx="237744" cy="237744"/>
          </a:xfrm>
          <a:prstGeom prst="rect">
            <a:avLst/>
          </a:prstGeom>
        </p:spPr>
      </p:pic>
      <p:sp>
        <p:nvSpPr>
          <p:cNvPr id="11" name="TextBox 10"/>
          <p:cNvSpPr txBox="1"/>
          <p:nvPr/>
        </p:nvSpPr>
        <p:spPr>
          <a:xfrm>
            <a:off x="1353312" y="2999232"/>
            <a:ext cx="5029200" cy="530352"/>
          </a:xfrm>
          <a:prstGeom prst="rect">
            <a:avLst/>
          </a:prstGeom>
          <a:noFill/>
        </p:spPr>
        <p:txBody>
          <a:bodyPr wrap="square" anchor="ctr" lIns="0" rIns="0" tIns="0" bIns="0">
            <a:spAutoFit/>
          </a:bodyPr>
          <a:lstStyle/>
          <a:p>
            <a:pPr algn="l">
              <a:lnSpc>
                <a:spcPct val="106000"/>
              </a:lnSpc>
              <a:spcBef>
                <a:spcPts val="0"/>
              </a:spcBef>
              <a:spcAft>
                <a:spcPts val="0"/>
              </a:spcAft>
            </a:pPr>
            <a:r>
              <a:rPr sz="1200" b="0">
                <a:solidFill>
                  <a:srgbClr val="1A1A1A"/>
                </a:solidFill>
                <a:latin typeface="Red Hat Text"/>
              </a:rPr>
              <a:t>Who owns this, and what depends on it?</a:t>
            </a:r>
          </a:p>
        </p:txBody>
      </p:sp>
      <p:sp>
        <p:nvSpPr>
          <p:cNvPr id="12" name="Rounded Rectangle 11"/>
          <p:cNvSpPr/>
          <p:nvPr/>
        </p:nvSpPr>
        <p:spPr>
          <a:xfrm>
            <a:off x="841248" y="3602736"/>
            <a:ext cx="5715000" cy="530352"/>
          </a:xfrm>
          <a:prstGeom prst="roundRect">
            <a:avLst>
              <a:gd name="adj" fmla="val 6000"/>
            </a:avLst>
          </a:prstGeom>
          <a:solidFill>
            <a:srgbClr val="F5F6F8"/>
          </a:solidFill>
          <a:ln w="12700">
            <a:solidFill>
              <a:srgbClr val="DDE1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3" name="Picture 12" descr="check_steel.png"/>
          <p:cNvPicPr>
            <a:picLocks noChangeAspect="1"/>
          </p:cNvPicPr>
          <p:nvPr/>
        </p:nvPicPr>
        <p:blipFill>
          <a:blip r:embed="rId3"/>
          <a:stretch>
            <a:fillRect/>
          </a:stretch>
        </p:blipFill>
        <p:spPr>
          <a:xfrm>
            <a:off x="987552" y="3749040"/>
            <a:ext cx="237744" cy="237744"/>
          </a:xfrm>
          <a:prstGeom prst="rect">
            <a:avLst/>
          </a:prstGeom>
        </p:spPr>
      </p:pic>
      <p:sp>
        <p:nvSpPr>
          <p:cNvPr id="14" name="TextBox 13"/>
          <p:cNvSpPr txBox="1"/>
          <p:nvPr/>
        </p:nvSpPr>
        <p:spPr>
          <a:xfrm>
            <a:off x="1353312" y="3602736"/>
            <a:ext cx="5029200" cy="530352"/>
          </a:xfrm>
          <a:prstGeom prst="rect">
            <a:avLst/>
          </a:prstGeom>
          <a:noFill/>
        </p:spPr>
        <p:txBody>
          <a:bodyPr wrap="square" anchor="ctr" lIns="0" rIns="0" tIns="0" bIns="0">
            <a:spAutoFit/>
          </a:bodyPr>
          <a:lstStyle/>
          <a:p>
            <a:pPr algn="l">
              <a:lnSpc>
                <a:spcPct val="106000"/>
              </a:lnSpc>
              <a:spcBef>
                <a:spcPts val="0"/>
              </a:spcBef>
              <a:spcAft>
                <a:spcPts val="0"/>
              </a:spcAft>
            </a:pPr>
            <a:r>
              <a:rPr sz="1200" b="0">
                <a:solidFill>
                  <a:srgbClr val="1A1A1A"/>
                </a:solidFill>
                <a:latin typeface="Red Hat Text"/>
              </a:rPr>
              <a:t>Standards enforced by construction, or by audit?</a:t>
            </a:r>
          </a:p>
        </p:txBody>
      </p:sp>
      <p:sp>
        <p:nvSpPr>
          <p:cNvPr id="15" name="Rounded Rectangle 14"/>
          <p:cNvSpPr/>
          <p:nvPr/>
        </p:nvSpPr>
        <p:spPr>
          <a:xfrm>
            <a:off x="841248" y="4206240"/>
            <a:ext cx="5715000" cy="530352"/>
          </a:xfrm>
          <a:prstGeom prst="roundRect">
            <a:avLst>
              <a:gd name="adj" fmla="val 6000"/>
            </a:avLst>
          </a:prstGeom>
          <a:solidFill>
            <a:srgbClr val="F5F6F8"/>
          </a:solidFill>
          <a:ln w="12700">
            <a:solidFill>
              <a:srgbClr val="DDE1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6" name="Picture 15" descr="check_steel.png"/>
          <p:cNvPicPr>
            <a:picLocks noChangeAspect="1"/>
          </p:cNvPicPr>
          <p:nvPr/>
        </p:nvPicPr>
        <p:blipFill>
          <a:blip r:embed="rId3"/>
          <a:stretch>
            <a:fillRect/>
          </a:stretch>
        </p:blipFill>
        <p:spPr>
          <a:xfrm>
            <a:off x="987552" y="4352544"/>
            <a:ext cx="237744" cy="237744"/>
          </a:xfrm>
          <a:prstGeom prst="rect">
            <a:avLst/>
          </a:prstGeom>
        </p:spPr>
      </p:pic>
      <p:sp>
        <p:nvSpPr>
          <p:cNvPr id="17" name="TextBox 16"/>
          <p:cNvSpPr txBox="1"/>
          <p:nvPr/>
        </p:nvSpPr>
        <p:spPr>
          <a:xfrm>
            <a:off x="1353312" y="4206240"/>
            <a:ext cx="5029200" cy="530352"/>
          </a:xfrm>
          <a:prstGeom prst="rect">
            <a:avLst/>
          </a:prstGeom>
          <a:noFill/>
        </p:spPr>
        <p:txBody>
          <a:bodyPr wrap="square" anchor="ctr" lIns="0" rIns="0" tIns="0" bIns="0">
            <a:spAutoFit/>
          </a:bodyPr>
          <a:lstStyle/>
          <a:p>
            <a:pPr algn="l">
              <a:lnSpc>
                <a:spcPct val="106000"/>
              </a:lnSpc>
              <a:spcBef>
                <a:spcPts val="0"/>
              </a:spcBef>
              <a:spcAft>
                <a:spcPts val="0"/>
              </a:spcAft>
            </a:pPr>
            <a:r>
              <a:rPr sz="1200" b="0">
                <a:solidFill>
                  <a:srgbClr val="1A1A1A"/>
                </a:solidFill>
                <a:latin typeface="Red Hat Text"/>
              </a:rPr>
              <a:t>Do not stand up a portal you will not feed</a:t>
            </a:r>
          </a:p>
        </p:txBody>
      </p:sp>
      <p:sp>
        <p:nvSpPr>
          <p:cNvPr id="18" name="Rounded Rectangle 17"/>
          <p:cNvSpPr/>
          <p:nvPr/>
        </p:nvSpPr>
        <p:spPr>
          <a:xfrm>
            <a:off x="841248" y="4809744"/>
            <a:ext cx="5715000" cy="530352"/>
          </a:xfrm>
          <a:prstGeom prst="roundRect">
            <a:avLst>
              <a:gd name="adj" fmla="val 6000"/>
            </a:avLst>
          </a:prstGeom>
          <a:solidFill>
            <a:srgbClr val="F5F6F8"/>
          </a:solidFill>
          <a:ln w="12700">
            <a:solidFill>
              <a:srgbClr val="DDE1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9" name="Picture 18" descr="check_steel.png"/>
          <p:cNvPicPr>
            <a:picLocks noChangeAspect="1"/>
          </p:cNvPicPr>
          <p:nvPr/>
        </p:nvPicPr>
        <p:blipFill>
          <a:blip r:embed="rId3"/>
          <a:stretch>
            <a:fillRect/>
          </a:stretch>
        </p:blipFill>
        <p:spPr>
          <a:xfrm>
            <a:off x="987552" y="4956048"/>
            <a:ext cx="237744" cy="237744"/>
          </a:xfrm>
          <a:prstGeom prst="rect">
            <a:avLst/>
          </a:prstGeom>
        </p:spPr>
      </p:pic>
      <p:sp>
        <p:nvSpPr>
          <p:cNvPr id="20" name="TextBox 19"/>
          <p:cNvSpPr txBox="1"/>
          <p:nvPr/>
        </p:nvSpPr>
        <p:spPr>
          <a:xfrm>
            <a:off x="1353312" y="4809744"/>
            <a:ext cx="5029200" cy="530352"/>
          </a:xfrm>
          <a:prstGeom prst="rect">
            <a:avLst/>
          </a:prstGeom>
          <a:noFill/>
        </p:spPr>
        <p:txBody>
          <a:bodyPr wrap="square" anchor="ctr" lIns="0" rIns="0" tIns="0" bIns="0">
            <a:spAutoFit/>
          </a:bodyPr>
          <a:lstStyle/>
          <a:p>
            <a:pPr algn="l">
              <a:lnSpc>
                <a:spcPct val="106000"/>
              </a:lnSpc>
              <a:spcBef>
                <a:spcPts val="0"/>
              </a:spcBef>
              <a:spcAft>
                <a:spcPts val="0"/>
              </a:spcAft>
            </a:pPr>
            <a:r>
              <a:rPr sz="1200" b="0">
                <a:solidFill>
                  <a:srgbClr val="1A1A1A"/>
                </a:solidFill>
                <a:latin typeface="Red Hat Text"/>
              </a:rPr>
              <a:t>A paved road, not a cage; not every workflow</a:t>
            </a:r>
          </a:p>
        </p:txBody>
      </p:sp>
      <p:sp>
        <p:nvSpPr>
          <p:cNvPr id="21" name="Rounded Rectangle 20"/>
          <p:cNvSpPr/>
          <p:nvPr/>
        </p:nvSpPr>
        <p:spPr>
          <a:xfrm>
            <a:off x="6812280" y="2395728"/>
            <a:ext cx="4538167" cy="2944368"/>
          </a:xfrm>
          <a:prstGeom prst="roundRect">
            <a:avLst>
              <a:gd name="adj" fmla="val 4000"/>
            </a:avLst>
          </a:prstGeom>
          <a:solidFill>
            <a:srgbClr val="FFFFFF"/>
          </a:solidFill>
          <a:ln w="15240">
            <a:solidFill>
              <a:srgbClr val="DDE1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ounded Rectangle 21"/>
          <p:cNvSpPr/>
          <p:nvPr/>
        </p:nvSpPr>
        <p:spPr>
          <a:xfrm>
            <a:off x="7013448" y="2596896"/>
            <a:ext cx="1298448" cy="310896"/>
          </a:xfrm>
          <a:prstGeom prst="roundRect">
            <a:avLst>
              <a:gd name="adj" fmla="val 50000"/>
            </a:avLst>
          </a:prstGeom>
          <a:solidFill>
            <a:srgbClr val="FCEC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7013448" y="2596896"/>
            <a:ext cx="1298448" cy="310896"/>
          </a:xfrm>
          <a:prstGeom prst="rect">
            <a:avLst/>
          </a:prstGeom>
          <a:noFill/>
        </p:spPr>
        <p:txBody>
          <a:bodyPr wrap="none" anchor="ctr" lIns="0" rIns="0" tIns="0" bIns="0">
            <a:spAutoFit/>
          </a:bodyPr>
          <a:lstStyle/>
          <a:p>
            <a:pPr algn="ctr">
              <a:lnSpc>
                <a:spcPct val="106000"/>
              </a:lnSpc>
              <a:spcBef>
                <a:spcPts val="0"/>
              </a:spcBef>
              <a:spcAft>
                <a:spcPts val="0"/>
              </a:spcAft>
            </a:pPr>
            <a:r>
              <a:rPr sz="850" b="1">
                <a:solidFill>
                  <a:srgbClr val="B80000"/>
                </a:solidFill>
                <a:latin typeface="Red Hat Display"/>
              </a:rPr>
              <a:t>MEDIA PASS</a:t>
            </a:r>
          </a:p>
        </p:txBody>
      </p:sp>
      <p:pic>
        <p:nvPicPr>
          <p:cNvPr id="24" name="Picture 23" descr="eye_slate.png"/>
          <p:cNvPicPr>
            <a:picLocks noChangeAspect="1"/>
          </p:cNvPicPr>
          <p:nvPr/>
        </p:nvPicPr>
        <p:blipFill>
          <a:blip r:embed="rId4"/>
          <a:stretch>
            <a:fillRect/>
          </a:stretch>
        </p:blipFill>
        <p:spPr>
          <a:xfrm>
            <a:off x="8843619" y="3108960"/>
            <a:ext cx="475488" cy="475488"/>
          </a:xfrm>
          <a:prstGeom prst="rect">
            <a:avLst/>
          </a:prstGeom>
        </p:spPr>
      </p:pic>
      <p:sp>
        <p:nvSpPr>
          <p:cNvPr id="25" name="TextBox 24"/>
          <p:cNvSpPr txBox="1"/>
          <p:nvPr/>
        </p:nvSpPr>
        <p:spPr>
          <a:xfrm>
            <a:off x="7050024" y="3721608"/>
            <a:ext cx="4062679" cy="1481328"/>
          </a:xfrm>
          <a:prstGeom prst="rect">
            <a:avLst/>
          </a:prstGeom>
          <a:noFill/>
        </p:spPr>
        <p:txBody>
          <a:bodyPr wrap="square" anchor="t" lIns="0" rIns="0" tIns="0" bIns="0">
            <a:spAutoFit/>
          </a:bodyPr>
          <a:lstStyle/>
          <a:p>
            <a:pPr algn="l">
              <a:lnSpc>
                <a:spcPct val="120000"/>
              </a:lnSpc>
              <a:spcBef>
                <a:spcPts val="0"/>
              </a:spcBef>
              <a:spcAft>
                <a:spcPts val="0"/>
              </a:spcAft>
            </a:pPr>
            <a:r>
              <a:rPr sz="950" b="0">
                <a:solidFill>
                  <a:srgbClr val="8A9099"/>
                </a:solidFill>
                <a:latin typeface="Red Hat Text"/>
              </a:rPr>
              <a:t>Two-column "reach for it / don't" card; a small footnote strip pointing to the Build, Pipelines, Supply Chain, and GitOps modules whose decisions the golden path encodes.</a:t>
            </a:r>
          </a:p>
        </p:txBody>
      </p:sp>
      <p:cxnSp>
        <p:nvCxnSpPr>
          <p:cNvPr id="26" name="Connector 25"/>
          <p:cNvCxnSpPr/>
          <p:nvPr/>
        </p:nvCxnSpPr>
        <p:spPr>
          <a:xfrm>
            <a:off x="841248" y="6437376"/>
            <a:ext cx="10509199" cy="0"/>
          </a:xfrm>
          <a:prstGeom prst="bentConnector3">
            <a:avLst/>
          </a:prstGeom>
          <a:ln w="12700">
            <a:solidFill>
              <a:srgbClr val="DDE1E6"/>
            </a:solidFill>
          </a:ln>
          <a:effectLst/>
        </p:spPr>
        <p:style>
          <a:lnRef idx="2">
            <a:schemeClr val="accent1"/>
          </a:lnRef>
          <a:fillRef idx="0">
            <a:schemeClr val="accent1"/>
          </a:fillRef>
          <a:effectRef idx="1">
            <a:schemeClr val="accent1"/>
          </a:effectRef>
          <a:fontRef idx="minor">
            <a:schemeClr val="tx1"/>
          </a:fontRef>
        </p:style>
      </p:cxnSp>
      <p:sp>
        <p:nvSpPr>
          <p:cNvPr id="27" name="TextBox 26"/>
          <p:cNvSpPr txBox="1"/>
          <p:nvPr/>
        </p:nvSpPr>
        <p:spPr>
          <a:xfrm>
            <a:off x="841248" y="6473952"/>
            <a:ext cx="7315200" cy="274320"/>
          </a:xfrm>
          <a:prstGeom prst="rect">
            <a:avLst/>
          </a:prstGeom>
          <a:noFill/>
        </p:spPr>
        <p:txBody>
          <a:bodyPr wrap="square" anchor="t" lIns="0" rIns="0" tIns="0" bIns="0">
            <a:spAutoFit/>
          </a:bodyPr>
          <a:lstStyle/>
          <a:p>
            <a:pPr algn="l">
              <a:lnSpc>
                <a:spcPct val="106000"/>
              </a:lnSpc>
              <a:spcBef>
                <a:spcPts val="0"/>
              </a:spcBef>
              <a:spcAft>
                <a:spcPts val="0"/>
              </a:spcAft>
            </a:pPr>
            <a:r>
              <a:rPr sz="950" b="0">
                <a:solidFill>
                  <a:srgbClr val="8A9099"/>
                </a:solidFill>
                <a:latin typeface="Red Hat Text"/>
              </a:rPr>
              <a:t>CONFIDENTIAL</a:t>
            </a:r>
          </a:p>
        </p:txBody>
      </p:sp>
      <p:sp>
        <p:nvSpPr>
          <p:cNvPr id="28" name="TextBox 27"/>
          <p:cNvSpPr txBox="1"/>
          <p:nvPr/>
        </p:nvSpPr>
        <p:spPr>
          <a:xfrm>
            <a:off x="10801807" y="6473952"/>
            <a:ext cx="548640" cy="274320"/>
          </a:xfrm>
          <a:prstGeom prst="rect">
            <a:avLst/>
          </a:prstGeom>
          <a:noFill/>
        </p:spPr>
        <p:txBody>
          <a:bodyPr wrap="square" anchor="t" lIns="0" rIns="0" tIns="0" bIns="0">
            <a:spAutoFit/>
          </a:bodyPr>
          <a:lstStyle/>
          <a:p>
            <a:pPr algn="r">
              <a:lnSpc>
                <a:spcPct val="106000"/>
              </a:lnSpc>
              <a:spcBef>
                <a:spcPts val="0"/>
              </a:spcBef>
              <a:spcAft>
                <a:spcPts val="0"/>
              </a:spcAft>
            </a:pPr>
            <a:r>
              <a:rPr sz="950" b="0">
                <a:solidFill>
                  <a:srgbClr val="8A9099"/>
                </a:solidFill>
                <a:latin typeface="Red Hat Text"/>
              </a:rPr>
              <a:t>87</a:t>
            </a:r>
          </a:p>
        </p:txBody>
      </p:sp>
    </p:spTree>
  </p:cSld>
  <p:clrMapOvr>
    <a:masterClrMapping/>
  </p:clrMapOvr>
</p:sld>
</file>

<file path=ppt/slides/slide10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redhat_logo.jpg"/>
          <p:cNvPicPr>
            <a:picLocks noChangeAspect="1"/>
          </p:cNvPicPr>
          <p:nvPr/>
        </p:nvPicPr>
        <p:blipFill>
          <a:blip r:embed="rId2"/>
          <a:stretch>
            <a:fillRect/>
          </a:stretch>
        </p:blipFill>
        <p:spPr>
          <a:xfrm>
            <a:off x="841248" y="731520"/>
            <a:ext cx="1554480" cy="367699"/>
          </a:xfrm>
          <a:prstGeom prst="rect">
            <a:avLst/>
          </a:prstGeom>
        </p:spPr>
      </p:pic>
      <p:sp>
        <p:nvSpPr>
          <p:cNvPr id="3" name="TextBox 2"/>
          <p:cNvSpPr txBox="1"/>
          <p:nvPr/>
        </p:nvSpPr>
        <p:spPr>
          <a:xfrm>
            <a:off x="841248" y="2514600"/>
            <a:ext cx="9601200" cy="274320"/>
          </a:xfrm>
          <a:prstGeom prst="rect">
            <a:avLst/>
          </a:prstGeom>
          <a:noFill/>
        </p:spPr>
        <p:txBody>
          <a:bodyPr wrap="square" anchor="t" lIns="0" rIns="0" tIns="0" bIns="0">
            <a:spAutoFit/>
          </a:bodyPr>
          <a:lstStyle/>
          <a:p>
            <a:pPr algn="l">
              <a:lnSpc>
                <a:spcPct val="106000"/>
              </a:lnSpc>
              <a:spcBef>
                <a:spcPts val="0"/>
              </a:spcBef>
              <a:spcAft>
                <a:spcPts val="0"/>
              </a:spcAft>
            </a:pPr>
            <a:r>
              <a:rPr sz="1250" b="1" spc="180">
                <a:solidFill>
                  <a:srgbClr val="EE0000"/>
                </a:solidFill>
                <a:latin typeface="Red Hat Display"/>
              </a:rPr>
              <a:t>B · DELIVERY &amp; TRUST</a:t>
            </a:r>
          </a:p>
        </p:txBody>
      </p:sp>
      <p:sp>
        <p:nvSpPr>
          <p:cNvPr id="4" name="TextBox 3"/>
          <p:cNvSpPr txBox="1"/>
          <p:nvPr/>
        </p:nvSpPr>
        <p:spPr>
          <a:xfrm>
            <a:off x="841248" y="2880360"/>
            <a:ext cx="2103120" cy="1188720"/>
          </a:xfrm>
          <a:prstGeom prst="rect">
            <a:avLst/>
          </a:prstGeom>
          <a:noFill/>
        </p:spPr>
        <p:txBody>
          <a:bodyPr wrap="none" anchor="t" lIns="0" rIns="0" tIns="0" bIns="0">
            <a:spAutoFit/>
          </a:bodyPr>
          <a:lstStyle/>
          <a:p>
            <a:pPr algn="l">
              <a:lnSpc>
                <a:spcPct val="90000"/>
              </a:lnSpc>
              <a:spcBef>
                <a:spcPts val="0"/>
              </a:spcBef>
              <a:spcAft>
                <a:spcPts val="0"/>
              </a:spcAft>
            </a:pPr>
            <a:r>
              <a:rPr sz="5200" b="1">
                <a:solidFill>
                  <a:srgbClr val="B80000"/>
                </a:solidFill>
                <a:latin typeface="Red Hat Display"/>
              </a:rPr>
              <a:t>M13</a:t>
            </a:r>
          </a:p>
        </p:txBody>
      </p:sp>
      <p:sp>
        <p:nvSpPr>
          <p:cNvPr id="5" name="TextBox 4"/>
          <p:cNvSpPr txBox="1"/>
          <p:nvPr/>
        </p:nvSpPr>
        <p:spPr>
          <a:xfrm>
            <a:off x="3127248" y="2971800"/>
            <a:ext cx="8412480" cy="1188720"/>
          </a:xfrm>
          <a:prstGeom prst="rect">
            <a:avLst/>
          </a:prstGeom>
          <a:noFill/>
        </p:spPr>
        <p:txBody>
          <a:bodyPr wrap="square" anchor="t" lIns="0" rIns="0" tIns="0" bIns="0">
            <a:spAutoFit/>
          </a:bodyPr>
          <a:lstStyle/>
          <a:p>
            <a:pPr algn="l">
              <a:lnSpc>
                <a:spcPct val="102000"/>
              </a:lnSpc>
              <a:spcBef>
                <a:spcPts val="0"/>
              </a:spcBef>
              <a:spcAft>
                <a:spcPts val="0"/>
              </a:spcAft>
            </a:pPr>
            <a:r>
              <a:rPr sz="3000" b="1">
                <a:solidFill>
                  <a:srgbClr val="1A1A1A"/>
                </a:solidFill>
                <a:latin typeface="Red Hat Display"/>
              </a:rPr>
              <a:t>Observability, Health &amp; Scale</a:t>
            </a:r>
          </a:p>
        </p:txBody>
      </p:sp>
      <p:cxnSp>
        <p:nvCxnSpPr>
          <p:cNvPr id="6" name="Connector 5"/>
          <p:cNvCxnSpPr/>
          <p:nvPr/>
        </p:nvCxnSpPr>
        <p:spPr>
          <a:xfrm>
            <a:off x="841248" y="4443984"/>
            <a:ext cx="1463040" cy="0"/>
          </a:xfrm>
          <a:prstGeom prst="bentConnector3">
            <a:avLst/>
          </a:prstGeom>
          <a:ln w="38100">
            <a:solidFill>
              <a:srgbClr val="EE0000"/>
            </a:solidFill>
          </a:ln>
          <a:effectLst/>
        </p:spPr>
        <p:style>
          <a:lnRef idx="2">
            <a:schemeClr val="accent1"/>
          </a:lnRef>
          <a:fillRef idx="0">
            <a:schemeClr val="accent1"/>
          </a:fillRef>
          <a:effectRef idx="1">
            <a:schemeClr val="accent1"/>
          </a:effectRef>
          <a:fontRef idx="minor">
            <a:schemeClr val="tx1"/>
          </a:fontRef>
        </p:style>
      </p:cxnSp>
    </p:spTree>
  </p:cSld>
  <p:clrMapOvr>
    <a:masterClrMapping/>
  </p:clrMapOvr>
</p:sld>
</file>

<file path=ppt/slides/slide10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redhat_logo.jpg"/>
          <p:cNvPicPr>
            <a:picLocks noChangeAspect="1"/>
          </p:cNvPicPr>
          <p:nvPr/>
        </p:nvPicPr>
        <p:blipFill>
          <a:blip r:embed="rId2"/>
          <a:stretch>
            <a:fillRect/>
          </a:stretch>
        </p:blipFill>
        <p:spPr>
          <a:xfrm>
            <a:off x="10326319" y="475488"/>
            <a:ext cx="1024128" cy="242248"/>
          </a:xfrm>
          <a:prstGeom prst="rect">
            <a:avLst/>
          </a:prstGeom>
        </p:spPr>
      </p:pic>
      <p:sp>
        <p:nvSpPr>
          <p:cNvPr id="3" name="TextBox 2"/>
          <p:cNvSpPr txBox="1"/>
          <p:nvPr/>
        </p:nvSpPr>
        <p:spPr>
          <a:xfrm>
            <a:off x="841248" y="548640"/>
            <a:ext cx="8595360" cy="274320"/>
          </a:xfrm>
          <a:prstGeom prst="rect">
            <a:avLst/>
          </a:prstGeom>
          <a:noFill/>
        </p:spPr>
        <p:txBody>
          <a:bodyPr wrap="square" anchor="t" lIns="0" rIns="0" tIns="0" bIns="0">
            <a:spAutoFit/>
          </a:bodyPr>
          <a:lstStyle/>
          <a:p>
            <a:pPr algn="l">
              <a:lnSpc>
                <a:spcPct val="106000"/>
              </a:lnSpc>
              <a:spcBef>
                <a:spcPts val="0"/>
              </a:spcBef>
              <a:spcAft>
                <a:spcPts val="0"/>
              </a:spcAft>
            </a:pPr>
            <a:r>
              <a:rPr sz="1250" b="1" spc="220">
                <a:solidFill>
                  <a:srgbClr val="EE0000"/>
                </a:solidFill>
                <a:latin typeface="Red Hat Display"/>
              </a:rPr>
              <a:t>M13 · OBSERVABILITY, HEALTH &amp; SCALE</a:t>
            </a:r>
          </a:p>
        </p:txBody>
      </p:sp>
      <p:sp>
        <p:nvSpPr>
          <p:cNvPr id="4" name="TextBox 3"/>
          <p:cNvSpPr txBox="1"/>
          <p:nvPr/>
        </p:nvSpPr>
        <p:spPr>
          <a:xfrm>
            <a:off x="841248" y="877824"/>
            <a:ext cx="10515600" cy="548640"/>
          </a:xfrm>
          <a:prstGeom prst="rect">
            <a:avLst/>
          </a:prstGeom>
          <a:noFill/>
        </p:spPr>
        <p:txBody>
          <a:bodyPr wrap="none" anchor="t" lIns="0" rIns="0" tIns="0" bIns="0">
            <a:spAutoFit/>
          </a:bodyPr>
          <a:lstStyle/>
          <a:p>
            <a:pPr algn="l">
              <a:lnSpc>
                <a:spcPct val="100000"/>
              </a:lnSpc>
              <a:spcBef>
                <a:spcPts val="0"/>
              </a:spcBef>
              <a:spcAft>
                <a:spcPts val="0"/>
              </a:spcAft>
            </a:pPr>
            <a:r>
              <a:rPr sz="2500" b="1">
                <a:solidFill>
                  <a:srgbClr val="1A1A1A"/>
                </a:solidFill>
                <a:latin typeface="Red Hat Display"/>
              </a:rPr>
              <a:t>02:00</a:t>
            </a:r>
          </a:p>
        </p:txBody>
      </p:sp>
      <p:cxnSp>
        <p:nvCxnSpPr>
          <p:cNvPr id="5" name="Connector 4"/>
          <p:cNvCxnSpPr/>
          <p:nvPr/>
        </p:nvCxnSpPr>
        <p:spPr>
          <a:xfrm>
            <a:off x="841248" y="1554480"/>
            <a:ext cx="1371600" cy="0"/>
          </a:xfrm>
          <a:prstGeom prst="bentConnector3">
            <a:avLst/>
          </a:prstGeom>
          <a:ln w="31750">
            <a:solidFill>
              <a:srgbClr val="EE0000"/>
            </a:solidFill>
          </a:ln>
          <a:effectLst/>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841248" y="1664208"/>
            <a:ext cx="10515600" cy="365760"/>
          </a:xfrm>
          <a:prstGeom prst="rect">
            <a:avLst/>
          </a:prstGeom>
          <a:noFill/>
        </p:spPr>
        <p:txBody>
          <a:bodyPr wrap="square" anchor="t" lIns="0" rIns="0" tIns="0" bIns="0">
            <a:spAutoFit/>
          </a:bodyPr>
          <a:lstStyle/>
          <a:p>
            <a:pPr algn="l">
              <a:lnSpc>
                <a:spcPct val="106000"/>
              </a:lnSpc>
              <a:spcBef>
                <a:spcPts val="0"/>
              </a:spcBef>
              <a:spcAft>
                <a:spcPts val="0"/>
              </a:spcAft>
            </a:pPr>
            <a:r>
              <a:rPr sz="1350" b="0">
                <a:solidFill>
                  <a:srgbClr val="555960"/>
                </a:solidFill>
                <a:latin typeface="Red Hat Text"/>
              </a:rPr>
              <a:t>the claims API is failing, and you can't tell why</a:t>
            </a:r>
          </a:p>
        </p:txBody>
      </p:sp>
      <p:sp>
        <p:nvSpPr>
          <p:cNvPr id="7" name="Rounded Rectangle 6"/>
          <p:cNvSpPr/>
          <p:nvPr/>
        </p:nvSpPr>
        <p:spPr>
          <a:xfrm>
            <a:off x="841248" y="2670048"/>
            <a:ext cx="5715000" cy="530352"/>
          </a:xfrm>
          <a:prstGeom prst="roundRect">
            <a:avLst>
              <a:gd name="adj" fmla="val 6000"/>
            </a:avLst>
          </a:prstGeom>
          <a:solidFill>
            <a:srgbClr val="F5F6F8"/>
          </a:solidFill>
          <a:ln w="12700">
            <a:solidFill>
              <a:srgbClr val="DDE1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check_steel.png"/>
          <p:cNvPicPr>
            <a:picLocks noChangeAspect="1"/>
          </p:cNvPicPr>
          <p:nvPr/>
        </p:nvPicPr>
        <p:blipFill>
          <a:blip r:embed="rId3"/>
          <a:stretch>
            <a:fillRect/>
          </a:stretch>
        </p:blipFill>
        <p:spPr>
          <a:xfrm>
            <a:off x="987552" y="2816352"/>
            <a:ext cx="237744" cy="237744"/>
          </a:xfrm>
          <a:prstGeom prst="rect">
            <a:avLst/>
          </a:prstGeom>
        </p:spPr>
      </p:pic>
      <p:sp>
        <p:nvSpPr>
          <p:cNvPr id="9" name="TextBox 8"/>
          <p:cNvSpPr txBox="1"/>
          <p:nvPr/>
        </p:nvSpPr>
        <p:spPr>
          <a:xfrm>
            <a:off x="1353312" y="2670048"/>
            <a:ext cx="5029200" cy="530352"/>
          </a:xfrm>
          <a:prstGeom prst="rect">
            <a:avLst/>
          </a:prstGeom>
          <a:noFill/>
        </p:spPr>
        <p:txBody>
          <a:bodyPr wrap="square" anchor="ctr" lIns="0" rIns="0" tIns="0" bIns="0">
            <a:spAutoFit/>
          </a:bodyPr>
          <a:lstStyle/>
          <a:p>
            <a:pPr algn="l">
              <a:lnSpc>
                <a:spcPct val="106000"/>
              </a:lnSpc>
              <a:spcBef>
                <a:spcPts val="0"/>
              </a:spcBef>
              <a:spcAft>
                <a:spcPts val="0"/>
              </a:spcAft>
            </a:pPr>
            <a:r>
              <a:rPr sz="1200" b="0">
                <a:solidFill>
                  <a:srgbClr val="1A1A1A"/>
                </a:solidFill>
                <a:latin typeface="Red Hat Text"/>
              </a:rPr>
              <a:t>A dashboard is red: *something* is wrong</a:t>
            </a:r>
          </a:p>
        </p:txBody>
      </p:sp>
      <p:sp>
        <p:nvSpPr>
          <p:cNvPr id="10" name="Rounded Rectangle 9"/>
          <p:cNvSpPr/>
          <p:nvPr/>
        </p:nvSpPr>
        <p:spPr>
          <a:xfrm>
            <a:off x="841248" y="3273552"/>
            <a:ext cx="5715000" cy="530352"/>
          </a:xfrm>
          <a:prstGeom prst="roundRect">
            <a:avLst>
              <a:gd name="adj" fmla="val 6000"/>
            </a:avLst>
          </a:prstGeom>
          <a:solidFill>
            <a:srgbClr val="F5F6F8"/>
          </a:solidFill>
          <a:ln w="12700">
            <a:solidFill>
              <a:srgbClr val="DDE1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1" name="Picture 10" descr="check_steel.png"/>
          <p:cNvPicPr>
            <a:picLocks noChangeAspect="1"/>
          </p:cNvPicPr>
          <p:nvPr/>
        </p:nvPicPr>
        <p:blipFill>
          <a:blip r:embed="rId3"/>
          <a:stretch>
            <a:fillRect/>
          </a:stretch>
        </p:blipFill>
        <p:spPr>
          <a:xfrm>
            <a:off x="987552" y="3419856"/>
            <a:ext cx="237744" cy="237744"/>
          </a:xfrm>
          <a:prstGeom prst="rect">
            <a:avLst/>
          </a:prstGeom>
        </p:spPr>
      </p:pic>
      <p:sp>
        <p:nvSpPr>
          <p:cNvPr id="12" name="TextBox 11"/>
          <p:cNvSpPr txBox="1"/>
          <p:nvPr/>
        </p:nvSpPr>
        <p:spPr>
          <a:xfrm>
            <a:off x="1353312" y="3273552"/>
            <a:ext cx="5029200" cy="530352"/>
          </a:xfrm>
          <a:prstGeom prst="rect">
            <a:avLst/>
          </a:prstGeom>
          <a:noFill/>
        </p:spPr>
        <p:txBody>
          <a:bodyPr wrap="square" anchor="ctr" lIns="0" rIns="0" tIns="0" bIns="0">
            <a:spAutoFit/>
          </a:bodyPr>
          <a:lstStyle/>
          <a:p>
            <a:pPr algn="l">
              <a:lnSpc>
                <a:spcPct val="106000"/>
              </a:lnSpc>
              <a:spcBef>
                <a:spcPts val="0"/>
              </a:spcBef>
              <a:spcAft>
                <a:spcPts val="0"/>
              </a:spcAft>
            </a:pPr>
            <a:r>
              <a:rPr sz="1200" b="0">
                <a:solidFill>
                  <a:srgbClr val="1A1A1A"/>
                </a:solidFill>
                <a:latin typeface="Red Hat Text"/>
              </a:rPr>
              <a:t>But not *which* request, *which* dependency, *how many* users</a:t>
            </a:r>
          </a:p>
        </p:txBody>
      </p:sp>
      <p:sp>
        <p:nvSpPr>
          <p:cNvPr id="13" name="Rounded Rectangle 12"/>
          <p:cNvSpPr/>
          <p:nvPr/>
        </p:nvSpPr>
        <p:spPr>
          <a:xfrm>
            <a:off x="841248" y="3877056"/>
            <a:ext cx="5715000" cy="530352"/>
          </a:xfrm>
          <a:prstGeom prst="roundRect">
            <a:avLst>
              <a:gd name="adj" fmla="val 6000"/>
            </a:avLst>
          </a:prstGeom>
          <a:solidFill>
            <a:srgbClr val="F5F6F8"/>
          </a:solidFill>
          <a:ln w="12700">
            <a:solidFill>
              <a:srgbClr val="DDE1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4" name="Picture 13" descr="check_steel.png"/>
          <p:cNvPicPr>
            <a:picLocks noChangeAspect="1"/>
          </p:cNvPicPr>
          <p:nvPr/>
        </p:nvPicPr>
        <p:blipFill>
          <a:blip r:embed="rId3"/>
          <a:stretch>
            <a:fillRect/>
          </a:stretch>
        </p:blipFill>
        <p:spPr>
          <a:xfrm>
            <a:off x="987552" y="4023360"/>
            <a:ext cx="237744" cy="237744"/>
          </a:xfrm>
          <a:prstGeom prst="rect">
            <a:avLst/>
          </a:prstGeom>
        </p:spPr>
      </p:pic>
      <p:sp>
        <p:nvSpPr>
          <p:cNvPr id="15" name="TextBox 14"/>
          <p:cNvSpPr txBox="1"/>
          <p:nvPr/>
        </p:nvSpPr>
        <p:spPr>
          <a:xfrm>
            <a:off x="1353312" y="3877056"/>
            <a:ext cx="5029200" cy="530352"/>
          </a:xfrm>
          <a:prstGeom prst="rect">
            <a:avLst/>
          </a:prstGeom>
          <a:noFill/>
        </p:spPr>
        <p:txBody>
          <a:bodyPr wrap="square" anchor="ctr" lIns="0" rIns="0" tIns="0" bIns="0">
            <a:spAutoFit/>
          </a:bodyPr>
          <a:lstStyle/>
          <a:p>
            <a:pPr algn="l">
              <a:lnSpc>
                <a:spcPct val="106000"/>
              </a:lnSpc>
              <a:spcBef>
                <a:spcPts val="0"/>
              </a:spcBef>
              <a:spcAft>
                <a:spcPts val="0"/>
              </a:spcAft>
            </a:pPr>
            <a:r>
              <a:rPr sz="1200" b="0">
                <a:solidFill>
                  <a:srgbClr val="1A1A1A"/>
                </a:solidFill>
                <a:latin typeface="Red Hat Text"/>
              </a:rPr>
              <a:t>Every guessing minute is a minute the outage runs</a:t>
            </a:r>
          </a:p>
        </p:txBody>
      </p:sp>
      <p:sp>
        <p:nvSpPr>
          <p:cNvPr id="16" name="Rounded Rectangle 15"/>
          <p:cNvSpPr/>
          <p:nvPr/>
        </p:nvSpPr>
        <p:spPr>
          <a:xfrm>
            <a:off x="841248" y="4480560"/>
            <a:ext cx="5715000" cy="530352"/>
          </a:xfrm>
          <a:prstGeom prst="roundRect">
            <a:avLst>
              <a:gd name="adj" fmla="val 6000"/>
            </a:avLst>
          </a:prstGeom>
          <a:solidFill>
            <a:srgbClr val="F5F6F8"/>
          </a:solidFill>
          <a:ln w="12700">
            <a:solidFill>
              <a:srgbClr val="DDE1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7" name="Picture 16" descr="check_steel.png"/>
          <p:cNvPicPr>
            <a:picLocks noChangeAspect="1"/>
          </p:cNvPicPr>
          <p:nvPr/>
        </p:nvPicPr>
        <p:blipFill>
          <a:blip r:embed="rId3"/>
          <a:stretch>
            <a:fillRect/>
          </a:stretch>
        </p:blipFill>
        <p:spPr>
          <a:xfrm>
            <a:off x="987552" y="4626864"/>
            <a:ext cx="237744" cy="237744"/>
          </a:xfrm>
          <a:prstGeom prst="rect">
            <a:avLst/>
          </a:prstGeom>
        </p:spPr>
      </p:pic>
      <p:sp>
        <p:nvSpPr>
          <p:cNvPr id="18" name="TextBox 17"/>
          <p:cNvSpPr txBox="1"/>
          <p:nvPr/>
        </p:nvSpPr>
        <p:spPr>
          <a:xfrm>
            <a:off x="1353312" y="4480560"/>
            <a:ext cx="5029200" cy="530352"/>
          </a:xfrm>
          <a:prstGeom prst="rect">
            <a:avLst/>
          </a:prstGeom>
          <a:noFill/>
        </p:spPr>
        <p:txBody>
          <a:bodyPr wrap="square" anchor="ctr" lIns="0" rIns="0" tIns="0" bIns="0">
            <a:spAutoFit/>
          </a:bodyPr>
          <a:lstStyle/>
          <a:p>
            <a:pPr algn="l">
              <a:lnSpc>
                <a:spcPct val="106000"/>
              </a:lnSpc>
              <a:spcBef>
                <a:spcPts val="0"/>
              </a:spcBef>
              <a:spcAft>
                <a:spcPts val="0"/>
              </a:spcAft>
            </a:pPr>
            <a:r>
              <a:rPr sz="1200" b="0">
                <a:solidFill>
                  <a:srgbClr val="1A1A1A"/>
                </a:solidFill>
                <a:latin typeface="Red Hat Text"/>
              </a:rPr>
              <a:t>Observability = "something's wrong" → "here's the failing request" in seconds</a:t>
            </a:r>
          </a:p>
        </p:txBody>
      </p:sp>
      <p:sp>
        <p:nvSpPr>
          <p:cNvPr id="19" name="Rounded Rectangle 18"/>
          <p:cNvSpPr/>
          <p:nvPr/>
        </p:nvSpPr>
        <p:spPr>
          <a:xfrm>
            <a:off x="841248" y="5084064"/>
            <a:ext cx="5715000" cy="530352"/>
          </a:xfrm>
          <a:prstGeom prst="roundRect">
            <a:avLst>
              <a:gd name="adj" fmla="val 6000"/>
            </a:avLst>
          </a:prstGeom>
          <a:solidFill>
            <a:srgbClr val="F5F6F8"/>
          </a:solidFill>
          <a:ln w="12700">
            <a:solidFill>
              <a:srgbClr val="DDE1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0" name="Picture 19" descr="check_steel.png"/>
          <p:cNvPicPr>
            <a:picLocks noChangeAspect="1"/>
          </p:cNvPicPr>
          <p:nvPr/>
        </p:nvPicPr>
        <p:blipFill>
          <a:blip r:embed="rId3"/>
          <a:stretch>
            <a:fillRect/>
          </a:stretch>
        </p:blipFill>
        <p:spPr>
          <a:xfrm>
            <a:off x="987552" y="5230368"/>
            <a:ext cx="237744" cy="237744"/>
          </a:xfrm>
          <a:prstGeom prst="rect">
            <a:avLst/>
          </a:prstGeom>
        </p:spPr>
      </p:pic>
      <p:sp>
        <p:nvSpPr>
          <p:cNvPr id="21" name="TextBox 20"/>
          <p:cNvSpPr txBox="1"/>
          <p:nvPr/>
        </p:nvSpPr>
        <p:spPr>
          <a:xfrm>
            <a:off x="1353312" y="5084064"/>
            <a:ext cx="5029200" cy="530352"/>
          </a:xfrm>
          <a:prstGeom prst="rect">
            <a:avLst/>
          </a:prstGeom>
          <a:noFill/>
        </p:spPr>
        <p:txBody>
          <a:bodyPr wrap="square" anchor="ctr" lIns="0" rIns="0" tIns="0" bIns="0">
            <a:spAutoFit/>
          </a:bodyPr>
          <a:lstStyle/>
          <a:p>
            <a:pPr algn="l">
              <a:lnSpc>
                <a:spcPct val="106000"/>
              </a:lnSpc>
              <a:spcBef>
                <a:spcPts val="0"/>
              </a:spcBef>
              <a:spcAft>
                <a:spcPts val="0"/>
              </a:spcAft>
            </a:pPr>
            <a:r>
              <a:rPr sz="1200" b="0">
                <a:solidFill>
                  <a:srgbClr val="1A1A1A"/>
                </a:solidFill>
                <a:latin typeface="Red Hat Text"/>
              </a:rPr>
              <a:t>Health &amp; scale = ride out the load and maintenance that cause half the pages</a:t>
            </a:r>
          </a:p>
        </p:txBody>
      </p:sp>
      <p:sp>
        <p:nvSpPr>
          <p:cNvPr id="22" name="Rounded Rectangle 21"/>
          <p:cNvSpPr/>
          <p:nvPr/>
        </p:nvSpPr>
        <p:spPr>
          <a:xfrm>
            <a:off x="6812280" y="2670048"/>
            <a:ext cx="4538167" cy="2944368"/>
          </a:xfrm>
          <a:prstGeom prst="roundRect">
            <a:avLst>
              <a:gd name="adj" fmla="val 4000"/>
            </a:avLst>
          </a:prstGeom>
          <a:solidFill>
            <a:srgbClr val="FFFFFF"/>
          </a:solidFill>
          <a:ln w="15240">
            <a:solidFill>
              <a:srgbClr val="DDE1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ounded Rectangle 22"/>
          <p:cNvSpPr/>
          <p:nvPr/>
        </p:nvSpPr>
        <p:spPr>
          <a:xfrm>
            <a:off x="7013448" y="2871216"/>
            <a:ext cx="1298448" cy="310896"/>
          </a:xfrm>
          <a:prstGeom prst="roundRect">
            <a:avLst>
              <a:gd name="adj" fmla="val 50000"/>
            </a:avLst>
          </a:prstGeom>
          <a:solidFill>
            <a:srgbClr val="FCEC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7013448" y="2871216"/>
            <a:ext cx="1298448" cy="310896"/>
          </a:xfrm>
          <a:prstGeom prst="rect">
            <a:avLst/>
          </a:prstGeom>
          <a:noFill/>
        </p:spPr>
        <p:txBody>
          <a:bodyPr wrap="none" anchor="ctr" lIns="0" rIns="0" tIns="0" bIns="0">
            <a:spAutoFit/>
          </a:bodyPr>
          <a:lstStyle/>
          <a:p>
            <a:pPr algn="ctr">
              <a:lnSpc>
                <a:spcPct val="106000"/>
              </a:lnSpc>
              <a:spcBef>
                <a:spcPts val="0"/>
              </a:spcBef>
              <a:spcAft>
                <a:spcPts val="0"/>
              </a:spcAft>
            </a:pPr>
            <a:r>
              <a:rPr sz="850" b="1">
                <a:solidFill>
                  <a:srgbClr val="B80000"/>
                </a:solidFill>
                <a:latin typeface="Red Hat Display"/>
              </a:rPr>
              <a:t>MEDIA PASS</a:t>
            </a:r>
          </a:p>
        </p:txBody>
      </p:sp>
      <p:pic>
        <p:nvPicPr>
          <p:cNvPr id="25" name="Picture 24" descr="eye_slate.png"/>
          <p:cNvPicPr>
            <a:picLocks noChangeAspect="1"/>
          </p:cNvPicPr>
          <p:nvPr/>
        </p:nvPicPr>
        <p:blipFill>
          <a:blip r:embed="rId4"/>
          <a:stretch>
            <a:fillRect/>
          </a:stretch>
        </p:blipFill>
        <p:spPr>
          <a:xfrm>
            <a:off x="8843619" y="3383280"/>
            <a:ext cx="475488" cy="475488"/>
          </a:xfrm>
          <a:prstGeom prst="rect">
            <a:avLst/>
          </a:prstGeom>
        </p:spPr>
      </p:pic>
      <p:sp>
        <p:nvSpPr>
          <p:cNvPr id="26" name="TextBox 25"/>
          <p:cNvSpPr txBox="1"/>
          <p:nvPr/>
        </p:nvSpPr>
        <p:spPr>
          <a:xfrm>
            <a:off x="7050024" y="3995928"/>
            <a:ext cx="4062679" cy="1481328"/>
          </a:xfrm>
          <a:prstGeom prst="rect">
            <a:avLst/>
          </a:prstGeom>
          <a:noFill/>
        </p:spPr>
        <p:txBody>
          <a:bodyPr wrap="square" anchor="t" lIns="0" rIns="0" tIns="0" bIns="0">
            <a:spAutoFit/>
          </a:bodyPr>
          <a:lstStyle/>
          <a:p>
            <a:pPr algn="l">
              <a:lnSpc>
                <a:spcPct val="120000"/>
              </a:lnSpc>
              <a:spcBef>
                <a:spcPts val="0"/>
              </a:spcBef>
              <a:spcAft>
                <a:spcPts val="0"/>
              </a:spcAft>
            </a:pPr>
            <a:r>
              <a:rPr sz="950" b="0">
                <a:solidFill>
                  <a:srgbClr val="8A9099"/>
                </a:solidFill>
                <a:latin typeface="Red Hat Text"/>
              </a:rPr>
              <a:t>A dark red "claims API" tile with a question mark; a clock at 02:00; three faint signal icons (metric line, log line, trace waterfall) waiting to be switched on.</a:t>
            </a:r>
          </a:p>
        </p:txBody>
      </p:sp>
      <p:cxnSp>
        <p:nvCxnSpPr>
          <p:cNvPr id="27" name="Connector 26"/>
          <p:cNvCxnSpPr/>
          <p:nvPr/>
        </p:nvCxnSpPr>
        <p:spPr>
          <a:xfrm>
            <a:off x="841248" y="6437376"/>
            <a:ext cx="10509199" cy="0"/>
          </a:xfrm>
          <a:prstGeom prst="bentConnector3">
            <a:avLst/>
          </a:prstGeom>
          <a:ln w="12700">
            <a:solidFill>
              <a:srgbClr val="DDE1E6"/>
            </a:solidFill>
          </a:ln>
          <a:effectLst/>
        </p:spPr>
        <p:style>
          <a:lnRef idx="2">
            <a:schemeClr val="accent1"/>
          </a:lnRef>
          <a:fillRef idx="0">
            <a:schemeClr val="accent1"/>
          </a:fillRef>
          <a:effectRef idx="1">
            <a:schemeClr val="accent1"/>
          </a:effectRef>
          <a:fontRef idx="minor">
            <a:schemeClr val="tx1"/>
          </a:fontRef>
        </p:style>
      </p:cxnSp>
      <p:sp>
        <p:nvSpPr>
          <p:cNvPr id="28" name="TextBox 27"/>
          <p:cNvSpPr txBox="1"/>
          <p:nvPr/>
        </p:nvSpPr>
        <p:spPr>
          <a:xfrm>
            <a:off x="841248" y="6473952"/>
            <a:ext cx="7315200" cy="274320"/>
          </a:xfrm>
          <a:prstGeom prst="rect">
            <a:avLst/>
          </a:prstGeom>
          <a:noFill/>
        </p:spPr>
        <p:txBody>
          <a:bodyPr wrap="square" anchor="t" lIns="0" rIns="0" tIns="0" bIns="0">
            <a:spAutoFit/>
          </a:bodyPr>
          <a:lstStyle/>
          <a:p>
            <a:pPr algn="l">
              <a:lnSpc>
                <a:spcPct val="106000"/>
              </a:lnSpc>
              <a:spcBef>
                <a:spcPts val="0"/>
              </a:spcBef>
              <a:spcAft>
                <a:spcPts val="0"/>
              </a:spcAft>
            </a:pPr>
            <a:r>
              <a:rPr sz="950" b="0">
                <a:solidFill>
                  <a:srgbClr val="8A9099"/>
                </a:solidFill>
                <a:latin typeface="Red Hat Text"/>
              </a:rPr>
              <a:t>CONFIDENTIAL</a:t>
            </a:r>
          </a:p>
        </p:txBody>
      </p:sp>
      <p:sp>
        <p:nvSpPr>
          <p:cNvPr id="29" name="TextBox 28"/>
          <p:cNvSpPr txBox="1"/>
          <p:nvPr/>
        </p:nvSpPr>
        <p:spPr>
          <a:xfrm>
            <a:off x="10801807" y="6473952"/>
            <a:ext cx="548640" cy="274320"/>
          </a:xfrm>
          <a:prstGeom prst="rect">
            <a:avLst/>
          </a:prstGeom>
          <a:noFill/>
        </p:spPr>
        <p:txBody>
          <a:bodyPr wrap="square" anchor="t" lIns="0" rIns="0" tIns="0" bIns="0">
            <a:spAutoFit/>
          </a:bodyPr>
          <a:lstStyle/>
          <a:p>
            <a:pPr algn="r">
              <a:lnSpc>
                <a:spcPct val="106000"/>
              </a:lnSpc>
              <a:spcBef>
                <a:spcPts val="0"/>
              </a:spcBef>
              <a:spcAft>
                <a:spcPts val="0"/>
              </a:spcAft>
            </a:pPr>
            <a:r>
              <a:rPr sz="950" b="0">
                <a:solidFill>
                  <a:srgbClr val="8A9099"/>
                </a:solidFill>
                <a:latin typeface="Red Hat Text"/>
              </a:rPr>
              <a:t>88</a:t>
            </a:r>
          </a:p>
        </p:txBody>
      </p:sp>
    </p:spTree>
  </p:cSld>
  <p:clrMapOvr>
    <a:masterClrMapping/>
  </p:clrMapOvr>
</p:sld>
</file>

<file path=ppt/slides/slide10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redhat_logo.jpg"/>
          <p:cNvPicPr>
            <a:picLocks noChangeAspect="1"/>
          </p:cNvPicPr>
          <p:nvPr/>
        </p:nvPicPr>
        <p:blipFill>
          <a:blip r:embed="rId2"/>
          <a:stretch>
            <a:fillRect/>
          </a:stretch>
        </p:blipFill>
        <p:spPr>
          <a:xfrm>
            <a:off x="10326319" y="475488"/>
            <a:ext cx="1024128" cy="242248"/>
          </a:xfrm>
          <a:prstGeom prst="rect">
            <a:avLst/>
          </a:prstGeom>
        </p:spPr>
      </p:pic>
      <p:sp>
        <p:nvSpPr>
          <p:cNvPr id="3" name="TextBox 2"/>
          <p:cNvSpPr txBox="1"/>
          <p:nvPr/>
        </p:nvSpPr>
        <p:spPr>
          <a:xfrm>
            <a:off x="841248" y="548640"/>
            <a:ext cx="8595360" cy="274320"/>
          </a:xfrm>
          <a:prstGeom prst="rect">
            <a:avLst/>
          </a:prstGeom>
          <a:noFill/>
        </p:spPr>
        <p:txBody>
          <a:bodyPr wrap="square" anchor="t" lIns="0" rIns="0" tIns="0" bIns="0">
            <a:spAutoFit/>
          </a:bodyPr>
          <a:lstStyle/>
          <a:p>
            <a:pPr algn="l">
              <a:lnSpc>
                <a:spcPct val="106000"/>
              </a:lnSpc>
              <a:spcBef>
                <a:spcPts val="0"/>
              </a:spcBef>
              <a:spcAft>
                <a:spcPts val="0"/>
              </a:spcAft>
            </a:pPr>
            <a:r>
              <a:rPr sz="1250" b="1" spc="220">
                <a:solidFill>
                  <a:srgbClr val="EE0000"/>
                </a:solidFill>
                <a:latin typeface="Red Hat Display"/>
              </a:rPr>
              <a:t>M13 · OBSERVABILITY, HEALTH &amp; SCALE</a:t>
            </a:r>
          </a:p>
        </p:txBody>
      </p:sp>
      <p:sp>
        <p:nvSpPr>
          <p:cNvPr id="4" name="TextBox 3"/>
          <p:cNvSpPr txBox="1"/>
          <p:nvPr/>
        </p:nvSpPr>
        <p:spPr>
          <a:xfrm>
            <a:off x="841248" y="877824"/>
            <a:ext cx="10515600" cy="548640"/>
          </a:xfrm>
          <a:prstGeom prst="rect">
            <a:avLst/>
          </a:prstGeom>
          <a:noFill/>
        </p:spPr>
        <p:txBody>
          <a:bodyPr wrap="none" anchor="t" lIns="0" rIns="0" tIns="0" bIns="0">
            <a:spAutoFit/>
          </a:bodyPr>
          <a:lstStyle/>
          <a:p>
            <a:pPr algn="l">
              <a:lnSpc>
                <a:spcPct val="100000"/>
              </a:lnSpc>
              <a:spcBef>
                <a:spcPts val="0"/>
              </a:spcBef>
              <a:spcAft>
                <a:spcPts val="0"/>
              </a:spcAft>
            </a:pPr>
            <a:r>
              <a:rPr sz="2500" b="1">
                <a:solidFill>
                  <a:srgbClr val="1A1A1A"/>
                </a:solidFill>
                <a:latin typeface="Red Hat Display"/>
              </a:rPr>
              <a:t>Three signals in five minutes</a:t>
            </a:r>
          </a:p>
        </p:txBody>
      </p:sp>
      <p:cxnSp>
        <p:nvCxnSpPr>
          <p:cNvPr id="5" name="Connector 4"/>
          <p:cNvCxnSpPr/>
          <p:nvPr/>
        </p:nvCxnSpPr>
        <p:spPr>
          <a:xfrm>
            <a:off x="841248" y="1554480"/>
            <a:ext cx="1371600" cy="0"/>
          </a:xfrm>
          <a:prstGeom prst="bentConnector3">
            <a:avLst/>
          </a:prstGeom>
          <a:ln w="31750">
            <a:solidFill>
              <a:srgbClr val="EE0000"/>
            </a:solidFill>
          </a:ln>
          <a:effectLst/>
        </p:spPr>
        <p:style>
          <a:lnRef idx="2">
            <a:schemeClr val="accent1"/>
          </a:lnRef>
          <a:fillRef idx="0">
            <a:schemeClr val="accent1"/>
          </a:fillRef>
          <a:effectRef idx="1">
            <a:schemeClr val="accent1"/>
          </a:effectRef>
          <a:fontRef idx="minor">
            <a:schemeClr val="tx1"/>
          </a:fontRef>
        </p:style>
      </p:cxnSp>
      <p:sp>
        <p:nvSpPr>
          <p:cNvPr id="6" name="Rounded Rectangle 5"/>
          <p:cNvSpPr/>
          <p:nvPr/>
        </p:nvSpPr>
        <p:spPr>
          <a:xfrm>
            <a:off x="841248" y="2395728"/>
            <a:ext cx="5715000" cy="530352"/>
          </a:xfrm>
          <a:prstGeom prst="roundRect">
            <a:avLst>
              <a:gd name="adj" fmla="val 6000"/>
            </a:avLst>
          </a:prstGeom>
          <a:solidFill>
            <a:srgbClr val="F5F6F8"/>
          </a:solidFill>
          <a:ln w="12700">
            <a:solidFill>
              <a:srgbClr val="DDE1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check_steel.png"/>
          <p:cNvPicPr>
            <a:picLocks noChangeAspect="1"/>
          </p:cNvPicPr>
          <p:nvPr/>
        </p:nvPicPr>
        <p:blipFill>
          <a:blip r:embed="rId3"/>
          <a:stretch>
            <a:fillRect/>
          </a:stretch>
        </p:blipFill>
        <p:spPr>
          <a:xfrm>
            <a:off x="987552" y="2542032"/>
            <a:ext cx="237744" cy="237744"/>
          </a:xfrm>
          <a:prstGeom prst="rect">
            <a:avLst/>
          </a:prstGeom>
        </p:spPr>
      </p:pic>
      <p:sp>
        <p:nvSpPr>
          <p:cNvPr id="8" name="TextBox 7"/>
          <p:cNvSpPr txBox="1"/>
          <p:nvPr/>
        </p:nvSpPr>
        <p:spPr>
          <a:xfrm>
            <a:off x="1353312" y="2395728"/>
            <a:ext cx="5029200" cy="530352"/>
          </a:xfrm>
          <a:prstGeom prst="rect">
            <a:avLst/>
          </a:prstGeom>
          <a:noFill/>
        </p:spPr>
        <p:txBody>
          <a:bodyPr wrap="square" anchor="ctr" lIns="0" rIns="0" tIns="0" bIns="0">
            <a:spAutoFit/>
          </a:bodyPr>
          <a:lstStyle/>
          <a:p>
            <a:pPr algn="l">
              <a:lnSpc>
                <a:spcPct val="106000"/>
              </a:lnSpc>
              <a:spcBef>
                <a:spcPts val="0"/>
              </a:spcBef>
              <a:spcAft>
                <a:spcPts val="0"/>
              </a:spcAft>
            </a:pPr>
            <a:r>
              <a:rPr sz="1200" b="0">
                <a:solidFill>
                  <a:srgbClr val="1A1A1A"/>
                </a:solidFill>
                <a:latin typeface="Red Hat Text"/>
              </a:rPr>
              <a:t>**Metrics** — how much / how fast / how bad? Cheap, always-on, *alertable*</a:t>
            </a:r>
          </a:p>
        </p:txBody>
      </p:sp>
      <p:sp>
        <p:nvSpPr>
          <p:cNvPr id="9" name="Rounded Rectangle 8"/>
          <p:cNvSpPr/>
          <p:nvPr/>
        </p:nvSpPr>
        <p:spPr>
          <a:xfrm>
            <a:off x="841248" y="2999232"/>
            <a:ext cx="5715000" cy="530352"/>
          </a:xfrm>
          <a:prstGeom prst="roundRect">
            <a:avLst>
              <a:gd name="adj" fmla="val 6000"/>
            </a:avLst>
          </a:prstGeom>
          <a:solidFill>
            <a:srgbClr val="F5F6F8"/>
          </a:solidFill>
          <a:ln w="12700">
            <a:solidFill>
              <a:srgbClr val="DDE1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0" name="Picture 9" descr="check_steel.png"/>
          <p:cNvPicPr>
            <a:picLocks noChangeAspect="1"/>
          </p:cNvPicPr>
          <p:nvPr/>
        </p:nvPicPr>
        <p:blipFill>
          <a:blip r:embed="rId3"/>
          <a:stretch>
            <a:fillRect/>
          </a:stretch>
        </p:blipFill>
        <p:spPr>
          <a:xfrm>
            <a:off x="987552" y="3145536"/>
            <a:ext cx="237744" cy="237744"/>
          </a:xfrm>
          <a:prstGeom prst="rect">
            <a:avLst/>
          </a:prstGeom>
        </p:spPr>
      </p:pic>
      <p:sp>
        <p:nvSpPr>
          <p:cNvPr id="11" name="TextBox 10"/>
          <p:cNvSpPr txBox="1"/>
          <p:nvPr/>
        </p:nvSpPr>
        <p:spPr>
          <a:xfrm>
            <a:off x="1353312" y="2999232"/>
            <a:ext cx="5029200" cy="530352"/>
          </a:xfrm>
          <a:prstGeom prst="rect">
            <a:avLst/>
          </a:prstGeom>
          <a:noFill/>
        </p:spPr>
        <p:txBody>
          <a:bodyPr wrap="square" anchor="ctr" lIns="0" rIns="0" tIns="0" bIns="0">
            <a:spAutoFit/>
          </a:bodyPr>
          <a:lstStyle/>
          <a:p>
            <a:pPr algn="l">
              <a:lnSpc>
                <a:spcPct val="106000"/>
              </a:lnSpc>
              <a:spcBef>
                <a:spcPts val="0"/>
              </a:spcBef>
              <a:spcAft>
                <a:spcPts val="0"/>
              </a:spcAft>
            </a:pPr>
            <a:r>
              <a:rPr sz="1200" b="0">
                <a:solidFill>
                  <a:srgbClr val="1A1A1A"/>
                </a:solidFill>
                <a:latin typeface="Red Hat Text"/>
              </a:rPr>
              <a:t>**Logs** — what exactly happened? Rich detail, one event, noisy at scale</a:t>
            </a:r>
          </a:p>
        </p:txBody>
      </p:sp>
      <p:sp>
        <p:nvSpPr>
          <p:cNvPr id="12" name="Rounded Rectangle 11"/>
          <p:cNvSpPr/>
          <p:nvPr/>
        </p:nvSpPr>
        <p:spPr>
          <a:xfrm>
            <a:off x="841248" y="3602736"/>
            <a:ext cx="5715000" cy="530352"/>
          </a:xfrm>
          <a:prstGeom prst="roundRect">
            <a:avLst>
              <a:gd name="adj" fmla="val 6000"/>
            </a:avLst>
          </a:prstGeom>
          <a:solidFill>
            <a:srgbClr val="F5F6F8"/>
          </a:solidFill>
          <a:ln w="12700">
            <a:solidFill>
              <a:srgbClr val="DDE1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3" name="Picture 12" descr="check_steel.png"/>
          <p:cNvPicPr>
            <a:picLocks noChangeAspect="1"/>
          </p:cNvPicPr>
          <p:nvPr/>
        </p:nvPicPr>
        <p:blipFill>
          <a:blip r:embed="rId3"/>
          <a:stretch>
            <a:fillRect/>
          </a:stretch>
        </p:blipFill>
        <p:spPr>
          <a:xfrm>
            <a:off x="987552" y="3749040"/>
            <a:ext cx="237744" cy="237744"/>
          </a:xfrm>
          <a:prstGeom prst="rect">
            <a:avLst/>
          </a:prstGeom>
        </p:spPr>
      </p:pic>
      <p:sp>
        <p:nvSpPr>
          <p:cNvPr id="14" name="TextBox 13"/>
          <p:cNvSpPr txBox="1"/>
          <p:nvPr/>
        </p:nvSpPr>
        <p:spPr>
          <a:xfrm>
            <a:off x="1353312" y="3602736"/>
            <a:ext cx="5029200" cy="530352"/>
          </a:xfrm>
          <a:prstGeom prst="rect">
            <a:avLst/>
          </a:prstGeom>
          <a:noFill/>
        </p:spPr>
        <p:txBody>
          <a:bodyPr wrap="square" anchor="ctr" lIns="0" rIns="0" tIns="0" bIns="0">
            <a:spAutoFit/>
          </a:bodyPr>
          <a:lstStyle/>
          <a:p>
            <a:pPr algn="l">
              <a:lnSpc>
                <a:spcPct val="106000"/>
              </a:lnSpc>
              <a:spcBef>
                <a:spcPts val="0"/>
              </a:spcBef>
              <a:spcAft>
                <a:spcPts val="0"/>
              </a:spcAft>
            </a:pPr>
            <a:r>
              <a:rPr sz="1200" b="0">
                <a:solidFill>
                  <a:srgbClr val="1A1A1A"/>
                </a:solidFill>
                <a:latin typeface="Red Hat Text"/>
              </a:rPr>
              <a:t>**Traces** — where did the time go? One request across services</a:t>
            </a:r>
          </a:p>
        </p:txBody>
      </p:sp>
      <p:sp>
        <p:nvSpPr>
          <p:cNvPr id="15" name="Rounded Rectangle 14"/>
          <p:cNvSpPr/>
          <p:nvPr/>
        </p:nvSpPr>
        <p:spPr>
          <a:xfrm>
            <a:off x="841248" y="4206240"/>
            <a:ext cx="5715000" cy="530352"/>
          </a:xfrm>
          <a:prstGeom prst="roundRect">
            <a:avLst>
              <a:gd name="adj" fmla="val 6000"/>
            </a:avLst>
          </a:prstGeom>
          <a:solidFill>
            <a:srgbClr val="F5F6F8"/>
          </a:solidFill>
          <a:ln w="12700">
            <a:solidFill>
              <a:srgbClr val="DDE1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6" name="Picture 15" descr="check_steel.png"/>
          <p:cNvPicPr>
            <a:picLocks noChangeAspect="1"/>
          </p:cNvPicPr>
          <p:nvPr/>
        </p:nvPicPr>
        <p:blipFill>
          <a:blip r:embed="rId3"/>
          <a:stretch>
            <a:fillRect/>
          </a:stretch>
        </p:blipFill>
        <p:spPr>
          <a:xfrm>
            <a:off x="987552" y="4352544"/>
            <a:ext cx="237744" cy="237744"/>
          </a:xfrm>
          <a:prstGeom prst="rect">
            <a:avLst/>
          </a:prstGeom>
        </p:spPr>
      </p:pic>
      <p:sp>
        <p:nvSpPr>
          <p:cNvPr id="17" name="TextBox 16"/>
          <p:cNvSpPr txBox="1"/>
          <p:nvPr/>
        </p:nvSpPr>
        <p:spPr>
          <a:xfrm>
            <a:off x="1353312" y="4206240"/>
            <a:ext cx="5029200" cy="530352"/>
          </a:xfrm>
          <a:prstGeom prst="rect">
            <a:avLst/>
          </a:prstGeom>
          <a:noFill/>
        </p:spPr>
        <p:txBody>
          <a:bodyPr wrap="square" anchor="ctr" lIns="0" rIns="0" tIns="0" bIns="0">
            <a:spAutoFit/>
          </a:bodyPr>
          <a:lstStyle/>
          <a:p>
            <a:pPr algn="l">
              <a:lnSpc>
                <a:spcPct val="106000"/>
              </a:lnSpc>
              <a:spcBef>
                <a:spcPts val="0"/>
              </a:spcBef>
              <a:spcAft>
                <a:spcPts val="0"/>
              </a:spcAft>
            </a:pPr>
            <a:r>
              <a:rPr sz="1200" b="0">
                <a:solidFill>
                  <a:srgbClr val="1A1A1A"/>
                </a:solidFill>
                <a:latin typeface="Red Hat Text"/>
              </a:rPr>
              <a:t>You need all three: none answers the others' questions well</a:t>
            </a:r>
          </a:p>
        </p:txBody>
      </p:sp>
      <p:sp>
        <p:nvSpPr>
          <p:cNvPr id="18" name="Rounded Rectangle 17"/>
          <p:cNvSpPr/>
          <p:nvPr/>
        </p:nvSpPr>
        <p:spPr>
          <a:xfrm>
            <a:off x="841248" y="4809744"/>
            <a:ext cx="5715000" cy="530352"/>
          </a:xfrm>
          <a:prstGeom prst="roundRect">
            <a:avLst>
              <a:gd name="adj" fmla="val 6000"/>
            </a:avLst>
          </a:prstGeom>
          <a:solidFill>
            <a:srgbClr val="F5F6F8"/>
          </a:solidFill>
          <a:ln w="12700">
            <a:solidFill>
              <a:srgbClr val="DDE1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9" name="Picture 18" descr="check_steel.png"/>
          <p:cNvPicPr>
            <a:picLocks noChangeAspect="1"/>
          </p:cNvPicPr>
          <p:nvPr/>
        </p:nvPicPr>
        <p:blipFill>
          <a:blip r:embed="rId3"/>
          <a:stretch>
            <a:fillRect/>
          </a:stretch>
        </p:blipFill>
        <p:spPr>
          <a:xfrm>
            <a:off x="987552" y="4956048"/>
            <a:ext cx="237744" cy="237744"/>
          </a:xfrm>
          <a:prstGeom prst="rect">
            <a:avLst/>
          </a:prstGeom>
        </p:spPr>
      </p:pic>
      <p:sp>
        <p:nvSpPr>
          <p:cNvPr id="20" name="TextBox 19"/>
          <p:cNvSpPr txBox="1"/>
          <p:nvPr/>
        </p:nvSpPr>
        <p:spPr>
          <a:xfrm>
            <a:off x="1353312" y="4809744"/>
            <a:ext cx="5029200" cy="530352"/>
          </a:xfrm>
          <a:prstGeom prst="rect">
            <a:avLst/>
          </a:prstGeom>
          <a:noFill/>
        </p:spPr>
        <p:txBody>
          <a:bodyPr wrap="square" anchor="ctr" lIns="0" rIns="0" tIns="0" bIns="0">
            <a:spAutoFit/>
          </a:bodyPr>
          <a:lstStyle/>
          <a:p>
            <a:pPr algn="l">
              <a:lnSpc>
                <a:spcPct val="106000"/>
              </a:lnSpc>
              <a:spcBef>
                <a:spcPts val="0"/>
              </a:spcBef>
              <a:spcAft>
                <a:spcPts val="0"/>
              </a:spcAft>
            </a:pPr>
            <a:r>
              <a:rPr sz="1200" b="0">
                <a:solidFill>
                  <a:srgbClr val="1A1A1A"/>
                </a:solidFill>
                <a:latin typeface="Red Hat Text"/>
              </a:rPr>
              <a:t>The discipline: metrics to notice, traces to locate, logs to confirm</a:t>
            </a:r>
          </a:p>
        </p:txBody>
      </p:sp>
      <p:sp>
        <p:nvSpPr>
          <p:cNvPr id="21" name="Rounded Rectangle 20"/>
          <p:cNvSpPr/>
          <p:nvPr/>
        </p:nvSpPr>
        <p:spPr>
          <a:xfrm>
            <a:off x="6812280" y="2395728"/>
            <a:ext cx="4538167" cy="2944368"/>
          </a:xfrm>
          <a:prstGeom prst="roundRect">
            <a:avLst>
              <a:gd name="adj" fmla="val 4000"/>
            </a:avLst>
          </a:prstGeom>
          <a:solidFill>
            <a:srgbClr val="FFFFFF"/>
          </a:solidFill>
          <a:ln w="15240">
            <a:solidFill>
              <a:srgbClr val="DDE1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ounded Rectangle 21"/>
          <p:cNvSpPr/>
          <p:nvPr/>
        </p:nvSpPr>
        <p:spPr>
          <a:xfrm>
            <a:off x="7013448" y="2596896"/>
            <a:ext cx="1298448" cy="310896"/>
          </a:xfrm>
          <a:prstGeom prst="roundRect">
            <a:avLst>
              <a:gd name="adj" fmla="val 50000"/>
            </a:avLst>
          </a:prstGeom>
          <a:solidFill>
            <a:srgbClr val="FCEC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7013448" y="2596896"/>
            <a:ext cx="1298448" cy="310896"/>
          </a:xfrm>
          <a:prstGeom prst="rect">
            <a:avLst/>
          </a:prstGeom>
          <a:noFill/>
        </p:spPr>
        <p:txBody>
          <a:bodyPr wrap="none" anchor="ctr" lIns="0" rIns="0" tIns="0" bIns="0">
            <a:spAutoFit/>
          </a:bodyPr>
          <a:lstStyle/>
          <a:p>
            <a:pPr algn="ctr">
              <a:lnSpc>
                <a:spcPct val="106000"/>
              </a:lnSpc>
              <a:spcBef>
                <a:spcPts val="0"/>
              </a:spcBef>
              <a:spcAft>
                <a:spcPts val="0"/>
              </a:spcAft>
            </a:pPr>
            <a:r>
              <a:rPr sz="850" b="1">
                <a:solidFill>
                  <a:srgbClr val="B80000"/>
                </a:solidFill>
                <a:latin typeface="Red Hat Display"/>
              </a:rPr>
              <a:t>MEDIA PASS</a:t>
            </a:r>
          </a:p>
        </p:txBody>
      </p:sp>
      <p:pic>
        <p:nvPicPr>
          <p:cNvPr id="24" name="Picture 23" descr="eye_slate.png"/>
          <p:cNvPicPr>
            <a:picLocks noChangeAspect="1"/>
          </p:cNvPicPr>
          <p:nvPr/>
        </p:nvPicPr>
        <p:blipFill>
          <a:blip r:embed="rId4"/>
          <a:stretch>
            <a:fillRect/>
          </a:stretch>
        </p:blipFill>
        <p:spPr>
          <a:xfrm>
            <a:off x="8843619" y="3108960"/>
            <a:ext cx="475488" cy="475488"/>
          </a:xfrm>
          <a:prstGeom prst="rect">
            <a:avLst/>
          </a:prstGeom>
        </p:spPr>
      </p:pic>
      <p:sp>
        <p:nvSpPr>
          <p:cNvPr id="25" name="TextBox 24"/>
          <p:cNvSpPr txBox="1"/>
          <p:nvPr/>
        </p:nvSpPr>
        <p:spPr>
          <a:xfrm>
            <a:off x="7050024" y="3721608"/>
            <a:ext cx="4062679" cy="1481328"/>
          </a:xfrm>
          <a:prstGeom prst="rect">
            <a:avLst/>
          </a:prstGeom>
          <a:noFill/>
        </p:spPr>
        <p:txBody>
          <a:bodyPr wrap="square" anchor="t" lIns="0" rIns="0" tIns="0" bIns="0">
            <a:spAutoFit/>
          </a:bodyPr>
          <a:lstStyle/>
          <a:p>
            <a:pPr algn="l">
              <a:lnSpc>
                <a:spcPct val="120000"/>
              </a:lnSpc>
              <a:spcBef>
                <a:spcPts val="0"/>
              </a:spcBef>
              <a:spcAft>
                <a:spcPts val="0"/>
              </a:spcAft>
            </a:pPr>
            <a:r>
              <a:rPr sz="950" b="0">
                <a:solidFill>
                  <a:srgbClr val="8A9099"/>
                </a:solidFill>
                <a:latin typeface="Red Hat Text"/>
              </a:rPr>
              <a:t>Concept diagram observability-health-scale-01-three-signals — request fanning into metrics/logs/traces, each labeled with the question it answers.</a:t>
            </a:r>
          </a:p>
        </p:txBody>
      </p:sp>
      <p:cxnSp>
        <p:nvCxnSpPr>
          <p:cNvPr id="26" name="Connector 25"/>
          <p:cNvCxnSpPr/>
          <p:nvPr/>
        </p:nvCxnSpPr>
        <p:spPr>
          <a:xfrm>
            <a:off x="841248" y="6437376"/>
            <a:ext cx="10509199" cy="0"/>
          </a:xfrm>
          <a:prstGeom prst="bentConnector3">
            <a:avLst/>
          </a:prstGeom>
          <a:ln w="12700">
            <a:solidFill>
              <a:srgbClr val="DDE1E6"/>
            </a:solidFill>
          </a:ln>
          <a:effectLst/>
        </p:spPr>
        <p:style>
          <a:lnRef idx="2">
            <a:schemeClr val="accent1"/>
          </a:lnRef>
          <a:fillRef idx="0">
            <a:schemeClr val="accent1"/>
          </a:fillRef>
          <a:effectRef idx="1">
            <a:schemeClr val="accent1"/>
          </a:effectRef>
          <a:fontRef idx="minor">
            <a:schemeClr val="tx1"/>
          </a:fontRef>
        </p:style>
      </p:cxnSp>
      <p:sp>
        <p:nvSpPr>
          <p:cNvPr id="27" name="TextBox 26"/>
          <p:cNvSpPr txBox="1"/>
          <p:nvPr/>
        </p:nvSpPr>
        <p:spPr>
          <a:xfrm>
            <a:off x="841248" y="6473952"/>
            <a:ext cx="7315200" cy="274320"/>
          </a:xfrm>
          <a:prstGeom prst="rect">
            <a:avLst/>
          </a:prstGeom>
          <a:noFill/>
        </p:spPr>
        <p:txBody>
          <a:bodyPr wrap="square" anchor="t" lIns="0" rIns="0" tIns="0" bIns="0">
            <a:spAutoFit/>
          </a:bodyPr>
          <a:lstStyle/>
          <a:p>
            <a:pPr algn="l">
              <a:lnSpc>
                <a:spcPct val="106000"/>
              </a:lnSpc>
              <a:spcBef>
                <a:spcPts val="0"/>
              </a:spcBef>
              <a:spcAft>
                <a:spcPts val="0"/>
              </a:spcAft>
            </a:pPr>
            <a:r>
              <a:rPr sz="950" b="0">
                <a:solidFill>
                  <a:srgbClr val="8A9099"/>
                </a:solidFill>
                <a:latin typeface="Red Hat Text"/>
              </a:rPr>
              <a:t>CONFIDENTIAL</a:t>
            </a:r>
          </a:p>
        </p:txBody>
      </p:sp>
      <p:sp>
        <p:nvSpPr>
          <p:cNvPr id="28" name="TextBox 27"/>
          <p:cNvSpPr txBox="1"/>
          <p:nvPr/>
        </p:nvSpPr>
        <p:spPr>
          <a:xfrm>
            <a:off x="10801807" y="6473952"/>
            <a:ext cx="548640" cy="274320"/>
          </a:xfrm>
          <a:prstGeom prst="rect">
            <a:avLst/>
          </a:prstGeom>
          <a:noFill/>
        </p:spPr>
        <p:txBody>
          <a:bodyPr wrap="square" anchor="t" lIns="0" rIns="0" tIns="0" bIns="0">
            <a:spAutoFit/>
          </a:bodyPr>
          <a:lstStyle/>
          <a:p>
            <a:pPr algn="r">
              <a:lnSpc>
                <a:spcPct val="106000"/>
              </a:lnSpc>
              <a:spcBef>
                <a:spcPts val="0"/>
              </a:spcBef>
              <a:spcAft>
                <a:spcPts val="0"/>
              </a:spcAft>
            </a:pPr>
            <a:r>
              <a:rPr sz="950" b="0">
                <a:solidFill>
                  <a:srgbClr val="8A9099"/>
                </a:solidFill>
                <a:latin typeface="Red Hat Text"/>
              </a:rPr>
              <a:t>89</a:t>
            </a:r>
          </a:p>
        </p:txBody>
      </p:sp>
    </p:spTree>
  </p:cSld>
  <p:clrMapOvr>
    <a:masterClrMapping/>
  </p:clrMapOvr>
</p:sld>
</file>

<file path=ppt/slides/slide10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redhat_logo.jpg"/>
          <p:cNvPicPr>
            <a:picLocks noChangeAspect="1"/>
          </p:cNvPicPr>
          <p:nvPr/>
        </p:nvPicPr>
        <p:blipFill>
          <a:blip r:embed="rId2"/>
          <a:stretch>
            <a:fillRect/>
          </a:stretch>
        </p:blipFill>
        <p:spPr>
          <a:xfrm>
            <a:off x="10326319" y="475488"/>
            <a:ext cx="1024128" cy="242248"/>
          </a:xfrm>
          <a:prstGeom prst="rect">
            <a:avLst/>
          </a:prstGeom>
        </p:spPr>
      </p:pic>
      <p:sp>
        <p:nvSpPr>
          <p:cNvPr id="3" name="TextBox 2"/>
          <p:cNvSpPr txBox="1"/>
          <p:nvPr/>
        </p:nvSpPr>
        <p:spPr>
          <a:xfrm>
            <a:off x="841248" y="548640"/>
            <a:ext cx="8595360" cy="274320"/>
          </a:xfrm>
          <a:prstGeom prst="rect">
            <a:avLst/>
          </a:prstGeom>
          <a:noFill/>
        </p:spPr>
        <p:txBody>
          <a:bodyPr wrap="square" anchor="t" lIns="0" rIns="0" tIns="0" bIns="0">
            <a:spAutoFit/>
          </a:bodyPr>
          <a:lstStyle/>
          <a:p>
            <a:pPr algn="l">
              <a:lnSpc>
                <a:spcPct val="106000"/>
              </a:lnSpc>
              <a:spcBef>
                <a:spcPts val="0"/>
              </a:spcBef>
              <a:spcAft>
                <a:spcPts val="0"/>
              </a:spcAft>
            </a:pPr>
            <a:r>
              <a:rPr sz="1250" b="1" spc="220">
                <a:solidFill>
                  <a:srgbClr val="EE0000"/>
                </a:solidFill>
                <a:latin typeface="Red Hat Display"/>
              </a:rPr>
              <a:t>M13 · OBSERVABILITY, HEALTH &amp; SCALE</a:t>
            </a:r>
          </a:p>
        </p:txBody>
      </p:sp>
      <p:sp>
        <p:nvSpPr>
          <p:cNvPr id="4" name="TextBox 3"/>
          <p:cNvSpPr txBox="1"/>
          <p:nvPr/>
        </p:nvSpPr>
        <p:spPr>
          <a:xfrm>
            <a:off x="841248" y="877824"/>
            <a:ext cx="10515600" cy="548640"/>
          </a:xfrm>
          <a:prstGeom prst="rect">
            <a:avLst/>
          </a:prstGeom>
          <a:noFill/>
        </p:spPr>
        <p:txBody>
          <a:bodyPr wrap="none" anchor="t" lIns="0" rIns="0" tIns="0" bIns="0">
            <a:spAutoFit/>
          </a:bodyPr>
          <a:lstStyle/>
          <a:p>
            <a:pPr algn="l">
              <a:lnSpc>
                <a:spcPct val="100000"/>
              </a:lnSpc>
              <a:spcBef>
                <a:spcPts val="0"/>
              </a:spcBef>
              <a:spcAft>
                <a:spcPts val="0"/>
              </a:spcAft>
            </a:pPr>
            <a:r>
              <a:rPr sz="2500" b="1">
                <a:solidFill>
                  <a:srgbClr val="1A1A1A"/>
                </a:solidFill>
                <a:latin typeface="Red Hat Display"/>
              </a:rPr>
              <a:t>Observe your app; the platform observes</a:t>
            </a:r>
          </a:p>
        </p:txBody>
      </p:sp>
      <p:cxnSp>
        <p:nvCxnSpPr>
          <p:cNvPr id="5" name="Connector 4"/>
          <p:cNvCxnSpPr/>
          <p:nvPr/>
        </p:nvCxnSpPr>
        <p:spPr>
          <a:xfrm>
            <a:off x="841248" y="1554480"/>
            <a:ext cx="1371600" cy="0"/>
          </a:xfrm>
          <a:prstGeom prst="bentConnector3">
            <a:avLst/>
          </a:prstGeom>
          <a:ln w="31750">
            <a:solidFill>
              <a:srgbClr val="EE0000"/>
            </a:solidFill>
          </a:ln>
          <a:effectLst/>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841248" y="1664208"/>
            <a:ext cx="10515600" cy="365760"/>
          </a:xfrm>
          <a:prstGeom prst="rect">
            <a:avLst/>
          </a:prstGeom>
          <a:noFill/>
        </p:spPr>
        <p:txBody>
          <a:bodyPr wrap="square" anchor="t" lIns="0" rIns="0" tIns="0" bIns="0">
            <a:spAutoFit/>
          </a:bodyPr>
          <a:lstStyle/>
          <a:p>
            <a:pPr algn="l">
              <a:lnSpc>
                <a:spcPct val="106000"/>
              </a:lnSpc>
              <a:spcBef>
                <a:spcPts val="0"/>
              </a:spcBef>
              <a:spcAft>
                <a:spcPts val="0"/>
              </a:spcAft>
            </a:pPr>
            <a:r>
              <a:rPr sz="1350" b="0">
                <a:solidFill>
                  <a:srgbClr val="555960"/>
                </a:solidFill>
                <a:latin typeface="Red Hat Text"/>
              </a:rPr>
              <a:t>itself</a:t>
            </a:r>
          </a:p>
        </p:txBody>
      </p:sp>
      <p:sp>
        <p:nvSpPr>
          <p:cNvPr id="7" name="Rounded Rectangle 6"/>
          <p:cNvSpPr/>
          <p:nvPr/>
        </p:nvSpPr>
        <p:spPr>
          <a:xfrm>
            <a:off x="841248" y="2670048"/>
            <a:ext cx="5715000" cy="530352"/>
          </a:xfrm>
          <a:prstGeom prst="roundRect">
            <a:avLst>
              <a:gd name="adj" fmla="val 6000"/>
            </a:avLst>
          </a:prstGeom>
          <a:solidFill>
            <a:srgbClr val="F5F6F8"/>
          </a:solidFill>
          <a:ln w="12700">
            <a:solidFill>
              <a:srgbClr val="DDE1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check_steel.png"/>
          <p:cNvPicPr>
            <a:picLocks noChangeAspect="1"/>
          </p:cNvPicPr>
          <p:nvPr/>
        </p:nvPicPr>
        <p:blipFill>
          <a:blip r:embed="rId3"/>
          <a:stretch>
            <a:fillRect/>
          </a:stretch>
        </p:blipFill>
        <p:spPr>
          <a:xfrm>
            <a:off x="987552" y="2816352"/>
            <a:ext cx="237744" cy="237744"/>
          </a:xfrm>
          <a:prstGeom prst="rect">
            <a:avLst/>
          </a:prstGeom>
        </p:spPr>
      </p:pic>
      <p:sp>
        <p:nvSpPr>
          <p:cNvPr id="9" name="TextBox 8"/>
          <p:cNvSpPr txBox="1"/>
          <p:nvPr/>
        </p:nvSpPr>
        <p:spPr>
          <a:xfrm>
            <a:off x="1353312" y="2670048"/>
            <a:ext cx="5029200" cy="530352"/>
          </a:xfrm>
          <a:prstGeom prst="rect">
            <a:avLst/>
          </a:prstGeom>
          <a:noFill/>
        </p:spPr>
        <p:txBody>
          <a:bodyPr wrap="square" anchor="ctr" lIns="0" rIns="0" tIns="0" bIns="0">
            <a:spAutoFit/>
          </a:bodyPr>
          <a:lstStyle/>
          <a:p>
            <a:pPr algn="l">
              <a:lnSpc>
                <a:spcPct val="106000"/>
              </a:lnSpc>
              <a:spcBef>
                <a:spcPts val="0"/>
              </a:spcBef>
              <a:spcAft>
                <a:spcPts val="0"/>
              </a:spcAft>
            </a:pPr>
            <a:r>
              <a:rPr sz="1200" b="0">
                <a:solidFill>
                  <a:srgbClr val="1A1A1A"/>
                </a:solidFill>
                <a:latin typeface="Red Hat Text"/>
              </a:rPr>
              <a:t>You don't install a monitoring stack — OpenShift already runs one</a:t>
            </a:r>
          </a:p>
        </p:txBody>
      </p:sp>
      <p:sp>
        <p:nvSpPr>
          <p:cNvPr id="10" name="Rounded Rectangle 9"/>
          <p:cNvSpPr/>
          <p:nvPr/>
        </p:nvSpPr>
        <p:spPr>
          <a:xfrm>
            <a:off x="841248" y="3273552"/>
            <a:ext cx="5715000" cy="530352"/>
          </a:xfrm>
          <a:prstGeom prst="roundRect">
            <a:avLst>
              <a:gd name="adj" fmla="val 6000"/>
            </a:avLst>
          </a:prstGeom>
          <a:solidFill>
            <a:srgbClr val="F5F6F8"/>
          </a:solidFill>
          <a:ln w="12700">
            <a:solidFill>
              <a:srgbClr val="DDE1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1" name="Picture 10" descr="check_steel.png"/>
          <p:cNvPicPr>
            <a:picLocks noChangeAspect="1"/>
          </p:cNvPicPr>
          <p:nvPr/>
        </p:nvPicPr>
        <p:blipFill>
          <a:blip r:embed="rId3"/>
          <a:stretch>
            <a:fillRect/>
          </a:stretch>
        </p:blipFill>
        <p:spPr>
          <a:xfrm>
            <a:off x="987552" y="3419856"/>
            <a:ext cx="237744" cy="237744"/>
          </a:xfrm>
          <a:prstGeom prst="rect">
            <a:avLst/>
          </a:prstGeom>
        </p:spPr>
      </p:pic>
      <p:sp>
        <p:nvSpPr>
          <p:cNvPr id="12" name="TextBox 11"/>
          <p:cNvSpPr txBox="1"/>
          <p:nvPr/>
        </p:nvSpPr>
        <p:spPr>
          <a:xfrm>
            <a:off x="1353312" y="3273552"/>
            <a:ext cx="5029200" cy="530352"/>
          </a:xfrm>
          <a:prstGeom prst="rect">
            <a:avLst/>
          </a:prstGeom>
          <a:noFill/>
        </p:spPr>
        <p:txBody>
          <a:bodyPr wrap="square" anchor="ctr" lIns="0" rIns="0" tIns="0" bIns="0">
            <a:spAutoFit/>
          </a:bodyPr>
          <a:lstStyle/>
          <a:p>
            <a:pPr algn="l">
              <a:lnSpc>
                <a:spcPct val="106000"/>
              </a:lnSpc>
              <a:spcBef>
                <a:spcPts val="0"/>
              </a:spcBef>
              <a:spcAft>
                <a:spcPts val="0"/>
              </a:spcAft>
            </a:pPr>
            <a:r>
              <a:rPr sz="1200" b="0">
                <a:solidFill>
                  <a:srgbClr val="1A1A1A"/>
                </a:solidFill>
                <a:latin typeface="Red Hat Text"/>
              </a:rPr>
              <a:t>User-workload monitoring (Prometheus) is watching the platform now</a:t>
            </a:r>
          </a:p>
        </p:txBody>
      </p:sp>
      <p:sp>
        <p:nvSpPr>
          <p:cNvPr id="13" name="Rounded Rectangle 12"/>
          <p:cNvSpPr/>
          <p:nvPr/>
        </p:nvSpPr>
        <p:spPr>
          <a:xfrm>
            <a:off x="841248" y="3877056"/>
            <a:ext cx="5715000" cy="530352"/>
          </a:xfrm>
          <a:prstGeom prst="roundRect">
            <a:avLst>
              <a:gd name="adj" fmla="val 6000"/>
            </a:avLst>
          </a:prstGeom>
          <a:solidFill>
            <a:srgbClr val="F5F6F8"/>
          </a:solidFill>
          <a:ln w="12700">
            <a:solidFill>
              <a:srgbClr val="DDE1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4" name="Picture 13" descr="check_steel.png"/>
          <p:cNvPicPr>
            <a:picLocks noChangeAspect="1"/>
          </p:cNvPicPr>
          <p:nvPr/>
        </p:nvPicPr>
        <p:blipFill>
          <a:blip r:embed="rId3"/>
          <a:stretch>
            <a:fillRect/>
          </a:stretch>
        </p:blipFill>
        <p:spPr>
          <a:xfrm>
            <a:off x="987552" y="4023360"/>
            <a:ext cx="237744" cy="237744"/>
          </a:xfrm>
          <a:prstGeom prst="rect">
            <a:avLst/>
          </a:prstGeom>
        </p:spPr>
      </p:pic>
      <p:sp>
        <p:nvSpPr>
          <p:cNvPr id="15" name="TextBox 14"/>
          <p:cNvSpPr txBox="1"/>
          <p:nvPr/>
        </p:nvSpPr>
        <p:spPr>
          <a:xfrm>
            <a:off x="1353312" y="3877056"/>
            <a:ext cx="5029200" cy="530352"/>
          </a:xfrm>
          <a:prstGeom prst="rect">
            <a:avLst/>
          </a:prstGeom>
          <a:noFill/>
        </p:spPr>
        <p:txBody>
          <a:bodyPr wrap="square" anchor="ctr" lIns="0" rIns="0" tIns="0" bIns="0">
            <a:spAutoFit/>
          </a:bodyPr>
          <a:lstStyle/>
          <a:p>
            <a:pPr algn="l">
              <a:lnSpc>
                <a:spcPct val="106000"/>
              </a:lnSpc>
              <a:spcBef>
                <a:spcPts val="0"/>
              </a:spcBef>
              <a:spcAft>
                <a:spcPts val="0"/>
              </a:spcAft>
            </a:pPr>
            <a:r>
              <a:rPr sz="1200" b="0">
                <a:solidFill>
                  <a:srgbClr val="1A1A1A"/>
                </a:solidFill>
                <a:latin typeface="Red Hat Text"/>
              </a:rPr>
              <a:t>To add *your* app: a **ServiceMonitor** — "scrape this Service's /q/metrics"</a:t>
            </a:r>
          </a:p>
        </p:txBody>
      </p:sp>
      <p:sp>
        <p:nvSpPr>
          <p:cNvPr id="16" name="Rounded Rectangle 15"/>
          <p:cNvSpPr/>
          <p:nvPr/>
        </p:nvSpPr>
        <p:spPr>
          <a:xfrm>
            <a:off x="841248" y="4480560"/>
            <a:ext cx="5715000" cy="530352"/>
          </a:xfrm>
          <a:prstGeom prst="roundRect">
            <a:avLst>
              <a:gd name="adj" fmla="val 6000"/>
            </a:avLst>
          </a:prstGeom>
          <a:solidFill>
            <a:srgbClr val="F5F6F8"/>
          </a:solidFill>
          <a:ln w="12700">
            <a:solidFill>
              <a:srgbClr val="DDE1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7" name="Picture 16" descr="check_steel.png"/>
          <p:cNvPicPr>
            <a:picLocks noChangeAspect="1"/>
          </p:cNvPicPr>
          <p:nvPr/>
        </p:nvPicPr>
        <p:blipFill>
          <a:blip r:embed="rId3"/>
          <a:stretch>
            <a:fillRect/>
          </a:stretch>
        </p:blipFill>
        <p:spPr>
          <a:xfrm>
            <a:off x="987552" y="4626864"/>
            <a:ext cx="237744" cy="237744"/>
          </a:xfrm>
          <a:prstGeom prst="rect">
            <a:avLst/>
          </a:prstGeom>
        </p:spPr>
      </p:pic>
      <p:sp>
        <p:nvSpPr>
          <p:cNvPr id="18" name="TextBox 17"/>
          <p:cNvSpPr txBox="1"/>
          <p:nvPr/>
        </p:nvSpPr>
        <p:spPr>
          <a:xfrm>
            <a:off x="1353312" y="4480560"/>
            <a:ext cx="5029200" cy="530352"/>
          </a:xfrm>
          <a:prstGeom prst="rect">
            <a:avLst/>
          </a:prstGeom>
          <a:noFill/>
        </p:spPr>
        <p:txBody>
          <a:bodyPr wrap="square" anchor="ctr" lIns="0" rIns="0" tIns="0" bIns="0">
            <a:spAutoFit/>
          </a:bodyPr>
          <a:lstStyle/>
          <a:p>
            <a:pPr algn="l">
              <a:lnSpc>
                <a:spcPct val="106000"/>
              </a:lnSpc>
              <a:spcBef>
                <a:spcPts val="0"/>
              </a:spcBef>
              <a:spcAft>
                <a:spcPts val="0"/>
              </a:spcAft>
            </a:pPr>
            <a:r>
              <a:rPr sz="1200" b="0">
                <a:solidFill>
                  <a:srgbClr val="1A1A1A"/>
                </a:solidFill>
                <a:latin typeface="Red Hat Text"/>
              </a:rPr>
              <a:t>That's the whole integration</a:t>
            </a:r>
          </a:p>
        </p:txBody>
      </p:sp>
      <p:sp>
        <p:nvSpPr>
          <p:cNvPr id="19" name="Rounded Rectangle 18"/>
          <p:cNvSpPr/>
          <p:nvPr/>
        </p:nvSpPr>
        <p:spPr>
          <a:xfrm>
            <a:off x="841248" y="5084064"/>
            <a:ext cx="5715000" cy="530352"/>
          </a:xfrm>
          <a:prstGeom prst="roundRect">
            <a:avLst>
              <a:gd name="adj" fmla="val 6000"/>
            </a:avLst>
          </a:prstGeom>
          <a:solidFill>
            <a:srgbClr val="F5F6F8"/>
          </a:solidFill>
          <a:ln w="12700">
            <a:solidFill>
              <a:srgbClr val="DDE1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0" name="Picture 19" descr="check_steel.png"/>
          <p:cNvPicPr>
            <a:picLocks noChangeAspect="1"/>
          </p:cNvPicPr>
          <p:nvPr/>
        </p:nvPicPr>
        <p:blipFill>
          <a:blip r:embed="rId3"/>
          <a:stretch>
            <a:fillRect/>
          </a:stretch>
        </p:blipFill>
        <p:spPr>
          <a:xfrm>
            <a:off x="987552" y="5230368"/>
            <a:ext cx="237744" cy="237744"/>
          </a:xfrm>
          <a:prstGeom prst="rect">
            <a:avLst/>
          </a:prstGeom>
        </p:spPr>
      </p:pic>
      <p:sp>
        <p:nvSpPr>
          <p:cNvPr id="21" name="TextBox 20"/>
          <p:cNvSpPr txBox="1"/>
          <p:nvPr/>
        </p:nvSpPr>
        <p:spPr>
          <a:xfrm>
            <a:off x="1353312" y="5084064"/>
            <a:ext cx="5029200" cy="530352"/>
          </a:xfrm>
          <a:prstGeom prst="rect">
            <a:avLst/>
          </a:prstGeom>
          <a:noFill/>
        </p:spPr>
        <p:txBody>
          <a:bodyPr wrap="square" anchor="ctr" lIns="0" rIns="0" tIns="0" bIns="0">
            <a:spAutoFit/>
          </a:bodyPr>
          <a:lstStyle/>
          <a:p>
            <a:pPr algn="l">
              <a:lnSpc>
                <a:spcPct val="106000"/>
              </a:lnSpc>
              <a:spcBef>
                <a:spcPts val="0"/>
              </a:spcBef>
              <a:spcAft>
                <a:spcPts val="0"/>
              </a:spcAft>
            </a:pPr>
            <a:r>
              <a:rPr sz="1200" b="0">
                <a:solidFill>
                  <a:srgbClr val="1A1A1A"/>
                </a:solidFill>
                <a:latin typeface="Red Hat Text"/>
              </a:rPr>
              <a:t>The claims app already speaks it: /q/metrics + a custom `claims_created_total`</a:t>
            </a:r>
          </a:p>
        </p:txBody>
      </p:sp>
      <p:sp>
        <p:nvSpPr>
          <p:cNvPr id="22" name="Rounded Rectangle 21"/>
          <p:cNvSpPr/>
          <p:nvPr/>
        </p:nvSpPr>
        <p:spPr>
          <a:xfrm>
            <a:off x="6812280" y="2670048"/>
            <a:ext cx="4538167" cy="2944368"/>
          </a:xfrm>
          <a:prstGeom prst="roundRect">
            <a:avLst>
              <a:gd name="adj" fmla="val 4000"/>
            </a:avLst>
          </a:prstGeom>
          <a:solidFill>
            <a:srgbClr val="FFFFFF"/>
          </a:solidFill>
          <a:ln w="15240">
            <a:solidFill>
              <a:srgbClr val="DDE1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ounded Rectangle 22"/>
          <p:cNvSpPr/>
          <p:nvPr/>
        </p:nvSpPr>
        <p:spPr>
          <a:xfrm>
            <a:off x="7013448" y="2871216"/>
            <a:ext cx="1298448" cy="310896"/>
          </a:xfrm>
          <a:prstGeom prst="roundRect">
            <a:avLst>
              <a:gd name="adj" fmla="val 50000"/>
            </a:avLst>
          </a:prstGeom>
          <a:solidFill>
            <a:srgbClr val="FCEC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7013448" y="2871216"/>
            <a:ext cx="1298448" cy="310896"/>
          </a:xfrm>
          <a:prstGeom prst="rect">
            <a:avLst/>
          </a:prstGeom>
          <a:noFill/>
        </p:spPr>
        <p:txBody>
          <a:bodyPr wrap="none" anchor="ctr" lIns="0" rIns="0" tIns="0" bIns="0">
            <a:spAutoFit/>
          </a:bodyPr>
          <a:lstStyle/>
          <a:p>
            <a:pPr algn="ctr">
              <a:lnSpc>
                <a:spcPct val="106000"/>
              </a:lnSpc>
              <a:spcBef>
                <a:spcPts val="0"/>
              </a:spcBef>
              <a:spcAft>
                <a:spcPts val="0"/>
              </a:spcAft>
            </a:pPr>
            <a:r>
              <a:rPr sz="850" b="1">
                <a:solidFill>
                  <a:srgbClr val="B80000"/>
                </a:solidFill>
                <a:latin typeface="Red Hat Display"/>
              </a:rPr>
              <a:t>MEDIA PASS</a:t>
            </a:r>
          </a:p>
        </p:txBody>
      </p:sp>
      <p:pic>
        <p:nvPicPr>
          <p:cNvPr id="25" name="Picture 24" descr="eye_slate.png"/>
          <p:cNvPicPr>
            <a:picLocks noChangeAspect="1"/>
          </p:cNvPicPr>
          <p:nvPr/>
        </p:nvPicPr>
        <p:blipFill>
          <a:blip r:embed="rId4"/>
          <a:stretch>
            <a:fillRect/>
          </a:stretch>
        </p:blipFill>
        <p:spPr>
          <a:xfrm>
            <a:off x="8843619" y="3383280"/>
            <a:ext cx="475488" cy="475488"/>
          </a:xfrm>
          <a:prstGeom prst="rect">
            <a:avLst/>
          </a:prstGeom>
        </p:spPr>
      </p:pic>
      <p:sp>
        <p:nvSpPr>
          <p:cNvPr id="26" name="TextBox 25"/>
          <p:cNvSpPr txBox="1"/>
          <p:nvPr/>
        </p:nvSpPr>
        <p:spPr>
          <a:xfrm>
            <a:off x="7050024" y="3995928"/>
            <a:ext cx="4062679" cy="1481328"/>
          </a:xfrm>
          <a:prstGeom prst="rect">
            <a:avLst/>
          </a:prstGeom>
          <a:noFill/>
        </p:spPr>
        <p:txBody>
          <a:bodyPr wrap="square" anchor="t" lIns="0" rIns="0" tIns="0" bIns="0">
            <a:spAutoFit/>
          </a:bodyPr>
          <a:lstStyle/>
          <a:p>
            <a:pPr algn="l">
              <a:lnSpc>
                <a:spcPct val="120000"/>
              </a:lnSpc>
              <a:spcBef>
                <a:spcPts val="0"/>
              </a:spcBef>
              <a:spcAft>
                <a:spcPts val="0"/>
              </a:spcAft>
            </a:pPr>
            <a:r>
              <a:rPr sz="950" b="0">
                <a:solidFill>
                  <a:srgbClr val="8A9099"/>
                </a:solidFill>
                <a:latin typeface="Red Hat Text"/>
              </a:rPr>
              <a:t>Concept diagram observability-health-scale-02-servicemonitor-bridge — app /q/metrics → ServiceMonitor → user-workload monitoring → console + your alert.</a:t>
            </a:r>
          </a:p>
        </p:txBody>
      </p:sp>
      <p:cxnSp>
        <p:nvCxnSpPr>
          <p:cNvPr id="27" name="Connector 26"/>
          <p:cNvCxnSpPr/>
          <p:nvPr/>
        </p:nvCxnSpPr>
        <p:spPr>
          <a:xfrm>
            <a:off x="841248" y="6437376"/>
            <a:ext cx="10509199" cy="0"/>
          </a:xfrm>
          <a:prstGeom prst="bentConnector3">
            <a:avLst/>
          </a:prstGeom>
          <a:ln w="12700">
            <a:solidFill>
              <a:srgbClr val="DDE1E6"/>
            </a:solidFill>
          </a:ln>
          <a:effectLst/>
        </p:spPr>
        <p:style>
          <a:lnRef idx="2">
            <a:schemeClr val="accent1"/>
          </a:lnRef>
          <a:fillRef idx="0">
            <a:schemeClr val="accent1"/>
          </a:fillRef>
          <a:effectRef idx="1">
            <a:schemeClr val="accent1"/>
          </a:effectRef>
          <a:fontRef idx="minor">
            <a:schemeClr val="tx1"/>
          </a:fontRef>
        </p:style>
      </p:cxnSp>
      <p:sp>
        <p:nvSpPr>
          <p:cNvPr id="28" name="TextBox 27"/>
          <p:cNvSpPr txBox="1"/>
          <p:nvPr/>
        </p:nvSpPr>
        <p:spPr>
          <a:xfrm>
            <a:off x="841248" y="6473952"/>
            <a:ext cx="7315200" cy="274320"/>
          </a:xfrm>
          <a:prstGeom prst="rect">
            <a:avLst/>
          </a:prstGeom>
          <a:noFill/>
        </p:spPr>
        <p:txBody>
          <a:bodyPr wrap="square" anchor="t" lIns="0" rIns="0" tIns="0" bIns="0">
            <a:spAutoFit/>
          </a:bodyPr>
          <a:lstStyle/>
          <a:p>
            <a:pPr algn="l">
              <a:lnSpc>
                <a:spcPct val="106000"/>
              </a:lnSpc>
              <a:spcBef>
                <a:spcPts val="0"/>
              </a:spcBef>
              <a:spcAft>
                <a:spcPts val="0"/>
              </a:spcAft>
            </a:pPr>
            <a:r>
              <a:rPr sz="950" b="0">
                <a:solidFill>
                  <a:srgbClr val="8A9099"/>
                </a:solidFill>
                <a:latin typeface="Red Hat Text"/>
              </a:rPr>
              <a:t>CONFIDENTIAL</a:t>
            </a:r>
          </a:p>
        </p:txBody>
      </p:sp>
      <p:sp>
        <p:nvSpPr>
          <p:cNvPr id="29" name="TextBox 28"/>
          <p:cNvSpPr txBox="1"/>
          <p:nvPr/>
        </p:nvSpPr>
        <p:spPr>
          <a:xfrm>
            <a:off x="10801807" y="6473952"/>
            <a:ext cx="548640" cy="274320"/>
          </a:xfrm>
          <a:prstGeom prst="rect">
            <a:avLst/>
          </a:prstGeom>
          <a:noFill/>
        </p:spPr>
        <p:txBody>
          <a:bodyPr wrap="square" anchor="t" lIns="0" rIns="0" tIns="0" bIns="0">
            <a:spAutoFit/>
          </a:bodyPr>
          <a:lstStyle/>
          <a:p>
            <a:pPr algn="r">
              <a:lnSpc>
                <a:spcPct val="106000"/>
              </a:lnSpc>
              <a:spcBef>
                <a:spcPts val="0"/>
              </a:spcBef>
              <a:spcAft>
                <a:spcPts val="0"/>
              </a:spcAft>
            </a:pPr>
            <a:r>
              <a:rPr sz="950" b="0">
                <a:solidFill>
                  <a:srgbClr val="8A9099"/>
                </a:solidFill>
                <a:latin typeface="Red Hat Text"/>
              </a:rPr>
              <a:t>90</a:t>
            </a:r>
          </a:p>
        </p:txBody>
      </p:sp>
    </p:spTree>
  </p:cSld>
  <p:clrMapOvr>
    <a:masterClrMapping/>
  </p:clrMapOvr>
</p:sld>
</file>

<file path=ppt/slides/slide10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redhat_logo.jpg"/>
          <p:cNvPicPr>
            <a:picLocks noChangeAspect="1"/>
          </p:cNvPicPr>
          <p:nvPr/>
        </p:nvPicPr>
        <p:blipFill>
          <a:blip r:embed="rId2"/>
          <a:stretch>
            <a:fillRect/>
          </a:stretch>
        </p:blipFill>
        <p:spPr>
          <a:xfrm>
            <a:off x="10326319" y="475488"/>
            <a:ext cx="1024128" cy="242248"/>
          </a:xfrm>
          <a:prstGeom prst="rect">
            <a:avLst/>
          </a:prstGeom>
        </p:spPr>
      </p:pic>
      <p:sp>
        <p:nvSpPr>
          <p:cNvPr id="3" name="TextBox 2"/>
          <p:cNvSpPr txBox="1"/>
          <p:nvPr/>
        </p:nvSpPr>
        <p:spPr>
          <a:xfrm>
            <a:off x="841248" y="548640"/>
            <a:ext cx="8595360" cy="274320"/>
          </a:xfrm>
          <a:prstGeom prst="rect">
            <a:avLst/>
          </a:prstGeom>
          <a:noFill/>
        </p:spPr>
        <p:txBody>
          <a:bodyPr wrap="square" anchor="t" lIns="0" rIns="0" tIns="0" bIns="0">
            <a:spAutoFit/>
          </a:bodyPr>
          <a:lstStyle/>
          <a:p>
            <a:pPr algn="l">
              <a:lnSpc>
                <a:spcPct val="106000"/>
              </a:lnSpc>
              <a:spcBef>
                <a:spcPts val="0"/>
              </a:spcBef>
              <a:spcAft>
                <a:spcPts val="0"/>
              </a:spcAft>
            </a:pPr>
            <a:r>
              <a:rPr sz="1250" b="1" spc="220">
                <a:solidFill>
                  <a:srgbClr val="EE0000"/>
                </a:solidFill>
                <a:latin typeface="Red Hat Display"/>
              </a:rPr>
              <a:t>M13 · OBSERVABILITY, HEALTH &amp; SCALE</a:t>
            </a:r>
          </a:p>
        </p:txBody>
      </p:sp>
      <p:sp>
        <p:nvSpPr>
          <p:cNvPr id="4" name="TextBox 3"/>
          <p:cNvSpPr txBox="1"/>
          <p:nvPr/>
        </p:nvSpPr>
        <p:spPr>
          <a:xfrm>
            <a:off x="841248" y="877824"/>
            <a:ext cx="10515600" cy="548640"/>
          </a:xfrm>
          <a:prstGeom prst="rect">
            <a:avLst/>
          </a:prstGeom>
          <a:noFill/>
        </p:spPr>
        <p:txBody>
          <a:bodyPr wrap="none" anchor="t" lIns="0" rIns="0" tIns="0" bIns="0">
            <a:spAutoFit/>
          </a:bodyPr>
          <a:lstStyle/>
          <a:p>
            <a:pPr algn="l">
              <a:lnSpc>
                <a:spcPct val="100000"/>
              </a:lnSpc>
              <a:spcBef>
                <a:spcPts val="0"/>
              </a:spcBef>
              <a:spcAft>
                <a:spcPts val="0"/>
              </a:spcAft>
            </a:pPr>
            <a:r>
              <a:rPr sz="2500" b="1">
                <a:solidFill>
                  <a:srgbClr val="1A1A1A"/>
                </a:solidFill>
                <a:latin typeface="Red Hat Display"/>
              </a:rPr>
              <a:t>Alert on symptoms — then make it fire</a:t>
            </a:r>
          </a:p>
        </p:txBody>
      </p:sp>
      <p:cxnSp>
        <p:nvCxnSpPr>
          <p:cNvPr id="5" name="Connector 4"/>
          <p:cNvCxnSpPr/>
          <p:nvPr/>
        </p:nvCxnSpPr>
        <p:spPr>
          <a:xfrm>
            <a:off x="841248" y="1554480"/>
            <a:ext cx="1371600" cy="0"/>
          </a:xfrm>
          <a:prstGeom prst="bentConnector3">
            <a:avLst/>
          </a:prstGeom>
          <a:ln w="31750">
            <a:solidFill>
              <a:srgbClr val="EE0000"/>
            </a:solidFill>
          </a:ln>
          <a:effectLst/>
        </p:spPr>
        <p:style>
          <a:lnRef idx="2">
            <a:schemeClr val="accent1"/>
          </a:lnRef>
          <a:fillRef idx="0">
            <a:schemeClr val="accent1"/>
          </a:fillRef>
          <a:effectRef idx="1">
            <a:schemeClr val="accent1"/>
          </a:effectRef>
          <a:fontRef idx="minor">
            <a:schemeClr val="tx1"/>
          </a:fontRef>
        </p:style>
      </p:cxnSp>
      <p:sp>
        <p:nvSpPr>
          <p:cNvPr id="6" name="Rounded Rectangle 5"/>
          <p:cNvSpPr/>
          <p:nvPr/>
        </p:nvSpPr>
        <p:spPr>
          <a:xfrm>
            <a:off x="841248" y="2395728"/>
            <a:ext cx="5715000" cy="530352"/>
          </a:xfrm>
          <a:prstGeom prst="roundRect">
            <a:avLst>
              <a:gd name="adj" fmla="val 6000"/>
            </a:avLst>
          </a:prstGeom>
          <a:solidFill>
            <a:srgbClr val="F5F6F8"/>
          </a:solidFill>
          <a:ln w="12700">
            <a:solidFill>
              <a:srgbClr val="DDE1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check_steel.png"/>
          <p:cNvPicPr>
            <a:picLocks noChangeAspect="1"/>
          </p:cNvPicPr>
          <p:nvPr/>
        </p:nvPicPr>
        <p:blipFill>
          <a:blip r:embed="rId3"/>
          <a:stretch>
            <a:fillRect/>
          </a:stretch>
        </p:blipFill>
        <p:spPr>
          <a:xfrm>
            <a:off x="987552" y="2542032"/>
            <a:ext cx="237744" cy="237744"/>
          </a:xfrm>
          <a:prstGeom prst="rect">
            <a:avLst/>
          </a:prstGeom>
        </p:spPr>
      </p:pic>
      <p:sp>
        <p:nvSpPr>
          <p:cNvPr id="8" name="TextBox 7"/>
          <p:cNvSpPr txBox="1"/>
          <p:nvPr/>
        </p:nvSpPr>
        <p:spPr>
          <a:xfrm>
            <a:off x="1353312" y="2395728"/>
            <a:ext cx="5029200" cy="530352"/>
          </a:xfrm>
          <a:prstGeom prst="rect">
            <a:avLst/>
          </a:prstGeom>
          <a:noFill/>
        </p:spPr>
        <p:txBody>
          <a:bodyPr wrap="square" anchor="ctr" lIns="0" rIns="0" tIns="0" bIns="0">
            <a:spAutoFit/>
          </a:bodyPr>
          <a:lstStyle/>
          <a:p>
            <a:pPr algn="l">
              <a:lnSpc>
                <a:spcPct val="106000"/>
              </a:lnSpc>
              <a:spcBef>
                <a:spcPts val="0"/>
              </a:spcBef>
              <a:spcAft>
                <a:spcPts val="0"/>
              </a:spcAft>
            </a:pPr>
            <a:r>
              <a:rPr sz="1200" b="0">
                <a:solidFill>
                  <a:srgbClr val="1A1A1A"/>
                </a:solidFill>
                <a:latin typeface="Red Hat Text"/>
              </a:rPr>
              <a:t>A dashboard only helps when someone's looking; an alert watches for you</a:t>
            </a:r>
          </a:p>
        </p:txBody>
      </p:sp>
      <p:sp>
        <p:nvSpPr>
          <p:cNvPr id="9" name="Rounded Rectangle 8"/>
          <p:cNvSpPr/>
          <p:nvPr/>
        </p:nvSpPr>
        <p:spPr>
          <a:xfrm>
            <a:off x="841248" y="2999232"/>
            <a:ext cx="5715000" cy="530352"/>
          </a:xfrm>
          <a:prstGeom prst="roundRect">
            <a:avLst>
              <a:gd name="adj" fmla="val 6000"/>
            </a:avLst>
          </a:prstGeom>
          <a:solidFill>
            <a:srgbClr val="F5F6F8"/>
          </a:solidFill>
          <a:ln w="12700">
            <a:solidFill>
              <a:srgbClr val="DDE1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0" name="Picture 9" descr="check_steel.png"/>
          <p:cNvPicPr>
            <a:picLocks noChangeAspect="1"/>
          </p:cNvPicPr>
          <p:nvPr/>
        </p:nvPicPr>
        <p:blipFill>
          <a:blip r:embed="rId3"/>
          <a:stretch>
            <a:fillRect/>
          </a:stretch>
        </p:blipFill>
        <p:spPr>
          <a:xfrm>
            <a:off x="987552" y="3145536"/>
            <a:ext cx="237744" cy="237744"/>
          </a:xfrm>
          <a:prstGeom prst="rect">
            <a:avLst/>
          </a:prstGeom>
        </p:spPr>
      </p:pic>
      <p:sp>
        <p:nvSpPr>
          <p:cNvPr id="11" name="TextBox 10"/>
          <p:cNvSpPr txBox="1"/>
          <p:nvPr/>
        </p:nvSpPr>
        <p:spPr>
          <a:xfrm>
            <a:off x="1353312" y="2999232"/>
            <a:ext cx="5029200" cy="530352"/>
          </a:xfrm>
          <a:prstGeom prst="rect">
            <a:avLst/>
          </a:prstGeom>
          <a:noFill/>
        </p:spPr>
        <p:txBody>
          <a:bodyPr wrap="square" anchor="ctr" lIns="0" rIns="0" tIns="0" bIns="0">
            <a:spAutoFit/>
          </a:bodyPr>
          <a:lstStyle/>
          <a:p>
            <a:pPr algn="l">
              <a:lnSpc>
                <a:spcPct val="106000"/>
              </a:lnSpc>
              <a:spcBef>
                <a:spcPts val="0"/>
              </a:spcBef>
              <a:spcAft>
                <a:spcPts val="0"/>
              </a:spcAft>
            </a:pPr>
            <a:r>
              <a:rPr sz="1200" b="0">
                <a:solidFill>
                  <a:srgbClr val="1A1A1A"/>
                </a:solidFill>
                <a:latin typeface="Red Hat Text"/>
              </a:rPr>
              <a:t>Author a **PrometheusRule** in your namespace — scoped to you, invisible to others</a:t>
            </a:r>
          </a:p>
        </p:txBody>
      </p:sp>
      <p:sp>
        <p:nvSpPr>
          <p:cNvPr id="12" name="Rounded Rectangle 11"/>
          <p:cNvSpPr/>
          <p:nvPr/>
        </p:nvSpPr>
        <p:spPr>
          <a:xfrm>
            <a:off x="841248" y="3602736"/>
            <a:ext cx="5715000" cy="530352"/>
          </a:xfrm>
          <a:prstGeom prst="roundRect">
            <a:avLst>
              <a:gd name="adj" fmla="val 6000"/>
            </a:avLst>
          </a:prstGeom>
          <a:solidFill>
            <a:srgbClr val="F5F6F8"/>
          </a:solidFill>
          <a:ln w="12700">
            <a:solidFill>
              <a:srgbClr val="DDE1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3" name="Picture 12" descr="check_steel.png"/>
          <p:cNvPicPr>
            <a:picLocks noChangeAspect="1"/>
          </p:cNvPicPr>
          <p:nvPr/>
        </p:nvPicPr>
        <p:blipFill>
          <a:blip r:embed="rId3"/>
          <a:stretch>
            <a:fillRect/>
          </a:stretch>
        </p:blipFill>
        <p:spPr>
          <a:xfrm>
            <a:off x="987552" y="3749040"/>
            <a:ext cx="237744" cy="237744"/>
          </a:xfrm>
          <a:prstGeom prst="rect">
            <a:avLst/>
          </a:prstGeom>
        </p:spPr>
      </p:pic>
      <p:sp>
        <p:nvSpPr>
          <p:cNvPr id="14" name="TextBox 13"/>
          <p:cNvSpPr txBox="1"/>
          <p:nvPr/>
        </p:nvSpPr>
        <p:spPr>
          <a:xfrm>
            <a:off x="1353312" y="3602736"/>
            <a:ext cx="5029200" cy="530352"/>
          </a:xfrm>
          <a:prstGeom prst="rect">
            <a:avLst/>
          </a:prstGeom>
          <a:noFill/>
        </p:spPr>
        <p:txBody>
          <a:bodyPr wrap="square" anchor="ctr" lIns="0" rIns="0" tIns="0" bIns="0">
            <a:spAutoFit/>
          </a:bodyPr>
          <a:lstStyle/>
          <a:p>
            <a:pPr algn="l">
              <a:lnSpc>
                <a:spcPct val="106000"/>
              </a:lnSpc>
              <a:spcBef>
                <a:spcPts val="0"/>
              </a:spcBef>
              <a:spcAft>
                <a:spcPts val="0"/>
              </a:spcAft>
            </a:pPr>
            <a:r>
              <a:rPr sz="1200" b="0">
                <a:solidFill>
                  <a:srgbClr val="1A1A1A"/>
                </a:solidFill>
                <a:latin typeface="Red Hat Text"/>
              </a:rPr>
              <a:t>Alert on the **5xx rate** (a symptom users feel), not on internal causes</a:t>
            </a:r>
          </a:p>
        </p:txBody>
      </p:sp>
      <p:sp>
        <p:nvSpPr>
          <p:cNvPr id="15" name="Rounded Rectangle 14"/>
          <p:cNvSpPr/>
          <p:nvPr/>
        </p:nvSpPr>
        <p:spPr>
          <a:xfrm>
            <a:off x="841248" y="4206240"/>
            <a:ext cx="5715000" cy="530352"/>
          </a:xfrm>
          <a:prstGeom prst="roundRect">
            <a:avLst>
              <a:gd name="adj" fmla="val 6000"/>
            </a:avLst>
          </a:prstGeom>
          <a:solidFill>
            <a:srgbClr val="F5F6F8"/>
          </a:solidFill>
          <a:ln w="12700">
            <a:solidFill>
              <a:srgbClr val="DDE1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6" name="Picture 15" descr="check_steel.png"/>
          <p:cNvPicPr>
            <a:picLocks noChangeAspect="1"/>
          </p:cNvPicPr>
          <p:nvPr/>
        </p:nvPicPr>
        <p:blipFill>
          <a:blip r:embed="rId3"/>
          <a:stretch>
            <a:fillRect/>
          </a:stretch>
        </p:blipFill>
        <p:spPr>
          <a:xfrm>
            <a:off x="987552" y="4352544"/>
            <a:ext cx="237744" cy="237744"/>
          </a:xfrm>
          <a:prstGeom prst="rect">
            <a:avLst/>
          </a:prstGeom>
        </p:spPr>
      </p:pic>
      <p:sp>
        <p:nvSpPr>
          <p:cNvPr id="17" name="TextBox 16"/>
          <p:cNvSpPr txBox="1"/>
          <p:nvPr/>
        </p:nvSpPr>
        <p:spPr>
          <a:xfrm>
            <a:off x="1353312" y="4206240"/>
            <a:ext cx="5029200" cy="530352"/>
          </a:xfrm>
          <a:prstGeom prst="rect">
            <a:avLst/>
          </a:prstGeom>
          <a:noFill/>
        </p:spPr>
        <p:txBody>
          <a:bodyPr wrap="square" anchor="ctr" lIns="0" rIns="0" tIns="0" bIns="0">
            <a:spAutoFit/>
          </a:bodyPr>
          <a:lstStyle/>
          <a:p>
            <a:pPr algn="l">
              <a:lnSpc>
                <a:spcPct val="106000"/>
              </a:lnSpc>
              <a:spcBef>
                <a:spcPts val="0"/>
              </a:spcBef>
              <a:spcAft>
                <a:spcPts val="0"/>
              </a:spcAft>
            </a:pPr>
            <a:r>
              <a:rPr sz="1200" b="0">
                <a:solidFill>
                  <a:srgbClr val="1A1A1A"/>
                </a:solidFill>
                <a:latin typeface="Red Hat Text"/>
              </a:rPr>
              <a:t>Prove it: take the database away, watch Inactive → Pending → Firing (~3 min)</a:t>
            </a:r>
          </a:p>
        </p:txBody>
      </p:sp>
      <p:sp>
        <p:nvSpPr>
          <p:cNvPr id="18" name="Rounded Rectangle 17"/>
          <p:cNvSpPr/>
          <p:nvPr/>
        </p:nvSpPr>
        <p:spPr>
          <a:xfrm>
            <a:off x="841248" y="4809744"/>
            <a:ext cx="5715000" cy="530352"/>
          </a:xfrm>
          <a:prstGeom prst="roundRect">
            <a:avLst>
              <a:gd name="adj" fmla="val 6000"/>
            </a:avLst>
          </a:prstGeom>
          <a:solidFill>
            <a:srgbClr val="F5F6F8"/>
          </a:solidFill>
          <a:ln w="12700">
            <a:solidFill>
              <a:srgbClr val="DDE1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9" name="Picture 18" descr="check_steel.png"/>
          <p:cNvPicPr>
            <a:picLocks noChangeAspect="1"/>
          </p:cNvPicPr>
          <p:nvPr/>
        </p:nvPicPr>
        <p:blipFill>
          <a:blip r:embed="rId3"/>
          <a:stretch>
            <a:fillRect/>
          </a:stretch>
        </p:blipFill>
        <p:spPr>
          <a:xfrm>
            <a:off x="987552" y="4956048"/>
            <a:ext cx="237744" cy="237744"/>
          </a:xfrm>
          <a:prstGeom prst="rect">
            <a:avLst/>
          </a:prstGeom>
        </p:spPr>
      </p:pic>
      <p:sp>
        <p:nvSpPr>
          <p:cNvPr id="20" name="TextBox 19"/>
          <p:cNvSpPr txBox="1"/>
          <p:nvPr/>
        </p:nvSpPr>
        <p:spPr>
          <a:xfrm>
            <a:off x="1353312" y="4809744"/>
            <a:ext cx="5029200" cy="530352"/>
          </a:xfrm>
          <a:prstGeom prst="rect">
            <a:avLst/>
          </a:prstGeom>
          <a:noFill/>
        </p:spPr>
        <p:txBody>
          <a:bodyPr wrap="square" anchor="ctr" lIns="0" rIns="0" tIns="0" bIns="0">
            <a:spAutoFit/>
          </a:bodyPr>
          <a:lstStyle/>
          <a:p>
            <a:pPr algn="l">
              <a:lnSpc>
                <a:spcPct val="106000"/>
              </a:lnSpc>
              <a:spcBef>
                <a:spcPts val="0"/>
              </a:spcBef>
              <a:spcAft>
                <a:spcPts val="0"/>
              </a:spcAft>
            </a:pPr>
            <a:r>
              <a:rPr sz="1200" b="0">
                <a:solidFill>
                  <a:srgbClr val="1A1A1A"/>
                </a:solidFill>
                <a:latin typeface="Red Hat Text"/>
              </a:rPr>
              <a:t>Recover: DB back **and** restart the app (the connection pool is poisoned)</a:t>
            </a:r>
          </a:p>
        </p:txBody>
      </p:sp>
      <p:sp>
        <p:nvSpPr>
          <p:cNvPr id="21" name="Rounded Rectangle 20"/>
          <p:cNvSpPr/>
          <p:nvPr/>
        </p:nvSpPr>
        <p:spPr>
          <a:xfrm>
            <a:off x="6812280" y="2395728"/>
            <a:ext cx="4538167" cy="2944368"/>
          </a:xfrm>
          <a:prstGeom prst="roundRect">
            <a:avLst>
              <a:gd name="adj" fmla="val 4000"/>
            </a:avLst>
          </a:prstGeom>
          <a:solidFill>
            <a:srgbClr val="FFFFFF"/>
          </a:solidFill>
          <a:ln w="15240">
            <a:solidFill>
              <a:srgbClr val="DDE1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ounded Rectangle 21"/>
          <p:cNvSpPr/>
          <p:nvPr/>
        </p:nvSpPr>
        <p:spPr>
          <a:xfrm>
            <a:off x="7013448" y="2596896"/>
            <a:ext cx="1298448" cy="310896"/>
          </a:xfrm>
          <a:prstGeom prst="roundRect">
            <a:avLst>
              <a:gd name="adj" fmla="val 50000"/>
            </a:avLst>
          </a:prstGeom>
          <a:solidFill>
            <a:srgbClr val="FCEC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7013448" y="2596896"/>
            <a:ext cx="1298448" cy="310896"/>
          </a:xfrm>
          <a:prstGeom prst="rect">
            <a:avLst/>
          </a:prstGeom>
          <a:noFill/>
        </p:spPr>
        <p:txBody>
          <a:bodyPr wrap="none" anchor="ctr" lIns="0" rIns="0" tIns="0" bIns="0">
            <a:spAutoFit/>
          </a:bodyPr>
          <a:lstStyle/>
          <a:p>
            <a:pPr algn="ctr">
              <a:lnSpc>
                <a:spcPct val="106000"/>
              </a:lnSpc>
              <a:spcBef>
                <a:spcPts val="0"/>
              </a:spcBef>
              <a:spcAft>
                <a:spcPts val="0"/>
              </a:spcAft>
            </a:pPr>
            <a:r>
              <a:rPr sz="850" b="1">
                <a:solidFill>
                  <a:srgbClr val="B80000"/>
                </a:solidFill>
                <a:latin typeface="Red Hat Display"/>
              </a:rPr>
              <a:t>MEDIA PASS</a:t>
            </a:r>
          </a:p>
        </p:txBody>
      </p:sp>
      <p:pic>
        <p:nvPicPr>
          <p:cNvPr id="24" name="Picture 23" descr="eye_slate.png"/>
          <p:cNvPicPr>
            <a:picLocks noChangeAspect="1"/>
          </p:cNvPicPr>
          <p:nvPr/>
        </p:nvPicPr>
        <p:blipFill>
          <a:blip r:embed="rId4"/>
          <a:stretch>
            <a:fillRect/>
          </a:stretch>
        </p:blipFill>
        <p:spPr>
          <a:xfrm>
            <a:off x="8843619" y="3108960"/>
            <a:ext cx="475488" cy="475488"/>
          </a:xfrm>
          <a:prstGeom prst="rect">
            <a:avLst/>
          </a:prstGeom>
        </p:spPr>
      </p:pic>
      <p:sp>
        <p:nvSpPr>
          <p:cNvPr id="25" name="TextBox 24"/>
          <p:cNvSpPr txBox="1"/>
          <p:nvPr/>
        </p:nvSpPr>
        <p:spPr>
          <a:xfrm>
            <a:off x="7050024" y="3721608"/>
            <a:ext cx="4062679" cy="1481328"/>
          </a:xfrm>
          <a:prstGeom prst="rect">
            <a:avLst/>
          </a:prstGeom>
          <a:noFill/>
        </p:spPr>
        <p:txBody>
          <a:bodyPr wrap="square" anchor="t" lIns="0" rIns="0" tIns="0" bIns="0">
            <a:spAutoFit/>
          </a:bodyPr>
          <a:lstStyle/>
          <a:p>
            <a:pPr algn="l">
              <a:lnSpc>
                <a:spcPct val="120000"/>
              </a:lnSpc>
              <a:spcBef>
                <a:spcPts val="0"/>
              </a:spcBef>
              <a:spcAft>
                <a:spcPts val="0"/>
              </a:spcAft>
            </a:pPr>
            <a:r>
              <a:rPr sz="950" b="0">
                <a:solidFill>
                  <a:srgbClr val="8A9099"/>
                </a:solidFill>
                <a:latin typeface="Red Hat Text"/>
              </a:rPr>
              <a:t>A traffic-light alert going green→amber→red, with the DB tile scaled to 0; a callout "fix = DB back + app restart".</a:t>
            </a:r>
          </a:p>
        </p:txBody>
      </p:sp>
      <p:cxnSp>
        <p:nvCxnSpPr>
          <p:cNvPr id="26" name="Connector 25"/>
          <p:cNvCxnSpPr/>
          <p:nvPr/>
        </p:nvCxnSpPr>
        <p:spPr>
          <a:xfrm>
            <a:off x="841248" y="6437376"/>
            <a:ext cx="10509199" cy="0"/>
          </a:xfrm>
          <a:prstGeom prst="bentConnector3">
            <a:avLst/>
          </a:prstGeom>
          <a:ln w="12700">
            <a:solidFill>
              <a:srgbClr val="DDE1E6"/>
            </a:solidFill>
          </a:ln>
          <a:effectLst/>
        </p:spPr>
        <p:style>
          <a:lnRef idx="2">
            <a:schemeClr val="accent1"/>
          </a:lnRef>
          <a:fillRef idx="0">
            <a:schemeClr val="accent1"/>
          </a:fillRef>
          <a:effectRef idx="1">
            <a:schemeClr val="accent1"/>
          </a:effectRef>
          <a:fontRef idx="minor">
            <a:schemeClr val="tx1"/>
          </a:fontRef>
        </p:style>
      </p:cxnSp>
      <p:sp>
        <p:nvSpPr>
          <p:cNvPr id="27" name="TextBox 26"/>
          <p:cNvSpPr txBox="1"/>
          <p:nvPr/>
        </p:nvSpPr>
        <p:spPr>
          <a:xfrm>
            <a:off x="841248" y="6473952"/>
            <a:ext cx="7315200" cy="274320"/>
          </a:xfrm>
          <a:prstGeom prst="rect">
            <a:avLst/>
          </a:prstGeom>
          <a:noFill/>
        </p:spPr>
        <p:txBody>
          <a:bodyPr wrap="square" anchor="t" lIns="0" rIns="0" tIns="0" bIns="0">
            <a:spAutoFit/>
          </a:bodyPr>
          <a:lstStyle/>
          <a:p>
            <a:pPr algn="l">
              <a:lnSpc>
                <a:spcPct val="106000"/>
              </a:lnSpc>
              <a:spcBef>
                <a:spcPts val="0"/>
              </a:spcBef>
              <a:spcAft>
                <a:spcPts val="0"/>
              </a:spcAft>
            </a:pPr>
            <a:r>
              <a:rPr sz="950" b="0">
                <a:solidFill>
                  <a:srgbClr val="8A9099"/>
                </a:solidFill>
                <a:latin typeface="Red Hat Text"/>
              </a:rPr>
              <a:t>CONFIDENTIAL</a:t>
            </a:r>
          </a:p>
        </p:txBody>
      </p:sp>
      <p:sp>
        <p:nvSpPr>
          <p:cNvPr id="28" name="TextBox 27"/>
          <p:cNvSpPr txBox="1"/>
          <p:nvPr/>
        </p:nvSpPr>
        <p:spPr>
          <a:xfrm>
            <a:off x="10801807" y="6473952"/>
            <a:ext cx="548640" cy="274320"/>
          </a:xfrm>
          <a:prstGeom prst="rect">
            <a:avLst/>
          </a:prstGeom>
          <a:noFill/>
        </p:spPr>
        <p:txBody>
          <a:bodyPr wrap="square" anchor="t" lIns="0" rIns="0" tIns="0" bIns="0">
            <a:spAutoFit/>
          </a:bodyPr>
          <a:lstStyle/>
          <a:p>
            <a:pPr algn="r">
              <a:lnSpc>
                <a:spcPct val="106000"/>
              </a:lnSpc>
              <a:spcBef>
                <a:spcPts val="0"/>
              </a:spcBef>
              <a:spcAft>
                <a:spcPts val="0"/>
              </a:spcAft>
            </a:pPr>
            <a:r>
              <a:rPr sz="950" b="0">
                <a:solidFill>
                  <a:srgbClr val="8A9099"/>
                </a:solidFill>
                <a:latin typeface="Red Hat Text"/>
              </a:rPr>
              <a:t>91</a:t>
            </a:r>
          </a:p>
        </p:txBody>
      </p:sp>
    </p:spTree>
  </p:cSld>
  <p:clrMapOvr>
    <a:masterClrMapping/>
  </p:clrMapOvr>
</p:sld>
</file>

<file path=ppt/slides/slide10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redhat_logo.jpg"/>
          <p:cNvPicPr>
            <a:picLocks noChangeAspect="1"/>
          </p:cNvPicPr>
          <p:nvPr/>
        </p:nvPicPr>
        <p:blipFill>
          <a:blip r:embed="rId2"/>
          <a:stretch>
            <a:fillRect/>
          </a:stretch>
        </p:blipFill>
        <p:spPr>
          <a:xfrm>
            <a:off x="10326319" y="475488"/>
            <a:ext cx="1024128" cy="242248"/>
          </a:xfrm>
          <a:prstGeom prst="rect">
            <a:avLst/>
          </a:prstGeom>
        </p:spPr>
      </p:pic>
      <p:sp>
        <p:nvSpPr>
          <p:cNvPr id="3" name="TextBox 2"/>
          <p:cNvSpPr txBox="1"/>
          <p:nvPr/>
        </p:nvSpPr>
        <p:spPr>
          <a:xfrm>
            <a:off x="841248" y="548640"/>
            <a:ext cx="8595360" cy="274320"/>
          </a:xfrm>
          <a:prstGeom prst="rect">
            <a:avLst/>
          </a:prstGeom>
          <a:noFill/>
        </p:spPr>
        <p:txBody>
          <a:bodyPr wrap="square" anchor="t" lIns="0" rIns="0" tIns="0" bIns="0">
            <a:spAutoFit/>
          </a:bodyPr>
          <a:lstStyle/>
          <a:p>
            <a:pPr algn="l">
              <a:lnSpc>
                <a:spcPct val="106000"/>
              </a:lnSpc>
              <a:spcBef>
                <a:spcPts val="0"/>
              </a:spcBef>
              <a:spcAft>
                <a:spcPts val="0"/>
              </a:spcAft>
            </a:pPr>
            <a:r>
              <a:rPr sz="1250" b="1" spc="220">
                <a:solidFill>
                  <a:srgbClr val="EE0000"/>
                </a:solidFill>
                <a:latin typeface="Red Hat Display"/>
              </a:rPr>
              <a:t>M13 · OBSERVABILITY, HEALTH &amp; SCALE</a:t>
            </a:r>
          </a:p>
        </p:txBody>
      </p:sp>
      <p:sp>
        <p:nvSpPr>
          <p:cNvPr id="4" name="TextBox 3"/>
          <p:cNvSpPr txBox="1"/>
          <p:nvPr/>
        </p:nvSpPr>
        <p:spPr>
          <a:xfrm>
            <a:off x="841248" y="877824"/>
            <a:ext cx="10515600" cy="548640"/>
          </a:xfrm>
          <a:prstGeom prst="rect">
            <a:avLst/>
          </a:prstGeom>
          <a:noFill/>
        </p:spPr>
        <p:txBody>
          <a:bodyPr wrap="none" anchor="t" lIns="0" rIns="0" tIns="0" bIns="0">
            <a:spAutoFit/>
          </a:bodyPr>
          <a:lstStyle/>
          <a:p>
            <a:pPr algn="l">
              <a:lnSpc>
                <a:spcPct val="100000"/>
              </a:lnSpc>
              <a:spcBef>
                <a:spcPts val="0"/>
              </a:spcBef>
              <a:spcAft>
                <a:spcPts val="0"/>
              </a:spcAft>
            </a:pPr>
            <a:r>
              <a:rPr sz="2500" b="1">
                <a:solidFill>
                  <a:srgbClr val="1A1A1A"/>
                </a:solidFill>
                <a:latin typeface="Red Hat Display"/>
              </a:rPr>
              <a:t>Trace — where did the time go</a:t>
            </a:r>
          </a:p>
        </p:txBody>
      </p:sp>
      <p:cxnSp>
        <p:nvCxnSpPr>
          <p:cNvPr id="5" name="Connector 4"/>
          <p:cNvCxnSpPr/>
          <p:nvPr/>
        </p:nvCxnSpPr>
        <p:spPr>
          <a:xfrm>
            <a:off x="841248" y="1554480"/>
            <a:ext cx="1371600" cy="0"/>
          </a:xfrm>
          <a:prstGeom prst="bentConnector3">
            <a:avLst/>
          </a:prstGeom>
          <a:ln w="31750">
            <a:solidFill>
              <a:srgbClr val="EE0000"/>
            </a:solidFill>
          </a:ln>
          <a:effectLst/>
        </p:spPr>
        <p:style>
          <a:lnRef idx="2">
            <a:schemeClr val="accent1"/>
          </a:lnRef>
          <a:fillRef idx="0">
            <a:schemeClr val="accent1"/>
          </a:fillRef>
          <a:effectRef idx="1">
            <a:schemeClr val="accent1"/>
          </a:effectRef>
          <a:fontRef idx="minor">
            <a:schemeClr val="tx1"/>
          </a:fontRef>
        </p:style>
      </p:cxnSp>
      <p:sp>
        <p:nvSpPr>
          <p:cNvPr id="6" name="Rounded Rectangle 5"/>
          <p:cNvSpPr/>
          <p:nvPr/>
        </p:nvSpPr>
        <p:spPr>
          <a:xfrm>
            <a:off x="841248" y="2395728"/>
            <a:ext cx="5715000" cy="530352"/>
          </a:xfrm>
          <a:prstGeom prst="roundRect">
            <a:avLst>
              <a:gd name="adj" fmla="val 6000"/>
            </a:avLst>
          </a:prstGeom>
          <a:solidFill>
            <a:srgbClr val="F5F6F8"/>
          </a:solidFill>
          <a:ln w="12700">
            <a:solidFill>
              <a:srgbClr val="DDE1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check_steel.png"/>
          <p:cNvPicPr>
            <a:picLocks noChangeAspect="1"/>
          </p:cNvPicPr>
          <p:nvPr/>
        </p:nvPicPr>
        <p:blipFill>
          <a:blip r:embed="rId3"/>
          <a:stretch>
            <a:fillRect/>
          </a:stretch>
        </p:blipFill>
        <p:spPr>
          <a:xfrm>
            <a:off x="987552" y="2542032"/>
            <a:ext cx="237744" cy="237744"/>
          </a:xfrm>
          <a:prstGeom prst="rect">
            <a:avLst/>
          </a:prstGeom>
        </p:spPr>
      </p:pic>
      <p:sp>
        <p:nvSpPr>
          <p:cNvPr id="8" name="TextBox 7"/>
          <p:cNvSpPr txBox="1"/>
          <p:nvPr/>
        </p:nvSpPr>
        <p:spPr>
          <a:xfrm>
            <a:off x="1353312" y="2395728"/>
            <a:ext cx="5029200" cy="530352"/>
          </a:xfrm>
          <a:prstGeom prst="rect">
            <a:avLst/>
          </a:prstGeom>
          <a:noFill/>
        </p:spPr>
        <p:txBody>
          <a:bodyPr wrap="square" anchor="ctr" lIns="0" rIns="0" tIns="0" bIns="0">
            <a:spAutoFit/>
          </a:bodyPr>
          <a:lstStyle/>
          <a:p>
            <a:pPr algn="l">
              <a:lnSpc>
                <a:spcPct val="106000"/>
              </a:lnSpc>
              <a:spcBef>
                <a:spcPts val="0"/>
              </a:spcBef>
              <a:spcAft>
                <a:spcPts val="0"/>
              </a:spcAft>
            </a:pPr>
            <a:r>
              <a:rPr sz="1200" b="0">
                <a:solidFill>
                  <a:srgbClr val="1A1A1A"/>
                </a:solidFill>
                <a:latin typeface="Red Hat Text"/>
              </a:rPr>
              <a:t>Metrics say the 5xx rate is up; they can't say *which* request or *where*</a:t>
            </a:r>
          </a:p>
        </p:txBody>
      </p:sp>
      <p:sp>
        <p:nvSpPr>
          <p:cNvPr id="9" name="Rounded Rectangle 8"/>
          <p:cNvSpPr/>
          <p:nvPr/>
        </p:nvSpPr>
        <p:spPr>
          <a:xfrm>
            <a:off x="841248" y="2999232"/>
            <a:ext cx="5715000" cy="530352"/>
          </a:xfrm>
          <a:prstGeom prst="roundRect">
            <a:avLst>
              <a:gd name="adj" fmla="val 6000"/>
            </a:avLst>
          </a:prstGeom>
          <a:solidFill>
            <a:srgbClr val="F5F6F8"/>
          </a:solidFill>
          <a:ln w="12700">
            <a:solidFill>
              <a:srgbClr val="DDE1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0" name="Picture 9" descr="check_steel.png"/>
          <p:cNvPicPr>
            <a:picLocks noChangeAspect="1"/>
          </p:cNvPicPr>
          <p:nvPr/>
        </p:nvPicPr>
        <p:blipFill>
          <a:blip r:embed="rId3"/>
          <a:stretch>
            <a:fillRect/>
          </a:stretch>
        </p:blipFill>
        <p:spPr>
          <a:xfrm>
            <a:off x="987552" y="3145536"/>
            <a:ext cx="237744" cy="237744"/>
          </a:xfrm>
          <a:prstGeom prst="rect">
            <a:avLst/>
          </a:prstGeom>
        </p:spPr>
      </p:pic>
      <p:sp>
        <p:nvSpPr>
          <p:cNvPr id="11" name="TextBox 10"/>
          <p:cNvSpPr txBox="1"/>
          <p:nvPr/>
        </p:nvSpPr>
        <p:spPr>
          <a:xfrm>
            <a:off x="1353312" y="2999232"/>
            <a:ext cx="5029200" cy="530352"/>
          </a:xfrm>
          <a:prstGeom prst="rect">
            <a:avLst/>
          </a:prstGeom>
          <a:noFill/>
        </p:spPr>
        <p:txBody>
          <a:bodyPr wrap="square" anchor="ctr" lIns="0" rIns="0" tIns="0" bIns="0">
            <a:spAutoFit/>
          </a:bodyPr>
          <a:lstStyle/>
          <a:p>
            <a:pPr algn="l">
              <a:lnSpc>
                <a:spcPct val="106000"/>
              </a:lnSpc>
              <a:spcBef>
                <a:spcPts val="0"/>
              </a:spcBef>
              <a:spcAft>
                <a:spcPts val="0"/>
              </a:spcAft>
            </a:pPr>
            <a:r>
              <a:rPr sz="1200" b="0">
                <a:solidFill>
                  <a:srgbClr val="1A1A1A"/>
                </a:solidFill>
                <a:latin typeface="Red Hat Text"/>
              </a:rPr>
              <a:t>A trace follows one request: method, route, status, total time</a:t>
            </a:r>
          </a:p>
        </p:txBody>
      </p:sp>
      <p:sp>
        <p:nvSpPr>
          <p:cNvPr id="12" name="Rounded Rectangle 11"/>
          <p:cNvSpPr/>
          <p:nvPr/>
        </p:nvSpPr>
        <p:spPr>
          <a:xfrm>
            <a:off x="841248" y="3602736"/>
            <a:ext cx="5715000" cy="530352"/>
          </a:xfrm>
          <a:prstGeom prst="roundRect">
            <a:avLst>
              <a:gd name="adj" fmla="val 6000"/>
            </a:avLst>
          </a:prstGeom>
          <a:solidFill>
            <a:srgbClr val="F5F6F8"/>
          </a:solidFill>
          <a:ln w="12700">
            <a:solidFill>
              <a:srgbClr val="DDE1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3" name="Picture 12" descr="check_steel.png"/>
          <p:cNvPicPr>
            <a:picLocks noChangeAspect="1"/>
          </p:cNvPicPr>
          <p:nvPr/>
        </p:nvPicPr>
        <p:blipFill>
          <a:blip r:embed="rId3"/>
          <a:stretch>
            <a:fillRect/>
          </a:stretch>
        </p:blipFill>
        <p:spPr>
          <a:xfrm>
            <a:off x="987552" y="3749040"/>
            <a:ext cx="237744" cy="237744"/>
          </a:xfrm>
          <a:prstGeom prst="rect">
            <a:avLst/>
          </a:prstGeom>
        </p:spPr>
      </p:pic>
      <p:sp>
        <p:nvSpPr>
          <p:cNvPr id="14" name="TextBox 13"/>
          <p:cNvSpPr txBox="1"/>
          <p:nvPr/>
        </p:nvSpPr>
        <p:spPr>
          <a:xfrm>
            <a:off x="1353312" y="3602736"/>
            <a:ext cx="5029200" cy="530352"/>
          </a:xfrm>
          <a:prstGeom prst="rect">
            <a:avLst/>
          </a:prstGeom>
          <a:noFill/>
        </p:spPr>
        <p:txBody>
          <a:bodyPr wrap="square" anchor="ctr" lIns="0" rIns="0" tIns="0" bIns="0">
            <a:spAutoFit/>
          </a:bodyPr>
          <a:lstStyle/>
          <a:p>
            <a:pPr algn="l">
              <a:lnSpc>
                <a:spcPct val="106000"/>
              </a:lnSpc>
              <a:spcBef>
                <a:spcPts val="0"/>
              </a:spcBef>
              <a:spcAft>
                <a:spcPts val="0"/>
              </a:spcAft>
            </a:pPr>
            <a:r>
              <a:rPr sz="1200" b="0">
                <a:solidFill>
                  <a:srgbClr val="1A1A1A"/>
                </a:solidFill>
                <a:latin typeface="Red Hat Text"/>
              </a:rPr>
              <a:t>**Observe → Traces** (Cluster Observability Operator + Tempo): `{ service.name = "parasol-claims" }`</a:t>
            </a:r>
          </a:p>
        </p:txBody>
      </p:sp>
      <p:sp>
        <p:nvSpPr>
          <p:cNvPr id="15" name="Rounded Rectangle 14"/>
          <p:cNvSpPr/>
          <p:nvPr/>
        </p:nvSpPr>
        <p:spPr>
          <a:xfrm>
            <a:off x="841248" y="4206240"/>
            <a:ext cx="5715000" cy="530352"/>
          </a:xfrm>
          <a:prstGeom prst="roundRect">
            <a:avLst>
              <a:gd name="adj" fmla="val 6000"/>
            </a:avLst>
          </a:prstGeom>
          <a:solidFill>
            <a:srgbClr val="F5F6F8"/>
          </a:solidFill>
          <a:ln w="12700">
            <a:solidFill>
              <a:srgbClr val="DDE1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6" name="Picture 15" descr="check_steel.png"/>
          <p:cNvPicPr>
            <a:picLocks noChangeAspect="1"/>
          </p:cNvPicPr>
          <p:nvPr/>
        </p:nvPicPr>
        <p:blipFill>
          <a:blip r:embed="rId3"/>
          <a:stretch>
            <a:fillRect/>
          </a:stretch>
        </p:blipFill>
        <p:spPr>
          <a:xfrm>
            <a:off x="987552" y="4352544"/>
            <a:ext cx="237744" cy="237744"/>
          </a:xfrm>
          <a:prstGeom prst="rect">
            <a:avLst/>
          </a:prstGeom>
        </p:spPr>
      </p:pic>
      <p:sp>
        <p:nvSpPr>
          <p:cNvPr id="17" name="TextBox 16"/>
          <p:cNvSpPr txBox="1"/>
          <p:nvPr/>
        </p:nvSpPr>
        <p:spPr>
          <a:xfrm>
            <a:off x="1353312" y="4206240"/>
            <a:ext cx="5029200" cy="530352"/>
          </a:xfrm>
          <a:prstGeom prst="rect">
            <a:avLst/>
          </a:prstGeom>
          <a:noFill/>
        </p:spPr>
        <p:txBody>
          <a:bodyPr wrap="square" anchor="ctr" lIns="0" rIns="0" tIns="0" bIns="0">
            <a:spAutoFit/>
          </a:bodyPr>
          <a:lstStyle/>
          <a:p>
            <a:pPr algn="l">
              <a:lnSpc>
                <a:spcPct val="106000"/>
              </a:lnSpc>
              <a:spcBef>
                <a:spcPts val="0"/>
              </a:spcBef>
              <a:spcAft>
                <a:spcPts val="0"/>
              </a:spcAft>
            </a:pPr>
            <a:r>
              <a:rPr sz="1200" b="0">
                <a:solidFill>
                  <a:srgbClr val="1A1A1A"/>
                </a:solidFill>
                <a:latin typeface="Red Hat Text"/>
              </a:rPr>
              <a:t>Rank by duration to find the outlier endpoint; read code for the *why*</a:t>
            </a:r>
          </a:p>
        </p:txBody>
      </p:sp>
      <p:sp>
        <p:nvSpPr>
          <p:cNvPr id="18" name="Rounded Rectangle 17"/>
          <p:cNvSpPr/>
          <p:nvPr/>
        </p:nvSpPr>
        <p:spPr>
          <a:xfrm>
            <a:off x="841248" y="4809744"/>
            <a:ext cx="5715000" cy="530352"/>
          </a:xfrm>
          <a:prstGeom prst="roundRect">
            <a:avLst>
              <a:gd name="adj" fmla="val 6000"/>
            </a:avLst>
          </a:prstGeom>
          <a:solidFill>
            <a:srgbClr val="F5F6F8"/>
          </a:solidFill>
          <a:ln w="12700">
            <a:solidFill>
              <a:srgbClr val="DDE1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9" name="Picture 18" descr="check_steel.png"/>
          <p:cNvPicPr>
            <a:picLocks noChangeAspect="1"/>
          </p:cNvPicPr>
          <p:nvPr/>
        </p:nvPicPr>
        <p:blipFill>
          <a:blip r:embed="rId3"/>
          <a:stretch>
            <a:fillRect/>
          </a:stretch>
        </p:blipFill>
        <p:spPr>
          <a:xfrm>
            <a:off x="987552" y="4956048"/>
            <a:ext cx="237744" cy="237744"/>
          </a:xfrm>
          <a:prstGeom prst="rect">
            <a:avLst/>
          </a:prstGeom>
        </p:spPr>
      </p:pic>
      <p:sp>
        <p:nvSpPr>
          <p:cNvPr id="20" name="TextBox 19"/>
          <p:cNvSpPr txBox="1"/>
          <p:nvPr/>
        </p:nvSpPr>
        <p:spPr>
          <a:xfrm>
            <a:off x="1353312" y="4809744"/>
            <a:ext cx="5029200" cy="530352"/>
          </a:xfrm>
          <a:prstGeom prst="rect">
            <a:avLst/>
          </a:prstGeom>
          <a:noFill/>
        </p:spPr>
        <p:txBody>
          <a:bodyPr wrap="square" anchor="ctr" lIns="0" rIns="0" tIns="0" bIns="0">
            <a:spAutoFit/>
          </a:bodyPr>
          <a:lstStyle/>
          <a:p>
            <a:pPr algn="l">
              <a:lnSpc>
                <a:spcPct val="106000"/>
              </a:lnSpc>
              <a:spcBef>
                <a:spcPts val="0"/>
              </a:spcBef>
              <a:spcAft>
                <a:spcPts val="0"/>
              </a:spcAft>
            </a:pPr>
            <a:r>
              <a:rPr sz="1200" b="0">
                <a:solidFill>
                  <a:srgbClr val="1A1A1A"/>
                </a:solidFill>
                <a:latin typeface="Red Hat Text"/>
              </a:rPr>
              <a:t>The `trace_id` **exemplar** links a metric spike straight to one trace</a:t>
            </a:r>
          </a:p>
        </p:txBody>
      </p:sp>
      <p:sp>
        <p:nvSpPr>
          <p:cNvPr id="21" name="Rounded Rectangle 20"/>
          <p:cNvSpPr/>
          <p:nvPr/>
        </p:nvSpPr>
        <p:spPr>
          <a:xfrm>
            <a:off x="6812280" y="2395728"/>
            <a:ext cx="4538167" cy="2944368"/>
          </a:xfrm>
          <a:prstGeom prst="roundRect">
            <a:avLst>
              <a:gd name="adj" fmla="val 4000"/>
            </a:avLst>
          </a:prstGeom>
          <a:solidFill>
            <a:srgbClr val="FFFFFF"/>
          </a:solidFill>
          <a:ln w="15240">
            <a:solidFill>
              <a:srgbClr val="DDE1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ounded Rectangle 21"/>
          <p:cNvSpPr/>
          <p:nvPr/>
        </p:nvSpPr>
        <p:spPr>
          <a:xfrm>
            <a:off x="7013448" y="2596896"/>
            <a:ext cx="1298448" cy="310896"/>
          </a:xfrm>
          <a:prstGeom prst="roundRect">
            <a:avLst>
              <a:gd name="adj" fmla="val 50000"/>
            </a:avLst>
          </a:prstGeom>
          <a:solidFill>
            <a:srgbClr val="FCEC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7013448" y="2596896"/>
            <a:ext cx="1298448" cy="310896"/>
          </a:xfrm>
          <a:prstGeom prst="rect">
            <a:avLst/>
          </a:prstGeom>
          <a:noFill/>
        </p:spPr>
        <p:txBody>
          <a:bodyPr wrap="none" anchor="ctr" lIns="0" rIns="0" tIns="0" bIns="0">
            <a:spAutoFit/>
          </a:bodyPr>
          <a:lstStyle/>
          <a:p>
            <a:pPr algn="ctr">
              <a:lnSpc>
                <a:spcPct val="106000"/>
              </a:lnSpc>
              <a:spcBef>
                <a:spcPts val="0"/>
              </a:spcBef>
              <a:spcAft>
                <a:spcPts val="0"/>
              </a:spcAft>
            </a:pPr>
            <a:r>
              <a:rPr sz="850" b="1">
                <a:solidFill>
                  <a:srgbClr val="B80000"/>
                </a:solidFill>
                <a:latin typeface="Red Hat Display"/>
              </a:rPr>
              <a:t>MEDIA PASS</a:t>
            </a:r>
          </a:p>
        </p:txBody>
      </p:sp>
      <p:pic>
        <p:nvPicPr>
          <p:cNvPr id="24" name="Picture 23" descr="eye_slate.png"/>
          <p:cNvPicPr>
            <a:picLocks noChangeAspect="1"/>
          </p:cNvPicPr>
          <p:nvPr/>
        </p:nvPicPr>
        <p:blipFill>
          <a:blip r:embed="rId4"/>
          <a:stretch>
            <a:fillRect/>
          </a:stretch>
        </p:blipFill>
        <p:spPr>
          <a:xfrm>
            <a:off x="8843619" y="3108960"/>
            <a:ext cx="475488" cy="475488"/>
          </a:xfrm>
          <a:prstGeom prst="rect">
            <a:avLst/>
          </a:prstGeom>
        </p:spPr>
      </p:pic>
      <p:sp>
        <p:nvSpPr>
          <p:cNvPr id="25" name="TextBox 24"/>
          <p:cNvSpPr txBox="1"/>
          <p:nvPr/>
        </p:nvSpPr>
        <p:spPr>
          <a:xfrm>
            <a:off x="7050024" y="3721608"/>
            <a:ext cx="4062679" cy="1481328"/>
          </a:xfrm>
          <a:prstGeom prst="rect">
            <a:avLst/>
          </a:prstGeom>
          <a:noFill/>
        </p:spPr>
        <p:txBody>
          <a:bodyPr wrap="square" anchor="t" lIns="0" rIns="0" tIns="0" bIns="0">
            <a:spAutoFit/>
          </a:bodyPr>
          <a:lstStyle/>
          <a:p>
            <a:pPr algn="l">
              <a:lnSpc>
                <a:spcPct val="120000"/>
              </a:lnSpc>
              <a:spcBef>
                <a:spcPts val="0"/>
              </a:spcBef>
              <a:spcAft>
                <a:spcPts val="0"/>
              </a:spcAft>
            </a:pPr>
            <a:r>
              <a:rPr sz="950" b="0">
                <a:solidFill>
                  <a:srgbClr val="8A9099"/>
                </a:solidFill>
                <a:latin typeface="Red Hat Text"/>
              </a:rPr>
              <a:t>Concept-style trace waterfall for /history (single HTTP span today), with a callout "+ DB spans = enhancement" and an exemplar arrow from a metric spike to a trace.</a:t>
            </a:r>
          </a:p>
        </p:txBody>
      </p:sp>
      <p:cxnSp>
        <p:nvCxnSpPr>
          <p:cNvPr id="26" name="Connector 25"/>
          <p:cNvCxnSpPr/>
          <p:nvPr/>
        </p:nvCxnSpPr>
        <p:spPr>
          <a:xfrm>
            <a:off x="841248" y="6437376"/>
            <a:ext cx="10509199" cy="0"/>
          </a:xfrm>
          <a:prstGeom prst="bentConnector3">
            <a:avLst/>
          </a:prstGeom>
          <a:ln w="12700">
            <a:solidFill>
              <a:srgbClr val="DDE1E6"/>
            </a:solidFill>
          </a:ln>
          <a:effectLst/>
        </p:spPr>
        <p:style>
          <a:lnRef idx="2">
            <a:schemeClr val="accent1"/>
          </a:lnRef>
          <a:fillRef idx="0">
            <a:schemeClr val="accent1"/>
          </a:fillRef>
          <a:effectRef idx="1">
            <a:schemeClr val="accent1"/>
          </a:effectRef>
          <a:fontRef idx="minor">
            <a:schemeClr val="tx1"/>
          </a:fontRef>
        </p:style>
      </p:cxnSp>
      <p:sp>
        <p:nvSpPr>
          <p:cNvPr id="27" name="TextBox 26"/>
          <p:cNvSpPr txBox="1"/>
          <p:nvPr/>
        </p:nvSpPr>
        <p:spPr>
          <a:xfrm>
            <a:off x="841248" y="6473952"/>
            <a:ext cx="7315200" cy="274320"/>
          </a:xfrm>
          <a:prstGeom prst="rect">
            <a:avLst/>
          </a:prstGeom>
          <a:noFill/>
        </p:spPr>
        <p:txBody>
          <a:bodyPr wrap="square" anchor="t" lIns="0" rIns="0" tIns="0" bIns="0">
            <a:spAutoFit/>
          </a:bodyPr>
          <a:lstStyle/>
          <a:p>
            <a:pPr algn="l">
              <a:lnSpc>
                <a:spcPct val="106000"/>
              </a:lnSpc>
              <a:spcBef>
                <a:spcPts val="0"/>
              </a:spcBef>
              <a:spcAft>
                <a:spcPts val="0"/>
              </a:spcAft>
            </a:pPr>
            <a:r>
              <a:rPr sz="950" b="0">
                <a:solidFill>
                  <a:srgbClr val="8A9099"/>
                </a:solidFill>
                <a:latin typeface="Red Hat Text"/>
              </a:rPr>
              <a:t>CONFIDENTIAL</a:t>
            </a:r>
          </a:p>
        </p:txBody>
      </p:sp>
      <p:sp>
        <p:nvSpPr>
          <p:cNvPr id="28" name="TextBox 27"/>
          <p:cNvSpPr txBox="1"/>
          <p:nvPr/>
        </p:nvSpPr>
        <p:spPr>
          <a:xfrm>
            <a:off x="10801807" y="6473952"/>
            <a:ext cx="548640" cy="274320"/>
          </a:xfrm>
          <a:prstGeom prst="rect">
            <a:avLst/>
          </a:prstGeom>
          <a:noFill/>
        </p:spPr>
        <p:txBody>
          <a:bodyPr wrap="square" anchor="t" lIns="0" rIns="0" tIns="0" bIns="0">
            <a:spAutoFit/>
          </a:bodyPr>
          <a:lstStyle/>
          <a:p>
            <a:pPr algn="r">
              <a:lnSpc>
                <a:spcPct val="106000"/>
              </a:lnSpc>
              <a:spcBef>
                <a:spcPts val="0"/>
              </a:spcBef>
              <a:spcAft>
                <a:spcPts val="0"/>
              </a:spcAft>
            </a:pPr>
            <a:r>
              <a:rPr sz="950" b="0">
                <a:solidFill>
                  <a:srgbClr val="8A9099"/>
                </a:solidFill>
                <a:latin typeface="Red Hat Text"/>
              </a:rPr>
              <a:t>92</a:t>
            </a:r>
          </a:p>
        </p:txBody>
      </p:sp>
    </p:spTree>
  </p:cSld>
  <p:clrMapOvr>
    <a:masterClrMapping/>
  </p:clrMapOvr>
</p:sld>
</file>

<file path=ppt/slides/slide10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redhat_logo.jpg"/>
          <p:cNvPicPr>
            <a:picLocks noChangeAspect="1"/>
          </p:cNvPicPr>
          <p:nvPr/>
        </p:nvPicPr>
        <p:blipFill>
          <a:blip r:embed="rId2"/>
          <a:stretch>
            <a:fillRect/>
          </a:stretch>
        </p:blipFill>
        <p:spPr>
          <a:xfrm>
            <a:off x="10326319" y="475488"/>
            <a:ext cx="1024128" cy="242248"/>
          </a:xfrm>
          <a:prstGeom prst="rect">
            <a:avLst/>
          </a:prstGeom>
        </p:spPr>
      </p:pic>
      <p:sp>
        <p:nvSpPr>
          <p:cNvPr id="3" name="TextBox 2"/>
          <p:cNvSpPr txBox="1"/>
          <p:nvPr/>
        </p:nvSpPr>
        <p:spPr>
          <a:xfrm>
            <a:off x="841248" y="548640"/>
            <a:ext cx="8595360" cy="274320"/>
          </a:xfrm>
          <a:prstGeom prst="rect">
            <a:avLst/>
          </a:prstGeom>
          <a:noFill/>
        </p:spPr>
        <p:txBody>
          <a:bodyPr wrap="square" anchor="t" lIns="0" rIns="0" tIns="0" bIns="0">
            <a:spAutoFit/>
          </a:bodyPr>
          <a:lstStyle/>
          <a:p>
            <a:pPr algn="l">
              <a:lnSpc>
                <a:spcPct val="106000"/>
              </a:lnSpc>
              <a:spcBef>
                <a:spcPts val="0"/>
              </a:spcBef>
              <a:spcAft>
                <a:spcPts val="0"/>
              </a:spcAft>
            </a:pPr>
            <a:r>
              <a:rPr sz="1250" b="1" spc="220">
                <a:solidFill>
                  <a:srgbClr val="EE0000"/>
                </a:solidFill>
                <a:latin typeface="Red Hat Display"/>
              </a:rPr>
              <a:t>M13 · OBSERVABILITY, HEALTH &amp; SCALE</a:t>
            </a:r>
          </a:p>
        </p:txBody>
      </p:sp>
      <p:sp>
        <p:nvSpPr>
          <p:cNvPr id="4" name="TextBox 3"/>
          <p:cNvSpPr txBox="1"/>
          <p:nvPr/>
        </p:nvSpPr>
        <p:spPr>
          <a:xfrm>
            <a:off x="841248" y="877824"/>
            <a:ext cx="10515600" cy="548640"/>
          </a:xfrm>
          <a:prstGeom prst="rect">
            <a:avLst/>
          </a:prstGeom>
          <a:noFill/>
        </p:spPr>
        <p:txBody>
          <a:bodyPr wrap="none" anchor="t" lIns="0" rIns="0" tIns="0" bIns="0">
            <a:spAutoFit/>
          </a:bodyPr>
          <a:lstStyle/>
          <a:p>
            <a:pPr algn="l">
              <a:lnSpc>
                <a:spcPct val="100000"/>
              </a:lnSpc>
              <a:spcBef>
                <a:spcPts val="0"/>
              </a:spcBef>
              <a:spcAft>
                <a:spcPts val="0"/>
              </a:spcAft>
            </a:pPr>
            <a:r>
              <a:rPr sz="2500" b="1">
                <a:solidFill>
                  <a:srgbClr val="1A1A1A"/>
                </a:solidFill>
                <a:latin typeface="Red Hat Display"/>
              </a:rPr>
              <a:t>Scaling is a decision, not a reflex</a:t>
            </a:r>
          </a:p>
        </p:txBody>
      </p:sp>
      <p:cxnSp>
        <p:nvCxnSpPr>
          <p:cNvPr id="5" name="Connector 4"/>
          <p:cNvCxnSpPr/>
          <p:nvPr/>
        </p:nvCxnSpPr>
        <p:spPr>
          <a:xfrm>
            <a:off x="841248" y="1554480"/>
            <a:ext cx="1371600" cy="0"/>
          </a:xfrm>
          <a:prstGeom prst="bentConnector3">
            <a:avLst/>
          </a:prstGeom>
          <a:ln w="31750">
            <a:solidFill>
              <a:srgbClr val="EE0000"/>
            </a:solidFill>
          </a:ln>
          <a:effectLst/>
        </p:spPr>
        <p:style>
          <a:lnRef idx="2">
            <a:schemeClr val="accent1"/>
          </a:lnRef>
          <a:fillRef idx="0">
            <a:schemeClr val="accent1"/>
          </a:fillRef>
          <a:effectRef idx="1">
            <a:schemeClr val="accent1"/>
          </a:effectRef>
          <a:fontRef idx="minor">
            <a:schemeClr val="tx1"/>
          </a:fontRef>
        </p:style>
      </p:cxnSp>
      <p:sp>
        <p:nvSpPr>
          <p:cNvPr id="6" name="Rounded Rectangle 5"/>
          <p:cNvSpPr/>
          <p:nvPr/>
        </p:nvSpPr>
        <p:spPr>
          <a:xfrm>
            <a:off x="841248" y="2395728"/>
            <a:ext cx="5715000" cy="530352"/>
          </a:xfrm>
          <a:prstGeom prst="roundRect">
            <a:avLst>
              <a:gd name="adj" fmla="val 6000"/>
            </a:avLst>
          </a:prstGeom>
          <a:solidFill>
            <a:srgbClr val="F5F6F8"/>
          </a:solidFill>
          <a:ln w="12700">
            <a:solidFill>
              <a:srgbClr val="DDE1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check_steel.png"/>
          <p:cNvPicPr>
            <a:picLocks noChangeAspect="1"/>
          </p:cNvPicPr>
          <p:nvPr/>
        </p:nvPicPr>
        <p:blipFill>
          <a:blip r:embed="rId3"/>
          <a:stretch>
            <a:fillRect/>
          </a:stretch>
        </p:blipFill>
        <p:spPr>
          <a:xfrm>
            <a:off x="987552" y="2542032"/>
            <a:ext cx="237744" cy="237744"/>
          </a:xfrm>
          <a:prstGeom prst="rect">
            <a:avLst/>
          </a:prstGeom>
        </p:spPr>
      </p:pic>
      <p:sp>
        <p:nvSpPr>
          <p:cNvPr id="8" name="TextBox 7"/>
          <p:cNvSpPr txBox="1"/>
          <p:nvPr/>
        </p:nvSpPr>
        <p:spPr>
          <a:xfrm>
            <a:off x="1353312" y="2395728"/>
            <a:ext cx="5029200" cy="530352"/>
          </a:xfrm>
          <a:prstGeom prst="rect">
            <a:avLst/>
          </a:prstGeom>
          <a:noFill/>
        </p:spPr>
        <p:txBody>
          <a:bodyPr wrap="square" anchor="ctr" lIns="0" rIns="0" tIns="0" bIns="0">
            <a:spAutoFit/>
          </a:bodyPr>
          <a:lstStyle/>
          <a:p>
            <a:pPr algn="l">
              <a:lnSpc>
                <a:spcPct val="106000"/>
              </a:lnSpc>
              <a:spcBef>
                <a:spcPts val="0"/>
              </a:spcBef>
              <a:spcAft>
                <a:spcPts val="0"/>
              </a:spcAft>
            </a:pPr>
            <a:r>
              <a:rPr sz="1200" b="0">
                <a:solidFill>
                  <a:srgbClr val="1A1A1A"/>
                </a:solidFill>
                <a:latin typeface="Red Hat Text"/>
              </a:rPr>
              <a:t>**HPA** — add replicas on CPU/memory (the workhorse; this module)</a:t>
            </a:r>
          </a:p>
        </p:txBody>
      </p:sp>
      <p:sp>
        <p:nvSpPr>
          <p:cNvPr id="9" name="Rounded Rectangle 8"/>
          <p:cNvSpPr/>
          <p:nvPr/>
        </p:nvSpPr>
        <p:spPr>
          <a:xfrm>
            <a:off x="841248" y="2999232"/>
            <a:ext cx="5715000" cy="530352"/>
          </a:xfrm>
          <a:prstGeom prst="roundRect">
            <a:avLst>
              <a:gd name="adj" fmla="val 6000"/>
            </a:avLst>
          </a:prstGeom>
          <a:solidFill>
            <a:srgbClr val="F5F6F8"/>
          </a:solidFill>
          <a:ln w="12700">
            <a:solidFill>
              <a:srgbClr val="DDE1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0" name="Picture 9" descr="check_steel.png"/>
          <p:cNvPicPr>
            <a:picLocks noChangeAspect="1"/>
          </p:cNvPicPr>
          <p:nvPr/>
        </p:nvPicPr>
        <p:blipFill>
          <a:blip r:embed="rId3"/>
          <a:stretch>
            <a:fillRect/>
          </a:stretch>
        </p:blipFill>
        <p:spPr>
          <a:xfrm>
            <a:off x="987552" y="3145536"/>
            <a:ext cx="237744" cy="237744"/>
          </a:xfrm>
          <a:prstGeom prst="rect">
            <a:avLst/>
          </a:prstGeom>
        </p:spPr>
      </p:pic>
      <p:sp>
        <p:nvSpPr>
          <p:cNvPr id="11" name="TextBox 10"/>
          <p:cNvSpPr txBox="1"/>
          <p:nvPr/>
        </p:nvSpPr>
        <p:spPr>
          <a:xfrm>
            <a:off x="1353312" y="2999232"/>
            <a:ext cx="5029200" cy="530352"/>
          </a:xfrm>
          <a:prstGeom prst="rect">
            <a:avLst/>
          </a:prstGeom>
          <a:noFill/>
        </p:spPr>
        <p:txBody>
          <a:bodyPr wrap="square" anchor="ctr" lIns="0" rIns="0" tIns="0" bIns="0">
            <a:spAutoFit/>
          </a:bodyPr>
          <a:lstStyle/>
          <a:p>
            <a:pPr algn="l">
              <a:lnSpc>
                <a:spcPct val="106000"/>
              </a:lnSpc>
              <a:spcBef>
                <a:spcPts val="0"/>
              </a:spcBef>
              <a:spcAft>
                <a:spcPts val="0"/>
              </a:spcAft>
            </a:pPr>
            <a:r>
              <a:rPr sz="1200" b="0">
                <a:solidFill>
                  <a:srgbClr val="1A1A1A"/>
                </a:solidFill>
                <a:latin typeface="Red Hat Text"/>
              </a:rPr>
              <a:t>**Serverless** — scale to zero when idle (cross-ref: Serverless module)</a:t>
            </a:r>
          </a:p>
        </p:txBody>
      </p:sp>
      <p:sp>
        <p:nvSpPr>
          <p:cNvPr id="12" name="Rounded Rectangle 11"/>
          <p:cNvSpPr/>
          <p:nvPr/>
        </p:nvSpPr>
        <p:spPr>
          <a:xfrm>
            <a:off x="841248" y="3602736"/>
            <a:ext cx="5715000" cy="530352"/>
          </a:xfrm>
          <a:prstGeom prst="roundRect">
            <a:avLst>
              <a:gd name="adj" fmla="val 6000"/>
            </a:avLst>
          </a:prstGeom>
          <a:solidFill>
            <a:srgbClr val="F5F6F8"/>
          </a:solidFill>
          <a:ln w="12700">
            <a:solidFill>
              <a:srgbClr val="DDE1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3" name="Picture 12" descr="check_steel.png"/>
          <p:cNvPicPr>
            <a:picLocks noChangeAspect="1"/>
          </p:cNvPicPr>
          <p:nvPr/>
        </p:nvPicPr>
        <p:blipFill>
          <a:blip r:embed="rId3"/>
          <a:stretch>
            <a:fillRect/>
          </a:stretch>
        </p:blipFill>
        <p:spPr>
          <a:xfrm>
            <a:off x="987552" y="3749040"/>
            <a:ext cx="237744" cy="237744"/>
          </a:xfrm>
          <a:prstGeom prst="rect">
            <a:avLst/>
          </a:prstGeom>
        </p:spPr>
      </p:pic>
      <p:sp>
        <p:nvSpPr>
          <p:cNvPr id="14" name="TextBox 13"/>
          <p:cNvSpPr txBox="1"/>
          <p:nvPr/>
        </p:nvSpPr>
        <p:spPr>
          <a:xfrm>
            <a:off x="1353312" y="3602736"/>
            <a:ext cx="5029200" cy="530352"/>
          </a:xfrm>
          <a:prstGeom prst="rect">
            <a:avLst/>
          </a:prstGeom>
          <a:noFill/>
        </p:spPr>
        <p:txBody>
          <a:bodyPr wrap="square" anchor="ctr" lIns="0" rIns="0" tIns="0" bIns="0">
            <a:spAutoFit/>
          </a:bodyPr>
          <a:lstStyle/>
          <a:p>
            <a:pPr algn="l">
              <a:lnSpc>
                <a:spcPct val="106000"/>
              </a:lnSpc>
              <a:spcBef>
                <a:spcPts val="0"/>
              </a:spcBef>
              <a:spcAft>
                <a:spcPts val="0"/>
              </a:spcAft>
            </a:pPr>
            <a:r>
              <a:rPr sz="1200" b="0">
                <a:solidFill>
                  <a:srgbClr val="1A1A1A"/>
                </a:solidFill>
                <a:latin typeface="Red Hat Text"/>
              </a:rPr>
              <a:t>**KEDA** — scale on queue depth / events (Jobs + eventing modules)</a:t>
            </a:r>
          </a:p>
        </p:txBody>
      </p:sp>
      <p:sp>
        <p:nvSpPr>
          <p:cNvPr id="15" name="Rounded Rectangle 14"/>
          <p:cNvSpPr/>
          <p:nvPr/>
        </p:nvSpPr>
        <p:spPr>
          <a:xfrm>
            <a:off x="841248" y="4206240"/>
            <a:ext cx="5715000" cy="530352"/>
          </a:xfrm>
          <a:prstGeom prst="roundRect">
            <a:avLst>
              <a:gd name="adj" fmla="val 6000"/>
            </a:avLst>
          </a:prstGeom>
          <a:solidFill>
            <a:srgbClr val="F5F6F8"/>
          </a:solidFill>
          <a:ln w="12700">
            <a:solidFill>
              <a:srgbClr val="DDE1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6" name="Picture 15" descr="check_steel.png"/>
          <p:cNvPicPr>
            <a:picLocks noChangeAspect="1"/>
          </p:cNvPicPr>
          <p:nvPr/>
        </p:nvPicPr>
        <p:blipFill>
          <a:blip r:embed="rId3"/>
          <a:stretch>
            <a:fillRect/>
          </a:stretch>
        </p:blipFill>
        <p:spPr>
          <a:xfrm>
            <a:off x="987552" y="4352544"/>
            <a:ext cx="237744" cy="237744"/>
          </a:xfrm>
          <a:prstGeom prst="rect">
            <a:avLst/>
          </a:prstGeom>
        </p:spPr>
      </p:pic>
      <p:sp>
        <p:nvSpPr>
          <p:cNvPr id="17" name="TextBox 16"/>
          <p:cNvSpPr txBox="1"/>
          <p:nvPr/>
        </p:nvSpPr>
        <p:spPr>
          <a:xfrm>
            <a:off x="1353312" y="4206240"/>
            <a:ext cx="5029200" cy="530352"/>
          </a:xfrm>
          <a:prstGeom prst="rect">
            <a:avLst/>
          </a:prstGeom>
          <a:noFill/>
        </p:spPr>
        <p:txBody>
          <a:bodyPr wrap="square" anchor="ctr" lIns="0" rIns="0" tIns="0" bIns="0">
            <a:spAutoFit/>
          </a:bodyPr>
          <a:lstStyle/>
          <a:p>
            <a:pPr algn="l">
              <a:lnSpc>
                <a:spcPct val="106000"/>
              </a:lnSpc>
              <a:spcBef>
                <a:spcPts val="0"/>
              </a:spcBef>
              <a:spcAft>
                <a:spcPts val="0"/>
              </a:spcAft>
            </a:pPr>
            <a:r>
              <a:rPr sz="1200" b="0">
                <a:solidFill>
                  <a:srgbClr val="1A1A1A"/>
                </a:solidFill>
                <a:latin typeface="Red Hat Text"/>
              </a:rPr>
              <a:t>**VPA** — right-size one pod's requests (concept only; never pair with HPA on the same resource)</a:t>
            </a:r>
          </a:p>
        </p:txBody>
      </p:sp>
      <p:sp>
        <p:nvSpPr>
          <p:cNvPr id="18" name="Rounded Rectangle 17"/>
          <p:cNvSpPr/>
          <p:nvPr/>
        </p:nvSpPr>
        <p:spPr>
          <a:xfrm>
            <a:off x="841248" y="4809744"/>
            <a:ext cx="5715000" cy="530352"/>
          </a:xfrm>
          <a:prstGeom prst="roundRect">
            <a:avLst>
              <a:gd name="adj" fmla="val 6000"/>
            </a:avLst>
          </a:prstGeom>
          <a:solidFill>
            <a:srgbClr val="F5F6F8"/>
          </a:solidFill>
          <a:ln w="12700">
            <a:solidFill>
              <a:srgbClr val="DDE1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9" name="Picture 18" descr="check_steel.png"/>
          <p:cNvPicPr>
            <a:picLocks noChangeAspect="1"/>
          </p:cNvPicPr>
          <p:nvPr/>
        </p:nvPicPr>
        <p:blipFill>
          <a:blip r:embed="rId3"/>
          <a:stretch>
            <a:fillRect/>
          </a:stretch>
        </p:blipFill>
        <p:spPr>
          <a:xfrm>
            <a:off x="987552" y="4956048"/>
            <a:ext cx="237744" cy="237744"/>
          </a:xfrm>
          <a:prstGeom prst="rect">
            <a:avLst/>
          </a:prstGeom>
        </p:spPr>
      </p:pic>
      <p:sp>
        <p:nvSpPr>
          <p:cNvPr id="20" name="TextBox 19"/>
          <p:cNvSpPr txBox="1"/>
          <p:nvPr/>
        </p:nvSpPr>
        <p:spPr>
          <a:xfrm>
            <a:off x="1353312" y="4809744"/>
            <a:ext cx="5029200" cy="530352"/>
          </a:xfrm>
          <a:prstGeom prst="rect">
            <a:avLst/>
          </a:prstGeom>
          <a:noFill/>
        </p:spPr>
        <p:txBody>
          <a:bodyPr wrap="square" anchor="ctr" lIns="0" rIns="0" tIns="0" bIns="0">
            <a:spAutoFit/>
          </a:bodyPr>
          <a:lstStyle/>
          <a:p>
            <a:pPr algn="l">
              <a:lnSpc>
                <a:spcPct val="106000"/>
              </a:lnSpc>
              <a:spcBef>
                <a:spcPts val="0"/>
              </a:spcBef>
              <a:spcAft>
                <a:spcPts val="0"/>
              </a:spcAft>
            </a:pPr>
            <a:r>
              <a:rPr sz="1200" b="0">
                <a:solidFill>
                  <a:srgbClr val="1A1A1A"/>
                </a:solidFill>
                <a:latin typeface="Red Hat Text"/>
              </a:rPr>
              <a:t>Live: burst load → CPU 221% → HPA scales 2→4 in ~24s</a:t>
            </a:r>
          </a:p>
        </p:txBody>
      </p:sp>
      <p:sp>
        <p:nvSpPr>
          <p:cNvPr id="21" name="Rounded Rectangle 20"/>
          <p:cNvSpPr/>
          <p:nvPr/>
        </p:nvSpPr>
        <p:spPr>
          <a:xfrm>
            <a:off x="6812280" y="2395728"/>
            <a:ext cx="4538167" cy="2944368"/>
          </a:xfrm>
          <a:prstGeom prst="roundRect">
            <a:avLst>
              <a:gd name="adj" fmla="val 4000"/>
            </a:avLst>
          </a:prstGeom>
          <a:solidFill>
            <a:srgbClr val="FFFFFF"/>
          </a:solidFill>
          <a:ln w="15240">
            <a:solidFill>
              <a:srgbClr val="DDE1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ounded Rectangle 21"/>
          <p:cNvSpPr/>
          <p:nvPr/>
        </p:nvSpPr>
        <p:spPr>
          <a:xfrm>
            <a:off x="7013448" y="2596896"/>
            <a:ext cx="1298448" cy="310896"/>
          </a:xfrm>
          <a:prstGeom prst="roundRect">
            <a:avLst>
              <a:gd name="adj" fmla="val 50000"/>
            </a:avLst>
          </a:prstGeom>
          <a:solidFill>
            <a:srgbClr val="FCEC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7013448" y="2596896"/>
            <a:ext cx="1298448" cy="310896"/>
          </a:xfrm>
          <a:prstGeom prst="rect">
            <a:avLst/>
          </a:prstGeom>
          <a:noFill/>
        </p:spPr>
        <p:txBody>
          <a:bodyPr wrap="none" anchor="ctr" lIns="0" rIns="0" tIns="0" bIns="0">
            <a:spAutoFit/>
          </a:bodyPr>
          <a:lstStyle/>
          <a:p>
            <a:pPr algn="ctr">
              <a:lnSpc>
                <a:spcPct val="106000"/>
              </a:lnSpc>
              <a:spcBef>
                <a:spcPts val="0"/>
              </a:spcBef>
              <a:spcAft>
                <a:spcPts val="0"/>
              </a:spcAft>
            </a:pPr>
            <a:r>
              <a:rPr sz="850" b="1">
                <a:solidFill>
                  <a:srgbClr val="B80000"/>
                </a:solidFill>
                <a:latin typeface="Red Hat Display"/>
              </a:rPr>
              <a:t>MEDIA PASS</a:t>
            </a:r>
          </a:p>
        </p:txBody>
      </p:sp>
      <p:pic>
        <p:nvPicPr>
          <p:cNvPr id="24" name="Picture 23" descr="eye_slate.png"/>
          <p:cNvPicPr>
            <a:picLocks noChangeAspect="1"/>
          </p:cNvPicPr>
          <p:nvPr/>
        </p:nvPicPr>
        <p:blipFill>
          <a:blip r:embed="rId4"/>
          <a:stretch>
            <a:fillRect/>
          </a:stretch>
        </p:blipFill>
        <p:spPr>
          <a:xfrm>
            <a:off x="8843619" y="3108960"/>
            <a:ext cx="475488" cy="475488"/>
          </a:xfrm>
          <a:prstGeom prst="rect">
            <a:avLst/>
          </a:prstGeom>
        </p:spPr>
      </p:pic>
      <p:sp>
        <p:nvSpPr>
          <p:cNvPr id="25" name="TextBox 24"/>
          <p:cNvSpPr txBox="1"/>
          <p:nvPr/>
        </p:nvSpPr>
        <p:spPr>
          <a:xfrm>
            <a:off x="7050024" y="3721608"/>
            <a:ext cx="4062679" cy="1481328"/>
          </a:xfrm>
          <a:prstGeom prst="rect">
            <a:avLst/>
          </a:prstGeom>
          <a:noFill/>
        </p:spPr>
        <p:txBody>
          <a:bodyPr wrap="square" anchor="t" lIns="0" rIns="0" tIns="0" bIns="0">
            <a:spAutoFit/>
          </a:bodyPr>
          <a:lstStyle/>
          <a:p>
            <a:pPr algn="l">
              <a:lnSpc>
                <a:spcPct val="120000"/>
              </a:lnSpc>
              <a:spcBef>
                <a:spcPts val="0"/>
              </a:spcBef>
              <a:spcAft>
                <a:spcPts val="0"/>
              </a:spcAft>
            </a:pPr>
            <a:r>
              <a:rPr sz="950" b="0">
                <a:solidFill>
                  <a:srgbClr val="8A9099"/>
                </a:solidFill>
                <a:latin typeface="Red Hat Text"/>
              </a:rPr>
              <a:t>Concept diagram observability-health-scale-03-scaling-decision-tree — four branches from "what is the pressure?"; HPA highlighted.</a:t>
            </a:r>
          </a:p>
        </p:txBody>
      </p:sp>
      <p:cxnSp>
        <p:nvCxnSpPr>
          <p:cNvPr id="26" name="Connector 25"/>
          <p:cNvCxnSpPr/>
          <p:nvPr/>
        </p:nvCxnSpPr>
        <p:spPr>
          <a:xfrm>
            <a:off x="841248" y="6437376"/>
            <a:ext cx="10509199" cy="0"/>
          </a:xfrm>
          <a:prstGeom prst="bentConnector3">
            <a:avLst/>
          </a:prstGeom>
          <a:ln w="12700">
            <a:solidFill>
              <a:srgbClr val="DDE1E6"/>
            </a:solidFill>
          </a:ln>
          <a:effectLst/>
        </p:spPr>
        <p:style>
          <a:lnRef idx="2">
            <a:schemeClr val="accent1"/>
          </a:lnRef>
          <a:fillRef idx="0">
            <a:schemeClr val="accent1"/>
          </a:fillRef>
          <a:effectRef idx="1">
            <a:schemeClr val="accent1"/>
          </a:effectRef>
          <a:fontRef idx="minor">
            <a:schemeClr val="tx1"/>
          </a:fontRef>
        </p:style>
      </p:cxnSp>
      <p:sp>
        <p:nvSpPr>
          <p:cNvPr id="27" name="TextBox 26"/>
          <p:cNvSpPr txBox="1"/>
          <p:nvPr/>
        </p:nvSpPr>
        <p:spPr>
          <a:xfrm>
            <a:off x="841248" y="6473952"/>
            <a:ext cx="7315200" cy="274320"/>
          </a:xfrm>
          <a:prstGeom prst="rect">
            <a:avLst/>
          </a:prstGeom>
          <a:noFill/>
        </p:spPr>
        <p:txBody>
          <a:bodyPr wrap="square" anchor="t" lIns="0" rIns="0" tIns="0" bIns="0">
            <a:spAutoFit/>
          </a:bodyPr>
          <a:lstStyle/>
          <a:p>
            <a:pPr algn="l">
              <a:lnSpc>
                <a:spcPct val="106000"/>
              </a:lnSpc>
              <a:spcBef>
                <a:spcPts val="0"/>
              </a:spcBef>
              <a:spcAft>
                <a:spcPts val="0"/>
              </a:spcAft>
            </a:pPr>
            <a:r>
              <a:rPr sz="950" b="0">
                <a:solidFill>
                  <a:srgbClr val="8A9099"/>
                </a:solidFill>
                <a:latin typeface="Red Hat Text"/>
              </a:rPr>
              <a:t>CONFIDENTIAL</a:t>
            </a:r>
          </a:p>
        </p:txBody>
      </p:sp>
      <p:sp>
        <p:nvSpPr>
          <p:cNvPr id="28" name="TextBox 27"/>
          <p:cNvSpPr txBox="1"/>
          <p:nvPr/>
        </p:nvSpPr>
        <p:spPr>
          <a:xfrm>
            <a:off x="10801807" y="6473952"/>
            <a:ext cx="548640" cy="274320"/>
          </a:xfrm>
          <a:prstGeom prst="rect">
            <a:avLst/>
          </a:prstGeom>
          <a:noFill/>
        </p:spPr>
        <p:txBody>
          <a:bodyPr wrap="square" anchor="t" lIns="0" rIns="0" tIns="0" bIns="0">
            <a:spAutoFit/>
          </a:bodyPr>
          <a:lstStyle/>
          <a:p>
            <a:pPr algn="r">
              <a:lnSpc>
                <a:spcPct val="106000"/>
              </a:lnSpc>
              <a:spcBef>
                <a:spcPts val="0"/>
              </a:spcBef>
              <a:spcAft>
                <a:spcPts val="0"/>
              </a:spcAft>
            </a:pPr>
            <a:r>
              <a:rPr sz="950" b="0">
                <a:solidFill>
                  <a:srgbClr val="8A9099"/>
                </a:solidFill>
                <a:latin typeface="Red Hat Text"/>
              </a:rPr>
              <a:t>93</a:t>
            </a:r>
          </a:p>
        </p:txBody>
      </p:sp>
    </p:spTree>
  </p:cSld>
  <p:clrMapOvr>
    <a:masterClrMapping/>
  </p:clrMapOvr>
</p:sld>
</file>

<file path=ppt/slides/slide10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redhat_logo.jpg"/>
          <p:cNvPicPr>
            <a:picLocks noChangeAspect="1"/>
          </p:cNvPicPr>
          <p:nvPr/>
        </p:nvPicPr>
        <p:blipFill>
          <a:blip r:embed="rId2"/>
          <a:stretch>
            <a:fillRect/>
          </a:stretch>
        </p:blipFill>
        <p:spPr>
          <a:xfrm>
            <a:off x="10326319" y="475488"/>
            <a:ext cx="1024128" cy="242248"/>
          </a:xfrm>
          <a:prstGeom prst="rect">
            <a:avLst/>
          </a:prstGeom>
        </p:spPr>
      </p:pic>
      <p:sp>
        <p:nvSpPr>
          <p:cNvPr id="3" name="TextBox 2"/>
          <p:cNvSpPr txBox="1"/>
          <p:nvPr/>
        </p:nvSpPr>
        <p:spPr>
          <a:xfrm>
            <a:off x="841248" y="548640"/>
            <a:ext cx="8595360" cy="274320"/>
          </a:xfrm>
          <a:prstGeom prst="rect">
            <a:avLst/>
          </a:prstGeom>
          <a:noFill/>
        </p:spPr>
        <p:txBody>
          <a:bodyPr wrap="square" anchor="t" lIns="0" rIns="0" tIns="0" bIns="0">
            <a:spAutoFit/>
          </a:bodyPr>
          <a:lstStyle/>
          <a:p>
            <a:pPr algn="l">
              <a:lnSpc>
                <a:spcPct val="106000"/>
              </a:lnSpc>
              <a:spcBef>
                <a:spcPts val="0"/>
              </a:spcBef>
              <a:spcAft>
                <a:spcPts val="0"/>
              </a:spcAft>
            </a:pPr>
            <a:r>
              <a:rPr sz="1250" b="1" spc="220">
                <a:solidFill>
                  <a:srgbClr val="EE0000"/>
                </a:solidFill>
                <a:latin typeface="Red Hat Display"/>
              </a:rPr>
              <a:t>M13 · OBSERVABILITY, HEALTH &amp; SCALE</a:t>
            </a:r>
          </a:p>
        </p:txBody>
      </p:sp>
      <p:sp>
        <p:nvSpPr>
          <p:cNvPr id="4" name="TextBox 3"/>
          <p:cNvSpPr txBox="1"/>
          <p:nvPr/>
        </p:nvSpPr>
        <p:spPr>
          <a:xfrm>
            <a:off x="841248" y="877824"/>
            <a:ext cx="10515600" cy="548640"/>
          </a:xfrm>
          <a:prstGeom prst="rect">
            <a:avLst/>
          </a:prstGeom>
          <a:noFill/>
        </p:spPr>
        <p:txBody>
          <a:bodyPr wrap="none" anchor="t" lIns="0" rIns="0" tIns="0" bIns="0">
            <a:spAutoFit/>
          </a:bodyPr>
          <a:lstStyle/>
          <a:p>
            <a:pPr algn="l">
              <a:lnSpc>
                <a:spcPct val="100000"/>
              </a:lnSpc>
              <a:spcBef>
                <a:spcPts val="0"/>
              </a:spcBef>
              <a:spcAft>
                <a:spcPts val="0"/>
              </a:spcAft>
            </a:pPr>
            <a:r>
              <a:rPr sz="2500" b="1">
                <a:solidFill>
                  <a:srgbClr val="1A1A1A"/>
                </a:solidFill>
                <a:latin typeface="Red Hat Display"/>
              </a:rPr>
              <a:t>Survive the drain with a PodDisruptionBudget</a:t>
            </a:r>
          </a:p>
        </p:txBody>
      </p:sp>
      <p:cxnSp>
        <p:nvCxnSpPr>
          <p:cNvPr id="5" name="Connector 4"/>
          <p:cNvCxnSpPr/>
          <p:nvPr/>
        </p:nvCxnSpPr>
        <p:spPr>
          <a:xfrm>
            <a:off x="841248" y="1554480"/>
            <a:ext cx="1371600" cy="0"/>
          </a:xfrm>
          <a:prstGeom prst="bentConnector3">
            <a:avLst/>
          </a:prstGeom>
          <a:ln w="31750">
            <a:solidFill>
              <a:srgbClr val="EE0000"/>
            </a:solidFill>
          </a:ln>
          <a:effectLst/>
        </p:spPr>
        <p:style>
          <a:lnRef idx="2">
            <a:schemeClr val="accent1"/>
          </a:lnRef>
          <a:fillRef idx="0">
            <a:schemeClr val="accent1"/>
          </a:fillRef>
          <a:effectRef idx="1">
            <a:schemeClr val="accent1"/>
          </a:effectRef>
          <a:fontRef idx="minor">
            <a:schemeClr val="tx1"/>
          </a:fontRef>
        </p:style>
      </p:cxnSp>
      <p:sp>
        <p:nvSpPr>
          <p:cNvPr id="6" name="Rounded Rectangle 5"/>
          <p:cNvSpPr/>
          <p:nvPr/>
        </p:nvSpPr>
        <p:spPr>
          <a:xfrm>
            <a:off x="841248" y="2395728"/>
            <a:ext cx="5715000" cy="530352"/>
          </a:xfrm>
          <a:prstGeom prst="roundRect">
            <a:avLst>
              <a:gd name="adj" fmla="val 6000"/>
            </a:avLst>
          </a:prstGeom>
          <a:solidFill>
            <a:srgbClr val="F5F6F8"/>
          </a:solidFill>
          <a:ln w="12700">
            <a:solidFill>
              <a:srgbClr val="DDE1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check_steel.png"/>
          <p:cNvPicPr>
            <a:picLocks noChangeAspect="1"/>
          </p:cNvPicPr>
          <p:nvPr/>
        </p:nvPicPr>
        <p:blipFill>
          <a:blip r:embed="rId3"/>
          <a:stretch>
            <a:fillRect/>
          </a:stretch>
        </p:blipFill>
        <p:spPr>
          <a:xfrm>
            <a:off x="987552" y="2542032"/>
            <a:ext cx="237744" cy="237744"/>
          </a:xfrm>
          <a:prstGeom prst="rect">
            <a:avLst/>
          </a:prstGeom>
        </p:spPr>
      </p:pic>
      <p:sp>
        <p:nvSpPr>
          <p:cNvPr id="8" name="TextBox 7"/>
          <p:cNvSpPr txBox="1"/>
          <p:nvPr/>
        </p:nvSpPr>
        <p:spPr>
          <a:xfrm>
            <a:off x="1353312" y="2395728"/>
            <a:ext cx="5029200" cy="530352"/>
          </a:xfrm>
          <a:prstGeom prst="rect">
            <a:avLst/>
          </a:prstGeom>
          <a:noFill/>
        </p:spPr>
        <p:txBody>
          <a:bodyPr wrap="square" anchor="ctr" lIns="0" rIns="0" tIns="0" bIns="0">
            <a:spAutoFit/>
          </a:bodyPr>
          <a:lstStyle/>
          <a:p>
            <a:pPr algn="l">
              <a:lnSpc>
                <a:spcPct val="106000"/>
              </a:lnSpc>
              <a:spcBef>
                <a:spcPts val="0"/>
              </a:spcBef>
              <a:spcAft>
                <a:spcPts val="0"/>
              </a:spcAft>
            </a:pPr>
            <a:r>
              <a:rPr sz="1200" b="0">
                <a:solidFill>
                  <a:srgbClr val="1A1A1A"/>
                </a:solidFill>
                <a:latin typeface="Red Hat Text"/>
              </a:rPr>
              <a:t>Node maintenance moves your pods every patch cycle</a:t>
            </a:r>
          </a:p>
        </p:txBody>
      </p:sp>
      <p:sp>
        <p:nvSpPr>
          <p:cNvPr id="9" name="Rounded Rectangle 8"/>
          <p:cNvSpPr/>
          <p:nvPr/>
        </p:nvSpPr>
        <p:spPr>
          <a:xfrm>
            <a:off x="841248" y="2999232"/>
            <a:ext cx="5715000" cy="530352"/>
          </a:xfrm>
          <a:prstGeom prst="roundRect">
            <a:avLst>
              <a:gd name="adj" fmla="val 6000"/>
            </a:avLst>
          </a:prstGeom>
          <a:solidFill>
            <a:srgbClr val="F5F6F8"/>
          </a:solidFill>
          <a:ln w="12700">
            <a:solidFill>
              <a:srgbClr val="DDE1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0" name="Picture 9" descr="check_steel.png"/>
          <p:cNvPicPr>
            <a:picLocks noChangeAspect="1"/>
          </p:cNvPicPr>
          <p:nvPr/>
        </p:nvPicPr>
        <p:blipFill>
          <a:blip r:embed="rId3"/>
          <a:stretch>
            <a:fillRect/>
          </a:stretch>
        </p:blipFill>
        <p:spPr>
          <a:xfrm>
            <a:off x="987552" y="3145536"/>
            <a:ext cx="237744" cy="237744"/>
          </a:xfrm>
          <a:prstGeom prst="rect">
            <a:avLst/>
          </a:prstGeom>
        </p:spPr>
      </p:pic>
      <p:sp>
        <p:nvSpPr>
          <p:cNvPr id="11" name="TextBox 10"/>
          <p:cNvSpPr txBox="1"/>
          <p:nvPr/>
        </p:nvSpPr>
        <p:spPr>
          <a:xfrm>
            <a:off x="1353312" y="2999232"/>
            <a:ext cx="5029200" cy="530352"/>
          </a:xfrm>
          <a:prstGeom prst="rect">
            <a:avLst/>
          </a:prstGeom>
          <a:noFill/>
        </p:spPr>
        <p:txBody>
          <a:bodyPr wrap="square" anchor="ctr" lIns="0" rIns="0" tIns="0" bIns="0">
            <a:spAutoFit/>
          </a:bodyPr>
          <a:lstStyle/>
          <a:p>
            <a:pPr algn="l">
              <a:lnSpc>
                <a:spcPct val="106000"/>
              </a:lnSpc>
              <a:spcBef>
                <a:spcPts val="0"/>
              </a:spcBef>
              <a:spcAft>
                <a:spcPts val="0"/>
              </a:spcAft>
            </a:pPr>
            <a:r>
              <a:rPr sz="1200" b="0">
                <a:solidFill>
                  <a:srgbClr val="1A1A1A"/>
                </a:solidFill>
                <a:latin typeface="Red Hat Text"/>
              </a:rPr>
              <a:t>A **PDB** is the contract: "evict my pods, but never leave me fewer than one"</a:t>
            </a:r>
          </a:p>
        </p:txBody>
      </p:sp>
      <p:sp>
        <p:nvSpPr>
          <p:cNvPr id="12" name="Rounded Rectangle 11"/>
          <p:cNvSpPr/>
          <p:nvPr/>
        </p:nvSpPr>
        <p:spPr>
          <a:xfrm>
            <a:off x="841248" y="3602736"/>
            <a:ext cx="5715000" cy="530352"/>
          </a:xfrm>
          <a:prstGeom prst="roundRect">
            <a:avLst>
              <a:gd name="adj" fmla="val 6000"/>
            </a:avLst>
          </a:prstGeom>
          <a:solidFill>
            <a:srgbClr val="F5F6F8"/>
          </a:solidFill>
          <a:ln w="12700">
            <a:solidFill>
              <a:srgbClr val="DDE1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3" name="Picture 12" descr="check_steel.png"/>
          <p:cNvPicPr>
            <a:picLocks noChangeAspect="1"/>
          </p:cNvPicPr>
          <p:nvPr/>
        </p:nvPicPr>
        <p:blipFill>
          <a:blip r:embed="rId3"/>
          <a:stretch>
            <a:fillRect/>
          </a:stretch>
        </p:blipFill>
        <p:spPr>
          <a:xfrm>
            <a:off x="987552" y="3749040"/>
            <a:ext cx="237744" cy="237744"/>
          </a:xfrm>
          <a:prstGeom prst="rect">
            <a:avLst/>
          </a:prstGeom>
        </p:spPr>
      </p:pic>
      <p:sp>
        <p:nvSpPr>
          <p:cNvPr id="14" name="TextBox 13"/>
          <p:cNvSpPr txBox="1"/>
          <p:nvPr/>
        </p:nvSpPr>
        <p:spPr>
          <a:xfrm>
            <a:off x="1353312" y="3602736"/>
            <a:ext cx="5029200" cy="530352"/>
          </a:xfrm>
          <a:prstGeom prst="rect">
            <a:avLst/>
          </a:prstGeom>
          <a:noFill/>
        </p:spPr>
        <p:txBody>
          <a:bodyPr wrap="square" anchor="ctr" lIns="0" rIns="0" tIns="0" bIns="0">
            <a:spAutoFit/>
          </a:bodyPr>
          <a:lstStyle/>
          <a:p>
            <a:pPr algn="l">
              <a:lnSpc>
                <a:spcPct val="106000"/>
              </a:lnSpc>
              <a:spcBef>
                <a:spcPts val="0"/>
              </a:spcBef>
              <a:spcAft>
                <a:spcPts val="0"/>
              </a:spcAft>
            </a:pPr>
            <a:r>
              <a:rPr sz="1200" b="0">
                <a:solidFill>
                  <a:srgbClr val="1A1A1A"/>
                </a:solidFill>
                <a:latin typeface="Red Hat Text"/>
              </a:rPr>
              <a:t>`ALLOWED DISRUPTIONS` = current healthy − minAvailable</a:t>
            </a:r>
          </a:p>
        </p:txBody>
      </p:sp>
      <p:sp>
        <p:nvSpPr>
          <p:cNvPr id="15" name="Rounded Rectangle 14"/>
          <p:cNvSpPr/>
          <p:nvPr/>
        </p:nvSpPr>
        <p:spPr>
          <a:xfrm>
            <a:off x="841248" y="4206240"/>
            <a:ext cx="5715000" cy="530352"/>
          </a:xfrm>
          <a:prstGeom prst="roundRect">
            <a:avLst>
              <a:gd name="adj" fmla="val 6000"/>
            </a:avLst>
          </a:prstGeom>
          <a:solidFill>
            <a:srgbClr val="F5F6F8"/>
          </a:solidFill>
          <a:ln w="12700">
            <a:solidFill>
              <a:srgbClr val="DDE1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6" name="Picture 15" descr="check_steel.png"/>
          <p:cNvPicPr>
            <a:picLocks noChangeAspect="1"/>
          </p:cNvPicPr>
          <p:nvPr/>
        </p:nvPicPr>
        <p:blipFill>
          <a:blip r:embed="rId3"/>
          <a:stretch>
            <a:fillRect/>
          </a:stretch>
        </p:blipFill>
        <p:spPr>
          <a:xfrm>
            <a:off x="987552" y="4352544"/>
            <a:ext cx="237744" cy="237744"/>
          </a:xfrm>
          <a:prstGeom prst="rect">
            <a:avLst/>
          </a:prstGeom>
        </p:spPr>
      </p:pic>
      <p:sp>
        <p:nvSpPr>
          <p:cNvPr id="17" name="TextBox 16"/>
          <p:cNvSpPr txBox="1"/>
          <p:nvPr/>
        </p:nvSpPr>
        <p:spPr>
          <a:xfrm>
            <a:off x="1353312" y="4206240"/>
            <a:ext cx="5029200" cy="530352"/>
          </a:xfrm>
          <a:prstGeom prst="rect">
            <a:avLst/>
          </a:prstGeom>
          <a:noFill/>
        </p:spPr>
        <p:txBody>
          <a:bodyPr wrap="square" anchor="ctr" lIns="0" rIns="0" tIns="0" bIns="0">
            <a:spAutoFit/>
          </a:bodyPr>
          <a:lstStyle/>
          <a:p>
            <a:pPr algn="l">
              <a:lnSpc>
                <a:spcPct val="106000"/>
              </a:lnSpc>
              <a:spcBef>
                <a:spcPts val="0"/>
              </a:spcBef>
              <a:spcAft>
                <a:spcPts val="0"/>
              </a:spcAft>
            </a:pPr>
            <a:r>
              <a:rPr sz="1200" b="0">
                <a:solidFill>
                  <a:srgbClr val="1A1A1A"/>
                </a:solidFill>
                <a:latin typeface="Red Hat Text"/>
              </a:rPr>
              <a:t>The drain paces itself: evict one, wait for a healthy replacement, then the next</a:t>
            </a:r>
          </a:p>
        </p:txBody>
      </p:sp>
      <p:sp>
        <p:nvSpPr>
          <p:cNvPr id="18" name="Rounded Rectangle 17"/>
          <p:cNvSpPr/>
          <p:nvPr/>
        </p:nvSpPr>
        <p:spPr>
          <a:xfrm>
            <a:off x="841248" y="4809744"/>
            <a:ext cx="5715000" cy="530352"/>
          </a:xfrm>
          <a:prstGeom prst="roundRect">
            <a:avLst>
              <a:gd name="adj" fmla="val 6000"/>
            </a:avLst>
          </a:prstGeom>
          <a:solidFill>
            <a:srgbClr val="F5F6F8"/>
          </a:solidFill>
          <a:ln w="12700">
            <a:solidFill>
              <a:srgbClr val="DDE1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9" name="Picture 18" descr="check_steel.png"/>
          <p:cNvPicPr>
            <a:picLocks noChangeAspect="1"/>
          </p:cNvPicPr>
          <p:nvPr/>
        </p:nvPicPr>
        <p:blipFill>
          <a:blip r:embed="rId3"/>
          <a:stretch>
            <a:fillRect/>
          </a:stretch>
        </p:blipFill>
        <p:spPr>
          <a:xfrm>
            <a:off x="987552" y="4956048"/>
            <a:ext cx="237744" cy="237744"/>
          </a:xfrm>
          <a:prstGeom prst="rect">
            <a:avLst/>
          </a:prstGeom>
        </p:spPr>
      </p:pic>
      <p:sp>
        <p:nvSpPr>
          <p:cNvPr id="20" name="TextBox 19"/>
          <p:cNvSpPr txBox="1"/>
          <p:nvPr/>
        </p:nvSpPr>
        <p:spPr>
          <a:xfrm>
            <a:off x="1353312" y="4809744"/>
            <a:ext cx="5029200" cy="530352"/>
          </a:xfrm>
          <a:prstGeom prst="rect">
            <a:avLst/>
          </a:prstGeom>
          <a:noFill/>
        </p:spPr>
        <p:txBody>
          <a:bodyPr wrap="square" anchor="ctr" lIns="0" rIns="0" tIns="0" bIns="0">
            <a:spAutoFit/>
          </a:bodyPr>
          <a:lstStyle/>
          <a:p>
            <a:pPr algn="l">
              <a:lnSpc>
                <a:spcPct val="106000"/>
              </a:lnSpc>
              <a:spcBef>
                <a:spcPts val="0"/>
              </a:spcBef>
              <a:spcAft>
                <a:spcPts val="0"/>
              </a:spcAft>
            </a:pPr>
            <a:r>
              <a:rPr sz="1200" b="0">
                <a:solidFill>
                  <a:srgbClr val="1A1A1A"/>
                </a:solidFill>
                <a:latin typeface="Red Hat Text"/>
              </a:rPr>
              <a:t>The eviction API refuses the last one: *"Cannot evict pod ... would violate the disruption budget"*</a:t>
            </a:r>
          </a:p>
        </p:txBody>
      </p:sp>
      <p:sp>
        <p:nvSpPr>
          <p:cNvPr id="21" name="Rounded Rectangle 20"/>
          <p:cNvSpPr/>
          <p:nvPr/>
        </p:nvSpPr>
        <p:spPr>
          <a:xfrm>
            <a:off x="6812280" y="2395728"/>
            <a:ext cx="4538167" cy="2944368"/>
          </a:xfrm>
          <a:prstGeom prst="roundRect">
            <a:avLst>
              <a:gd name="adj" fmla="val 4000"/>
            </a:avLst>
          </a:prstGeom>
          <a:solidFill>
            <a:srgbClr val="FFFFFF"/>
          </a:solidFill>
          <a:ln w="15240">
            <a:solidFill>
              <a:srgbClr val="DDE1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ounded Rectangle 21"/>
          <p:cNvSpPr/>
          <p:nvPr/>
        </p:nvSpPr>
        <p:spPr>
          <a:xfrm>
            <a:off x="7013448" y="2596896"/>
            <a:ext cx="1298448" cy="310896"/>
          </a:xfrm>
          <a:prstGeom prst="roundRect">
            <a:avLst>
              <a:gd name="adj" fmla="val 50000"/>
            </a:avLst>
          </a:prstGeom>
          <a:solidFill>
            <a:srgbClr val="FCEC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7013448" y="2596896"/>
            <a:ext cx="1298448" cy="310896"/>
          </a:xfrm>
          <a:prstGeom prst="rect">
            <a:avLst/>
          </a:prstGeom>
          <a:noFill/>
        </p:spPr>
        <p:txBody>
          <a:bodyPr wrap="none" anchor="ctr" lIns="0" rIns="0" tIns="0" bIns="0">
            <a:spAutoFit/>
          </a:bodyPr>
          <a:lstStyle/>
          <a:p>
            <a:pPr algn="ctr">
              <a:lnSpc>
                <a:spcPct val="106000"/>
              </a:lnSpc>
              <a:spcBef>
                <a:spcPts val="0"/>
              </a:spcBef>
              <a:spcAft>
                <a:spcPts val="0"/>
              </a:spcAft>
            </a:pPr>
            <a:r>
              <a:rPr sz="850" b="1">
                <a:solidFill>
                  <a:srgbClr val="B80000"/>
                </a:solidFill>
                <a:latin typeface="Red Hat Display"/>
              </a:rPr>
              <a:t>MEDIA PASS</a:t>
            </a:r>
          </a:p>
        </p:txBody>
      </p:sp>
      <p:pic>
        <p:nvPicPr>
          <p:cNvPr id="24" name="Picture 23" descr="eye_slate.png"/>
          <p:cNvPicPr>
            <a:picLocks noChangeAspect="1"/>
          </p:cNvPicPr>
          <p:nvPr/>
        </p:nvPicPr>
        <p:blipFill>
          <a:blip r:embed="rId4"/>
          <a:stretch>
            <a:fillRect/>
          </a:stretch>
        </p:blipFill>
        <p:spPr>
          <a:xfrm>
            <a:off x="8843619" y="3108960"/>
            <a:ext cx="475488" cy="475488"/>
          </a:xfrm>
          <a:prstGeom prst="rect">
            <a:avLst/>
          </a:prstGeom>
        </p:spPr>
      </p:pic>
      <p:sp>
        <p:nvSpPr>
          <p:cNvPr id="25" name="TextBox 24"/>
          <p:cNvSpPr txBox="1"/>
          <p:nvPr/>
        </p:nvSpPr>
        <p:spPr>
          <a:xfrm>
            <a:off x="7050024" y="3721608"/>
            <a:ext cx="4062679" cy="1481328"/>
          </a:xfrm>
          <a:prstGeom prst="rect">
            <a:avLst/>
          </a:prstGeom>
          <a:noFill/>
        </p:spPr>
        <p:txBody>
          <a:bodyPr wrap="square" anchor="t" lIns="0" rIns="0" tIns="0" bIns="0">
            <a:spAutoFit/>
          </a:bodyPr>
          <a:lstStyle/>
          <a:p>
            <a:pPr algn="l">
              <a:lnSpc>
                <a:spcPct val="120000"/>
              </a:lnSpc>
              <a:spcBef>
                <a:spcPts val="0"/>
              </a:spcBef>
              <a:spcAft>
                <a:spcPts val="0"/>
              </a:spcAft>
            </a:pPr>
            <a:r>
              <a:rPr sz="950" b="0">
                <a:solidFill>
                  <a:srgbClr val="8A9099"/>
                </a:solidFill>
                <a:latin typeface="Red Hat Text"/>
              </a:rPr>
              <a:t>A node draining, two claims pods; one evicted + rescheduling, the second held with a "budget: wait" lock icon.</a:t>
            </a:r>
          </a:p>
        </p:txBody>
      </p:sp>
      <p:cxnSp>
        <p:nvCxnSpPr>
          <p:cNvPr id="26" name="Connector 25"/>
          <p:cNvCxnSpPr/>
          <p:nvPr/>
        </p:nvCxnSpPr>
        <p:spPr>
          <a:xfrm>
            <a:off x="841248" y="6437376"/>
            <a:ext cx="10509199" cy="0"/>
          </a:xfrm>
          <a:prstGeom prst="bentConnector3">
            <a:avLst/>
          </a:prstGeom>
          <a:ln w="12700">
            <a:solidFill>
              <a:srgbClr val="DDE1E6"/>
            </a:solidFill>
          </a:ln>
          <a:effectLst/>
        </p:spPr>
        <p:style>
          <a:lnRef idx="2">
            <a:schemeClr val="accent1"/>
          </a:lnRef>
          <a:fillRef idx="0">
            <a:schemeClr val="accent1"/>
          </a:fillRef>
          <a:effectRef idx="1">
            <a:schemeClr val="accent1"/>
          </a:effectRef>
          <a:fontRef idx="minor">
            <a:schemeClr val="tx1"/>
          </a:fontRef>
        </p:style>
      </p:cxnSp>
      <p:sp>
        <p:nvSpPr>
          <p:cNvPr id="27" name="TextBox 26"/>
          <p:cNvSpPr txBox="1"/>
          <p:nvPr/>
        </p:nvSpPr>
        <p:spPr>
          <a:xfrm>
            <a:off x="841248" y="6473952"/>
            <a:ext cx="7315200" cy="274320"/>
          </a:xfrm>
          <a:prstGeom prst="rect">
            <a:avLst/>
          </a:prstGeom>
          <a:noFill/>
        </p:spPr>
        <p:txBody>
          <a:bodyPr wrap="square" anchor="t" lIns="0" rIns="0" tIns="0" bIns="0">
            <a:spAutoFit/>
          </a:bodyPr>
          <a:lstStyle/>
          <a:p>
            <a:pPr algn="l">
              <a:lnSpc>
                <a:spcPct val="106000"/>
              </a:lnSpc>
              <a:spcBef>
                <a:spcPts val="0"/>
              </a:spcBef>
              <a:spcAft>
                <a:spcPts val="0"/>
              </a:spcAft>
            </a:pPr>
            <a:r>
              <a:rPr sz="950" b="0">
                <a:solidFill>
                  <a:srgbClr val="8A9099"/>
                </a:solidFill>
                <a:latin typeface="Red Hat Text"/>
              </a:rPr>
              <a:t>CONFIDENTIAL</a:t>
            </a:r>
          </a:p>
        </p:txBody>
      </p:sp>
      <p:sp>
        <p:nvSpPr>
          <p:cNvPr id="28" name="TextBox 27"/>
          <p:cNvSpPr txBox="1"/>
          <p:nvPr/>
        </p:nvSpPr>
        <p:spPr>
          <a:xfrm>
            <a:off x="10801807" y="6473952"/>
            <a:ext cx="548640" cy="274320"/>
          </a:xfrm>
          <a:prstGeom prst="rect">
            <a:avLst/>
          </a:prstGeom>
          <a:noFill/>
        </p:spPr>
        <p:txBody>
          <a:bodyPr wrap="square" anchor="t" lIns="0" rIns="0" tIns="0" bIns="0">
            <a:spAutoFit/>
          </a:bodyPr>
          <a:lstStyle/>
          <a:p>
            <a:pPr algn="r">
              <a:lnSpc>
                <a:spcPct val="106000"/>
              </a:lnSpc>
              <a:spcBef>
                <a:spcPts val="0"/>
              </a:spcBef>
              <a:spcAft>
                <a:spcPts val="0"/>
              </a:spcAft>
            </a:pPr>
            <a:r>
              <a:rPr sz="950" b="0">
                <a:solidFill>
                  <a:srgbClr val="8A9099"/>
                </a:solidFill>
                <a:latin typeface="Red Hat Text"/>
              </a:rPr>
              <a:t>94</a:t>
            </a:r>
          </a:p>
        </p:txBody>
      </p:sp>
    </p:spTree>
  </p:cSld>
  <p:clrMapOvr>
    <a:masterClrMapping/>
  </p:clrMapOvr>
</p:sld>
</file>

<file path=ppt/slides/slide10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redhat_logo.jpg"/>
          <p:cNvPicPr>
            <a:picLocks noChangeAspect="1"/>
          </p:cNvPicPr>
          <p:nvPr/>
        </p:nvPicPr>
        <p:blipFill>
          <a:blip r:embed="rId2"/>
          <a:stretch>
            <a:fillRect/>
          </a:stretch>
        </p:blipFill>
        <p:spPr>
          <a:xfrm>
            <a:off x="10326319" y="475488"/>
            <a:ext cx="1024128" cy="242248"/>
          </a:xfrm>
          <a:prstGeom prst="rect">
            <a:avLst/>
          </a:prstGeom>
        </p:spPr>
      </p:pic>
      <p:sp>
        <p:nvSpPr>
          <p:cNvPr id="3" name="TextBox 2"/>
          <p:cNvSpPr txBox="1"/>
          <p:nvPr/>
        </p:nvSpPr>
        <p:spPr>
          <a:xfrm>
            <a:off x="841248" y="548640"/>
            <a:ext cx="8595360" cy="274320"/>
          </a:xfrm>
          <a:prstGeom prst="rect">
            <a:avLst/>
          </a:prstGeom>
          <a:noFill/>
        </p:spPr>
        <p:txBody>
          <a:bodyPr wrap="square" anchor="t" lIns="0" rIns="0" tIns="0" bIns="0">
            <a:spAutoFit/>
          </a:bodyPr>
          <a:lstStyle/>
          <a:p>
            <a:pPr algn="l">
              <a:lnSpc>
                <a:spcPct val="106000"/>
              </a:lnSpc>
              <a:spcBef>
                <a:spcPts val="0"/>
              </a:spcBef>
              <a:spcAft>
                <a:spcPts val="0"/>
              </a:spcAft>
            </a:pPr>
            <a:r>
              <a:rPr sz="1250" b="1" spc="220">
                <a:solidFill>
                  <a:srgbClr val="EE0000"/>
                </a:solidFill>
                <a:latin typeface="Red Hat Display"/>
              </a:rPr>
              <a:t>M13 · OBSERVABILITY, HEALTH &amp; SCALE</a:t>
            </a:r>
          </a:p>
        </p:txBody>
      </p:sp>
      <p:sp>
        <p:nvSpPr>
          <p:cNvPr id="4" name="TextBox 3"/>
          <p:cNvSpPr txBox="1"/>
          <p:nvPr/>
        </p:nvSpPr>
        <p:spPr>
          <a:xfrm>
            <a:off x="841248" y="877824"/>
            <a:ext cx="10515600" cy="548640"/>
          </a:xfrm>
          <a:prstGeom prst="rect">
            <a:avLst/>
          </a:prstGeom>
          <a:noFill/>
        </p:spPr>
        <p:txBody>
          <a:bodyPr wrap="none" anchor="t" lIns="0" rIns="0" tIns="0" bIns="0">
            <a:spAutoFit/>
          </a:bodyPr>
          <a:lstStyle/>
          <a:p>
            <a:pPr algn="l">
              <a:lnSpc>
                <a:spcPct val="100000"/>
              </a:lnSpc>
              <a:spcBef>
                <a:spcPts val="0"/>
              </a:spcBef>
              <a:spcAft>
                <a:spcPts val="0"/>
              </a:spcAft>
            </a:pPr>
            <a:r>
              <a:rPr sz="2500" b="1">
                <a:solidFill>
                  <a:srgbClr val="1A1A1A"/>
                </a:solidFill>
                <a:latin typeface="Red Hat Display"/>
              </a:rPr>
              <a:t>What you built — and it was already yours</a:t>
            </a:r>
          </a:p>
        </p:txBody>
      </p:sp>
      <p:cxnSp>
        <p:nvCxnSpPr>
          <p:cNvPr id="5" name="Connector 4"/>
          <p:cNvCxnSpPr/>
          <p:nvPr/>
        </p:nvCxnSpPr>
        <p:spPr>
          <a:xfrm>
            <a:off x="841248" y="1554480"/>
            <a:ext cx="1371600" cy="0"/>
          </a:xfrm>
          <a:prstGeom prst="bentConnector3">
            <a:avLst/>
          </a:prstGeom>
          <a:ln w="31750">
            <a:solidFill>
              <a:srgbClr val="EE0000"/>
            </a:solidFill>
          </a:ln>
          <a:effectLst/>
        </p:spPr>
        <p:style>
          <a:lnRef idx="2">
            <a:schemeClr val="accent1"/>
          </a:lnRef>
          <a:fillRef idx="0">
            <a:schemeClr val="accent1"/>
          </a:fillRef>
          <a:effectRef idx="1">
            <a:schemeClr val="accent1"/>
          </a:effectRef>
          <a:fontRef idx="minor">
            <a:schemeClr val="tx1"/>
          </a:fontRef>
        </p:style>
      </p:cxnSp>
      <p:sp>
        <p:nvSpPr>
          <p:cNvPr id="6" name="Rounded Rectangle 5"/>
          <p:cNvSpPr/>
          <p:nvPr/>
        </p:nvSpPr>
        <p:spPr>
          <a:xfrm>
            <a:off x="841248" y="2395728"/>
            <a:ext cx="5715000" cy="530352"/>
          </a:xfrm>
          <a:prstGeom prst="roundRect">
            <a:avLst>
              <a:gd name="adj" fmla="val 6000"/>
            </a:avLst>
          </a:prstGeom>
          <a:solidFill>
            <a:srgbClr val="F5F6F8"/>
          </a:solidFill>
          <a:ln w="12700">
            <a:solidFill>
              <a:srgbClr val="DDE1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check_steel.png"/>
          <p:cNvPicPr>
            <a:picLocks noChangeAspect="1"/>
          </p:cNvPicPr>
          <p:nvPr/>
        </p:nvPicPr>
        <p:blipFill>
          <a:blip r:embed="rId3"/>
          <a:stretch>
            <a:fillRect/>
          </a:stretch>
        </p:blipFill>
        <p:spPr>
          <a:xfrm>
            <a:off x="987552" y="2542032"/>
            <a:ext cx="237744" cy="237744"/>
          </a:xfrm>
          <a:prstGeom prst="rect">
            <a:avLst/>
          </a:prstGeom>
        </p:spPr>
      </p:pic>
      <p:sp>
        <p:nvSpPr>
          <p:cNvPr id="8" name="TextBox 7"/>
          <p:cNvSpPr txBox="1"/>
          <p:nvPr/>
        </p:nvSpPr>
        <p:spPr>
          <a:xfrm>
            <a:off x="1353312" y="2395728"/>
            <a:ext cx="5029200" cy="530352"/>
          </a:xfrm>
          <a:prstGeom prst="rect">
            <a:avLst/>
          </a:prstGeom>
          <a:noFill/>
        </p:spPr>
        <p:txBody>
          <a:bodyPr wrap="square" anchor="ctr" lIns="0" rIns="0" tIns="0" bIns="0">
            <a:spAutoFit/>
          </a:bodyPr>
          <a:lstStyle/>
          <a:p>
            <a:pPr algn="l">
              <a:lnSpc>
                <a:spcPct val="106000"/>
              </a:lnSpc>
              <a:spcBef>
                <a:spcPts val="0"/>
              </a:spcBef>
              <a:spcAft>
                <a:spcPts val="0"/>
              </a:spcAft>
            </a:pPr>
            <a:r>
              <a:rPr sz="1200" b="0">
                <a:solidFill>
                  <a:srgbClr val="1A1A1A"/>
                </a:solidFill>
                <a:latin typeface="Red Hat Text"/>
              </a:rPr>
              <a:t>Metrics + a custom business metric in user-workload monitoring</a:t>
            </a:r>
          </a:p>
        </p:txBody>
      </p:sp>
      <p:sp>
        <p:nvSpPr>
          <p:cNvPr id="9" name="Rounded Rectangle 8"/>
          <p:cNvSpPr/>
          <p:nvPr/>
        </p:nvSpPr>
        <p:spPr>
          <a:xfrm>
            <a:off x="841248" y="2999232"/>
            <a:ext cx="5715000" cy="530352"/>
          </a:xfrm>
          <a:prstGeom prst="roundRect">
            <a:avLst>
              <a:gd name="adj" fmla="val 6000"/>
            </a:avLst>
          </a:prstGeom>
          <a:solidFill>
            <a:srgbClr val="F5F6F8"/>
          </a:solidFill>
          <a:ln w="12700">
            <a:solidFill>
              <a:srgbClr val="DDE1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0" name="Picture 9" descr="check_steel.png"/>
          <p:cNvPicPr>
            <a:picLocks noChangeAspect="1"/>
          </p:cNvPicPr>
          <p:nvPr/>
        </p:nvPicPr>
        <p:blipFill>
          <a:blip r:embed="rId3"/>
          <a:stretch>
            <a:fillRect/>
          </a:stretch>
        </p:blipFill>
        <p:spPr>
          <a:xfrm>
            <a:off x="987552" y="3145536"/>
            <a:ext cx="237744" cy="237744"/>
          </a:xfrm>
          <a:prstGeom prst="rect">
            <a:avLst/>
          </a:prstGeom>
        </p:spPr>
      </p:pic>
      <p:sp>
        <p:nvSpPr>
          <p:cNvPr id="11" name="TextBox 10"/>
          <p:cNvSpPr txBox="1"/>
          <p:nvPr/>
        </p:nvSpPr>
        <p:spPr>
          <a:xfrm>
            <a:off x="1353312" y="2999232"/>
            <a:ext cx="5029200" cy="530352"/>
          </a:xfrm>
          <a:prstGeom prst="rect">
            <a:avLst/>
          </a:prstGeom>
          <a:noFill/>
        </p:spPr>
        <p:txBody>
          <a:bodyPr wrap="square" anchor="ctr" lIns="0" rIns="0" tIns="0" bIns="0">
            <a:spAutoFit/>
          </a:bodyPr>
          <a:lstStyle/>
          <a:p>
            <a:pPr algn="l">
              <a:lnSpc>
                <a:spcPct val="106000"/>
              </a:lnSpc>
              <a:spcBef>
                <a:spcPts val="0"/>
              </a:spcBef>
              <a:spcAft>
                <a:spcPts val="0"/>
              </a:spcAft>
            </a:pPr>
            <a:r>
              <a:rPr sz="1200" b="0">
                <a:solidFill>
                  <a:srgbClr val="1A1A1A"/>
                </a:solidFill>
                <a:latin typeface="Red Hat Text"/>
              </a:rPr>
              <a:t>An alert you authored and made fire, then recovered</a:t>
            </a:r>
          </a:p>
        </p:txBody>
      </p:sp>
      <p:sp>
        <p:nvSpPr>
          <p:cNvPr id="12" name="Rounded Rectangle 11"/>
          <p:cNvSpPr/>
          <p:nvPr/>
        </p:nvSpPr>
        <p:spPr>
          <a:xfrm>
            <a:off x="841248" y="3602736"/>
            <a:ext cx="5715000" cy="530352"/>
          </a:xfrm>
          <a:prstGeom prst="roundRect">
            <a:avLst>
              <a:gd name="adj" fmla="val 6000"/>
            </a:avLst>
          </a:prstGeom>
          <a:solidFill>
            <a:srgbClr val="F5F6F8"/>
          </a:solidFill>
          <a:ln w="12700">
            <a:solidFill>
              <a:srgbClr val="DDE1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3" name="Picture 12" descr="check_steel.png"/>
          <p:cNvPicPr>
            <a:picLocks noChangeAspect="1"/>
          </p:cNvPicPr>
          <p:nvPr/>
        </p:nvPicPr>
        <p:blipFill>
          <a:blip r:embed="rId3"/>
          <a:stretch>
            <a:fillRect/>
          </a:stretch>
        </p:blipFill>
        <p:spPr>
          <a:xfrm>
            <a:off x="987552" y="3749040"/>
            <a:ext cx="237744" cy="237744"/>
          </a:xfrm>
          <a:prstGeom prst="rect">
            <a:avLst/>
          </a:prstGeom>
        </p:spPr>
      </p:pic>
      <p:sp>
        <p:nvSpPr>
          <p:cNvPr id="14" name="TextBox 13"/>
          <p:cNvSpPr txBox="1"/>
          <p:nvPr/>
        </p:nvSpPr>
        <p:spPr>
          <a:xfrm>
            <a:off x="1353312" y="3602736"/>
            <a:ext cx="5029200" cy="530352"/>
          </a:xfrm>
          <a:prstGeom prst="rect">
            <a:avLst/>
          </a:prstGeom>
          <a:noFill/>
        </p:spPr>
        <p:txBody>
          <a:bodyPr wrap="square" anchor="ctr" lIns="0" rIns="0" tIns="0" bIns="0">
            <a:spAutoFit/>
          </a:bodyPr>
          <a:lstStyle/>
          <a:p>
            <a:pPr algn="l">
              <a:lnSpc>
                <a:spcPct val="106000"/>
              </a:lnSpc>
              <a:spcBef>
                <a:spcPts val="0"/>
              </a:spcBef>
              <a:spcAft>
                <a:spcPts val="0"/>
              </a:spcAft>
            </a:pPr>
            <a:r>
              <a:rPr sz="1200" b="0">
                <a:solidFill>
                  <a:srgbClr val="1A1A1A"/>
                </a:solidFill>
                <a:latin typeface="Red Hat Text"/>
              </a:rPr>
              <a:t>A trace that shows a request's path; a metric that points at its trace</a:t>
            </a:r>
          </a:p>
        </p:txBody>
      </p:sp>
      <p:sp>
        <p:nvSpPr>
          <p:cNvPr id="15" name="Rounded Rectangle 14"/>
          <p:cNvSpPr/>
          <p:nvPr/>
        </p:nvSpPr>
        <p:spPr>
          <a:xfrm>
            <a:off x="841248" y="4206240"/>
            <a:ext cx="5715000" cy="530352"/>
          </a:xfrm>
          <a:prstGeom prst="roundRect">
            <a:avLst>
              <a:gd name="adj" fmla="val 6000"/>
            </a:avLst>
          </a:prstGeom>
          <a:solidFill>
            <a:srgbClr val="F5F6F8"/>
          </a:solidFill>
          <a:ln w="12700">
            <a:solidFill>
              <a:srgbClr val="DDE1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6" name="Picture 15" descr="check_steel.png"/>
          <p:cNvPicPr>
            <a:picLocks noChangeAspect="1"/>
          </p:cNvPicPr>
          <p:nvPr/>
        </p:nvPicPr>
        <p:blipFill>
          <a:blip r:embed="rId3"/>
          <a:stretch>
            <a:fillRect/>
          </a:stretch>
        </p:blipFill>
        <p:spPr>
          <a:xfrm>
            <a:off x="987552" y="4352544"/>
            <a:ext cx="237744" cy="237744"/>
          </a:xfrm>
          <a:prstGeom prst="rect">
            <a:avLst/>
          </a:prstGeom>
        </p:spPr>
      </p:pic>
      <p:sp>
        <p:nvSpPr>
          <p:cNvPr id="17" name="TextBox 16"/>
          <p:cNvSpPr txBox="1"/>
          <p:nvPr/>
        </p:nvSpPr>
        <p:spPr>
          <a:xfrm>
            <a:off x="1353312" y="4206240"/>
            <a:ext cx="5029200" cy="530352"/>
          </a:xfrm>
          <a:prstGeom prst="rect">
            <a:avLst/>
          </a:prstGeom>
          <a:noFill/>
        </p:spPr>
        <p:txBody>
          <a:bodyPr wrap="square" anchor="ctr" lIns="0" rIns="0" tIns="0" bIns="0">
            <a:spAutoFit/>
          </a:bodyPr>
          <a:lstStyle/>
          <a:p>
            <a:pPr algn="l">
              <a:lnSpc>
                <a:spcPct val="106000"/>
              </a:lnSpc>
              <a:spcBef>
                <a:spcPts val="0"/>
              </a:spcBef>
              <a:spcAft>
                <a:spcPts val="0"/>
              </a:spcAft>
            </a:pPr>
            <a:r>
              <a:rPr sz="1200" b="0">
                <a:solidFill>
                  <a:srgbClr val="1A1A1A"/>
                </a:solidFill>
                <a:latin typeface="Red Hat Text"/>
              </a:rPr>
              <a:t>An HPA that grows the service under load; a PDB that survives maintenance</a:t>
            </a:r>
          </a:p>
        </p:txBody>
      </p:sp>
      <p:sp>
        <p:nvSpPr>
          <p:cNvPr id="18" name="Rounded Rectangle 17"/>
          <p:cNvSpPr/>
          <p:nvPr/>
        </p:nvSpPr>
        <p:spPr>
          <a:xfrm>
            <a:off x="841248" y="4809744"/>
            <a:ext cx="5715000" cy="530352"/>
          </a:xfrm>
          <a:prstGeom prst="roundRect">
            <a:avLst>
              <a:gd name="adj" fmla="val 6000"/>
            </a:avLst>
          </a:prstGeom>
          <a:solidFill>
            <a:srgbClr val="F5F6F8"/>
          </a:solidFill>
          <a:ln w="12700">
            <a:solidFill>
              <a:srgbClr val="DDE1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9" name="Picture 18" descr="check_steel.png"/>
          <p:cNvPicPr>
            <a:picLocks noChangeAspect="1"/>
          </p:cNvPicPr>
          <p:nvPr/>
        </p:nvPicPr>
        <p:blipFill>
          <a:blip r:embed="rId3"/>
          <a:stretch>
            <a:fillRect/>
          </a:stretch>
        </p:blipFill>
        <p:spPr>
          <a:xfrm>
            <a:off x="987552" y="4956048"/>
            <a:ext cx="237744" cy="237744"/>
          </a:xfrm>
          <a:prstGeom prst="rect">
            <a:avLst/>
          </a:prstGeom>
        </p:spPr>
      </p:pic>
      <p:sp>
        <p:nvSpPr>
          <p:cNvPr id="20" name="TextBox 19"/>
          <p:cNvSpPr txBox="1"/>
          <p:nvPr/>
        </p:nvSpPr>
        <p:spPr>
          <a:xfrm>
            <a:off x="1353312" y="4809744"/>
            <a:ext cx="5029200" cy="530352"/>
          </a:xfrm>
          <a:prstGeom prst="rect">
            <a:avLst/>
          </a:prstGeom>
          <a:noFill/>
        </p:spPr>
        <p:txBody>
          <a:bodyPr wrap="square" anchor="ctr" lIns="0" rIns="0" tIns="0" bIns="0">
            <a:spAutoFit/>
          </a:bodyPr>
          <a:lstStyle/>
          <a:p>
            <a:pPr algn="l">
              <a:lnSpc>
                <a:spcPct val="106000"/>
              </a:lnSpc>
              <a:spcBef>
                <a:spcPts val="0"/>
              </a:spcBef>
              <a:spcAft>
                <a:spcPts val="0"/>
              </a:spcAft>
            </a:pPr>
            <a:r>
              <a:rPr sz="1200" b="0">
                <a:solidFill>
                  <a:srgbClr val="1A1A1A"/>
                </a:solidFill>
                <a:latin typeface="Red Hat Text"/>
              </a:rPr>
              <a:t>None of it was a separate product to buy — it ships with the platform</a:t>
            </a:r>
          </a:p>
        </p:txBody>
      </p:sp>
      <p:sp>
        <p:nvSpPr>
          <p:cNvPr id="21" name="Rounded Rectangle 20"/>
          <p:cNvSpPr/>
          <p:nvPr/>
        </p:nvSpPr>
        <p:spPr>
          <a:xfrm>
            <a:off x="6812280" y="2395728"/>
            <a:ext cx="4538167" cy="2944368"/>
          </a:xfrm>
          <a:prstGeom prst="roundRect">
            <a:avLst>
              <a:gd name="adj" fmla="val 4000"/>
            </a:avLst>
          </a:prstGeom>
          <a:solidFill>
            <a:srgbClr val="FFFFFF"/>
          </a:solidFill>
          <a:ln w="15240">
            <a:solidFill>
              <a:srgbClr val="DDE1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ounded Rectangle 21"/>
          <p:cNvSpPr/>
          <p:nvPr/>
        </p:nvSpPr>
        <p:spPr>
          <a:xfrm>
            <a:off x="7013448" y="2596896"/>
            <a:ext cx="1298448" cy="310896"/>
          </a:xfrm>
          <a:prstGeom prst="roundRect">
            <a:avLst>
              <a:gd name="adj" fmla="val 50000"/>
            </a:avLst>
          </a:prstGeom>
          <a:solidFill>
            <a:srgbClr val="FCEC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7013448" y="2596896"/>
            <a:ext cx="1298448" cy="310896"/>
          </a:xfrm>
          <a:prstGeom prst="rect">
            <a:avLst/>
          </a:prstGeom>
          <a:noFill/>
        </p:spPr>
        <p:txBody>
          <a:bodyPr wrap="none" anchor="ctr" lIns="0" rIns="0" tIns="0" bIns="0">
            <a:spAutoFit/>
          </a:bodyPr>
          <a:lstStyle/>
          <a:p>
            <a:pPr algn="ctr">
              <a:lnSpc>
                <a:spcPct val="106000"/>
              </a:lnSpc>
              <a:spcBef>
                <a:spcPts val="0"/>
              </a:spcBef>
              <a:spcAft>
                <a:spcPts val="0"/>
              </a:spcAft>
            </a:pPr>
            <a:r>
              <a:rPr sz="850" b="1">
                <a:solidFill>
                  <a:srgbClr val="B80000"/>
                </a:solidFill>
                <a:latin typeface="Red Hat Display"/>
              </a:rPr>
              <a:t>MEDIA PASS</a:t>
            </a:r>
          </a:p>
        </p:txBody>
      </p:sp>
      <p:pic>
        <p:nvPicPr>
          <p:cNvPr id="24" name="Picture 23" descr="eye_slate.png"/>
          <p:cNvPicPr>
            <a:picLocks noChangeAspect="1"/>
          </p:cNvPicPr>
          <p:nvPr/>
        </p:nvPicPr>
        <p:blipFill>
          <a:blip r:embed="rId4"/>
          <a:stretch>
            <a:fillRect/>
          </a:stretch>
        </p:blipFill>
        <p:spPr>
          <a:xfrm>
            <a:off x="8843619" y="3108960"/>
            <a:ext cx="475488" cy="475488"/>
          </a:xfrm>
          <a:prstGeom prst="rect">
            <a:avLst/>
          </a:prstGeom>
        </p:spPr>
      </p:pic>
      <p:sp>
        <p:nvSpPr>
          <p:cNvPr id="25" name="TextBox 24"/>
          <p:cNvSpPr txBox="1"/>
          <p:nvPr/>
        </p:nvSpPr>
        <p:spPr>
          <a:xfrm>
            <a:off x="7050024" y="3721608"/>
            <a:ext cx="4062679" cy="1481328"/>
          </a:xfrm>
          <a:prstGeom prst="rect">
            <a:avLst/>
          </a:prstGeom>
          <a:noFill/>
        </p:spPr>
        <p:txBody>
          <a:bodyPr wrap="square" anchor="t" lIns="0" rIns="0" tIns="0" bIns="0">
            <a:spAutoFit/>
          </a:bodyPr>
          <a:lstStyle/>
          <a:p>
            <a:pPr algn="l">
              <a:lnSpc>
                <a:spcPct val="120000"/>
              </a:lnSpc>
              <a:spcBef>
                <a:spcPts val="0"/>
              </a:spcBef>
              <a:spcAft>
                <a:spcPts val="0"/>
              </a:spcAft>
            </a:pPr>
            <a:r>
              <a:rPr sz="950" b="0">
                <a:solidFill>
                  <a:srgbClr val="8A9099"/>
                </a:solidFill>
                <a:latin typeface="Red Hat Text"/>
              </a:rPr>
              <a:t>Concept diagram observability-health-scale-05-what-you-built — the claims service with metrics/alert/trace/HPA/PDB layered on, all green.</a:t>
            </a:r>
          </a:p>
        </p:txBody>
      </p:sp>
      <p:cxnSp>
        <p:nvCxnSpPr>
          <p:cNvPr id="26" name="Connector 25"/>
          <p:cNvCxnSpPr/>
          <p:nvPr/>
        </p:nvCxnSpPr>
        <p:spPr>
          <a:xfrm>
            <a:off x="841248" y="6437376"/>
            <a:ext cx="10509199" cy="0"/>
          </a:xfrm>
          <a:prstGeom prst="bentConnector3">
            <a:avLst/>
          </a:prstGeom>
          <a:ln w="12700">
            <a:solidFill>
              <a:srgbClr val="DDE1E6"/>
            </a:solidFill>
          </a:ln>
          <a:effectLst/>
        </p:spPr>
        <p:style>
          <a:lnRef idx="2">
            <a:schemeClr val="accent1"/>
          </a:lnRef>
          <a:fillRef idx="0">
            <a:schemeClr val="accent1"/>
          </a:fillRef>
          <a:effectRef idx="1">
            <a:schemeClr val="accent1"/>
          </a:effectRef>
          <a:fontRef idx="minor">
            <a:schemeClr val="tx1"/>
          </a:fontRef>
        </p:style>
      </p:cxnSp>
      <p:sp>
        <p:nvSpPr>
          <p:cNvPr id="27" name="TextBox 26"/>
          <p:cNvSpPr txBox="1"/>
          <p:nvPr/>
        </p:nvSpPr>
        <p:spPr>
          <a:xfrm>
            <a:off x="841248" y="6473952"/>
            <a:ext cx="7315200" cy="274320"/>
          </a:xfrm>
          <a:prstGeom prst="rect">
            <a:avLst/>
          </a:prstGeom>
          <a:noFill/>
        </p:spPr>
        <p:txBody>
          <a:bodyPr wrap="square" anchor="t" lIns="0" rIns="0" tIns="0" bIns="0">
            <a:spAutoFit/>
          </a:bodyPr>
          <a:lstStyle/>
          <a:p>
            <a:pPr algn="l">
              <a:lnSpc>
                <a:spcPct val="106000"/>
              </a:lnSpc>
              <a:spcBef>
                <a:spcPts val="0"/>
              </a:spcBef>
              <a:spcAft>
                <a:spcPts val="0"/>
              </a:spcAft>
            </a:pPr>
            <a:r>
              <a:rPr sz="950" b="0">
                <a:solidFill>
                  <a:srgbClr val="8A9099"/>
                </a:solidFill>
                <a:latin typeface="Red Hat Text"/>
              </a:rPr>
              <a:t>CONFIDENTIAL</a:t>
            </a:r>
          </a:p>
        </p:txBody>
      </p:sp>
      <p:sp>
        <p:nvSpPr>
          <p:cNvPr id="28" name="TextBox 27"/>
          <p:cNvSpPr txBox="1"/>
          <p:nvPr/>
        </p:nvSpPr>
        <p:spPr>
          <a:xfrm>
            <a:off x="10801807" y="6473952"/>
            <a:ext cx="548640" cy="274320"/>
          </a:xfrm>
          <a:prstGeom prst="rect">
            <a:avLst/>
          </a:prstGeom>
          <a:noFill/>
        </p:spPr>
        <p:txBody>
          <a:bodyPr wrap="square" anchor="t" lIns="0" rIns="0" tIns="0" bIns="0">
            <a:spAutoFit/>
          </a:bodyPr>
          <a:lstStyle/>
          <a:p>
            <a:pPr algn="r">
              <a:lnSpc>
                <a:spcPct val="106000"/>
              </a:lnSpc>
              <a:spcBef>
                <a:spcPts val="0"/>
              </a:spcBef>
              <a:spcAft>
                <a:spcPts val="0"/>
              </a:spcAft>
            </a:pPr>
            <a:r>
              <a:rPr sz="950" b="0">
                <a:solidFill>
                  <a:srgbClr val="8A9099"/>
                </a:solidFill>
                <a:latin typeface="Red Hat Text"/>
              </a:rPr>
              <a:t>95</a:t>
            </a:r>
          </a:p>
        </p:txBody>
      </p:sp>
    </p:spTree>
  </p:cSld>
  <p:clrMapOvr>
    <a:masterClrMapping/>
  </p:clrMapOvr>
</p:sld>
</file>

<file path=ppt/slides/slide10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redhat_logo.jpg"/>
          <p:cNvPicPr>
            <a:picLocks noChangeAspect="1"/>
          </p:cNvPicPr>
          <p:nvPr/>
        </p:nvPicPr>
        <p:blipFill>
          <a:blip r:embed="rId2"/>
          <a:stretch>
            <a:fillRect/>
          </a:stretch>
        </p:blipFill>
        <p:spPr>
          <a:xfrm>
            <a:off x="841248" y="731520"/>
            <a:ext cx="1554480" cy="367699"/>
          </a:xfrm>
          <a:prstGeom prst="rect">
            <a:avLst/>
          </a:prstGeom>
        </p:spPr>
      </p:pic>
      <p:sp>
        <p:nvSpPr>
          <p:cNvPr id="3" name="TextBox 2"/>
          <p:cNvSpPr txBox="1"/>
          <p:nvPr/>
        </p:nvSpPr>
        <p:spPr>
          <a:xfrm>
            <a:off x="841248" y="2514600"/>
            <a:ext cx="9601200" cy="274320"/>
          </a:xfrm>
          <a:prstGeom prst="rect">
            <a:avLst/>
          </a:prstGeom>
          <a:noFill/>
        </p:spPr>
        <p:txBody>
          <a:bodyPr wrap="square" anchor="t" lIns="0" rIns="0" tIns="0" bIns="0">
            <a:spAutoFit/>
          </a:bodyPr>
          <a:lstStyle/>
          <a:p>
            <a:pPr algn="l">
              <a:lnSpc>
                <a:spcPct val="106000"/>
              </a:lnSpc>
              <a:spcBef>
                <a:spcPts val="0"/>
              </a:spcBef>
              <a:spcAft>
                <a:spcPts val="0"/>
              </a:spcAft>
            </a:pPr>
            <a:r>
              <a:rPr sz="1250" b="1" spc="180">
                <a:solidFill>
                  <a:srgbClr val="2E7D32"/>
                </a:solidFill>
                <a:latin typeface="Red Hat Display"/>
              </a:rPr>
              <a:t>C · PLATFORM &amp; TENANCY</a:t>
            </a:r>
          </a:p>
        </p:txBody>
      </p:sp>
      <p:sp>
        <p:nvSpPr>
          <p:cNvPr id="4" name="TextBox 3"/>
          <p:cNvSpPr txBox="1"/>
          <p:nvPr/>
        </p:nvSpPr>
        <p:spPr>
          <a:xfrm>
            <a:off x="841248" y="2880360"/>
            <a:ext cx="2103120" cy="1188720"/>
          </a:xfrm>
          <a:prstGeom prst="rect">
            <a:avLst/>
          </a:prstGeom>
          <a:noFill/>
        </p:spPr>
        <p:txBody>
          <a:bodyPr wrap="none" anchor="t" lIns="0" rIns="0" tIns="0" bIns="0">
            <a:spAutoFit/>
          </a:bodyPr>
          <a:lstStyle/>
          <a:p>
            <a:pPr algn="l">
              <a:lnSpc>
                <a:spcPct val="90000"/>
              </a:lnSpc>
              <a:spcBef>
                <a:spcPts val="0"/>
              </a:spcBef>
              <a:spcAft>
                <a:spcPts val="0"/>
              </a:spcAft>
            </a:pPr>
            <a:r>
              <a:rPr sz="5200" b="1">
                <a:solidFill>
                  <a:srgbClr val="B80000"/>
                </a:solidFill>
                <a:latin typeface="Red Hat Display"/>
              </a:rPr>
              <a:t>M14</a:t>
            </a:r>
          </a:p>
        </p:txBody>
      </p:sp>
      <p:sp>
        <p:nvSpPr>
          <p:cNvPr id="5" name="TextBox 4"/>
          <p:cNvSpPr txBox="1"/>
          <p:nvPr/>
        </p:nvSpPr>
        <p:spPr>
          <a:xfrm>
            <a:off x="3127248" y="2971800"/>
            <a:ext cx="8412480" cy="1188720"/>
          </a:xfrm>
          <a:prstGeom prst="rect">
            <a:avLst/>
          </a:prstGeom>
          <a:noFill/>
        </p:spPr>
        <p:txBody>
          <a:bodyPr wrap="square" anchor="t" lIns="0" rIns="0" tIns="0" bIns="0">
            <a:spAutoFit/>
          </a:bodyPr>
          <a:lstStyle/>
          <a:p>
            <a:pPr algn="l">
              <a:lnSpc>
                <a:spcPct val="102000"/>
              </a:lnSpc>
              <a:spcBef>
                <a:spcPts val="0"/>
              </a:spcBef>
              <a:spcAft>
                <a:spcPts val="0"/>
              </a:spcAft>
            </a:pPr>
            <a:r>
              <a:rPr sz="3000" b="1">
                <a:solidFill>
                  <a:srgbClr val="1A1A1A"/>
                </a:solidFill>
                <a:latin typeface="Red Hat Display"/>
              </a:rPr>
              <a:t>Securing Apps with Keycloak</a:t>
            </a:r>
          </a:p>
        </p:txBody>
      </p:sp>
      <p:cxnSp>
        <p:nvCxnSpPr>
          <p:cNvPr id="6" name="Connector 5"/>
          <p:cNvCxnSpPr/>
          <p:nvPr/>
        </p:nvCxnSpPr>
        <p:spPr>
          <a:xfrm>
            <a:off x="841248" y="4443984"/>
            <a:ext cx="1463040" cy="0"/>
          </a:xfrm>
          <a:prstGeom prst="bentConnector3">
            <a:avLst/>
          </a:prstGeom>
          <a:ln w="38100">
            <a:solidFill>
              <a:srgbClr val="EE0000"/>
            </a:solidFill>
          </a:ln>
          <a:effectLst/>
        </p:spPr>
        <p:style>
          <a:lnRef idx="2">
            <a:schemeClr val="accent1"/>
          </a:lnRef>
          <a:fillRef idx="0">
            <a:schemeClr val="accent1"/>
          </a:fillRef>
          <a:effectRef idx="1">
            <a:schemeClr val="accent1"/>
          </a:effectRef>
          <a:fontRef idx="minor">
            <a:schemeClr val="tx1"/>
          </a:fontRef>
        </p:style>
      </p:cxnSp>
    </p:spTree>
  </p:cSld>
  <p:clrMapOvr>
    <a:masterClrMapping/>
  </p:clrMapOvr>
</p:sld>
</file>

<file path=ppt/slides/slide1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redhat_logo.jpg"/>
          <p:cNvPicPr>
            <a:picLocks noChangeAspect="1"/>
          </p:cNvPicPr>
          <p:nvPr/>
        </p:nvPicPr>
        <p:blipFill>
          <a:blip r:embed="rId2"/>
          <a:stretch>
            <a:fillRect/>
          </a:stretch>
        </p:blipFill>
        <p:spPr>
          <a:xfrm>
            <a:off x="10326319" y="475488"/>
            <a:ext cx="1024128" cy="242248"/>
          </a:xfrm>
          <a:prstGeom prst="rect">
            <a:avLst/>
          </a:prstGeom>
        </p:spPr>
      </p:pic>
      <p:sp>
        <p:nvSpPr>
          <p:cNvPr id="3" name="TextBox 2"/>
          <p:cNvSpPr txBox="1"/>
          <p:nvPr/>
        </p:nvSpPr>
        <p:spPr>
          <a:xfrm>
            <a:off x="841248" y="548640"/>
            <a:ext cx="8595360" cy="274320"/>
          </a:xfrm>
          <a:prstGeom prst="rect">
            <a:avLst/>
          </a:prstGeom>
          <a:noFill/>
        </p:spPr>
        <p:txBody>
          <a:bodyPr wrap="square" anchor="t" lIns="0" rIns="0" tIns="0" bIns="0">
            <a:spAutoFit/>
          </a:bodyPr>
          <a:lstStyle/>
          <a:p>
            <a:pPr algn="l">
              <a:lnSpc>
                <a:spcPct val="106000"/>
              </a:lnSpc>
              <a:spcBef>
                <a:spcPts val="0"/>
              </a:spcBef>
              <a:spcAft>
                <a:spcPts val="0"/>
              </a:spcAft>
            </a:pPr>
            <a:r>
              <a:rPr sz="1250" b="1" spc="220">
                <a:solidFill>
                  <a:srgbClr val="EE0000"/>
                </a:solidFill>
                <a:latin typeface="Red Hat Display"/>
              </a:rPr>
              <a:t>M14 · SECURING APPS WITH KEYCLOAK</a:t>
            </a:r>
          </a:p>
        </p:txBody>
      </p:sp>
      <p:sp>
        <p:nvSpPr>
          <p:cNvPr id="4" name="TextBox 3"/>
          <p:cNvSpPr txBox="1"/>
          <p:nvPr/>
        </p:nvSpPr>
        <p:spPr>
          <a:xfrm>
            <a:off x="841248" y="877824"/>
            <a:ext cx="10515600" cy="548640"/>
          </a:xfrm>
          <a:prstGeom prst="rect">
            <a:avLst/>
          </a:prstGeom>
          <a:noFill/>
        </p:spPr>
        <p:txBody>
          <a:bodyPr wrap="none" anchor="t" lIns="0" rIns="0" tIns="0" bIns="0">
            <a:spAutoFit/>
          </a:bodyPr>
          <a:lstStyle/>
          <a:p>
            <a:pPr algn="l">
              <a:lnSpc>
                <a:spcPct val="100000"/>
              </a:lnSpc>
              <a:spcBef>
                <a:spcPts val="0"/>
              </a:spcBef>
              <a:spcAft>
                <a:spcPts val="0"/>
              </a:spcAft>
            </a:pPr>
            <a:r>
              <a:rPr sz="2500" b="1">
                <a:solidFill>
                  <a:srgbClr val="1A1A1A"/>
                </a:solidFill>
                <a:latin typeface="Red Hat Display"/>
              </a:rPr>
              <a:t>The claims API answers anyone who can reach</a:t>
            </a:r>
          </a:p>
        </p:txBody>
      </p:sp>
      <p:cxnSp>
        <p:nvCxnSpPr>
          <p:cNvPr id="5" name="Connector 4"/>
          <p:cNvCxnSpPr/>
          <p:nvPr/>
        </p:nvCxnSpPr>
        <p:spPr>
          <a:xfrm>
            <a:off x="841248" y="1554480"/>
            <a:ext cx="1371600" cy="0"/>
          </a:xfrm>
          <a:prstGeom prst="bentConnector3">
            <a:avLst/>
          </a:prstGeom>
          <a:ln w="31750">
            <a:solidFill>
              <a:srgbClr val="EE0000"/>
            </a:solidFill>
          </a:ln>
          <a:effectLst/>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841248" y="1664208"/>
            <a:ext cx="10515600" cy="365760"/>
          </a:xfrm>
          <a:prstGeom prst="rect">
            <a:avLst/>
          </a:prstGeom>
          <a:noFill/>
        </p:spPr>
        <p:txBody>
          <a:bodyPr wrap="square" anchor="t" lIns="0" rIns="0" tIns="0" bIns="0">
            <a:spAutoFit/>
          </a:bodyPr>
          <a:lstStyle/>
          <a:p>
            <a:pPr algn="l">
              <a:lnSpc>
                <a:spcPct val="106000"/>
              </a:lnSpc>
              <a:spcBef>
                <a:spcPts val="0"/>
              </a:spcBef>
              <a:spcAft>
                <a:spcPts val="0"/>
              </a:spcAft>
            </a:pPr>
            <a:r>
              <a:rPr sz="1350" b="0">
                <a:solidFill>
                  <a:srgbClr val="555960"/>
                </a:solidFill>
                <a:latin typeface="Red Hat Text"/>
              </a:rPr>
              <a:t>it</a:t>
            </a:r>
          </a:p>
        </p:txBody>
      </p:sp>
      <p:sp>
        <p:nvSpPr>
          <p:cNvPr id="7" name="Rounded Rectangle 6"/>
          <p:cNvSpPr/>
          <p:nvPr/>
        </p:nvSpPr>
        <p:spPr>
          <a:xfrm>
            <a:off x="841248" y="2670048"/>
            <a:ext cx="5715000" cy="530352"/>
          </a:xfrm>
          <a:prstGeom prst="roundRect">
            <a:avLst>
              <a:gd name="adj" fmla="val 6000"/>
            </a:avLst>
          </a:prstGeom>
          <a:solidFill>
            <a:srgbClr val="F5F6F8"/>
          </a:solidFill>
          <a:ln w="12700">
            <a:solidFill>
              <a:srgbClr val="DDE1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check_steel.png"/>
          <p:cNvPicPr>
            <a:picLocks noChangeAspect="1"/>
          </p:cNvPicPr>
          <p:nvPr/>
        </p:nvPicPr>
        <p:blipFill>
          <a:blip r:embed="rId3"/>
          <a:stretch>
            <a:fillRect/>
          </a:stretch>
        </p:blipFill>
        <p:spPr>
          <a:xfrm>
            <a:off x="987552" y="2816352"/>
            <a:ext cx="237744" cy="237744"/>
          </a:xfrm>
          <a:prstGeom prst="rect">
            <a:avLst/>
          </a:prstGeom>
        </p:spPr>
      </p:pic>
      <p:sp>
        <p:nvSpPr>
          <p:cNvPr id="9" name="TextBox 8"/>
          <p:cNvSpPr txBox="1"/>
          <p:nvPr/>
        </p:nvSpPr>
        <p:spPr>
          <a:xfrm>
            <a:off x="1353312" y="2670048"/>
            <a:ext cx="5029200" cy="530352"/>
          </a:xfrm>
          <a:prstGeom prst="rect">
            <a:avLst/>
          </a:prstGeom>
          <a:noFill/>
        </p:spPr>
        <p:txBody>
          <a:bodyPr wrap="square" anchor="ctr" lIns="0" rIns="0" tIns="0" bIns="0">
            <a:spAutoFit/>
          </a:bodyPr>
          <a:lstStyle/>
          <a:p>
            <a:pPr algn="l">
              <a:lnSpc>
                <a:spcPct val="106000"/>
              </a:lnSpc>
              <a:spcBef>
                <a:spcPts val="0"/>
              </a:spcBef>
              <a:spcAft>
                <a:spcPts val="0"/>
              </a:spcAft>
            </a:pPr>
            <a:r>
              <a:rPr sz="1200" b="0">
                <a:solidFill>
                  <a:srgbClr val="1A1A1A"/>
                </a:solidFill>
                <a:latin typeface="Red Hat Text"/>
              </a:rPr>
              <a:t>Type the URL, get every claimant's name, amount, and adjuster — no login, no token</a:t>
            </a:r>
          </a:p>
        </p:txBody>
      </p:sp>
      <p:sp>
        <p:nvSpPr>
          <p:cNvPr id="10" name="Rounded Rectangle 9"/>
          <p:cNvSpPr/>
          <p:nvPr/>
        </p:nvSpPr>
        <p:spPr>
          <a:xfrm>
            <a:off x="841248" y="3273552"/>
            <a:ext cx="5715000" cy="530352"/>
          </a:xfrm>
          <a:prstGeom prst="roundRect">
            <a:avLst>
              <a:gd name="adj" fmla="val 6000"/>
            </a:avLst>
          </a:prstGeom>
          <a:solidFill>
            <a:srgbClr val="F5F6F8"/>
          </a:solidFill>
          <a:ln w="12700">
            <a:solidFill>
              <a:srgbClr val="DDE1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1" name="Picture 10" descr="check_steel.png"/>
          <p:cNvPicPr>
            <a:picLocks noChangeAspect="1"/>
          </p:cNvPicPr>
          <p:nvPr/>
        </p:nvPicPr>
        <p:blipFill>
          <a:blip r:embed="rId3"/>
          <a:stretch>
            <a:fillRect/>
          </a:stretch>
        </p:blipFill>
        <p:spPr>
          <a:xfrm>
            <a:off x="987552" y="3419856"/>
            <a:ext cx="237744" cy="237744"/>
          </a:xfrm>
          <a:prstGeom prst="rect">
            <a:avLst/>
          </a:prstGeom>
        </p:spPr>
      </p:pic>
      <p:sp>
        <p:nvSpPr>
          <p:cNvPr id="12" name="TextBox 11"/>
          <p:cNvSpPr txBox="1"/>
          <p:nvPr/>
        </p:nvSpPr>
        <p:spPr>
          <a:xfrm>
            <a:off x="1353312" y="3273552"/>
            <a:ext cx="5029200" cy="530352"/>
          </a:xfrm>
          <a:prstGeom prst="rect">
            <a:avLst/>
          </a:prstGeom>
          <a:noFill/>
        </p:spPr>
        <p:txBody>
          <a:bodyPr wrap="square" anchor="ctr" lIns="0" rIns="0" tIns="0" bIns="0">
            <a:spAutoFit/>
          </a:bodyPr>
          <a:lstStyle/>
          <a:p>
            <a:pPr algn="l">
              <a:lnSpc>
                <a:spcPct val="106000"/>
              </a:lnSpc>
              <a:spcBef>
                <a:spcPts val="0"/>
              </a:spcBef>
              <a:spcAft>
                <a:spcPts val="0"/>
              </a:spcAft>
            </a:pPr>
            <a:r>
              <a:rPr sz="1200" b="0">
                <a:solidFill>
                  <a:srgbClr val="1A1A1A"/>
                </a:solidFill>
                <a:latin typeface="Red Hat Text"/>
              </a:rPr>
              <a:t>Fine when "the network" was a locked server room</a:t>
            </a:r>
          </a:p>
        </p:txBody>
      </p:sp>
      <p:sp>
        <p:nvSpPr>
          <p:cNvPr id="13" name="Rounded Rectangle 12"/>
          <p:cNvSpPr/>
          <p:nvPr/>
        </p:nvSpPr>
        <p:spPr>
          <a:xfrm>
            <a:off x="841248" y="3877056"/>
            <a:ext cx="5715000" cy="530352"/>
          </a:xfrm>
          <a:prstGeom prst="roundRect">
            <a:avLst>
              <a:gd name="adj" fmla="val 6000"/>
            </a:avLst>
          </a:prstGeom>
          <a:solidFill>
            <a:srgbClr val="F5F6F8"/>
          </a:solidFill>
          <a:ln w="12700">
            <a:solidFill>
              <a:srgbClr val="DDE1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4" name="Picture 13" descr="check_steel.png"/>
          <p:cNvPicPr>
            <a:picLocks noChangeAspect="1"/>
          </p:cNvPicPr>
          <p:nvPr/>
        </p:nvPicPr>
        <p:blipFill>
          <a:blip r:embed="rId3"/>
          <a:stretch>
            <a:fillRect/>
          </a:stretch>
        </p:blipFill>
        <p:spPr>
          <a:xfrm>
            <a:off x="987552" y="4023360"/>
            <a:ext cx="237744" cy="237744"/>
          </a:xfrm>
          <a:prstGeom prst="rect">
            <a:avLst/>
          </a:prstGeom>
        </p:spPr>
      </p:pic>
      <p:sp>
        <p:nvSpPr>
          <p:cNvPr id="15" name="TextBox 14"/>
          <p:cNvSpPr txBox="1"/>
          <p:nvPr/>
        </p:nvSpPr>
        <p:spPr>
          <a:xfrm>
            <a:off x="1353312" y="3877056"/>
            <a:ext cx="5029200" cy="530352"/>
          </a:xfrm>
          <a:prstGeom prst="rect">
            <a:avLst/>
          </a:prstGeom>
          <a:noFill/>
        </p:spPr>
        <p:txBody>
          <a:bodyPr wrap="square" anchor="ctr" lIns="0" rIns="0" tIns="0" bIns="0">
            <a:spAutoFit/>
          </a:bodyPr>
          <a:lstStyle/>
          <a:p>
            <a:pPr algn="l">
              <a:lnSpc>
                <a:spcPct val="106000"/>
              </a:lnSpc>
              <a:spcBef>
                <a:spcPts val="0"/>
              </a:spcBef>
              <a:spcAft>
                <a:spcPts val="0"/>
              </a:spcAft>
            </a:pPr>
            <a:r>
              <a:rPr sz="1200" b="0">
                <a:solidFill>
                  <a:srgbClr val="1A1A1A"/>
                </a:solidFill>
                <a:latin typeface="Red Hat Text"/>
              </a:rPr>
              <a:t>A data breach when the network is a shared cluster + partner + mobile app</a:t>
            </a:r>
          </a:p>
        </p:txBody>
      </p:sp>
      <p:sp>
        <p:nvSpPr>
          <p:cNvPr id="16" name="Rounded Rectangle 15"/>
          <p:cNvSpPr/>
          <p:nvPr/>
        </p:nvSpPr>
        <p:spPr>
          <a:xfrm>
            <a:off x="841248" y="4480560"/>
            <a:ext cx="5715000" cy="530352"/>
          </a:xfrm>
          <a:prstGeom prst="roundRect">
            <a:avLst>
              <a:gd name="adj" fmla="val 6000"/>
            </a:avLst>
          </a:prstGeom>
          <a:solidFill>
            <a:srgbClr val="F5F6F8"/>
          </a:solidFill>
          <a:ln w="12700">
            <a:solidFill>
              <a:srgbClr val="DDE1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7" name="Picture 16" descr="check_steel.png"/>
          <p:cNvPicPr>
            <a:picLocks noChangeAspect="1"/>
          </p:cNvPicPr>
          <p:nvPr/>
        </p:nvPicPr>
        <p:blipFill>
          <a:blip r:embed="rId3"/>
          <a:stretch>
            <a:fillRect/>
          </a:stretch>
        </p:blipFill>
        <p:spPr>
          <a:xfrm>
            <a:off x="987552" y="4626864"/>
            <a:ext cx="237744" cy="237744"/>
          </a:xfrm>
          <a:prstGeom prst="rect">
            <a:avLst/>
          </a:prstGeom>
        </p:spPr>
      </p:pic>
      <p:sp>
        <p:nvSpPr>
          <p:cNvPr id="18" name="TextBox 17"/>
          <p:cNvSpPr txBox="1"/>
          <p:nvPr/>
        </p:nvSpPr>
        <p:spPr>
          <a:xfrm>
            <a:off x="1353312" y="4480560"/>
            <a:ext cx="5029200" cy="530352"/>
          </a:xfrm>
          <a:prstGeom prst="rect">
            <a:avLst/>
          </a:prstGeom>
          <a:noFill/>
        </p:spPr>
        <p:txBody>
          <a:bodyPr wrap="square" anchor="ctr" lIns="0" rIns="0" tIns="0" bIns="0">
            <a:spAutoFit/>
          </a:bodyPr>
          <a:lstStyle/>
          <a:p>
            <a:pPr algn="l">
              <a:lnSpc>
                <a:spcPct val="106000"/>
              </a:lnSpc>
              <a:spcBef>
                <a:spcPts val="0"/>
              </a:spcBef>
              <a:spcAft>
                <a:spcPts val="0"/>
              </a:spcAft>
            </a:pPr>
            <a:r>
              <a:rPr sz="1200" b="0">
                <a:solidFill>
                  <a:srgbClr val="1A1A1A"/>
                </a:solidFill>
                <a:latin typeface="Red Hat Text"/>
              </a:rPr>
              <a:t>This is the shape of most internal breaches: something got on the network, everything trusted it</a:t>
            </a:r>
          </a:p>
        </p:txBody>
      </p:sp>
      <p:sp>
        <p:nvSpPr>
          <p:cNvPr id="19" name="Rounded Rectangle 18"/>
          <p:cNvSpPr/>
          <p:nvPr/>
        </p:nvSpPr>
        <p:spPr>
          <a:xfrm>
            <a:off x="841248" y="5084064"/>
            <a:ext cx="5715000" cy="530352"/>
          </a:xfrm>
          <a:prstGeom prst="roundRect">
            <a:avLst>
              <a:gd name="adj" fmla="val 6000"/>
            </a:avLst>
          </a:prstGeom>
          <a:solidFill>
            <a:srgbClr val="F5F6F8"/>
          </a:solidFill>
          <a:ln w="12700">
            <a:solidFill>
              <a:srgbClr val="DDE1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0" name="Picture 19" descr="check_steel.png"/>
          <p:cNvPicPr>
            <a:picLocks noChangeAspect="1"/>
          </p:cNvPicPr>
          <p:nvPr/>
        </p:nvPicPr>
        <p:blipFill>
          <a:blip r:embed="rId3"/>
          <a:stretch>
            <a:fillRect/>
          </a:stretch>
        </p:blipFill>
        <p:spPr>
          <a:xfrm>
            <a:off x="987552" y="5230368"/>
            <a:ext cx="237744" cy="237744"/>
          </a:xfrm>
          <a:prstGeom prst="rect">
            <a:avLst/>
          </a:prstGeom>
        </p:spPr>
      </p:pic>
      <p:sp>
        <p:nvSpPr>
          <p:cNvPr id="21" name="TextBox 20"/>
          <p:cNvSpPr txBox="1"/>
          <p:nvPr/>
        </p:nvSpPr>
        <p:spPr>
          <a:xfrm>
            <a:off x="1353312" y="5084064"/>
            <a:ext cx="5029200" cy="530352"/>
          </a:xfrm>
          <a:prstGeom prst="rect">
            <a:avLst/>
          </a:prstGeom>
          <a:noFill/>
        </p:spPr>
        <p:txBody>
          <a:bodyPr wrap="square" anchor="ctr" lIns="0" rIns="0" tIns="0" bIns="0">
            <a:spAutoFit/>
          </a:bodyPr>
          <a:lstStyle/>
          <a:p>
            <a:pPr algn="l">
              <a:lnSpc>
                <a:spcPct val="106000"/>
              </a:lnSpc>
              <a:spcBef>
                <a:spcPts val="0"/>
              </a:spcBef>
              <a:spcAft>
                <a:spcPts val="0"/>
              </a:spcAft>
            </a:pPr>
            <a:r>
              <a:rPr sz="1200" b="0">
                <a:solidFill>
                  <a:srgbClr val="1A1A1A"/>
                </a:solidFill>
                <a:latin typeface="Red Hat Text"/>
              </a:rPr>
              <a:t>This module puts a front door on the Parasol apps — with a product you already own</a:t>
            </a:r>
          </a:p>
        </p:txBody>
      </p:sp>
      <p:sp>
        <p:nvSpPr>
          <p:cNvPr id="22" name="Rounded Rectangle 21"/>
          <p:cNvSpPr/>
          <p:nvPr/>
        </p:nvSpPr>
        <p:spPr>
          <a:xfrm>
            <a:off x="6812280" y="2670048"/>
            <a:ext cx="4538167" cy="2944368"/>
          </a:xfrm>
          <a:prstGeom prst="roundRect">
            <a:avLst>
              <a:gd name="adj" fmla="val 4000"/>
            </a:avLst>
          </a:prstGeom>
          <a:solidFill>
            <a:srgbClr val="FFFFFF"/>
          </a:solidFill>
          <a:ln w="15240">
            <a:solidFill>
              <a:srgbClr val="DDE1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ounded Rectangle 22"/>
          <p:cNvSpPr/>
          <p:nvPr/>
        </p:nvSpPr>
        <p:spPr>
          <a:xfrm>
            <a:off x="7013448" y="2871216"/>
            <a:ext cx="1298448" cy="310896"/>
          </a:xfrm>
          <a:prstGeom prst="roundRect">
            <a:avLst>
              <a:gd name="adj" fmla="val 50000"/>
            </a:avLst>
          </a:prstGeom>
          <a:solidFill>
            <a:srgbClr val="FCEC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7013448" y="2871216"/>
            <a:ext cx="1298448" cy="310896"/>
          </a:xfrm>
          <a:prstGeom prst="rect">
            <a:avLst/>
          </a:prstGeom>
          <a:noFill/>
        </p:spPr>
        <p:txBody>
          <a:bodyPr wrap="none" anchor="ctr" lIns="0" rIns="0" tIns="0" bIns="0">
            <a:spAutoFit/>
          </a:bodyPr>
          <a:lstStyle/>
          <a:p>
            <a:pPr algn="ctr">
              <a:lnSpc>
                <a:spcPct val="106000"/>
              </a:lnSpc>
              <a:spcBef>
                <a:spcPts val="0"/>
              </a:spcBef>
              <a:spcAft>
                <a:spcPts val="0"/>
              </a:spcAft>
            </a:pPr>
            <a:r>
              <a:rPr sz="850" b="1">
                <a:solidFill>
                  <a:srgbClr val="B80000"/>
                </a:solidFill>
                <a:latin typeface="Red Hat Display"/>
              </a:rPr>
              <a:t>MEDIA PASS</a:t>
            </a:r>
          </a:p>
        </p:txBody>
      </p:sp>
      <p:pic>
        <p:nvPicPr>
          <p:cNvPr id="25" name="Picture 24" descr="eye_slate.png"/>
          <p:cNvPicPr>
            <a:picLocks noChangeAspect="1"/>
          </p:cNvPicPr>
          <p:nvPr/>
        </p:nvPicPr>
        <p:blipFill>
          <a:blip r:embed="rId4"/>
          <a:stretch>
            <a:fillRect/>
          </a:stretch>
        </p:blipFill>
        <p:spPr>
          <a:xfrm>
            <a:off x="8843619" y="3383280"/>
            <a:ext cx="475488" cy="475488"/>
          </a:xfrm>
          <a:prstGeom prst="rect">
            <a:avLst/>
          </a:prstGeom>
        </p:spPr>
      </p:pic>
      <p:sp>
        <p:nvSpPr>
          <p:cNvPr id="26" name="TextBox 25"/>
          <p:cNvSpPr txBox="1"/>
          <p:nvPr/>
        </p:nvSpPr>
        <p:spPr>
          <a:xfrm>
            <a:off x="7050024" y="3995928"/>
            <a:ext cx="4062679" cy="1481328"/>
          </a:xfrm>
          <a:prstGeom prst="rect">
            <a:avLst/>
          </a:prstGeom>
          <a:noFill/>
        </p:spPr>
        <p:txBody>
          <a:bodyPr wrap="square" anchor="t" lIns="0" rIns="0" tIns="0" bIns="0">
            <a:spAutoFit/>
          </a:bodyPr>
          <a:lstStyle/>
          <a:p>
            <a:pPr algn="l">
              <a:lnSpc>
                <a:spcPct val="120000"/>
              </a:lnSpc>
              <a:spcBef>
                <a:spcPts val="0"/>
              </a:spcBef>
              <a:spcAft>
                <a:spcPts val="0"/>
              </a:spcAft>
            </a:pPr>
            <a:r>
              <a:rPr sz="950" b="0">
                <a:solidFill>
                  <a:srgbClr val="8A9099"/>
                </a:solidFill>
                <a:latin typeface="Red Hat Text"/>
              </a:rPr>
              <a:t>A dark "claims API" tile spilling customer records to an anonymous stick-figure; a red "no auth" stamp.</a:t>
            </a:r>
          </a:p>
        </p:txBody>
      </p:sp>
      <p:cxnSp>
        <p:nvCxnSpPr>
          <p:cNvPr id="27" name="Connector 26"/>
          <p:cNvCxnSpPr/>
          <p:nvPr/>
        </p:nvCxnSpPr>
        <p:spPr>
          <a:xfrm>
            <a:off x="841248" y="6437376"/>
            <a:ext cx="10509199" cy="0"/>
          </a:xfrm>
          <a:prstGeom prst="bentConnector3">
            <a:avLst/>
          </a:prstGeom>
          <a:ln w="12700">
            <a:solidFill>
              <a:srgbClr val="DDE1E6"/>
            </a:solidFill>
          </a:ln>
          <a:effectLst/>
        </p:spPr>
        <p:style>
          <a:lnRef idx="2">
            <a:schemeClr val="accent1"/>
          </a:lnRef>
          <a:fillRef idx="0">
            <a:schemeClr val="accent1"/>
          </a:fillRef>
          <a:effectRef idx="1">
            <a:schemeClr val="accent1"/>
          </a:effectRef>
          <a:fontRef idx="minor">
            <a:schemeClr val="tx1"/>
          </a:fontRef>
        </p:style>
      </p:cxnSp>
      <p:sp>
        <p:nvSpPr>
          <p:cNvPr id="28" name="TextBox 27"/>
          <p:cNvSpPr txBox="1"/>
          <p:nvPr/>
        </p:nvSpPr>
        <p:spPr>
          <a:xfrm>
            <a:off x="841248" y="6473952"/>
            <a:ext cx="7315200" cy="274320"/>
          </a:xfrm>
          <a:prstGeom prst="rect">
            <a:avLst/>
          </a:prstGeom>
          <a:noFill/>
        </p:spPr>
        <p:txBody>
          <a:bodyPr wrap="square" anchor="t" lIns="0" rIns="0" tIns="0" bIns="0">
            <a:spAutoFit/>
          </a:bodyPr>
          <a:lstStyle/>
          <a:p>
            <a:pPr algn="l">
              <a:lnSpc>
                <a:spcPct val="106000"/>
              </a:lnSpc>
              <a:spcBef>
                <a:spcPts val="0"/>
              </a:spcBef>
              <a:spcAft>
                <a:spcPts val="0"/>
              </a:spcAft>
            </a:pPr>
            <a:r>
              <a:rPr sz="950" b="0">
                <a:solidFill>
                  <a:srgbClr val="8A9099"/>
                </a:solidFill>
                <a:latin typeface="Red Hat Text"/>
              </a:rPr>
              <a:t>CONFIDENTIAL</a:t>
            </a:r>
          </a:p>
        </p:txBody>
      </p:sp>
      <p:sp>
        <p:nvSpPr>
          <p:cNvPr id="29" name="TextBox 28"/>
          <p:cNvSpPr txBox="1"/>
          <p:nvPr/>
        </p:nvSpPr>
        <p:spPr>
          <a:xfrm>
            <a:off x="10801807" y="6473952"/>
            <a:ext cx="548640" cy="274320"/>
          </a:xfrm>
          <a:prstGeom prst="rect">
            <a:avLst/>
          </a:prstGeom>
          <a:noFill/>
        </p:spPr>
        <p:txBody>
          <a:bodyPr wrap="square" anchor="t" lIns="0" rIns="0" tIns="0" bIns="0">
            <a:spAutoFit/>
          </a:bodyPr>
          <a:lstStyle/>
          <a:p>
            <a:pPr algn="r">
              <a:lnSpc>
                <a:spcPct val="106000"/>
              </a:lnSpc>
              <a:spcBef>
                <a:spcPts val="0"/>
              </a:spcBef>
              <a:spcAft>
                <a:spcPts val="0"/>
              </a:spcAft>
            </a:pPr>
            <a:r>
              <a:rPr sz="950" b="0">
                <a:solidFill>
                  <a:srgbClr val="8A9099"/>
                </a:solidFill>
                <a:latin typeface="Red Hat Text"/>
              </a:rPr>
              <a:t>96</a:t>
            </a:r>
          </a:p>
        </p:txBody>
      </p:sp>
    </p:spTree>
  </p:cSld>
  <p:clrMapOvr>
    <a:masterClrMapping/>
  </p:clrMapOvr>
</p:sld>
</file>

<file path=ppt/slides/slide1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redhat_logo.jpg"/>
          <p:cNvPicPr>
            <a:picLocks noChangeAspect="1"/>
          </p:cNvPicPr>
          <p:nvPr/>
        </p:nvPicPr>
        <p:blipFill>
          <a:blip r:embed="rId2"/>
          <a:stretch>
            <a:fillRect/>
          </a:stretch>
        </p:blipFill>
        <p:spPr>
          <a:xfrm>
            <a:off x="10326319" y="475488"/>
            <a:ext cx="1024128" cy="242248"/>
          </a:xfrm>
          <a:prstGeom prst="rect">
            <a:avLst/>
          </a:prstGeom>
        </p:spPr>
      </p:pic>
      <p:sp>
        <p:nvSpPr>
          <p:cNvPr id="3" name="TextBox 2"/>
          <p:cNvSpPr txBox="1"/>
          <p:nvPr/>
        </p:nvSpPr>
        <p:spPr>
          <a:xfrm>
            <a:off x="841248" y="548640"/>
            <a:ext cx="8595360" cy="274320"/>
          </a:xfrm>
          <a:prstGeom prst="rect">
            <a:avLst/>
          </a:prstGeom>
          <a:noFill/>
        </p:spPr>
        <p:txBody>
          <a:bodyPr wrap="square" anchor="t" lIns="0" rIns="0" tIns="0" bIns="0">
            <a:spAutoFit/>
          </a:bodyPr>
          <a:lstStyle/>
          <a:p>
            <a:pPr algn="l">
              <a:lnSpc>
                <a:spcPct val="106000"/>
              </a:lnSpc>
              <a:spcBef>
                <a:spcPts val="0"/>
              </a:spcBef>
              <a:spcAft>
                <a:spcPts val="0"/>
              </a:spcAft>
            </a:pPr>
            <a:r>
              <a:rPr sz="1250" b="1" spc="220">
                <a:solidFill>
                  <a:srgbClr val="EE0000"/>
                </a:solidFill>
                <a:latin typeface="Red Hat Display"/>
              </a:rPr>
              <a:t>M14 · SECURING APPS WITH KEYCLOAK</a:t>
            </a:r>
          </a:p>
        </p:txBody>
      </p:sp>
      <p:sp>
        <p:nvSpPr>
          <p:cNvPr id="4" name="TextBox 3"/>
          <p:cNvSpPr txBox="1"/>
          <p:nvPr/>
        </p:nvSpPr>
        <p:spPr>
          <a:xfrm>
            <a:off x="841248" y="877824"/>
            <a:ext cx="10515600" cy="548640"/>
          </a:xfrm>
          <a:prstGeom prst="rect">
            <a:avLst/>
          </a:prstGeom>
          <a:noFill/>
        </p:spPr>
        <p:txBody>
          <a:bodyPr wrap="none" anchor="t" lIns="0" rIns="0" tIns="0" bIns="0">
            <a:spAutoFit/>
          </a:bodyPr>
          <a:lstStyle/>
          <a:p>
            <a:pPr algn="l">
              <a:lnSpc>
                <a:spcPct val="100000"/>
              </a:lnSpc>
              <a:spcBef>
                <a:spcPts val="0"/>
              </a:spcBef>
              <a:spcAft>
                <a:spcPts val="0"/>
              </a:spcAft>
            </a:pPr>
            <a:r>
              <a:rPr sz="2500" b="1">
                <a:solidFill>
                  <a:srgbClr val="1A1A1A"/>
                </a:solidFill>
                <a:latin typeface="Red Hat Display"/>
              </a:rPr>
              <a:t>Authentication is not authorization</a:t>
            </a:r>
          </a:p>
        </p:txBody>
      </p:sp>
      <p:cxnSp>
        <p:nvCxnSpPr>
          <p:cNvPr id="5" name="Connector 4"/>
          <p:cNvCxnSpPr/>
          <p:nvPr/>
        </p:nvCxnSpPr>
        <p:spPr>
          <a:xfrm>
            <a:off x="841248" y="1554480"/>
            <a:ext cx="1371600" cy="0"/>
          </a:xfrm>
          <a:prstGeom prst="bentConnector3">
            <a:avLst/>
          </a:prstGeom>
          <a:ln w="31750">
            <a:solidFill>
              <a:srgbClr val="EE0000"/>
            </a:solidFill>
          </a:ln>
          <a:effectLst/>
        </p:spPr>
        <p:style>
          <a:lnRef idx="2">
            <a:schemeClr val="accent1"/>
          </a:lnRef>
          <a:fillRef idx="0">
            <a:schemeClr val="accent1"/>
          </a:fillRef>
          <a:effectRef idx="1">
            <a:schemeClr val="accent1"/>
          </a:effectRef>
          <a:fontRef idx="minor">
            <a:schemeClr val="tx1"/>
          </a:fontRef>
        </p:style>
      </p:cxnSp>
      <p:sp>
        <p:nvSpPr>
          <p:cNvPr id="6" name="Rounded Rectangle 5"/>
          <p:cNvSpPr/>
          <p:nvPr/>
        </p:nvSpPr>
        <p:spPr>
          <a:xfrm>
            <a:off x="841248" y="2395728"/>
            <a:ext cx="5715000" cy="530352"/>
          </a:xfrm>
          <a:prstGeom prst="roundRect">
            <a:avLst>
              <a:gd name="adj" fmla="val 6000"/>
            </a:avLst>
          </a:prstGeom>
          <a:solidFill>
            <a:srgbClr val="F5F6F8"/>
          </a:solidFill>
          <a:ln w="12700">
            <a:solidFill>
              <a:srgbClr val="DDE1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check_steel.png"/>
          <p:cNvPicPr>
            <a:picLocks noChangeAspect="1"/>
          </p:cNvPicPr>
          <p:nvPr/>
        </p:nvPicPr>
        <p:blipFill>
          <a:blip r:embed="rId3"/>
          <a:stretch>
            <a:fillRect/>
          </a:stretch>
        </p:blipFill>
        <p:spPr>
          <a:xfrm>
            <a:off x="987552" y="2542032"/>
            <a:ext cx="237744" cy="237744"/>
          </a:xfrm>
          <a:prstGeom prst="rect">
            <a:avLst/>
          </a:prstGeom>
        </p:spPr>
      </p:pic>
      <p:sp>
        <p:nvSpPr>
          <p:cNvPr id="8" name="TextBox 7"/>
          <p:cNvSpPr txBox="1"/>
          <p:nvPr/>
        </p:nvSpPr>
        <p:spPr>
          <a:xfrm>
            <a:off x="1353312" y="2395728"/>
            <a:ext cx="5029200" cy="530352"/>
          </a:xfrm>
          <a:prstGeom prst="rect">
            <a:avLst/>
          </a:prstGeom>
          <a:noFill/>
        </p:spPr>
        <p:txBody>
          <a:bodyPr wrap="square" anchor="ctr" lIns="0" rIns="0" tIns="0" bIns="0">
            <a:spAutoFit/>
          </a:bodyPr>
          <a:lstStyle/>
          <a:p>
            <a:pPr algn="l">
              <a:lnSpc>
                <a:spcPct val="106000"/>
              </a:lnSpc>
              <a:spcBef>
                <a:spcPts val="0"/>
              </a:spcBef>
              <a:spcAft>
                <a:spcPts val="0"/>
              </a:spcAft>
            </a:pPr>
            <a:r>
              <a:rPr sz="1200" b="0">
                <a:solidFill>
                  <a:srgbClr val="1A1A1A"/>
                </a:solidFill>
                <a:latin typeface="Red Hat Text"/>
              </a:rPr>
              <a:t>**AuthN** — *who are you?* Proving identity (a login, a token)</a:t>
            </a:r>
          </a:p>
        </p:txBody>
      </p:sp>
      <p:sp>
        <p:nvSpPr>
          <p:cNvPr id="9" name="Rounded Rectangle 8"/>
          <p:cNvSpPr/>
          <p:nvPr/>
        </p:nvSpPr>
        <p:spPr>
          <a:xfrm>
            <a:off x="841248" y="2999232"/>
            <a:ext cx="5715000" cy="530352"/>
          </a:xfrm>
          <a:prstGeom prst="roundRect">
            <a:avLst>
              <a:gd name="adj" fmla="val 6000"/>
            </a:avLst>
          </a:prstGeom>
          <a:solidFill>
            <a:srgbClr val="F5F6F8"/>
          </a:solidFill>
          <a:ln w="12700">
            <a:solidFill>
              <a:srgbClr val="DDE1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0" name="Picture 9" descr="check_steel.png"/>
          <p:cNvPicPr>
            <a:picLocks noChangeAspect="1"/>
          </p:cNvPicPr>
          <p:nvPr/>
        </p:nvPicPr>
        <p:blipFill>
          <a:blip r:embed="rId3"/>
          <a:stretch>
            <a:fillRect/>
          </a:stretch>
        </p:blipFill>
        <p:spPr>
          <a:xfrm>
            <a:off x="987552" y="3145536"/>
            <a:ext cx="237744" cy="237744"/>
          </a:xfrm>
          <a:prstGeom prst="rect">
            <a:avLst/>
          </a:prstGeom>
        </p:spPr>
      </p:pic>
      <p:sp>
        <p:nvSpPr>
          <p:cNvPr id="11" name="TextBox 10"/>
          <p:cNvSpPr txBox="1"/>
          <p:nvPr/>
        </p:nvSpPr>
        <p:spPr>
          <a:xfrm>
            <a:off x="1353312" y="2999232"/>
            <a:ext cx="5029200" cy="530352"/>
          </a:xfrm>
          <a:prstGeom prst="rect">
            <a:avLst/>
          </a:prstGeom>
          <a:noFill/>
        </p:spPr>
        <p:txBody>
          <a:bodyPr wrap="square" anchor="ctr" lIns="0" rIns="0" tIns="0" bIns="0">
            <a:spAutoFit/>
          </a:bodyPr>
          <a:lstStyle/>
          <a:p>
            <a:pPr algn="l">
              <a:lnSpc>
                <a:spcPct val="106000"/>
              </a:lnSpc>
              <a:spcBef>
                <a:spcPts val="0"/>
              </a:spcBef>
              <a:spcAft>
                <a:spcPts val="0"/>
              </a:spcAft>
            </a:pPr>
            <a:r>
              <a:rPr sz="1200" b="0">
                <a:solidFill>
                  <a:srgbClr val="1A1A1A"/>
                </a:solidFill>
                <a:latin typeface="Red Hat Text"/>
              </a:rPr>
              <a:t>**AuthZ** — *what may you do?* Checking permission (a role, an ownership rule)</a:t>
            </a:r>
          </a:p>
        </p:txBody>
      </p:sp>
      <p:sp>
        <p:nvSpPr>
          <p:cNvPr id="12" name="Rounded Rectangle 11"/>
          <p:cNvSpPr/>
          <p:nvPr/>
        </p:nvSpPr>
        <p:spPr>
          <a:xfrm>
            <a:off x="841248" y="3602736"/>
            <a:ext cx="5715000" cy="530352"/>
          </a:xfrm>
          <a:prstGeom prst="roundRect">
            <a:avLst>
              <a:gd name="adj" fmla="val 6000"/>
            </a:avLst>
          </a:prstGeom>
          <a:solidFill>
            <a:srgbClr val="F5F6F8"/>
          </a:solidFill>
          <a:ln w="12700">
            <a:solidFill>
              <a:srgbClr val="DDE1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3" name="Picture 12" descr="check_steel.png"/>
          <p:cNvPicPr>
            <a:picLocks noChangeAspect="1"/>
          </p:cNvPicPr>
          <p:nvPr/>
        </p:nvPicPr>
        <p:blipFill>
          <a:blip r:embed="rId3"/>
          <a:stretch>
            <a:fillRect/>
          </a:stretch>
        </p:blipFill>
        <p:spPr>
          <a:xfrm>
            <a:off x="987552" y="3749040"/>
            <a:ext cx="237744" cy="237744"/>
          </a:xfrm>
          <a:prstGeom prst="rect">
            <a:avLst/>
          </a:prstGeom>
        </p:spPr>
      </p:pic>
      <p:sp>
        <p:nvSpPr>
          <p:cNvPr id="14" name="TextBox 13"/>
          <p:cNvSpPr txBox="1"/>
          <p:nvPr/>
        </p:nvSpPr>
        <p:spPr>
          <a:xfrm>
            <a:off x="1353312" y="3602736"/>
            <a:ext cx="5029200" cy="530352"/>
          </a:xfrm>
          <a:prstGeom prst="rect">
            <a:avLst/>
          </a:prstGeom>
          <a:noFill/>
        </p:spPr>
        <p:txBody>
          <a:bodyPr wrap="square" anchor="ctr" lIns="0" rIns="0" tIns="0" bIns="0">
            <a:spAutoFit/>
          </a:bodyPr>
          <a:lstStyle/>
          <a:p>
            <a:pPr algn="l">
              <a:lnSpc>
                <a:spcPct val="106000"/>
              </a:lnSpc>
              <a:spcBef>
                <a:spcPts val="0"/>
              </a:spcBef>
              <a:spcAft>
                <a:spcPts val="0"/>
              </a:spcAft>
            </a:pPr>
            <a:r>
              <a:rPr sz="1200" b="0">
                <a:solidFill>
                  <a:srgbClr val="1A1A1A"/>
                </a:solidFill>
                <a:latin typeface="Red Hat Text"/>
              </a:rPr>
              <a:t>A valid token answers only the first question</a:t>
            </a:r>
          </a:p>
        </p:txBody>
      </p:sp>
      <p:sp>
        <p:nvSpPr>
          <p:cNvPr id="15" name="Rounded Rectangle 14"/>
          <p:cNvSpPr/>
          <p:nvPr/>
        </p:nvSpPr>
        <p:spPr>
          <a:xfrm>
            <a:off x="841248" y="4206240"/>
            <a:ext cx="5715000" cy="530352"/>
          </a:xfrm>
          <a:prstGeom prst="roundRect">
            <a:avLst>
              <a:gd name="adj" fmla="val 6000"/>
            </a:avLst>
          </a:prstGeom>
          <a:solidFill>
            <a:srgbClr val="F5F6F8"/>
          </a:solidFill>
          <a:ln w="12700">
            <a:solidFill>
              <a:srgbClr val="DDE1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6" name="Picture 15" descr="check_steel.png"/>
          <p:cNvPicPr>
            <a:picLocks noChangeAspect="1"/>
          </p:cNvPicPr>
          <p:nvPr/>
        </p:nvPicPr>
        <p:blipFill>
          <a:blip r:embed="rId3"/>
          <a:stretch>
            <a:fillRect/>
          </a:stretch>
        </p:blipFill>
        <p:spPr>
          <a:xfrm>
            <a:off x="987552" y="4352544"/>
            <a:ext cx="237744" cy="237744"/>
          </a:xfrm>
          <a:prstGeom prst="rect">
            <a:avLst/>
          </a:prstGeom>
        </p:spPr>
      </p:pic>
      <p:sp>
        <p:nvSpPr>
          <p:cNvPr id="17" name="TextBox 16"/>
          <p:cNvSpPr txBox="1"/>
          <p:nvPr/>
        </p:nvSpPr>
        <p:spPr>
          <a:xfrm>
            <a:off x="1353312" y="4206240"/>
            <a:ext cx="5029200" cy="530352"/>
          </a:xfrm>
          <a:prstGeom prst="rect">
            <a:avLst/>
          </a:prstGeom>
          <a:noFill/>
        </p:spPr>
        <p:txBody>
          <a:bodyPr wrap="square" anchor="ctr" lIns="0" rIns="0" tIns="0" bIns="0">
            <a:spAutoFit/>
          </a:bodyPr>
          <a:lstStyle/>
          <a:p>
            <a:pPr algn="l">
              <a:lnSpc>
                <a:spcPct val="106000"/>
              </a:lnSpc>
              <a:spcBef>
                <a:spcPts val="0"/>
              </a:spcBef>
              <a:spcAft>
                <a:spcPts val="0"/>
              </a:spcAft>
            </a:pPr>
            <a:r>
              <a:rPr sz="1200" b="0">
                <a:solidFill>
                  <a:srgbClr val="1A1A1A"/>
                </a:solidFill>
                <a:latin typeface="Red Hat Text"/>
              </a:rPr>
              <a:t>`viewer` logs in perfectly — and must still be denied listing claims</a:t>
            </a:r>
          </a:p>
        </p:txBody>
      </p:sp>
      <p:sp>
        <p:nvSpPr>
          <p:cNvPr id="18" name="Rounded Rectangle 17"/>
          <p:cNvSpPr/>
          <p:nvPr/>
        </p:nvSpPr>
        <p:spPr>
          <a:xfrm>
            <a:off x="841248" y="4809744"/>
            <a:ext cx="5715000" cy="530352"/>
          </a:xfrm>
          <a:prstGeom prst="roundRect">
            <a:avLst>
              <a:gd name="adj" fmla="val 6000"/>
            </a:avLst>
          </a:prstGeom>
          <a:solidFill>
            <a:srgbClr val="F5F6F8"/>
          </a:solidFill>
          <a:ln w="12700">
            <a:solidFill>
              <a:srgbClr val="DDE1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9" name="Picture 18" descr="check_steel.png"/>
          <p:cNvPicPr>
            <a:picLocks noChangeAspect="1"/>
          </p:cNvPicPr>
          <p:nvPr/>
        </p:nvPicPr>
        <p:blipFill>
          <a:blip r:embed="rId3"/>
          <a:stretch>
            <a:fillRect/>
          </a:stretch>
        </p:blipFill>
        <p:spPr>
          <a:xfrm>
            <a:off x="987552" y="4956048"/>
            <a:ext cx="237744" cy="237744"/>
          </a:xfrm>
          <a:prstGeom prst="rect">
            <a:avLst/>
          </a:prstGeom>
        </p:spPr>
      </p:pic>
      <p:sp>
        <p:nvSpPr>
          <p:cNvPr id="20" name="TextBox 19"/>
          <p:cNvSpPr txBox="1"/>
          <p:nvPr/>
        </p:nvSpPr>
        <p:spPr>
          <a:xfrm>
            <a:off x="1353312" y="4809744"/>
            <a:ext cx="5029200" cy="530352"/>
          </a:xfrm>
          <a:prstGeom prst="rect">
            <a:avLst/>
          </a:prstGeom>
          <a:noFill/>
        </p:spPr>
        <p:txBody>
          <a:bodyPr wrap="square" anchor="ctr" lIns="0" rIns="0" tIns="0" bIns="0">
            <a:spAutoFit/>
          </a:bodyPr>
          <a:lstStyle/>
          <a:p>
            <a:pPr algn="l">
              <a:lnSpc>
                <a:spcPct val="106000"/>
              </a:lnSpc>
              <a:spcBef>
                <a:spcPts val="0"/>
              </a:spcBef>
              <a:spcAft>
                <a:spcPts val="0"/>
              </a:spcAft>
            </a:pPr>
            <a:r>
              <a:rPr sz="1200" b="0">
                <a:solidFill>
                  <a:srgbClr val="1A1A1A"/>
                </a:solidFill>
                <a:latin typeface="Red Hat Text"/>
              </a:rPr>
              <a:t>You will see it as two status codes: **401** = "who are you?" · **403** = "I know, and no"</a:t>
            </a:r>
          </a:p>
        </p:txBody>
      </p:sp>
      <p:sp>
        <p:nvSpPr>
          <p:cNvPr id="21" name="Rounded Rectangle 20"/>
          <p:cNvSpPr/>
          <p:nvPr/>
        </p:nvSpPr>
        <p:spPr>
          <a:xfrm>
            <a:off x="6812280" y="2395728"/>
            <a:ext cx="4538167" cy="2944368"/>
          </a:xfrm>
          <a:prstGeom prst="roundRect">
            <a:avLst>
              <a:gd name="adj" fmla="val 4000"/>
            </a:avLst>
          </a:prstGeom>
          <a:solidFill>
            <a:srgbClr val="FFFFFF"/>
          </a:solidFill>
          <a:ln w="15240">
            <a:solidFill>
              <a:srgbClr val="DDE1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ounded Rectangle 21"/>
          <p:cNvSpPr/>
          <p:nvPr/>
        </p:nvSpPr>
        <p:spPr>
          <a:xfrm>
            <a:off x="7013448" y="2596896"/>
            <a:ext cx="1298448" cy="310896"/>
          </a:xfrm>
          <a:prstGeom prst="roundRect">
            <a:avLst>
              <a:gd name="adj" fmla="val 50000"/>
            </a:avLst>
          </a:prstGeom>
          <a:solidFill>
            <a:srgbClr val="FCEC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7013448" y="2596896"/>
            <a:ext cx="1298448" cy="310896"/>
          </a:xfrm>
          <a:prstGeom prst="rect">
            <a:avLst/>
          </a:prstGeom>
          <a:noFill/>
        </p:spPr>
        <p:txBody>
          <a:bodyPr wrap="none" anchor="ctr" lIns="0" rIns="0" tIns="0" bIns="0">
            <a:spAutoFit/>
          </a:bodyPr>
          <a:lstStyle/>
          <a:p>
            <a:pPr algn="ctr">
              <a:lnSpc>
                <a:spcPct val="106000"/>
              </a:lnSpc>
              <a:spcBef>
                <a:spcPts val="0"/>
              </a:spcBef>
              <a:spcAft>
                <a:spcPts val="0"/>
              </a:spcAft>
            </a:pPr>
            <a:r>
              <a:rPr sz="850" b="1">
                <a:solidFill>
                  <a:srgbClr val="B80000"/>
                </a:solidFill>
                <a:latin typeface="Red Hat Display"/>
              </a:rPr>
              <a:t>MEDIA PASS</a:t>
            </a:r>
          </a:p>
        </p:txBody>
      </p:sp>
      <p:pic>
        <p:nvPicPr>
          <p:cNvPr id="24" name="Picture 23" descr="eye_slate.png"/>
          <p:cNvPicPr>
            <a:picLocks noChangeAspect="1"/>
          </p:cNvPicPr>
          <p:nvPr/>
        </p:nvPicPr>
        <p:blipFill>
          <a:blip r:embed="rId4"/>
          <a:stretch>
            <a:fillRect/>
          </a:stretch>
        </p:blipFill>
        <p:spPr>
          <a:xfrm>
            <a:off x="8843619" y="3108960"/>
            <a:ext cx="475488" cy="475488"/>
          </a:xfrm>
          <a:prstGeom prst="rect">
            <a:avLst/>
          </a:prstGeom>
        </p:spPr>
      </p:pic>
      <p:sp>
        <p:nvSpPr>
          <p:cNvPr id="25" name="TextBox 24"/>
          <p:cNvSpPr txBox="1"/>
          <p:nvPr/>
        </p:nvSpPr>
        <p:spPr>
          <a:xfrm>
            <a:off x="7050024" y="3721608"/>
            <a:ext cx="4062679" cy="1481328"/>
          </a:xfrm>
          <a:prstGeom prst="rect">
            <a:avLst/>
          </a:prstGeom>
          <a:noFill/>
        </p:spPr>
        <p:txBody>
          <a:bodyPr wrap="square" anchor="t" lIns="0" rIns="0" tIns="0" bIns="0">
            <a:spAutoFit/>
          </a:bodyPr>
          <a:lstStyle/>
          <a:p>
            <a:pPr algn="l">
              <a:lnSpc>
                <a:spcPct val="120000"/>
              </a:lnSpc>
              <a:spcBef>
                <a:spcPts val="0"/>
              </a:spcBef>
              <a:spcAft>
                <a:spcPts val="0"/>
              </a:spcAft>
            </a:pPr>
            <a:r>
              <a:rPr sz="950" b="0">
                <a:solidFill>
                  <a:srgbClr val="8A9099"/>
                </a:solidFill>
                <a:latin typeface="Red Hat Text"/>
              </a:rPr>
              <a:t>Two gates — gate 1 "AuthN: who are you?" (401 if no), gate 2 "AuthZ: what may you do?" (403 if no); a token passes gate 1 but stops at gate 2.</a:t>
            </a:r>
          </a:p>
        </p:txBody>
      </p:sp>
      <p:cxnSp>
        <p:nvCxnSpPr>
          <p:cNvPr id="26" name="Connector 25"/>
          <p:cNvCxnSpPr/>
          <p:nvPr/>
        </p:nvCxnSpPr>
        <p:spPr>
          <a:xfrm>
            <a:off x="841248" y="6437376"/>
            <a:ext cx="10509199" cy="0"/>
          </a:xfrm>
          <a:prstGeom prst="bentConnector3">
            <a:avLst/>
          </a:prstGeom>
          <a:ln w="12700">
            <a:solidFill>
              <a:srgbClr val="DDE1E6"/>
            </a:solidFill>
          </a:ln>
          <a:effectLst/>
        </p:spPr>
        <p:style>
          <a:lnRef idx="2">
            <a:schemeClr val="accent1"/>
          </a:lnRef>
          <a:fillRef idx="0">
            <a:schemeClr val="accent1"/>
          </a:fillRef>
          <a:effectRef idx="1">
            <a:schemeClr val="accent1"/>
          </a:effectRef>
          <a:fontRef idx="minor">
            <a:schemeClr val="tx1"/>
          </a:fontRef>
        </p:style>
      </p:cxnSp>
      <p:sp>
        <p:nvSpPr>
          <p:cNvPr id="27" name="TextBox 26"/>
          <p:cNvSpPr txBox="1"/>
          <p:nvPr/>
        </p:nvSpPr>
        <p:spPr>
          <a:xfrm>
            <a:off x="841248" y="6473952"/>
            <a:ext cx="7315200" cy="274320"/>
          </a:xfrm>
          <a:prstGeom prst="rect">
            <a:avLst/>
          </a:prstGeom>
          <a:noFill/>
        </p:spPr>
        <p:txBody>
          <a:bodyPr wrap="square" anchor="t" lIns="0" rIns="0" tIns="0" bIns="0">
            <a:spAutoFit/>
          </a:bodyPr>
          <a:lstStyle/>
          <a:p>
            <a:pPr algn="l">
              <a:lnSpc>
                <a:spcPct val="106000"/>
              </a:lnSpc>
              <a:spcBef>
                <a:spcPts val="0"/>
              </a:spcBef>
              <a:spcAft>
                <a:spcPts val="0"/>
              </a:spcAft>
            </a:pPr>
            <a:r>
              <a:rPr sz="950" b="0">
                <a:solidFill>
                  <a:srgbClr val="8A9099"/>
                </a:solidFill>
                <a:latin typeface="Red Hat Text"/>
              </a:rPr>
              <a:t>CONFIDENTIAL</a:t>
            </a:r>
          </a:p>
        </p:txBody>
      </p:sp>
      <p:sp>
        <p:nvSpPr>
          <p:cNvPr id="28" name="TextBox 27"/>
          <p:cNvSpPr txBox="1"/>
          <p:nvPr/>
        </p:nvSpPr>
        <p:spPr>
          <a:xfrm>
            <a:off x="10801807" y="6473952"/>
            <a:ext cx="548640" cy="274320"/>
          </a:xfrm>
          <a:prstGeom prst="rect">
            <a:avLst/>
          </a:prstGeom>
          <a:noFill/>
        </p:spPr>
        <p:txBody>
          <a:bodyPr wrap="square" anchor="t" lIns="0" rIns="0" tIns="0" bIns="0">
            <a:spAutoFit/>
          </a:bodyPr>
          <a:lstStyle/>
          <a:p>
            <a:pPr algn="r">
              <a:lnSpc>
                <a:spcPct val="106000"/>
              </a:lnSpc>
              <a:spcBef>
                <a:spcPts val="0"/>
              </a:spcBef>
              <a:spcAft>
                <a:spcPts val="0"/>
              </a:spcAft>
            </a:pPr>
            <a:r>
              <a:rPr sz="950" b="0">
                <a:solidFill>
                  <a:srgbClr val="8A9099"/>
                </a:solidFill>
                <a:latin typeface="Red Hat Text"/>
              </a:rPr>
              <a:t>97</a:t>
            </a:r>
          </a:p>
        </p:txBody>
      </p:sp>
    </p:spTree>
  </p:cSld>
  <p:clrMapOvr>
    <a:masterClrMapping/>
  </p:clrMapOvr>
</p:sld>
</file>

<file path=ppt/slides/slide1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redhat_logo.jpg"/>
          <p:cNvPicPr>
            <a:picLocks noChangeAspect="1"/>
          </p:cNvPicPr>
          <p:nvPr/>
        </p:nvPicPr>
        <p:blipFill>
          <a:blip r:embed="rId2"/>
          <a:stretch>
            <a:fillRect/>
          </a:stretch>
        </p:blipFill>
        <p:spPr>
          <a:xfrm>
            <a:off x="10326319" y="475488"/>
            <a:ext cx="1024128" cy="242248"/>
          </a:xfrm>
          <a:prstGeom prst="rect">
            <a:avLst/>
          </a:prstGeom>
        </p:spPr>
      </p:pic>
      <p:sp>
        <p:nvSpPr>
          <p:cNvPr id="3" name="TextBox 2"/>
          <p:cNvSpPr txBox="1"/>
          <p:nvPr/>
        </p:nvSpPr>
        <p:spPr>
          <a:xfrm>
            <a:off x="841248" y="548640"/>
            <a:ext cx="8595360" cy="274320"/>
          </a:xfrm>
          <a:prstGeom prst="rect">
            <a:avLst/>
          </a:prstGeom>
          <a:noFill/>
        </p:spPr>
        <p:txBody>
          <a:bodyPr wrap="square" anchor="t" lIns="0" rIns="0" tIns="0" bIns="0">
            <a:spAutoFit/>
          </a:bodyPr>
          <a:lstStyle/>
          <a:p>
            <a:pPr algn="l">
              <a:lnSpc>
                <a:spcPct val="106000"/>
              </a:lnSpc>
              <a:spcBef>
                <a:spcPts val="0"/>
              </a:spcBef>
              <a:spcAft>
                <a:spcPts val="0"/>
              </a:spcAft>
            </a:pPr>
            <a:r>
              <a:rPr sz="1250" b="1" spc="220">
                <a:solidFill>
                  <a:srgbClr val="EE0000"/>
                </a:solidFill>
                <a:latin typeface="Red Hat Display"/>
              </a:rPr>
              <a:t>M14 · SECURING APPS WITH KEYCLOAK</a:t>
            </a:r>
          </a:p>
        </p:txBody>
      </p:sp>
      <p:sp>
        <p:nvSpPr>
          <p:cNvPr id="4" name="TextBox 3"/>
          <p:cNvSpPr txBox="1"/>
          <p:nvPr/>
        </p:nvSpPr>
        <p:spPr>
          <a:xfrm>
            <a:off x="841248" y="877824"/>
            <a:ext cx="10515600" cy="548640"/>
          </a:xfrm>
          <a:prstGeom prst="rect">
            <a:avLst/>
          </a:prstGeom>
          <a:noFill/>
        </p:spPr>
        <p:txBody>
          <a:bodyPr wrap="none" anchor="t" lIns="0" rIns="0" tIns="0" bIns="0">
            <a:spAutoFit/>
          </a:bodyPr>
          <a:lstStyle/>
          <a:p>
            <a:pPr algn="l">
              <a:lnSpc>
                <a:spcPct val="100000"/>
              </a:lnSpc>
              <a:spcBef>
                <a:spcPts val="0"/>
              </a:spcBef>
              <a:spcAft>
                <a:spcPts val="0"/>
              </a:spcAft>
            </a:pPr>
            <a:r>
              <a:rPr sz="2500" b="1">
                <a:solidFill>
                  <a:srgbClr val="1A1A1A"/>
                </a:solidFill>
                <a:latin typeface="Red Hat Display"/>
              </a:rPr>
              <a:t>Four flows — and when each applies</a:t>
            </a:r>
          </a:p>
        </p:txBody>
      </p:sp>
      <p:cxnSp>
        <p:nvCxnSpPr>
          <p:cNvPr id="5" name="Connector 4"/>
          <p:cNvCxnSpPr/>
          <p:nvPr/>
        </p:nvCxnSpPr>
        <p:spPr>
          <a:xfrm>
            <a:off x="841248" y="1554480"/>
            <a:ext cx="1371600" cy="0"/>
          </a:xfrm>
          <a:prstGeom prst="bentConnector3">
            <a:avLst/>
          </a:prstGeom>
          <a:ln w="31750">
            <a:solidFill>
              <a:srgbClr val="EE0000"/>
            </a:solidFill>
          </a:ln>
          <a:effectLst/>
        </p:spPr>
        <p:style>
          <a:lnRef idx="2">
            <a:schemeClr val="accent1"/>
          </a:lnRef>
          <a:fillRef idx="0">
            <a:schemeClr val="accent1"/>
          </a:fillRef>
          <a:effectRef idx="1">
            <a:schemeClr val="accent1"/>
          </a:effectRef>
          <a:fontRef idx="minor">
            <a:schemeClr val="tx1"/>
          </a:fontRef>
        </p:style>
      </p:cxnSp>
      <p:sp>
        <p:nvSpPr>
          <p:cNvPr id="6" name="Rounded Rectangle 5"/>
          <p:cNvSpPr/>
          <p:nvPr/>
        </p:nvSpPr>
        <p:spPr>
          <a:xfrm>
            <a:off x="841248" y="2395728"/>
            <a:ext cx="5715000" cy="530352"/>
          </a:xfrm>
          <a:prstGeom prst="roundRect">
            <a:avLst>
              <a:gd name="adj" fmla="val 6000"/>
            </a:avLst>
          </a:prstGeom>
          <a:solidFill>
            <a:srgbClr val="F5F6F8"/>
          </a:solidFill>
          <a:ln w="12700">
            <a:solidFill>
              <a:srgbClr val="DDE1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check_steel.png"/>
          <p:cNvPicPr>
            <a:picLocks noChangeAspect="1"/>
          </p:cNvPicPr>
          <p:nvPr/>
        </p:nvPicPr>
        <p:blipFill>
          <a:blip r:embed="rId3"/>
          <a:stretch>
            <a:fillRect/>
          </a:stretch>
        </p:blipFill>
        <p:spPr>
          <a:xfrm>
            <a:off x="987552" y="2542032"/>
            <a:ext cx="237744" cy="237744"/>
          </a:xfrm>
          <a:prstGeom prst="rect">
            <a:avLst/>
          </a:prstGeom>
        </p:spPr>
      </p:pic>
      <p:sp>
        <p:nvSpPr>
          <p:cNvPr id="8" name="TextBox 7"/>
          <p:cNvSpPr txBox="1"/>
          <p:nvPr/>
        </p:nvSpPr>
        <p:spPr>
          <a:xfrm>
            <a:off x="1353312" y="2395728"/>
            <a:ext cx="5029200" cy="530352"/>
          </a:xfrm>
          <a:prstGeom prst="rect">
            <a:avLst/>
          </a:prstGeom>
          <a:noFill/>
        </p:spPr>
        <p:txBody>
          <a:bodyPr wrap="square" anchor="ctr" lIns="0" rIns="0" tIns="0" bIns="0">
            <a:spAutoFit/>
          </a:bodyPr>
          <a:lstStyle/>
          <a:p>
            <a:pPr algn="l">
              <a:lnSpc>
                <a:spcPct val="106000"/>
              </a:lnSpc>
              <a:spcBef>
                <a:spcPts val="0"/>
              </a:spcBef>
              <a:spcAft>
                <a:spcPts val="0"/>
              </a:spcAft>
            </a:pPr>
            <a:r>
              <a:rPr sz="1200" b="0">
                <a:solidFill>
                  <a:srgbClr val="1A1A1A"/>
                </a:solidFill>
                <a:latin typeface="Red Hat Text"/>
              </a:rPr>
              <a:t>**Auth-code + PKCE** — browser login; the app never sees the password (web frontend)</a:t>
            </a:r>
          </a:p>
        </p:txBody>
      </p:sp>
      <p:sp>
        <p:nvSpPr>
          <p:cNvPr id="9" name="Rounded Rectangle 8"/>
          <p:cNvSpPr/>
          <p:nvPr/>
        </p:nvSpPr>
        <p:spPr>
          <a:xfrm>
            <a:off x="841248" y="2999232"/>
            <a:ext cx="5715000" cy="530352"/>
          </a:xfrm>
          <a:prstGeom prst="roundRect">
            <a:avLst>
              <a:gd name="adj" fmla="val 6000"/>
            </a:avLst>
          </a:prstGeom>
          <a:solidFill>
            <a:srgbClr val="F5F6F8"/>
          </a:solidFill>
          <a:ln w="12700">
            <a:solidFill>
              <a:srgbClr val="DDE1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0" name="Picture 9" descr="check_steel.png"/>
          <p:cNvPicPr>
            <a:picLocks noChangeAspect="1"/>
          </p:cNvPicPr>
          <p:nvPr/>
        </p:nvPicPr>
        <p:blipFill>
          <a:blip r:embed="rId3"/>
          <a:stretch>
            <a:fillRect/>
          </a:stretch>
        </p:blipFill>
        <p:spPr>
          <a:xfrm>
            <a:off x="987552" y="3145536"/>
            <a:ext cx="237744" cy="237744"/>
          </a:xfrm>
          <a:prstGeom prst="rect">
            <a:avLst/>
          </a:prstGeom>
        </p:spPr>
      </p:pic>
      <p:sp>
        <p:nvSpPr>
          <p:cNvPr id="11" name="TextBox 10"/>
          <p:cNvSpPr txBox="1"/>
          <p:nvPr/>
        </p:nvSpPr>
        <p:spPr>
          <a:xfrm>
            <a:off x="1353312" y="2999232"/>
            <a:ext cx="5029200" cy="530352"/>
          </a:xfrm>
          <a:prstGeom prst="rect">
            <a:avLst/>
          </a:prstGeom>
          <a:noFill/>
        </p:spPr>
        <p:txBody>
          <a:bodyPr wrap="square" anchor="ctr" lIns="0" rIns="0" tIns="0" bIns="0">
            <a:spAutoFit/>
          </a:bodyPr>
          <a:lstStyle/>
          <a:p>
            <a:pPr algn="l">
              <a:lnSpc>
                <a:spcPct val="106000"/>
              </a:lnSpc>
              <a:spcBef>
                <a:spcPts val="0"/>
              </a:spcBef>
              <a:spcAft>
                <a:spcPts val="0"/>
              </a:spcAft>
            </a:pPr>
            <a:r>
              <a:rPr sz="1200" b="0">
                <a:solidFill>
                  <a:srgbClr val="1A1A1A"/>
                </a:solidFill>
                <a:latin typeface="Red Hat Text"/>
              </a:rPr>
              <a:t>**Bearer token** — caller presents a token; API validates + checks role (the API)</a:t>
            </a:r>
          </a:p>
        </p:txBody>
      </p:sp>
      <p:sp>
        <p:nvSpPr>
          <p:cNvPr id="12" name="Rounded Rectangle 11"/>
          <p:cNvSpPr/>
          <p:nvPr/>
        </p:nvSpPr>
        <p:spPr>
          <a:xfrm>
            <a:off x="841248" y="3602736"/>
            <a:ext cx="5715000" cy="530352"/>
          </a:xfrm>
          <a:prstGeom prst="roundRect">
            <a:avLst>
              <a:gd name="adj" fmla="val 6000"/>
            </a:avLst>
          </a:prstGeom>
          <a:solidFill>
            <a:srgbClr val="F5F6F8"/>
          </a:solidFill>
          <a:ln w="12700">
            <a:solidFill>
              <a:srgbClr val="DDE1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3" name="Picture 12" descr="check_steel.png"/>
          <p:cNvPicPr>
            <a:picLocks noChangeAspect="1"/>
          </p:cNvPicPr>
          <p:nvPr/>
        </p:nvPicPr>
        <p:blipFill>
          <a:blip r:embed="rId3"/>
          <a:stretch>
            <a:fillRect/>
          </a:stretch>
        </p:blipFill>
        <p:spPr>
          <a:xfrm>
            <a:off x="987552" y="3749040"/>
            <a:ext cx="237744" cy="237744"/>
          </a:xfrm>
          <a:prstGeom prst="rect">
            <a:avLst/>
          </a:prstGeom>
        </p:spPr>
      </p:pic>
      <p:sp>
        <p:nvSpPr>
          <p:cNvPr id="14" name="TextBox 13"/>
          <p:cNvSpPr txBox="1"/>
          <p:nvPr/>
        </p:nvSpPr>
        <p:spPr>
          <a:xfrm>
            <a:off x="1353312" y="3602736"/>
            <a:ext cx="5029200" cy="530352"/>
          </a:xfrm>
          <a:prstGeom prst="rect">
            <a:avLst/>
          </a:prstGeom>
          <a:noFill/>
        </p:spPr>
        <p:txBody>
          <a:bodyPr wrap="square" anchor="ctr" lIns="0" rIns="0" tIns="0" bIns="0">
            <a:spAutoFit/>
          </a:bodyPr>
          <a:lstStyle/>
          <a:p>
            <a:pPr algn="l">
              <a:lnSpc>
                <a:spcPct val="106000"/>
              </a:lnSpc>
              <a:spcBef>
                <a:spcPts val="0"/>
              </a:spcBef>
              <a:spcAft>
                <a:spcPts val="0"/>
              </a:spcAft>
            </a:pPr>
            <a:r>
              <a:rPr sz="1200" b="0">
                <a:solidFill>
                  <a:srgbClr val="1A1A1A"/>
                </a:solidFill>
                <a:latin typeface="Red Hat Text"/>
              </a:rPr>
              <a:t>**Client credentials** — a service authenticates as *itself* (the batch job)</a:t>
            </a:r>
          </a:p>
        </p:txBody>
      </p:sp>
      <p:sp>
        <p:nvSpPr>
          <p:cNvPr id="15" name="Rounded Rectangle 14"/>
          <p:cNvSpPr/>
          <p:nvPr/>
        </p:nvSpPr>
        <p:spPr>
          <a:xfrm>
            <a:off x="841248" y="4206240"/>
            <a:ext cx="5715000" cy="530352"/>
          </a:xfrm>
          <a:prstGeom prst="roundRect">
            <a:avLst>
              <a:gd name="adj" fmla="val 6000"/>
            </a:avLst>
          </a:prstGeom>
          <a:solidFill>
            <a:srgbClr val="F5F6F8"/>
          </a:solidFill>
          <a:ln w="12700">
            <a:solidFill>
              <a:srgbClr val="DDE1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6" name="Picture 15" descr="check_steel.png"/>
          <p:cNvPicPr>
            <a:picLocks noChangeAspect="1"/>
          </p:cNvPicPr>
          <p:nvPr/>
        </p:nvPicPr>
        <p:blipFill>
          <a:blip r:embed="rId3"/>
          <a:stretch>
            <a:fillRect/>
          </a:stretch>
        </p:blipFill>
        <p:spPr>
          <a:xfrm>
            <a:off x="987552" y="4352544"/>
            <a:ext cx="237744" cy="237744"/>
          </a:xfrm>
          <a:prstGeom prst="rect">
            <a:avLst/>
          </a:prstGeom>
        </p:spPr>
      </p:pic>
      <p:sp>
        <p:nvSpPr>
          <p:cNvPr id="17" name="TextBox 16"/>
          <p:cNvSpPr txBox="1"/>
          <p:nvPr/>
        </p:nvSpPr>
        <p:spPr>
          <a:xfrm>
            <a:off x="1353312" y="4206240"/>
            <a:ext cx="5029200" cy="530352"/>
          </a:xfrm>
          <a:prstGeom prst="rect">
            <a:avLst/>
          </a:prstGeom>
          <a:noFill/>
        </p:spPr>
        <p:txBody>
          <a:bodyPr wrap="square" anchor="ctr" lIns="0" rIns="0" tIns="0" bIns="0">
            <a:spAutoFit/>
          </a:bodyPr>
          <a:lstStyle/>
          <a:p>
            <a:pPr algn="l">
              <a:lnSpc>
                <a:spcPct val="106000"/>
              </a:lnSpc>
              <a:spcBef>
                <a:spcPts val="0"/>
              </a:spcBef>
              <a:spcAft>
                <a:spcPts val="0"/>
              </a:spcAft>
            </a:pPr>
            <a:r>
              <a:rPr sz="1200" b="0">
                <a:solidFill>
                  <a:srgbClr val="1A1A1A"/>
                </a:solidFill>
                <a:latin typeface="Red Hat Text"/>
              </a:rPr>
              <a:t>**Token exchange (RFC 8693)** — re-audience a user's token to call another service *on their behalf*</a:t>
            </a:r>
          </a:p>
        </p:txBody>
      </p:sp>
      <p:sp>
        <p:nvSpPr>
          <p:cNvPr id="18" name="Rounded Rectangle 17"/>
          <p:cNvSpPr/>
          <p:nvPr/>
        </p:nvSpPr>
        <p:spPr>
          <a:xfrm>
            <a:off x="841248" y="4809744"/>
            <a:ext cx="5715000" cy="530352"/>
          </a:xfrm>
          <a:prstGeom prst="roundRect">
            <a:avLst>
              <a:gd name="adj" fmla="val 6000"/>
            </a:avLst>
          </a:prstGeom>
          <a:solidFill>
            <a:srgbClr val="F5F6F8"/>
          </a:solidFill>
          <a:ln w="12700">
            <a:solidFill>
              <a:srgbClr val="DDE1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9" name="Picture 18" descr="check_steel.png"/>
          <p:cNvPicPr>
            <a:picLocks noChangeAspect="1"/>
          </p:cNvPicPr>
          <p:nvPr/>
        </p:nvPicPr>
        <p:blipFill>
          <a:blip r:embed="rId3"/>
          <a:stretch>
            <a:fillRect/>
          </a:stretch>
        </p:blipFill>
        <p:spPr>
          <a:xfrm>
            <a:off x="987552" y="4956048"/>
            <a:ext cx="237744" cy="237744"/>
          </a:xfrm>
          <a:prstGeom prst="rect">
            <a:avLst/>
          </a:prstGeom>
        </p:spPr>
      </p:pic>
      <p:sp>
        <p:nvSpPr>
          <p:cNvPr id="20" name="TextBox 19"/>
          <p:cNvSpPr txBox="1"/>
          <p:nvPr/>
        </p:nvSpPr>
        <p:spPr>
          <a:xfrm>
            <a:off x="1353312" y="4809744"/>
            <a:ext cx="5029200" cy="530352"/>
          </a:xfrm>
          <a:prstGeom prst="rect">
            <a:avLst/>
          </a:prstGeom>
          <a:noFill/>
        </p:spPr>
        <p:txBody>
          <a:bodyPr wrap="square" anchor="ctr" lIns="0" rIns="0" tIns="0" bIns="0">
            <a:spAutoFit/>
          </a:bodyPr>
          <a:lstStyle/>
          <a:p>
            <a:pPr algn="l">
              <a:lnSpc>
                <a:spcPct val="106000"/>
              </a:lnSpc>
              <a:spcBef>
                <a:spcPts val="0"/>
              </a:spcBef>
              <a:spcAft>
                <a:spcPts val="0"/>
              </a:spcAft>
            </a:pPr>
            <a:r>
              <a:rPr sz="1200" b="0">
                <a:solidFill>
                  <a:srgbClr val="1A1A1A"/>
                </a:solidFill>
                <a:latin typeface="Red Hat Text"/>
              </a:rPr>
              <a:t>Learn these four; resist the rest of OAuth</a:t>
            </a:r>
          </a:p>
        </p:txBody>
      </p:sp>
      <p:sp>
        <p:nvSpPr>
          <p:cNvPr id="21" name="Rounded Rectangle 20"/>
          <p:cNvSpPr/>
          <p:nvPr/>
        </p:nvSpPr>
        <p:spPr>
          <a:xfrm>
            <a:off x="6812280" y="2395728"/>
            <a:ext cx="4538167" cy="2944368"/>
          </a:xfrm>
          <a:prstGeom prst="roundRect">
            <a:avLst>
              <a:gd name="adj" fmla="val 4000"/>
            </a:avLst>
          </a:prstGeom>
          <a:solidFill>
            <a:srgbClr val="FFFFFF"/>
          </a:solidFill>
          <a:ln w="15240">
            <a:solidFill>
              <a:srgbClr val="DDE1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ounded Rectangle 21"/>
          <p:cNvSpPr/>
          <p:nvPr/>
        </p:nvSpPr>
        <p:spPr>
          <a:xfrm>
            <a:off x="7013448" y="2596896"/>
            <a:ext cx="1298448" cy="310896"/>
          </a:xfrm>
          <a:prstGeom prst="roundRect">
            <a:avLst>
              <a:gd name="adj" fmla="val 50000"/>
            </a:avLst>
          </a:prstGeom>
          <a:solidFill>
            <a:srgbClr val="FCEC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7013448" y="2596896"/>
            <a:ext cx="1298448" cy="310896"/>
          </a:xfrm>
          <a:prstGeom prst="rect">
            <a:avLst/>
          </a:prstGeom>
          <a:noFill/>
        </p:spPr>
        <p:txBody>
          <a:bodyPr wrap="none" anchor="ctr" lIns="0" rIns="0" tIns="0" bIns="0">
            <a:spAutoFit/>
          </a:bodyPr>
          <a:lstStyle/>
          <a:p>
            <a:pPr algn="ctr">
              <a:lnSpc>
                <a:spcPct val="106000"/>
              </a:lnSpc>
              <a:spcBef>
                <a:spcPts val="0"/>
              </a:spcBef>
              <a:spcAft>
                <a:spcPts val="0"/>
              </a:spcAft>
            </a:pPr>
            <a:r>
              <a:rPr sz="850" b="1">
                <a:solidFill>
                  <a:srgbClr val="B80000"/>
                </a:solidFill>
                <a:latin typeface="Red Hat Display"/>
              </a:rPr>
              <a:t>MEDIA PASS</a:t>
            </a:r>
          </a:p>
        </p:txBody>
      </p:sp>
      <p:pic>
        <p:nvPicPr>
          <p:cNvPr id="24" name="Picture 23" descr="eye_slate.png"/>
          <p:cNvPicPr>
            <a:picLocks noChangeAspect="1"/>
          </p:cNvPicPr>
          <p:nvPr/>
        </p:nvPicPr>
        <p:blipFill>
          <a:blip r:embed="rId4"/>
          <a:stretch>
            <a:fillRect/>
          </a:stretch>
        </p:blipFill>
        <p:spPr>
          <a:xfrm>
            <a:off x="8843619" y="3108960"/>
            <a:ext cx="475488" cy="475488"/>
          </a:xfrm>
          <a:prstGeom prst="rect">
            <a:avLst/>
          </a:prstGeom>
        </p:spPr>
      </p:pic>
      <p:sp>
        <p:nvSpPr>
          <p:cNvPr id="25" name="TextBox 24"/>
          <p:cNvSpPr txBox="1"/>
          <p:nvPr/>
        </p:nvSpPr>
        <p:spPr>
          <a:xfrm>
            <a:off x="7050024" y="3721608"/>
            <a:ext cx="4062679" cy="1481328"/>
          </a:xfrm>
          <a:prstGeom prst="rect">
            <a:avLst/>
          </a:prstGeom>
          <a:noFill/>
        </p:spPr>
        <p:txBody>
          <a:bodyPr wrap="square" anchor="t" lIns="0" rIns="0" tIns="0" bIns="0">
            <a:spAutoFit/>
          </a:bodyPr>
          <a:lstStyle/>
          <a:p>
            <a:pPr algn="l">
              <a:lnSpc>
                <a:spcPct val="120000"/>
              </a:lnSpc>
              <a:spcBef>
                <a:spcPts val="0"/>
              </a:spcBef>
              <a:spcAft>
                <a:spcPts val="0"/>
              </a:spcAft>
            </a:pPr>
            <a:r>
              <a:rPr sz="950" b="0">
                <a:solidFill>
                  <a:srgbClr val="8A9099"/>
                </a:solidFill>
                <a:latin typeface="Red Hat Text"/>
              </a:rPr>
              <a:t>Concept diagram securing-apps-keycloak-01-four-flows — human flows (auth-code, bearer) above, machine flows (client-creds, exchange) below, an arrow from the user token into the exchange.</a:t>
            </a:r>
          </a:p>
        </p:txBody>
      </p:sp>
      <p:cxnSp>
        <p:nvCxnSpPr>
          <p:cNvPr id="26" name="Connector 25"/>
          <p:cNvCxnSpPr/>
          <p:nvPr/>
        </p:nvCxnSpPr>
        <p:spPr>
          <a:xfrm>
            <a:off x="841248" y="6437376"/>
            <a:ext cx="10509199" cy="0"/>
          </a:xfrm>
          <a:prstGeom prst="bentConnector3">
            <a:avLst/>
          </a:prstGeom>
          <a:ln w="12700">
            <a:solidFill>
              <a:srgbClr val="DDE1E6"/>
            </a:solidFill>
          </a:ln>
          <a:effectLst/>
        </p:spPr>
        <p:style>
          <a:lnRef idx="2">
            <a:schemeClr val="accent1"/>
          </a:lnRef>
          <a:fillRef idx="0">
            <a:schemeClr val="accent1"/>
          </a:fillRef>
          <a:effectRef idx="1">
            <a:schemeClr val="accent1"/>
          </a:effectRef>
          <a:fontRef idx="minor">
            <a:schemeClr val="tx1"/>
          </a:fontRef>
        </p:style>
      </p:cxnSp>
      <p:sp>
        <p:nvSpPr>
          <p:cNvPr id="27" name="TextBox 26"/>
          <p:cNvSpPr txBox="1"/>
          <p:nvPr/>
        </p:nvSpPr>
        <p:spPr>
          <a:xfrm>
            <a:off x="841248" y="6473952"/>
            <a:ext cx="7315200" cy="274320"/>
          </a:xfrm>
          <a:prstGeom prst="rect">
            <a:avLst/>
          </a:prstGeom>
          <a:noFill/>
        </p:spPr>
        <p:txBody>
          <a:bodyPr wrap="square" anchor="t" lIns="0" rIns="0" tIns="0" bIns="0">
            <a:spAutoFit/>
          </a:bodyPr>
          <a:lstStyle/>
          <a:p>
            <a:pPr algn="l">
              <a:lnSpc>
                <a:spcPct val="106000"/>
              </a:lnSpc>
              <a:spcBef>
                <a:spcPts val="0"/>
              </a:spcBef>
              <a:spcAft>
                <a:spcPts val="0"/>
              </a:spcAft>
            </a:pPr>
            <a:r>
              <a:rPr sz="950" b="0">
                <a:solidFill>
                  <a:srgbClr val="8A9099"/>
                </a:solidFill>
                <a:latin typeface="Red Hat Text"/>
              </a:rPr>
              <a:t>CONFIDENTIAL</a:t>
            </a:r>
          </a:p>
        </p:txBody>
      </p:sp>
      <p:sp>
        <p:nvSpPr>
          <p:cNvPr id="28" name="TextBox 27"/>
          <p:cNvSpPr txBox="1"/>
          <p:nvPr/>
        </p:nvSpPr>
        <p:spPr>
          <a:xfrm>
            <a:off x="10801807" y="6473952"/>
            <a:ext cx="548640" cy="274320"/>
          </a:xfrm>
          <a:prstGeom prst="rect">
            <a:avLst/>
          </a:prstGeom>
          <a:noFill/>
        </p:spPr>
        <p:txBody>
          <a:bodyPr wrap="square" anchor="t" lIns="0" rIns="0" tIns="0" bIns="0">
            <a:spAutoFit/>
          </a:bodyPr>
          <a:lstStyle/>
          <a:p>
            <a:pPr algn="r">
              <a:lnSpc>
                <a:spcPct val="106000"/>
              </a:lnSpc>
              <a:spcBef>
                <a:spcPts val="0"/>
              </a:spcBef>
              <a:spcAft>
                <a:spcPts val="0"/>
              </a:spcAft>
            </a:pPr>
            <a:r>
              <a:rPr sz="950" b="0">
                <a:solidFill>
                  <a:srgbClr val="8A9099"/>
                </a:solidFill>
                <a:latin typeface="Red Hat Text"/>
              </a:rPr>
              <a:t>98</a:t>
            </a:r>
          </a:p>
        </p:txBody>
      </p:sp>
    </p:spTree>
  </p:cSld>
  <p:clrMapOvr>
    <a:masterClrMapping/>
  </p:clrMapOvr>
</p:sld>
</file>

<file path=ppt/slides/slide1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redhat_logo.jpg"/>
          <p:cNvPicPr>
            <a:picLocks noChangeAspect="1"/>
          </p:cNvPicPr>
          <p:nvPr/>
        </p:nvPicPr>
        <p:blipFill>
          <a:blip r:embed="rId2"/>
          <a:stretch>
            <a:fillRect/>
          </a:stretch>
        </p:blipFill>
        <p:spPr>
          <a:xfrm>
            <a:off x="10326319" y="475488"/>
            <a:ext cx="1024128" cy="242248"/>
          </a:xfrm>
          <a:prstGeom prst="rect">
            <a:avLst/>
          </a:prstGeom>
        </p:spPr>
      </p:pic>
      <p:sp>
        <p:nvSpPr>
          <p:cNvPr id="3" name="TextBox 2"/>
          <p:cNvSpPr txBox="1"/>
          <p:nvPr/>
        </p:nvSpPr>
        <p:spPr>
          <a:xfrm>
            <a:off x="841248" y="548640"/>
            <a:ext cx="8595360" cy="274320"/>
          </a:xfrm>
          <a:prstGeom prst="rect">
            <a:avLst/>
          </a:prstGeom>
          <a:noFill/>
        </p:spPr>
        <p:txBody>
          <a:bodyPr wrap="square" anchor="t" lIns="0" rIns="0" tIns="0" bIns="0">
            <a:spAutoFit/>
          </a:bodyPr>
          <a:lstStyle/>
          <a:p>
            <a:pPr algn="l">
              <a:lnSpc>
                <a:spcPct val="106000"/>
              </a:lnSpc>
              <a:spcBef>
                <a:spcPts val="0"/>
              </a:spcBef>
              <a:spcAft>
                <a:spcPts val="0"/>
              </a:spcAft>
            </a:pPr>
            <a:r>
              <a:rPr sz="1250" b="1" spc="220">
                <a:solidFill>
                  <a:srgbClr val="EE0000"/>
                </a:solidFill>
                <a:latin typeface="Red Hat Display"/>
              </a:rPr>
              <a:t>M14 · SECURING APPS WITH KEYCLOAK</a:t>
            </a:r>
          </a:p>
        </p:txBody>
      </p:sp>
      <p:sp>
        <p:nvSpPr>
          <p:cNvPr id="4" name="TextBox 3"/>
          <p:cNvSpPr txBox="1"/>
          <p:nvPr/>
        </p:nvSpPr>
        <p:spPr>
          <a:xfrm>
            <a:off x="841248" y="877824"/>
            <a:ext cx="10515600" cy="548640"/>
          </a:xfrm>
          <a:prstGeom prst="rect">
            <a:avLst/>
          </a:prstGeom>
          <a:noFill/>
        </p:spPr>
        <p:txBody>
          <a:bodyPr wrap="none" anchor="t" lIns="0" rIns="0" tIns="0" bIns="0">
            <a:spAutoFit/>
          </a:bodyPr>
          <a:lstStyle/>
          <a:p>
            <a:pPr algn="l">
              <a:lnSpc>
                <a:spcPct val="100000"/>
              </a:lnSpc>
              <a:spcBef>
                <a:spcPts val="0"/>
              </a:spcBef>
              <a:spcAft>
                <a:spcPts val="0"/>
              </a:spcAft>
            </a:pPr>
            <a:r>
              <a:rPr sz="2500" b="1">
                <a:solidFill>
                  <a:srgbClr val="1A1A1A"/>
                </a:solidFill>
                <a:latin typeface="Red Hat Display"/>
              </a:rPr>
              <a:t>Realm, client, role, user — the whole model</a:t>
            </a:r>
          </a:p>
        </p:txBody>
      </p:sp>
      <p:cxnSp>
        <p:nvCxnSpPr>
          <p:cNvPr id="5" name="Connector 4"/>
          <p:cNvCxnSpPr/>
          <p:nvPr/>
        </p:nvCxnSpPr>
        <p:spPr>
          <a:xfrm>
            <a:off x="841248" y="1554480"/>
            <a:ext cx="1371600" cy="0"/>
          </a:xfrm>
          <a:prstGeom prst="bentConnector3">
            <a:avLst/>
          </a:prstGeom>
          <a:ln w="31750">
            <a:solidFill>
              <a:srgbClr val="EE0000"/>
            </a:solidFill>
          </a:ln>
          <a:effectLst/>
        </p:spPr>
        <p:style>
          <a:lnRef idx="2">
            <a:schemeClr val="accent1"/>
          </a:lnRef>
          <a:fillRef idx="0">
            <a:schemeClr val="accent1"/>
          </a:fillRef>
          <a:effectRef idx="1">
            <a:schemeClr val="accent1"/>
          </a:effectRef>
          <a:fontRef idx="minor">
            <a:schemeClr val="tx1"/>
          </a:fontRef>
        </p:style>
      </p:cxnSp>
      <p:sp>
        <p:nvSpPr>
          <p:cNvPr id="6" name="Rounded Rectangle 5"/>
          <p:cNvSpPr/>
          <p:nvPr/>
        </p:nvSpPr>
        <p:spPr>
          <a:xfrm>
            <a:off x="841248" y="2395728"/>
            <a:ext cx="5715000" cy="530352"/>
          </a:xfrm>
          <a:prstGeom prst="roundRect">
            <a:avLst>
              <a:gd name="adj" fmla="val 6000"/>
            </a:avLst>
          </a:prstGeom>
          <a:solidFill>
            <a:srgbClr val="F5F6F8"/>
          </a:solidFill>
          <a:ln w="12700">
            <a:solidFill>
              <a:srgbClr val="DDE1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check_steel.png"/>
          <p:cNvPicPr>
            <a:picLocks noChangeAspect="1"/>
          </p:cNvPicPr>
          <p:nvPr/>
        </p:nvPicPr>
        <p:blipFill>
          <a:blip r:embed="rId3"/>
          <a:stretch>
            <a:fillRect/>
          </a:stretch>
        </p:blipFill>
        <p:spPr>
          <a:xfrm>
            <a:off x="987552" y="2542032"/>
            <a:ext cx="237744" cy="237744"/>
          </a:xfrm>
          <a:prstGeom prst="rect">
            <a:avLst/>
          </a:prstGeom>
        </p:spPr>
      </p:pic>
      <p:sp>
        <p:nvSpPr>
          <p:cNvPr id="8" name="TextBox 7"/>
          <p:cNvSpPr txBox="1"/>
          <p:nvPr/>
        </p:nvSpPr>
        <p:spPr>
          <a:xfrm>
            <a:off x="1353312" y="2395728"/>
            <a:ext cx="5029200" cy="530352"/>
          </a:xfrm>
          <a:prstGeom prst="rect">
            <a:avLst/>
          </a:prstGeom>
          <a:noFill/>
        </p:spPr>
        <p:txBody>
          <a:bodyPr wrap="square" anchor="ctr" lIns="0" rIns="0" tIns="0" bIns="0">
            <a:spAutoFit/>
          </a:bodyPr>
          <a:lstStyle/>
          <a:p>
            <a:pPr algn="l">
              <a:lnSpc>
                <a:spcPct val="106000"/>
              </a:lnSpc>
              <a:spcBef>
                <a:spcPts val="0"/>
              </a:spcBef>
              <a:spcAft>
                <a:spcPts val="0"/>
              </a:spcAft>
            </a:pPr>
            <a:r>
              <a:rPr sz="1200" b="0">
                <a:solidFill>
                  <a:srgbClr val="1A1A1A"/>
                </a:solidFill>
                <a:latin typeface="Red Hat Text"/>
              </a:rPr>
              <a:t>**Realm** — an isolated world of identity (this workshop: one realm per attendee)</a:t>
            </a:r>
          </a:p>
        </p:txBody>
      </p:sp>
      <p:sp>
        <p:nvSpPr>
          <p:cNvPr id="9" name="Rounded Rectangle 8"/>
          <p:cNvSpPr/>
          <p:nvPr/>
        </p:nvSpPr>
        <p:spPr>
          <a:xfrm>
            <a:off x="841248" y="2999232"/>
            <a:ext cx="5715000" cy="530352"/>
          </a:xfrm>
          <a:prstGeom prst="roundRect">
            <a:avLst>
              <a:gd name="adj" fmla="val 6000"/>
            </a:avLst>
          </a:prstGeom>
          <a:solidFill>
            <a:srgbClr val="F5F6F8"/>
          </a:solidFill>
          <a:ln w="12700">
            <a:solidFill>
              <a:srgbClr val="DDE1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0" name="Picture 9" descr="check_steel.png"/>
          <p:cNvPicPr>
            <a:picLocks noChangeAspect="1"/>
          </p:cNvPicPr>
          <p:nvPr/>
        </p:nvPicPr>
        <p:blipFill>
          <a:blip r:embed="rId3"/>
          <a:stretch>
            <a:fillRect/>
          </a:stretch>
        </p:blipFill>
        <p:spPr>
          <a:xfrm>
            <a:off x="987552" y="3145536"/>
            <a:ext cx="237744" cy="237744"/>
          </a:xfrm>
          <a:prstGeom prst="rect">
            <a:avLst/>
          </a:prstGeom>
        </p:spPr>
      </p:pic>
      <p:sp>
        <p:nvSpPr>
          <p:cNvPr id="11" name="TextBox 10"/>
          <p:cNvSpPr txBox="1"/>
          <p:nvPr/>
        </p:nvSpPr>
        <p:spPr>
          <a:xfrm>
            <a:off x="1353312" y="2999232"/>
            <a:ext cx="5029200" cy="530352"/>
          </a:xfrm>
          <a:prstGeom prst="rect">
            <a:avLst/>
          </a:prstGeom>
          <a:noFill/>
        </p:spPr>
        <p:txBody>
          <a:bodyPr wrap="square" anchor="ctr" lIns="0" rIns="0" tIns="0" bIns="0">
            <a:spAutoFit/>
          </a:bodyPr>
          <a:lstStyle/>
          <a:p>
            <a:pPr algn="l">
              <a:lnSpc>
                <a:spcPct val="106000"/>
              </a:lnSpc>
              <a:spcBef>
                <a:spcPts val="0"/>
              </a:spcBef>
              <a:spcAft>
                <a:spcPts val="0"/>
              </a:spcAft>
            </a:pPr>
            <a:r>
              <a:rPr sz="1200" b="0">
                <a:solidFill>
                  <a:srgbClr val="1A1A1A"/>
                </a:solidFill>
                <a:latin typeface="Red Hat Text"/>
              </a:rPr>
              <a:t>**Client** — an app that uses the realm (public = browser; confidential = backend)</a:t>
            </a:r>
          </a:p>
        </p:txBody>
      </p:sp>
      <p:sp>
        <p:nvSpPr>
          <p:cNvPr id="12" name="Rounded Rectangle 11"/>
          <p:cNvSpPr/>
          <p:nvPr/>
        </p:nvSpPr>
        <p:spPr>
          <a:xfrm>
            <a:off x="841248" y="3602736"/>
            <a:ext cx="5715000" cy="530352"/>
          </a:xfrm>
          <a:prstGeom prst="roundRect">
            <a:avLst>
              <a:gd name="adj" fmla="val 6000"/>
            </a:avLst>
          </a:prstGeom>
          <a:solidFill>
            <a:srgbClr val="F5F6F8"/>
          </a:solidFill>
          <a:ln w="12700">
            <a:solidFill>
              <a:srgbClr val="DDE1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3" name="Picture 12" descr="check_steel.png"/>
          <p:cNvPicPr>
            <a:picLocks noChangeAspect="1"/>
          </p:cNvPicPr>
          <p:nvPr/>
        </p:nvPicPr>
        <p:blipFill>
          <a:blip r:embed="rId3"/>
          <a:stretch>
            <a:fillRect/>
          </a:stretch>
        </p:blipFill>
        <p:spPr>
          <a:xfrm>
            <a:off x="987552" y="3749040"/>
            <a:ext cx="237744" cy="237744"/>
          </a:xfrm>
          <a:prstGeom prst="rect">
            <a:avLst/>
          </a:prstGeom>
        </p:spPr>
      </p:pic>
      <p:sp>
        <p:nvSpPr>
          <p:cNvPr id="14" name="TextBox 13"/>
          <p:cNvSpPr txBox="1"/>
          <p:nvPr/>
        </p:nvSpPr>
        <p:spPr>
          <a:xfrm>
            <a:off x="1353312" y="3602736"/>
            <a:ext cx="5029200" cy="530352"/>
          </a:xfrm>
          <a:prstGeom prst="rect">
            <a:avLst/>
          </a:prstGeom>
          <a:noFill/>
        </p:spPr>
        <p:txBody>
          <a:bodyPr wrap="square" anchor="ctr" lIns="0" rIns="0" tIns="0" bIns="0">
            <a:spAutoFit/>
          </a:bodyPr>
          <a:lstStyle/>
          <a:p>
            <a:pPr algn="l">
              <a:lnSpc>
                <a:spcPct val="106000"/>
              </a:lnSpc>
              <a:spcBef>
                <a:spcPts val="0"/>
              </a:spcBef>
              <a:spcAft>
                <a:spcPts val="0"/>
              </a:spcAft>
            </a:pPr>
            <a:r>
              <a:rPr sz="1200" b="0">
                <a:solidFill>
                  <a:srgbClr val="1A1A1A"/>
                </a:solidFill>
                <a:latin typeface="Red Hat Text"/>
              </a:rPr>
              <a:t>**Role** — a named permission; realm roles ride in the token under `realm_access.roles`</a:t>
            </a:r>
          </a:p>
        </p:txBody>
      </p:sp>
      <p:sp>
        <p:nvSpPr>
          <p:cNvPr id="15" name="Rounded Rectangle 14"/>
          <p:cNvSpPr/>
          <p:nvPr/>
        </p:nvSpPr>
        <p:spPr>
          <a:xfrm>
            <a:off x="841248" y="4206240"/>
            <a:ext cx="5715000" cy="530352"/>
          </a:xfrm>
          <a:prstGeom prst="roundRect">
            <a:avLst>
              <a:gd name="adj" fmla="val 6000"/>
            </a:avLst>
          </a:prstGeom>
          <a:solidFill>
            <a:srgbClr val="F5F6F8"/>
          </a:solidFill>
          <a:ln w="12700">
            <a:solidFill>
              <a:srgbClr val="DDE1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6" name="Picture 15" descr="check_steel.png"/>
          <p:cNvPicPr>
            <a:picLocks noChangeAspect="1"/>
          </p:cNvPicPr>
          <p:nvPr/>
        </p:nvPicPr>
        <p:blipFill>
          <a:blip r:embed="rId3"/>
          <a:stretch>
            <a:fillRect/>
          </a:stretch>
        </p:blipFill>
        <p:spPr>
          <a:xfrm>
            <a:off x="987552" y="4352544"/>
            <a:ext cx="237744" cy="237744"/>
          </a:xfrm>
          <a:prstGeom prst="rect">
            <a:avLst/>
          </a:prstGeom>
        </p:spPr>
      </p:pic>
      <p:sp>
        <p:nvSpPr>
          <p:cNvPr id="17" name="TextBox 16"/>
          <p:cNvSpPr txBox="1"/>
          <p:nvPr/>
        </p:nvSpPr>
        <p:spPr>
          <a:xfrm>
            <a:off x="1353312" y="4206240"/>
            <a:ext cx="5029200" cy="530352"/>
          </a:xfrm>
          <a:prstGeom prst="rect">
            <a:avLst/>
          </a:prstGeom>
          <a:noFill/>
        </p:spPr>
        <p:txBody>
          <a:bodyPr wrap="square" anchor="ctr" lIns="0" rIns="0" tIns="0" bIns="0">
            <a:spAutoFit/>
          </a:bodyPr>
          <a:lstStyle/>
          <a:p>
            <a:pPr algn="l">
              <a:lnSpc>
                <a:spcPct val="106000"/>
              </a:lnSpc>
              <a:spcBef>
                <a:spcPts val="0"/>
              </a:spcBef>
              <a:spcAft>
                <a:spcPts val="0"/>
              </a:spcAft>
            </a:pPr>
            <a:r>
              <a:rPr sz="1200" b="0">
                <a:solidFill>
                  <a:srgbClr val="1A1A1A"/>
                </a:solidFill>
                <a:latin typeface="Red Hat Text"/>
              </a:rPr>
              <a:t>**User** — a person who logs in (`adjuster` has the role; `viewer` has none)</a:t>
            </a:r>
          </a:p>
        </p:txBody>
      </p:sp>
      <p:sp>
        <p:nvSpPr>
          <p:cNvPr id="18" name="Rounded Rectangle 17"/>
          <p:cNvSpPr/>
          <p:nvPr/>
        </p:nvSpPr>
        <p:spPr>
          <a:xfrm>
            <a:off x="841248" y="4809744"/>
            <a:ext cx="5715000" cy="530352"/>
          </a:xfrm>
          <a:prstGeom prst="roundRect">
            <a:avLst>
              <a:gd name="adj" fmla="val 6000"/>
            </a:avLst>
          </a:prstGeom>
          <a:solidFill>
            <a:srgbClr val="F5F6F8"/>
          </a:solidFill>
          <a:ln w="12700">
            <a:solidFill>
              <a:srgbClr val="DDE1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9" name="Picture 18" descr="check_steel.png"/>
          <p:cNvPicPr>
            <a:picLocks noChangeAspect="1"/>
          </p:cNvPicPr>
          <p:nvPr/>
        </p:nvPicPr>
        <p:blipFill>
          <a:blip r:embed="rId3"/>
          <a:stretch>
            <a:fillRect/>
          </a:stretch>
        </p:blipFill>
        <p:spPr>
          <a:xfrm>
            <a:off x="987552" y="4956048"/>
            <a:ext cx="237744" cy="237744"/>
          </a:xfrm>
          <a:prstGeom prst="rect">
            <a:avLst/>
          </a:prstGeom>
        </p:spPr>
      </p:pic>
      <p:sp>
        <p:nvSpPr>
          <p:cNvPr id="20" name="TextBox 19"/>
          <p:cNvSpPr txBox="1"/>
          <p:nvPr/>
        </p:nvSpPr>
        <p:spPr>
          <a:xfrm>
            <a:off x="1353312" y="4809744"/>
            <a:ext cx="5029200" cy="530352"/>
          </a:xfrm>
          <a:prstGeom prst="rect">
            <a:avLst/>
          </a:prstGeom>
          <a:noFill/>
        </p:spPr>
        <p:txBody>
          <a:bodyPr wrap="square" anchor="ctr" lIns="0" rIns="0" tIns="0" bIns="0">
            <a:spAutoFit/>
          </a:bodyPr>
          <a:lstStyle/>
          <a:p>
            <a:pPr algn="l">
              <a:lnSpc>
                <a:spcPct val="106000"/>
              </a:lnSpc>
              <a:spcBef>
                <a:spcPts val="0"/>
              </a:spcBef>
              <a:spcAft>
                <a:spcPts val="0"/>
              </a:spcAft>
            </a:pPr>
            <a:r>
              <a:rPr sz="1200" b="0">
                <a:solidFill>
                  <a:srgbClr val="1A1A1A"/>
                </a:solidFill>
                <a:latin typeface="Red Hat Text"/>
              </a:rPr>
              <a:t>Get this vocabulary and Keycloak stops being mysterious</a:t>
            </a:r>
          </a:p>
        </p:txBody>
      </p:sp>
      <p:sp>
        <p:nvSpPr>
          <p:cNvPr id="21" name="Rounded Rectangle 20"/>
          <p:cNvSpPr/>
          <p:nvPr/>
        </p:nvSpPr>
        <p:spPr>
          <a:xfrm>
            <a:off x="6812280" y="2395728"/>
            <a:ext cx="4538167" cy="2944368"/>
          </a:xfrm>
          <a:prstGeom prst="roundRect">
            <a:avLst>
              <a:gd name="adj" fmla="val 4000"/>
            </a:avLst>
          </a:prstGeom>
          <a:solidFill>
            <a:srgbClr val="FFFFFF"/>
          </a:solidFill>
          <a:ln w="15240">
            <a:solidFill>
              <a:srgbClr val="DDE1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ounded Rectangle 21"/>
          <p:cNvSpPr/>
          <p:nvPr/>
        </p:nvSpPr>
        <p:spPr>
          <a:xfrm>
            <a:off x="7013448" y="2596896"/>
            <a:ext cx="1298448" cy="310896"/>
          </a:xfrm>
          <a:prstGeom prst="roundRect">
            <a:avLst>
              <a:gd name="adj" fmla="val 50000"/>
            </a:avLst>
          </a:prstGeom>
          <a:solidFill>
            <a:srgbClr val="FCEC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7013448" y="2596896"/>
            <a:ext cx="1298448" cy="310896"/>
          </a:xfrm>
          <a:prstGeom prst="rect">
            <a:avLst/>
          </a:prstGeom>
          <a:noFill/>
        </p:spPr>
        <p:txBody>
          <a:bodyPr wrap="none" anchor="ctr" lIns="0" rIns="0" tIns="0" bIns="0">
            <a:spAutoFit/>
          </a:bodyPr>
          <a:lstStyle/>
          <a:p>
            <a:pPr algn="ctr">
              <a:lnSpc>
                <a:spcPct val="106000"/>
              </a:lnSpc>
              <a:spcBef>
                <a:spcPts val="0"/>
              </a:spcBef>
              <a:spcAft>
                <a:spcPts val="0"/>
              </a:spcAft>
            </a:pPr>
            <a:r>
              <a:rPr sz="850" b="1">
                <a:solidFill>
                  <a:srgbClr val="B80000"/>
                </a:solidFill>
                <a:latin typeface="Red Hat Display"/>
              </a:rPr>
              <a:t>MEDIA PASS</a:t>
            </a:r>
          </a:p>
        </p:txBody>
      </p:sp>
      <p:pic>
        <p:nvPicPr>
          <p:cNvPr id="24" name="Picture 23" descr="eye_slate.png"/>
          <p:cNvPicPr>
            <a:picLocks noChangeAspect="1"/>
          </p:cNvPicPr>
          <p:nvPr/>
        </p:nvPicPr>
        <p:blipFill>
          <a:blip r:embed="rId4"/>
          <a:stretch>
            <a:fillRect/>
          </a:stretch>
        </p:blipFill>
        <p:spPr>
          <a:xfrm>
            <a:off x="8843619" y="3108960"/>
            <a:ext cx="475488" cy="475488"/>
          </a:xfrm>
          <a:prstGeom prst="rect">
            <a:avLst/>
          </a:prstGeom>
        </p:spPr>
      </p:pic>
      <p:sp>
        <p:nvSpPr>
          <p:cNvPr id="25" name="TextBox 24"/>
          <p:cNvSpPr txBox="1"/>
          <p:nvPr/>
        </p:nvSpPr>
        <p:spPr>
          <a:xfrm>
            <a:off x="7050024" y="3721608"/>
            <a:ext cx="4062679" cy="1481328"/>
          </a:xfrm>
          <a:prstGeom prst="rect">
            <a:avLst/>
          </a:prstGeom>
          <a:noFill/>
        </p:spPr>
        <p:txBody>
          <a:bodyPr wrap="square" anchor="t" lIns="0" rIns="0" tIns="0" bIns="0">
            <a:spAutoFit/>
          </a:bodyPr>
          <a:lstStyle/>
          <a:p>
            <a:pPr algn="l">
              <a:lnSpc>
                <a:spcPct val="120000"/>
              </a:lnSpc>
              <a:spcBef>
                <a:spcPts val="0"/>
              </a:spcBef>
              <a:spcAft>
                <a:spcPts val="0"/>
              </a:spcAft>
            </a:pPr>
            <a:r>
              <a:rPr sz="950" b="0">
                <a:solidFill>
                  <a:srgbClr val="8A9099"/>
                </a:solidFill>
                <a:latin typeface="Red Hat Text"/>
              </a:rPr>
              <a:t>Concept diagram securing-apps-keycloak-02-realm-model — realm containing clients / roles / users, with the four Parasol clients and two users as leaves.</a:t>
            </a:r>
          </a:p>
        </p:txBody>
      </p:sp>
      <p:cxnSp>
        <p:nvCxnSpPr>
          <p:cNvPr id="26" name="Connector 25"/>
          <p:cNvCxnSpPr/>
          <p:nvPr/>
        </p:nvCxnSpPr>
        <p:spPr>
          <a:xfrm>
            <a:off x="841248" y="6437376"/>
            <a:ext cx="10509199" cy="0"/>
          </a:xfrm>
          <a:prstGeom prst="bentConnector3">
            <a:avLst/>
          </a:prstGeom>
          <a:ln w="12700">
            <a:solidFill>
              <a:srgbClr val="DDE1E6"/>
            </a:solidFill>
          </a:ln>
          <a:effectLst/>
        </p:spPr>
        <p:style>
          <a:lnRef idx="2">
            <a:schemeClr val="accent1"/>
          </a:lnRef>
          <a:fillRef idx="0">
            <a:schemeClr val="accent1"/>
          </a:fillRef>
          <a:effectRef idx="1">
            <a:schemeClr val="accent1"/>
          </a:effectRef>
          <a:fontRef idx="minor">
            <a:schemeClr val="tx1"/>
          </a:fontRef>
        </p:style>
      </p:cxnSp>
      <p:sp>
        <p:nvSpPr>
          <p:cNvPr id="27" name="TextBox 26"/>
          <p:cNvSpPr txBox="1"/>
          <p:nvPr/>
        </p:nvSpPr>
        <p:spPr>
          <a:xfrm>
            <a:off x="841248" y="6473952"/>
            <a:ext cx="7315200" cy="274320"/>
          </a:xfrm>
          <a:prstGeom prst="rect">
            <a:avLst/>
          </a:prstGeom>
          <a:noFill/>
        </p:spPr>
        <p:txBody>
          <a:bodyPr wrap="square" anchor="t" lIns="0" rIns="0" tIns="0" bIns="0">
            <a:spAutoFit/>
          </a:bodyPr>
          <a:lstStyle/>
          <a:p>
            <a:pPr algn="l">
              <a:lnSpc>
                <a:spcPct val="106000"/>
              </a:lnSpc>
              <a:spcBef>
                <a:spcPts val="0"/>
              </a:spcBef>
              <a:spcAft>
                <a:spcPts val="0"/>
              </a:spcAft>
            </a:pPr>
            <a:r>
              <a:rPr sz="950" b="0">
                <a:solidFill>
                  <a:srgbClr val="8A9099"/>
                </a:solidFill>
                <a:latin typeface="Red Hat Text"/>
              </a:rPr>
              <a:t>CONFIDENTIAL</a:t>
            </a:r>
          </a:p>
        </p:txBody>
      </p:sp>
      <p:sp>
        <p:nvSpPr>
          <p:cNvPr id="28" name="TextBox 27"/>
          <p:cNvSpPr txBox="1"/>
          <p:nvPr/>
        </p:nvSpPr>
        <p:spPr>
          <a:xfrm>
            <a:off x="10801807" y="6473952"/>
            <a:ext cx="548640" cy="274320"/>
          </a:xfrm>
          <a:prstGeom prst="rect">
            <a:avLst/>
          </a:prstGeom>
          <a:noFill/>
        </p:spPr>
        <p:txBody>
          <a:bodyPr wrap="square" anchor="t" lIns="0" rIns="0" tIns="0" bIns="0">
            <a:spAutoFit/>
          </a:bodyPr>
          <a:lstStyle/>
          <a:p>
            <a:pPr algn="r">
              <a:lnSpc>
                <a:spcPct val="106000"/>
              </a:lnSpc>
              <a:spcBef>
                <a:spcPts val="0"/>
              </a:spcBef>
              <a:spcAft>
                <a:spcPts val="0"/>
              </a:spcAft>
            </a:pPr>
            <a:r>
              <a:rPr sz="950" b="0">
                <a:solidFill>
                  <a:srgbClr val="8A9099"/>
                </a:solidFill>
                <a:latin typeface="Red Hat Text"/>
              </a:rPr>
              <a:t>99</a:t>
            </a:r>
          </a:p>
        </p:txBody>
      </p:sp>
    </p:spTree>
  </p:cSld>
  <p:clrMapOvr>
    <a:masterClrMapping/>
  </p:clrMapOvr>
</p:sld>
</file>

<file path=ppt/slides/slide1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redhat_logo.jpg"/>
          <p:cNvPicPr>
            <a:picLocks noChangeAspect="1"/>
          </p:cNvPicPr>
          <p:nvPr/>
        </p:nvPicPr>
        <p:blipFill>
          <a:blip r:embed="rId2"/>
          <a:stretch>
            <a:fillRect/>
          </a:stretch>
        </p:blipFill>
        <p:spPr>
          <a:xfrm>
            <a:off x="10326319" y="475488"/>
            <a:ext cx="1024128" cy="242248"/>
          </a:xfrm>
          <a:prstGeom prst="rect">
            <a:avLst/>
          </a:prstGeom>
        </p:spPr>
      </p:pic>
      <p:sp>
        <p:nvSpPr>
          <p:cNvPr id="3" name="TextBox 2"/>
          <p:cNvSpPr txBox="1"/>
          <p:nvPr/>
        </p:nvSpPr>
        <p:spPr>
          <a:xfrm>
            <a:off x="841248" y="548640"/>
            <a:ext cx="8595360" cy="274320"/>
          </a:xfrm>
          <a:prstGeom prst="rect">
            <a:avLst/>
          </a:prstGeom>
          <a:noFill/>
        </p:spPr>
        <p:txBody>
          <a:bodyPr wrap="square" anchor="t" lIns="0" rIns="0" tIns="0" bIns="0">
            <a:spAutoFit/>
          </a:bodyPr>
          <a:lstStyle/>
          <a:p>
            <a:pPr algn="l">
              <a:lnSpc>
                <a:spcPct val="106000"/>
              </a:lnSpc>
              <a:spcBef>
                <a:spcPts val="0"/>
              </a:spcBef>
              <a:spcAft>
                <a:spcPts val="0"/>
              </a:spcAft>
            </a:pPr>
            <a:r>
              <a:rPr sz="1250" b="1" spc="220">
                <a:solidFill>
                  <a:srgbClr val="EE0000"/>
                </a:solidFill>
                <a:latin typeface="Red Hat Display"/>
              </a:rPr>
              <a:t>M14 · SECURING APPS WITH KEYCLOAK</a:t>
            </a:r>
          </a:p>
        </p:txBody>
      </p:sp>
      <p:sp>
        <p:nvSpPr>
          <p:cNvPr id="4" name="TextBox 3"/>
          <p:cNvSpPr txBox="1"/>
          <p:nvPr/>
        </p:nvSpPr>
        <p:spPr>
          <a:xfrm>
            <a:off x="841248" y="877824"/>
            <a:ext cx="10515600" cy="548640"/>
          </a:xfrm>
          <a:prstGeom prst="rect">
            <a:avLst/>
          </a:prstGeom>
          <a:noFill/>
        </p:spPr>
        <p:txBody>
          <a:bodyPr wrap="none" anchor="t" lIns="0" rIns="0" tIns="0" bIns="0">
            <a:spAutoFit/>
          </a:bodyPr>
          <a:lstStyle/>
          <a:p>
            <a:pPr algn="l">
              <a:lnSpc>
                <a:spcPct val="100000"/>
              </a:lnSpc>
              <a:spcBef>
                <a:spcPts val="0"/>
              </a:spcBef>
              <a:spcAft>
                <a:spcPts val="0"/>
              </a:spcAft>
            </a:pPr>
            <a:r>
              <a:rPr sz="2500" b="1">
                <a:solidFill>
                  <a:srgbClr val="1A1A1A"/>
                </a:solidFill>
                <a:latin typeface="Red Hat Display"/>
              </a:rPr>
              <a:t>Don't build your own login page</a:t>
            </a:r>
          </a:p>
        </p:txBody>
      </p:sp>
      <p:cxnSp>
        <p:nvCxnSpPr>
          <p:cNvPr id="5" name="Connector 4"/>
          <p:cNvCxnSpPr/>
          <p:nvPr/>
        </p:nvCxnSpPr>
        <p:spPr>
          <a:xfrm>
            <a:off x="841248" y="1554480"/>
            <a:ext cx="1371600" cy="0"/>
          </a:xfrm>
          <a:prstGeom prst="bentConnector3">
            <a:avLst/>
          </a:prstGeom>
          <a:ln w="31750">
            <a:solidFill>
              <a:srgbClr val="EE0000"/>
            </a:solidFill>
          </a:ln>
          <a:effectLst/>
        </p:spPr>
        <p:style>
          <a:lnRef idx="2">
            <a:schemeClr val="accent1"/>
          </a:lnRef>
          <a:fillRef idx="0">
            <a:schemeClr val="accent1"/>
          </a:fillRef>
          <a:effectRef idx="1">
            <a:schemeClr val="accent1"/>
          </a:effectRef>
          <a:fontRef idx="minor">
            <a:schemeClr val="tx1"/>
          </a:fontRef>
        </p:style>
      </p:cxnSp>
      <p:sp>
        <p:nvSpPr>
          <p:cNvPr id="6" name="Rounded Rectangle 5"/>
          <p:cNvSpPr/>
          <p:nvPr/>
        </p:nvSpPr>
        <p:spPr>
          <a:xfrm>
            <a:off x="841248" y="2395728"/>
            <a:ext cx="5715000" cy="530352"/>
          </a:xfrm>
          <a:prstGeom prst="roundRect">
            <a:avLst>
              <a:gd name="adj" fmla="val 6000"/>
            </a:avLst>
          </a:prstGeom>
          <a:solidFill>
            <a:srgbClr val="F5F6F8"/>
          </a:solidFill>
          <a:ln w="12700">
            <a:solidFill>
              <a:srgbClr val="DDE1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check_steel.png"/>
          <p:cNvPicPr>
            <a:picLocks noChangeAspect="1"/>
          </p:cNvPicPr>
          <p:nvPr/>
        </p:nvPicPr>
        <p:blipFill>
          <a:blip r:embed="rId3"/>
          <a:stretch>
            <a:fillRect/>
          </a:stretch>
        </p:blipFill>
        <p:spPr>
          <a:xfrm>
            <a:off x="987552" y="2542032"/>
            <a:ext cx="237744" cy="237744"/>
          </a:xfrm>
          <a:prstGeom prst="rect">
            <a:avLst/>
          </a:prstGeom>
        </p:spPr>
      </p:pic>
      <p:sp>
        <p:nvSpPr>
          <p:cNvPr id="8" name="TextBox 7"/>
          <p:cNvSpPr txBox="1"/>
          <p:nvPr/>
        </p:nvSpPr>
        <p:spPr>
          <a:xfrm>
            <a:off x="1353312" y="2395728"/>
            <a:ext cx="5029200" cy="530352"/>
          </a:xfrm>
          <a:prstGeom prst="rect">
            <a:avLst/>
          </a:prstGeom>
          <a:noFill/>
        </p:spPr>
        <p:txBody>
          <a:bodyPr wrap="square" anchor="ctr" lIns="0" rIns="0" tIns="0" bIns="0">
            <a:spAutoFit/>
          </a:bodyPr>
          <a:lstStyle/>
          <a:p>
            <a:pPr algn="l">
              <a:lnSpc>
                <a:spcPct val="106000"/>
              </a:lnSpc>
              <a:spcBef>
                <a:spcPts val="0"/>
              </a:spcBef>
              <a:spcAft>
                <a:spcPts val="0"/>
              </a:spcAft>
            </a:pPr>
            <a:r>
              <a:rPr sz="1200" b="0">
                <a:solidFill>
                  <a:srgbClr val="1A1A1A"/>
                </a:solidFill>
                <a:latin typeface="Red Hat Text"/>
              </a:rPr>
              <a:t>Every hour building auth is an hour not on claims — and what you build is worse</a:t>
            </a:r>
          </a:p>
        </p:txBody>
      </p:sp>
      <p:sp>
        <p:nvSpPr>
          <p:cNvPr id="9" name="Rounded Rectangle 8"/>
          <p:cNvSpPr/>
          <p:nvPr/>
        </p:nvSpPr>
        <p:spPr>
          <a:xfrm>
            <a:off x="841248" y="2999232"/>
            <a:ext cx="5715000" cy="530352"/>
          </a:xfrm>
          <a:prstGeom prst="roundRect">
            <a:avLst>
              <a:gd name="adj" fmla="val 6000"/>
            </a:avLst>
          </a:prstGeom>
          <a:solidFill>
            <a:srgbClr val="F5F6F8"/>
          </a:solidFill>
          <a:ln w="12700">
            <a:solidFill>
              <a:srgbClr val="DDE1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0" name="Picture 9" descr="check_steel.png"/>
          <p:cNvPicPr>
            <a:picLocks noChangeAspect="1"/>
          </p:cNvPicPr>
          <p:nvPr/>
        </p:nvPicPr>
        <p:blipFill>
          <a:blip r:embed="rId3"/>
          <a:stretch>
            <a:fillRect/>
          </a:stretch>
        </p:blipFill>
        <p:spPr>
          <a:xfrm>
            <a:off x="987552" y="3145536"/>
            <a:ext cx="237744" cy="237744"/>
          </a:xfrm>
          <a:prstGeom prst="rect">
            <a:avLst/>
          </a:prstGeom>
        </p:spPr>
      </p:pic>
      <p:sp>
        <p:nvSpPr>
          <p:cNvPr id="11" name="TextBox 10"/>
          <p:cNvSpPr txBox="1"/>
          <p:nvPr/>
        </p:nvSpPr>
        <p:spPr>
          <a:xfrm>
            <a:off x="1353312" y="2999232"/>
            <a:ext cx="5029200" cy="530352"/>
          </a:xfrm>
          <a:prstGeom prst="rect">
            <a:avLst/>
          </a:prstGeom>
          <a:noFill/>
        </p:spPr>
        <p:txBody>
          <a:bodyPr wrap="square" anchor="ctr" lIns="0" rIns="0" tIns="0" bIns="0">
            <a:spAutoFit/>
          </a:bodyPr>
          <a:lstStyle/>
          <a:p>
            <a:pPr algn="l">
              <a:lnSpc>
                <a:spcPct val="106000"/>
              </a:lnSpc>
              <a:spcBef>
                <a:spcPts val="0"/>
              </a:spcBef>
              <a:spcAft>
                <a:spcPts val="0"/>
              </a:spcAft>
            </a:pPr>
            <a:r>
              <a:rPr sz="1200" b="0">
                <a:solidFill>
                  <a:srgbClr val="1A1A1A"/>
                </a:solidFill>
                <a:latin typeface="Red Hat Text"/>
              </a:rPr>
              <a:t>Password policies, MFA, lockout, federation, token issuance, audit — all solved</a:t>
            </a:r>
          </a:p>
        </p:txBody>
      </p:sp>
      <p:sp>
        <p:nvSpPr>
          <p:cNvPr id="12" name="Rounded Rectangle 11"/>
          <p:cNvSpPr/>
          <p:nvPr/>
        </p:nvSpPr>
        <p:spPr>
          <a:xfrm>
            <a:off x="841248" y="3602736"/>
            <a:ext cx="5715000" cy="530352"/>
          </a:xfrm>
          <a:prstGeom prst="roundRect">
            <a:avLst>
              <a:gd name="adj" fmla="val 6000"/>
            </a:avLst>
          </a:prstGeom>
          <a:solidFill>
            <a:srgbClr val="F5F6F8"/>
          </a:solidFill>
          <a:ln w="12700">
            <a:solidFill>
              <a:srgbClr val="DDE1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3" name="Picture 12" descr="check_steel.png"/>
          <p:cNvPicPr>
            <a:picLocks noChangeAspect="1"/>
          </p:cNvPicPr>
          <p:nvPr/>
        </p:nvPicPr>
        <p:blipFill>
          <a:blip r:embed="rId3"/>
          <a:stretch>
            <a:fillRect/>
          </a:stretch>
        </p:blipFill>
        <p:spPr>
          <a:xfrm>
            <a:off x="987552" y="3749040"/>
            <a:ext cx="237744" cy="237744"/>
          </a:xfrm>
          <a:prstGeom prst="rect">
            <a:avLst/>
          </a:prstGeom>
        </p:spPr>
      </p:pic>
      <p:sp>
        <p:nvSpPr>
          <p:cNvPr id="14" name="TextBox 13"/>
          <p:cNvSpPr txBox="1"/>
          <p:nvPr/>
        </p:nvSpPr>
        <p:spPr>
          <a:xfrm>
            <a:off x="1353312" y="3602736"/>
            <a:ext cx="5029200" cy="530352"/>
          </a:xfrm>
          <a:prstGeom prst="rect">
            <a:avLst/>
          </a:prstGeom>
          <a:noFill/>
        </p:spPr>
        <p:txBody>
          <a:bodyPr wrap="square" anchor="ctr" lIns="0" rIns="0" tIns="0" bIns="0">
            <a:spAutoFit/>
          </a:bodyPr>
          <a:lstStyle/>
          <a:p>
            <a:pPr algn="l">
              <a:lnSpc>
                <a:spcPct val="106000"/>
              </a:lnSpc>
              <a:spcBef>
                <a:spcPts val="0"/>
              </a:spcBef>
              <a:spcAft>
                <a:spcPts val="0"/>
              </a:spcAft>
            </a:pPr>
            <a:r>
              <a:rPr sz="1200" b="0">
                <a:solidFill>
                  <a:srgbClr val="1A1A1A"/>
                </a:solidFill>
                <a:latin typeface="Red Hat Text"/>
              </a:rPr>
              <a:t>Getting it slightly wrong (a weak reset flow, a missing check) *is* the breach</a:t>
            </a:r>
          </a:p>
        </p:txBody>
      </p:sp>
      <p:sp>
        <p:nvSpPr>
          <p:cNvPr id="15" name="Rounded Rectangle 14"/>
          <p:cNvSpPr/>
          <p:nvPr/>
        </p:nvSpPr>
        <p:spPr>
          <a:xfrm>
            <a:off x="841248" y="4206240"/>
            <a:ext cx="5715000" cy="530352"/>
          </a:xfrm>
          <a:prstGeom prst="roundRect">
            <a:avLst>
              <a:gd name="adj" fmla="val 6000"/>
            </a:avLst>
          </a:prstGeom>
          <a:solidFill>
            <a:srgbClr val="F5F6F8"/>
          </a:solidFill>
          <a:ln w="12700">
            <a:solidFill>
              <a:srgbClr val="DDE1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6" name="Picture 15" descr="check_steel.png"/>
          <p:cNvPicPr>
            <a:picLocks noChangeAspect="1"/>
          </p:cNvPicPr>
          <p:nvPr/>
        </p:nvPicPr>
        <p:blipFill>
          <a:blip r:embed="rId3"/>
          <a:stretch>
            <a:fillRect/>
          </a:stretch>
        </p:blipFill>
        <p:spPr>
          <a:xfrm>
            <a:off x="987552" y="4352544"/>
            <a:ext cx="237744" cy="237744"/>
          </a:xfrm>
          <a:prstGeom prst="rect">
            <a:avLst/>
          </a:prstGeom>
        </p:spPr>
      </p:pic>
      <p:sp>
        <p:nvSpPr>
          <p:cNvPr id="17" name="TextBox 16"/>
          <p:cNvSpPr txBox="1"/>
          <p:nvPr/>
        </p:nvSpPr>
        <p:spPr>
          <a:xfrm>
            <a:off x="1353312" y="4206240"/>
            <a:ext cx="5029200" cy="530352"/>
          </a:xfrm>
          <a:prstGeom prst="rect">
            <a:avLst/>
          </a:prstGeom>
          <a:noFill/>
        </p:spPr>
        <p:txBody>
          <a:bodyPr wrap="square" anchor="ctr" lIns="0" rIns="0" tIns="0" bIns="0">
            <a:spAutoFit/>
          </a:bodyPr>
          <a:lstStyle/>
          <a:p>
            <a:pPr algn="l">
              <a:lnSpc>
                <a:spcPct val="106000"/>
              </a:lnSpc>
              <a:spcBef>
                <a:spcPts val="0"/>
              </a:spcBef>
              <a:spcAft>
                <a:spcPts val="0"/>
              </a:spcAft>
            </a:pPr>
            <a:r>
              <a:rPr sz="1200" b="0">
                <a:solidFill>
                  <a:srgbClr val="1A1A1A"/>
                </a:solidFill>
                <a:latin typeface="Red Hat Text"/>
              </a:rPr>
              <a:t>Your job shrinks to *describing* who may do what, and pointing apps at it</a:t>
            </a:r>
          </a:p>
        </p:txBody>
      </p:sp>
      <p:sp>
        <p:nvSpPr>
          <p:cNvPr id="18" name="Rounded Rectangle 17"/>
          <p:cNvSpPr/>
          <p:nvPr/>
        </p:nvSpPr>
        <p:spPr>
          <a:xfrm>
            <a:off x="841248" y="4809744"/>
            <a:ext cx="5715000" cy="530352"/>
          </a:xfrm>
          <a:prstGeom prst="roundRect">
            <a:avLst>
              <a:gd name="adj" fmla="val 6000"/>
            </a:avLst>
          </a:prstGeom>
          <a:solidFill>
            <a:srgbClr val="F5F6F8"/>
          </a:solidFill>
          <a:ln w="12700">
            <a:solidFill>
              <a:srgbClr val="DDE1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9" name="Picture 18" descr="check_steel.png"/>
          <p:cNvPicPr>
            <a:picLocks noChangeAspect="1"/>
          </p:cNvPicPr>
          <p:nvPr/>
        </p:nvPicPr>
        <p:blipFill>
          <a:blip r:embed="rId3"/>
          <a:stretch>
            <a:fillRect/>
          </a:stretch>
        </p:blipFill>
        <p:spPr>
          <a:xfrm>
            <a:off x="987552" y="4956048"/>
            <a:ext cx="237744" cy="237744"/>
          </a:xfrm>
          <a:prstGeom prst="rect">
            <a:avLst/>
          </a:prstGeom>
        </p:spPr>
      </p:pic>
      <p:sp>
        <p:nvSpPr>
          <p:cNvPr id="20" name="TextBox 19"/>
          <p:cNvSpPr txBox="1"/>
          <p:nvPr/>
        </p:nvSpPr>
        <p:spPr>
          <a:xfrm>
            <a:off x="1353312" y="4809744"/>
            <a:ext cx="5029200" cy="530352"/>
          </a:xfrm>
          <a:prstGeom prst="rect">
            <a:avLst/>
          </a:prstGeom>
          <a:noFill/>
        </p:spPr>
        <p:txBody>
          <a:bodyPr wrap="square" anchor="ctr" lIns="0" rIns="0" tIns="0" bIns="0">
            <a:spAutoFit/>
          </a:bodyPr>
          <a:lstStyle/>
          <a:p>
            <a:pPr algn="l">
              <a:lnSpc>
                <a:spcPct val="106000"/>
              </a:lnSpc>
              <a:spcBef>
                <a:spcPts val="0"/>
              </a:spcBef>
              <a:spcAft>
                <a:spcPts val="0"/>
              </a:spcAft>
            </a:pPr>
            <a:r>
              <a:rPr sz="1200" b="0">
                <a:solidFill>
                  <a:srgbClr val="1A1A1A"/>
                </a:solidFill>
                <a:latin typeface="Red Hat Text"/>
              </a:rPr>
              <a:t>**The punchline: Red Hat build of Keycloak is included with your OpenShift subscription**</a:t>
            </a:r>
          </a:p>
        </p:txBody>
      </p:sp>
      <p:sp>
        <p:nvSpPr>
          <p:cNvPr id="21" name="Rounded Rectangle 20"/>
          <p:cNvSpPr/>
          <p:nvPr/>
        </p:nvSpPr>
        <p:spPr>
          <a:xfrm>
            <a:off x="6812280" y="2395728"/>
            <a:ext cx="4538167" cy="2944368"/>
          </a:xfrm>
          <a:prstGeom prst="roundRect">
            <a:avLst>
              <a:gd name="adj" fmla="val 4000"/>
            </a:avLst>
          </a:prstGeom>
          <a:solidFill>
            <a:srgbClr val="FFFFFF"/>
          </a:solidFill>
          <a:ln w="15240">
            <a:solidFill>
              <a:srgbClr val="DDE1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ounded Rectangle 21"/>
          <p:cNvSpPr/>
          <p:nvPr/>
        </p:nvSpPr>
        <p:spPr>
          <a:xfrm>
            <a:off x="7013448" y="2596896"/>
            <a:ext cx="1298448" cy="310896"/>
          </a:xfrm>
          <a:prstGeom prst="roundRect">
            <a:avLst>
              <a:gd name="adj" fmla="val 50000"/>
            </a:avLst>
          </a:prstGeom>
          <a:solidFill>
            <a:srgbClr val="FCEC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7013448" y="2596896"/>
            <a:ext cx="1298448" cy="310896"/>
          </a:xfrm>
          <a:prstGeom prst="rect">
            <a:avLst/>
          </a:prstGeom>
          <a:noFill/>
        </p:spPr>
        <p:txBody>
          <a:bodyPr wrap="none" anchor="ctr" lIns="0" rIns="0" tIns="0" bIns="0">
            <a:spAutoFit/>
          </a:bodyPr>
          <a:lstStyle/>
          <a:p>
            <a:pPr algn="ctr">
              <a:lnSpc>
                <a:spcPct val="106000"/>
              </a:lnSpc>
              <a:spcBef>
                <a:spcPts val="0"/>
              </a:spcBef>
              <a:spcAft>
                <a:spcPts val="0"/>
              </a:spcAft>
            </a:pPr>
            <a:r>
              <a:rPr sz="850" b="1">
                <a:solidFill>
                  <a:srgbClr val="B80000"/>
                </a:solidFill>
                <a:latin typeface="Red Hat Display"/>
              </a:rPr>
              <a:t>MEDIA PASS</a:t>
            </a:r>
          </a:p>
        </p:txBody>
      </p:sp>
      <p:pic>
        <p:nvPicPr>
          <p:cNvPr id="24" name="Picture 23" descr="eye_slate.png"/>
          <p:cNvPicPr>
            <a:picLocks noChangeAspect="1"/>
          </p:cNvPicPr>
          <p:nvPr/>
        </p:nvPicPr>
        <p:blipFill>
          <a:blip r:embed="rId4"/>
          <a:stretch>
            <a:fillRect/>
          </a:stretch>
        </p:blipFill>
        <p:spPr>
          <a:xfrm>
            <a:off x="8843619" y="3108960"/>
            <a:ext cx="475488" cy="475488"/>
          </a:xfrm>
          <a:prstGeom prst="rect">
            <a:avLst/>
          </a:prstGeom>
        </p:spPr>
      </p:pic>
      <p:sp>
        <p:nvSpPr>
          <p:cNvPr id="25" name="TextBox 24"/>
          <p:cNvSpPr txBox="1"/>
          <p:nvPr/>
        </p:nvSpPr>
        <p:spPr>
          <a:xfrm>
            <a:off x="7050024" y="3721608"/>
            <a:ext cx="4062679" cy="1481328"/>
          </a:xfrm>
          <a:prstGeom prst="rect">
            <a:avLst/>
          </a:prstGeom>
          <a:noFill/>
        </p:spPr>
        <p:txBody>
          <a:bodyPr wrap="square" anchor="t" lIns="0" rIns="0" tIns="0" bIns="0">
            <a:spAutoFit/>
          </a:bodyPr>
          <a:lstStyle/>
          <a:p>
            <a:pPr algn="l">
              <a:lnSpc>
                <a:spcPct val="120000"/>
              </a:lnSpc>
              <a:spcBef>
                <a:spcPts val="0"/>
              </a:spcBef>
              <a:spcAft>
                <a:spcPts val="0"/>
              </a:spcAft>
            </a:pPr>
            <a:r>
              <a:rPr sz="950" b="0">
                <a:solidFill>
                  <a:srgbClr val="8A9099"/>
                </a:solidFill>
                <a:latin typeface="Red Hat Text"/>
              </a:rPr>
              <a:t>Concept diagram securing-apps-keycloak-03-build-vs-buy — a long "build it yourself" column of risk vs a single "included with OpenShift" tile.</a:t>
            </a:r>
          </a:p>
        </p:txBody>
      </p:sp>
      <p:cxnSp>
        <p:nvCxnSpPr>
          <p:cNvPr id="26" name="Connector 25"/>
          <p:cNvCxnSpPr/>
          <p:nvPr/>
        </p:nvCxnSpPr>
        <p:spPr>
          <a:xfrm>
            <a:off x="841248" y="6437376"/>
            <a:ext cx="10509199" cy="0"/>
          </a:xfrm>
          <a:prstGeom prst="bentConnector3">
            <a:avLst/>
          </a:prstGeom>
          <a:ln w="12700">
            <a:solidFill>
              <a:srgbClr val="DDE1E6"/>
            </a:solidFill>
          </a:ln>
          <a:effectLst/>
        </p:spPr>
        <p:style>
          <a:lnRef idx="2">
            <a:schemeClr val="accent1"/>
          </a:lnRef>
          <a:fillRef idx="0">
            <a:schemeClr val="accent1"/>
          </a:fillRef>
          <a:effectRef idx="1">
            <a:schemeClr val="accent1"/>
          </a:effectRef>
          <a:fontRef idx="minor">
            <a:schemeClr val="tx1"/>
          </a:fontRef>
        </p:style>
      </p:cxnSp>
      <p:sp>
        <p:nvSpPr>
          <p:cNvPr id="27" name="TextBox 26"/>
          <p:cNvSpPr txBox="1"/>
          <p:nvPr/>
        </p:nvSpPr>
        <p:spPr>
          <a:xfrm>
            <a:off x="841248" y="6473952"/>
            <a:ext cx="7315200" cy="274320"/>
          </a:xfrm>
          <a:prstGeom prst="rect">
            <a:avLst/>
          </a:prstGeom>
          <a:noFill/>
        </p:spPr>
        <p:txBody>
          <a:bodyPr wrap="square" anchor="t" lIns="0" rIns="0" tIns="0" bIns="0">
            <a:spAutoFit/>
          </a:bodyPr>
          <a:lstStyle/>
          <a:p>
            <a:pPr algn="l">
              <a:lnSpc>
                <a:spcPct val="106000"/>
              </a:lnSpc>
              <a:spcBef>
                <a:spcPts val="0"/>
              </a:spcBef>
              <a:spcAft>
                <a:spcPts val="0"/>
              </a:spcAft>
            </a:pPr>
            <a:r>
              <a:rPr sz="950" b="0">
                <a:solidFill>
                  <a:srgbClr val="8A9099"/>
                </a:solidFill>
                <a:latin typeface="Red Hat Text"/>
              </a:rPr>
              <a:t>CONFIDENTIAL</a:t>
            </a:r>
          </a:p>
        </p:txBody>
      </p:sp>
      <p:sp>
        <p:nvSpPr>
          <p:cNvPr id="28" name="TextBox 27"/>
          <p:cNvSpPr txBox="1"/>
          <p:nvPr/>
        </p:nvSpPr>
        <p:spPr>
          <a:xfrm>
            <a:off x="10801807" y="6473952"/>
            <a:ext cx="548640" cy="274320"/>
          </a:xfrm>
          <a:prstGeom prst="rect">
            <a:avLst/>
          </a:prstGeom>
          <a:noFill/>
        </p:spPr>
        <p:txBody>
          <a:bodyPr wrap="square" anchor="t" lIns="0" rIns="0" tIns="0" bIns="0">
            <a:spAutoFit/>
          </a:bodyPr>
          <a:lstStyle/>
          <a:p>
            <a:pPr algn="r">
              <a:lnSpc>
                <a:spcPct val="106000"/>
              </a:lnSpc>
              <a:spcBef>
                <a:spcPts val="0"/>
              </a:spcBef>
              <a:spcAft>
                <a:spcPts val="0"/>
              </a:spcAft>
            </a:pPr>
            <a:r>
              <a:rPr sz="950" b="0">
                <a:solidFill>
                  <a:srgbClr val="8A9099"/>
                </a:solidFill>
                <a:latin typeface="Red Hat Text"/>
              </a:rPr>
              <a:t>100</a:t>
            </a:r>
          </a:p>
        </p:txBody>
      </p:sp>
    </p:spTree>
  </p:cSld>
  <p:clrMapOvr>
    <a:masterClrMapping/>
  </p:clrMapOvr>
</p:sld>
</file>

<file path=ppt/slides/slide1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redhat_logo.jpg"/>
          <p:cNvPicPr>
            <a:picLocks noChangeAspect="1"/>
          </p:cNvPicPr>
          <p:nvPr/>
        </p:nvPicPr>
        <p:blipFill>
          <a:blip r:embed="rId2"/>
          <a:stretch>
            <a:fillRect/>
          </a:stretch>
        </p:blipFill>
        <p:spPr>
          <a:xfrm>
            <a:off x="10326319" y="475488"/>
            <a:ext cx="1024128" cy="242248"/>
          </a:xfrm>
          <a:prstGeom prst="rect">
            <a:avLst/>
          </a:prstGeom>
        </p:spPr>
      </p:pic>
      <p:sp>
        <p:nvSpPr>
          <p:cNvPr id="3" name="TextBox 2"/>
          <p:cNvSpPr txBox="1"/>
          <p:nvPr/>
        </p:nvSpPr>
        <p:spPr>
          <a:xfrm>
            <a:off x="841248" y="548640"/>
            <a:ext cx="8595360" cy="274320"/>
          </a:xfrm>
          <a:prstGeom prst="rect">
            <a:avLst/>
          </a:prstGeom>
          <a:noFill/>
        </p:spPr>
        <p:txBody>
          <a:bodyPr wrap="square" anchor="t" lIns="0" rIns="0" tIns="0" bIns="0">
            <a:spAutoFit/>
          </a:bodyPr>
          <a:lstStyle/>
          <a:p>
            <a:pPr algn="l">
              <a:lnSpc>
                <a:spcPct val="106000"/>
              </a:lnSpc>
              <a:spcBef>
                <a:spcPts val="0"/>
              </a:spcBef>
              <a:spcAft>
                <a:spcPts val="0"/>
              </a:spcAft>
            </a:pPr>
            <a:r>
              <a:rPr sz="1250" b="1" spc="220">
                <a:solidFill>
                  <a:srgbClr val="EE0000"/>
                </a:solidFill>
                <a:latin typeface="Red Hat Display"/>
              </a:rPr>
              <a:t>M14 · SECURING APPS WITH KEYCLOAK</a:t>
            </a:r>
          </a:p>
        </p:txBody>
      </p:sp>
      <p:sp>
        <p:nvSpPr>
          <p:cNvPr id="4" name="TextBox 3"/>
          <p:cNvSpPr txBox="1"/>
          <p:nvPr/>
        </p:nvSpPr>
        <p:spPr>
          <a:xfrm>
            <a:off x="841248" y="877824"/>
            <a:ext cx="10515600" cy="548640"/>
          </a:xfrm>
          <a:prstGeom prst="rect">
            <a:avLst/>
          </a:prstGeom>
          <a:noFill/>
        </p:spPr>
        <p:txBody>
          <a:bodyPr wrap="none" anchor="t" lIns="0" rIns="0" tIns="0" bIns="0">
            <a:spAutoFit/>
          </a:bodyPr>
          <a:lstStyle/>
          <a:p>
            <a:pPr algn="l">
              <a:lnSpc>
                <a:spcPct val="100000"/>
              </a:lnSpc>
              <a:spcBef>
                <a:spcPts val="0"/>
              </a:spcBef>
              <a:spcAft>
                <a:spcPts val="0"/>
              </a:spcAft>
            </a:pPr>
            <a:r>
              <a:rPr sz="2500" b="1">
                <a:solidFill>
                  <a:srgbClr val="1A1A1A"/>
                </a:solidFill>
                <a:latin typeface="Red Hat Display"/>
              </a:rPr>
              <a:t>Bearer + role, live — 401 → 200 → 403</a:t>
            </a:r>
          </a:p>
        </p:txBody>
      </p:sp>
      <p:cxnSp>
        <p:nvCxnSpPr>
          <p:cNvPr id="5" name="Connector 4"/>
          <p:cNvCxnSpPr/>
          <p:nvPr/>
        </p:nvCxnSpPr>
        <p:spPr>
          <a:xfrm>
            <a:off x="841248" y="1554480"/>
            <a:ext cx="1371600" cy="0"/>
          </a:xfrm>
          <a:prstGeom prst="bentConnector3">
            <a:avLst/>
          </a:prstGeom>
          <a:ln w="31750">
            <a:solidFill>
              <a:srgbClr val="EE0000"/>
            </a:solidFill>
          </a:ln>
          <a:effectLst/>
        </p:spPr>
        <p:style>
          <a:lnRef idx="2">
            <a:schemeClr val="accent1"/>
          </a:lnRef>
          <a:fillRef idx="0">
            <a:schemeClr val="accent1"/>
          </a:fillRef>
          <a:effectRef idx="1">
            <a:schemeClr val="accent1"/>
          </a:effectRef>
          <a:fontRef idx="minor">
            <a:schemeClr val="tx1"/>
          </a:fontRef>
        </p:style>
      </p:cxnSp>
      <p:sp>
        <p:nvSpPr>
          <p:cNvPr id="6" name="Rounded Rectangle 5"/>
          <p:cNvSpPr/>
          <p:nvPr/>
        </p:nvSpPr>
        <p:spPr>
          <a:xfrm>
            <a:off x="841248" y="2395728"/>
            <a:ext cx="5715000" cy="530352"/>
          </a:xfrm>
          <a:prstGeom prst="roundRect">
            <a:avLst>
              <a:gd name="adj" fmla="val 6000"/>
            </a:avLst>
          </a:prstGeom>
          <a:solidFill>
            <a:srgbClr val="F5F6F8"/>
          </a:solidFill>
          <a:ln w="12700">
            <a:solidFill>
              <a:srgbClr val="DDE1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check_steel.png"/>
          <p:cNvPicPr>
            <a:picLocks noChangeAspect="1"/>
          </p:cNvPicPr>
          <p:nvPr/>
        </p:nvPicPr>
        <p:blipFill>
          <a:blip r:embed="rId3"/>
          <a:stretch>
            <a:fillRect/>
          </a:stretch>
        </p:blipFill>
        <p:spPr>
          <a:xfrm>
            <a:off x="987552" y="2542032"/>
            <a:ext cx="237744" cy="237744"/>
          </a:xfrm>
          <a:prstGeom prst="rect">
            <a:avLst/>
          </a:prstGeom>
        </p:spPr>
      </p:pic>
      <p:sp>
        <p:nvSpPr>
          <p:cNvPr id="8" name="TextBox 7"/>
          <p:cNvSpPr txBox="1"/>
          <p:nvPr/>
        </p:nvSpPr>
        <p:spPr>
          <a:xfrm>
            <a:off x="1353312" y="2395728"/>
            <a:ext cx="5029200" cy="530352"/>
          </a:xfrm>
          <a:prstGeom prst="rect">
            <a:avLst/>
          </a:prstGeom>
          <a:noFill/>
        </p:spPr>
        <p:txBody>
          <a:bodyPr wrap="square" anchor="ctr" lIns="0" rIns="0" tIns="0" bIns="0">
            <a:spAutoFit/>
          </a:bodyPr>
          <a:lstStyle/>
          <a:p>
            <a:pPr algn="l">
              <a:lnSpc>
                <a:spcPct val="106000"/>
              </a:lnSpc>
              <a:spcBef>
                <a:spcPts val="0"/>
              </a:spcBef>
              <a:spcAft>
                <a:spcPts val="0"/>
              </a:spcAft>
            </a:pPr>
            <a:r>
              <a:rPr sz="1200" b="0">
                <a:solidFill>
                  <a:srgbClr val="1A1A1A"/>
                </a:solidFill>
                <a:latin typeface="Red Hat Text"/>
              </a:rPr>
              <a:t>One config change (no rebuild): the open API now demands a valid token</a:t>
            </a:r>
          </a:p>
        </p:txBody>
      </p:sp>
      <p:sp>
        <p:nvSpPr>
          <p:cNvPr id="9" name="Rounded Rectangle 8"/>
          <p:cNvSpPr/>
          <p:nvPr/>
        </p:nvSpPr>
        <p:spPr>
          <a:xfrm>
            <a:off x="841248" y="2999232"/>
            <a:ext cx="5715000" cy="530352"/>
          </a:xfrm>
          <a:prstGeom prst="roundRect">
            <a:avLst>
              <a:gd name="adj" fmla="val 6000"/>
            </a:avLst>
          </a:prstGeom>
          <a:solidFill>
            <a:srgbClr val="F5F6F8"/>
          </a:solidFill>
          <a:ln w="12700">
            <a:solidFill>
              <a:srgbClr val="DDE1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0" name="Picture 9" descr="check_steel.png"/>
          <p:cNvPicPr>
            <a:picLocks noChangeAspect="1"/>
          </p:cNvPicPr>
          <p:nvPr/>
        </p:nvPicPr>
        <p:blipFill>
          <a:blip r:embed="rId3"/>
          <a:stretch>
            <a:fillRect/>
          </a:stretch>
        </p:blipFill>
        <p:spPr>
          <a:xfrm>
            <a:off x="987552" y="3145536"/>
            <a:ext cx="237744" cy="237744"/>
          </a:xfrm>
          <a:prstGeom prst="rect">
            <a:avLst/>
          </a:prstGeom>
        </p:spPr>
      </p:pic>
      <p:sp>
        <p:nvSpPr>
          <p:cNvPr id="11" name="TextBox 10"/>
          <p:cNvSpPr txBox="1"/>
          <p:nvPr/>
        </p:nvSpPr>
        <p:spPr>
          <a:xfrm>
            <a:off x="1353312" y="2999232"/>
            <a:ext cx="5029200" cy="530352"/>
          </a:xfrm>
          <a:prstGeom prst="rect">
            <a:avLst/>
          </a:prstGeom>
          <a:noFill/>
        </p:spPr>
        <p:txBody>
          <a:bodyPr wrap="square" anchor="ctr" lIns="0" rIns="0" tIns="0" bIns="0">
            <a:spAutoFit/>
          </a:bodyPr>
          <a:lstStyle/>
          <a:p>
            <a:pPr algn="l">
              <a:lnSpc>
                <a:spcPct val="106000"/>
              </a:lnSpc>
              <a:spcBef>
                <a:spcPts val="0"/>
              </a:spcBef>
              <a:spcAft>
                <a:spcPts val="0"/>
              </a:spcAft>
            </a:pPr>
            <a:r>
              <a:rPr sz="1200" b="0">
                <a:solidFill>
                  <a:srgbClr val="1A1A1A"/>
                </a:solidFill>
                <a:latin typeface="Red Hat Text"/>
              </a:rPr>
              <a:t>`no token → 401` · `adjuster → 200` · `viewer → 403`</a:t>
            </a:r>
          </a:p>
        </p:txBody>
      </p:sp>
      <p:sp>
        <p:nvSpPr>
          <p:cNvPr id="12" name="Rounded Rectangle 11"/>
          <p:cNvSpPr/>
          <p:nvPr/>
        </p:nvSpPr>
        <p:spPr>
          <a:xfrm>
            <a:off x="841248" y="3602736"/>
            <a:ext cx="5715000" cy="530352"/>
          </a:xfrm>
          <a:prstGeom prst="roundRect">
            <a:avLst>
              <a:gd name="adj" fmla="val 6000"/>
            </a:avLst>
          </a:prstGeom>
          <a:solidFill>
            <a:srgbClr val="F5F6F8"/>
          </a:solidFill>
          <a:ln w="12700">
            <a:solidFill>
              <a:srgbClr val="DDE1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3" name="Picture 12" descr="check_steel.png"/>
          <p:cNvPicPr>
            <a:picLocks noChangeAspect="1"/>
          </p:cNvPicPr>
          <p:nvPr/>
        </p:nvPicPr>
        <p:blipFill>
          <a:blip r:embed="rId3"/>
          <a:stretch>
            <a:fillRect/>
          </a:stretch>
        </p:blipFill>
        <p:spPr>
          <a:xfrm>
            <a:off x="987552" y="3749040"/>
            <a:ext cx="237744" cy="237744"/>
          </a:xfrm>
          <a:prstGeom prst="rect">
            <a:avLst/>
          </a:prstGeom>
        </p:spPr>
      </p:pic>
      <p:sp>
        <p:nvSpPr>
          <p:cNvPr id="14" name="TextBox 13"/>
          <p:cNvSpPr txBox="1"/>
          <p:nvPr/>
        </p:nvSpPr>
        <p:spPr>
          <a:xfrm>
            <a:off x="1353312" y="3602736"/>
            <a:ext cx="5029200" cy="530352"/>
          </a:xfrm>
          <a:prstGeom prst="rect">
            <a:avLst/>
          </a:prstGeom>
          <a:noFill/>
        </p:spPr>
        <p:txBody>
          <a:bodyPr wrap="square" anchor="ctr" lIns="0" rIns="0" tIns="0" bIns="0">
            <a:spAutoFit/>
          </a:bodyPr>
          <a:lstStyle/>
          <a:p>
            <a:pPr algn="l">
              <a:lnSpc>
                <a:spcPct val="106000"/>
              </a:lnSpc>
              <a:spcBef>
                <a:spcPts val="0"/>
              </a:spcBef>
              <a:spcAft>
                <a:spcPts val="0"/>
              </a:spcAft>
            </a:pPr>
            <a:r>
              <a:rPr sz="1200" b="0">
                <a:solidFill>
                  <a:srgbClr val="1A1A1A"/>
                </a:solidFill>
                <a:latin typeface="Red Hat Text"/>
              </a:rPr>
              <a:t>Health probes stay 200 — protect the app, not its plumbing</a:t>
            </a:r>
          </a:p>
        </p:txBody>
      </p:sp>
      <p:sp>
        <p:nvSpPr>
          <p:cNvPr id="15" name="Rounded Rectangle 14"/>
          <p:cNvSpPr/>
          <p:nvPr/>
        </p:nvSpPr>
        <p:spPr>
          <a:xfrm>
            <a:off x="841248" y="4206240"/>
            <a:ext cx="5715000" cy="530352"/>
          </a:xfrm>
          <a:prstGeom prst="roundRect">
            <a:avLst>
              <a:gd name="adj" fmla="val 6000"/>
            </a:avLst>
          </a:prstGeom>
          <a:solidFill>
            <a:srgbClr val="F5F6F8"/>
          </a:solidFill>
          <a:ln w="12700">
            <a:solidFill>
              <a:srgbClr val="DDE1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6" name="Picture 15" descr="check_steel.png"/>
          <p:cNvPicPr>
            <a:picLocks noChangeAspect="1"/>
          </p:cNvPicPr>
          <p:nvPr/>
        </p:nvPicPr>
        <p:blipFill>
          <a:blip r:embed="rId3"/>
          <a:stretch>
            <a:fillRect/>
          </a:stretch>
        </p:blipFill>
        <p:spPr>
          <a:xfrm>
            <a:off x="987552" y="4352544"/>
            <a:ext cx="237744" cy="237744"/>
          </a:xfrm>
          <a:prstGeom prst="rect">
            <a:avLst/>
          </a:prstGeom>
        </p:spPr>
      </p:pic>
      <p:sp>
        <p:nvSpPr>
          <p:cNvPr id="17" name="TextBox 16"/>
          <p:cNvSpPr txBox="1"/>
          <p:nvPr/>
        </p:nvSpPr>
        <p:spPr>
          <a:xfrm>
            <a:off x="1353312" y="4206240"/>
            <a:ext cx="5029200" cy="530352"/>
          </a:xfrm>
          <a:prstGeom prst="rect">
            <a:avLst/>
          </a:prstGeom>
          <a:noFill/>
        </p:spPr>
        <p:txBody>
          <a:bodyPr wrap="square" anchor="ctr" lIns="0" rIns="0" tIns="0" bIns="0">
            <a:spAutoFit/>
          </a:bodyPr>
          <a:lstStyle/>
          <a:p>
            <a:pPr algn="l">
              <a:lnSpc>
                <a:spcPct val="106000"/>
              </a:lnSpc>
              <a:spcBef>
                <a:spcPts val="0"/>
              </a:spcBef>
              <a:spcAft>
                <a:spcPts val="0"/>
              </a:spcAft>
            </a:pPr>
            <a:r>
              <a:rPr sz="1200" b="0">
                <a:solidFill>
                  <a:srgbClr val="1A1A1A"/>
                </a:solidFill>
                <a:latin typeface="Red Hat Text"/>
              </a:rPr>
              <a:t>The role resolved from `realm_access.roles` — the one mapping that matters</a:t>
            </a:r>
          </a:p>
        </p:txBody>
      </p:sp>
      <p:sp>
        <p:nvSpPr>
          <p:cNvPr id="18" name="Rounded Rectangle 17"/>
          <p:cNvSpPr/>
          <p:nvPr/>
        </p:nvSpPr>
        <p:spPr>
          <a:xfrm>
            <a:off x="841248" y="4809744"/>
            <a:ext cx="5715000" cy="530352"/>
          </a:xfrm>
          <a:prstGeom prst="roundRect">
            <a:avLst>
              <a:gd name="adj" fmla="val 6000"/>
            </a:avLst>
          </a:prstGeom>
          <a:solidFill>
            <a:srgbClr val="F5F6F8"/>
          </a:solidFill>
          <a:ln w="12700">
            <a:solidFill>
              <a:srgbClr val="DDE1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9" name="Picture 18" descr="check_steel.png"/>
          <p:cNvPicPr>
            <a:picLocks noChangeAspect="1"/>
          </p:cNvPicPr>
          <p:nvPr/>
        </p:nvPicPr>
        <p:blipFill>
          <a:blip r:embed="rId3"/>
          <a:stretch>
            <a:fillRect/>
          </a:stretch>
        </p:blipFill>
        <p:spPr>
          <a:xfrm>
            <a:off x="987552" y="4956048"/>
            <a:ext cx="237744" cy="237744"/>
          </a:xfrm>
          <a:prstGeom prst="rect">
            <a:avLst/>
          </a:prstGeom>
        </p:spPr>
      </p:pic>
      <p:sp>
        <p:nvSpPr>
          <p:cNvPr id="20" name="TextBox 19"/>
          <p:cNvSpPr txBox="1"/>
          <p:nvPr/>
        </p:nvSpPr>
        <p:spPr>
          <a:xfrm>
            <a:off x="1353312" y="4809744"/>
            <a:ext cx="5029200" cy="530352"/>
          </a:xfrm>
          <a:prstGeom prst="rect">
            <a:avLst/>
          </a:prstGeom>
          <a:noFill/>
        </p:spPr>
        <p:txBody>
          <a:bodyPr wrap="square" anchor="ctr" lIns="0" rIns="0" tIns="0" bIns="0">
            <a:spAutoFit/>
          </a:bodyPr>
          <a:lstStyle/>
          <a:p>
            <a:pPr algn="l">
              <a:lnSpc>
                <a:spcPct val="106000"/>
              </a:lnSpc>
              <a:spcBef>
                <a:spcPts val="0"/>
              </a:spcBef>
              <a:spcAft>
                <a:spcPts val="0"/>
              </a:spcAft>
            </a:pPr>
            <a:r>
              <a:rPr sz="1200" b="0">
                <a:solidFill>
                  <a:srgbClr val="1A1A1A"/>
                </a:solidFill>
                <a:latin typeface="Red Hat Text"/>
              </a:rPr>
              <a:t>Authentication *and* authorization, on screen, in four minutes</a:t>
            </a:r>
          </a:p>
        </p:txBody>
      </p:sp>
      <p:sp>
        <p:nvSpPr>
          <p:cNvPr id="21" name="Rounded Rectangle 20"/>
          <p:cNvSpPr/>
          <p:nvPr/>
        </p:nvSpPr>
        <p:spPr>
          <a:xfrm>
            <a:off x="6812280" y="2395728"/>
            <a:ext cx="4538167" cy="2944368"/>
          </a:xfrm>
          <a:prstGeom prst="roundRect">
            <a:avLst>
              <a:gd name="adj" fmla="val 4000"/>
            </a:avLst>
          </a:prstGeom>
          <a:solidFill>
            <a:srgbClr val="FFFFFF"/>
          </a:solidFill>
          <a:ln w="15240">
            <a:solidFill>
              <a:srgbClr val="DDE1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ounded Rectangle 21"/>
          <p:cNvSpPr/>
          <p:nvPr/>
        </p:nvSpPr>
        <p:spPr>
          <a:xfrm>
            <a:off x="7013448" y="2596896"/>
            <a:ext cx="1298448" cy="310896"/>
          </a:xfrm>
          <a:prstGeom prst="roundRect">
            <a:avLst>
              <a:gd name="adj" fmla="val 50000"/>
            </a:avLst>
          </a:prstGeom>
          <a:solidFill>
            <a:srgbClr val="FCEC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7013448" y="2596896"/>
            <a:ext cx="1298448" cy="310896"/>
          </a:xfrm>
          <a:prstGeom prst="rect">
            <a:avLst/>
          </a:prstGeom>
          <a:noFill/>
        </p:spPr>
        <p:txBody>
          <a:bodyPr wrap="none" anchor="ctr" lIns="0" rIns="0" tIns="0" bIns="0">
            <a:spAutoFit/>
          </a:bodyPr>
          <a:lstStyle/>
          <a:p>
            <a:pPr algn="ctr">
              <a:lnSpc>
                <a:spcPct val="106000"/>
              </a:lnSpc>
              <a:spcBef>
                <a:spcPts val="0"/>
              </a:spcBef>
              <a:spcAft>
                <a:spcPts val="0"/>
              </a:spcAft>
            </a:pPr>
            <a:r>
              <a:rPr sz="850" b="1">
                <a:solidFill>
                  <a:srgbClr val="B80000"/>
                </a:solidFill>
                <a:latin typeface="Red Hat Display"/>
              </a:rPr>
              <a:t>MEDIA PASS</a:t>
            </a:r>
          </a:p>
        </p:txBody>
      </p:sp>
      <p:pic>
        <p:nvPicPr>
          <p:cNvPr id="24" name="Picture 23" descr="eye_slate.png"/>
          <p:cNvPicPr>
            <a:picLocks noChangeAspect="1"/>
          </p:cNvPicPr>
          <p:nvPr/>
        </p:nvPicPr>
        <p:blipFill>
          <a:blip r:embed="rId4"/>
          <a:stretch>
            <a:fillRect/>
          </a:stretch>
        </p:blipFill>
        <p:spPr>
          <a:xfrm>
            <a:off x="8843619" y="3108960"/>
            <a:ext cx="475488" cy="475488"/>
          </a:xfrm>
          <a:prstGeom prst="rect">
            <a:avLst/>
          </a:prstGeom>
        </p:spPr>
      </p:pic>
      <p:sp>
        <p:nvSpPr>
          <p:cNvPr id="25" name="TextBox 24"/>
          <p:cNvSpPr txBox="1"/>
          <p:nvPr/>
        </p:nvSpPr>
        <p:spPr>
          <a:xfrm>
            <a:off x="7050024" y="3721608"/>
            <a:ext cx="4062679" cy="1481328"/>
          </a:xfrm>
          <a:prstGeom prst="rect">
            <a:avLst/>
          </a:prstGeom>
          <a:noFill/>
        </p:spPr>
        <p:txBody>
          <a:bodyPr wrap="square" anchor="t" lIns="0" rIns="0" tIns="0" bIns="0">
            <a:spAutoFit/>
          </a:bodyPr>
          <a:lstStyle/>
          <a:p>
            <a:pPr algn="l">
              <a:lnSpc>
                <a:spcPct val="120000"/>
              </a:lnSpc>
              <a:spcBef>
                <a:spcPts val="0"/>
              </a:spcBef>
              <a:spcAft>
                <a:spcPts val="0"/>
              </a:spcAft>
            </a:pPr>
            <a:r>
              <a:rPr sz="950" b="0">
                <a:solidFill>
                  <a:srgbClr val="8A9099"/>
                </a:solidFill>
                <a:latin typeface="Red Hat Text"/>
              </a:rPr>
              <a:t>A terminal-style panel with three lines lighting up: `no token → 401` (red), `adjuster → 200` (green), `viewer → 403` (amber).</a:t>
            </a:r>
          </a:p>
        </p:txBody>
      </p:sp>
      <p:cxnSp>
        <p:nvCxnSpPr>
          <p:cNvPr id="26" name="Connector 25"/>
          <p:cNvCxnSpPr/>
          <p:nvPr/>
        </p:nvCxnSpPr>
        <p:spPr>
          <a:xfrm>
            <a:off x="841248" y="6437376"/>
            <a:ext cx="10509199" cy="0"/>
          </a:xfrm>
          <a:prstGeom prst="bentConnector3">
            <a:avLst/>
          </a:prstGeom>
          <a:ln w="12700">
            <a:solidFill>
              <a:srgbClr val="DDE1E6"/>
            </a:solidFill>
          </a:ln>
          <a:effectLst/>
        </p:spPr>
        <p:style>
          <a:lnRef idx="2">
            <a:schemeClr val="accent1"/>
          </a:lnRef>
          <a:fillRef idx="0">
            <a:schemeClr val="accent1"/>
          </a:fillRef>
          <a:effectRef idx="1">
            <a:schemeClr val="accent1"/>
          </a:effectRef>
          <a:fontRef idx="minor">
            <a:schemeClr val="tx1"/>
          </a:fontRef>
        </p:style>
      </p:cxnSp>
      <p:sp>
        <p:nvSpPr>
          <p:cNvPr id="27" name="TextBox 26"/>
          <p:cNvSpPr txBox="1"/>
          <p:nvPr/>
        </p:nvSpPr>
        <p:spPr>
          <a:xfrm>
            <a:off x="841248" y="6473952"/>
            <a:ext cx="7315200" cy="274320"/>
          </a:xfrm>
          <a:prstGeom prst="rect">
            <a:avLst/>
          </a:prstGeom>
          <a:noFill/>
        </p:spPr>
        <p:txBody>
          <a:bodyPr wrap="square" anchor="t" lIns="0" rIns="0" tIns="0" bIns="0">
            <a:spAutoFit/>
          </a:bodyPr>
          <a:lstStyle/>
          <a:p>
            <a:pPr algn="l">
              <a:lnSpc>
                <a:spcPct val="106000"/>
              </a:lnSpc>
              <a:spcBef>
                <a:spcPts val="0"/>
              </a:spcBef>
              <a:spcAft>
                <a:spcPts val="0"/>
              </a:spcAft>
            </a:pPr>
            <a:r>
              <a:rPr sz="950" b="0">
                <a:solidFill>
                  <a:srgbClr val="8A9099"/>
                </a:solidFill>
                <a:latin typeface="Red Hat Text"/>
              </a:rPr>
              <a:t>CONFIDENTIAL</a:t>
            </a:r>
          </a:p>
        </p:txBody>
      </p:sp>
      <p:sp>
        <p:nvSpPr>
          <p:cNvPr id="28" name="TextBox 27"/>
          <p:cNvSpPr txBox="1"/>
          <p:nvPr/>
        </p:nvSpPr>
        <p:spPr>
          <a:xfrm>
            <a:off x="10801807" y="6473952"/>
            <a:ext cx="548640" cy="274320"/>
          </a:xfrm>
          <a:prstGeom prst="rect">
            <a:avLst/>
          </a:prstGeom>
          <a:noFill/>
        </p:spPr>
        <p:txBody>
          <a:bodyPr wrap="square" anchor="t" lIns="0" rIns="0" tIns="0" bIns="0">
            <a:spAutoFit/>
          </a:bodyPr>
          <a:lstStyle/>
          <a:p>
            <a:pPr algn="r">
              <a:lnSpc>
                <a:spcPct val="106000"/>
              </a:lnSpc>
              <a:spcBef>
                <a:spcPts val="0"/>
              </a:spcBef>
              <a:spcAft>
                <a:spcPts val="0"/>
              </a:spcAft>
            </a:pPr>
            <a:r>
              <a:rPr sz="950" b="0">
                <a:solidFill>
                  <a:srgbClr val="8A9099"/>
                </a:solidFill>
                <a:latin typeface="Red Hat Text"/>
              </a:rPr>
              <a:t>101</a:t>
            </a:r>
          </a:p>
        </p:txBody>
      </p:sp>
    </p:spTree>
  </p:cSld>
  <p:clrMapOvr>
    <a:masterClrMapping/>
  </p:clrMapOvr>
</p:sld>
</file>

<file path=ppt/slides/slide1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redhat_logo.jpg"/>
          <p:cNvPicPr>
            <a:picLocks noChangeAspect="1"/>
          </p:cNvPicPr>
          <p:nvPr/>
        </p:nvPicPr>
        <p:blipFill>
          <a:blip r:embed="rId2"/>
          <a:stretch>
            <a:fillRect/>
          </a:stretch>
        </p:blipFill>
        <p:spPr>
          <a:xfrm>
            <a:off x="10326319" y="475488"/>
            <a:ext cx="1024128" cy="242248"/>
          </a:xfrm>
          <a:prstGeom prst="rect">
            <a:avLst/>
          </a:prstGeom>
        </p:spPr>
      </p:pic>
      <p:sp>
        <p:nvSpPr>
          <p:cNvPr id="3" name="TextBox 2"/>
          <p:cNvSpPr txBox="1"/>
          <p:nvPr/>
        </p:nvSpPr>
        <p:spPr>
          <a:xfrm>
            <a:off x="841248" y="548640"/>
            <a:ext cx="8595360" cy="274320"/>
          </a:xfrm>
          <a:prstGeom prst="rect">
            <a:avLst/>
          </a:prstGeom>
          <a:noFill/>
        </p:spPr>
        <p:txBody>
          <a:bodyPr wrap="square" anchor="t" lIns="0" rIns="0" tIns="0" bIns="0">
            <a:spAutoFit/>
          </a:bodyPr>
          <a:lstStyle/>
          <a:p>
            <a:pPr algn="l">
              <a:lnSpc>
                <a:spcPct val="106000"/>
              </a:lnSpc>
              <a:spcBef>
                <a:spcPts val="0"/>
              </a:spcBef>
              <a:spcAft>
                <a:spcPts val="0"/>
              </a:spcAft>
            </a:pPr>
            <a:r>
              <a:rPr sz="1250" b="1" spc="220">
                <a:solidFill>
                  <a:srgbClr val="EE0000"/>
                </a:solidFill>
                <a:latin typeface="Red Hat Display"/>
              </a:rPr>
              <a:t>M14 · SECURING APPS WITH KEYCLOAK</a:t>
            </a:r>
          </a:p>
        </p:txBody>
      </p:sp>
      <p:sp>
        <p:nvSpPr>
          <p:cNvPr id="4" name="TextBox 3"/>
          <p:cNvSpPr txBox="1"/>
          <p:nvPr/>
        </p:nvSpPr>
        <p:spPr>
          <a:xfrm>
            <a:off x="841248" y="877824"/>
            <a:ext cx="10515600" cy="548640"/>
          </a:xfrm>
          <a:prstGeom prst="rect">
            <a:avLst/>
          </a:prstGeom>
          <a:noFill/>
        </p:spPr>
        <p:txBody>
          <a:bodyPr wrap="none" anchor="t" lIns="0" rIns="0" tIns="0" bIns="0">
            <a:spAutoFit/>
          </a:bodyPr>
          <a:lstStyle/>
          <a:p>
            <a:pPr algn="l">
              <a:lnSpc>
                <a:spcPct val="100000"/>
              </a:lnSpc>
              <a:spcBef>
                <a:spcPts val="0"/>
              </a:spcBef>
              <a:spcAft>
                <a:spcPts val="0"/>
              </a:spcAft>
            </a:pPr>
            <a:r>
              <a:rPr sz="2500" b="1">
                <a:solidFill>
                  <a:srgbClr val="1A1A1A"/>
                </a:solidFill>
                <a:latin typeface="Red Hat Display"/>
              </a:rPr>
              <a:t>Token exchange — delegate without escalating</a:t>
            </a:r>
          </a:p>
        </p:txBody>
      </p:sp>
      <p:cxnSp>
        <p:nvCxnSpPr>
          <p:cNvPr id="5" name="Connector 4"/>
          <p:cNvCxnSpPr/>
          <p:nvPr/>
        </p:nvCxnSpPr>
        <p:spPr>
          <a:xfrm>
            <a:off x="841248" y="1554480"/>
            <a:ext cx="1371600" cy="0"/>
          </a:xfrm>
          <a:prstGeom prst="bentConnector3">
            <a:avLst/>
          </a:prstGeom>
          <a:ln w="31750">
            <a:solidFill>
              <a:srgbClr val="EE0000"/>
            </a:solidFill>
          </a:ln>
          <a:effectLst/>
        </p:spPr>
        <p:style>
          <a:lnRef idx="2">
            <a:schemeClr val="accent1"/>
          </a:lnRef>
          <a:fillRef idx="0">
            <a:schemeClr val="accent1"/>
          </a:fillRef>
          <a:effectRef idx="1">
            <a:schemeClr val="accent1"/>
          </a:effectRef>
          <a:fontRef idx="minor">
            <a:schemeClr val="tx1"/>
          </a:fontRef>
        </p:style>
      </p:cxnSp>
      <p:sp>
        <p:nvSpPr>
          <p:cNvPr id="6" name="Rounded Rectangle 5"/>
          <p:cNvSpPr/>
          <p:nvPr/>
        </p:nvSpPr>
        <p:spPr>
          <a:xfrm>
            <a:off x="841248" y="2395728"/>
            <a:ext cx="5715000" cy="530352"/>
          </a:xfrm>
          <a:prstGeom prst="roundRect">
            <a:avLst>
              <a:gd name="adj" fmla="val 6000"/>
            </a:avLst>
          </a:prstGeom>
          <a:solidFill>
            <a:srgbClr val="F5F6F8"/>
          </a:solidFill>
          <a:ln w="12700">
            <a:solidFill>
              <a:srgbClr val="DDE1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check_steel.png"/>
          <p:cNvPicPr>
            <a:picLocks noChangeAspect="1"/>
          </p:cNvPicPr>
          <p:nvPr/>
        </p:nvPicPr>
        <p:blipFill>
          <a:blip r:embed="rId3"/>
          <a:stretch>
            <a:fillRect/>
          </a:stretch>
        </p:blipFill>
        <p:spPr>
          <a:xfrm>
            <a:off x="987552" y="2542032"/>
            <a:ext cx="237744" cy="237744"/>
          </a:xfrm>
          <a:prstGeom prst="rect">
            <a:avLst/>
          </a:prstGeom>
        </p:spPr>
      </p:pic>
      <p:sp>
        <p:nvSpPr>
          <p:cNvPr id="8" name="TextBox 7"/>
          <p:cNvSpPr txBox="1"/>
          <p:nvPr/>
        </p:nvSpPr>
        <p:spPr>
          <a:xfrm>
            <a:off x="1353312" y="2395728"/>
            <a:ext cx="5029200" cy="530352"/>
          </a:xfrm>
          <a:prstGeom prst="rect">
            <a:avLst/>
          </a:prstGeom>
          <a:noFill/>
        </p:spPr>
        <p:txBody>
          <a:bodyPr wrap="square" anchor="ctr" lIns="0" rIns="0" tIns="0" bIns="0">
            <a:spAutoFit/>
          </a:bodyPr>
          <a:lstStyle/>
          <a:p>
            <a:pPr algn="l">
              <a:lnSpc>
                <a:spcPct val="106000"/>
              </a:lnSpc>
              <a:spcBef>
                <a:spcPts val="0"/>
              </a:spcBef>
              <a:spcAft>
                <a:spcPts val="0"/>
              </a:spcAft>
            </a:pPr>
            <a:r>
              <a:rPr sz="1200" b="0">
                <a:solidFill>
                  <a:srgbClr val="1A1A1A"/>
                </a:solidFill>
                <a:latin typeface="Red Hat Text"/>
              </a:rPr>
              <a:t>Claims must call fraud *as the adjuster* — but the user's token says `aud: parasol-claims`</a:t>
            </a:r>
          </a:p>
        </p:txBody>
      </p:sp>
      <p:sp>
        <p:nvSpPr>
          <p:cNvPr id="9" name="Rounded Rectangle 8"/>
          <p:cNvSpPr/>
          <p:nvPr/>
        </p:nvSpPr>
        <p:spPr>
          <a:xfrm>
            <a:off x="841248" y="2999232"/>
            <a:ext cx="5715000" cy="530352"/>
          </a:xfrm>
          <a:prstGeom prst="roundRect">
            <a:avLst>
              <a:gd name="adj" fmla="val 6000"/>
            </a:avLst>
          </a:prstGeom>
          <a:solidFill>
            <a:srgbClr val="F5F6F8"/>
          </a:solidFill>
          <a:ln w="12700">
            <a:solidFill>
              <a:srgbClr val="DDE1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0" name="Picture 9" descr="check_steel.png"/>
          <p:cNvPicPr>
            <a:picLocks noChangeAspect="1"/>
          </p:cNvPicPr>
          <p:nvPr/>
        </p:nvPicPr>
        <p:blipFill>
          <a:blip r:embed="rId3"/>
          <a:stretch>
            <a:fillRect/>
          </a:stretch>
        </p:blipFill>
        <p:spPr>
          <a:xfrm>
            <a:off x="987552" y="3145536"/>
            <a:ext cx="237744" cy="237744"/>
          </a:xfrm>
          <a:prstGeom prst="rect">
            <a:avLst/>
          </a:prstGeom>
        </p:spPr>
      </p:pic>
      <p:sp>
        <p:nvSpPr>
          <p:cNvPr id="11" name="TextBox 10"/>
          <p:cNvSpPr txBox="1"/>
          <p:nvPr/>
        </p:nvSpPr>
        <p:spPr>
          <a:xfrm>
            <a:off x="1353312" y="2999232"/>
            <a:ext cx="5029200" cy="530352"/>
          </a:xfrm>
          <a:prstGeom prst="rect">
            <a:avLst/>
          </a:prstGeom>
          <a:noFill/>
        </p:spPr>
        <p:txBody>
          <a:bodyPr wrap="square" anchor="ctr" lIns="0" rIns="0" tIns="0" bIns="0">
            <a:spAutoFit/>
          </a:bodyPr>
          <a:lstStyle/>
          <a:p>
            <a:pPr algn="l">
              <a:lnSpc>
                <a:spcPct val="106000"/>
              </a:lnSpc>
              <a:spcBef>
                <a:spcPts val="0"/>
              </a:spcBef>
              <a:spcAft>
                <a:spcPts val="0"/>
              </a:spcAft>
            </a:pPr>
            <a:r>
              <a:rPr sz="1200" b="0">
                <a:solidFill>
                  <a:srgbClr val="1A1A1A"/>
                </a:solidFill>
                <a:latin typeface="Red Hat Text"/>
              </a:rPr>
              <a:t>Standard exchange (RFC 8693): Keycloak re-audiences it to `aud: parasol-fraud`, same user</a:t>
            </a:r>
          </a:p>
        </p:txBody>
      </p:sp>
      <p:sp>
        <p:nvSpPr>
          <p:cNvPr id="12" name="Rounded Rectangle 11"/>
          <p:cNvSpPr/>
          <p:nvPr/>
        </p:nvSpPr>
        <p:spPr>
          <a:xfrm>
            <a:off x="841248" y="3602736"/>
            <a:ext cx="5715000" cy="530352"/>
          </a:xfrm>
          <a:prstGeom prst="roundRect">
            <a:avLst>
              <a:gd name="adj" fmla="val 6000"/>
            </a:avLst>
          </a:prstGeom>
          <a:solidFill>
            <a:srgbClr val="F5F6F8"/>
          </a:solidFill>
          <a:ln w="12700">
            <a:solidFill>
              <a:srgbClr val="DDE1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3" name="Picture 12" descr="check_steel.png"/>
          <p:cNvPicPr>
            <a:picLocks noChangeAspect="1"/>
          </p:cNvPicPr>
          <p:nvPr/>
        </p:nvPicPr>
        <p:blipFill>
          <a:blip r:embed="rId3"/>
          <a:stretch>
            <a:fillRect/>
          </a:stretch>
        </p:blipFill>
        <p:spPr>
          <a:xfrm>
            <a:off x="987552" y="3749040"/>
            <a:ext cx="237744" cy="237744"/>
          </a:xfrm>
          <a:prstGeom prst="rect">
            <a:avLst/>
          </a:prstGeom>
        </p:spPr>
      </p:pic>
      <p:sp>
        <p:nvSpPr>
          <p:cNvPr id="14" name="TextBox 13"/>
          <p:cNvSpPr txBox="1"/>
          <p:nvPr/>
        </p:nvSpPr>
        <p:spPr>
          <a:xfrm>
            <a:off x="1353312" y="3602736"/>
            <a:ext cx="5029200" cy="530352"/>
          </a:xfrm>
          <a:prstGeom prst="rect">
            <a:avLst/>
          </a:prstGeom>
          <a:noFill/>
        </p:spPr>
        <p:txBody>
          <a:bodyPr wrap="square" anchor="ctr" lIns="0" rIns="0" tIns="0" bIns="0">
            <a:spAutoFit/>
          </a:bodyPr>
          <a:lstStyle/>
          <a:p>
            <a:pPr algn="l">
              <a:lnSpc>
                <a:spcPct val="106000"/>
              </a:lnSpc>
              <a:spcBef>
                <a:spcPts val="0"/>
              </a:spcBef>
              <a:spcAft>
                <a:spcPts val="0"/>
              </a:spcAft>
            </a:pPr>
            <a:r>
              <a:rPr sz="1200" b="0">
                <a:solidFill>
                  <a:srgbClr val="1A1A1A"/>
                </a:solidFill>
                <a:latin typeface="Red Hat Text"/>
              </a:rPr>
              <a:t>Wrong-audience token → **401** at fraud; exchanged token → **200**</a:t>
            </a:r>
          </a:p>
        </p:txBody>
      </p:sp>
      <p:sp>
        <p:nvSpPr>
          <p:cNvPr id="15" name="Rounded Rectangle 14"/>
          <p:cNvSpPr/>
          <p:nvPr/>
        </p:nvSpPr>
        <p:spPr>
          <a:xfrm>
            <a:off x="841248" y="4206240"/>
            <a:ext cx="5715000" cy="530352"/>
          </a:xfrm>
          <a:prstGeom prst="roundRect">
            <a:avLst>
              <a:gd name="adj" fmla="val 6000"/>
            </a:avLst>
          </a:prstGeom>
          <a:solidFill>
            <a:srgbClr val="F5F6F8"/>
          </a:solidFill>
          <a:ln w="12700">
            <a:solidFill>
              <a:srgbClr val="DDE1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6" name="Picture 15" descr="check_steel.png"/>
          <p:cNvPicPr>
            <a:picLocks noChangeAspect="1"/>
          </p:cNvPicPr>
          <p:nvPr/>
        </p:nvPicPr>
        <p:blipFill>
          <a:blip r:embed="rId3"/>
          <a:stretch>
            <a:fillRect/>
          </a:stretch>
        </p:blipFill>
        <p:spPr>
          <a:xfrm>
            <a:off x="987552" y="4352544"/>
            <a:ext cx="237744" cy="237744"/>
          </a:xfrm>
          <a:prstGeom prst="rect">
            <a:avLst/>
          </a:prstGeom>
        </p:spPr>
      </p:pic>
      <p:sp>
        <p:nvSpPr>
          <p:cNvPr id="17" name="TextBox 16"/>
          <p:cNvSpPr txBox="1"/>
          <p:nvPr/>
        </p:nvSpPr>
        <p:spPr>
          <a:xfrm>
            <a:off x="1353312" y="4206240"/>
            <a:ext cx="5029200" cy="530352"/>
          </a:xfrm>
          <a:prstGeom prst="rect">
            <a:avLst/>
          </a:prstGeom>
          <a:noFill/>
        </p:spPr>
        <p:txBody>
          <a:bodyPr wrap="square" anchor="ctr" lIns="0" rIns="0" tIns="0" bIns="0">
            <a:spAutoFit/>
          </a:bodyPr>
          <a:lstStyle/>
          <a:p>
            <a:pPr algn="l">
              <a:lnSpc>
                <a:spcPct val="106000"/>
              </a:lnSpc>
              <a:spcBef>
                <a:spcPts val="0"/>
              </a:spcBef>
              <a:spcAft>
                <a:spcPts val="0"/>
              </a:spcAft>
            </a:pPr>
            <a:r>
              <a:rPr sz="1200" b="0">
                <a:solidFill>
                  <a:srgbClr val="1A1A1A"/>
                </a:solidFill>
                <a:latin typeface="Red Hat Text"/>
              </a:rPr>
              <a:t>Try to exchange toward a service claims can't reach → **refused**</a:t>
            </a:r>
          </a:p>
        </p:txBody>
      </p:sp>
      <p:sp>
        <p:nvSpPr>
          <p:cNvPr id="18" name="Rounded Rectangle 17"/>
          <p:cNvSpPr/>
          <p:nvPr/>
        </p:nvSpPr>
        <p:spPr>
          <a:xfrm>
            <a:off x="841248" y="4809744"/>
            <a:ext cx="5715000" cy="530352"/>
          </a:xfrm>
          <a:prstGeom prst="roundRect">
            <a:avLst>
              <a:gd name="adj" fmla="val 6000"/>
            </a:avLst>
          </a:prstGeom>
          <a:solidFill>
            <a:srgbClr val="F5F6F8"/>
          </a:solidFill>
          <a:ln w="12700">
            <a:solidFill>
              <a:srgbClr val="DDE1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9" name="Picture 18" descr="check_steel.png"/>
          <p:cNvPicPr>
            <a:picLocks noChangeAspect="1"/>
          </p:cNvPicPr>
          <p:nvPr/>
        </p:nvPicPr>
        <p:blipFill>
          <a:blip r:embed="rId3"/>
          <a:stretch>
            <a:fillRect/>
          </a:stretch>
        </p:blipFill>
        <p:spPr>
          <a:xfrm>
            <a:off x="987552" y="4956048"/>
            <a:ext cx="237744" cy="237744"/>
          </a:xfrm>
          <a:prstGeom prst="rect">
            <a:avLst/>
          </a:prstGeom>
        </p:spPr>
      </p:pic>
      <p:sp>
        <p:nvSpPr>
          <p:cNvPr id="20" name="TextBox 19"/>
          <p:cNvSpPr txBox="1"/>
          <p:nvPr/>
        </p:nvSpPr>
        <p:spPr>
          <a:xfrm>
            <a:off x="1353312" y="4809744"/>
            <a:ext cx="5029200" cy="530352"/>
          </a:xfrm>
          <a:prstGeom prst="rect">
            <a:avLst/>
          </a:prstGeom>
          <a:noFill/>
        </p:spPr>
        <p:txBody>
          <a:bodyPr wrap="square" anchor="ctr" lIns="0" rIns="0" tIns="0" bIns="0">
            <a:spAutoFit/>
          </a:bodyPr>
          <a:lstStyle/>
          <a:p>
            <a:pPr algn="l">
              <a:lnSpc>
                <a:spcPct val="106000"/>
              </a:lnSpc>
              <a:spcBef>
                <a:spcPts val="0"/>
              </a:spcBef>
              <a:spcAft>
                <a:spcPts val="0"/>
              </a:spcAft>
            </a:pPr>
            <a:r>
              <a:rPr sz="1200" b="0">
                <a:solidFill>
                  <a:srgbClr val="1A1A1A"/>
                </a:solidFill>
                <a:latin typeface="Red Hat Text"/>
              </a:rPr>
              <a:t>The rule: re-audience and downscope, **never escalate**</a:t>
            </a:r>
          </a:p>
        </p:txBody>
      </p:sp>
      <p:sp>
        <p:nvSpPr>
          <p:cNvPr id="21" name="Rounded Rectangle 20"/>
          <p:cNvSpPr/>
          <p:nvPr/>
        </p:nvSpPr>
        <p:spPr>
          <a:xfrm>
            <a:off x="6812280" y="2395728"/>
            <a:ext cx="4538167" cy="2944368"/>
          </a:xfrm>
          <a:prstGeom prst="roundRect">
            <a:avLst>
              <a:gd name="adj" fmla="val 4000"/>
            </a:avLst>
          </a:prstGeom>
          <a:solidFill>
            <a:srgbClr val="FFFFFF"/>
          </a:solidFill>
          <a:ln w="15240">
            <a:solidFill>
              <a:srgbClr val="DDE1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ounded Rectangle 21"/>
          <p:cNvSpPr/>
          <p:nvPr/>
        </p:nvSpPr>
        <p:spPr>
          <a:xfrm>
            <a:off x="7013448" y="2596896"/>
            <a:ext cx="1298448" cy="310896"/>
          </a:xfrm>
          <a:prstGeom prst="roundRect">
            <a:avLst>
              <a:gd name="adj" fmla="val 50000"/>
            </a:avLst>
          </a:prstGeom>
          <a:solidFill>
            <a:srgbClr val="FCEC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7013448" y="2596896"/>
            <a:ext cx="1298448" cy="310896"/>
          </a:xfrm>
          <a:prstGeom prst="rect">
            <a:avLst/>
          </a:prstGeom>
          <a:noFill/>
        </p:spPr>
        <p:txBody>
          <a:bodyPr wrap="none" anchor="ctr" lIns="0" rIns="0" tIns="0" bIns="0">
            <a:spAutoFit/>
          </a:bodyPr>
          <a:lstStyle/>
          <a:p>
            <a:pPr algn="ctr">
              <a:lnSpc>
                <a:spcPct val="106000"/>
              </a:lnSpc>
              <a:spcBef>
                <a:spcPts val="0"/>
              </a:spcBef>
              <a:spcAft>
                <a:spcPts val="0"/>
              </a:spcAft>
            </a:pPr>
            <a:r>
              <a:rPr sz="850" b="1">
                <a:solidFill>
                  <a:srgbClr val="B80000"/>
                </a:solidFill>
                <a:latin typeface="Red Hat Display"/>
              </a:rPr>
              <a:t>MEDIA PASS</a:t>
            </a:r>
          </a:p>
        </p:txBody>
      </p:sp>
      <p:pic>
        <p:nvPicPr>
          <p:cNvPr id="24" name="Picture 23" descr="eye_slate.png"/>
          <p:cNvPicPr>
            <a:picLocks noChangeAspect="1"/>
          </p:cNvPicPr>
          <p:nvPr/>
        </p:nvPicPr>
        <p:blipFill>
          <a:blip r:embed="rId4"/>
          <a:stretch>
            <a:fillRect/>
          </a:stretch>
        </p:blipFill>
        <p:spPr>
          <a:xfrm>
            <a:off x="8843619" y="3108960"/>
            <a:ext cx="475488" cy="475488"/>
          </a:xfrm>
          <a:prstGeom prst="rect">
            <a:avLst/>
          </a:prstGeom>
        </p:spPr>
      </p:pic>
      <p:sp>
        <p:nvSpPr>
          <p:cNvPr id="25" name="TextBox 24"/>
          <p:cNvSpPr txBox="1"/>
          <p:nvPr/>
        </p:nvSpPr>
        <p:spPr>
          <a:xfrm>
            <a:off x="7050024" y="3721608"/>
            <a:ext cx="4062679" cy="1481328"/>
          </a:xfrm>
          <a:prstGeom prst="rect">
            <a:avLst/>
          </a:prstGeom>
          <a:noFill/>
        </p:spPr>
        <p:txBody>
          <a:bodyPr wrap="square" anchor="t" lIns="0" rIns="0" tIns="0" bIns="0">
            <a:spAutoFit/>
          </a:bodyPr>
          <a:lstStyle/>
          <a:p>
            <a:pPr algn="l">
              <a:lnSpc>
                <a:spcPct val="120000"/>
              </a:lnSpc>
              <a:spcBef>
                <a:spcPts val="0"/>
              </a:spcBef>
              <a:spcAft>
                <a:spcPts val="0"/>
              </a:spcAft>
            </a:pPr>
            <a:r>
              <a:rPr sz="950" b="0">
                <a:solidFill>
                  <a:srgbClr val="8A9099"/>
                </a:solidFill>
                <a:latin typeface="Red Hat Text"/>
              </a:rPr>
              <a:t>user token (aud=claims) → [Keycloak exchange] → token (aud=fraud, still adjuster) → fraud 200; a second dashed arrow toward "batch" hitting a red REFUSED wall.</a:t>
            </a:r>
          </a:p>
        </p:txBody>
      </p:sp>
      <p:cxnSp>
        <p:nvCxnSpPr>
          <p:cNvPr id="26" name="Connector 25"/>
          <p:cNvCxnSpPr/>
          <p:nvPr/>
        </p:nvCxnSpPr>
        <p:spPr>
          <a:xfrm>
            <a:off x="841248" y="6437376"/>
            <a:ext cx="10509199" cy="0"/>
          </a:xfrm>
          <a:prstGeom prst="bentConnector3">
            <a:avLst/>
          </a:prstGeom>
          <a:ln w="12700">
            <a:solidFill>
              <a:srgbClr val="DDE1E6"/>
            </a:solidFill>
          </a:ln>
          <a:effectLst/>
        </p:spPr>
        <p:style>
          <a:lnRef idx="2">
            <a:schemeClr val="accent1"/>
          </a:lnRef>
          <a:fillRef idx="0">
            <a:schemeClr val="accent1"/>
          </a:fillRef>
          <a:effectRef idx="1">
            <a:schemeClr val="accent1"/>
          </a:effectRef>
          <a:fontRef idx="minor">
            <a:schemeClr val="tx1"/>
          </a:fontRef>
        </p:style>
      </p:cxnSp>
      <p:sp>
        <p:nvSpPr>
          <p:cNvPr id="27" name="TextBox 26"/>
          <p:cNvSpPr txBox="1"/>
          <p:nvPr/>
        </p:nvSpPr>
        <p:spPr>
          <a:xfrm>
            <a:off x="841248" y="6473952"/>
            <a:ext cx="7315200" cy="274320"/>
          </a:xfrm>
          <a:prstGeom prst="rect">
            <a:avLst/>
          </a:prstGeom>
          <a:noFill/>
        </p:spPr>
        <p:txBody>
          <a:bodyPr wrap="square" anchor="t" lIns="0" rIns="0" tIns="0" bIns="0">
            <a:spAutoFit/>
          </a:bodyPr>
          <a:lstStyle/>
          <a:p>
            <a:pPr algn="l">
              <a:lnSpc>
                <a:spcPct val="106000"/>
              </a:lnSpc>
              <a:spcBef>
                <a:spcPts val="0"/>
              </a:spcBef>
              <a:spcAft>
                <a:spcPts val="0"/>
              </a:spcAft>
            </a:pPr>
            <a:r>
              <a:rPr sz="950" b="0">
                <a:solidFill>
                  <a:srgbClr val="8A9099"/>
                </a:solidFill>
                <a:latin typeface="Red Hat Text"/>
              </a:rPr>
              <a:t>CONFIDENTIAL</a:t>
            </a:r>
          </a:p>
        </p:txBody>
      </p:sp>
      <p:sp>
        <p:nvSpPr>
          <p:cNvPr id="28" name="TextBox 27"/>
          <p:cNvSpPr txBox="1"/>
          <p:nvPr/>
        </p:nvSpPr>
        <p:spPr>
          <a:xfrm>
            <a:off x="10801807" y="6473952"/>
            <a:ext cx="548640" cy="274320"/>
          </a:xfrm>
          <a:prstGeom prst="rect">
            <a:avLst/>
          </a:prstGeom>
          <a:noFill/>
        </p:spPr>
        <p:txBody>
          <a:bodyPr wrap="square" anchor="t" lIns="0" rIns="0" tIns="0" bIns="0">
            <a:spAutoFit/>
          </a:bodyPr>
          <a:lstStyle/>
          <a:p>
            <a:pPr algn="r">
              <a:lnSpc>
                <a:spcPct val="106000"/>
              </a:lnSpc>
              <a:spcBef>
                <a:spcPts val="0"/>
              </a:spcBef>
              <a:spcAft>
                <a:spcPts val="0"/>
              </a:spcAft>
            </a:pPr>
            <a:r>
              <a:rPr sz="950" b="0">
                <a:solidFill>
                  <a:srgbClr val="8A9099"/>
                </a:solidFill>
                <a:latin typeface="Red Hat Text"/>
              </a:rPr>
              <a:t>102</a:t>
            </a:r>
          </a:p>
        </p:txBody>
      </p:sp>
    </p:spTree>
  </p:cSld>
  <p:clrMapOvr>
    <a:masterClrMapping/>
  </p:clrMapOvr>
</p:sld>
</file>

<file path=ppt/slides/slide1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redhat_logo.jpg"/>
          <p:cNvPicPr>
            <a:picLocks noChangeAspect="1"/>
          </p:cNvPicPr>
          <p:nvPr/>
        </p:nvPicPr>
        <p:blipFill>
          <a:blip r:embed="rId2"/>
          <a:stretch>
            <a:fillRect/>
          </a:stretch>
        </p:blipFill>
        <p:spPr>
          <a:xfrm>
            <a:off x="10326319" y="475488"/>
            <a:ext cx="1024128" cy="242248"/>
          </a:xfrm>
          <a:prstGeom prst="rect">
            <a:avLst/>
          </a:prstGeom>
        </p:spPr>
      </p:pic>
      <p:sp>
        <p:nvSpPr>
          <p:cNvPr id="3" name="TextBox 2"/>
          <p:cNvSpPr txBox="1"/>
          <p:nvPr/>
        </p:nvSpPr>
        <p:spPr>
          <a:xfrm>
            <a:off x="841248" y="548640"/>
            <a:ext cx="8595360" cy="274320"/>
          </a:xfrm>
          <a:prstGeom prst="rect">
            <a:avLst/>
          </a:prstGeom>
          <a:noFill/>
        </p:spPr>
        <p:txBody>
          <a:bodyPr wrap="square" anchor="t" lIns="0" rIns="0" tIns="0" bIns="0">
            <a:spAutoFit/>
          </a:bodyPr>
          <a:lstStyle/>
          <a:p>
            <a:pPr algn="l">
              <a:lnSpc>
                <a:spcPct val="106000"/>
              </a:lnSpc>
              <a:spcBef>
                <a:spcPts val="0"/>
              </a:spcBef>
              <a:spcAft>
                <a:spcPts val="0"/>
              </a:spcAft>
            </a:pPr>
            <a:r>
              <a:rPr sz="1250" b="1" spc="220">
                <a:solidFill>
                  <a:srgbClr val="EE0000"/>
                </a:solidFill>
                <a:latin typeface="Red Hat Display"/>
              </a:rPr>
              <a:t>M14 · SECURING APPS WITH KEYCLOAK</a:t>
            </a:r>
          </a:p>
        </p:txBody>
      </p:sp>
      <p:sp>
        <p:nvSpPr>
          <p:cNvPr id="4" name="TextBox 3"/>
          <p:cNvSpPr txBox="1"/>
          <p:nvPr/>
        </p:nvSpPr>
        <p:spPr>
          <a:xfrm>
            <a:off x="841248" y="877824"/>
            <a:ext cx="10515600" cy="548640"/>
          </a:xfrm>
          <a:prstGeom prst="rect">
            <a:avLst/>
          </a:prstGeom>
          <a:noFill/>
        </p:spPr>
        <p:txBody>
          <a:bodyPr wrap="none" anchor="t" lIns="0" rIns="0" tIns="0" bIns="0">
            <a:spAutoFit/>
          </a:bodyPr>
          <a:lstStyle/>
          <a:p>
            <a:pPr algn="l">
              <a:lnSpc>
                <a:spcPct val="100000"/>
              </a:lnSpc>
              <a:spcBef>
                <a:spcPts val="0"/>
              </a:spcBef>
              <a:spcAft>
                <a:spcPts val="0"/>
              </a:spcAft>
            </a:pPr>
            <a:r>
              <a:rPr sz="2500" b="1">
                <a:solidFill>
                  <a:srgbClr val="1A1A1A"/>
                </a:solidFill>
                <a:latin typeface="Red Hat Display"/>
              </a:rPr>
              <a:t>What you built — and it was already yours</a:t>
            </a:r>
          </a:p>
        </p:txBody>
      </p:sp>
      <p:cxnSp>
        <p:nvCxnSpPr>
          <p:cNvPr id="5" name="Connector 4"/>
          <p:cNvCxnSpPr/>
          <p:nvPr/>
        </p:nvCxnSpPr>
        <p:spPr>
          <a:xfrm>
            <a:off x="841248" y="1554480"/>
            <a:ext cx="1371600" cy="0"/>
          </a:xfrm>
          <a:prstGeom prst="bentConnector3">
            <a:avLst/>
          </a:prstGeom>
          <a:ln w="31750">
            <a:solidFill>
              <a:srgbClr val="EE0000"/>
            </a:solidFill>
          </a:ln>
          <a:effectLst/>
        </p:spPr>
        <p:style>
          <a:lnRef idx="2">
            <a:schemeClr val="accent1"/>
          </a:lnRef>
          <a:fillRef idx="0">
            <a:schemeClr val="accent1"/>
          </a:fillRef>
          <a:effectRef idx="1">
            <a:schemeClr val="accent1"/>
          </a:effectRef>
          <a:fontRef idx="minor">
            <a:schemeClr val="tx1"/>
          </a:fontRef>
        </p:style>
      </p:cxnSp>
      <p:sp>
        <p:nvSpPr>
          <p:cNvPr id="6" name="Rounded Rectangle 5"/>
          <p:cNvSpPr/>
          <p:nvPr/>
        </p:nvSpPr>
        <p:spPr>
          <a:xfrm>
            <a:off x="841248" y="2395728"/>
            <a:ext cx="5715000" cy="530352"/>
          </a:xfrm>
          <a:prstGeom prst="roundRect">
            <a:avLst>
              <a:gd name="adj" fmla="val 6000"/>
            </a:avLst>
          </a:prstGeom>
          <a:solidFill>
            <a:srgbClr val="F5F6F8"/>
          </a:solidFill>
          <a:ln w="12700">
            <a:solidFill>
              <a:srgbClr val="DDE1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check_steel.png"/>
          <p:cNvPicPr>
            <a:picLocks noChangeAspect="1"/>
          </p:cNvPicPr>
          <p:nvPr/>
        </p:nvPicPr>
        <p:blipFill>
          <a:blip r:embed="rId3"/>
          <a:stretch>
            <a:fillRect/>
          </a:stretch>
        </p:blipFill>
        <p:spPr>
          <a:xfrm>
            <a:off x="987552" y="2542032"/>
            <a:ext cx="237744" cy="237744"/>
          </a:xfrm>
          <a:prstGeom prst="rect">
            <a:avLst/>
          </a:prstGeom>
        </p:spPr>
      </p:pic>
      <p:sp>
        <p:nvSpPr>
          <p:cNvPr id="8" name="TextBox 7"/>
          <p:cNvSpPr txBox="1"/>
          <p:nvPr/>
        </p:nvSpPr>
        <p:spPr>
          <a:xfrm>
            <a:off x="1353312" y="2395728"/>
            <a:ext cx="5029200" cy="530352"/>
          </a:xfrm>
          <a:prstGeom prst="rect">
            <a:avLst/>
          </a:prstGeom>
          <a:noFill/>
        </p:spPr>
        <p:txBody>
          <a:bodyPr wrap="square" anchor="ctr" lIns="0" rIns="0" tIns="0" bIns="0">
            <a:spAutoFit/>
          </a:bodyPr>
          <a:lstStyle/>
          <a:p>
            <a:pPr algn="l">
              <a:lnSpc>
                <a:spcPct val="106000"/>
              </a:lnSpc>
              <a:spcBef>
                <a:spcPts val="0"/>
              </a:spcBef>
              <a:spcAft>
                <a:spcPts val="0"/>
              </a:spcAft>
            </a:pPr>
            <a:r>
              <a:rPr sz="1200" b="0">
                <a:solidFill>
                  <a:srgbClr val="1A1A1A"/>
                </a:solidFill>
                <a:latin typeface="Red Hat Text"/>
              </a:rPr>
              <a:t>A browser login (auth-code + PKCE), a bearer-protected API with a role check</a:t>
            </a:r>
          </a:p>
        </p:txBody>
      </p:sp>
      <p:sp>
        <p:nvSpPr>
          <p:cNvPr id="9" name="Rounded Rectangle 8"/>
          <p:cNvSpPr/>
          <p:nvPr/>
        </p:nvSpPr>
        <p:spPr>
          <a:xfrm>
            <a:off x="841248" y="2999232"/>
            <a:ext cx="5715000" cy="530352"/>
          </a:xfrm>
          <a:prstGeom prst="roundRect">
            <a:avLst>
              <a:gd name="adj" fmla="val 6000"/>
            </a:avLst>
          </a:prstGeom>
          <a:solidFill>
            <a:srgbClr val="F5F6F8"/>
          </a:solidFill>
          <a:ln w="12700">
            <a:solidFill>
              <a:srgbClr val="DDE1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0" name="Picture 9" descr="check_steel.png"/>
          <p:cNvPicPr>
            <a:picLocks noChangeAspect="1"/>
          </p:cNvPicPr>
          <p:nvPr/>
        </p:nvPicPr>
        <p:blipFill>
          <a:blip r:embed="rId3"/>
          <a:stretch>
            <a:fillRect/>
          </a:stretch>
        </p:blipFill>
        <p:spPr>
          <a:xfrm>
            <a:off x="987552" y="3145536"/>
            <a:ext cx="237744" cy="237744"/>
          </a:xfrm>
          <a:prstGeom prst="rect">
            <a:avLst/>
          </a:prstGeom>
        </p:spPr>
      </p:pic>
      <p:sp>
        <p:nvSpPr>
          <p:cNvPr id="11" name="TextBox 10"/>
          <p:cNvSpPr txBox="1"/>
          <p:nvPr/>
        </p:nvSpPr>
        <p:spPr>
          <a:xfrm>
            <a:off x="1353312" y="2999232"/>
            <a:ext cx="5029200" cy="530352"/>
          </a:xfrm>
          <a:prstGeom prst="rect">
            <a:avLst/>
          </a:prstGeom>
          <a:noFill/>
        </p:spPr>
        <p:txBody>
          <a:bodyPr wrap="square" anchor="ctr" lIns="0" rIns="0" tIns="0" bIns="0">
            <a:spAutoFit/>
          </a:bodyPr>
          <a:lstStyle/>
          <a:p>
            <a:pPr algn="l">
              <a:lnSpc>
                <a:spcPct val="106000"/>
              </a:lnSpc>
              <a:spcBef>
                <a:spcPts val="0"/>
              </a:spcBef>
              <a:spcAft>
                <a:spcPts val="0"/>
              </a:spcAft>
            </a:pPr>
            <a:r>
              <a:rPr sz="1200" b="0">
                <a:solidFill>
                  <a:srgbClr val="1A1A1A"/>
                </a:solidFill>
                <a:latin typeface="Red Hat Text"/>
              </a:rPr>
              <a:t>A machine identity for the batch job; the skill to read a token instead of guessing</a:t>
            </a:r>
          </a:p>
        </p:txBody>
      </p:sp>
      <p:sp>
        <p:nvSpPr>
          <p:cNvPr id="12" name="Rounded Rectangle 11"/>
          <p:cNvSpPr/>
          <p:nvPr/>
        </p:nvSpPr>
        <p:spPr>
          <a:xfrm>
            <a:off x="841248" y="3602736"/>
            <a:ext cx="5715000" cy="530352"/>
          </a:xfrm>
          <a:prstGeom prst="roundRect">
            <a:avLst>
              <a:gd name="adj" fmla="val 6000"/>
            </a:avLst>
          </a:prstGeom>
          <a:solidFill>
            <a:srgbClr val="F5F6F8"/>
          </a:solidFill>
          <a:ln w="12700">
            <a:solidFill>
              <a:srgbClr val="DDE1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3" name="Picture 12" descr="check_steel.png"/>
          <p:cNvPicPr>
            <a:picLocks noChangeAspect="1"/>
          </p:cNvPicPr>
          <p:nvPr/>
        </p:nvPicPr>
        <p:blipFill>
          <a:blip r:embed="rId3"/>
          <a:stretch>
            <a:fillRect/>
          </a:stretch>
        </p:blipFill>
        <p:spPr>
          <a:xfrm>
            <a:off x="987552" y="3749040"/>
            <a:ext cx="237744" cy="237744"/>
          </a:xfrm>
          <a:prstGeom prst="rect">
            <a:avLst/>
          </a:prstGeom>
        </p:spPr>
      </p:pic>
      <p:sp>
        <p:nvSpPr>
          <p:cNvPr id="14" name="TextBox 13"/>
          <p:cNvSpPr txBox="1"/>
          <p:nvPr/>
        </p:nvSpPr>
        <p:spPr>
          <a:xfrm>
            <a:off x="1353312" y="3602736"/>
            <a:ext cx="5029200" cy="530352"/>
          </a:xfrm>
          <a:prstGeom prst="rect">
            <a:avLst/>
          </a:prstGeom>
          <a:noFill/>
        </p:spPr>
        <p:txBody>
          <a:bodyPr wrap="square" anchor="ctr" lIns="0" rIns="0" tIns="0" bIns="0">
            <a:spAutoFit/>
          </a:bodyPr>
          <a:lstStyle/>
          <a:p>
            <a:pPr algn="l">
              <a:lnSpc>
                <a:spcPct val="106000"/>
              </a:lnSpc>
              <a:spcBef>
                <a:spcPts val="0"/>
              </a:spcBef>
              <a:spcAft>
                <a:spcPts val="0"/>
              </a:spcAft>
            </a:pPr>
            <a:r>
              <a:rPr sz="1200" b="0">
                <a:solidFill>
                  <a:srgbClr val="1A1A1A"/>
                </a:solidFill>
                <a:latin typeface="Red Hat Text"/>
              </a:rPr>
              <a:t>A delegation chain that can downscope but never escalate</a:t>
            </a:r>
          </a:p>
        </p:txBody>
      </p:sp>
      <p:sp>
        <p:nvSpPr>
          <p:cNvPr id="15" name="Rounded Rectangle 14"/>
          <p:cNvSpPr/>
          <p:nvPr/>
        </p:nvSpPr>
        <p:spPr>
          <a:xfrm>
            <a:off x="841248" y="4206240"/>
            <a:ext cx="5715000" cy="530352"/>
          </a:xfrm>
          <a:prstGeom prst="roundRect">
            <a:avLst>
              <a:gd name="adj" fmla="val 6000"/>
            </a:avLst>
          </a:prstGeom>
          <a:solidFill>
            <a:srgbClr val="F5F6F8"/>
          </a:solidFill>
          <a:ln w="12700">
            <a:solidFill>
              <a:srgbClr val="DDE1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6" name="Picture 15" descr="check_steel.png"/>
          <p:cNvPicPr>
            <a:picLocks noChangeAspect="1"/>
          </p:cNvPicPr>
          <p:nvPr/>
        </p:nvPicPr>
        <p:blipFill>
          <a:blip r:embed="rId3"/>
          <a:stretch>
            <a:fillRect/>
          </a:stretch>
        </p:blipFill>
        <p:spPr>
          <a:xfrm>
            <a:off x="987552" y="4352544"/>
            <a:ext cx="237744" cy="237744"/>
          </a:xfrm>
          <a:prstGeom prst="rect">
            <a:avLst/>
          </a:prstGeom>
        </p:spPr>
      </p:pic>
      <p:sp>
        <p:nvSpPr>
          <p:cNvPr id="17" name="TextBox 16"/>
          <p:cNvSpPr txBox="1"/>
          <p:nvPr/>
        </p:nvSpPr>
        <p:spPr>
          <a:xfrm>
            <a:off x="1353312" y="4206240"/>
            <a:ext cx="5029200" cy="530352"/>
          </a:xfrm>
          <a:prstGeom prst="rect">
            <a:avLst/>
          </a:prstGeom>
          <a:noFill/>
        </p:spPr>
        <p:txBody>
          <a:bodyPr wrap="square" anchor="ctr" lIns="0" rIns="0" tIns="0" bIns="0">
            <a:spAutoFit/>
          </a:bodyPr>
          <a:lstStyle/>
          <a:p>
            <a:pPr algn="l">
              <a:lnSpc>
                <a:spcPct val="106000"/>
              </a:lnSpc>
              <a:spcBef>
                <a:spcPts val="0"/>
              </a:spcBef>
              <a:spcAft>
                <a:spcPts val="0"/>
              </a:spcAft>
            </a:pPr>
            <a:r>
              <a:rPr sz="1200" b="0">
                <a:solidFill>
                  <a:srgbClr val="1A1A1A"/>
                </a:solidFill>
                <a:latin typeface="Red Hat Text"/>
              </a:rPr>
              <a:t>All on a Keycloak that ships with your subscription — and backs the console login too</a:t>
            </a:r>
          </a:p>
        </p:txBody>
      </p:sp>
      <p:sp>
        <p:nvSpPr>
          <p:cNvPr id="18" name="Rounded Rectangle 17"/>
          <p:cNvSpPr/>
          <p:nvPr/>
        </p:nvSpPr>
        <p:spPr>
          <a:xfrm>
            <a:off x="841248" y="4809744"/>
            <a:ext cx="5715000" cy="530352"/>
          </a:xfrm>
          <a:prstGeom prst="roundRect">
            <a:avLst>
              <a:gd name="adj" fmla="val 6000"/>
            </a:avLst>
          </a:prstGeom>
          <a:solidFill>
            <a:srgbClr val="F5F6F8"/>
          </a:solidFill>
          <a:ln w="12700">
            <a:solidFill>
              <a:srgbClr val="DDE1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9" name="Picture 18" descr="check_steel.png"/>
          <p:cNvPicPr>
            <a:picLocks noChangeAspect="1"/>
          </p:cNvPicPr>
          <p:nvPr/>
        </p:nvPicPr>
        <p:blipFill>
          <a:blip r:embed="rId3"/>
          <a:stretch>
            <a:fillRect/>
          </a:stretch>
        </p:blipFill>
        <p:spPr>
          <a:xfrm>
            <a:off x="987552" y="4956048"/>
            <a:ext cx="237744" cy="237744"/>
          </a:xfrm>
          <a:prstGeom prst="rect">
            <a:avLst/>
          </a:prstGeom>
        </p:spPr>
      </p:pic>
      <p:sp>
        <p:nvSpPr>
          <p:cNvPr id="20" name="TextBox 19"/>
          <p:cNvSpPr txBox="1"/>
          <p:nvPr/>
        </p:nvSpPr>
        <p:spPr>
          <a:xfrm>
            <a:off x="1353312" y="4809744"/>
            <a:ext cx="5029200" cy="530352"/>
          </a:xfrm>
          <a:prstGeom prst="rect">
            <a:avLst/>
          </a:prstGeom>
          <a:noFill/>
        </p:spPr>
        <p:txBody>
          <a:bodyPr wrap="square" anchor="ctr" lIns="0" rIns="0" tIns="0" bIns="0">
            <a:spAutoFit/>
          </a:bodyPr>
          <a:lstStyle/>
          <a:p>
            <a:pPr algn="l">
              <a:lnSpc>
                <a:spcPct val="106000"/>
              </a:lnSpc>
              <a:spcBef>
                <a:spcPts val="0"/>
              </a:spcBef>
              <a:spcAft>
                <a:spcPts val="0"/>
              </a:spcAft>
            </a:pPr>
            <a:r>
              <a:rPr sz="1200" b="0">
                <a:solidFill>
                  <a:srgbClr val="1A1A1A"/>
                </a:solidFill>
                <a:latin typeface="Red Hat Text"/>
              </a:rPr>
              <a:t>"Trusted network" is not a security model; a token you can validate is</a:t>
            </a:r>
          </a:p>
        </p:txBody>
      </p:sp>
      <p:sp>
        <p:nvSpPr>
          <p:cNvPr id="21" name="Rounded Rectangle 20"/>
          <p:cNvSpPr/>
          <p:nvPr/>
        </p:nvSpPr>
        <p:spPr>
          <a:xfrm>
            <a:off x="6812280" y="2395728"/>
            <a:ext cx="4538167" cy="2944368"/>
          </a:xfrm>
          <a:prstGeom prst="roundRect">
            <a:avLst>
              <a:gd name="adj" fmla="val 4000"/>
            </a:avLst>
          </a:prstGeom>
          <a:solidFill>
            <a:srgbClr val="FFFFFF"/>
          </a:solidFill>
          <a:ln w="15240">
            <a:solidFill>
              <a:srgbClr val="DDE1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ounded Rectangle 21"/>
          <p:cNvSpPr/>
          <p:nvPr/>
        </p:nvSpPr>
        <p:spPr>
          <a:xfrm>
            <a:off x="7013448" y="2596896"/>
            <a:ext cx="1298448" cy="310896"/>
          </a:xfrm>
          <a:prstGeom prst="roundRect">
            <a:avLst>
              <a:gd name="adj" fmla="val 50000"/>
            </a:avLst>
          </a:prstGeom>
          <a:solidFill>
            <a:srgbClr val="FCEC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7013448" y="2596896"/>
            <a:ext cx="1298448" cy="310896"/>
          </a:xfrm>
          <a:prstGeom prst="rect">
            <a:avLst/>
          </a:prstGeom>
          <a:noFill/>
        </p:spPr>
        <p:txBody>
          <a:bodyPr wrap="none" anchor="ctr" lIns="0" rIns="0" tIns="0" bIns="0">
            <a:spAutoFit/>
          </a:bodyPr>
          <a:lstStyle/>
          <a:p>
            <a:pPr algn="ctr">
              <a:lnSpc>
                <a:spcPct val="106000"/>
              </a:lnSpc>
              <a:spcBef>
                <a:spcPts val="0"/>
              </a:spcBef>
              <a:spcAft>
                <a:spcPts val="0"/>
              </a:spcAft>
            </a:pPr>
            <a:r>
              <a:rPr sz="850" b="1">
                <a:solidFill>
                  <a:srgbClr val="B80000"/>
                </a:solidFill>
                <a:latin typeface="Red Hat Display"/>
              </a:rPr>
              <a:t>MEDIA PASS</a:t>
            </a:r>
          </a:p>
        </p:txBody>
      </p:sp>
      <p:pic>
        <p:nvPicPr>
          <p:cNvPr id="24" name="Picture 23" descr="eye_slate.png"/>
          <p:cNvPicPr>
            <a:picLocks noChangeAspect="1"/>
          </p:cNvPicPr>
          <p:nvPr/>
        </p:nvPicPr>
        <p:blipFill>
          <a:blip r:embed="rId4"/>
          <a:stretch>
            <a:fillRect/>
          </a:stretch>
        </p:blipFill>
        <p:spPr>
          <a:xfrm>
            <a:off x="8843619" y="3108960"/>
            <a:ext cx="475488" cy="475488"/>
          </a:xfrm>
          <a:prstGeom prst="rect">
            <a:avLst/>
          </a:prstGeom>
        </p:spPr>
      </p:pic>
      <p:sp>
        <p:nvSpPr>
          <p:cNvPr id="25" name="TextBox 24"/>
          <p:cNvSpPr txBox="1"/>
          <p:nvPr/>
        </p:nvSpPr>
        <p:spPr>
          <a:xfrm>
            <a:off x="7050024" y="3721608"/>
            <a:ext cx="4062679" cy="1481328"/>
          </a:xfrm>
          <a:prstGeom prst="rect">
            <a:avLst/>
          </a:prstGeom>
          <a:noFill/>
        </p:spPr>
        <p:txBody>
          <a:bodyPr wrap="square" anchor="t" lIns="0" rIns="0" tIns="0" bIns="0">
            <a:spAutoFit/>
          </a:bodyPr>
          <a:lstStyle/>
          <a:p>
            <a:pPr algn="l">
              <a:lnSpc>
                <a:spcPct val="120000"/>
              </a:lnSpc>
              <a:spcBef>
                <a:spcPts val="0"/>
              </a:spcBef>
              <a:spcAft>
                <a:spcPts val="0"/>
              </a:spcAft>
            </a:pPr>
            <a:r>
              <a:rPr sz="950" b="0">
                <a:solidFill>
                  <a:srgbClr val="8A9099"/>
                </a:solidFill>
                <a:latin typeface="Red Hat Text"/>
              </a:rPr>
              <a:t>Concept diagram securing-apps-keycloak-07-what-you-built — Keycloak at center feeding web (login), claims (bearer+role), fraud (exchange), batch (client-creds), all green.</a:t>
            </a:r>
          </a:p>
        </p:txBody>
      </p:sp>
      <p:cxnSp>
        <p:nvCxnSpPr>
          <p:cNvPr id="26" name="Connector 25"/>
          <p:cNvCxnSpPr/>
          <p:nvPr/>
        </p:nvCxnSpPr>
        <p:spPr>
          <a:xfrm>
            <a:off x="841248" y="6437376"/>
            <a:ext cx="10509199" cy="0"/>
          </a:xfrm>
          <a:prstGeom prst="bentConnector3">
            <a:avLst/>
          </a:prstGeom>
          <a:ln w="12700">
            <a:solidFill>
              <a:srgbClr val="DDE1E6"/>
            </a:solidFill>
          </a:ln>
          <a:effectLst/>
        </p:spPr>
        <p:style>
          <a:lnRef idx="2">
            <a:schemeClr val="accent1"/>
          </a:lnRef>
          <a:fillRef idx="0">
            <a:schemeClr val="accent1"/>
          </a:fillRef>
          <a:effectRef idx="1">
            <a:schemeClr val="accent1"/>
          </a:effectRef>
          <a:fontRef idx="minor">
            <a:schemeClr val="tx1"/>
          </a:fontRef>
        </p:style>
      </p:cxnSp>
      <p:sp>
        <p:nvSpPr>
          <p:cNvPr id="27" name="TextBox 26"/>
          <p:cNvSpPr txBox="1"/>
          <p:nvPr/>
        </p:nvSpPr>
        <p:spPr>
          <a:xfrm>
            <a:off x="841248" y="6473952"/>
            <a:ext cx="7315200" cy="274320"/>
          </a:xfrm>
          <a:prstGeom prst="rect">
            <a:avLst/>
          </a:prstGeom>
          <a:noFill/>
        </p:spPr>
        <p:txBody>
          <a:bodyPr wrap="square" anchor="t" lIns="0" rIns="0" tIns="0" bIns="0">
            <a:spAutoFit/>
          </a:bodyPr>
          <a:lstStyle/>
          <a:p>
            <a:pPr algn="l">
              <a:lnSpc>
                <a:spcPct val="106000"/>
              </a:lnSpc>
              <a:spcBef>
                <a:spcPts val="0"/>
              </a:spcBef>
              <a:spcAft>
                <a:spcPts val="0"/>
              </a:spcAft>
            </a:pPr>
            <a:r>
              <a:rPr sz="950" b="0">
                <a:solidFill>
                  <a:srgbClr val="8A9099"/>
                </a:solidFill>
                <a:latin typeface="Red Hat Text"/>
              </a:rPr>
              <a:t>CONFIDENTIAL</a:t>
            </a:r>
          </a:p>
        </p:txBody>
      </p:sp>
      <p:sp>
        <p:nvSpPr>
          <p:cNvPr id="28" name="TextBox 27"/>
          <p:cNvSpPr txBox="1"/>
          <p:nvPr/>
        </p:nvSpPr>
        <p:spPr>
          <a:xfrm>
            <a:off x="10801807" y="6473952"/>
            <a:ext cx="548640" cy="274320"/>
          </a:xfrm>
          <a:prstGeom prst="rect">
            <a:avLst/>
          </a:prstGeom>
          <a:noFill/>
        </p:spPr>
        <p:txBody>
          <a:bodyPr wrap="square" anchor="t" lIns="0" rIns="0" tIns="0" bIns="0">
            <a:spAutoFit/>
          </a:bodyPr>
          <a:lstStyle/>
          <a:p>
            <a:pPr algn="r">
              <a:lnSpc>
                <a:spcPct val="106000"/>
              </a:lnSpc>
              <a:spcBef>
                <a:spcPts val="0"/>
              </a:spcBef>
              <a:spcAft>
                <a:spcPts val="0"/>
              </a:spcAft>
            </a:pPr>
            <a:r>
              <a:rPr sz="950" b="0">
                <a:solidFill>
                  <a:srgbClr val="8A9099"/>
                </a:solidFill>
                <a:latin typeface="Red Hat Text"/>
              </a:rPr>
              <a:t>103</a:t>
            </a:r>
          </a:p>
        </p:txBody>
      </p:sp>
    </p:spTree>
  </p:cSld>
  <p:clrMapOvr>
    <a:masterClrMapping/>
  </p:clrMapOvr>
</p:sld>
</file>

<file path=ppt/slides/slide1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redhat_logo.jpg"/>
          <p:cNvPicPr>
            <a:picLocks noChangeAspect="1"/>
          </p:cNvPicPr>
          <p:nvPr/>
        </p:nvPicPr>
        <p:blipFill>
          <a:blip r:embed="rId2"/>
          <a:stretch>
            <a:fillRect/>
          </a:stretch>
        </p:blipFill>
        <p:spPr>
          <a:xfrm>
            <a:off x="841248" y="731520"/>
            <a:ext cx="1554480" cy="367699"/>
          </a:xfrm>
          <a:prstGeom prst="rect">
            <a:avLst/>
          </a:prstGeom>
        </p:spPr>
      </p:pic>
      <p:sp>
        <p:nvSpPr>
          <p:cNvPr id="3" name="TextBox 2"/>
          <p:cNvSpPr txBox="1"/>
          <p:nvPr/>
        </p:nvSpPr>
        <p:spPr>
          <a:xfrm>
            <a:off x="841248" y="2514600"/>
            <a:ext cx="9601200" cy="274320"/>
          </a:xfrm>
          <a:prstGeom prst="rect">
            <a:avLst/>
          </a:prstGeom>
          <a:noFill/>
        </p:spPr>
        <p:txBody>
          <a:bodyPr wrap="square" anchor="t" lIns="0" rIns="0" tIns="0" bIns="0">
            <a:spAutoFit/>
          </a:bodyPr>
          <a:lstStyle/>
          <a:p>
            <a:pPr algn="l">
              <a:lnSpc>
                <a:spcPct val="106000"/>
              </a:lnSpc>
              <a:spcBef>
                <a:spcPts val="0"/>
              </a:spcBef>
              <a:spcAft>
                <a:spcPts val="0"/>
              </a:spcAft>
            </a:pPr>
            <a:r>
              <a:rPr sz="1250" b="1" spc="180">
                <a:solidFill>
                  <a:srgbClr val="2E7D32"/>
                </a:solidFill>
                <a:latin typeface="Red Hat Display"/>
              </a:rPr>
              <a:t>C · PLATFORM &amp; TENANCY</a:t>
            </a:r>
          </a:p>
        </p:txBody>
      </p:sp>
      <p:sp>
        <p:nvSpPr>
          <p:cNvPr id="4" name="TextBox 3"/>
          <p:cNvSpPr txBox="1"/>
          <p:nvPr/>
        </p:nvSpPr>
        <p:spPr>
          <a:xfrm>
            <a:off x="841248" y="2880360"/>
            <a:ext cx="2103120" cy="1188720"/>
          </a:xfrm>
          <a:prstGeom prst="rect">
            <a:avLst/>
          </a:prstGeom>
          <a:noFill/>
        </p:spPr>
        <p:txBody>
          <a:bodyPr wrap="none" anchor="t" lIns="0" rIns="0" tIns="0" bIns="0">
            <a:spAutoFit/>
          </a:bodyPr>
          <a:lstStyle/>
          <a:p>
            <a:pPr algn="l">
              <a:lnSpc>
                <a:spcPct val="90000"/>
              </a:lnSpc>
              <a:spcBef>
                <a:spcPts val="0"/>
              </a:spcBef>
              <a:spcAft>
                <a:spcPts val="0"/>
              </a:spcAft>
            </a:pPr>
            <a:r>
              <a:rPr sz="5200" b="1">
                <a:solidFill>
                  <a:srgbClr val="B80000"/>
                </a:solidFill>
                <a:latin typeface="Red Hat Display"/>
              </a:rPr>
              <a:t>M15</a:t>
            </a:r>
          </a:p>
        </p:txBody>
      </p:sp>
      <p:sp>
        <p:nvSpPr>
          <p:cNvPr id="5" name="TextBox 4"/>
          <p:cNvSpPr txBox="1"/>
          <p:nvPr/>
        </p:nvSpPr>
        <p:spPr>
          <a:xfrm>
            <a:off x="3127248" y="2971800"/>
            <a:ext cx="8412480" cy="1188720"/>
          </a:xfrm>
          <a:prstGeom prst="rect">
            <a:avLst/>
          </a:prstGeom>
          <a:noFill/>
        </p:spPr>
        <p:txBody>
          <a:bodyPr wrap="square" anchor="t" lIns="0" rIns="0" tIns="0" bIns="0">
            <a:spAutoFit/>
          </a:bodyPr>
          <a:lstStyle/>
          <a:p>
            <a:pPr algn="l">
              <a:lnSpc>
                <a:spcPct val="102000"/>
              </a:lnSpc>
              <a:spcBef>
                <a:spcPts val="0"/>
              </a:spcBef>
              <a:spcAft>
                <a:spcPts val="0"/>
              </a:spcAft>
            </a:pPr>
            <a:r>
              <a:rPr sz="3000" b="1">
                <a:solidFill>
                  <a:srgbClr val="1A1A1A"/>
                </a:solidFill>
                <a:latin typeface="Red Hat Display"/>
              </a:rPr>
              <a:t>Multi-Tenancy &amp; Workload Security</a:t>
            </a:r>
          </a:p>
        </p:txBody>
      </p:sp>
      <p:cxnSp>
        <p:nvCxnSpPr>
          <p:cNvPr id="6" name="Connector 5"/>
          <p:cNvCxnSpPr/>
          <p:nvPr/>
        </p:nvCxnSpPr>
        <p:spPr>
          <a:xfrm>
            <a:off x="841248" y="4443984"/>
            <a:ext cx="1463040" cy="0"/>
          </a:xfrm>
          <a:prstGeom prst="bentConnector3">
            <a:avLst/>
          </a:prstGeom>
          <a:ln w="38100">
            <a:solidFill>
              <a:srgbClr val="EE0000"/>
            </a:solidFill>
          </a:ln>
          <a:effectLst/>
        </p:spPr>
        <p:style>
          <a:lnRef idx="2">
            <a:schemeClr val="accent1"/>
          </a:lnRef>
          <a:fillRef idx="0">
            <a:schemeClr val="accent1"/>
          </a:fillRef>
          <a:effectRef idx="1">
            <a:schemeClr val="accent1"/>
          </a:effectRef>
          <a:fontRef idx="minor">
            <a:schemeClr val="tx1"/>
          </a:fontRef>
        </p:style>
      </p:cxnSp>
    </p:spTree>
  </p:cSld>
  <p:clrMapOvr>
    <a:masterClrMapping/>
  </p:clrMapOvr>
</p:sld>
</file>

<file path=ppt/slides/slide1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redhat_logo.jpg"/>
          <p:cNvPicPr>
            <a:picLocks noChangeAspect="1"/>
          </p:cNvPicPr>
          <p:nvPr/>
        </p:nvPicPr>
        <p:blipFill>
          <a:blip r:embed="rId2"/>
          <a:stretch>
            <a:fillRect/>
          </a:stretch>
        </p:blipFill>
        <p:spPr>
          <a:xfrm>
            <a:off x="10326319" y="475488"/>
            <a:ext cx="1024128" cy="242248"/>
          </a:xfrm>
          <a:prstGeom prst="rect">
            <a:avLst/>
          </a:prstGeom>
        </p:spPr>
      </p:pic>
      <p:sp>
        <p:nvSpPr>
          <p:cNvPr id="3" name="TextBox 2"/>
          <p:cNvSpPr txBox="1"/>
          <p:nvPr/>
        </p:nvSpPr>
        <p:spPr>
          <a:xfrm>
            <a:off x="841248" y="548640"/>
            <a:ext cx="8595360" cy="274320"/>
          </a:xfrm>
          <a:prstGeom prst="rect">
            <a:avLst/>
          </a:prstGeom>
          <a:noFill/>
        </p:spPr>
        <p:txBody>
          <a:bodyPr wrap="square" anchor="t" lIns="0" rIns="0" tIns="0" bIns="0">
            <a:spAutoFit/>
          </a:bodyPr>
          <a:lstStyle/>
          <a:p>
            <a:pPr algn="l">
              <a:lnSpc>
                <a:spcPct val="106000"/>
              </a:lnSpc>
              <a:spcBef>
                <a:spcPts val="0"/>
              </a:spcBef>
              <a:spcAft>
                <a:spcPts val="0"/>
              </a:spcAft>
            </a:pPr>
            <a:r>
              <a:rPr sz="1250" b="1" spc="220">
                <a:solidFill>
                  <a:srgbClr val="EE0000"/>
                </a:solidFill>
                <a:latin typeface="Red Hat Display"/>
              </a:rPr>
              <a:t>M15 · MULTI-TENANCY &amp; WORKLOAD SECURITY</a:t>
            </a:r>
          </a:p>
        </p:txBody>
      </p:sp>
      <p:sp>
        <p:nvSpPr>
          <p:cNvPr id="4" name="TextBox 3"/>
          <p:cNvSpPr txBox="1"/>
          <p:nvPr/>
        </p:nvSpPr>
        <p:spPr>
          <a:xfrm>
            <a:off x="841248" y="877824"/>
            <a:ext cx="10515600" cy="548640"/>
          </a:xfrm>
          <a:prstGeom prst="rect">
            <a:avLst/>
          </a:prstGeom>
          <a:noFill/>
        </p:spPr>
        <p:txBody>
          <a:bodyPr wrap="none" anchor="t" lIns="0" rIns="0" tIns="0" bIns="0">
            <a:spAutoFit/>
          </a:bodyPr>
          <a:lstStyle/>
          <a:p>
            <a:pPr algn="l">
              <a:lnSpc>
                <a:spcPct val="100000"/>
              </a:lnSpc>
              <a:spcBef>
                <a:spcPts val="0"/>
              </a:spcBef>
              <a:spcAft>
                <a:spcPts val="0"/>
              </a:spcAft>
            </a:pPr>
            <a:r>
              <a:rPr sz="2500" b="1">
                <a:solidFill>
                  <a:srgbClr val="1A1A1A"/>
                </a:solidFill>
                <a:latin typeface="Red Hat Display"/>
              </a:rPr>
              <a:t>A safe sandbox for a team</a:t>
            </a:r>
          </a:p>
        </p:txBody>
      </p:sp>
      <p:cxnSp>
        <p:nvCxnSpPr>
          <p:cNvPr id="5" name="Connector 4"/>
          <p:cNvCxnSpPr/>
          <p:nvPr/>
        </p:nvCxnSpPr>
        <p:spPr>
          <a:xfrm>
            <a:off x="841248" y="1554480"/>
            <a:ext cx="1371600" cy="0"/>
          </a:xfrm>
          <a:prstGeom prst="bentConnector3">
            <a:avLst/>
          </a:prstGeom>
          <a:ln w="31750">
            <a:solidFill>
              <a:srgbClr val="EE0000"/>
            </a:solidFill>
          </a:ln>
          <a:effectLst/>
        </p:spPr>
        <p:style>
          <a:lnRef idx="2">
            <a:schemeClr val="accent1"/>
          </a:lnRef>
          <a:fillRef idx="0">
            <a:schemeClr val="accent1"/>
          </a:fillRef>
          <a:effectRef idx="1">
            <a:schemeClr val="accent1"/>
          </a:effectRef>
          <a:fontRef idx="minor">
            <a:schemeClr val="tx1"/>
          </a:fontRef>
        </p:style>
      </p:cxnSp>
      <p:sp>
        <p:nvSpPr>
          <p:cNvPr id="6" name="Rounded Rectangle 5"/>
          <p:cNvSpPr/>
          <p:nvPr/>
        </p:nvSpPr>
        <p:spPr>
          <a:xfrm>
            <a:off x="841248" y="2395728"/>
            <a:ext cx="5715000" cy="530352"/>
          </a:xfrm>
          <a:prstGeom prst="roundRect">
            <a:avLst>
              <a:gd name="adj" fmla="val 6000"/>
            </a:avLst>
          </a:prstGeom>
          <a:solidFill>
            <a:srgbClr val="F5F6F8"/>
          </a:solidFill>
          <a:ln w="12700">
            <a:solidFill>
              <a:srgbClr val="DDE1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check_steel.png"/>
          <p:cNvPicPr>
            <a:picLocks noChangeAspect="1"/>
          </p:cNvPicPr>
          <p:nvPr/>
        </p:nvPicPr>
        <p:blipFill>
          <a:blip r:embed="rId3"/>
          <a:stretch>
            <a:fillRect/>
          </a:stretch>
        </p:blipFill>
        <p:spPr>
          <a:xfrm>
            <a:off x="987552" y="2542032"/>
            <a:ext cx="237744" cy="237744"/>
          </a:xfrm>
          <a:prstGeom prst="rect">
            <a:avLst/>
          </a:prstGeom>
        </p:spPr>
      </p:pic>
      <p:sp>
        <p:nvSpPr>
          <p:cNvPr id="8" name="TextBox 7"/>
          <p:cNvSpPr txBox="1"/>
          <p:nvPr/>
        </p:nvSpPr>
        <p:spPr>
          <a:xfrm>
            <a:off x="1353312" y="2395728"/>
            <a:ext cx="5029200" cy="530352"/>
          </a:xfrm>
          <a:prstGeom prst="rect">
            <a:avLst/>
          </a:prstGeom>
          <a:noFill/>
        </p:spPr>
        <p:txBody>
          <a:bodyPr wrap="square" anchor="ctr" lIns="0" rIns="0" tIns="0" bIns="0">
            <a:spAutoFit/>
          </a:bodyPr>
          <a:lstStyle/>
          <a:p>
            <a:pPr algn="l">
              <a:lnSpc>
                <a:spcPct val="106000"/>
              </a:lnSpc>
              <a:spcBef>
                <a:spcPts val="0"/>
              </a:spcBef>
              <a:spcAft>
                <a:spcPts val="0"/>
              </a:spcAft>
            </a:pPr>
            <a:r>
              <a:rPr sz="1200" b="0">
                <a:solidFill>
                  <a:srgbClr val="1A1A1A"/>
                </a:solidFill>
                <a:latin typeface="Red Hat Text"/>
              </a:rPr>
              <a:t>Parasol stands up a payments team</a:t>
            </a:r>
          </a:p>
        </p:txBody>
      </p:sp>
      <p:sp>
        <p:nvSpPr>
          <p:cNvPr id="9" name="Rounded Rectangle 8"/>
          <p:cNvSpPr/>
          <p:nvPr/>
        </p:nvSpPr>
        <p:spPr>
          <a:xfrm>
            <a:off x="841248" y="2999232"/>
            <a:ext cx="5715000" cy="530352"/>
          </a:xfrm>
          <a:prstGeom prst="roundRect">
            <a:avLst>
              <a:gd name="adj" fmla="val 6000"/>
            </a:avLst>
          </a:prstGeom>
          <a:solidFill>
            <a:srgbClr val="F5F6F8"/>
          </a:solidFill>
          <a:ln w="12700">
            <a:solidFill>
              <a:srgbClr val="DDE1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0" name="Picture 9" descr="check_steel.png"/>
          <p:cNvPicPr>
            <a:picLocks noChangeAspect="1"/>
          </p:cNvPicPr>
          <p:nvPr/>
        </p:nvPicPr>
        <p:blipFill>
          <a:blip r:embed="rId3"/>
          <a:stretch>
            <a:fillRect/>
          </a:stretch>
        </p:blipFill>
        <p:spPr>
          <a:xfrm>
            <a:off x="987552" y="3145536"/>
            <a:ext cx="237744" cy="237744"/>
          </a:xfrm>
          <a:prstGeom prst="rect">
            <a:avLst/>
          </a:prstGeom>
        </p:spPr>
      </p:pic>
      <p:sp>
        <p:nvSpPr>
          <p:cNvPr id="11" name="TextBox 10"/>
          <p:cNvSpPr txBox="1"/>
          <p:nvPr/>
        </p:nvSpPr>
        <p:spPr>
          <a:xfrm>
            <a:off x="1353312" y="2999232"/>
            <a:ext cx="5029200" cy="530352"/>
          </a:xfrm>
          <a:prstGeom prst="rect">
            <a:avLst/>
          </a:prstGeom>
          <a:noFill/>
        </p:spPr>
        <p:txBody>
          <a:bodyPr wrap="square" anchor="ctr" lIns="0" rIns="0" tIns="0" bIns="0">
            <a:spAutoFit/>
          </a:bodyPr>
          <a:lstStyle/>
          <a:p>
            <a:pPr algn="l">
              <a:lnSpc>
                <a:spcPct val="106000"/>
              </a:lnSpc>
              <a:spcBef>
                <a:spcPts val="0"/>
              </a:spcBef>
              <a:spcAft>
                <a:spcPts val="0"/>
              </a:spcAft>
            </a:pPr>
            <a:r>
              <a:rPr sz="1200" b="0">
                <a:solidFill>
                  <a:srgbClr val="1A1A1A"/>
                </a:solidFill>
                <a:latin typeface="Red Hat Text"/>
              </a:rPr>
              <a:t>Three environments: dev, stage, prod</a:t>
            </a:r>
          </a:p>
        </p:txBody>
      </p:sp>
      <p:sp>
        <p:nvSpPr>
          <p:cNvPr id="12" name="Rounded Rectangle 11"/>
          <p:cNvSpPr/>
          <p:nvPr/>
        </p:nvSpPr>
        <p:spPr>
          <a:xfrm>
            <a:off x="841248" y="3602736"/>
            <a:ext cx="5715000" cy="530352"/>
          </a:xfrm>
          <a:prstGeom prst="roundRect">
            <a:avLst>
              <a:gd name="adj" fmla="val 6000"/>
            </a:avLst>
          </a:prstGeom>
          <a:solidFill>
            <a:srgbClr val="F5F6F8"/>
          </a:solidFill>
          <a:ln w="12700">
            <a:solidFill>
              <a:srgbClr val="DDE1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3" name="Picture 12" descr="check_steel.png"/>
          <p:cNvPicPr>
            <a:picLocks noChangeAspect="1"/>
          </p:cNvPicPr>
          <p:nvPr/>
        </p:nvPicPr>
        <p:blipFill>
          <a:blip r:embed="rId3"/>
          <a:stretch>
            <a:fillRect/>
          </a:stretch>
        </p:blipFill>
        <p:spPr>
          <a:xfrm>
            <a:off x="987552" y="3749040"/>
            <a:ext cx="237744" cy="237744"/>
          </a:xfrm>
          <a:prstGeom prst="rect">
            <a:avLst/>
          </a:prstGeom>
        </p:spPr>
      </p:pic>
      <p:sp>
        <p:nvSpPr>
          <p:cNvPr id="14" name="TextBox 13"/>
          <p:cNvSpPr txBox="1"/>
          <p:nvPr/>
        </p:nvSpPr>
        <p:spPr>
          <a:xfrm>
            <a:off x="1353312" y="3602736"/>
            <a:ext cx="5029200" cy="530352"/>
          </a:xfrm>
          <a:prstGeom prst="rect">
            <a:avLst/>
          </a:prstGeom>
          <a:noFill/>
        </p:spPr>
        <p:txBody>
          <a:bodyPr wrap="square" anchor="ctr" lIns="0" rIns="0" tIns="0" bIns="0">
            <a:spAutoFit/>
          </a:bodyPr>
          <a:lstStyle/>
          <a:p>
            <a:pPr algn="l">
              <a:lnSpc>
                <a:spcPct val="106000"/>
              </a:lnSpc>
              <a:spcBef>
                <a:spcPts val="0"/>
              </a:spcBef>
              <a:spcAft>
                <a:spcPts val="0"/>
              </a:spcAft>
            </a:pPr>
            <a:r>
              <a:rPr sz="1200" b="0">
                <a:solidFill>
                  <a:srgbClr val="1A1A1A"/>
                </a:solidFill>
                <a:latin typeface="Red Hat Text"/>
              </a:rPr>
              <a:t>Teammates + a CI robot need access</a:t>
            </a:r>
          </a:p>
        </p:txBody>
      </p:sp>
      <p:sp>
        <p:nvSpPr>
          <p:cNvPr id="15" name="Rounded Rectangle 14"/>
          <p:cNvSpPr/>
          <p:nvPr/>
        </p:nvSpPr>
        <p:spPr>
          <a:xfrm>
            <a:off x="841248" y="4206240"/>
            <a:ext cx="5715000" cy="530352"/>
          </a:xfrm>
          <a:prstGeom prst="roundRect">
            <a:avLst>
              <a:gd name="adj" fmla="val 6000"/>
            </a:avLst>
          </a:prstGeom>
          <a:solidFill>
            <a:srgbClr val="F5F6F8"/>
          </a:solidFill>
          <a:ln w="12700">
            <a:solidFill>
              <a:srgbClr val="DDE1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6" name="Picture 15" descr="check_steel.png"/>
          <p:cNvPicPr>
            <a:picLocks noChangeAspect="1"/>
          </p:cNvPicPr>
          <p:nvPr/>
        </p:nvPicPr>
        <p:blipFill>
          <a:blip r:embed="rId3"/>
          <a:stretch>
            <a:fillRect/>
          </a:stretch>
        </p:blipFill>
        <p:spPr>
          <a:xfrm>
            <a:off x="987552" y="4352544"/>
            <a:ext cx="237744" cy="237744"/>
          </a:xfrm>
          <a:prstGeom prst="rect">
            <a:avLst/>
          </a:prstGeom>
        </p:spPr>
      </p:pic>
      <p:sp>
        <p:nvSpPr>
          <p:cNvPr id="17" name="TextBox 16"/>
          <p:cNvSpPr txBox="1"/>
          <p:nvPr/>
        </p:nvSpPr>
        <p:spPr>
          <a:xfrm>
            <a:off x="1353312" y="4206240"/>
            <a:ext cx="5029200" cy="530352"/>
          </a:xfrm>
          <a:prstGeom prst="rect">
            <a:avLst/>
          </a:prstGeom>
          <a:noFill/>
        </p:spPr>
        <p:txBody>
          <a:bodyPr wrap="square" anchor="ctr" lIns="0" rIns="0" tIns="0" bIns="0">
            <a:spAutoFit/>
          </a:bodyPr>
          <a:lstStyle/>
          <a:p>
            <a:pPr algn="l">
              <a:lnSpc>
                <a:spcPct val="106000"/>
              </a:lnSpc>
              <a:spcBef>
                <a:spcPts val="0"/>
              </a:spcBef>
              <a:spcAft>
                <a:spcPts val="0"/>
              </a:spcAft>
            </a:pPr>
            <a:r>
              <a:rPr sz="1200" b="0">
                <a:solidFill>
                  <a:srgbClr val="1A1A1A"/>
                </a:solidFill>
                <a:latin typeface="Red Hat Text"/>
              </a:rPr>
              <a:t>A workload that demands root</a:t>
            </a:r>
          </a:p>
        </p:txBody>
      </p:sp>
      <p:sp>
        <p:nvSpPr>
          <p:cNvPr id="18" name="Rounded Rectangle 17"/>
          <p:cNvSpPr/>
          <p:nvPr/>
        </p:nvSpPr>
        <p:spPr>
          <a:xfrm>
            <a:off x="841248" y="4809744"/>
            <a:ext cx="5715000" cy="530352"/>
          </a:xfrm>
          <a:prstGeom prst="roundRect">
            <a:avLst>
              <a:gd name="adj" fmla="val 6000"/>
            </a:avLst>
          </a:prstGeom>
          <a:solidFill>
            <a:srgbClr val="F5F6F8"/>
          </a:solidFill>
          <a:ln w="12700">
            <a:solidFill>
              <a:srgbClr val="DDE1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9" name="Picture 18" descr="check_steel.png"/>
          <p:cNvPicPr>
            <a:picLocks noChangeAspect="1"/>
          </p:cNvPicPr>
          <p:nvPr/>
        </p:nvPicPr>
        <p:blipFill>
          <a:blip r:embed="rId3"/>
          <a:stretch>
            <a:fillRect/>
          </a:stretch>
        </p:blipFill>
        <p:spPr>
          <a:xfrm>
            <a:off x="987552" y="4956048"/>
            <a:ext cx="237744" cy="237744"/>
          </a:xfrm>
          <a:prstGeom prst="rect">
            <a:avLst/>
          </a:prstGeom>
        </p:spPr>
      </p:pic>
      <p:sp>
        <p:nvSpPr>
          <p:cNvPr id="20" name="TextBox 19"/>
          <p:cNvSpPr txBox="1"/>
          <p:nvPr/>
        </p:nvSpPr>
        <p:spPr>
          <a:xfrm>
            <a:off x="1353312" y="4809744"/>
            <a:ext cx="5029200" cy="530352"/>
          </a:xfrm>
          <a:prstGeom prst="rect">
            <a:avLst/>
          </a:prstGeom>
          <a:noFill/>
        </p:spPr>
        <p:txBody>
          <a:bodyPr wrap="square" anchor="ctr" lIns="0" rIns="0" tIns="0" bIns="0">
            <a:spAutoFit/>
          </a:bodyPr>
          <a:lstStyle/>
          <a:p>
            <a:pPr algn="l">
              <a:lnSpc>
                <a:spcPct val="106000"/>
              </a:lnSpc>
              <a:spcBef>
                <a:spcPts val="0"/>
              </a:spcBef>
              <a:spcAft>
                <a:spcPts val="0"/>
              </a:spcAft>
            </a:pPr>
            <a:r>
              <a:rPr sz="1200" b="0">
                <a:solidFill>
                  <a:srgbClr val="1A1A1A"/>
                </a:solidFill>
                <a:latin typeface="Red Hat Text"/>
              </a:rPr>
              <a:t>Speed for the team, safety for the cluster</a:t>
            </a:r>
          </a:p>
        </p:txBody>
      </p:sp>
      <p:sp>
        <p:nvSpPr>
          <p:cNvPr id="21" name="Rounded Rectangle 20"/>
          <p:cNvSpPr/>
          <p:nvPr/>
        </p:nvSpPr>
        <p:spPr>
          <a:xfrm>
            <a:off x="6812280" y="2395728"/>
            <a:ext cx="4538167" cy="2944368"/>
          </a:xfrm>
          <a:prstGeom prst="roundRect">
            <a:avLst>
              <a:gd name="adj" fmla="val 4000"/>
            </a:avLst>
          </a:prstGeom>
          <a:solidFill>
            <a:srgbClr val="FFFFFF"/>
          </a:solidFill>
          <a:ln w="15240">
            <a:solidFill>
              <a:srgbClr val="DDE1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ounded Rectangle 21"/>
          <p:cNvSpPr/>
          <p:nvPr/>
        </p:nvSpPr>
        <p:spPr>
          <a:xfrm>
            <a:off x="7013448" y="2596896"/>
            <a:ext cx="1298448" cy="310896"/>
          </a:xfrm>
          <a:prstGeom prst="roundRect">
            <a:avLst>
              <a:gd name="adj" fmla="val 50000"/>
            </a:avLst>
          </a:prstGeom>
          <a:solidFill>
            <a:srgbClr val="FCEC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7013448" y="2596896"/>
            <a:ext cx="1298448" cy="310896"/>
          </a:xfrm>
          <a:prstGeom prst="rect">
            <a:avLst/>
          </a:prstGeom>
          <a:noFill/>
        </p:spPr>
        <p:txBody>
          <a:bodyPr wrap="none" anchor="ctr" lIns="0" rIns="0" tIns="0" bIns="0">
            <a:spAutoFit/>
          </a:bodyPr>
          <a:lstStyle/>
          <a:p>
            <a:pPr algn="ctr">
              <a:lnSpc>
                <a:spcPct val="106000"/>
              </a:lnSpc>
              <a:spcBef>
                <a:spcPts val="0"/>
              </a:spcBef>
              <a:spcAft>
                <a:spcPts val="0"/>
              </a:spcAft>
            </a:pPr>
            <a:r>
              <a:rPr sz="850" b="1">
                <a:solidFill>
                  <a:srgbClr val="B80000"/>
                </a:solidFill>
                <a:latin typeface="Red Hat Display"/>
              </a:rPr>
              <a:t>MEDIA PASS</a:t>
            </a:r>
          </a:p>
        </p:txBody>
      </p:sp>
      <p:pic>
        <p:nvPicPr>
          <p:cNvPr id="24" name="Picture 23" descr="eye_slate.png"/>
          <p:cNvPicPr>
            <a:picLocks noChangeAspect="1"/>
          </p:cNvPicPr>
          <p:nvPr/>
        </p:nvPicPr>
        <p:blipFill>
          <a:blip r:embed="rId4"/>
          <a:stretch>
            <a:fillRect/>
          </a:stretch>
        </p:blipFill>
        <p:spPr>
          <a:xfrm>
            <a:off x="8843619" y="3108960"/>
            <a:ext cx="475488" cy="475488"/>
          </a:xfrm>
          <a:prstGeom prst="rect">
            <a:avLst/>
          </a:prstGeom>
        </p:spPr>
      </p:pic>
      <p:sp>
        <p:nvSpPr>
          <p:cNvPr id="25" name="TextBox 24"/>
          <p:cNvSpPr txBox="1"/>
          <p:nvPr/>
        </p:nvSpPr>
        <p:spPr>
          <a:xfrm>
            <a:off x="7050024" y="3721608"/>
            <a:ext cx="4062679" cy="1481328"/>
          </a:xfrm>
          <a:prstGeom prst="rect">
            <a:avLst/>
          </a:prstGeom>
          <a:noFill/>
        </p:spPr>
        <p:txBody>
          <a:bodyPr wrap="square" anchor="t" lIns="0" rIns="0" tIns="0" bIns="0">
            <a:spAutoFit/>
          </a:bodyPr>
          <a:lstStyle/>
          <a:p>
            <a:pPr algn="l">
              <a:lnSpc>
                <a:spcPct val="120000"/>
              </a:lnSpc>
              <a:spcBef>
                <a:spcPts val="0"/>
              </a:spcBef>
              <a:spcAft>
                <a:spcPts val="0"/>
              </a:spcAft>
            </a:pPr>
            <a:r>
              <a:rPr sz="950" b="0">
                <a:solidFill>
                  <a:srgbClr val="8A9099"/>
                </a:solidFill>
                <a:latin typeface="Red Hat Text"/>
              </a:rPr>
              <a:t>A "payments team" box (three env sub-boxes + two teammate icons + one workload) sitting inside a larger shared-cluster frame, with a dotted "guardrails" ring between them.</a:t>
            </a:r>
          </a:p>
        </p:txBody>
      </p:sp>
      <p:cxnSp>
        <p:nvCxnSpPr>
          <p:cNvPr id="26" name="Connector 25"/>
          <p:cNvCxnSpPr/>
          <p:nvPr/>
        </p:nvCxnSpPr>
        <p:spPr>
          <a:xfrm>
            <a:off x="841248" y="6437376"/>
            <a:ext cx="10509199" cy="0"/>
          </a:xfrm>
          <a:prstGeom prst="bentConnector3">
            <a:avLst/>
          </a:prstGeom>
          <a:ln w="12700">
            <a:solidFill>
              <a:srgbClr val="DDE1E6"/>
            </a:solidFill>
          </a:ln>
          <a:effectLst/>
        </p:spPr>
        <p:style>
          <a:lnRef idx="2">
            <a:schemeClr val="accent1"/>
          </a:lnRef>
          <a:fillRef idx="0">
            <a:schemeClr val="accent1"/>
          </a:fillRef>
          <a:effectRef idx="1">
            <a:schemeClr val="accent1"/>
          </a:effectRef>
          <a:fontRef idx="minor">
            <a:schemeClr val="tx1"/>
          </a:fontRef>
        </p:style>
      </p:cxnSp>
      <p:sp>
        <p:nvSpPr>
          <p:cNvPr id="27" name="TextBox 26"/>
          <p:cNvSpPr txBox="1"/>
          <p:nvPr/>
        </p:nvSpPr>
        <p:spPr>
          <a:xfrm>
            <a:off x="841248" y="6473952"/>
            <a:ext cx="7315200" cy="274320"/>
          </a:xfrm>
          <a:prstGeom prst="rect">
            <a:avLst/>
          </a:prstGeom>
          <a:noFill/>
        </p:spPr>
        <p:txBody>
          <a:bodyPr wrap="square" anchor="t" lIns="0" rIns="0" tIns="0" bIns="0">
            <a:spAutoFit/>
          </a:bodyPr>
          <a:lstStyle/>
          <a:p>
            <a:pPr algn="l">
              <a:lnSpc>
                <a:spcPct val="106000"/>
              </a:lnSpc>
              <a:spcBef>
                <a:spcPts val="0"/>
              </a:spcBef>
              <a:spcAft>
                <a:spcPts val="0"/>
              </a:spcAft>
            </a:pPr>
            <a:r>
              <a:rPr sz="950" b="0">
                <a:solidFill>
                  <a:srgbClr val="8A9099"/>
                </a:solidFill>
                <a:latin typeface="Red Hat Text"/>
              </a:rPr>
              <a:t>CONFIDENTIAL</a:t>
            </a:r>
          </a:p>
        </p:txBody>
      </p:sp>
      <p:sp>
        <p:nvSpPr>
          <p:cNvPr id="28" name="TextBox 27"/>
          <p:cNvSpPr txBox="1"/>
          <p:nvPr/>
        </p:nvSpPr>
        <p:spPr>
          <a:xfrm>
            <a:off x="10801807" y="6473952"/>
            <a:ext cx="548640" cy="274320"/>
          </a:xfrm>
          <a:prstGeom prst="rect">
            <a:avLst/>
          </a:prstGeom>
          <a:noFill/>
        </p:spPr>
        <p:txBody>
          <a:bodyPr wrap="square" anchor="t" lIns="0" rIns="0" tIns="0" bIns="0">
            <a:spAutoFit/>
          </a:bodyPr>
          <a:lstStyle/>
          <a:p>
            <a:pPr algn="r">
              <a:lnSpc>
                <a:spcPct val="106000"/>
              </a:lnSpc>
              <a:spcBef>
                <a:spcPts val="0"/>
              </a:spcBef>
              <a:spcAft>
                <a:spcPts val="0"/>
              </a:spcAft>
            </a:pPr>
            <a:r>
              <a:rPr sz="950" b="0">
                <a:solidFill>
                  <a:srgbClr val="8A9099"/>
                </a:solidFill>
                <a:latin typeface="Red Hat Text"/>
              </a:rPr>
              <a:t>104</a:t>
            </a:r>
          </a:p>
        </p:txBody>
      </p:sp>
    </p:spTree>
  </p:cSld>
  <p:clrMapOvr>
    <a:masterClrMapping/>
  </p:clrMapOvr>
</p:sld>
</file>

<file path=ppt/slides/slide1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redhat_logo.jpg"/>
          <p:cNvPicPr>
            <a:picLocks noChangeAspect="1"/>
          </p:cNvPicPr>
          <p:nvPr/>
        </p:nvPicPr>
        <p:blipFill>
          <a:blip r:embed="rId2"/>
          <a:stretch>
            <a:fillRect/>
          </a:stretch>
        </p:blipFill>
        <p:spPr>
          <a:xfrm>
            <a:off x="10326319" y="475488"/>
            <a:ext cx="1024128" cy="242248"/>
          </a:xfrm>
          <a:prstGeom prst="rect">
            <a:avLst/>
          </a:prstGeom>
        </p:spPr>
      </p:pic>
      <p:sp>
        <p:nvSpPr>
          <p:cNvPr id="3" name="TextBox 2"/>
          <p:cNvSpPr txBox="1"/>
          <p:nvPr/>
        </p:nvSpPr>
        <p:spPr>
          <a:xfrm>
            <a:off x="841248" y="548640"/>
            <a:ext cx="8595360" cy="274320"/>
          </a:xfrm>
          <a:prstGeom prst="rect">
            <a:avLst/>
          </a:prstGeom>
          <a:noFill/>
        </p:spPr>
        <p:txBody>
          <a:bodyPr wrap="square" anchor="t" lIns="0" rIns="0" tIns="0" bIns="0">
            <a:spAutoFit/>
          </a:bodyPr>
          <a:lstStyle/>
          <a:p>
            <a:pPr algn="l">
              <a:lnSpc>
                <a:spcPct val="106000"/>
              </a:lnSpc>
              <a:spcBef>
                <a:spcPts val="0"/>
              </a:spcBef>
              <a:spcAft>
                <a:spcPts val="0"/>
              </a:spcAft>
            </a:pPr>
            <a:r>
              <a:rPr sz="1250" b="1" spc="220">
                <a:solidFill>
                  <a:srgbClr val="EE0000"/>
                </a:solidFill>
                <a:latin typeface="Red Hat Display"/>
              </a:rPr>
              <a:t>M15 · MULTI-TENANCY &amp; WORKLOAD SECURITY</a:t>
            </a:r>
          </a:p>
        </p:txBody>
      </p:sp>
      <p:sp>
        <p:nvSpPr>
          <p:cNvPr id="4" name="TextBox 3"/>
          <p:cNvSpPr txBox="1"/>
          <p:nvPr/>
        </p:nvSpPr>
        <p:spPr>
          <a:xfrm>
            <a:off x="841248" y="877824"/>
            <a:ext cx="10515600" cy="548640"/>
          </a:xfrm>
          <a:prstGeom prst="rect">
            <a:avLst/>
          </a:prstGeom>
          <a:noFill/>
        </p:spPr>
        <p:txBody>
          <a:bodyPr wrap="none" anchor="t" lIns="0" rIns="0" tIns="0" bIns="0">
            <a:spAutoFit/>
          </a:bodyPr>
          <a:lstStyle/>
          <a:p>
            <a:pPr algn="l">
              <a:lnSpc>
                <a:spcPct val="100000"/>
              </a:lnSpc>
              <a:spcBef>
                <a:spcPts val="0"/>
              </a:spcBef>
              <a:spcAft>
                <a:spcPts val="0"/>
              </a:spcAft>
            </a:pPr>
            <a:r>
              <a:rPr sz="2500" b="1">
                <a:solidFill>
                  <a:srgbClr val="1A1A1A"/>
                </a:solidFill>
                <a:latin typeface="Red Hat Display"/>
              </a:rPr>
              <a:t>Identity becomes authority</a:t>
            </a:r>
          </a:p>
        </p:txBody>
      </p:sp>
      <p:cxnSp>
        <p:nvCxnSpPr>
          <p:cNvPr id="5" name="Connector 4"/>
          <p:cNvCxnSpPr/>
          <p:nvPr/>
        </p:nvCxnSpPr>
        <p:spPr>
          <a:xfrm>
            <a:off x="841248" y="1554480"/>
            <a:ext cx="1371600" cy="0"/>
          </a:xfrm>
          <a:prstGeom prst="bentConnector3">
            <a:avLst/>
          </a:prstGeom>
          <a:ln w="31750">
            <a:solidFill>
              <a:srgbClr val="EE0000"/>
            </a:solidFill>
          </a:ln>
          <a:effectLst/>
        </p:spPr>
        <p:style>
          <a:lnRef idx="2">
            <a:schemeClr val="accent1"/>
          </a:lnRef>
          <a:fillRef idx="0">
            <a:schemeClr val="accent1"/>
          </a:fillRef>
          <a:effectRef idx="1">
            <a:schemeClr val="accent1"/>
          </a:effectRef>
          <a:fontRef idx="minor">
            <a:schemeClr val="tx1"/>
          </a:fontRef>
        </p:style>
      </p:cxnSp>
      <p:sp>
        <p:nvSpPr>
          <p:cNvPr id="6" name="Rounded Rectangle 5"/>
          <p:cNvSpPr/>
          <p:nvPr/>
        </p:nvSpPr>
        <p:spPr>
          <a:xfrm>
            <a:off x="841248" y="2395728"/>
            <a:ext cx="5715000" cy="530352"/>
          </a:xfrm>
          <a:prstGeom prst="roundRect">
            <a:avLst>
              <a:gd name="adj" fmla="val 6000"/>
            </a:avLst>
          </a:prstGeom>
          <a:solidFill>
            <a:srgbClr val="F5F6F8"/>
          </a:solidFill>
          <a:ln w="12700">
            <a:solidFill>
              <a:srgbClr val="DDE1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check_steel.png"/>
          <p:cNvPicPr>
            <a:picLocks noChangeAspect="1"/>
          </p:cNvPicPr>
          <p:nvPr/>
        </p:nvPicPr>
        <p:blipFill>
          <a:blip r:embed="rId3"/>
          <a:stretch>
            <a:fillRect/>
          </a:stretch>
        </p:blipFill>
        <p:spPr>
          <a:xfrm>
            <a:off x="987552" y="2542032"/>
            <a:ext cx="237744" cy="237744"/>
          </a:xfrm>
          <a:prstGeom prst="rect">
            <a:avLst/>
          </a:prstGeom>
        </p:spPr>
      </p:pic>
      <p:sp>
        <p:nvSpPr>
          <p:cNvPr id="8" name="TextBox 7"/>
          <p:cNvSpPr txBox="1"/>
          <p:nvPr/>
        </p:nvSpPr>
        <p:spPr>
          <a:xfrm>
            <a:off x="1353312" y="2395728"/>
            <a:ext cx="5029200" cy="530352"/>
          </a:xfrm>
          <a:prstGeom prst="rect">
            <a:avLst/>
          </a:prstGeom>
          <a:noFill/>
        </p:spPr>
        <p:txBody>
          <a:bodyPr wrap="square" anchor="ctr" lIns="0" rIns="0" tIns="0" bIns="0">
            <a:spAutoFit/>
          </a:bodyPr>
          <a:lstStyle/>
          <a:p>
            <a:pPr algn="l">
              <a:lnSpc>
                <a:spcPct val="106000"/>
              </a:lnSpc>
              <a:spcBef>
                <a:spcPts val="0"/>
              </a:spcBef>
              <a:spcAft>
                <a:spcPts val="0"/>
              </a:spcAft>
            </a:pPr>
            <a:r>
              <a:rPr sz="1200" b="0">
                <a:solidFill>
                  <a:srgbClr val="1A1A1A"/>
                </a:solidFill>
                <a:latin typeface="Red Hat Text"/>
              </a:rPr>
              <a:t>authN: who are you (identity provider)</a:t>
            </a:r>
          </a:p>
        </p:txBody>
      </p:sp>
      <p:sp>
        <p:nvSpPr>
          <p:cNvPr id="9" name="Rounded Rectangle 8"/>
          <p:cNvSpPr/>
          <p:nvPr/>
        </p:nvSpPr>
        <p:spPr>
          <a:xfrm>
            <a:off x="841248" y="2999232"/>
            <a:ext cx="5715000" cy="530352"/>
          </a:xfrm>
          <a:prstGeom prst="roundRect">
            <a:avLst>
              <a:gd name="adj" fmla="val 6000"/>
            </a:avLst>
          </a:prstGeom>
          <a:solidFill>
            <a:srgbClr val="F5F6F8"/>
          </a:solidFill>
          <a:ln w="12700">
            <a:solidFill>
              <a:srgbClr val="DDE1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0" name="Picture 9" descr="check_steel.png"/>
          <p:cNvPicPr>
            <a:picLocks noChangeAspect="1"/>
          </p:cNvPicPr>
          <p:nvPr/>
        </p:nvPicPr>
        <p:blipFill>
          <a:blip r:embed="rId3"/>
          <a:stretch>
            <a:fillRect/>
          </a:stretch>
        </p:blipFill>
        <p:spPr>
          <a:xfrm>
            <a:off x="987552" y="3145536"/>
            <a:ext cx="237744" cy="237744"/>
          </a:xfrm>
          <a:prstGeom prst="rect">
            <a:avLst/>
          </a:prstGeom>
        </p:spPr>
      </p:pic>
      <p:sp>
        <p:nvSpPr>
          <p:cNvPr id="11" name="TextBox 10"/>
          <p:cNvSpPr txBox="1"/>
          <p:nvPr/>
        </p:nvSpPr>
        <p:spPr>
          <a:xfrm>
            <a:off x="1353312" y="2999232"/>
            <a:ext cx="5029200" cy="530352"/>
          </a:xfrm>
          <a:prstGeom prst="rect">
            <a:avLst/>
          </a:prstGeom>
          <a:noFill/>
        </p:spPr>
        <p:txBody>
          <a:bodyPr wrap="square" anchor="ctr" lIns="0" rIns="0" tIns="0" bIns="0">
            <a:spAutoFit/>
          </a:bodyPr>
          <a:lstStyle/>
          <a:p>
            <a:pPr algn="l">
              <a:lnSpc>
                <a:spcPct val="106000"/>
              </a:lnSpc>
              <a:spcBef>
                <a:spcPts val="0"/>
              </a:spcBef>
              <a:spcAft>
                <a:spcPts val="0"/>
              </a:spcAft>
            </a:pPr>
            <a:r>
              <a:rPr sz="1200" b="0">
                <a:solidFill>
                  <a:srgbClr val="1A1A1A"/>
                </a:solidFill>
                <a:latin typeface="Red Hat Text"/>
              </a:rPr>
              <a:t>authZ: what may you do (RBAC)</a:t>
            </a:r>
          </a:p>
        </p:txBody>
      </p:sp>
      <p:sp>
        <p:nvSpPr>
          <p:cNvPr id="12" name="Rounded Rectangle 11"/>
          <p:cNvSpPr/>
          <p:nvPr/>
        </p:nvSpPr>
        <p:spPr>
          <a:xfrm>
            <a:off x="841248" y="3602736"/>
            <a:ext cx="5715000" cy="530352"/>
          </a:xfrm>
          <a:prstGeom prst="roundRect">
            <a:avLst>
              <a:gd name="adj" fmla="val 6000"/>
            </a:avLst>
          </a:prstGeom>
          <a:solidFill>
            <a:srgbClr val="F5F6F8"/>
          </a:solidFill>
          <a:ln w="12700">
            <a:solidFill>
              <a:srgbClr val="DDE1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3" name="Picture 12" descr="check_steel.png"/>
          <p:cNvPicPr>
            <a:picLocks noChangeAspect="1"/>
          </p:cNvPicPr>
          <p:nvPr/>
        </p:nvPicPr>
        <p:blipFill>
          <a:blip r:embed="rId3"/>
          <a:stretch>
            <a:fillRect/>
          </a:stretch>
        </p:blipFill>
        <p:spPr>
          <a:xfrm>
            <a:off x="987552" y="3749040"/>
            <a:ext cx="237744" cy="237744"/>
          </a:xfrm>
          <a:prstGeom prst="rect">
            <a:avLst/>
          </a:prstGeom>
        </p:spPr>
      </p:pic>
      <p:sp>
        <p:nvSpPr>
          <p:cNvPr id="14" name="TextBox 13"/>
          <p:cNvSpPr txBox="1"/>
          <p:nvPr/>
        </p:nvSpPr>
        <p:spPr>
          <a:xfrm>
            <a:off x="1353312" y="3602736"/>
            <a:ext cx="5029200" cy="530352"/>
          </a:xfrm>
          <a:prstGeom prst="rect">
            <a:avLst/>
          </a:prstGeom>
          <a:noFill/>
        </p:spPr>
        <p:txBody>
          <a:bodyPr wrap="square" anchor="ctr" lIns="0" rIns="0" tIns="0" bIns="0">
            <a:spAutoFit/>
          </a:bodyPr>
          <a:lstStyle/>
          <a:p>
            <a:pPr algn="l">
              <a:lnSpc>
                <a:spcPct val="106000"/>
              </a:lnSpc>
              <a:spcBef>
                <a:spcPts val="0"/>
              </a:spcBef>
              <a:spcAft>
                <a:spcPts val="0"/>
              </a:spcAft>
            </a:pPr>
            <a:r>
              <a:rPr sz="1200" b="0">
                <a:solidFill>
                  <a:srgbClr val="1A1A1A"/>
                </a:solidFill>
                <a:latin typeface="Red Hat Text"/>
              </a:rPr>
              <a:t>Chain: IdP → user → group → binding → role</a:t>
            </a:r>
          </a:p>
        </p:txBody>
      </p:sp>
      <p:sp>
        <p:nvSpPr>
          <p:cNvPr id="15" name="Rounded Rectangle 14"/>
          <p:cNvSpPr/>
          <p:nvPr/>
        </p:nvSpPr>
        <p:spPr>
          <a:xfrm>
            <a:off x="841248" y="4206240"/>
            <a:ext cx="5715000" cy="530352"/>
          </a:xfrm>
          <a:prstGeom prst="roundRect">
            <a:avLst>
              <a:gd name="adj" fmla="val 6000"/>
            </a:avLst>
          </a:prstGeom>
          <a:solidFill>
            <a:srgbClr val="F5F6F8"/>
          </a:solidFill>
          <a:ln w="12700">
            <a:solidFill>
              <a:srgbClr val="DDE1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6" name="Picture 15" descr="check_steel.png"/>
          <p:cNvPicPr>
            <a:picLocks noChangeAspect="1"/>
          </p:cNvPicPr>
          <p:nvPr/>
        </p:nvPicPr>
        <p:blipFill>
          <a:blip r:embed="rId3"/>
          <a:stretch>
            <a:fillRect/>
          </a:stretch>
        </p:blipFill>
        <p:spPr>
          <a:xfrm>
            <a:off x="987552" y="4352544"/>
            <a:ext cx="237744" cy="237744"/>
          </a:xfrm>
          <a:prstGeom prst="rect">
            <a:avLst/>
          </a:prstGeom>
        </p:spPr>
      </p:pic>
      <p:sp>
        <p:nvSpPr>
          <p:cNvPr id="17" name="TextBox 16"/>
          <p:cNvSpPr txBox="1"/>
          <p:nvPr/>
        </p:nvSpPr>
        <p:spPr>
          <a:xfrm>
            <a:off x="1353312" y="4206240"/>
            <a:ext cx="5029200" cy="530352"/>
          </a:xfrm>
          <a:prstGeom prst="rect">
            <a:avLst/>
          </a:prstGeom>
          <a:noFill/>
        </p:spPr>
        <p:txBody>
          <a:bodyPr wrap="square" anchor="ctr" lIns="0" rIns="0" tIns="0" bIns="0">
            <a:spAutoFit/>
          </a:bodyPr>
          <a:lstStyle/>
          <a:p>
            <a:pPr algn="l">
              <a:lnSpc>
                <a:spcPct val="106000"/>
              </a:lnSpc>
              <a:spcBef>
                <a:spcPts val="0"/>
              </a:spcBef>
              <a:spcAft>
                <a:spcPts val="0"/>
              </a:spcAft>
            </a:pPr>
            <a:r>
              <a:rPr sz="1200" b="0">
                <a:solidFill>
                  <a:srgbClr val="1A1A1A"/>
                </a:solidFill>
                <a:latin typeface="Red Hat Text"/>
              </a:rPr>
              <a:t>Bind to the GROUP, not the person</a:t>
            </a:r>
          </a:p>
        </p:txBody>
      </p:sp>
      <p:sp>
        <p:nvSpPr>
          <p:cNvPr id="18" name="Rounded Rectangle 17"/>
          <p:cNvSpPr/>
          <p:nvPr/>
        </p:nvSpPr>
        <p:spPr>
          <a:xfrm>
            <a:off x="841248" y="4809744"/>
            <a:ext cx="5715000" cy="530352"/>
          </a:xfrm>
          <a:prstGeom prst="roundRect">
            <a:avLst>
              <a:gd name="adj" fmla="val 6000"/>
            </a:avLst>
          </a:prstGeom>
          <a:solidFill>
            <a:srgbClr val="F5F6F8"/>
          </a:solidFill>
          <a:ln w="12700">
            <a:solidFill>
              <a:srgbClr val="DDE1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9" name="Picture 18" descr="check_steel.png"/>
          <p:cNvPicPr>
            <a:picLocks noChangeAspect="1"/>
          </p:cNvPicPr>
          <p:nvPr/>
        </p:nvPicPr>
        <p:blipFill>
          <a:blip r:embed="rId3"/>
          <a:stretch>
            <a:fillRect/>
          </a:stretch>
        </p:blipFill>
        <p:spPr>
          <a:xfrm>
            <a:off x="987552" y="4956048"/>
            <a:ext cx="237744" cy="237744"/>
          </a:xfrm>
          <a:prstGeom prst="rect">
            <a:avLst/>
          </a:prstGeom>
        </p:spPr>
      </p:pic>
      <p:sp>
        <p:nvSpPr>
          <p:cNvPr id="20" name="TextBox 19"/>
          <p:cNvSpPr txBox="1"/>
          <p:nvPr/>
        </p:nvSpPr>
        <p:spPr>
          <a:xfrm>
            <a:off x="1353312" y="4809744"/>
            <a:ext cx="5029200" cy="530352"/>
          </a:xfrm>
          <a:prstGeom prst="rect">
            <a:avLst/>
          </a:prstGeom>
          <a:noFill/>
        </p:spPr>
        <p:txBody>
          <a:bodyPr wrap="square" anchor="ctr" lIns="0" rIns="0" tIns="0" bIns="0">
            <a:spAutoFit/>
          </a:bodyPr>
          <a:lstStyle/>
          <a:p>
            <a:pPr algn="l">
              <a:lnSpc>
                <a:spcPct val="106000"/>
              </a:lnSpc>
              <a:spcBef>
                <a:spcPts val="0"/>
              </a:spcBef>
              <a:spcAft>
                <a:spcPts val="0"/>
              </a:spcAft>
            </a:pPr>
            <a:r>
              <a:rPr sz="1200" b="0">
                <a:solidFill>
                  <a:srgbClr val="1A1A1A"/>
                </a:solidFill>
                <a:latin typeface="Red Hat Text"/>
              </a:rPr>
              <a:t>Onboarding = one membership change</a:t>
            </a:r>
          </a:p>
        </p:txBody>
      </p:sp>
      <p:sp>
        <p:nvSpPr>
          <p:cNvPr id="21" name="Rounded Rectangle 20"/>
          <p:cNvSpPr/>
          <p:nvPr/>
        </p:nvSpPr>
        <p:spPr>
          <a:xfrm>
            <a:off x="6812280" y="2395728"/>
            <a:ext cx="4538167" cy="2944368"/>
          </a:xfrm>
          <a:prstGeom prst="roundRect">
            <a:avLst>
              <a:gd name="adj" fmla="val 4000"/>
            </a:avLst>
          </a:prstGeom>
          <a:solidFill>
            <a:srgbClr val="FFFFFF"/>
          </a:solidFill>
          <a:ln w="15240">
            <a:solidFill>
              <a:srgbClr val="DDE1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ounded Rectangle 21"/>
          <p:cNvSpPr/>
          <p:nvPr/>
        </p:nvSpPr>
        <p:spPr>
          <a:xfrm>
            <a:off x="7013448" y="2596896"/>
            <a:ext cx="1298448" cy="310896"/>
          </a:xfrm>
          <a:prstGeom prst="roundRect">
            <a:avLst>
              <a:gd name="adj" fmla="val 50000"/>
            </a:avLst>
          </a:prstGeom>
          <a:solidFill>
            <a:srgbClr val="FCEC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7013448" y="2596896"/>
            <a:ext cx="1298448" cy="310896"/>
          </a:xfrm>
          <a:prstGeom prst="rect">
            <a:avLst/>
          </a:prstGeom>
          <a:noFill/>
        </p:spPr>
        <p:txBody>
          <a:bodyPr wrap="none" anchor="ctr" lIns="0" rIns="0" tIns="0" bIns="0">
            <a:spAutoFit/>
          </a:bodyPr>
          <a:lstStyle/>
          <a:p>
            <a:pPr algn="ctr">
              <a:lnSpc>
                <a:spcPct val="106000"/>
              </a:lnSpc>
              <a:spcBef>
                <a:spcPts val="0"/>
              </a:spcBef>
              <a:spcAft>
                <a:spcPts val="0"/>
              </a:spcAft>
            </a:pPr>
            <a:r>
              <a:rPr sz="850" b="1">
                <a:solidFill>
                  <a:srgbClr val="B80000"/>
                </a:solidFill>
                <a:latin typeface="Red Hat Display"/>
              </a:rPr>
              <a:t>MEDIA PASS</a:t>
            </a:r>
          </a:p>
        </p:txBody>
      </p:sp>
      <p:pic>
        <p:nvPicPr>
          <p:cNvPr id="24" name="Picture 23" descr="eye_slate.png"/>
          <p:cNvPicPr>
            <a:picLocks noChangeAspect="1"/>
          </p:cNvPicPr>
          <p:nvPr/>
        </p:nvPicPr>
        <p:blipFill>
          <a:blip r:embed="rId4"/>
          <a:stretch>
            <a:fillRect/>
          </a:stretch>
        </p:blipFill>
        <p:spPr>
          <a:xfrm>
            <a:off x="8843619" y="3108960"/>
            <a:ext cx="475488" cy="475488"/>
          </a:xfrm>
          <a:prstGeom prst="rect">
            <a:avLst/>
          </a:prstGeom>
        </p:spPr>
      </p:pic>
      <p:sp>
        <p:nvSpPr>
          <p:cNvPr id="25" name="TextBox 24"/>
          <p:cNvSpPr txBox="1"/>
          <p:nvPr/>
        </p:nvSpPr>
        <p:spPr>
          <a:xfrm>
            <a:off x="7050024" y="3721608"/>
            <a:ext cx="4062679" cy="1481328"/>
          </a:xfrm>
          <a:prstGeom prst="rect">
            <a:avLst/>
          </a:prstGeom>
          <a:noFill/>
        </p:spPr>
        <p:txBody>
          <a:bodyPr wrap="square" anchor="t" lIns="0" rIns="0" tIns="0" bIns="0">
            <a:spAutoFit/>
          </a:bodyPr>
          <a:lstStyle/>
          <a:p>
            <a:pPr algn="l">
              <a:lnSpc>
                <a:spcPct val="120000"/>
              </a:lnSpc>
              <a:spcBef>
                <a:spcPts val="0"/>
              </a:spcBef>
              <a:spcAft>
                <a:spcPts val="0"/>
              </a:spcAft>
            </a:pPr>
            <a:r>
              <a:rPr sz="950" b="0">
                <a:solidFill>
                  <a:srgbClr val="8A9099"/>
                </a:solidFill>
                <a:latin typeface="Red Hat Text"/>
              </a:rPr>
              <a:t>Reuse concept diagram multi-tenancy-workload-security-...-01-identity-flow.svg — IdP → User → Group (highlighted) → RoleBinding → Role → verbs.</a:t>
            </a:r>
          </a:p>
        </p:txBody>
      </p:sp>
      <p:cxnSp>
        <p:nvCxnSpPr>
          <p:cNvPr id="26" name="Connector 25"/>
          <p:cNvCxnSpPr/>
          <p:nvPr/>
        </p:nvCxnSpPr>
        <p:spPr>
          <a:xfrm>
            <a:off x="841248" y="6437376"/>
            <a:ext cx="10509199" cy="0"/>
          </a:xfrm>
          <a:prstGeom prst="bentConnector3">
            <a:avLst/>
          </a:prstGeom>
          <a:ln w="12700">
            <a:solidFill>
              <a:srgbClr val="DDE1E6"/>
            </a:solidFill>
          </a:ln>
          <a:effectLst/>
        </p:spPr>
        <p:style>
          <a:lnRef idx="2">
            <a:schemeClr val="accent1"/>
          </a:lnRef>
          <a:fillRef idx="0">
            <a:schemeClr val="accent1"/>
          </a:fillRef>
          <a:effectRef idx="1">
            <a:schemeClr val="accent1"/>
          </a:effectRef>
          <a:fontRef idx="minor">
            <a:schemeClr val="tx1"/>
          </a:fontRef>
        </p:style>
      </p:cxnSp>
      <p:sp>
        <p:nvSpPr>
          <p:cNvPr id="27" name="TextBox 26"/>
          <p:cNvSpPr txBox="1"/>
          <p:nvPr/>
        </p:nvSpPr>
        <p:spPr>
          <a:xfrm>
            <a:off x="841248" y="6473952"/>
            <a:ext cx="7315200" cy="274320"/>
          </a:xfrm>
          <a:prstGeom prst="rect">
            <a:avLst/>
          </a:prstGeom>
          <a:noFill/>
        </p:spPr>
        <p:txBody>
          <a:bodyPr wrap="square" anchor="t" lIns="0" rIns="0" tIns="0" bIns="0">
            <a:spAutoFit/>
          </a:bodyPr>
          <a:lstStyle/>
          <a:p>
            <a:pPr algn="l">
              <a:lnSpc>
                <a:spcPct val="106000"/>
              </a:lnSpc>
              <a:spcBef>
                <a:spcPts val="0"/>
              </a:spcBef>
              <a:spcAft>
                <a:spcPts val="0"/>
              </a:spcAft>
            </a:pPr>
            <a:r>
              <a:rPr sz="950" b="0">
                <a:solidFill>
                  <a:srgbClr val="8A9099"/>
                </a:solidFill>
                <a:latin typeface="Red Hat Text"/>
              </a:rPr>
              <a:t>CONFIDENTIAL</a:t>
            </a:r>
          </a:p>
        </p:txBody>
      </p:sp>
      <p:sp>
        <p:nvSpPr>
          <p:cNvPr id="28" name="TextBox 27"/>
          <p:cNvSpPr txBox="1"/>
          <p:nvPr/>
        </p:nvSpPr>
        <p:spPr>
          <a:xfrm>
            <a:off x="10801807" y="6473952"/>
            <a:ext cx="548640" cy="274320"/>
          </a:xfrm>
          <a:prstGeom prst="rect">
            <a:avLst/>
          </a:prstGeom>
          <a:noFill/>
        </p:spPr>
        <p:txBody>
          <a:bodyPr wrap="square" anchor="t" lIns="0" rIns="0" tIns="0" bIns="0">
            <a:spAutoFit/>
          </a:bodyPr>
          <a:lstStyle/>
          <a:p>
            <a:pPr algn="r">
              <a:lnSpc>
                <a:spcPct val="106000"/>
              </a:lnSpc>
              <a:spcBef>
                <a:spcPts val="0"/>
              </a:spcBef>
              <a:spcAft>
                <a:spcPts val="0"/>
              </a:spcAft>
            </a:pPr>
            <a:r>
              <a:rPr sz="950" b="0">
                <a:solidFill>
                  <a:srgbClr val="8A9099"/>
                </a:solidFill>
                <a:latin typeface="Red Hat Text"/>
              </a:rPr>
              <a:t>105</a:t>
            </a:r>
          </a:p>
        </p:txBody>
      </p:sp>
    </p:spTree>
  </p:cSld>
  <p:clrMapOvr>
    <a:masterClrMapping/>
  </p:clrMapOvr>
</p:sld>
</file>

<file path=ppt/slides/slide1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redhat_logo.jpg"/>
          <p:cNvPicPr>
            <a:picLocks noChangeAspect="1"/>
          </p:cNvPicPr>
          <p:nvPr/>
        </p:nvPicPr>
        <p:blipFill>
          <a:blip r:embed="rId2"/>
          <a:stretch>
            <a:fillRect/>
          </a:stretch>
        </p:blipFill>
        <p:spPr>
          <a:xfrm>
            <a:off x="10326319" y="475488"/>
            <a:ext cx="1024128" cy="242248"/>
          </a:xfrm>
          <a:prstGeom prst="rect">
            <a:avLst/>
          </a:prstGeom>
        </p:spPr>
      </p:pic>
      <p:sp>
        <p:nvSpPr>
          <p:cNvPr id="3" name="TextBox 2"/>
          <p:cNvSpPr txBox="1"/>
          <p:nvPr/>
        </p:nvSpPr>
        <p:spPr>
          <a:xfrm>
            <a:off x="841248" y="548640"/>
            <a:ext cx="8595360" cy="274320"/>
          </a:xfrm>
          <a:prstGeom prst="rect">
            <a:avLst/>
          </a:prstGeom>
          <a:noFill/>
        </p:spPr>
        <p:txBody>
          <a:bodyPr wrap="square" anchor="t" lIns="0" rIns="0" tIns="0" bIns="0">
            <a:spAutoFit/>
          </a:bodyPr>
          <a:lstStyle/>
          <a:p>
            <a:pPr algn="l">
              <a:lnSpc>
                <a:spcPct val="106000"/>
              </a:lnSpc>
              <a:spcBef>
                <a:spcPts val="0"/>
              </a:spcBef>
              <a:spcAft>
                <a:spcPts val="0"/>
              </a:spcAft>
            </a:pPr>
            <a:r>
              <a:rPr sz="1250" b="1" spc="220">
                <a:solidFill>
                  <a:srgbClr val="EE0000"/>
                </a:solidFill>
                <a:latin typeface="Red Hat Display"/>
              </a:rPr>
              <a:t>M15 · MULTI-TENANCY &amp; WORKLOAD SECURITY</a:t>
            </a:r>
          </a:p>
        </p:txBody>
      </p:sp>
      <p:sp>
        <p:nvSpPr>
          <p:cNvPr id="4" name="TextBox 3"/>
          <p:cNvSpPr txBox="1"/>
          <p:nvPr/>
        </p:nvSpPr>
        <p:spPr>
          <a:xfrm>
            <a:off x="841248" y="877824"/>
            <a:ext cx="10515600" cy="548640"/>
          </a:xfrm>
          <a:prstGeom prst="rect">
            <a:avLst/>
          </a:prstGeom>
          <a:noFill/>
        </p:spPr>
        <p:txBody>
          <a:bodyPr wrap="none" anchor="t" lIns="0" rIns="0" tIns="0" bIns="0">
            <a:spAutoFit/>
          </a:bodyPr>
          <a:lstStyle/>
          <a:p>
            <a:pPr algn="l">
              <a:lnSpc>
                <a:spcPct val="100000"/>
              </a:lnSpc>
              <a:spcBef>
                <a:spcPts val="0"/>
              </a:spcBef>
              <a:spcAft>
                <a:spcPts val="0"/>
              </a:spcAft>
            </a:pPr>
            <a:r>
              <a:rPr sz="2500" b="1">
                <a:solidFill>
                  <a:srgbClr val="1A1A1A"/>
                </a:solidFill>
                <a:latin typeface="Red Hat Display"/>
              </a:rPr>
              <a:t>The RBAC object model</a:t>
            </a:r>
          </a:p>
        </p:txBody>
      </p:sp>
      <p:cxnSp>
        <p:nvCxnSpPr>
          <p:cNvPr id="5" name="Connector 4"/>
          <p:cNvCxnSpPr/>
          <p:nvPr/>
        </p:nvCxnSpPr>
        <p:spPr>
          <a:xfrm>
            <a:off x="841248" y="1554480"/>
            <a:ext cx="1371600" cy="0"/>
          </a:xfrm>
          <a:prstGeom prst="bentConnector3">
            <a:avLst/>
          </a:prstGeom>
          <a:ln w="31750">
            <a:solidFill>
              <a:srgbClr val="EE0000"/>
            </a:solidFill>
          </a:ln>
          <a:effectLst/>
        </p:spPr>
        <p:style>
          <a:lnRef idx="2">
            <a:schemeClr val="accent1"/>
          </a:lnRef>
          <a:fillRef idx="0">
            <a:schemeClr val="accent1"/>
          </a:fillRef>
          <a:effectRef idx="1">
            <a:schemeClr val="accent1"/>
          </a:effectRef>
          <a:fontRef idx="minor">
            <a:schemeClr val="tx1"/>
          </a:fontRef>
        </p:style>
      </p:cxnSp>
      <p:sp>
        <p:nvSpPr>
          <p:cNvPr id="6" name="Rounded Rectangle 5"/>
          <p:cNvSpPr/>
          <p:nvPr/>
        </p:nvSpPr>
        <p:spPr>
          <a:xfrm>
            <a:off x="841248" y="2395728"/>
            <a:ext cx="5715000" cy="530352"/>
          </a:xfrm>
          <a:prstGeom prst="roundRect">
            <a:avLst>
              <a:gd name="adj" fmla="val 6000"/>
            </a:avLst>
          </a:prstGeom>
          <a:solidFill>
            <a:srgbClr val="F5F6F8"/>
          </a:solidFill>
          <a:ln w="12700">
            <a:solidFill>
              <a:srgbClr val="DDE1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check_steel.png"/>
          <p:cNvPicPr>
            <a:picLocks noChangeAspect="1"/>
          </p:cNvPicPr>
          <p:nvPr/>
        </p:nvPicPr>
        <p:blipFill>
          <a:blip r:embed="rId3"/>
          <a:stretch>
            <a:fillRect/>
          </a:stretch>
        </p:blipFill>
        <p:spPr>
          <a:xfrm>
            <a:off x="987552" y="2542032"/>
            <a:ext cx="237744" cy="237744"/>
          </a:xfrm>
          <a:prstGeom prst="rect">
            <a:avLst/>
          </a:prstGeom>
        </p:spPr>
      </p:pic>
      <p:sp>
        <p:nvSpPr>
          <p:cNvPr id="8" name="TextBox 7"/>
          <p:cNvSpPr txBox="1"/>
          <p:nvPr/>
        </p:nvSpPr>
        <p:spPr>
          <a:xfrm>
            <a:off x="1353312" y="2395728"/>
            <a:ext cx="5029200" cy="530352"/>
          </a:xfrm>
          <a:prstGeom prst="rect">
            <a:avLst/>
          </a:prstGeom>
          <a:noFill/>
        </p:spPr>
        <p:txBody>
          <a:bodyPr wrap="square" anchor="ctr" lIns="0" rIns="0" tIns="0" bIns="0">
            <a:spAutoFit/>
          </a:bodyPr>
          <a:lstStyle/>
          <a:p>
            <a:pPr algn="l">
              <a:lnSpc>
                <a:spcPct val="106000"/>
              </a:lnSpc>
              <a:spcBef>
                <a:spcPts val="0"/>
              </a:spcBef>
              <a:spcAft>
                <a:spcPts val="0"/>
              </a:spcAft>
            </a:pPr>
            <a:r>
              <a:rPr sz="1200" b="0">
                <a:solidFill>
                  <a:srgbClr val="1A1A1A"/>
                </a:solidFill>
                <a:latin typeface="Red Hat Text"/>
              </a:rPr>
              <a:t>Role / ClusterRole: verbs on resources</a:t>
            </a:r>
          </a:p>
        </p:txBody>
      </p:sp>
      <p:sp>
        <p:nvSpPr>
          <p:cNvPr id="9" name="Rounded Rectangle 8"/>
          <p:cNvSpPr/>
          <p:nvPr/>
        </p:nvSpPr>
        <p:spPr>
          <a:xfrm>
            <a:off x="841248" y="2999232"/>
            <a:ext cx="5715000" cy="530352"/>
          </a:xfrm>
          <a:prstGeom prst="roundRect">
            <a:avLst>
              <a:gd name="adj" fmla="val 6000"/>
            </a:avLst>
          </a:prstGeom>
          <a:solidFill>
            <a:srgbClr val="F5F6F8"/>
          </a:solidFill>
          <a:ln w="12700">
            <a:solidFill>
              <a:srgbClr val="DDE1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0" name="Picture 9" descr="check_steel.png"/>
          <p:cNvPicPr>
            <a:picLocks noChangeAspect="1"/>
          </p:cNvPicPr>
          <p:nvPr/>
        </p:nvPicPr>
        <p:blipFill>
          <a:blip r:embed="rId3"/>
          <a:stretch>
            <a:fillRect/>
          </a:stretch>
        </p:blipFill>
        <p:spPr>
          <a:xfrm>
            <a:off x="987552" y="3145536"/>
            <a:ext cx="237744" cy="237744"/>
          </a:xfrm>
          <a:prstGeom prst="rect">
            <a:avLst/>
          </a:prstGeom>
        </p:spPr>
      </p:pic>
      <p:sp>
        <p:nvSpPr>
          <p:cNvPr id="11" name="TextBox 10"/>
          <p:cNvSpPr txBox="1"/>
          <p:nvPr/>
        </p:nvSpPr>
        <p:spPr>
          <a:xfrm>
            <a:off x="1353312" y="2999232"/>
            <a:ext cx="5029200" cy="530352"/>
          </a:xfrm>
          <a:prstGeom prst="rect">
            <a:avLst/>
          </a:prstGeom>
          <a:noFill/>
        </p:spPr>
        <p:txBody>
          <a:bodyPr wrap="square" anchor="ctr" lIns="0" rIns="0" tIns="0" bIns="0">
            <a:spAutoFit/>
          </a:bodyPr>
          <a:lstStyle/>
          <a:p>
            <a:pPr algn="l">
              <a:lnSpc>
                <a:spcPct val="106000"/>
              </a:lnSpc>
              <a:spcBef>
                <a:spcPts val="0"/>
              </a:spcBef>
              <a:spcAft>
                <a:spcPts val="0"/>
              </a:spcAft>
            </a:pPr>
            <a:r>
              <a:rPr sz="1200" b="0">
                <a:solidFill>
                  <a:srgbClr val="1A1A1A"/>
                </a:solidFill>
                <a:latin typeface="Red Hat Text"/>
              </a:rPr>
              <a:t>RoleBinding: ties role to subjects</a:t>
            </a:r>
          </a:p>
        </p:txBody>
      </p:sp>
      <p:sp>
        <p:nvSpPr>
          <p:cNvPr id="12" name="Rounded Rectangle 11"/>
          <p:cNvSpPr/>
          <p:nvPr/>
        </p:nvSpPr>
        <p:spPr>
          <a:xfrm>
            <a:off x="841248" y="3602736"/>
            <a:ext cx="5715000" cy="530352"/>
          </a:xfrm>
          <a:prstGeom prst="roundRect">
            <a:avLst>
              <a:gd name="adj" fmla="val 6000"/>
            </a:avLst>
          </a:prstGeom>
          <a:solidFill>
            <a:srgbClr val="F5F6F8"/>
          </a:solidFill>
          <a:ln w="12700">
            <a:solidFill>
              <a:srgbClr val="DDE1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3" name="Picture 12" descr="check_steel.png"/>
          <p:cNvPicPr>
            <a:picLocks noChangeAspect="1"/>
          </p:cNvPicPr>
          <p:nvPr/>
        </p:nvPicPr>
        <p:blipFill>
          <a:blip r:embed="rId3"/>
          <a:stretch>
            <a:fillRect/>
          </a:stretch>
        </p:blipFill>
        <p:spPr>
          <a:xfrm>
            <a:off x="987552" y="3749040"/>
            <a:ext cx="237744" cy="237744"/>
          </a:xfrm>
          <a:prstGeom prst="rect">
            <a:avLst/>
          </a:prstGeom>
        </p:spPr>
      </p:pic>
      <p:sp>
        <p:nvSpPr>
          <p:cNvPr id="14" name="TextBox 13"/>
          <p:cNvSpPr txBox="1"/>
          <p:nvPr/>
        </p:nvSpPr>
        <p:spPr>
          <a:xfrm>
            <a:off x="1353312" y="3602736"/>
            <a:ext cx="5029200" cy="530352"/>
          </a:xfrm>
          <a:prstGeom prst="rect">
            <a:avLst/>
          </a:prstGeom>
          <a:noFill/>
        </p:spPr>
        <p:txBody>
          <a:bodyPr wrap="square" anchor="ctr" lIns="0" rIns="0" tIns="0" bIns="0">
            <a:spAutoFit/>
          </a:bodyPr>
          <a:lstStyle/>
          <a:p>
            <a:pPr algn="l">
              <a:lnSpc>
                <a:spcPct val="106000"/>
              </a:lnSpc>
              <a:spcBef>
                <a:spcPts val="0"/>
              </a:spcBef>
              <a:spcAft>
                <a:spcPts val="0"/>
              </a:spcAft>
            </a:pPr>
            <a:r>
              <a:rPr sz="1200" b="0">
                <a:solidFill>
                  <a:srgbClr val="1A1A1A"/>
                </a:solidFill>
                <a:latin typeface="Red Hat Text"/>
              </a:rPr>
              <a:t>Built-ins: view, edit, admin</a:t>
            </a:r>
          </a:p>
        </p:txBody>
      </p:sp>
      <p:sp>
        <p:nvSpPr>
          <p:cNvPr id="15" name="Rounded Rectangle 14"/>
          <p:cNvSpPr/>
          <p:nvPr/>
        </p:nvSpPr>
        <p:spPr>
          <a:xfrm>
            <a:off x="841248" y="4206240"/>
            <a:ext cx="5715000" cy="530352"/>
          </a:xfrm>
          <a:prstGeom prst="roundRect">
            <a:avLst>
              <a:gd name="adj" fmla="val 6000"/>
            </a:avLst>
          </a:prstGeom>
          <a:solidFill>
            <a:srgbClr val="F5F6F8"/>
          </a:solidFill>
          <a:ln w="12700">
            <a:solidFill>
              <a:srgbClr val="DDE1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6" name="Picture 15" descr="check_steel.png"/>
          <p:cNvPicPr>
            <a:picLocks noChangeAspect="1"/>
          </p:cNvPicPr>
          <p:nvPr/>
        </p:nvPicPr>
        <p:blipFill>
          <a:blip r:embed="rId3"/>
          <a:stretch>
            <a:fillRect/>
          </a:stretch>
        </p:blipFill>
        <p:spPr>
          <a:xfrm>
            <a:off x="987552" y="4352544"/>
            <a:ext cx="237744" cy="237744"/>
          </a:xfrm>
          <a:prstGeom prst="rect">
            <a:avLst/>
          </a:prstGeom>
        </p:spPr>
      </p:pic>
      <p:sp>
        <p:nvSpPr>
          <p:cNvPr id="17" name="TextBox 16"/>
          <p:cNvSpPr txBox="1"/>
          <p:nvPr/>
        </p:nvSpPr>
        <p:spPr>
          <a:xfrm>
            <a:off x="1353312" y="4206240"/>
            <a:ext cx="5029200" cy="530352"/>
          </a:xfrm>
          <a:prstGeom prst="rect">
            <a:avLst/>
          </a:prstGeom>
          <a:noFill/>
        </p:spPr>
        <p:txBody>
          <a:bodyPr wrap="square" anchor="ctr" lIns="0" rIns="0" tIns="0" bIns="0">
            <a:spAutoFit/>
          </a:bodyPr>
          <a:lstStyle/>
          <a:p>
            <a:pPr algn="l">
              <a:lnSpc>
                <a:spcPct val="106000"/>
              </a:lnSpc>
              <a:spcBef>
                <a:spcPts val="0"/>
              </a:spcBef>
              <a:spcAft>
                <a:spcPts val="0"/>
              </a:spcAft>
            </a:pPr>
            <a:r>
              <a:rPr sz="1200" b="0">
                <a:solidFill>
                  <a:srgbClr val="1A1A1A"/>
                </a:solidFill>
                <a:latin typeface="Red Hat Text"/>
              </a:rPr>
              <a:t>"admin" can't apply quota or grant SCC</a:t>
            </a:r>
          </a:p>
        </p:txBody>
      </p:sp>
      <p:sp>
        <p:nvSpPr>
          <p:cNvPr id="18" name="Rounded Rectangle 17"/>
          <p:cNvSpPr/>
          <p:nvPr/>
        </p:nvSpPr>
        <p:spPr>
          <a:xfrm>
            <a:off x="841248" y="4809744"/>
            <a:ext cx="5715000" cy="530352"/>
          </a:xfrm>
          <a:prstGeom prst="roundRect">
            <a:avLst>
              <a:gd name="adj" fmla="val 6000"/>
            </a:avLst>
          </a:prstGeom>
          <a:solidFill>
            <a:srgbClr val="F5F6F8"/>
          </a:solidFill>
          <a:ln w="12700">
            <a:solidFill>
              <a:srgbClr val="DDE1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9" name="Picture 18" descr="check_steel.png"/>
          <p:cNvPicPr>
            <a:picLocks noChangeAspect="1"/>
          </p:cNvPicPr>
          <p:nvPr/>
        </p:nvPicPr>
        <p:blipFill>
          <a:blip r:embed="rId3"/>
          <a:stretch>
            <a:fillRect/>
          </a:stretch>
        </p:blipFill>
        <p:spPr>
          <a:xfrm>
            <a:off x="987552" y="4956048"/>
            <a:ext cx="237744" cy="237744"/>
          </a:xfrm>
          <a:prstGeom prst="rect">
            <a:avLst/>
          </a:prstGeom>
        </p:spPr>
      </p:pic>
      <p:sp>
        <p:nvSpPr>
          <p:cNvPr id="20" name="TextBox 19"/>
          <p:cNvSpPr txBox="1"/>
          <p:nvPr/>
        </p:nvSpPr>
        <p:spPr>
          <a:xfrm>
            <a:off x="1353312" y="4809744"/>
            <a:ext cx="5029200" cy="530352"/>
          </a:xfrm>
          <a:prstGeom prst="rect">
            <a:avLst/>
          </a:prstGeom>
          <a:noFill/>
        </p:spPr>
        <p:txBody>
          <a:bodyPr wrap="square" anchor="ctr" lIns="0" rIns="0" tIns="0" bIns="0">
            <a:spAutoFit/>
          </a:bodyPr>
          <a:lstStyle/>
          <a:p>
            <a:pPr algn="l">
              <a:lnSpc>
                <a:spcPct val="106000"/>
              </a:lnSpc>
              <a:spcBef>
                <a:spcPts val="0"/>
              </a:spcBef>
              <a:spcAft>
                <a:spcPts val="0"/>
              </a:spcAft>
            </a:pPr>
            <a:r>
              <a:rPr sz="1200" b="0">
                <a:solidFill>
                  <a:srgbClr val="1A1A1A"/>
                </a:solidFill>
                <a:latin typeface="Red Hat Text"/>
              </a:rPr>
              <a:t>Escalation rule: can't grant what you lack</a:t>
            </a:r>
          </a:p>
        </p:txBody>
      </p:sp>
      <p:sp>
        <p:nvSpPr>
          <p:cNvPr id="21" name="Rounded Rectangle 20"/>
          <p:cNvSpPr/>
          <p:nvPr/>
        </p:nvSpPr>
        <p:spPr>
          <a:xfrm>
            <a:off x="6812280" y="2395728"/>
            <a:ext cx="4538167" cy="2944368"/>
          </a:xfrm>
          <a:prstGeom prst="roundRect">
            <a:avLst>
              <a:gd name="adj" fmla="val 4000"/>
            </a:avLst>
          </a:prstGeom>
          <a:solidFill>
            <a:srgbClr val="FFFFFF"/>
          </a:solidFill>
          <a:ln w="15240">
            <a:solidFill>
              <a:srgbClr val="DDE1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ounded Rectangle 21"/>
          <p:cNvSpPr/>
          <p:nvPr/>
        </p:nvSpPr>
        <p:spPr>
          <a:xfrm>
            <a:off x="7013448" y="2596896"/>
            <a:ext cx="1298448" cy="310896"/>
          </a:xfrm>
          <a:prstGeom prst="roundRect">
            <a:avLst>
              <a:gd name="adj" fmla="val 50000"/>
            </a:avLst>
          </a:prstGeom>
          <a:solidFill>
            <a:srgbClr val="FCEC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7013448" y="2596896"/>
            <a:ext cx="1298448" cy="310896"/>
          </a:xfrm>
          <a:prstGeom prst="rect">
            <a:avLst/>
          </a:prstGeom>
          <a:noFill/>
        </p:spPr>
        <p:txBody>
          <a:bodyPr wrap="none" anchor="ctr" lIns="0" rIns="0" tIns="0" bIns="0">
            <a:spAutoFit/>
          </a:bodyPr>
          <a:lstStyle/>
          <a:p>
            <a:pPr algn="ctr">
              <a:lnSpc>
                <a:spcPct val="106000"/>
              </a:lnSpc>
              <a:spcBef>
                <a:spcPts val="0"/>
              </a:spcBef>
              <a:spcAft>
                <a:spcPts val="0"/>
              </a:spcAft>
            </a:pPr>
            <a:r>
              <a:rPr sz="850" b="1">
                <a:solidFill>
                  <a:srgbClr val="B80000"/>
                </a:solidFill>
                <a:latin typeface="Red Hat Display"/>
              </a:rPr>
              <a:t>MEDIA PASS</a:t>
            </a:r>
          </a:p>
        </p:txBody>
      </p:sp>
      <p:pic>
        <p:nvPicPr>
          <p:cNvPr id="24" name="Picture 23" descr="eye_slate.png"/>
          <p:cNvPicPr>
            <a:picLocks noChangeAspect="1"/>
          </p:cNvPicPr>
          <p:nvPr/>
        </p:nvPicPr>
        <p:blipFill>
          <a:blip r:embed="rId4"/>
          <a:stretch>
            <a:fillRect/>
          </a:stretch>
        </p:blipFill>
        <p:spPr>
          <a:xfrm>
            <a:off x="8843619" y="3108960"/>
            <a:ext cx="475488" cy="475488"/>
          </a:xfrm>
          <a:prstGeom prst="rect">
            <a:avLst/>
          </a:prstGeom>
        </p:spPr>
      </p:pic>
      <p:sp>
        <p:nvSpPr>
          <p:cNvPr id="25" name="TextBox 24"/>
          <p:cNvSpPr txBox="1"/>
          <p:nvPr/>
        </p:nvSpPr>
        <p:spPr>
          <a:xfrm>
            <a:off x="7050024" y="3721608"/>
            <a:ext cx="4062679" cy="1481328"/>
          </a:xfrm>
          <a:prstGeom prst="rect">
            <a:avLst/>
          </a:prstGeom>
          <a:noFill/>
        </p:spPr>
        <p:txBody>
          <a:bodyPr wrap="square" anchor="t" lIns="0" rIns="0" tIns="0" bIns="0">
            <a:spAutoFit/>
          </a:bodyPr>
          <a:lstStyle/>
          <a:p>
            <a:pPr algn="l">
              <a:lnSpc>
                <a:spcPct val="120000"/>
              </a:lnSpc>
              <a:spcBef>
                <a:spcPts val="0"/>
              </a:spcBef>
              <a:spcAft>
                <a:spcPts val="0"/>
              </a:spcAft>
            </a:pPr>
            <a:r>
              <a:rPr sz="950" b="0">
                <a:solidFill>
                  <a:srgbClr val="8A9099"/>
                </a:solidFill>
                <a:latin typeface="Red Hat Text"/>
              </a:rPr>
              <a:t>Three concentric role rings (view ⊂ edit ⊂ admin) with a hard wall labelled "quota + SCC = platform-owned" outside admin.</a:t>
            </a:r>
          </a:p>
        </p:txBody>
      </p:sp>
      <p:cxnSp>
        <p:nvCxnSpPr>
          <p:cNvPr id="26" name="Connector 25"/>
          <p:cNvCxnSpPr/>
          <p:nvPr/>
        </p:nvCxnSpPr>
        <p:spPr>
          <a:xfrm>
            <a:off x="841248" y="6437376"/>
            <a:ext cx="10509199" cy="0"/>
          </a:xfrm>
          <a:prstGeom prst="bentConnector3">
            <a:avLst/>
          </a:prstGeom>
          <a:ln w="12700">
            <a:solidFill>
              <a:srgbClr val="DDE1E6"/>
            </a:solidFill>
          </a:ln>
          <a:effectLst/>
        </p:spPr>
        <p:style>
          <a:lnRef idx="2">
            <a:schemeClr val="accent1"/>
          </a:lnRef>
          <a:fillRef idx="0">
            <a:schemeClr val="accent1"/>
          </a:fillRef>
          <a:effectRef idx="1">
            <a:schemeClr val="accent1"/>
          </a:effectRef>
          <a:fontRef idx="minor">
            <a:schemeClr val="tx1"/>
          </a:fontRef>
        </p:style>
      </p:cxnSp>
      <p:sp>
        <p:nvSpPr>
          <p:cNvPr id="27" name="TextBox 26"/>
          <p:cNvSpPr txBox="1"/>
          <p:nvPr/>
        </p:nvSpPr>
        <p:spPr>
          <a:xfrm>
            <a:off x="841248" y="6473952"/>
            <a:ext cx="7315200" cy="274320"/>
          </a:xfrm>
          <a:prstGeom prst="rect">
            <a:avLst/>
          </a:prstGeom>
          <a:noFill/>
        </p:spPr>
        <p:txBody>
          <a:bodyPr wrap="square" anchor="t" lIns="0" rIns="0" tIns="0" bIns="0">
            <a:spAutoFit/>
          </a:bodyPr>
          <a:lstStyle/>
          <a:p>
            <a:pPr algn="l">
              <a:lnSpc>
                <a:spcPct val="106000"/>
              </a:lnSpc>
              <a:spcBef>
                <a:spcPts val="0"/>
              </a:spcBef>
              <a:spcAft>
                <a:spcPts val="0"/>
              </a:spcAft>
            </a:pPr>
            <a:r>
              <a:rPr sz="950" b="0">
                <a:solidFill>
                  <a:srgbClr val="8A9099"/>
                </a:solidFill>
                <a:latin typeface="Red Hat Text"/>
              </a:rPr>
              <a:t>CONFIDENTIAL</a:t>
            </a:r>
          </a:p>
        </p:txBody>
      </p:sp>
      <p:sp>
        <p:nvSpPr>
          <p:cNvPr id="28" name="TextBox 27"/>
          <p:cNvSpPr txBox="1"/>
          <p:nvPr/>
        </p:nvSpPr>
        <p:spPr>
          <a:xfrm>
            <a:off x="10801807" y="6473952"/>
            <a:ext cx="548640" cy="274320"/>
          </a:xfrm>
          <a:prstGeom prst="rect">
            <a:avLst/>
          </a:prstGeom>
          <a:noFill/>
        </p:spPr>
        <p:txBody>
          <a:bodyPr wrap="square" anchor="t" lIns="0" rIns="0" tIns="0" bIns="0">
            <a:spAutoFit/>
          </a:bodyPr>
          <a:lstStyle/>
          <a:p>
            <a:pPr algn="r">
              <a:lnSpc>
                <a:spcPct val="106000"/>
              </a:lnSpc>
              <a:spcBef>
                <a:spcPts val="0"/>
              </a:spcBef>
              <a:spcAft>
                <a:spcPts val="0"/>
              </a:spcAft>
            </a:pPr>
            <a:r>
              <a:rPr sz="950" b="0">
                <a:solidFill>
                  <a:srgbClr val="8A9099"/>
                </a:solidFill>
                <a:latin typeface="Red Hat Text"/>
              </a:rPr>
              <a:t>106</a:t>
            </a:r>
          </a:p>
        </p:txBody>
      </p:sp>
    </p:spTree>
  </p:cSld>
  <p:clrMapOvr>
    <a:masterClrMapping/>
  </p:clrMapOvr>
</p:sld>
</file>

<file path=ppt/slides/slide1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redhat_logo.jpg"/>
          <p:cNvPicPr>
            <a:picLocks noChangeAspect="1"/>
          </p:cNvPicPr>
          <p:nvPr/>
        </p:nvPicPr>
        <p:blipFill>
          <a:blip r:embed="rId2"/>
          <a:stretch>
            <a:fillRect/>
          </a:stretch>
        </p:blipFill>
        <p:spPr>
          <a:xfrm>
            <a:off x="10326319" y="475488"/>
            <a:ext cx="1024128" cy="242248"/>
          </a:xfrm>
          <a:prstGeom prst="rect">
            <a:avLst/>
          </a:prstGeom>
        </p:spPr>
      </p:pic>
      <p:sp>
        <p:nvSpPr>
          <p:cNvPr id="3" name="TextBox 2"/>
          <p:cNvSpPr txBox="1"/>
          <p:nvPr/>
        </p:nvSpPr>
        <p:spPr>
          <a:xfrm>
            <a:off x="841248" y="548640"/>
            <a:ext cx="8595360" cy="274320"/>
          </a:xfrm>
          <a:prstGeom prst="rect">
            <a:avLst/>
          </a:prstGeom>
          <a:noFill/>
        </p:spPr>
        <p:txBody>
          <a:bodyPr wrap="square" anchor="t" lIns="0" rIns="0" tIns="0" bIns="0">
            <a:spAutoFit/>
          </a:bodyPr>
          <a:lstStyle/>
          <a:p>
            <a:pPr algn="l">
              <a:lnSpc>
                <a:spcPct val="106000"/>
              </a:lnSpc>
              <a:spcBef>
                <a:spcPts val="0"/>
              </a:spcBef>
              <a:spcAft>
                <a:spcPts val="0"/>
              </a:spcAft>
            </a:pPr>
            <a:r>
              <a:rPr sz="1250" b="1" spc="220">
                <a:solidFill>
                  <a:srgbClr val="EE0000"/>
                </a:solidFill>
                <a:latin typeface="Red Hat Display"/>
              </a:rPr>
              <a:t>M15 · MULTI-TENANCY &amp; WORKLOAD SECURITY</a:t>
            </a:r>
          </a:p>
        </p:txBody>
      </p:sp>
      <p:sp>
        <p:nvSpPr>
          <p:cNvPr id="4" name="TextBox 3"/>
          <p:cNvSpPr txBox="1"/>
          <p:nvPr/>
        </p:nvSpPr>
        <p:spPr>
          <a:xfrm>
            <a:off x="841248" y="877824"/>
            <a:ext cx="10515600" cy="548640"/>
          </a:xfrm>
          <a:prstGeom prst="rect">
            <a:avLst/>
          </a:prstGeom>
          <a:noFill/>
        </p:spPr>
        <p:txBody>
          <a:bodyPr wrap="none" anchor="t" lIns="0" rIns="0" tIns="0" bIns="0">
            <a:spAutoFit/>
          </a:bodyPr>
          <a:lstStyle/>
          <a:p>
            <a:pPr algn="l">
              <a:lnSpc>
                <a:spcPct val="100000"/>
              </a:lnSpc>
              <a:spcBef>
                <a:spcPts val="0"/>
              </a:spcBef>
              <a:spcAft>
                <a:spcPts val="0"/>
              </a:spcAft>
            </a:pPr>
            <a:r>
              <a:rPr sz="2500" b="1">
                <a:solidFill>
                  <a:srgbClr val="1A1A1A"/>
                </a:solidFill>
                <a:latin typeface="Red Hat Display"/>
              </a:rPr>
              <a:t>Non-root by default</a:t>
            </a:r>
          </a:p>
        </p:txBody>
      </p:sp>
      <p:cxnSp>
        <p:nvCxnSpPr>
          <p:cNvPr id="5" name="Connector 4"/>
          <p:cNvCxnSpPr/>
          <p:nvPr/>
        </p:nvCxnSpPr>
        <p:spPr>
          <a:xfrm>
            <a:off x="841248" y="1554480"/>
            <a:ext cx="1371600" cy="0"/>
          </a:xfrm>
          <a:prstGeom prst="bentConnector3">
            <a:avLst/>
          </a:prstGeom>
          <a:ln w="31750">
            <a:solidFill>
              <a:srgbClr val="EE0000"/>
            </a:solidFill>
          </a:ln>
          <a:effectLst/>
        </p:spPr>
        <p:style>
          <a:lnRef idx="2">
            <a:schemeClr val="accent1"/>
          </a:lnRef>
          <a:fillRef idx="0">
            <a:schemeClr val="accent1"/>
          </a:fillRef>
          <a:effectRef idx="1">
            <a:schemeClr val="accent1"/>
          </a:effectRef>
          <a:fontRef idx="minor">
            <a:schemeClr val="tx1"/>
          </a:fontRef>
        </p:style>
      </p:cxnSp>
      <p:sp>
        <p:nvSpPr>
          <p:cNvPr id="6" name="Rounded Rectangle 5"/>
          <p:cNvSpPr/>
          <p:nvPr/>
        </p:nvSpPr>
        <p:spPr>
          <a:xfrm>
            <a:off x="841248" y="2395728"/>
            <a:ext cx="5715000" cy="530352"/>
          </a:xfrm>
          <a:prstGeom prst="roundRect">
            <a:avLst>
              <a:gd name="adj" fmla="val 6000"/>
            </a:avLst>
          </a:prstGeom>
          <a:solidFill>
            <a:srgbClr val="F5F6F8"/>
          </a:solidFill>
          <a:ln w="12700">
            <a:solidFill>
              <a:srgbClr val="DDE1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check_steel.png"/>
          <p:cNvPicPr>
            <a:picLocks noChangeAspect="1"/>
          </p:cNvPicPr>
          <p:nvPr/>
        </p:nvPicPr>
        <p:blipFill>
          <a:blip r:embed="rId3"/>
          <a:stretch>
            <a:fillRect/>
          </a:stretch>
        </p:blipFill>
        <p:spPr>
          <a:xfrm>
            <a:off x="987552" y="2542032"/>
            <a:ext cx="237744" cy="237744"/>
          </a:xfrm>
          <a:prstGeom prst="rect">
            <a:avLst/>
          </a:prstGeom>
        </p:spPr>
      </p:pic>
      <p:sp>
        <p:nvSpPr>
          <p:cNvPr id="8" name="TextBox 7"/>
          <p:cNvSpPr txBox="1"/>
          <p:nvPr/>
        </p:nvSpPr>
        <p:spPr>
          <a:xfrm>
            <a:off x="1353312" y="2395728"/>
            <a:ext cx="5029200" cy="530352"/>
          </a:xfrm>
          <a:prstGeom prst="rect">
            <a:avLst/>
          </a:prstGeom>
          <a:noFill/>
        </p:spPr>
        <p:txBody>
          <a:bodyPr wrap="square" anchor="ctr" lIns="0" rIns="0" tIns="0" bIns="0">
            <a:spAutoFit/>
          </a:bodyPr>
          <a:lstStyle/>
          <a:p>
            <a:pPr algn="l">
              <a:lnSpc>
                <a:spcPct val="106000"/>
              </a:lnSpc>
              <a:spcBef>
                <a:spcPts val="0"/>
              </a:spcBef>
              <a:spcAft>
                <a:spcPts val="0"/>
              </a:spcAft>
            </a:pPr>
            <a:r>
              <a:rPr sz="1200" b="0">
                <a:solidFill>
                  <a:srgbClr val="1A1A1A"/>
                </a:solidFill>
                <a:latin typeface="Red Hat Text"/>
              </a:rPr>
              <a:t>restricted-v2 SCC: every workload's default</a:t>
            </a:r>
          </a:p>
        </p:txBody>
      </p:sp>
      <p:sp>
        <p:nvSpPr>
          <p:cNvPr id="9" name="Rounded Rectangle 8"/>
          <p:cNvSpPr/>
          <p:nvPr/>
        </p:nvSpPr>
        <p:spPr>
          <a:xfrm>
            <a:off x="841248" y="2999232"/>
            <a:ext cx="5715000" cy="530352"/>
          </a:xfrm>
          <a:prstGeom prst="roundRect">
            <a:avLst>
              <a:gd name="adj" fmla="val 6000"/>
            </a:avLst>
          </a:prstGeom>
          <a:solidFill>
            <a:srgbClr val="F5F6F8"/>
          </a:solidFill>
          <a:ln w="12700">
            <a:solidFill>
              <a:srgbClr val="DDE1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0" name="Picture 9" descr="check_steel.png"/>
          <p:cNvPicPr>
            <a:picLocks noChangeAspect="1"/>
          </p:cNvPicPr>
          <p:nvPr/>
        </p:nvPicPr>
        <p:blipFill>
          <a:blip r:embed="rId3"/>
          <a:stretch>
            <a:fillRect/>
          </a:stretch>
        </p:blipFill>
        <p:spPr>
          <a:xfrm>
            <a:off x="987552" y="3145536"/>
            <a:ext cx="237744" cy="237744"/>
          </a:xfrm>
          <a:prstGeom prst="rect">
            <a:avLst/>
          </a:prstGeom>
        </p:spPr>
      </p:pic>
      <p:sp>
        <p:nvSpPr>
          <p:cNvPr id="11" name="TextBox 10"/>
          <p:cNvSpPr txBox="1"/>
          <p:nvPr/>
        </p:nvSpPr>
        <p:spPr>
          <a:xfrm>
            <a:off x="1353312" y="2999232"/>
            <a:ext cx="5029200" cy="530352"/>
          </a:xfrm>
          <a:prstGeom prst="rect">
            <a:avLst/>
          </a:prstGeom>
          <a:noFill/>
        </p:spPr>
        <p:txBody>
          <a:bodyPr wrap="square" anchor="ctr" lIns="0" rIns="0" tIns="0" bIns="0">
            <a:spAutoFit/>
          </a:bodyPr>
          <a:lstStyle/>
          <a:p>
            <a:pPr algn="l">
              <a:lnSpc>
                <a:spcPct val="106000"/>
              </a:lnSpc>
              <a:spcBef>
                <a:spcPts val="0"/>
              </a:spcBef>
              <a:spcAft>
                <a:spcPts val="0"/>
              </a:spcAft>
            </a:pPr>
            <a:r>
              <a:rPr sz="1200" b="0">
                <a:solidFill>
                  <a:srgbClr val="1A1A1A"/>
                </a:solidFill>
                <a:latin typeface="Red Hat Text"/>
              </a:rPr>
              <a:t>UID from the namespace's assigned range</a:t>
            </a:r>
          </a:p>
        </p:txBody>
      </p:sp>
      <p:sp>
        <p:nvSpPr>
          <p:cNvPr id="12" name="Rounded Rectangle 11"/>
          <p:cNvSpPr/>
          <p:nvPr/>
        </p:nvSpPr>
        <p:spPr>
          <a:xfrm>
            <a:off x="841248" y="3602736"/>
            <a:ext cx="5715000" cy="530352"/>
          </a:xfrm>
          <a:prstGeom prst="roundRect">
            <a:avLst>
              <a:gd name="adj" fmla="val 6000"/>
            </a:avLst>
          </a:prstGeom>
          <a:solidFill>
            <a:srgbClr val="F5F6F8"/>
          </a:solidFill>
          <a:ln w="12700">
            <a:solidFill>
              <a:srgbClr val="DDE1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3" name="Picture 12" descr="check_steel.png"/>
          <p:cNvPicPr>
            <a:picLocks noChangeAspect="1"/>
          </p:cNvPicPr>
          <p:nvPr/>
        </p:nvPicPr>
        <p:blipFill>
          <a:blip r:embed="rId3"/>
          <a:stretch>
            <a:fillRect/>
          </a:stretch>
        </p:blipFill>
        <p:spPr>
          <a:xfrm>
            <a:off x="987552" y="3749040"/>
            <a:ext cx="237744" cy="237744"/>
          </a:xfrm>
          <a:prstGeom prst="rect">
            <a:avLst/>
          </a:prstGeom>
        </p:spPr>
      </p:pic>
      <p:sp>
        <p:nvSpPr>
          <p:cNvPr id="14" name="TextBox 13"/>
          <p:cNvSpPr txBox="1"/>
          <p:nvPr/>
        </p:nvSpPr>
        <p:spPr>
          <a:xfrm>
            <a:off x="1353312" y="3602736"/>
            <a:ext cx="5029200" cy="530352"/>
          </a:xfrm>
          <a:prstGeom prst="rect">
            <a:avLst/>
          </a:prstGeom>
          <a:noFill/>
        </p:spPr>
        <p:txBody>
          <a:bodyPr wrap="square" anchor="ctr" lIns="0" rIns="0" tIns="0" bIns="0">
            <a:spAutoFit/>
          </a:bodyPr>
          <a:lstStyle/>
          <a:p>
            <a:pPr algn="l">
              <a:lnSpc>
                <a:spcPct val="106000"/>
              </a:lnSpc>
              <a:spcBef>
                <a:spcPts val="0"/>
              </a:spcBef>
              <a:spcAft>
                <a:spcPts val="0"/>
              </a:spcAft>
            </a:pPr>
            <a:r>
              <a:rPr sz="1200" b="0">
                <a:solidFill>
                  <a:srgbClr val="1A1A1A"/>
                </a:solidFill>
                <a:latin typeface="Red Hat Text"/>
              </a:rPr>
              <a:t>runAsUser: 0 → rejected at admission</a:t>
            </a:r>
          </a:p>
        </p:txBody>
      </p:sp>
      <p:sp>
        <p:nvSpPr>
          <p:cNvPr id="15" name="Rounded Rectangle 14"/>
          <p:cNvSpPr/>
          <p:nvPr/>
        </p:nvSpPr>
        <p:spPr>
          <a:xfrm>
            <a:off x="841248" y="4206240"/>
            <a:ext cx="5715000" cy="530352"/>
          </a:xfrm>
          <a:prstGeom prst="roundRect">
            <a:avLst>
              <a:gd name="adj" fmla="val 6000"/>
            </a:avLst>
          </a:prstGeom>
          <a:solidFill>
            <a:srgbClr val="F5F6F8"/>
          </a:solidFill>
          <a:ln w="12700">
            <a:solidFill>
              <a:srgbClr val="DDE1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6" name="Picture 15" descr="check_steel.png"/>
          <p:cNvPicPr>
            <a:picLocks noChangeAspect="1"/>
          </p:cNvPicPr>
          <p:nvPr/>
        </p:nvPicPr>
        <p:blipFill>
          <a:blip r:embed="rId3"/>
          <a:stretch>
            <a:fillRect/>
          </a:stretch>
        </p:blipFill>
        <p:spPr>
          <a:xfrm>
            <a:off x="987552" y="4352544"/>
            <a:ext cx="237744" cy="237744"/>
          </a:xfrm>
          <a:prstGeom prst="rect">
            <a:avLst/>
          </a:prstGeom>
        </p:spPr>
      </p:pic>
      <p:sp>
        <p:nvSpPr>
          <p:cNvPr id="17" name="TextBox 16"/>
          <p:cNvSpPr txBox="1"/>
          <p:nvPr/>
        </p:nvSpPr>
        <p:spPr>
          <a:xfrm>
            <a:off x="1353312" y="4206240"/>
            <a:ext cx="5029200" cy="530352"/>
          </a:xfrm>
          <a:prstGeom prst="rect">
            <a:avLst/>
          </a:prstGeom>
          <a:noFill/>
        </p:spPr>
        <p:txBody>
          <a:bodyPr wrap="square" anchor="ctr" lIns="0" rIns="0" tIns="0" bIns="0">
            <a:spAutoFit/>
          </a:bodyPr>
          <a:lstStyle/>
          <a:p>
            <a:pPr algn="l">
              <a:lnSpc>
                <a:spcPct val="106000"/>
              </a:lnSpc>
              <a:spcBef>
                <a:spcPts val="0"/>
              </a:spcBef>
              <a:spcAft>
                <a:spcPts val="0"/>
              </a:spcAft>
            </a:pPr>
            <a:r>
              <a:rPr sz="1200" b="0">
                <a:solidFill>
                  <a:srgbClr val="1A1A1A"/>
                </a:solidFill>
                <a:latin typeface="Red Hat Text"/>
              </a:rPr>
              <a:t>Fix the image (drop root) — almost always</a:t>
            </a:r>
          </a:p>
        </p:txBody>
      </p:sp>
      <p:sp>
        <p:nvSpPr>
          <p:cNvPr id="18" name="Rounded Rectangle 17"/>
          <p:cNvSpPr/>
          <p:nvPr/>
        </p:nvSpPr>
        <p:spPr>
          <a:xfrm>
            <a:off x="841248" y="4809744"/>
            <a:ext cx="5715000" cy="530352"/>
          </a:xfrm>
          <a:prstGeom prst="roundRect">
            <a:avLst>
              <a:gd name="adj" fmla="val 6000"/>
            </a:avLst>
          </a:prstGeom>
          <a:solidFill>
            <a:srgbClr val="F5F6F8"/>
          </a:solidFill>
          <a:ln w="12700">
            <a:solidFill>
              <a:srgbClr val="DDE1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9" name="Picture 18" descr="check_steel.png"/>
          <p:cNvPicPr>
            <a:picLocks noChangeAspect="1"/>
          </p:cNvPicPr>
          <p:nvPr/>
        </p:nvPicPr>
        <p:blipFill>
          <a:blip r:embed="rId3"/>
          <a:stretch>
            <a:fillRect/>
          </a:stretch>
        </p:blipFill>
        <p:spPr>
          <a:xfrm>
            <a:off x="987552" y="4956048"/>
            <a:ext cx="237744" cy="237744"/>
          </a:xfrm>
          <a:prstGeom prst="rect">
            <a:avLst/>
          </a:prstGeom>
        </p:spPr>
      </p:pic>
      <p:sp>
        <p:nvSpPr>
          <p:cNvPr id="20" name="TextBox 19"/>
          <p:cNvSpPr txBox="1"/>
          <p:nvPr/>
        </p:nvSpPr>
        <p:spPr>
          <a:xfrm>
            <a:off x="1353312" y="4809744"/>
            <a:ext cx="5029200" cy="530352"/>
          </a:xfrm>
          <a:prstGeom prst="rect">
            <a:avLst/>
          </a:prstGeom>
          <a:noFill/>
        </p:spPr>
        <p:txBody>
          <a:bodyPr wrap="square" anchor="ctr" lIns="0" rIns="0" tIns="0" bIns="0">
            <a:spAutoFit/>
          </a:bodyPr>
          <a:lstStyle/>
          <a:p>
            <a:pPr algn="l">
              <a:lnSpc>
                <a:spcPct val="106000"/>
              </a:lnSpc>
              <a:spcBef>
                <a:spcPts val="0"/>
              </a:spcBef>
              <a:spcAft>
                <a:spcPts val="0"/>
              </a:spcAft>
            </a:pPr>
            <a:r>
              <a:rPr sz="1200" b="0">
                <a:solidFill>
                  <a:srgbClr val="1A1A1A"/>
                </a:solidFill>
                <a:latin typeface="Red Hat Text"/>
              </a:rPr>
              <a:t>OR a scoped SCC grant to one ServiceAccount</a:t>
            </a:r>
          </a:p>
        </p:txBody>
      </p:sp>
      <p:sp>
        <p:nvSpPr>
          <p:cNvPr id="21" name="Rounded Rectangle 20"/>
          <p:cNvSpPr/>
          <p:nvPr/>
        </p:nvSpPr>
        <p:spPr>
          <a:xfrm>
            <a:off x="6812280" y="2395728"/>
            <a:ext cx="4538167" cy="2944368"/>
          </a:xfrm>
          <a:prstGeom prst="roundRect">
            <a:avLst>
              <a:gd name="adj" fmla="val 4000"/>
            </a:avLst>
          </a:prstGeom>
          <a:solidFill>
            <a:srgbClr val="FFFFFF"/>
          </a:solidFill>
          <a:ln w="15240">
            <a:solidFill>
              <a:srgbClr val="DDE1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ounded Rectangle 21"/>
          <p:cNvSpPr/>
          <p:nvPr/>
        </p:nvSpPr>
        <p:spPr>
          <a:xfrm>
            <a:off x="7013448" y="2596896"/>
            <a:ext cx="1298448" cy="310896"/>
          </a:xfrm>
          <a:prstGeom prst="roundRect">
            <a:avLst>
              <a:gd name="adj" fmla="val 50000"/>
            </a:avLst>
          </a:prstGeom>
          <a:solidFill>
            <a:srgbClr val="FCEC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7013448" y="2596896"/>
            <a:ext cx="1298448" cy="310896"/>
          </a:xfrm>
          <a:prstGeom prst="rect">
            <a:avLst/>
          </a:prstGeom>
          <a:noFill/>
        </p:spPr>
        <p:txBody>
          <a:bodyPr wrap="none" anchor="ctr" lIns="0" rIns="0" tIns="0" bIns="0">
            <a:spAutoFit/>
          </a:bodyPr>
          <a:lstStyle/>
          <a:p>
            <a:pPr algn="ctr">
              <a:lnSpc>
                <a:spcPct val="106000"/>
              </a:lnSpc>
              <a:spcBef>
                <a:spcPts val="0"/>
              </a:spcBef>
              <a:spcAft>
                <a:spcPts val="0"/>
              </a:spcAft>
            </a:pPr>
            <a:r>
              <a:rPr sz="850" b="1">
                <a:solidFill>
                  <a:srgbClr val="B80000"/>
                </a:solidFill>
                <a:latin typeface="Red Hat Display"/>
              </a:rPr>
              <a:t>MEDIA PASS</a:t>
            </a:r>
          </a:p>
        </p:txBody>
      </p:sp>
      <p:pic>
        <p:nvPicPr>
          <p:cNvPr id="24" name="Picture 23" descr="eye_slate.png"/>
          <p:cNvPicPr>
            <a:picLocks noChangeAspect="1"/>
          </p:cNvPicPr>
          <p:nvPr/>
        </p:nvPicPr>
        <p:blipFill>
          <a:blip r:embed="rId4"/>
          <a:stretch>
            <a:fillRect/>
          </a:stretch>
        </p:blipFill>
        <p:spPr>
          <a:xfrm>
            <a:off x="8843619" y="3108960"/>
            <a:ext cx="475488" cy="475488"/>
          </a:xfrm>
          <a:prstGeom prst="rect">
            <a:avLst/>
          </a:prstGeom>
        </p:spPr>
      </p:pic>
      <p:sp>
        <p:nvSpPr>
          <p:cNvPr id="25" name="TextBox 24"/>
          <p:cNvSpPr txBox="1"/>
          <p:nvPr/>
        </p:nvSpPr>
        <p:spPr>
          <a:xfrm>
            <a:off x="7050024" y="3721608"/>
            <a:ext cx="4062679" cy="1481328"/>
          </a:xfrm>
          <a:prstGeom prst="rect">
            <a:avLst/>
          </a:prstGeom>
          <a:noFill/>
        </p:spPr>
        <p:txBody>
          <a:bodyPr wrap="square" anchor="t" lIns="0" rIns="0" tIns="0" bIns="0">
            <a:spAutoFit/>
          </a:bodyPr>
          <a:lstStyle/>
          <a:p>
            <a:pPr algn="l">
              <a:lnSpc>
                <a:spcPct val="120000"/>
              </a:lnSpc>
              <a:spcBef>
                <a:spcPts val="0"/>
              </a:spcBef>
              <a:spcAft>
                <a:spcPts val="0"/>
              </a:spcAft>
            </a:pPr>
            <a:r>
              <a:rPr sz="950" b="0">
                <a:solidFill>
                  <a:srgbClr val="8A9099"/>
                </a:solidFill>
                <a:latin typeface="Red Hat Text"/>
              </a:rPr>
              <a:t>Reuse concept diagram multi-tenancy-workload-security-...-02-scc-admission.svg — Pod runAsUser:0 → restricted-v2 gate → rejected / fixed / scoped-grant.</a:t>
            </a:r>
          </a:p>
        </p:txBody>
      </p:sp>
      <p:cxnSp>
        <p:nvCxnSpPr>
          <p:cNvPr id="26" name="Connector 25"/>
          <p:cNvCxnSpPr/>
          <p:nvPr/>
        </p:nvCxnSpPr>
        <p:spPr>
          <a:xfrm>
            <a:off x="841248" y="6437376"/>
            <a:ext cx="10509199" cy="0"/>
          </a:xfrm>
          <a:prstGeom prst="bentConnector3">
            <a:avLst/>
          </a:prstGeom>
          <a:ln w="12700">
            <a:solidFill>
              <a:srgbClr val="DDE1E6"/>
            </a:solidFill>
          </a:ln>
          <a:effectLst/>
        </p:spPr>
        <p:style>
          <a:lnRef idx="2">
            <a:schemeClr val="accent1"/>
          </a:lnRef>
          <a:fillRef idx="0">
            <a:schemeClr val="accent1"/>
          </a:fillRef>
          <a:effectRef idx="1">
            <a:schemeClr val="accent1"/>
          </a:effectRef>
          <a:fontRef idx="minor">
            <a:schemeClr val="tx1"/>
          </a:fontRef>
        </p:style>
      </p:cxnSp>
      <p:sp>
        <p:nvSpPr>
          <p:cNvPr id="27" name="TextBox 26"/>
          <p:cNvSpPr txBox="1"/>
          <p:nvPr/>
        </p:nvSpPr>
        <p:spPr>
          <a:xfrm>
            <a:off x="841248" y="6473952"/>
            <a:ext cx="7315200" cy="274320"/>
          </a:xfrm>
          <a:prstGeom prst="rect">
            <a:avLst/>
          </a:prstGeom>
          <a:noFill/>
        </p:spPr>
        <p:txBody>
          <a:bodyPr wrap="square" anchor="t" lIns="0" rIns="0" tIns="0" bIns="0">
            <a:spAutoFit/>
          </a:bodyPr>
          <a:lstStyle/>
          <a:p>
            <a:pPr algn="l">
              <a:lnSpc>
                <a:spcPct val="106000"/>
              </a:lnSpc>
              <a:spcBef>
                <a:spcPts val="0"/>
              </a:spcBef>
              <a:spcAft>
                <a:spcPts val="0"/>
              </a:spcAft>
            </a:pPr>
            <a:r>
              <a:rPr sz="950" b="0">
                <a:solidFill>
                  <a:srgbClr val="8A9099"/>
                </a:solidFill>
                <a:latin typeface="Red Hat Text"/>
              </a:rPr>
              <a:t>CONFIDENTIAL</a:t>
            </a:r>
          </a:p>
        </p:txBody>
      </p:sp>
      <p:sp>
        <p:nvSpPr>
          <p:cNvPr id="28" name="TextBox 27"/>
          <p:cNvSpPr txBox="1"/>
          <p:nvPr/>
        </p:nvSpPr>
        <p:spPr>
          <a:xfrm>
            <a:off x="10801807" y="6473952"/>
            <a:ext cx="548640" cy="274320"/>
          </a:xfrm>
          <a:prstGeom prst="rect">
            <a:avLst/>
          </a:prstGeom>
          <a:noFill/>
        </p:spPr>
        <p:txBody>
          <a:bodyPr wrap="square" anchor="t" lIns="0" rIns="0" tIns="0" bIns="0">
            <a:spAutoFit/>
          </a:bodyPr>
          <a:lstStyle/>
          <a:p>
            <a:pPr algn="r">
              <a:lnSpc>
                <a:spcPct val="106000"/>
              </a:lnSpc>
              <a:spcBef>
                <a:spcPts val="0"/>
              </a:spcBef>
              <a:spcAft>
                <a:spcPts val="0"/>
              </a:spcAft>
            </a:pPr>
            <a:r>
              <a:rPr sz="950" b="0">
                <a:solidFill>
                  <a:srgbClr val="8A9099"/>
                </a:solidFill>
                <a:latin typeface="Red Hat Text"/>
              </a:rPr>
              <a:t>107</a:t>
            </a:r>
          </a:p>
        </p:txBody>
      </p:sp>
    </p:spTree>
  </p:cSld>
  <p:clrMapOvr>
    <a:masterClrMapping/>
  </p:clrMapOvr>
</p:sld>
</file>

<file path=ppt/slides/slide1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redhat_logo.jpg"/>
          <p:cNvPicPr>
            <a:picLocks noChangeAspect="1"/>
          </p:cNvPicPr>
          <p:nvPr/>
        </p:nvPicPr>
        <p:blipFill>
          <a:blip r:embed="rId2"/>
          <a:stretch>
            <a:fillRect/>
          </a:stretch>
        </p:blipFill>
        <p:spPr>
          <a:xfrm>
            <a:off x="10326319" y="475488"/>
            <a:ext cx="1024128" cy="242248"/>
          </a:xfrm>
          <a:prstGeom prst="rect">
            <a:avLst/>
          </a:prstGeom>
        </p:spPr>
      </p:pic>
      <p:sp>
        <p:nvSpPr>
          <p:cNvPr id="3" name="TextBox 2"/>
          <p:cNvSpPr txBox="1"/>
          <p:nvPr/>
        </p:nvSpPr>
        <p:spPr>
          <a:xfrm>
            <a:off x="841248" y="548640"/>
            <a:ext cx="8595360" cy="274320"/>
          </a:xfrm>
          <a:prstGeom prst="rect">
            <a:avLst/>
          </a:prstGeom>
          <a:noFill/>
        </p:spPr>
        <p:txBody>
          <a:bodyPr wrap="square" anchor="t" lIns="0" rIns="0" tIns="0" bIns="0">
            <a:spAutoFit/>
          </a:bodyPr>
          <a:lstStyle/>
          <a:p>
            <a:pPr algn="l">
              <a:lnSpc>
                <a:spcPct val="106000"/>
              </a:lnSpc>
              <a:spcBef>
                <a:spcPts val="0"/>
              </a:spcBef>
              <a:spcAft>
                <a:spcPts val="0"/>
              </a:spcAft>
            </a:pPr>
            <a:r>
              <a:rPr sz="1250" b="1" spc="220">
                <a:solidFill>
                  <a:srgbClr val="EE0000"/>
                </a:solidFill>
                <a:latin typeface="Red Hat Display"/>
              </a:rPr>
              <a:t>M15 · MULTI-TENANCY &amp; WORKLOAD SECURITY</a:t>
            </a:r>
          </a:p>
        </p:txBody>
      </p:sp>
      <p:sp>
        <p:nvSpPr>
          <p:cNvPr id="4" name="TextBox 3"/>
          <p:cNvSpPr txBox="1"/>
          <p:nvPr/>
        </p:nvSpPr>
        <p:spPr>
          <a:xfrm>
            <a:off x="841248" y="877824"/>
            <a:ext cx="10515600" cy="548640"/>
          </a:xfrm>
          <a:prstGeom prst="rect">
            <a:avLst/>
          </a:prstGeom>
          <a:noFill/>
        </p:spPr>
        <p:txBody>
          <a:bodyPr wrap="none" anchor="t" lIns="0" rIns="0" tIns="0" bIns="0">
            <a:spAutoFit/>
          </a:bodyPr>
          <a:lstStyle/>
          <a:p>
            <a:pPr algn="l">
              <a:lnSpc>
                <a:spcPct val="100000"/>
              </a:lnSpc>
              <a:spcBef>
                <a:spcPts val="0"/>
              </a:spcBef>
              <a:spcAft>
                <a:spcPts val="0"/>
              </a:spcAft>
            </a:pPr>
            <a:r>
              <a:rPr sz="2500" b="1">
                <a:solidFill>
                  <a:srgbClr val="1A1A1A"/>
                </a:solidFill>
                <a:latin typeface="Red Hat Display"/>
              </a:rPr>
              <a:t>Guardrails</a:t>
            </a:r>
          </a:p>
        </p:txBody>
      </p:sp>
      <p:cxnSp>
        <p:nvCxnSpPr>
          <p:cNvPr id="5" name="Connector 4"/>
          <p:cNvCxnSpPr/>
          <p:nvPr/>
        </p:nvCxnSpPr>
        <p:spPr>
          <a:xfrm>
            <a:off x="841248" y="1554480"/>
            <a:ext cx="1371600" cy="0"/>
          </a:xfrm>
          <a:prstGeom prst="bentConnector3">
            <a:avLst/>
          </a:prstGeom>
          <a:ln w="31750">
            <a:solidFill>
              <a:srgbClr val="EE0000"/>
            </a:solidFill>
          </a:ln>
          <a:effectLst/>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841248" y="1664208"/>
            <a:ext cx="10515600" cy="365760"/>
          </a:xfrm>
          <a:prstGeom prst="rect">
            <a:avLst/>
          </a:prstGeom>
          <a:noFill/>
        </p:spPr>
        <p:txBody>
          <a:bodyPr wrap="square" anchor="t" lIns="0" rIns="0" tIns="0" bIns="0">
            <a:spAutoFit/>
          </a:bodyPr>
          <a:lstStyle/>
          <a:p>
            <a:pPr algn="l">
              <a:lnSpc>
                <a:spcPct val="106000"/>
              </a:lnSpc>
              <a:spcBef>
                <a:spcPts val="0"/>
              </a:spcBef>
              <a:spcAft>
                <a:spcPts val="0"/>
              </a:spcAft>
            </a:pPr>
            <a:r>
              <a:rPr sz="1350" b="0">
                <a:solidFill>
                  <a:srgbClr val="555960"/>
                </a:solidFill>
                <a:latin typeface="Red Hat Text"/>
              </a:rPr>
              <a:t>quota, limits, workload identity</a:t>
            </a:r>
          </a:p>
        </p:txBody>
      </p:sp>
      <p:sp>
        <p:nvSpPr>
          <p:cNvPr id="7" name="Rounded Rectangle 6"/>
          <p:cNvSpPr/>
          <p:nvPr/>
        </p:nvSpPr>
        <p:spPr>
          <a:xfrm>
            <a:off x="841248" y="2670048"/>
            <a:ext cx="5715000" cy="530352"/>
          </a:xfrm>
          <a:prstGeom prst="roundRect">
            <a:avLst>
              <a:gd name="adj" fmla="val 6000"/>
            </a:avLst>
          </a:prstGeom>
          <a:solidFill>
            <a:srgbClr val="F5F6F8"/>
          </a:solidFill>
          <a:ln w="12700">
            <a:solidFill>
              <a:srgbClr val="DDE1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check_steel.png"/>
          <p:cNvPicPr>
            <a:picLocks noChangeAspect="1"/>
          </p:cNvPicPr>
          <p:nvPr/>
        </p:nvPicPr>
        <p:blipFill>
          <a:blip r:embed="rId3"/>
          <a:stretch>
            <a:fillRect/>
          </a:stretch>
        </p:blipFill>
        <p:spPr>
          <a:xfrm>
            <a:off x="987552" y="2816352"/>
            <a:ext cx="237744" cy="237744"/>
          </a:xfrm>
          <a:prstGeom prst="rect">
            <a:avLst/>
          </a:prstGeom>
        </p:spPr>
      </p:pic>
      <p:sp>
        <p:nvSpPr>
          <p:cNvPr id="9" name="TextBox 8"/>
          <p:cNvSpPr txBox="1"/>
          <p:nvPr/>
        </p:nvSpPr>
        <p:spPr>
          <a:xfrm>
            <a:off x="1353312" y="2670048"/>
            <a:ext cx="5029200" cy="530352"/>
          </a:xfrm>
          <a:prstGeom prst="rect">
            <a:avLst/>
          </a:prstGeom>
          <a:noFill/>
        </p:spPr>
        <p:txBody>
          <a:bodyPr wrap="square" anchor="ctr" lIns="0" rIns="0" tIns="0" bIns="0">
            <a:spAutoFit/>
          </a:bodyPr>
          <a:lstStyle/>
          <a:p>
            <a:pPr algn="l">
              <a:lnSpc>
                <a:spcPct val="106000"/>
              </a:lnSpc>
              <a:spcBef>
                <a:spcPts val="0"/>
              </a:spcBef>
              <a:spcAft>
                <a:spcPts val="0"/>
              </a:spcAft>
            </a:pPr>
            <a:r>
              <a:rPr sz="1200" b="0">
                <a:solidFill>
                  <a:srgbClr val="1A1A1A"/>
                </a:solidFill>
                <a:latin typeface="Red Hat Text"/>
              </a:rPr>
              <a:t>ResourceQuota: the namespace's budget</a:t>
            </a:r>
          </a:p>
        </p:txBody>
      </p:sp>
      <p:sp>
        <p:nvSpPr>
          <p:cNvPr id="10" name="Rounded Rectangle 9"/>
          <p:cNvSpPr/>
          <p:nvPr/>
        </p:nvSpPr>
        <p:spPr>
          <a:xfrm>
            <a:off x="841248" y="3273552"/>
            <a:ext cx="5715000" cy="530352"/>
          </a:xfrm>
          <a:prstGeom prst="roundRect">
            <a:avLst>
              <a:gd name="adj" fmla="val 6000"/>
            </a:avLst>
          </a:prstGeom>
          <a:solidFill>
            <a:srgbClr val="F5F6F8"/>
          </a:solidFill>
          <a:ln w="12700">
            <a:solidFill>
              <a:srgbClr val="DDE1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1" name="Picture 10" descr="check_steel.png"/>
          <p:cNvPicPr>
            <a:picLocks noChangeAspect="1"/>
          </p:cNvPicPr>
          <p:nvPr/>
        </p:nvPicPr>
        <p:blipFill>
          <a:blip r:embed="rId3"/>
          <a:stretch>
            <a:fillRect/>
          </a:stretch>
        </p:blipFill>
        <p:spPr>
          <a:xfrm>
            <a:off x="987552" y="3419856"/>
            <a:ext cx="237744" cy="237744"/>
          </a:xfrm>
          <a:prstGeom prst="rect">
            <a:avLst/>
          </a:prstGeom>
        </p:spPr>
      </p:pic>
      <p:sp>
        <p:nvSpPr>
          <p:cNvPr id="12" name="TextBox 11"/>
          <p:cNvSpPr txBox="1"/>
          <p:nvPr/>
        </p:nvSpPr>
        <p:spPr>
          <a:xfrm>
            <a:off x="1353312" y="3273552"/>
            <a:ext cx="5029200" cy="530352"/>
          </a:xfrm>
          <a:prstGeom prst="rect">
            <a:avLst/>
          </a:prstGeom>
          <a:noFill/>
        </p:spPr>
        <p:txBody>
          <a:bodyPr wrap="square" anchor="ctr" lIns="0" rIns="0" tIns="0" bIns="0">
            <a:spAutoFit/>
          </a:bodyPr>
          <a:lstStyle/>
          <a:p>
            <a:pPr algn="l">
              <a:lnSpc>
                <a:spcPct val="106000"/>
              </a:lnSpc>
              <a:spcBef>
                <a:spcPts val="0"/>
              </a:spcBef>
              <a:spcAft>
                <a:spcPts val="0"/>
              </a:spcAft>
            </a:pPr>
            <a:r>
              <a:rPr sz="1200" b="0">
                <a:solidFill>
                  <a:srgbClr val="1A1A1A"/>
                </a:solidFill>
                <a:latin typeface="Red Hat Text"/>
              </a:rPr>
              <a:t>LimitRange: default requests/limits per Pod</a:t>
            </a:r>
          </a:p>
        </p:txBody>
      </p:sp>
      <p:sp>
        <p:nvSpPr>
          <p:cNvPr id="13" name="Rounded Rectangle 12"/>
          <p:cNvSpPr/>
          <p:nvPr/>
        </p:nvSpPr>
        <p:spPr>
          <a:xfrm>
            <a:off x="841248" y="3877056"/>
            <a:ext cx="5715000" cy="530352"/>
          </a:xfrm>
          <a:prstGeom prst="roundRect">
            <a:avLst>
              <a:gd name="adj" fmla="val 6000"/>
            </a:avLst>
          </a:prstGeom>
          <a:solidFill>
            <a:srgbClr val="F5F6F8"/>
          </a:solidFill>
          <a:ln w="12700">
            <a:solidFill>
              <a:srgbClr val="DDE1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4" name="Picture 13" descr="check_steel.png"/>
          <p:cNvPicPr>
            <a:picLocks noChangeAspect="1"/>
          </p:cNvPicPr>
          <p:nvPr/>
        </p:nvPicPr>
        <p:blipFill>
          <a:blip r:embed="rId3"/>
          <a:stretch>
            <a:fillRect/>
          </a:stretch>
        </p:blipFill>
        <p:spPr>
          <a:xfrm>
            <a:off x="987552" y="4023360"/>
            <a:ext cx="237744" cy="237744"/>
          </a:xfrm>
          <a:prstGeom prst="rect">
            <a:avLst/>
          </a:prstGeom>
        </p:spPr>
      </p:pic>
      <p:sp>
        <p:nvSpPr>
          <p:cNvPr id="15" name="TextBox 14"/>
          <p:cNvSpPr txBox="1"/>
          <p:nvPr/>
        </p:nvSpPr>
        <p:spPr>
          <a:xfrm>
            <a:off x="1353312" y="3877056"/>
            <a:ext cx="5029200" cy="530352"/>
          </a:xfrm>
          <a:prstGeom prst="rect">
            <a:avLst/>
          </a:prstGeom>
          <a:noFill/>
        </p:spPr>
        <p:txBody>
          <a:bodyPr wrap="square" anchor="ctr" lIns="0" rIns="0" tIns="0" bIns="0">
            <a:spAutoFit/>
          </a:bodyPr>
          <a:lstStyle/>
          <a:p>
            <a:pPr algn="l">
              <a:lnSpc>
                <a:spcPct val="106000"/>
              </a:lnSpc>
              <a:spcBef>
                <a:spcPts val="0"/>
              </a:spcBef>
              <a:spcAft>
                <a:spcPts val="0"/>
              </a:spcAft>
            </a:pPr>
            <a:r>
              <a:rPr sz="1200" b="0">
                <a:solidFill>
                  <a:srgbClr val="1A1A1A"/>
                </a:solidFill>
                <a:latin typeface="Red Hat Text"/>
              </a:rPr>
              <a:t>Requests reserve; limits cap at runtime</a:t>
            </a:r>
          </a:p>
        </p:txBody>
      </p:sp>
      <p:sp>
        <p:nvSpPr>
          <p:cNvPr id="16" name="Rounded Rectangle 15"/>
          <p:cNvSpPr/>
          <p:nvPr/>
        </p:nvSpPr>
        <p:spPr>
          <a:xfrm>
            <a:off x="841248" y="4480560"/>
            <a:ext cx="5715000" cy="530352"/>
          </a:xfrm>
          <a:prstGeom prst="roundRect">
            <a:avLst>
              <a:gd name="adj" fmla="val 6000"/>
            </a:avLst>
          </a:prstGeom>
          <a:solidFill>
            <a:srgbClr val="F5F6F8"/>
          </a:solidFill>
          <a:ln w="12700">
            <a:solidFill>
              <a:srgbClr val="DDE1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7" name="Picture 16" descr="check_steel.png"/>
          <p:cNvPicPr>
            <a:picLocks noChangeAspect="1"/>
          </p:cNvPicPr>
          <p:nvPr/>
        </p:nvPicPr>
        <p:blipFill>
          <a:blip r:embed="rId3"/>
          <a:stretch>
            <a:fillRect/>
          </a:stretch>
        </p:blipFill>
        <p:spPr>
          <a:xfrm>
            <a:off x="987552" y="4626864"/>
            <a:ext cx="237744" cy="237744"/>
          </a:xfrm>
          <a:prstGeom prst="rect">
            <a:avLst/>
          </a:prstGeom>
        </p:spPr>
      </p:pic>
      <p:sp>
        <p:nvSpPr>
          <p:cNvPr id="18" name="TextBox 17"/>
          <p:cNvSpPr txBox="1"/>
          <p:nvPr/>
        </p:nvSpPr>
        <p:spPr>
          <a:xfrm>
            <a:off x="1353312" y="4480560"/>
            <a:ext cx="5029200" cy="530352"/>
          </a:xfrm>
          <a:prstGeom prst="rect">
            <a:avLst/>
          </a:prstGeom>
          <a:noFill/>
        </p:spPr>
        <p:txBody>
          <a:bodyPr wrap="square" anchor="ctr" lIns="0" rIns="0" tIns="0" bIns="0">
            <a:spAutoFit/>
          </a:bodyPr>
          <a:lstStyle/>
          <a:p>
            <a:pPr algn="l">
              <a:lnSpc>
                <a:spcPct val="106000"/>
              </a:lnSpc>
              <a:spcBef>
                <a:spcPts val="0"/>
              </a:spcBef>
              <a:spcAft>
                <a:spcPts val="0"/>
              </a:spcAft>
            </a:pPr>
            <a:r>
              <a:rPr sz="1200" b="0">
                <a:solidFill>
                  <a:srgbClr val="1A1A1A"/>
                </a:solidFill>
                <a:latin typeface="Red Hat Text"/>
              </a:rPr>
              <a:t>Workloads authenticate as ServiceAccounts</a:t>
            </a:r>
          </a:p>
        </p:txBody>
      </p:sp>
      <p:sp>
        <p:nvSpPr>
          <p:cNvPr id="19" name="Rounded Rectangle 18"/>
          <p:cNvSpPr/>
          <p:nvPr/>
        </p:nvSpPr>
        <p:spPr>
          <a:xfrm>
            <a:off x="841248" y="5084064"/>
            <a:ext cx="5715000" cy="530352"/>
          </a:xfrm>
          <a:prstGeom prst="roundRect">
            <a:avLst>
              <a:gd name="adj" fmla="val 6000"/>
            </a:avLst>
          </a:prstGeom>
          <a:solidFill>
            <a:srgbClr val="F5F6F8"/>
          </a:solidFill>
          <a:ln w="12700">
            <a:solidFill>
              <a:srgbClr val="DDE1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0" name="Picture 19" descr="check_steel.png"/>
          <p:cNvPicPr>
            <a:picLocks noChangeAspect="1"/>
          </p:cNvPicPr>
          <p:nvPr/>
        </p:nvPicPr>
        <p:blipFill>
          <a:blip r:embed="rId3"/>
          <a:stretch>
            <a:fillRect/>
          </a:stretch>
        </p:blipFill>
        <p:spPr>
          <a:xfrm>
            <a:off x="987552" y="5230368"/>
            <a:ext cx="237744" cy="237744"/>
          </a:xfrm>
          <a:prstGeom prst="rect">
            <a:avLst/>
          </a:prstGeom>
        </p:spPr>
      </p:pic>
      <p:sp>
        <p:nvSpPr>
          <p:cNvPr id="21" name="TextBox 20"/>
          <p:cNvSpPr txBox="1"/>
          <p:nvPr/>
        </p:nvSpPr>
        <p:spPr>
          <a:xfrm>
            <a:off x="1353312" y="5084064"/>
            <a:ext cx="5029200" cy="530352"/>
          </a:xfrm>
          <a:prstGeom prst="rect">
            <a:avLst/>
          </a:prstGeom>
          <a:noFill/>
        </p:spPr>
        <p:txBody>
          <a:bodyPr wrap="square" anchor="ctr" lIns="0" rIns="0" tIns="0" bIns="0">
            <a:spAutoFit/>
          </a:bodyPr>
          <a:lstStyle/>
          <a:p>
            <a:pPr algn="l">
              <a:lnSpc>
                <a:spcPct val="106000"/>
              </a:lnSpc>
              <a:spcBef>
                <a:spcPts val="0"/>
              </a:spcBef>
              <a:spcAft>
                <a:spcPts val="0"/>
              </a:spcAft>
            </a:pPr>
            <a:r>
              <a:rPr sz="1200" b="0">
                <a:solidFill>
                  <a:srgbClr val="1A1A1A"/>
                </a:solidFill>
                <a:latin typeface="Red Hat Text"/>
              </a:rPr>
              <a:t>Bound tokens: short-lived, scoped, revocable</a:t>
            </a:r>
          </a:p>
        </p:txBody>
      </p:sp>
      <p:sp>
        <p:nvSpPr>
          <p:cNvPr id="22" name="Rounded Rectangle 21"/>
          <p:cNvSpPr/>
          <p:nvPr/>
        </p:nvSpPr>
        <p:spPr>
          <a:xfrm>
            <a:off x="6812280" y="2670048"/>
            <a:ext cx="4538167" cy="2944368"/>
          </a:xfrm>
          <a:prstGeom prst="roundRect">
            <a:avLst>
              <a:gd name="adj" fmla="val 4000"/>
            </a:avLst>
          </a:prstGeom>
          <a:solidFill>
            <a:srgbClr val="FFFFFF"/>
          </a:solidFill>
          <a:ln w="15240">
            <a:solidFill>
              <a:srgbClr val="DDE1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ounded Rectangle 22"/>
          <p:cNvSpPr/>
          <p:nvPr/>
        </p:nvSpPr>
        <p:spPr>
          <a:xfrm>
            <a:off x="7013448" y="2871216"/>
            <a:ext cx="1298448" cy="310896"/>
          </a:xfrm>
          <a:prstGeom prst="roundRect">
            <a:avLst>
              <a:gd name="adj" fmla="val 50000"/>
            </a:avLst>
          </a:prstGeom>
          <a:solidFill>
            <a:srgbClr val="FCEC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7013448" y="2871216"/>
            <a:ext cx="1298448" cy="310896"/>
          </a:xfrm>
          <a:prstGeom prst="rect">
            <a:avLst/>
          </a:prstGeom>
          <a:noFill/>
        </p:spPr>
        <p:txBody>
          <a:bodyPr wrap="none" anchor="ctr" lIns="0" rIns="0" tIns="0" bIns="0">
            <a:spAutoFit/>
          </a:bodyPr>
          <a:lstStyle/>
          <a:p>
            <a:pPr algn="ctr">
              <a:lnSpc>
                <a:spcPct val="106000"/>
              </a:lnSpc>
              <a:spcBef>
                <a:spcPts val="0"/>
              </a:spcBef>
              <a:spcAft>
                <a:spcPts val="0"/>
              </a:spcAft>
            </a:pPr>
            <a:r>
              <a:rPr sz="850" b="1">
                <a:solidFill>
                  <a:srgbClr val="B80000"/>
                </a:solidFill>
                <a:latin typeface="Red Hat Display"/>
              </a:rPr>
              <a:t>MEDIA PASS</a:t>
            </a:r>
          </a:p>
        </p:txBody>
      </p:sp>
      <p:pic>
        <p:nvPicPr>
          <p:cNvPr id="25" name="Picture 24" descr="eye_slate.png"/>
          <p:cNvPicPr>
            <a:picLocks noChangeAspect="1"/>
          </p:cNvPicPr>
          <p:nvPr/>
        </p:nvPicPr>
        <p:blipFill>
          <a:blip r:embed="rId4"/>
          <a:stretch>
            <a:fillRect/>
          </a:stretch>
        </p:blipFill>
        <p:spPr>
          <a:xfrm>
            <a:off x="8843619" y="3383280"/>
            <a:ext cx="475488" cy="475488"/>
          </a:xfrm>
          <a:prstGeom prst="rect">
            <a:avLst/>
          </a:prstGeom>
        </p:spPr>
      </p:pic>
      <p:sp>
        <p:nvSpPr>
          <p:cNvPr id="26" name="TextBox 25"/>
          <p:cNvSpPr txBox="1"/>
          <p:nvPr/>
        </p:nvSpPr>
        <p:spPr>
          <a:xfrm>
            <a:off x="7050024" y="3995928"/>
            <a:ext cx="4062679" cy="1481328"/>
          </a:xfrm>
          <a:prstGeom prst="rect">
            <a:avLst/>
          </a:prstGeom>
          <a:noFill/>
        </p:spPr>
        <p:txBody>
          <a:bodyPr wrap="square" anchor="t" lIns="0" rIns="0" tIns="0" bIns="0">
            <a:spAutoFit/>
          </a:bodyPr>
          <a:lstStyle/>
          <a:p>
            <a:pPr algn="l">
              <a:lnSpc>
                <a:spcPct val="120000"/>
              </a:lnSpc>
              <a:spcBef>
                <a:spcPts val="0"/>
              </a:spcBef>
              <a:spcAft>
                <a:spcPts val="0"/>
              </a:spcAft>
            </a:pPr>
            <a:r>
              <a:rPr sz="950" b="0">
                <a:solidFill>
                  <a:srgbClr val="8A9099"/>
                </a:solidFill>
                <a:latin typeface="Red Hat Text"/>
              </a:rPr>
              <a:t>A namespace box with a fuel-gauge (quota), a price-tag stamp (LimitRange) on a Pod, and a ServiceAccount badge issuing a short-lived token chip.</a:t>
            </a:r>
          </a:p>
        </p:txBody>
      </p:sp>
      <p:cxnSp>
        <p:nvCxnSpPr>
          <p:cNvPr id="27" name="Connector 26"/>
          <p:cNvCxnSpPr/>
          <p:nvPr/>
        </p:nvCxnSpPr>
        <p:spPr>
          <a:xfrm>
            <a:off x="841248" y="6437376"/>
            <a:ext cx="10509199" cy="0"/>
          </a:xfrm>
          <a:prstGeom prst="bentConnector3">
            <a:avLst/>
          </a:prstGeom>
          <a:ln w="12700">
            <a:solidFill>
              <a:srgbClr val="DDE1E6"/>
            </a:solidFill>
          </a:ln>
          <a:effectLst/>
        </p:spPr>
        <p:style>
          <a:lnRef idx="2">
            <a:schemeClr val="accent1"/>
          </a:lnRef>
          <a:fillRef idx="0">
            <a:schemeClr val="accent1"/>
          </a:fillRef>
          <a:effectRef idx="1">
            <a:schemeClr val="accent1"/>
          </a:effectRef>
          <a:fontRef idx="minor">
            <a:schemeClr val="tx1"/>
          </a:fontRef>
        </p:style>
      </p:cxnSp>
      <p:sp>
        <p:nvSpPr>
          <p:cNvPr id="28" name="TextBox 27"/>
          <p:cNvSpPr txBox="1"/>
          <p:nvPr/>
        </p:nvSpPr>
        <p:spPr>
          <a:xfrm>
            <a:off x="841248" y="6473952"/>
            <a:ext cx="7315200" cy="274320"/>
          </a:xfrm>
          <a:prstGeom prst="rect">
            <a:avLst/>
          </a:prstGeom>
          <a:noFill/>
        </p:spPr>
        <p:txBody>
          <a:bodyPr wrap="square" anchor="t" lIns="0" rIns="0" tIns="0" bIns="0">
            <a:spAutoFit/>
          </a:bodyPr>
          <a:lstStyle/>
          <a:p>
            <a:pPr algn="l">
              <a:lnSpc>
                <a:spcPct val="106000"/>
              </a:lnSpc>
              <a:spcBef>
                <a:spcPts val="0"/>
              </a:spcBef>
              <a:spcAft>
                <a:spcPts val="0"/>
              </a:spcAft>
            </a:pPr>
            <a:r>
              <a:rPr sz="950" b="0">
                <a:solidFill>
                  <a:srgbClr val="8A9099"/>
                </a:solidFill>
                <a:latin typeface="Red Hat Text"/>
              </a:rPr>
              <a:t>CONFIDENTIAL</a:t>
            </a:r>
          </a:p>
        </p:txBody>
      </p:sp>
      <p:sp>
        <p:nvSpPr>
          <p:cNvPr id="29" name="TextBox 28"/>
          <p:cNvSpPr txBox="1"/>
          <p:nvPr/>
        </p:nvSpPr>
        <p:spPr>
          <a:xfrm>
            <a:off x="10801807" y="6473952"/>
            <a:ext cx="548640" cy="274320"/>
          </a:xfrm>
          <a:prstGeom prst="rect">
            <a:avLst/>
          </a:prstGeom>
          <a:noFill/>
        </p:spPr>
        <p:txBody>
          <a:bodyPr wrap="square" anchor="t" lIns="0" rIns="0" tIns="0" bIns="0">
            <a:spAutoFit/>
          </a:bodyPr>
          <a:lstStyle/>
          <a:p>
            <a:pPr algn="r">
              <a:lnSpc>
                <a:spcPct val="106000"/>
              </a:lnSpc>
              <a:spcBef>
                <a:spcPts val="0"/>
              </a:spcBef>
              <a:spcAft>
                <a:spcPts val="0"/>
              </a:spcAft>
            </a:pPr>
            <a:r>
              <a:rPr sz="950" b="0">
                <a:solidFill>
                  <a:srgbClr val="8A9099"/>
                </a:solidFill>
                <a:latin typeface="Red Hat Text"/>
              </a:rPr>
              <a:t>108</a:t>
            </a:r>
          </a:p>
        </p:txBody>
      </p:sp>
    </p:spTree>
  </p:cSld>
  <p:clrMapOvr>
    <a:masterClrMapping/>
  </p:clrMapOvr>
</p:sld>
</file>

<file path=ppt/slides/slide1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redhat_logo.jpg"/>
          <p:cNvPicPr>
            <a:picLocks noChangeAspect="1"/>
          </p:cNvPicPr>
          <p:nvPr/>
        </p:nvPicPr>
        <p:blipFill>
          <a:blip r:embed="rId2"/>
          <a:stretch>
            <a:fillRect/>
          </a:stretch>
        </p:blipFill>
        <p:spPr>
          <a:xfrm>
            <a:off x="10326319" y="475488"/>
            <a:ext cx="1024128" cy="242248"/>
          </a:xfrm>
          <a:prstGeom prst="rect">
            <a:avLst/>
          </a:prstGeom>
        </p:spPr>
      </p:pic>
      <p:sp>
        <p:nvSpPr>
          <p:cNvPr id="3" name="TextBox 2"/>
          <p:cNvSpPr txBox="1"/>
          <p:nvPr/>
        </p:nvSpPr>
        <p:spPr>
          <a:xfrm>
            <a:off x="841248" y="548640"/>
            <a:ext cx="8595360" cy="274320"/>
          </a:xfrm>
          <a:prstGeom prst="rect">
            <a:avLst/>
          </a:prstGeom>
          <a:noFill/>
        </p:spPr>
        <p:txBody>
          <a:bodyPr wrap="square" anchor="t" lIns="0" rIns="0" tIns="0" bIns="0">
            <a:spAutoFit/>
          </a:bodyPr>
          <a:lstStyle/>
          <a:p>
            <a:pPr algn="l">
              <a:lnSpc>
                <a:spcPct val="106000"/>
              </a:lnSpc>
              <a:spcBef>
                <a:spcPts val="0"/>
              </a:spcBef>
              <a:spcAft>
                <a:spcPts val="0"/>
              </a:spcAft>
            </a:pPr>
            <a:r>
              <a:rPr sz="1250" b="1" spc="220">
                <a:solidFill>
                  <a:srgbClr val="EE0000"/>
                </a:solidFill>
                <a:latin typeface="Red Hat Display"/>
              </a:rPr>
              <a:t>M15 · MULTI-TENANCY &amp; WORKLOAD SECURITY</a:t>
            </a:r>
          </a:p>
        </p:txBody>
      </p:sp>
      <p:sp>
        <p:nvSpPr>
          <p:cNvPr id="4" name="TextBox 3"/>
          <p:cNvSpPr txBox="1"/>
          <p:nvPr/>
        </p:nvSpPr>
        <p:spPr>
          <a:xfrm>
            <a:off x="841248" y="877824"/>
            <a:ext cx="10515600" cy="548640"/>
          </a:xfrm>
          <a:prstGeom prst="rect">
            <a:avLst/>
          </a:prstGeom>
          <a:noFill/>
        </p:spPr>
        <p:txBody>
          <a:bodyPr wrap="none" anchor="t" lIns="0" rIns="0" tIns="0" bIns="0">
            <a:spAutoFit/>
          </a:bodyPr>
          <a:lstStyle/>
          <a:p>
            <a:pPr algn="l">
              <a:lnSpc>
                <a:spcPct val="100000"/>
              </a:lnSpc>
              <a:spcBef>
                <a:spcPts val="0"/>
              </a:spcBef>
              <a:spcAft>
                <a:spcPts val="0"/>
              </a:spcAft>
            </a:pPr>
            <a:r>
              <a:rPr sz="2500" b="1">
                <a:solidFill>
                  <a:srgbClr val="1A1A1A"/>
                </a:solidFill>
                <a:latin typeface="Red Hat Display"/>
              </a:rPr>
              <a:t>Tenancy models — how far to split</a:t>
            </a:r>
          </a:p>
        </p:txBody>
      </p:sp>
      <p:cxnSp>
        <p:nvCxnSpPr>
          <p:cNvPr id="5" name="Connector 4"/>
          <p:cNvCxnSpPr/>
          <p:nvPr/>
        </p:nvCxnSpPr>
        <p:spPr>
          <a:xfrm>
            <a:off x="841248" y="1554480"/>
            <a:ext cx="1371600" cy="0"/>
          </a:xfrm>
          <a:prstGeom prst="bentConnector3">
            <a:avLst/>
          </a:prstGeom>
          <a:ln w="31750">
            <a:solidFill>
              <a:srgbClr val="EE0000"/>
            </a:solidFill>
          </a:ln>
          <a:effectLst/>
        </p:spPr>
        <p:style>
          <a:lnRef idx="2">
            <a:schemeClr val="accent1"/>
          </a:lnRef>
          <a:fillRef idx="0">
            <a:schemeClr val="accent1"/>
          </a:fillRef>
          <a:effectRef idx="1">
            <a:schemeClr val="accent1"/>
          </a:effectRef>
          <a:fontRef idx="minor">
            <a:schemeClr val="tx1"/>
          </a:fontRef>
        </p:style>
      </p:cxnSp>
      <p:sp>
        <p:nvSpPr>
          <p:cNvPr id="6" name="Rounded Rectangle 5"/>
          <p:cNvSpPr/>
          <p:nvPr/>
        </p:nvSpPr>
        <p:spPr>
          <a:xfrm>
            <a:off x="841248" y="2395728"/>
            <a:ext cx="5715000" cy="530352"/>
          </a:xfrm>
          <a:prstGeom prst="roundRect">
            <a:avLst>
              <a:gd name="adj" fmla="val 6000"/>
            </a:avLst>
          </a:prstGeom>
          <a:solidFill>
            <a:srgbClr val="F5F6F8"/>
          </a:solidFill>
          <a:ln w="12700">
            <a:solidFill>
              <a:srgbClr val="DDE1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check_steel.png"/>
          <p:cNvPicPr>
            <a:picLocks noChangeAspect="1"/>
          </p:cNvPicPr>
          <p:nvPr/>
        </p:nvPicPr>
        <p:blipFill>
          <a:blip r:embed="rId3"/>
          <a:stretch>
            <a:fillRect/>
          </a:stretch>
        </p:blipFill>
        <p:spPr>
          <a:xfrm>
            <a:off x="987552" y="2542032"/>
            <a:ext cx="237744" cy="237744"/>
          </a:xfrm>
          <a:prstGeom prst="rect">
            <a:avLst/>
          </a:prstGeom>
        </p:spPr>
      </p:pic>
      <p:sp>
        <p:nvSpPr>
          <p:cNvPr id="8" name="TextBox 7"/>
          <p:cNvSpPr txBox="1"/>
          <p:nvPr/>
        </p:nvSpPr>
        <p:spPr>
          <a:xfrm>
            <a:off x="1353312" y="2395728"/>
            <a:ext cx="5029200" cy="530352"/>
          </a:xfrm>
          <a:prstGeom prst="rect">
            <a:avLst/>
          </a:prstGeom>
          <a:noFill/>
        </p:spPr>
        <p:txBody>
          <a:bodyPr wrap="square" anchor="ctr" lIns="0" rIns="0" tIns="0" bIns="0">
            <a:spAutoFit/>
          </a:bodyPr>
          <a:lstStyle/>
          <a:p>
            <a:pPr algn="l">
              <a:lnSpc>
                <a:spcPct val="106000"/>
              </a:lnSpc>
              <a:spcBef>
                <a:spcPts val="0"/>
              </a:spcBef>
              <a:spcAft>
                <a:spcPts val="0"/>
              </a:spcAft>
            </a:pPr>
            <a:r>
              <a:rPr sz="1200" b="0">
                <a:solidFill>
                  <a:srgbClr val="1A1A1A"/>
                </a:solidFill>
                <a:latin typeface="Red Hat Text"/>
              </a:rPr>
              <a:t>Namespace-per-team: cheap, dense, RBAC-isolated</a:t>
            </a:r>
          </a:p>
        </p:txBody>
      </p:sp>
      <p:sp>
        <p:nvSpPr>
          <p:cNvPr id="9" name="Rounded Rectangle 8"/>
          <p:cNvSpPr/>
          <p:nvPr/>
        </p:nvSpPr>
        <p:spPr>
          <a:xfrm>
            <a:off x="841248" y="2999232"/>
            <a:ext cx="5715000" cy="530352"/>
          </a:xfrm>
          <a:prstGeom prst="roundRect">
            <a:avLst>
              <a:gd name="adj" fmla="val 6000"/>
            </a:avLst>
          </a:prstGeom>
          <a:solidFill>
            <a:srgbClr val="F5F6F8"/>
          </a:solidFill>
          <a:ln w="12700">
            <a:solidFill>
              <a:srgbClr val="DDE1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0" name="Picture 9" descr="check_steel.png"/>
          <p:cNvPicPr>
            <a:picLocks noChangeAspect="1"/>
          </p:cNvPicPr>
          <p:nvPr/>
        </p:nvPicPr>
        <p:blipFill>
          <a:blip r:embed="rId3"/>
          <a:stretch>
            <a:fillRect/>
          </a:stretch>
        </p:blipFill>
        <p:spPr>
          <a:xfrm>
            <a:off x="987552" y="3145536"/>
            <a:ext cx="237744" cy="237744"/>
          </a:xfrm>
          <a:prstGeom prst="rect">
            <a:avLst/>
          </a:prstGeom>
        </p:spPr>
      </p:pic>
      <p:sp>
        <p:nvSpPr>
          <p:cNvPr id="11" name="TextBox 10"/>
          <p:cNvSpPr txBox="1"/>
          <p:nvPr/>
        </p:nvSpPr>
        <p:spPr>
          <a:xfrm>
            <a:off x="1353312" y="2999232"/>
            <a:ext cx="5029200" cy="530352"/>
          </a:xfrm>
          <a:prstGeom prst="rect">
            <a:avLst/>
          </a:prstGeom>
          <a:noFill/>
        </p:spPr>
        <p:txBody>
          <a:bodyPr wrap="square" anchor="ctr" lIns="0" rIns="0" tIns="0" bIns="0">
            <a:spAutoFit/>
          </a:bodyPr>
          <a:lstStyle/>
          <a:p>
            <a:pPr algn="l">
              <a:lnSpc>
                <a:spcPct val="106000"/>
              </a:lnSpc>
              <a:spcBef>
                <a:spcPts val="0"/>
              </a:spcBef>
              <a:spcAft>
                <a:spcPts val="0"/>
              </a:spcAft>
            </a:pPr>
            <a:r>
              <a:rPr sz="1200" b="0">
                <a:solidFill>
                  <a:srgbClr val="1A1A1A"/>
                </a:solidFill>
                <a:latin typeface="Red Hat Text"/>
              </a:rPr>
              <a:t>Virtual clusters / Hosted Control Planes</a:t>
            </a:r>
          </a:p>
        </p:txBody>
      </p:sp>
      <p:sp>
        <p:nvSpPr>
          <p:cNvPr id="12" name="Rounded Rectangle 11"/>
          <p:cNvSpPr/>
          <p:nvPr/>
        </p:nvSpPr>
        <p:spPr>
          <a:xfrm>
            <a:off x="841248" y="3602736"/>
            <a:ext cx="5715000" cy="530352"/>
          </a:xfrm>
          <a:prstGeom prst="roundRect">
            <a:avLst>
              <a:gd name="adj" fmla="val 6000"/>
            </a:avLst>
          </a:prstGeom>
          <a:solidFill>
            <a:srgbClr val="F5F6F8"/>
          </a:solidFill>
          <a:ln w="12700">
            <a:solidFill>
              <a:srgbClr val="DDE1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3" name="Picture 12" descr="check_steel.png"/>
          <p:cNvPicPr>
            <a:picLocks noChangeAspect="1"/>
          </p:cNvPicPr>
          <p:nvPr/>
        </p:nvPicPr>
        <p:blipFill>
          <a:blip r:embed="rId3"/>
          <a:stretch>
            <a:fillRect/>
          </a:stretch>
        </p:blipFill>
        <p:spPr>
          <a:xfrm>
            <a:off x="987552" y="3749040"/>
            <a:ext cx="237744" cy="237744"/>
          </a:xfrm>
          <a:prstGeom prst="rect">
            <a:avLst/>
          </a:prstGeom>
        </p:spPr>
      </p:pic>
      <p:sp>
        <p:nvSpPr>
          <p:cNvPr id="14" name="TextBox 13"/>
          <p:cNvSpPr txBox="1"/>
          <p:nvPr/>
        </p:nvSpPr>
        <p:spPr>
          <a:xfrm>
            <a:off x="1353312" y="3602736"/>
            <a:ext cx="5029200" cy="530352"/>
          </a:xfrm>
          <a:prstGeom prst="rect">
            <a:avLst/>
          </a:prstGeom>
          <a:noFill/>
        </p:spPr>
        <p:txBody>
          <a:bodyPr wrap="square" anchor="ctr" lIns="0" rIns="0" tIns="0" bIns="0">
            <a:spAutoFit/>
          </a:bodyPr>
          <a:lstStyle/>
          <a:p>
            <a:pPr algn="l">
              <a:lnSpc>
                <a:spcPct val="106000"/>
              </a:lnSpc>
              <a:spcBef>
                <a:spcPts val="0"/>
              </a:spcBef>
              <a:spcAft>
                <a:spcPts val="0"/>
              </a:spcAft>
            </a:pPr>
            <a:r>
              <a:rPr sz="1200" b="0">
                <a:solidFill>
                  <a:srgbClr val="1A1A1A"/>
                </a:solidFill>
                <a:latin typeface="Red Hat Text"/>
              </a:rPr>
              <a:t>Cluster-per-team: total isolation, total cost</a:t>
            </a:r>
          </a:p>
        </p:txBody>
      </p:sp>
      <p:sp>
        <p:nvSpPr>
          <p:cNvPr id="15" name="Rounded Rectangle 14"/>
          <p:cNvSpPr/>
          <p:nvPr/>
        </p:nvSpPr>
        <p:spPr>
          <a:xfrm>
            <a:off x="841248" y="4206240"/>
            <a:ext cx="5715000" cy="530352"/>
          </a:xfrm>
          <a:prstGeom prst="roundRect">
            <a:avLst>
              <a:gd name="adj" fmla="val 6000"/>
            </a:avLst>
          </a:prstGeom>
          <a:solidFill>
            <a:srgbClr val="F5F6F8"/>
          </a:solidFill>
          <a:ln w="12700">
            <a:solidFill>
              <a:srgbClr val="DDE1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6" name="Picture 15" descr="check_steel.png"/>
          <p:cNvPicPr>
            <a:picLocks noChangeAspect="1"/>
          </p:cNvPicPr>
          <p:nvPr/>
        </p:nvPicPr>
        <p:blipFill>
          <a:blip r:embed="rId3"/>
          <a:stretch>
            <a:fillRect/>
          </a:stretch>
        </p:blipFill>
        <p:spPr>
          <a:xfrm>
            <a:off x="987552" y="4352544"/>
            <a:ext cx="237744" cy="237744"/>
          </a:xfrm>
          <a:prstGeom prst="rect">
            <a:avLst/>
          </a:prstGeom>
        </p:spPr>
      </p:pic>
      <p:sp>
        <p:nvSpPr>
          <p:cNvPr id="17" name="TextBox 16"/>
          <p:cNvSpPr txBox="1"/>
          <p:nvPr/>
        </p:nvSpPr>
        <p:spPr>
          <a:xfrm>
            <a:off x="1353312" y="4206240"/>
            <a:ext cx="5029200" cy="530352"/>
          </a:xfrm>
          <a:prstGeom prst="rect">
            <a:avLst/>
          </a:prstGeom>
          <a:noFill/>
        </p:spPr>
        <p:txBody>
          <a:bodyPr wrap="square" anchor="ctr" lIns="0" rIns="0" tIns="0" bIns="0">
            <a:spAutoFit/>
          </a:bodyPr>
          <a:lstStyle/>
          <a:p>
            <a:pPr algn="l">
              <a:lnSpc>
                <a:spcPct val="106000"/>
              </a:lnSpc>
              <a:spcBef>
                <a:spcPts val="0"/>
              </a:spcBef>
              <a:spcAft>
                <a:spcPts val="0"/>
              </a:spcAft>
            </a:pPr>
            <a:r>
              <a:rPr sz="1200" b="0">
                <a:solidFill>
                  <a:srgbClr val="1A1A1A"/>
                </a:solidFill>
                <a:latin typeface="Red Hat Text"/>
              </a:rPr>
              <a:t>Self-provisioning + project templates: platform levers</a:t>
            </a:r>
          </a:p>
        </p:txBody>
      </p:sp>
      <p:sp>
        <p:nvSpPr>
          <p:cNvPr id="18" name="Rounded Rectangle 17"/>
          <p:cNvSpPr/>
          <p:nvPr/>
        </p:nvSpPr>
        <p:spPr>
          <a:xfrm>
            <a:off x="841248" y="4809744"/>
            <a:ext cx="5715000" cy="530352"/>
          </a:xfrm>
          <a:prstGeom prst="roundRect">
            <a:avLst>
              <a:gd name="adj" fmla="val 6000"/>
            </a:avLst>
          </a:prstGeom>
          <a:solidFill>
            <a:srgbClr val="F5F6F8"/>
          </a:solidFill>
          <a:ln w="12700">
            <a:solidFill>
              <a:srgbClr val="DDE1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9" name="Picture 18" descr="check_steel.png"/>
          <p:cNvPicPr>
            <a:picLocks noChangeAspect="1"/>
          </p:cNvPicPr>
          <p:nvPr/>
        </p:nvPicPr>
        <p:blipFill>
          <a:blip r:embed="rId3"/>
          <a:stretch>
            <a:fillRect/>
          </a:stretch>
        </p:blipFill>
        <p:spPr>
          <a:xfrm>
            <a:off x="987552" y="4956048"/>
            <a:ext cx="237744" cy="237744"/>
          </a:xfrm>
          <a:prstGeom prst="rect">
            <a:avLst/>
          </a:prstGeom>
        </p:spPr>
      </p:pic>
      <p:sp>
        <p:nvSpPr>
          <p:cNvPr id="20" name="TextBox 19"/>
          <p:cNvSpPr txBox="1"/>
          <p:nvPr/>
        </p:nvSpPr>
        <p:spPr>
          <a:xfrm>
            <a:off x="1353312" y="4809744"/>
            <a:ext cx="5029200" cy="530352"/>
          </a:xfrm>
          <a:prstGeom prst="rect">
            <a:avLst/>
          </a:prstGeom>
          <a:noFill/>
        </p:spPr>
        <p:txBody>
          <a:bodyPr wrap="square" anchor="ctr" lIns="0" rIns="0" tIns="0" bIns="0">
            <a:spAutoFit/>
          </a:bodyPr>
          <a:lstStyle/>
          <a:p>
            <a:pPr algn="l">
              <a:lnSpc>
                <a:spcPct val="106000"/>
              </a:lnSpc>
              <a:spcBef>
                <a:spcPts val="0"/>
              </a:spcBef>
              <a:spcAft>
                <a:spcPts val="0"/>
              </a:spcAft>
            </a:pPr>
            <a:r>
              <a:rPr sz="1200" b="0">
                <a:solidFill>
                  <a:srgbClr val="1A1A1A"/>
                </a:solidFill>
                <a:latin typeface="Red Hat Text"/>
              </a:rPr>
              <a:t>Isolation is a cost multiplier — buy what you must</a:t>
            </a:r>
          </a:p>
        </p:txBody>
      </p:sp>
      <p:sp>
        <p:nvSpPr>
          <p:cNvPr id="21" name="Rounded Rectangle 20"/>
          <p:cNvSpPr/>
          <p:nvPr/>
        </p:nvSpPr>
        <p:spPr>
          <a:xfrm>
            <a:off x="6812280" y="2395728"/>
            <a:ext cx="4538167" cy="2944368"/>
          </a:xfrm>
          <a:prstGeom prst="roundRect">
            <a:avLst>
              <a:gd name="adj" fmla="val 4000"/>
            </a:avLst>
          </a:prstGeom>
          <a:solidFill>
            <a:srgbClr val="FFFFFF"/>
          </a:solidFill>
          <a:ln w="15240">
            <a:solidFill>
              <a:srgbClr val="DDE1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ounded Rectangle 21"/>
          <p:cNvSpPr/>
          <p:nvPr/>
        </p:nvSpPr>
        <p:spPr>
          <a:xfrm>
            <a:off x="7013448" y="2596896"/>
            <a:ext cx="1298448" cy="310896"/>
          </a:xfrm>
          <a:prstGeom prst="roundRect">
            <a:avLst>
              <a:gd name="adj" fmla="val 50000"/>
            </a:avLst>
          </a:prstGeom>
          <a:solidFill>
            <a:srgbClr val="FCEC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7013448" y="2596896"/>
            <a:ext cx="1298448" cy="310896"/>
          </a:xfrm>
          <a:prstGeom prst="rect">
            <a:avLst/>
          </a:prstGeom>
          <a:noFill/>
        </p:spPr>
        <p:txBody>
          <a:bodyPr wrap="none" anchor="ctr" lIns="0" rIns="0" tIns="0" bIns="0">
            <a:spAutoFit/>
          </a:bodyPr>
          <a:lstStyle/>
          <a:p>
            <a:pPr algn="ctr">
              <a:lnSpc>
                <a:spcPct val="106000"/>
              </a:lnSpc>
              <a:spcBef>
                <a:spcPts val="0"/>
              </a:spcBef>
              <a:spcAft>
                <a:spcPts val="0"/>
              </a:spcAft>
            </a:pPr>
            <a:r>
              <a:rPr sz="850" b="1">
                <a:solidFill>
                  <a:srgbClr val="B80000"/>
                </a:solidFill>
                <a:latin typeface="Red Hat Display"/>
              </a:rPr>
              <a:t>MEDIA PASS</a:t>
            </a:r>
          </a:p>
        </p:txBody>
      </p:sp>
      <p:pic>
        <p:nvPicPr>
          <p:cNvPr id="24" name="Picture 23" descr="eye_slate.png"/>
          <p:cNvPicPr>
            <a:picLocks noChangeAspect="1"/>
          </p:cNvPicPr>
          <p:nvPr/>
        </p:nvPicPr>
        <p:blipFill>
          <a:blip r:embed="rId4"/>
          <a:stretch>
            <a:fillRect/>
          </a:stretch>
        </p:blipFill>
        <p:spPr>
          <a:xfrm>
            <a:off x="8843619" y="3108960"/>
            <a:ext cx="475488" cy="475488"/>
          </a:xfrm>
          <a:prstGeom prst="rect">
            <a:avLst/>
          </a:prstGeom>
        </p:spPr>
      </p:pic>
      <p:sp>
        <p:nvSpPr>
          <p:cNvPr id="25" name="TextBox 24"/>
          <p:cNvSpPr txBox="1"/>
          <p:nvPr/>
        </p:nvSpPr>
        <p:spPr>
          <a:xfrm>
            <a:off x="7050024" y="3721608"/>
            <a:ext cx="4062679" cy="1481328"/>
          </a:xfrm>
          <a:prstGeom prst="rect">
            <a:avLst/>
          </a:prstGeom>
          <a:noFill/>
        </p:spPr>
        <p:txBody>
          <a:bodyPr wrap="square" anchor="t" lIns="0" rIns="0" tIns="0" bIns="0">
            <a:spAutoFit/>
          </a:bodyPr>
          <a:lstStyle/>
          <a:p>
            <a:pPr algn="l">
              <a:lnSpc>
                <a:spcPct val="120000"/>
              </a:lnSpc>
              <a:spcBef>
                <a:spcPts val="0"/>
              </a:spcBef>
              <a:spcAft>
                <a:spcPts val="0"/>
              </a:spcAft>
            </a:pPr>
            <a:r>
              <a:rPr sz="950" b="0">
                <a:solidFill>
                  <a:srgbClr val="8A9099"/>
                </a:solidFill>
                <a:latin typeface="Red Hat Text"/>
              </a:rPr>
              <a:t>A horizontal spectrum bar: namespace-per-team → vClusters/HCP → cluster-per-team, with cost and isolation arrows pointing opposite directions.</a:t>
            </a:r>
          </a:p>
        </p:txBody>
      </p:sp>
      <p:cxnSp>
        <p:nvCxnSpPr>
          <p:cNvPr id="26" name="Connector 25"/>
          <p:cNvCxnSpPr/>
          <p:nvPr/>
        </p:nvCxnSpPr>
        <p:spPr>
          <a:xfrm>
            <a:off x="841248" y="6437376"/>
            <a:ext cx="10509199" cy="0"/>
          </a:xfrm>
          <a:prstGeom prst="bentConnector3">
            <a:avLst/>
          </a:prstGeom>
          <a:ln w="12700">
            <a:solidFill>
              <a:srgbClr val="DDE1E6"/>
            </a:solidFill>
          </a:ln>
          <a:effectLst/>
        </p:spPr>
        <p:style>
          <a:lnRef idx="2">
            <a:schemeClr val="accent1"/>
          </a:lnRef>
          <a:fillRef idx="0">
            <a:schemeClr val="accent1"/>
          </a:fillRef>
          <a:effectRef idx="1">
            <a:schemeClr val="accent1"/>
          </a:effectRef>
          <a:fontRef idx="minor">
            <a:schemeClr val="tx1"/>
          </a:fontRef>
        </p:style>
      </p:cxnSp>
      <p:sp>
        <p:nvSpPr>
          <p:cNvPr id="27" name="TextBox 26"/>
          <p:cNvSpPr txBox="1"/>
          <p:nvPr/>
        </p:nvSpPr>
        <p:spPr>
          <a:xfrm>
            <a:off x="841248" y="6473952"/>
            <a:ext cx="7315200" cy="274320"/>
          </a:xfrm>
          <a:prstGeom prst="rect">
            <a:avLst/>
          </a:prstGeom>
          <a:noFill/>
        </p:spPr>
        <p:txBody>
          <a:bodyPr wrap="square" anchor="t" lIns="0" rIns="0" tIns="0" bIns="0">
            <a:spAutoFit/>
          </a:bodyPr>
          <a:lstStyle/>
          <a:p>
            <a:pPr algn="l">
              <a:lnSpc>
                <a:spcPct val="106000"/>
              </a:lnSpc>
              <a:spcBef>
                <a:spcPts val="0"/>
              </a:spcBef>
              <a:spcAft>
                <a:spcPts val="0"/>
              </a:spcAft>
            </a:pPr>
            <a:r>
              <a:rPr sz="950" b="0">
                <a:solidFill>
                  <a:srgbClr val="8A9099"/>
                </a:solidFill>
                <a:latin typeface="Red Hat Text"/>
              </a:rPr>
              <a:t>CONFIDENTIAL</a:t>
            </a:r>
          </a:p>
        </p:txBody>
      </p:sp>
      <p:sp>
        <p:nvSpPr>
          <p:cNvPr id="28" name="TextBox 27"/>
          <p:cNvSpPr txBox="1"/>
          <p:nvPr/>
        </p:nvSpPr>
        <p:spPr>
          <a:xfrm>
            <a:off x="10801807" y="6473952"/>
            <a:ext cx="548640" cy="274320"/>
          </a:xfrm>
          <a:prstGeom prst="rect">
            <a:avLst/>
          </a:prstGeom>
          <a:noFill/>
        </p:spPr>
        <p:txBody>
          <a:bodyPr wrap="square" anchor="t" lIns="0" rIns="0" tIns="0" bIns="0">
            <a:spAutoFit/>
          </a:bodyPr>
          <a:lstStyle/>
          <a:p>
            <a:pPr algn="r">
              <a:lnSpc>
                <a:spcPct val="106000"/>
              </a:lnSpc>
              <a:spcBef>
                <a:spcPts val="0"/>
              </a:spcBef>
              <a:spcAft>
                <a:spcPts val="0"/>
              </a:spcAft>
            </a:pPr>
            <a:r>
              <a:rPr sz="950" b="0">
                <a:solidFill>
                  <a:srgbClr val="8A9099"/>
                </a:solidFill>
                <a:latin typeface="Red Hat Text"/>
              </a:rPr>
              <a:t>109</a:t>
            </a:r>
          </a:p>
        </p:txBody>
      </p:sp>
    </p:spTree>
  </p:cSld>
  <p:clrMapOvr>
    <a:masterClrMapping/>
  </p:clrMapOvr>
</p:sld>
</file>

<file path=ppt/slides/slide1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redhat_logo.jpg"/>
          <p:cNvPicPr>
            <a:picLocks noChangeAspect="1"/>
          </p:cNvPicPr>
          <p:nvPr/>
        </p:nvPicPr>
        <p:blipFill>
          <a:blip r:embed="rId2"/>
          <a:stretch>
            <a:fillRect/>
          </a:stretch>
        </p:blipFill>
        <p:spPr>
          <a:xfrm>
            <a:off x="10326319" y="475488"/>
            <a:ext cx="1024128" cy="242248"/>
          </a:xfrm>
          <a:prstGeom prst="rect">
            <a:avLst/>
          </a:prstGeom>
        </p:spPr>
      </p:pic>
      <p:sp>
        <p:nvSpPr>
          <p:cNvPr id="3" name="TextBox 2"/>
          <p:cNvSpPr txBox="1"/>
          <p:nvPr/>
        </p:nvSpPr>
        <p:spPr>
          <a:xfrm>
            <a:off x="841248" y="548640"/>
            <a:ext cx="8595360" cy="274320"/>
          </a:xfrm>
          <a:prstGeom prst="rect">
            <a:avLst/>
          </a:prstGeom>
          <a:noFill/>
        </p:spPr>
        <p:txBody>
          <a:bodyPr wrap="square" anchor="t" lIns="0" rIns="0" tIns="0" bIns="0">
            <a:spAutoFit/>
          </a:bodyPr>
          <a:lstStyle/>
          <a:p>
            <a:pPr algn="l">
              <a:lnSpc>
                <a:spcPct val="106000"/>
              </a:lnSpc>
              <a:spcBef>
                <a:spcPts val="0"/>
              </a:spcBef>
              <a:spcAft>
                <a:spcPts val="0"/>
              </a:spcAft>
            </a:pPr>
            <a:r>
              <a:rPr sz="1250" b="1" spc="220">
                <a:solidFill>
                  <a:srgbClr val="EE0000"/>
                </a:solidFill>
                <a:latin typeface="Red Hat Display"/>
              </a:rPr>
              <a:t>M15 · MULTI-TENANCY &amp; WORKLOAD SECURITY</a:t>
            </a:r>
          </a:p>
        </p:txBody>
      </p:sp>
      <p:sp>
        <p:nvSpPr>
          <p:cNvPr id="4" name="TextBox 3"/>
          <p:cNvSpPr txBox="1"/>
          <p:nvPr/>
        </p:nvSpPr>
        <p:spPr>
          <a:xfrm>
            <a:off x="841248" y="877824"/>
            <a:ext cx="10515600" cy="548640"/>
          </a:xfrm>
          <a:prstGeom prst="rect">
            <a:avLst/>
          </a:prstGeom>
          <a:noFill/>
        </p:spPr>
        <p:txBody>
          <a:bodyPr wrap="none" anchor="t" lIns="0" rIns="0" tIns="0" bIns="0">
            <a:spAutoFit/>
          </a:bodyPr>
          <a:lstStyle/>
          <a:p>
            <a:pPr algn="l">
              <a:lnSpc>
                <a:spcPct val="100000"/>
              </a:lnSpc>
              <a:spcBef>
                <a:spcPts val="0"/>
              </a:spcBef>
              <a:spcAft>
                <a:spcPts val="0"/>
              </a:spcAft>
            </a:pPr>
            <a:r>
              <a:rPr sz="2500" b="1">
                <a:solidFill>
                  <a:srgbClr val="1A1A1A"/>
                </a:solidFill>
                <a:latin typeface="Red Hat Display"/>
              </a:rPr>
              <a:t>What you'll do</a:t>
            </a:r>
          </a:p>
        </p:txBody>
      </p:sp>
      <p:cxnSp>
        <p:nvCxnSpPr>
          <p:cNvPr id="5" name="Connector 4"/>
          <p:cNvCxnSpPr/>
          <p:nvPr/>
        </p:nvCxnSpPr>
        <p:spPr>
          <a:xfrm>
            <a:off x="841248" y="1554480"/>
            <a:ext cx="1371600" cy="0"/>
          </a:xfrm>
          <a:prstGeom prst="bentConnector3">
            <a:avLst/>
          </a:prstGeom>
          <a:ln w="31750">
            <a:solidFill>
              <a:srgbClr val="EE0000"/>
            </a:solidFill>
          </a:ln>
          <a:effectLst/>
        </p:spPr>
        <p:style>
          <a:lnRef idx="2">
            <a:schemeClr val="accent1"/>
          </a:lnRef>
          <a:fillRef idx="0">
            <a:schemeClr val="accent1"/>
          </a:fillRef>
          <a:effectRef idx="1">
            <a:schemeClr val="accent1"/>
          </a:effectRef>
          <a:fontRef idx="minor">
            <a:schemeClr val="tx1"/>
          </a:fontRef>
        </p:style>
      </p:cxnSp>
      <p:sp>
        <p:nvSpPr>
          <p:cNvPr id="6" name="Rounded Rectangle 5"/>
          <p:cNvSpPr/>
          <p:nvPr/>
        </p:nvSpPr>
        <p:spPr>
          <a:xfrm>
            <a:off x="841248" y="2395728"/>
            <a:ext cx="5715000" cy="530352"/>
          </a:xfrm>
          <a:prstGeom prst="roundRect">
            <a:avLst>
              <a:gd name="adj" fmla="val 6000"/>
            </a:avLst>
          </a:prstGeom>
          <a:solidFill>
            <a:srgbClr val="F5F6F8"/>
          </a:solidFill>
          <a:ln w="12700">
            <a:solidFill>
              <a:srgbClr val="DDE1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check_steel.png"/>
          <p:cNvPicPr>
            <a:picLocks noChangeAspect="1"/>
          </p:cNvPicPr>
          <p:nvPr/>
        </p:nvPicPr>
        <p:blipFill>
          <a:blip r:embed="rId3"/>
          <a:stretch>
            <a:fillRect/>
          </a:stretch>
        </p:blipFill>
        <p:spPr>
          <a:xfrm>
            <a:off x="987552" y="2542032"/>
            <a:ext cx="237744" cy="237744"/>
          </a:xfrm>
          <a:prstGeom prst="rect">
            <a:avLst/>
          </a:prstGeom>
        </p:spPr>
      </p:pic>
      <p:sp>
        <p:nvSpPr>
          <p:cNvPr id="8" name="TextBox 7"/>
          <p:cNvSpPr txBox="1"/>
          <p:nvPr/>
        </p:nvSpPr>
        <p:spPr>
          <a:xfrm>
            <a:off x="1353312" y="2395728"/>
            <a:ext cx="5029200" cy="530352"/>
          </a:xfrm>
          <a:prstGeom prst="rect">
            <a:avLst/>
          </a:prstGeom>
          <a:noFill/>
        </p:spPr>
        <p:txBody>
          <a:bodyPr wrap="square" anchor="ctr" lIns="0" rIns="0" tIns="0" bIns="0">
            <a:spAutoFit/>
          </a:bodyPr>
          <a:lstStyle/>
          <a:p>
            <a:pPr algn="l">
              <a:lnSpc>
                <a:spcPct val="106000"/>
              </a:lnSpc>
              <a:spcBef>
                <a:spcPts val="0"/>
              </a:spcBef>
              <a:spcAft>
                <a:spcPts val="0"/>
              </a:spcAft>
            </a:pPr>
            <a:r>
              <a:rPr sz="1200" b="0">
                <a:solidFill>
                  <a:srgbClr val="1A1A1A"/>
                </a:solidFill>
                <a:latin typeface="Red Hat Text"/>
              </a:rPr>
              <a:t>Scale a root workload — watch it be rejected</a:t>
            </a:r>
          </a:p>
        </p:txBody>
      </p:sp>
      <p:sp>
        <p:nvSpPr>
          <p:cNvPr id="9" name="Rounded Rectangle 8"/>
          <p:cNvSpPr/>
          <p:nvPr/>
        </p:nvSpPr>
        <p:spPr>
          <a:xfrm>
            <a:off x="841248" y="2999232"/>
            <a:ext cx="5715000" cy="530352"/>
          </a:xfrm>
          <a:prstGeom prst="roundRect">
            <a:avLst>
              <a:gd name="adj" fmla="val 6000"/>
            </a:avLst>
          </a:prstGeom>
          <a:solidFill>
            <a:srgbClr val="F5F6F8"/>
          </a:solidFill>
          <a:ln w="12700">
            <a:solidFill>
              <a:srgbClr val="DDE1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0" name="Picture 9" descr="check_steel.png"/>
          <p:cNvPicPr>
            <a:picLocks noChangeAspect="1"/>
          </p:cNvPicPr>
          <p:nvPr/>
        </p:nvPicPr>
        <p:blipFill>
          <a:blip r:embed="rId3"/>
          <a:stretch>
            <a:fillRect/>
          </a:stretch>
        </p:blipFill>
        <p:spPr>
          <a:xfrm>
            <a:off x="987552" y="3145536"/>
            <a:ext cx="237744" cy="237744"/>
          </a:xfrm>
          <a:prstGeom prst="rect">
            <a:avLst/>
          </a:prstGeom>
        </p:spPr>
      </p:pic>
      <p:sp>
        <p:nvSpPr>
          <p:cNvPr id="11" name="TextBox 10"/>
          <p:cNvSpPr txBox="1"/>
          <p:nvPr/>
        </p:nvSpPr>
        <p:spPr>
          <a:xfrm>
            <a:off x="1353312" y="2999232"/>
            <a:ext cx="5029200" cy="530352"/>
          </a:xfrm>
          <a:prstGeom prst="rect">
            <a:avLst/>
          </a:prstGeom>
          <a:noFill/>
        </p:spPr>
        <p:txBody>
          <a:bodyPr wrap="square" anchor="ctr" lIns="0" rIns="0" tIns="0" bIns="0">
            <a:spAutoFit/>
          </a:bodyPr>
          <a:lstStyle/>
          <a:p>
            <a:pPr algn="l">
              <a:lnSpc>
                <a:spcPct val="106000"/>
              </a:lnSpc>
              <a:spcBef>
                <a:spcPts val="0"/>
              </a:spcBef>
              <a:spcAft>
                <a:spcPts val="0"/>
              </a:spcAft>
            </a:pPr>
            <a:r>
              <a:rPr sz="1200" b="0">
                <a:solidFill>
                  <a:srgbClr val="1A1A1A"/>
                </a:solidFill>
                <a:latin typeface="Red Hat Text"/>
              </a:rPr>
              <a:t>Grant a teammate edit-in-dev, view-in-prod</a:t>
            </a:r>
          </a:p>
        </p:txBody>
      </p:sp>
      <p:sp>
        <p:nvSpPr>
          <p:cNvPr id="12" name="Rounded Rectangle 11"/>
          <p:cNvSpPr/>
          <p:nvPr/>
        </p:nvSpPr>
        <p:spPr>
          <a:xfrm>
            <a:off x="841248" y="3602736"/>
            <a:ext cx="5715000" cy="530352"/>
          </a:xfrm>
          <a:prstGeom prst="roundRect">
            <a:avLst>
              <a:gd name="adj" fmla="val 6000"/>
            </a:avLst>
          </a:prstGeom>
          <a:solidFill>
            <a:srgbClr val="F5F6F8"/>
          </a:solidFill>
          <a:ln w="12700">
            <a:solidFill>
              <a:srgbClr val="DDE1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3" name="Picture 12" descr="check_steel.png"/>
          <p:cNvPicPr>
            <a:picLocks noChangeAspect="1"/>
          </p:cNvPicPr>
          <p:nvPr/>
        </p:nvPicPr>
        <p:blipFill>
          <a:blip r:embed="rId3"/>
          <a:stretch>
            <a:fillRect/>
          </a:stretch>
        </p:blipFill>
        <p:spPr>
          <a:xfrm>
            <a:off x="987552" y="3749040"/>
            <a:ext cx="237744" cy="237744"/>
          </a:xfrm>
          <a:prstGeom prst="rect">
            <a:avLst/>
          </a:prstGeom>
        </p:spPr>
      </p:pic>
      <p:sp>
        <p:nvSpPr>
          <p:cNvPr id="14" name="TextBox 13"/>
          <p:cNvSpPr txBox="1"/>
          <p:nvPr/>
        </p:nvSpPr>
        <p:spPr>
          <a:xfrm>
            <a:off x="1353312" y="3602736"/>
            <a:ext cx="5029200" cy="530352"/>
          </a:xfrm>
          <a:prstGeom prst="rect">
            <a:avLst/>
          </a:prstGeom>
          <a:noFill/>
        </p:spPr>
        <p:txBody>
          <a:bodyPr wrap="square" anchor="ctr" lIns="0" rIns="0" tIns="0" bIns="0">
            <a:spAutoFit/>
          </a:bodyPr>
          <a:lstStyle/>
          <a:p>
            <a:pPr algn="l">
              <a:lnSpc>
                <a:spcPct val="106000"/>
              </a:lnSpc>
              <a:spcBef>
                <a:spcPts val="0"/>
              </a:spcBef>
              <a:spcAft>
                <a:spcPts val="0"/>
              </a:spcAft>
            </a:pPr>
            <a:r>
              <a:rPr sz="1200" b="0">
                <a:solidFill>
                  <a:srgbClr val="1A1A1A"/>
                </a:solidFill>
                <a:latin typeface="Red Hat Text"/>
              </a:rPr>
              <a:t>Author a deployer Role: deploys, no secrets</a:t>
            </a:r>
          </a:p>
        </p:txBody>
      </p:sp>
      <p:sp>
        <p:nvSpPr>
          <p:cNvPr id="15" name="Rounded Rectangle 14"/>
          <p:cNvSpPr/>
          <p:nvPr/>
        </p:nvSpPr>
        <p:spPr>
          <a:xfrm>
            <a:off x="841248" y="4206240"/>
            <a:ext cx="5715000" cy="530352"/>
          </a:xfrm>
          <a:prstGeom prst="roundRect">
            <a:avLst>
              <a:gd name="adj" fmla="val 6000"/>
            </a:avLst>
          </a:prstGeom>
          <a:solidFill>
            <a:srgbClr val="F5F6F8"/>
          </a:solidFill>
          <a:ln w="12700">
            <a:solidFill>
              <a:srgbClr val="DDE1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6" name="Picture 15" descr="check_steel.png"/>
          <p:cNvPicPr>
            <a:picLocks noChangeAspect="1"/>
          </p:cNvPicPr>
          <p:nvPr/>
        </p:nvPicPr>
        <p:blipFill>
          <a:blip r:embed="rId3"/>
          <a:stretch>
            <a:fillRect/>
          </a:stretch>
        </p:blipFill>
        <p:spPr>
          <a:xfrm>
            <a:off x="987552" y="4352544"/>
            <a:ext cx="237744" cy="237744"/>
          </a:xfrm>
          <a:prstGeom prst="rect">
            <a:avLst/>
          </a:prstGeom>
        </p:spPr>
      </p:pic>
      <p:sp>
        <p:nvSpPr>
          <p:cNvPr id="17" name="TextBox 16"/>
          <p:cNvSpPr txBox="1"/>
          <p:nvPr/>
        </p:nvSpPr>
        <p:spPr>
          <a:xfrm>
            <a:off x="1353312" y="4206240"/>
            <a:ext cx="5029200" cy="530352"/>
          </a:xfrm>
          <a:prstGeom prst="rect">
            <a:avLst/>
          </a:prstGeom>
          <a:noFill/>
        </p:spPr>
        <p:txBody>
          <a:bodyPr wrap="square" anchor="ctr" lIns="0" rIns="0" tIns="0" bIns="0">
            <a:spAutoFit/>
          </a:bodyPr>
          <a:lstStyle/>
          <a:p>
            <a:pPr algn="l">
              <a:lnSpc>
                <a:spcPct val="106000"/>
              </a:lnSpc>
              <a:spcBef>
                <a:spcPts val="0"/>
              </a:spcBef>
              <a:spcAft>
                <a:spcPts val="0"/>
              </a:spcAft>
            </a:pPr>
            <a:r>
              <a:rPr sz="1200" b="0">
                <a:solidFill>
                  <a:srgbClr val="1A1A1A"/>
                </a:solidFill>
                <a:latin typeface="Red Hat Text"/>
              </a:rPr>
              <a:t>Exceed the quota, read the refusal, fix it</a:t>
            </a:r>
          </a:p>
        </p:txBody>
      </p:sp>
      <p:sp>
        <p:nvSpPr>
          <p:cNvPr id="18" name="Rounded Rectangle 17"/>
          <p:cNvSpPr/>
          <p:nvPr/>
        </p:nvSpPr>
        <p:spPr>
          <a:xfrm>
            <a:off x="841248" y="4809744"/>
            <a:ext cx="5715000" cy="530352"/>
          </a:xfrm>
          <a:prstGeom prst="roundRect">
            <a:avLst>
              <a:gd name="adj" fmla="val 6000"/>
            </a:avLst>
          </a:prstGeom>
          <a:solidFill>
            <a:srgbClr val="F5F6F8"/>
          </a:solidFill>
          <a:ln w="12700">
            <a:solidFill>
              <a:srgbClr val="DDE1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9" name="Picture 18" descr="check_steel.png"/>
          <p:cNvPicPr>
            <a:picLocks noChangeAspect="1"/>
          </p:cNvPicPr>
          <p:nvPr/>
        </p:nvPicPr>
        <p:blipFill>
          <a:blip r:embed="rId3"/>
          <a:stretch>
            <a:fillRect/>
          </a:stretch>
        </p:blipFill>
        <p:spPr>
          <a:xfrm>
            <a:off x="987552" y="4956048"/>
            <a:ext cx="237744" cy="237744"/>
          </a:xfrm>
          <a:prstGeom prst="rect">
            <a:avLst/>
          </a:prstGeom>
        </p:spPr>
      </p:pic>
      <p:sp>
        <p:nvSpPr>
          <p:cNvPr id="20" name="TextBox 19"/>
          <p:cNvSpPr txBox="1"/>
          <p:nvPr/>
        </p:nvSpPr>
        <p:spPr>
          <a:xfrm>
            <a:off x="1353312" y="4809744"/>
            <a:ext cx="5029200" cy="530352"/>
          </a:xfrm>
          <a:prstGeom prst="rect">
            <a:avLst/>
          </a:prstGeom>
          <a:noFill/>
        </p:spPr>
        <p:txBody>
          <a:bodyPr wrap="square" anchor="ctr" lIns="0" rIns="0" tIns="0" bIns="0">
            <a:spAutoFit/>
          </a:bodyPr>
          <a:lstStyle/>
          <a:p>
            <a:pPr algn="l">
              <a:lnSpc>
                <a:spcPct val="106000"/>
              </a:lnSpc>
              <a:spcBef>
                <a:spcPts val="0"/>
              </a:spcBef>
              <a:spcAft>
                <a:spcPts val="0"/>
              </a:spcAft>
            </a:pPr>
            <a:r>
              <a:rPr sz="1200" b="0">
                <a:solidFill>
                  <a:srgbClr val="1A1A1A"/>
                </a:solidFill>
                <a:latin typeface="Red Hat Text"/>
              </a:rPr>
              <a:t>Inspect how the platform provisioned YOU</a:t>
            </a:r>
          </a:p>
        </p:txBody>
      </p:sp>
      <p:sp>
        <p:nvSpPr>
          <p:cNvPr id="21" name="Rounded Rectangle 20"/>
          <p:cNvSpPr/>
          <p:nvPr/>
        </p:nvSpPr>
        <p:spPr>
          <a:xfrm>
            <a:off x="6812280" y="2395728"/>
            <a:ext cx="4538167" cy="2944368"/>
          </a:xfrm>
          <a:prstGeom prst="roundRect">
            <a:avLst>
              <a:gd name="adj" fmla="val 4000"/>
            </a:avLst>
          </a:prstGeom>
          <a:solidFill>
            <a:srgbClr val="FFFFFF"/>
          </a:solidFill>
          <a:ln w="15240">
            <a:solidFill>
              <a:srgbClr val="DDE1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ounded Rectangle 21"/>
          <p:cNvSpPr/>
          <p:nvPr/>
        </p:nvSpPr>
        <p:spPr>
          <a:xfrm>
            <a:off x="7013448" y="2596896"/>
            <a:ext cx="1298448" cy="310896"/>
          </a:xfrm>
          <a:prstGeom prst="roundRect">
            <a:avLst>
              <a:gd name="adj" fmla="val 50000"/>
            </a:avLst>
          </a:prstGeom>
          <a:solidFill>
            <a:srgbClr val="FCEC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7013448" y="2596896"/>
            <a:ext cx="1298448" cy="310896"/>
          </a:xfrm>
          <a:prstGeom prst="rect">
            <a:avLst/>
          </a:prstGeom>
          <a:noFill/>
        </p:spPr>
        <p:txBody>
          <a:bodyPr wrap="none" anchor="ctr" lIns="0" rIns="0" tIns="0" bIns="0">
            <a:spAutoFit/>
          </a:bodyPr>
          <a:lstStyle/>
          <a:p>
            <a:pPr algn="ctr">
              <a:lnSpc>
                <a:spcPct val="106000"/>
              </a:lnSpc>
              <a:spcBef>
                <a:spcPts val="0"/>
              </a:spcBef>
              <a:spcAft>
                <a:spcPts val="0"/>
              </a:spcAft>
            </a:pPr>
            <a:r>
              <a:rPr sz="850" b="1">
                <a:solidFill>
                  <a:srgbClr val="B80000"/>
                </a:solidFill>
                <a:latin typeface="Red Hat Display"/>
              </a:rPr>
              <a:t>MEDIA PASS</a:t>
            </a:r>
          </a:p>
        </p:txBody>
      </p:sp>
      <p:pic>
        <p:nvPicPr>
          <p:cNvPr id="24" name="Picture 23" descr="eye_slate.png"/>
          <p:cNvPicPr>
            <a:picLocks noChangeAspect="1"/>
          </p:cNvPicPr>
          <p:nvPr/>
        </p:nvPicPr>
        <p:blipFill>
          <a:blip r:embed="rId4"/>
          <a:stretch>
            <a:fillRect/>
          </a:stretch>
        </p:blipFill>
        <p:spPr>
          <a:xfrm>
            <a:off x="8843619" y="3108960"/>
            <a:ext cx="475488" cy="475488"/>
          </a:xfrm>
          <a:prstGeom prst="rect">
            <a:avLst/>
          </a:prstGeom>
        </p:spPr>
      </p:pic>
      <p:sp>
        <p:nvSpPr>
          <p:cNvPr id="25" name="TextBox 24"/>
          <p:cNvSpPr txBox="1"/>
          <p:nvPr/>
        </p:nvSpPr>
        <p:spPr>
          <a:xfrm>
            <a:off x="7050024" y="3721608"/>
            <a:ext cx="4062679" cy="1481328"/>
          </a:xfrm>
          <a:prstGeom prst="rect">
            <a:avLst/>
          </a:prstGeom>
          <a:noFill/>
        </p:spPr>
        <p:txBody>
          <a:bodyPr wrap="square" anchor="t" lIns="0" rIns="0" tIns="0" bIns="0">
            <a:spAutoFit/>
          </a:bodyPr>
          <a:lstStyle/>
          <a:p>
            <a:pPr algn="l">
              <a:lnSpc>
                <a:spcPct val="120000"/>
              </a:lnSpc>
              <a:spcBef>
                <a:spcPts val="0"/>
              </a:spcBef>
              <a:spcAft>
                <a:spcPts val="0"/>
              </a:spcAft>
            </a:pPr>
            <a:r>
              <a:rPr sz="950" b="0">
                <a:solidFill>
                  <a:srgbClr val="8A9099"/>
                </a:solidFill>
                <a:latin typeface="Red Hat Text"/>
              </a:rPr>
              <a:t>Numbered arc strip: reject-root → fix → grant/audit → custom-role → quota exceed/fix → the reveal.</a:t>
            </a:r>
          </a:p>
        </p:txBody>
      </p:sp>
      <p:cxnSp>
        <p:nvCxnSpPr>
          <p:cNvPr id="26" name="Connector 25"/>
          <p:cNvCxnSpPr/>
          <p:nvPr/>
        </p:nvCxnSpPr>
        <p:spPr>
          <a:xfrm>
            <a:off x="841248" y="6437376"/>
            <a:ext cx="10509199" cy="0"/>
          </a:xfrm>
          <a:prstGeom prst="bentConnector3">
            <a:avLst/>
          </a:prstGeom>
          <a:ln w="12700">
            <a:solidFill>
              <a:srgbClr val="DDE1E6"/>
            </a:solidFill>
          </a:ln>
          <a:effectLst/>
        </p:spPr>
        <p:style>
          <a:lnRef idx="2">
            <a:schemeClr val="accent1"/>
          </a:lnRef>
          <a:fillRef idx="0">
            <a:schemeClr val="accent1"/>
          </a:fillRef>
          <a:effectRef idx="1">
            <a:schemeClr val="accent1"/>
          </a:effectRef>
          <a:fontRef idx="minor">
            <a:schemeClr val="tx1"/>
          </a:fontRef>
        </p:style>
      </p:cxnSp>
      <p:sp>
        <p:nvSpPr>
          <p:cNvPr id="27" name="TextBox 26"/>
          <p:cNvSpPr txBox="1"/>
          <p:nvPr/>
        </p:nvSpPr>
        <p:spPr>
          <a:xfrm>
            <a:off x="841248" y="6473952"/>
            <a:ext cx="7315200" cy="274320"/>
          </a:xfrm>
          <a:prstGeom prst="rect">
            <a:avLst/>
          </a:prstGeom>
          <a:noFill/>
        </p:spPr>
        <p:txBody>
          <a:bodyPr wrap="square" anchor="t" lIns="0" rIns="0" tIns="0" bIns="0">
            <a:spAutoFit/>
          </a:bodyPr>
          <a:lstStyle/>
          <a:p>
            <a:pPr algn="l">
              <a:lnSpc>
                <a:spcPct val="106000"/>
              </a:lnSpc>
              <a:spcBef>
                <a:spcPts val="0"/>
              </a:spcBef>
              <a:spcAft>
                <a:spcPts val="0"/>
              </a:spcAft>
            </a:pPr>
            <a:r>
              <a:rPr sz="950" b="0">
                <a:solidFill>
                  <a:srgbClr val="8A9099"/>
                </a:solidFill>
                <a:latin typeface="Red Hat Text"/>
              </a:rPr>
              <a:t>CONFIDENTIAL</a:t>
            </a:r>
          </a:p>
        </p:txBody>
      </p:sp>
      <p:sp>
        <p:nvSpPr>
          <p:cNvPr id="28" name="TextBox 27"/>
          <p:cNvSpPr txBox="1"/>
          <p:nvPr/>
        </p:nvSpPr>
        <p:spPr>
          <a:xfrm>
            <a:off x="10801807" y="6473952"/>
            <a:ext cx="548640" cy="274320"/>
          </a:xfrm>
          <a:prstGeom prst="rect">
            <a:avLst/>
          </a:prstGeom>
          <a:noFill/>
        </p:spPr>
        <p:txBody>
          <a:bodyPr wrap="square" anchor="t" lIns="0" rIns="0" tIns="0" bIns="0">
            <a:spAutoFit/>
          </a:bodyPr>
          <a:lstStyle/>
          <a:p>
            <a:pPr algn="r">
              <a:lnSpc>
                <a:spcPct val="106000"/>
              </a:lnSpc>
              <a:spcBef>
                <a:spcPts val="0"/>
              </a:spcBef>
              <a:spcAft>
                <a:spcPts val="0"/>
              </a:spcAft>
            </a:pPr>
            <a:r>
              <a:rPr sz="950" b="0">
                <a:solidFill>
                  <a:srgbClr val="8A9099"/>
                </a:solidFill>
                <a:latin typeface="Red Hat Text"/>
              </a:rPr>
              <a:t>110</a:t>
            </a:r>
          </a:p>
        </p:txBody>
      </p:sp>
    </p:spTree>
  </p:cSld>
  <p:clrMapOvr>
    <a:masterClrMapping/>
  </p:clrMapOvr>
</p:sld>
</file>

<file path=ppt/slides/slide1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redhat_logo.jpg"/>
          <p:cNvPicPr>
            <a:picLocks noChangeAspect="1"/>
          </p:cNvPicPr>
          <p:nvPr/>
        </p:nvPicPr>
        <p:blipFill>
          <a:blip r:embed="rId2"/>
          <a:stretch>
            <a:fillRect/>
          </a:stretch>
        </p:blipFill>
        <p:spPr>
          <a:xfrm>
            <a:off x="10326319" y="475488"/>
            <a:ext cx="1024128" cy="242248"/>
          </a:xfrm>
          <a:prstGeom prst="rect">
            <a:avLst/>
          </a:prstGeom>
        </p:spPr>
      </p:pic>
      <p:sp>
        <p:nvSpPr>
          <p:cNvPr id="3" name="TextBox 2"/>
          <p:cNvSpPr txBox="1"/>
          <p:nvPr/>
        </p:nvSpPr>
        <p:spPr>
          <a:xfrm>
            <a:off x="841248" y="548640"/>
            <a:ext cx="8595360" cy="274320"/>
          </a:xfrm>
          <a:prstGeom prst="rect">
            <a:avLst/>
          </a:prstGeom>
          <a:noFill/>
        </p:spPr>
        <p:txBody>
          <a:bodyPr wrap="square" anchor="t" lIns="0" rIns="0" tIns="0" bIns="0">
            <a:spAutoFit/>
          </a:bodyPr>
          <a:lstStyle/>
          <a:p>
            <a:pPr algn="l">
              <a:lnSpc>
                <a:spcPct val="106000"/>
              </a:lnSpc>
              <a:spcBef>
                <a:spcPts val="0"/>
              </a:spcBef>
              <a:spcAft>
                <a:spcPts val="0"/>
              </a:spcAft>
            </a:pPr>
            <a:r>
              <a:rPr sz="1250" b="1" spc="220">
                <a:solidFill>
                  <a:srgbClr val="EE0000"/>
                </a:solidFill>
                <a:latin typeface="Red Hat Display"/>
              </a:rPr>
              <a:t>M15 · MULTI-TENANCY &amp; WORKLOAD SECURITY</a:t>
            </a:r>
          </a:p>
        </p:txBody>
      </p:sp>
      <p:sp>
        <p:nvSpPr>
          <p:cNvPr id="4" name="TextBox 3"/>
          <p:cNvSpPr txBox="1"/>
          <p:nvPr/>
        </p:nvSpPr>
        <p:spPr>
          <a:xfrm>
            <a:off x="841248" y="877824"/>
            <a:ext cx="10515600" cy="548640"/>
          </a:xfrm>
          <a:prstGeom prst="rect">
            <a:avLst/>
          </a:prstGeom>
          <a:noFill/>
        </p:spPr>
        <p:txBody>
          <a:bodyPr wrap="none" anchor="t" lIns="0" rIns="0" tIns="0" bIns="0">
            <a:spAutoFit/>
          </a:bodyPr>
          <a:lstStyle/>
          <a:p>
            <a:pPr algn="l">
              <a:lnSpc>
                <a:spcPct val="100000"/>
              </a:lnSpc>
              <a:spcBef>
                <a:spcPts val="0"/>
              </a:spcBef>
              <a:spcAft>
                <a:spcPts val="0"/>
              </a:spcAft>
            </a:pPr>
            <a:r>
              <a:rPr sz="2500" b="1">
                <a:solidFill>
                  <a:srgbClr val="1A1A1A"/>
                </a:solidFill>
                <a:latin typeface="Red Hat Display"/>
              </a:rPr>
              <a:t>Map to your org — and when not</a:t>
            </a:r>
          </a:p>
        </p:txBody>
      </p:sp>
      <p:cxnSp>
        <p:nvCxnSpPr>
          <p:cNvPr id="5" name="Connector 4"/>
          <p:cNvCxnSpPr/>
          <p:nvPr/>
        </p:nvCxnSpPr>
        <p:spPr>
          <a:xfrm>
            <a:off x="841248" y="1554480"/>
            <a:ext cx="1371600" cy="0"/>
          </a:xfrm>
          <a:prstGeom prst="bentConnector3">
            <a:avLst/>
          </a:prstGeom>
          <a:ln w="31750">
            <a:solidFill>
              <a:srgbClr val="EE0000"/>
            </a:solidFill>
          </a:ln>
          <a:effectLst/>
        </p:spPr>
        <p:style>
          <a:lnRef idx="2">
            <a:schemeClr val="accent1"/>
          </a:lnRef>
          <a:fillRef idx="0">
            <a:schemeClr val="accent1"/>
          </a:fillRef>
          <a:effectRef idx="1">
            <a:schemeClr val="accent1"/>
          </a:effectRef>
          <a:fontRef idx="minor">
            <a:schemeClr val="tx1"/>
          </a:fontRef>
        </p:style>
      </p:cxnSp>
      <p:sp>
        <p:nvSpPr>
          <p:cNvPr id="6" name="Rounded Rectangle 5"/>
          <p:cNvSpPr/>
          <p:nvPr/>
        </p:nvSpPr>
        <p:spPr>
          <a:xfrm>
            <a:off x="841248" y="2395728"/>
            <a:ext cx="5715000" cy="530352"/>
          </a:xfrm>
          <a:prstGeom prst="roundRect">
            <a:avLst>
              <a:gd name="adj" fmla="val 6000"/>
            </a:avLst>
          </a:prstGeom>
          <a:solidFill>
            <a:srgbClr val="F5F6F8"/>
          </a:solidFill>
          <a:ln w="12700">
            <a:solidFill>
              <a:srgbClr val="DDE1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check_steel.png"/>
          <p:cNvPicPr>
            <a:picLocks noChangeAspect="1"/>
          </p:cNvPicPr>
          <p:nvPr/>
        </p:nvPicPr>
        <p:blipFill>
          <a:blip r:embed="rId3"/>
          <a:stretch>
            <a:fillRect/>
          </a:stretch>
        </p:blipFill>
        <p:spPr>
          <a:xfrm>
            <a:off x="987552" y="2542032"/>
            <a:ext cx="237744" cy="237744"/>
          </a:xfrm>
          <a:prstGeom prst="rect">
            <a:avLst/>
          </a:prstGeom>
        </p:spPr>
      </p:pic>
      <p:sp>
        <p:nvSpPr>
          <p:cNvPr id="8" name="TextBox 7"/>
          <p:cNvSpPr txBox="1"/>
          <p:nvPr/>
        </p:nvSpPr>
        <p:spPr>
          <a:xfrm>
            <a:off x="1353312" y="2395728"/>
            <a:ext cx="5029200" cy="530352"/>
          </a:xfrm>
          <a:prstGeom prst="rect">
            <a:avLst/>
          </a:prstGeom>
          <a:noFill/>
        </p:spPr>
        <p:txBody>
          <a:bodyPr wrap="square" anchor="ctr" lIns="0" rIns="0" tIns="0" bIns="0">
            <a:spAutoFit/>
          </a:bodyPr>
          <a:lstStyle/>
          <a:p>
            <a:pPr algn="l">
              <a:lnSpc>
                <a:spcPct val="106000"/>
              </a:lnSpc>
              <a:spcBef>
                <a:spcPts val="0"/>
              </a:spcBef>
              <a:spcAft>
                <a:spcPts val="0"/>
              </a:spcAft>
            </a:pPr>
            <a:r>
              <a:rPr sz="1200" b="0">
                <a:solidFill>
                  <a:srgbClr val="1A1A1A"/>
                </a:solidFill>
                <a:latin typeface="Red Hat Text"/>
              </a:rPr>
              <a:t>Is team access a group, or per-person grants?</a:t>
            </a:r>
          </a:p>
        </p:txBody>
      </p:sp>
      <p:sp>
        <p:nvSpPr>
          <p:cNvPr id="9" name="Rounded Rectangle 8"/>
          <p:cNvSpPr/>
          <p:nvPr/>
        </p:nvSpPr>
        <p:spPr>
          <a:xfrm>
            <a:off x="841248" y="2999232"/>
            <a:ext cx="5715000" cy="530352"/>
          </a:xfrm>
          <a:prstGeom prst="roundRect">
            <a:avLst>
              <a:gd name="adj" fmla="val 6000"/>
            </a:avLst>
          </a:prstGeom>
          <a:solidFill>
            <a:srgbClr val="F5F6F8"/>
          </a:solidFill>
          <a:ln w="12700">
            <a:solidFill>
              <a:srgbClr val="DDE1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0" name="Picture 9" descr="check_steel.png"/>
          <p:cNvPicPr>
            <a:picLocks noChangeAspect="1"/>
          </p:cNvPicPr>
          <p:nvPr/>
        </p:nvPicPr>
        <p:blipFill>
          <a:blip r:embed="rId3"/>
          <a:stretch>
            <a:fillRect/>
          </a:stretch>
        </p:blipFill>
        <p:spPr>
          <a:xfrm>
            <a:off x="987552" y="3145536"/>
            <a:ext cx="237744" cy="237744"/>
          </a:xfrm>
          <a:prstGeom prst="rect">
            <a:avLst/>
          </a:prstGeom>
        </p:spPr>
      </p:pic>
      <p:sp>
        <p:nvSpPr>
          <p:cNvPr id="11" name="TextBox 10"/>
          <p:cNvSpPr txBox="1"/>
          <p:nvPr/>
        </p:nvSpPr>
        <p:spPr>
          <a:xfrm>
            <a:off x="1353312" y="2999232"/>
            <a:ext cx="5029200" cy="530352"/>
          </a:xfrm>
          <a:prstGeom prst="rect">
            <a:avLst/>
          </a:prstGeom>
          <a:noFill/>
        </p:spPr>
        <p:txBody>
          <a:bodyPr wrap="square" anchor="ctr" lIns="0" rIns="0" tIns="0" bIns="0">
            <a:spAutoFit/>
          </a:bodyPr>
          <a:lstStyle/>
          <a:p>
            <a:pPr algn="l">
              <a:lnSpc>
                <a:spcPct val="106000"/>
              </a:lnSpc>
              <a:spcBef>
                <a:spcPts val="0"/>
              </a:spcBef>
              <a:spcAft>
                <a:spcPts val="0"/>
              </a:spcAft>
            </a:pPr>
            <a:r>
              <a:rPr sz="1200" b="0">
                <a:solidFill>
                  <a:srgbClr val="1A1A1A"/>
                </a:solidFill>
                <a:latin typeface="Red Hat Text"/>
              </a:rPr>
              <a:t>Can you answer "who reads prod secrets?"</a:t>
            </a:r>
          </a:p>
        </p:txBody>
      </p:sp>
      <p:sp>
        <p:nvSpPr>
          <p:cNvPr id="12" name="Rounded Rectangle 11"/>
          <p:cNvSpPr/>
          <p:nvPr/>
        </p:nvSpPr>
        <p:spPr>
          <a:xfrm>
            <a:off x="841248" y="3602736"/>
            <a:ext cx="5715000" cy="530352"/>
          </a:xfrm>
          <a:prstGeom prst="roundRect">
            <a:avLst>
              <a:gd name="adj" fmla="val 6000"/>
            </a:avLst>
          </a:prstGeom>
          <a:solidFill>
            <a:srgbClr val="F5F6F8"/>
          </a:solidFill>
          <a:ln w="12700">
            <a:solidFill>
              <a:srgbClr val="DDE1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3" name="Picture 12" descr="check_steel.png"/>
          <p:cNvPicPr>
            <a:picLocks noChangeAspect="1"/>
          </p:cNvPicPr>
          <p:nvPr/>
        </p:nvPicPr>
        <p:blipFill>
          <a:blip r:embed="rId3"/>
          <a:stretch>
            <a:fillRect/>
          </a:stretch>
        </p:blipFill>
        <p:spPr>
          <a:xfrm>
            <a:off x="987552" y="3749040"/>
            <a:ext cx="237744" cy="237744"/>
          </a:xfrm>
          <a:prstGeom prst="rect">
            <a:avLst/>
          </a:prstGeom>
        </p:spPr>
      </p:pic>
      <p:sp>
        <p:nvSpPr>
          <p:cNvPr id="14" name="TextBox 13"/>
          <p:cNvSpPr txBox="1"/>
          <p:nvPr/>
        </p:nvSpPr>
        <p:spPr>
          <a:xfrm>
            <a:off x="1353312" y="3602736"/>
            <a:ext cx="5029200" cy="530352"/>
          </a:xfrm>
          <a:prstGeom prst="rect">
            <a:avLst/>
          </a:prstGeom>
          <a:noFill/>
        </p:spPr>
        <p:txBody>
          <a:bodyPr wrap="square" anchor="ctr" lIns="0" rIns="0" tIns="0" bIns="0">
            <a:spAutoFit/>
          </a:bodyPr>
          <a:lstStyle/>
          <a:p>
            <a:pPr algn="l">
              <a:lnSpc>
                <a:spcPct val="106000"/>
              </a:lnSpc>
              <a:spcBef>
                <a:spcPts val="0"/>
              </a:spcBef>
              <a:spcAft>
                <a:spcPts val="0"/>
              </a:spcAft>
            </a:pPr>
            <a:r>
              <a:rPr sz="1200" b="0">
                <a:solidFill>
                  <a:srgbClr val="1A1A1A"/>
                </a:solidFill>
                <a:latin typeface="Red Hat Text"/>
              </a:rPr>
              <a:t>Fix the image, or accrete anyuid grants?</a:t>
            </a:r>
          </a:p>
        </p:txBody>
      </p:sp>
      <p:sp>
        <p:nvSpPr>
          <p:cNvPr id="15" name="Rounded Rectangle 14"/>
          <p:cNvSpPr/>
          <p:nvPr/>
        </p:nvSpPr>
        <p:spPr>
          <a:xfrm>
            <a:off x="841248" y="4206240"/>
            <a:ext cx="5715000" cy="530352"/>
          </a:xfrm>
          <a:prstGeom prst="roundRect">
            <a:avLst>
              <a:gd name="adj" fmla="val 6000"/>
            </a:avLst>
          </a:prstGeom>
          <a:solidFill>
            <a:srgbClr val="F5F6F8"/>
          </a:solidFill>
          <a:ln w="12700">
            <a:solidFill>
              <a:srgbClr val="DDE1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6" name="Picture 15" descr="check_steel.png"/>
          <p:cNvPicPr>
            <a:picLocks noChangeAspect="1"/>
          </p:cNvPicPr>
          <p:nvPr/>
        </p:nvPicPr>
        <p:blipFill>
          <a:blip r:embed="rId3"/>
          <a:stretch>
            <a:fillRect/>
          </a:stretch>
        </p:blipFill>
        <p:spPr>
          <a:xfrm>
            <a:off x="987552" y="4352544"/>
            <a:ext cx="237744" cy="237744"/>
          </a:xfrm>
          <a:prstGeom prst="rect">
            <a:avLst/>
          </a:prstGeom>
        </p:spPr>
      </p:pic>
      <p:sp>
        <p:nvSpPr>
          <p:cNvPr id="17" name="TextBox 16"/>
          <p:cNvSpPr txBox="1"/>
          <p:nvPr/>
        </p:nvSpPr>
        <p:spPr>
          <a:xfrm>
            <a:off x="1353312" y="4206240"/>
            <a:ext cx="5029200" cy="530352"/>
          </a:xfrm>
          <a:prstGeom prst="rect">
            <a:avLst/>
          </a:prstGeom>
          <a:noFill/>
        </p:spPr>
        <p:txBody>
          <a:bodyPr wrap="square" anchor="ctr" lIns="0" rIns="0" tIns="0" bIns="0">
            <a:spAutoFit/>
          </a:bodyPr>
          <a:lstStyle/>
          <a:p>
            <a:pPr algn="l">
              <a:lnSpc>
                <a:spcPct val="106000"/>
              </a:lnSpc>
              <a:spcBef>
                <a:spcPts val="0"/>
              </a:spcBef>
              <a:spcAft>
                <a:spcPts val="0"/>
              </a:spcAft>
            </a:pPr>
            <a:r>
              <a:rPr sz="1200" b="0">
                <a:solidFill>
                  <a:srgbClr val="1A1A1A"/>
                </a:solidFill>
                <a:latin typeface="Red Hat Text"/>
              </a:rPr>
              <a:t>Don't write a Role a built-in already fits</a:t>
            </a:r>
          </a:p>
        </p:txBody>
      </p:sp>
      <p:sp>
        <p:nvSpPr>
          <p:cNvPr id="18" name="Rounded Rectangle 17"/>
          <p:cNvSpPr/>
          <p:nvPr/>
        </p:nvSpPr>
        <p:spPr>
          <a:xfrm>
            <a:off x="841248" y="4809744"/>
            <a:ext cx="5715000" cy="530352"/>
          </a:xfrm>
          <a:prstGeom prst="roundRect">
            <a:avLst>
              <a:gd name="adj" fmla="val 6000"/>
            </a:avLst>
          </a:prstGeom>
          <a:solidFill>
            <a:srgbClr val="F5F6F8"/>
          </a:solidFill>
          <a:ln w="12700">
            <a:solidFill>
              <a:srgbClr val="DDE1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9" name="Picture 18" descr="check_steel.png"/>
          <p:cNvPicPr>
            <a:picLocks noChangeAspect="1"/>
          </p:cNvPicPr>
          <p:nvPr/>
        </p:nvPicPr>
        <p:blipFill>
          <a:blip r:embed="rId3"/>
          <a:stretch>
            <a:fillRect/>
          </a:stretch>
        </p:blipFill>
        <p:spPr>
          <a:xfrm>
            <a:off x="987552" y="4956048"/>
            <a:ext cx="237744" cy="237744"/>
          </a:xfrm>
          <a:prstGeom prst="rect">
            <a:avLst/>
          </a:prstGeom>
        </p:spPr>
      </p:pic>
      <p:sp>
        <p:nvSpPr>
          <p:cNvPr id="20" name="TextBox 19"/>
          <p:cNvSpPr txBox="1"/>
          <p:nvPr/>
        </p:nvSpPr>
        <p:spPr>
          <a:xfrm>
            <a:off x="1353312" y="4809744"/>
            <a:ext cx="5029200" cy="530352"/>
          </a:xfrm>
          <a:prstGeom prst="rect">
            <a:avLst/>
          </a:prstGeom>
          <a:noFill/>
        </p:spPr>
        <p:txBody>
          <a:bodyPr wrap="square" anchor="ctr" lIns="0" rIns="0" tIns="0" bIns="0">
            <a:spAutoFit/>
          </a:bodyPr>
          <a:lstStyle/>
          <a:p>
            <a:pPr algn="l">
              <a:lnSpc>
                <a:spcPct val="106000"/>
              </a:lnSpc>
              <a:spcBef>
                <a:spcPts val="0"/>
              </a:spcBef>
              <a:spcAft>
                <a:spcPts val="0"/>
              </a:spcAft>
            </a:pPr>
            <a:r>
              <a:rPr sz="1200" b="0">
                <a:solidFill>
                  <a:srgbClr val="1A1A1A"/>
                </a:solidFill>
                <a:latin typeface="Red Hat Text"/>
              </a:rPr>
              <a:t>Don't buy cluster-per-team for density's sake</a:t>
            </a:r>
          </a:p>
        </p:txBody>
      </p:sp>
      <p:sp>
        <p:nvSpPr>
          <p:cNvPr id="21" name="Rounded Rectangle 20"/>
          <p:cNvSpPr/>
          <p:nvPr/>
        </p:nvSpPr>
        <p:spPr>
          <a:xfrm>
            <a:off x="6812280" y="2395728"/>
            <a:ext cx="4538167" cy="2944368"/>
          </a:xfrm>
          <a:prstGeom prst="roundRect">
            <a:avLst>
              <a:gd name="adj" fmla="val 4000"/>
            </a:avLst>
          </a:prstGeom>
          <a:solidFill>
            <a:srgbClr val="FFFFFF"/>
          </a:solidFill>
          <a:ln w="15240">
            <a:solidFill>
              <a:srgbClr val="DDE1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ounded Rectangle 21"/>
          <p:cNvSpPr/>
          <p:nvPr/>
        </p:nvSpPr>
        <p:spPr>
          <a:xfrm>
            <a:off x="7013448" y="2596896"/>
            <a:ext cx="1298448" cy="310896"/>
          </a:xfrm>
          <a:prstGeom prst="roundRect">
            <a:avLst>
              <a:gd name="adj" fmla="val 50000"/>
            </a:avLst>
          </a:prstGeom>
          <a:solidFill>
            <a:srgbClr val="FCEC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7013448" y="2596896"/>
            <a:ext cx="1298448" cy="310896"/>
          </a:xfrm>
          <a:prstGeom prst="rect">
            <a:avLst/>
          </a:prstGeom>
          <a:noFill/>
        </p:spPr>
        <p:txBody>
          <a:bodyPr wrap="none" anchor="ctr" lIns="0" rIns="0" tIns="0" bIns="0">
            <a:spAutoFit/>
          </a:bodyPr>
          <a:lstStyle/>
          <a:p>
            <a:pPr algn="ctr">
              <a:lnSpc>
                <a:spcPct val="106000"/>
              </a:lnSpc>
              <a:spcBef>
                <a:spcPts val="0"/>
              </a:spcBef>
              <a:spcAft>
                <a:spcPts val="0"/>
              </a:spcAft>
            </a:pPr>
            <a:r>
              <a:rPr sz="850" b="1">
                <a:solidFill>
                  <a:srgbClr val="B80000"/>
                </a:solidFill>
                <a:latin typeface="Red Hat Display"/>
              </a:rPr>
              <a:t>MEDIA PASS</a:t>
            </a:r>
          </a:p>
        </p:txBody>
      </p:sp>
      <p:pic>
        <p:nvPicPr>
          <p:cNvPr id="24" name="Picture 23" descr="eye_slate.png"/>
          <p:cNvPicPr>
            <a:picLocks noChangeAspect="1"/>
          </p:cNvPicPr>
          <p:nvPr/>
        </p:nvPicPr>
        <p:blipFill>
          <a:blip r:embed="rId4"/>
          <a:stretch>
            <a:fillRect/>
          </a:stretch>
        </p:blipFill>
        <p:spPr>
          <a:xfrm>
            <a:off x="8843619" y="3108960"/>
            <a:ext cx="475488" cy="475488"/>
          </a:xfrm>
          <a:prstGeom prst="rect">
            <a:avLst/>
          </a:prstGeom>
        </p:spPr>
      </p:pic>
      <p:sp>
        <p:nvSpPr>
          <p:cNvPr id="25" name="TextBox 24"/>
          <p:cNvSpPr txBox="1"/>
          <p:nvPr/>
        </p:nvSpPr>
        <p:spPr>
          <a:xfrm>
            <a:off x="7050024" y="3721608"/>
            <a:ext cx="4062679" cy="1481328"/>
          </a:xfrm>
          <a:prstGeom prst="rect">
            <a:avLst/>
          </a:prstGeom>
          <a:noFill/>
        </p:spPr>
        <p:txBody>
          <a:bodyPr wrap="square" anchor="t" lIns="0" rIns="0" tIns="0" bIns="0">
            <a:spAutoFit/>
          </a:bodyPr>
          <a:lstStyle/>
          <a:p>
            <a:pPr algn="l">
              <a:lnSpc>
                <a:spcPct val="120000"/>
              </a:lnSpc>
              <a:spcBef>
                <a:spcPts val="0"/>
              </a:spcBef>
              <a:spcAft>
                <a:spcPts val="0"/>
              </a:spcAft>
            </a:pPr>
            <a:r>
              <a:rPr sz="950" b="0">
                <a:solidFill>
                  <a:srgbClr val="8A9099"/>
                </a:solidFill>
                <a:latin typeface="Red Hat Text"/>
              </a:rPr>
              <a:t>Two-column card "reach for it / a built-in (or namespace) is enough", footnote pointer to the Networking module for the NetworkPolicy half of tenancy.</a:t>
            </a:r>
          </a:p>
        </p:txBody>
      </p:sp>
      <p:cxnSp>
        <p:nvCxnSpPr>
          <p:cNvPr id="26" name="Connector 25"/>
          <p:cNvCxnSpPr/>
          <p:nvPr/>
        </p:nvCxnSpPr>
        <p:spPr>
          <a:xfrm>
            <a:off x="841248" y="6437376"/>
            <a:ext cx="10509199" cy="0"/>
          </a:xfrm>
          <a:prstGeom prst="bentConnector3">
            <a:avLst/>
          </a:prstGeom>
          <a:ln w="12700">
            <a:solidFill>
              <a:srgbClr val="DDE1E6"/>
            </a:solidFill>
          </a:ln>
          <a:effectLst/>
        </p:spPr>
        <p:style>
          <a:lnRef idx="2">
            <a:schemeClr val="accent1"/>
          </a:lnRef>
          <a:fillRef idx="0">
            <a:schemeClr val="accent1"/>
          </a:fillRef>
          <a:effectRef idx="1">
            <a:schemeClr val="accent1"/>
          </a:effectRef>
          <a:fontRef idx="minor">
            <a:schemeClr val="tx1"/>
          </a:fontRef>
        </p:style>
      </p:cxnSp>
      <p:sp>
        <p:nvSpPr>
          <p:cNvPr id="27" name="TextBox 26"/>
          <p:cNvSpPr txBox="1"/>
          <p:nvPr/>
        </p:nvSpPr>
        <p:spPr>
          <a:xfrm>
            <a:off x="841248" y="6473952"/>
            <a:ext cx="7315200" cy="274320"/>
          </a:xfrm>
          <a:prstGeom prst="rect">
            <a:avLst/>
          </a:prstGeom>
          <a:noFill/>
        </p:spPr>
        <p:txBody>
          <a:bodyPr wrap="square" anchor="t" lIns="0" rIns="0" tIns="0" bIns="0">
            <a:spAutoFit/>
          </a:bodyPr>
          <a:lstStyle/>
          <a:p>
            <a:pPr algn="l">
              <a:lnSpc>
                <a:spcPct val="106000"/>
              </a:lnSpc>
              <a:spcBef>
                <a:spcPts val="0"/>
              </a:spcBef>
              <a:spcAft>
                <a:spcPts val="0"/>
              </a:spcAft>
            </a:pPr>
            <a:r>
              <a:rPr sz="950" b="0">
                <a:solidFill>
                  <a:srgbClr val="8A9099"/>
                </a:solidFill>
                <a:latin typeface="Red Hat Text"/>
              </a:rPr>
              <a:t>CONFIDENTIAL</a:t>
            </a:r>
          </a:p>
        </p:txBody>
      </p:sp>
      <p:sp>
        <p:nvSpPr>
          <p:cNvPr id="28" name="TextBox 27"/>
          <p:cNvSpPr txBox="1"/>
          <p:nvPr/>
        </p:nvSpPr>
        <p:spPr>
          <a:xfrm>
            <a:off x="10801807" y="6473952"/>
            <a:ext cx="548640" cy="274320"/>
          </a:xfrm>
          <a:prstGeom prst="rect">
            <a:avLst/>
          </a:prstGeom>
          <a:noFill/>
        </p:spPr>
        <p:txBody>
          <a:bodyPr wrap="square" anchor="t" lIns="0" rIns="0" tIns="0" bIns="0">
            <a:spAutoFit/>
          </a:bodyPr>
          <a:lstStyle/>
          <a:p>
            <a:pPr algn="r">
              <a:lnSpc>
                <a:spcPct val="106000"/>
              </a:lnSpc>
              <a:spcBef>
                <a:spcPts val="0"/>
              </a:spcBef>
              <a:spcAft>
                <a:spcPts val="0"/>
              </a:spcAft>
            </a:pPr>
            <a:r>
              <a:rPr sz="950" b="0">
                <a:solidFill>
                  <a:srgbClr val="8A9099"/>
                </a:solidFill>
                <a:latin typeface="Red Hat Text"/>
              </a:rPr>
              <a:t>111</a:t>
            </a:r>
          </a:p>
        </p:txBody>
      </p:sp>
    </p:spTree>
  </p:cSld>
  <p:clrMapOvr>
    <a:masterClrMapping/>
  </p:clrMapOvr>
</p:sld>
</file>

<file path=ppt/slides/slide1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redhat_logo.jpg"/>
          <p:cNvPicPr>
            <a:picLocks noChangeAspect="1"/>
          </p:cNvPicPr>
          <p:nvPr/>
        </p:nvPicPr>
        <p:blipFill>
          <a:blip r:embed="rId2"/>
          <a:stretch>
            <a:fillRect/>
          </a:stretch>
        </p:blipFill>
        <p:spPr>
          <a:xfrm>
            <a:off x="841248" y="731520"/>
            <a:ext cx="1554480" cy="367699"/>
          </a:xfrm>
          <a:prstGeom prst="rect">
            <a:avLst/>
          </a:prstGeom>
        </p:spPr>
      </p:pic>
      <p:sp>
        <p:nvSpPr>
          <p:cNvPr id="3" name="TextBox 2"/>
          <p:cNvSpPr txBox="1"/>
          <p:nvPr/>
        </p:nvSpPr>
        <p:spPr>
          <a:xfrm>
            <a:off x="841248" y="2514600"/>
            <a:ext cx="9601200" cy="274320"/>
          </a:xfrm>
          <a:prstGeom prst="rect">
            <a:avLst/>
          </a:prstGeom>
          <a:noFill/>
        </p:spPr>
        <p:txBody>
          <a:bodyPr wrap="square" anchor="t" lIns="0" rIns="0" tIns="0" bIns="0">
            <a:spAutoFit/>
          </a:bodyPr>
          <a:lstStyle/>
          <a:p>
            <a:pPr algn="l">
              <a:lnSpc>
                <a:spcPct val="106000"/>
              </a:lnSpc>
              <a:spcBef>
                <a:spcPts val="0"/>
              </a:spcBef>
              <a:spcAft>
                <a:spcPts val="0"/>
              </a:spcAft>
            </a:pPr>
            <a:r>
              <a:rPr sz="1250" b="1" spc="180">
                <a:solidFill>
                  <a:srgbClr val="2E7D32"/>
                </a:solidFill>
                <a:latin typeface="Red Hat Display"/>
              </a:rPr>
              <a:t>C · PLATFORM &amp; TENANCY</a:t>
            </a:r>
          </a:p>
        </p:txBody>
      </p:sp>
      <p:sp>
        <p:nvSpPr>
          <p:cNvPr id="4" name="TextBox 3"/>
          <p:cNvSpPr txBox="1"/>
          <p:nvPr/>
        </p:nvSpPr>
        <p:spPr>
          <a:xfrm>
            <a:off x="841248" y="2880360"/>
            <a:ext cx="2103120" cy="1188720"/>
          </a:xfrm>
          <a:prstGeom prst="rect">
            <a:avLst/>
          </a:prstGeom>
          <a:noFill/>
        </p:spPr>
        <p:txBody>
          <a:bodyPr wrap="none" anchor="t" lIns="0" rIns="0" tIns="0" bIns="0">
            <a:spAutoFit/>
          </a:bodyPr>
          <a:lstStyle/>
          <a:p>
            <a:pPr algn="l">
              <a:lnSpc>
                <a:spcPct val="90000"/>
              </a:lnSpc>
              <a:spcBef>
                <a:spcPts val="0"/>
              </a:spcBef>
              <a:spcAft>
                <a:spcPts val="0"/>
              </a:spcAft>
            </a:pPr>
            <a:r>
              <a:rPr sz="5200" b="1">
                <a:solidFill>
                  <a:srgbClr val="B80000"/>
                </a:solidFill>
                <a:latin typeface="Red Hat Display"/>
              </a:rPr>
              <a:t>M16</a:t>
            </a:r>
          </a:p>
        </p:txBody>
      </p:sp>
      <p:sp>
        <p:nvSpPr>
          <p:cNvPr id="5" name="TextBox 4"/>
          <p:cNvSpPr txBox="1"/>
          <p:nvPr/>
        </p:nvSpPr>
        <p:spPr>
          <a:xfrm>
            <a:off x="3127248" y="2971800"/>
            <a:ext cx="8412480" cy="1188720"/>
          </a:xfrm>
          <a:prstGeom prst="rect">
            <a:avLst/>
          </a:prstGeom>
          <a:noFill/>
        </p:spPr>
        <p:txBody>
          <a:bodyPr wrap="square" anchor="t" lIns="0" rIns="0" tIns="0" bIns="0">
            <a:spAutoFit/>
          </a:bodyPr>
          <a:lstStyle/>
          <a:p>
            <a:pPr algn="l">
              <a:lnSpc>
                <a:spcPct val="102000"/>
              </a:lnSpc>
              <a:spcBef>
                <a:spcPts val="0"/>
              </a:spcBef>
              <a:spcAft>
                <a:spcPts val="0"/>
              </a:spcAft>
            </a:pPr>
            <a:r>
              <a:rPr sz="3000" b="1">
                <a:solidFill>
                  <a:srgbClr val="1A1A1A"/>
                </a:solidFill>
                <a:latin typeface="Red Hat Display"/>
              </a:rPr>
              <a:t>Networking for Dev &amp; DevOps</a:t>
            </a:r>
          </a:p>
        </p:txBody>
      </p:sp>
      <p:cxnSp>
        <p:nvCxnSpPr>
          <p:cNvPr id="6" name="Connector 5"/>
          <p:cNvCxnSpPr/>
          <p:nvPr/>
        </p:nvCxnSpPr>
        <p:spPr>
          <a:xfrm>
            <a:off x="841248" y="4443984"/>
            <a:ext cx="1463040" cy="0"/>
          </a:xfrm>
          <a:prstGeom prst="bentConnector3">
            <a:avLst/>
          </a:prstGeom>
          <a:ln w="38100">
            <a:solidFill>
              <a:srgbClr val="EE0000"/>
            </a:solidFill>
          </a:ln>
          <a:effectLst/>
        </p:spPr>
        <p:style>
          <a:lnRef idx="2">
            <a:schemeClr val="accent1"/>
          </a:lnRef>
          <a:fillRef idx="0">
            <a:schemeClr val="accent1"/>
          </a:fillRef>
          <a:effectRef idx="1">
            <a:schemeClr val="accent1"/>
          </a:effectRef>
          <a:fontRef idx="minor">
            <a:schemeClr val="tx1"/>
          </a:fontRef>
        </p:style>
      </p:cxnSp>
    </p:spTree>
  </p:cSld>
  <p:clrMapOvr>
    <a:masterClrMapping/>
  </p:clrMapOvr>
</p:sld>
</file>

<file path=ppt/slides/slide1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redhat_logo.jpg"/>
          <p:cNvPicPr>
            <a:picLocks noChangeAspect="1"/>
          </p:cNvPicPr>
          <p:nvPr/>
        </p:nvPicPr>
        <p:blipFill>
          <a:blip r:embed="rId2"/>
          <a:stretch>
            <a:fillRect/>
          </a:stretch>
        </p:blipFill>
        <p:spPr>
          <a:xfrm>
            <a:off x="10326319" y="475488"/>
            <a:ext cx="1024128" cy="242248"/>
          </a:xfrm>
          <a:prstGeom prst="rect">
            <a:avLst/>
          </a:prstGeom>
        </p:spPr>
      </p:pic>
      <p:sp>
        <p:nvSpPr>
          <p:cNvPr id="3" name="TextBox 2"/>
          <p:cNvSpPr txBox="1"/>
          <p:nvPr/>
        </p:nvSpPr>
        <p:spPr>
          <a:xfrm>
            <a:off x="841248" y="548640"/>
            <a:ext cx="8595360" cy="274320"/>
          </a:xfrm>
          <a:prstGeom prst="rect">
            <a:avLst/>
          </a:prstGeom>
          <a:noFill/>
        </p:spPr>
        <p:txBody>
          <a:bodyPr wrap="square" anchor="t" lIns="0" rIns="0" tIns="0" bIns="0">
            <a:spAutoFit/>
          </a:bodyPr>
          <a:lstStyle/>
          <a:p>
            <a:pPr algn="l">
              <a:lnSpc>
                <a:spcPct val="106000"/>
              </a:lnSpc>
              <a:spcBef>
                <a:spcPts val="0"/>
              </a:spcBef>
              <a:spcAft>
                <a:spcPts val="0"/>
              </a:spcAft>
            </a:pPr>
            <a:r>
              <a:rPr sz="1250" b="1" spc="220">
                <a:solidFill>
                  <a:srgbClr val="EE0000"/>
                </a:solidFill>
                <a:latin typeface="Red Hat Display"/>
              </a:rPr>
              <a:t>M16 · NETWORKING FOR DEV &amp; DEVOPS</a:t>
            </a:r>
          </a:p>
        </p:txBody>
      </p:sp>
      <p:sp>
        <p:nvSpPr>
          <p:cNvPr id="4" name="TextBox 3"/>
          <p:cNvSpPr txBox="1"/>
          <p:nvPr/>
        </p:nvSpPr>
        <p:spPr>
          <a:xfrm>
            <a:off x="841248" y="877824"/>
            <a:ext cx="10515600" cy="548640"/>
          </a:xfrm>
          <a:prstGeom prst="rect">
            <a:avLst/>
          </a:prstGeom>
          <a:noFill/>
        </p:spPr>
        <p:txBody>
          <a:bodyPr wrap="none" anchor="t" lIns="0" rIns="0" tIns="0" bIns="0">
            <a:spAutoFit/>
          </a:bodyPr>
          <a:lstStyle/>
          <a:p>
            <a:pPr algn="l">
              <a:lnSpc>
                <a:spcPct val="100000"/>
              </a:lnSpc>
              <a:spcBef>
                <a:spcPts val="0"/>
              </a:spcBef>
              <a:spcAft>
                <a:spcPts val="0"/>
              </a:spcAft>
            </a:pPr>
            <a:r>
              <a:rPr sz="2500" b="1">
                <a:solidFill>
                  <a:srgbClr val="1A1A1A"/>
                </a:solidFill>
                <a:latin typeface="Red Hat Display"/>
              </a:rPr>
              <a:t>From a flat network to a controlled one</a:t>
            </a:r>
          </a:p>
        </p:txBody>
      </p:sp>
      <p:cxnSp>
        <p:nvCxnSpPr>
          <p:cNvPr id="5" name="Connector 4"/>
          <p:cNvCxnSpPr/>
          <p:nvPr/>
        </p:nvCxnSpPr>
        <p:spPr>
          <a:xfrm>
            <a:off x="841248" y="1554480"/>
            <a:ext cx="1371600" cy="0"/>
          </a:xfrm>
          <a:prstGeom prst="bentConnector3">
            <a:avLst/>
          </a:prstGeom>
          <a:ln w="31750">
            <a:solidFill>
              <a:srgbClr val="EE0000"/>
            </a:solidFill>
          </a:ln>
          <a:effectLst/>
        </p:spPr>
        <p:style>
          <a:lnRef idx="2">
            <a:schemeClr val="accent1"/>
          </a:lnRef>
          <a:fillRef idx="0">
            <a:schemeClr val="accent1"/>
          </a:fillRef>
          <a:effectRef idx="1">
            <a:schemeClr val="accent1"/>
          </a:effectRef>
          <a:fontRef idx="minor">
            <a:schemeClr val="tx1"/>
          </a:fontRef>
        </p:style>
      </p:cxnSp>
      <p:sp>
        <p:nvSpPr>
          <p:cNvPr id="6" name="Rounded Rectangle 5"/>
          <p:cNvSpPr/>
          <p:nvPr/>
        </p:nvSpPr>
        <p:spPr>
          <a:xfrm>
            <a:off x="841248" y="2395728"/>
            <a:ext cx="5715000" cy="530352"/>
          </a:xfrm>
          <a:prstGeom prst="roundRect">
            <a:avLst>
              <a:gd name="adj" fmla="val 6000"/>
            </a:avLst>
          </a:prstGeom>
          <a:solidFill>
            <a:srgbClr val="F5F6F8"/>
          </a:solidFill>
          <a:ln w="12700">
            <a:solidFill>
              <a:srgbClr val="DDE1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check_steel.png"/>
          <p:cNvPicPr>
            <a:picLocks noChangeAspect="1"/>
          </p:cNvPicPr>
          <p:nvPr/>
        </p:nvPicPr>
        <p:blipFill>
          <a:blip r:embed="rId3"/>
          <a:stretch>
            <a:fillRect/>
          </a:stretch>
        </p:blipFill>
        <p:spPr>
          <a:xfrm>
            <a:off x="987552" y="2542032"/>
            <a:ext cx="237744" cy="237744"/>
          </a:xfrm>
          <a:prstGeom prst="rect">
            <a:avLst/>
          </a:prstGeom>
        </p:spPr>
      </p:pic>
      <p:sp>
        <p:nvSpPr>
          <p:cNvPr id="8" name="TextBox 7"/>
          <p:cNvSpPr txBox="1"/>
          <p:nvPr/>
        </p:nvSpPr>
        <p:spPr>
          <a:xfrm>
            <a:off x="1353312" y="2395728"/>
            <a:ext cx="5029200" cy="530352"/>
          </a:xfrm>
          <a:prstGeom prst="rect">
            <a:avLst/>
          </a:prstGeom>
          <a:noFill/>
        </p:spPr>
        <p:txBody>
          <a:bodyPr wrap="square" anchor="ctr" lIns="0" rIns="0" tIns="0" bIns="0">
            <a:spAutoFit/>
          </a:bodyPr>
          <a:lstStyle/>
          <a:p>
            <a:pPr algn="l">
              <a:lnSpc>
                <a:spcPct val="106000"/>
              </a:lnSpc>
              <a:spcBef>
                <a:spcPts val="0"/>
              </a:spcBef>
              <a:spcAft>
                <a:spcPts val="0"/>
              </a:spcAft>
            </a:pPr>
            <a:r>
              <a:rPr sz="1200" b="0">
                <a:solidFill>
                  <a:srgbClr val="1A1A1A"/>
                </a:solidFill>
                <a:latin typeface="Red Hat Text"/>
              </a:rPr>
              <a:t>Parasol's claims app: web → API → database</a:t>
            </a:r>
          </a:p>
        </p:txBody>
      </p:sp>
      <p:sp>
        <p:nvSpPr>
          <p:cNvPr id="9" name="Rounded Rectangle 8"/>
          <p:cNvSpPr/>
          <p:nvPr/>
        </p:nvSpPr>
        <p:spPr>
          <a:xfrm>
            <a:off x="841248" y="2999232"/>
            <a:ext cx="5715000" cy="530352"/>
          </a:xfrm>
          <a:prstGeom prst="roundRect">
            <a:avLst>
              <a:gd name="adj" fmla="val 6000"/>
            </a:avLst>
          </a:prstGeom>
          <a:solidFill>
            <a:srgbClr val="F5F6F8"/>
          </a:solidFill>
          <a:ln w="12700">
            <a:solidFill>
              <a:srgbClr val="DDE1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0" name="Picture 9" descr="check_steel.png"/>
          <p:cNvPicPr>
            <a:picLocks noChangeAspect="1"/>
          </p:cNvPicPr>
          <p:nvPr/>
        </p:nvPicPr>
        <p:blipFill>
          <a:blip r:embed="rId3"/>
          <a:stretch>
            <a:fillRect/>
          </a:stretch>
        </p:blipFill>
        <p:spPr>
          <a:xfrm>
            <a:off x="987552" y="3145536"/>
            <a:ext cx="237744" cy="237744"/>
          </a:xfrm>
          <a:prstGeom prst="rect">
            <a:avLst/>
          </a:prstGeom>
        </p:spPr>
      </p:pic>
      <p:sp>
        <p:nvSpPr>
          <p:cNvPr id="11" name="TextBox 10"/>
          <p:cNvSpPr txBox="1"/>
          <p:nvPr/>
        </p:nvSpPr>
        <p:spPr>
          <a:xfrm>
            <a:off x="1353312" y="2999232"/>
            <a:ext cx="5029200" cy="530352"/>
          </a:xfrm>
          <a:prstGeom prst="rect">
            <a:avLst/>
          </a:prstGeom>
          <a:noFill/>
        </p:spPr>
        <p:txBody>
          <a:bodyPr wrap="square" anchor="ctr" lIns="0" rIns="0" tIns="0" bIns="0">
            <a:spAutoFit/>
          </a:bodyPr>
          <a:lstStyle/>
          <a:p>
            <a:pPr algn="l">
              <a:lnSpc>
                <a:spcPct val="106000"/>
              </a:lnSpc>
              <a:spcBef>
                <a:spcPts val="0"/>
              </a:spcBef>
              <a:spcAft>
                <a:spcPts val="0"/>
              </a:spcAft>
            </a:pPr>
            <a:r>
              <a:rPr sz="1200" b="0">
                <a:solidFill>
                  <a:srgbClr val="1A1A1A"/>
                </a:solidFill>
                <a:latin typeface="Red Hat Text"/>
              </a:rPr>
              <a:t>Default network is flat and open</a:t>
            </a:r>
          </a:p>
        </p:txBody>
      </p:sp>
      <p:sp>
        <p:nvSpPr>
          <p:cNvPr id="12" name="Rounded Rectangle 11"/>
          <p:cNvSpPr/>
          <p:nvPr/>
        </p:nvSpPr>
        <p:spPr>
          <a:xfrm>
            <a:off x="841248" y="3602736"/>
            <a:ext cx="5715000" cy="530352"/>
          </a:xfrm>
          <a:prstGeom prst="roundRect">
            <a:avLst>
              <a:gd name="adj" fmla="val 6000"/>
            </a:avLst>
          </a:prstGeom>
          <a:solidFill>
            <a:srgbClr val="F5F6F8"/>
          </a:solidFill>
          <a:ln w="12700">
            <a:solidFill>
              <a:srgbClr val="DDE1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3" name="Picture 12" descr="check_steel.png"/>
          <p:cNvPicPr>
            <a:picLocks noChangeAspect="1"/>
          </p:cNvPicPr>
          <p:nvPr/>
        </p:nvPicPr>
        <p:blipFill>
          <a:blip r:embed="rId3"/>
          <a:stretch>
            <a:fillRect/>
          </a:stretch>
        </p:blipFill>
        <p:spPr>
          <a:xfrm>
            <a:off x="987552" y="3749040"/>
            <a:ext cx="237744" cy="237744"/>
          </a:xfrm>
          <a:prstGeom prst="rect">
            <a:avLst/>
          </a:prstGeom>
        </p:spPr>
      </p:pic>
      <p:sp>
        <p:nvSpPr>
          <p:cNvPr id="14" name="TextBox 13"/>
          <p:cNvSpPr txBox="1"/>
          <p:nvPr/>
        </p:nvSpPr>
        <p:spPr>
          <a:xfrm>
            <a:off x="1353312" y="3602736"/>
            <a:ext cx="5029200" cy="530352"/>
          </a:xfrm>
          <a:prstGeom prst="rect">
            <a:avLst/>
          </a:prstGeom>
          <a:noFill/>
        </p:spPr>
        <p:txBody>
          <a:bodyPr wrap="square" anchor="ctr" lIns="0" rIns="0" tIns="0" bIns="0">
            <a:spAutoFit/>
          </a:bodyPr>
          <a:lstStyle/>
          <a:p>
            <a:pPr algn="l">
              <a:lnSpc>
                <a:spcPct val="106000"/>
              </a:lnSpc>
              <a:spcBef>
                <a:spcPts val="0"/>
              </a:spcBef>
              <a:spcAft>
                <a:spcPts val="0"/>
              </a:spcAft>
            </a:pPr>
            <a:r>
              <a:rPr sz="1200" b="0">
                <a:solidFill>
                  <a:srgbClr val="1A1A1A"/>
                </a:solidFill>
                <a:latin typeface="Red Hat Text"/>
              </a:rPr>
              <a:t>Any pod can reach any pod, any port</a:t>
            </a:r>
          </a:p>
        </p:txBody>
      </p:sp>
      <p:sp>
        <p:nvSpPr>
          <p:cNvPr id="15" name="Rounded Rectangle 14"/>
          <p:cNvSpPr/>
          <p:nvPr/>
        </p:nvSpPr>
        <p:spPr>
          <a:xfrm>
            <a:off x="841248" y="4206240"/>
            <a:ext cx="5715000" cy="530352"/>
          </a:xfrm>
          <a:prstGeom prst="roundRect">
            <a:avLst>
              <a:gd name="adj" fmla="val 6000"/>
            </a:avLst>
          </a:prstGeom>
          <a:solidFill>
            <a:srgbClr val="F5F6F8"/>
          </a:solidFill>
          <a:ln w="12700">
            <a:solidFill>
              <a:srgbClr val="DDE1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6" name="Picture 15" descr="check_steel.png"/>
          <p:cNvPicPr>
            <a:picLocks noChangeAspect="1"/>
          </p:cNvPicPr>
          <p:nvPr/>
        </p:nvPicPr>
        <p:blipFill>
          <a:blip r:embed="rId3"/>
          <a:stretch>
            <a:fillRect/>
          </a:stretch>
        </p:blipFill>
        <p:spPr>
          <a:xfrm>
            <a:off x="987552" y="4352544"/>
            <a:ext cx="237744" cy="237744"/>
          </a:xfrm>
          <a:prstGeom prst="rect">
            <a:avLst/>
          </a:prstGeom>
        </p:spPr>
      </p:pic>
      <p:sp>
        <p:nvSpPr>
          <p:cNvPr id="17" name="TextBox 16"/>
          <p:cNvSpPr txBox="1"/>
          <p:nvPr/>
        </p:nvSpPr>
        <p:spPr>
          <a:xfrm>
            <a:off x="1353312" y="4206240"/>
            <a:ext cx="5029200" cy="530352"/>
          </a:xfrm>
          <a:prstGeom prst="rect">
            <a:avLst/>
          </a:prstGeom>
          <a:noFill/>
        </p:spPr>
        <p:txBody>
          <a:bodyPr wrap="square" anchor="ctr" lIns="0" rIns="0" tIns="0" bIns="0">
            <a:spAutoFit/>
          </a:bodyPr>
          <a:lstStyle/>
          <a:p>
            <a:pPr algn="l">
              <a:lnSpc>
                <a:spcPct val="106000"/>
              </a:lnSpc>
              <a:spcBef>
                <a:spcPts val="0"/>
              </a:spcBef>
              <a:spcAft>
                <a:spcPts val="0"/>
              </a:spcAft>
            </a:pPr>
            <a:r>
              <a:rPr sz="1200" b="0">
                <a:solidFill>
                  <a:srgbClr val="1A1A1A"/>
                </a:solidFill>
                <a:latin typeface="Red Hat Text"/>
              </a:rPr>
              <a:t>Nothing is reachable from outside — yet</a:t>
            </a:r>
          </a:p>
        </p:txBody>
      </p:sp>
      <p:sp>
        <p:nvSpPr>
          <p:cNvPr id="18" name="Rounded Rectangle 17"/>
          <p:cNvSpPr/>
          <p:nvPr/>
        </p:nvSpPr>
        <p:spPr>
          <a:xfrm>
            <a:off x="841248" y="4809744"/>
            <a:ext cx="5715000" cy="530352"/>
          </a:xfrm>
          <a:prstGeom prst="roundRect">
            <a:avLst>
              <a:gd name="adj" fmla="val 6000"/>
            </a:avLst>
          </a:prstGeom>
          <a:solidFill>
            <a:srgbClr val="F5F6F8"/>
          </a:solidFill>
          <a:ln w="12700">
            <a:solidFill>
              <a:srgbClr val="DDE1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9" name="Picture 18" descr="check_steel.png"/>
          <p:cNvPicPr>
            <a:picLocks noChangeAspect="1"/>
          </p:cNvPicPr>
          <p:nvPr/>
        </p:nvPicPr>
        <p:blipFill>
          <a:blip r:embed="rId3"/>
          <a:stretch>
            <a:fillRect/>
          </a:stretch>
        </p:blipFill>
        <p:spPr>
          <a:xfrm>
            <a:off x="987552" y="4956048"/>
            <a:ext cx="237744" cy="237744"/>
          </a:xfrm>
          <a:prstGeom prst="rect">
            <a:avLst/>
          </a:prstGeom>
        </p:spPr>
      </p:pic>
      <p:sp>
        <p:nvSpPr>
          <p:cNvPr id="20" name="TextBox 19"/>
          <p:cNvSpPr txBox="1"/>
          <p:nvPr/>
        </p:nvSpPr>
        <p:spPr>
          <a:xfrm>
            <a:off x="1353312" y="4809744"/>
            <a:ext cx="5029200" cy="530352"/>
          </a:xfrm>
          <a:prstGeom prst="rect">
            <a:avLst/>
          </a:prstGeom>
          <a:noFill/>
        </p:spPr>
        <p:txBody>
          <a:bodyPr wrap="square" anchor="ctr" lIns="0" rIns="0" tIns="0" bIns="0">
            <a:spAutoFit/>
          </a:bodyPr>
          <a:lstStyle/>
          <a:p>
            <a:pPr algn="l">
              <a:lnSpc>
                <a:spcPct val="106000"/>
              </a:lnSpc>
              <a:spcBef>
                <a:spcPts val="0"/>
              </a:spcBef>
              <a:spcAft>
                <a:spcPts val="0"/>
              </a:spcAft>
            </a:pPr>
            <a:r>
              <a:rPr sz="1200" b="0">
                <a:solidFill>
                  <a:srgbClr val="1A1A1A"/>
                </a:solidFill>
                <a:latin typeface="Red Hat Text"/>
              </a:rPr>
              <a:t>The network is a control plane you configure</a:t>
            </a:r>
          </a:p>
        </p:txBody>
      </p:sp>
      <p:sp>
        <p:nvSpPr>
          <p:cNvPr id="21" name="Rounded Rectangle 20"/>
          <p:cNvSpPr/>
          <p:nvPr/>
        </p:nvSpPr>
        <p:spPr>
          <a:xfrm>
            <a:off x="6812280" y="2395728"/>
            <a:ext cx="4538167" cy="2944368"/>
          </a:xfrm>
          <a:prstGeom prst="roundRect">
            <a:avLst>
              <a:gd name="adj" fmla="val 4000"/>
            </a:avLst>
          </a:prstGeom>
          <a:solidFill>
            <a:srgbClr val="FFFFFF"/>
          </a:solidFill>
          <a:ln w="15240">
            <a:solidFill>
              <a:srgbClr val="DDE1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ounded Rectangle 21"/>
          <p:cNvSpPr/>
          <p:nvPr/>
        </p:nvSpPr>
        <p:spPr>
          <a:xfrm>
            <a:off x="7013448" y="2596896"/>
            <a:ext cx="1298448" cy="310896"/>
          </a:xfrm>
          <a:prstGeom prst="roundRect">
            <a:avLst>
              <a:gd name="adj" fmla="val 50000"/>
            </a:avLst>
          </a:prstGeom>
          <a:solidFill>
            <a:srgbClr val="FCEC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7013448" y="2596896"/>
            <a:ext cx="1298448" cy="310896"/>
          </a:xfrm>
          <a:prstGeom prst="rect">
            <a:avLst/>
          </a:prstGeom>
          <a:noFill/>
        </p:spPr>
        <p:txBody>
          <a:bodyPr wrap="none" anchor="ctr" lIns="0" rIns="0" tIns="0" bIns="0">
            <a:spAutoFit/>
          </a:bodyPr>
          <a:lstStyle/>
          <a:p>
            <a:pPr algn="ctr">
              <a:lnSpc>
                <a:spcPct val="106000"/>
              </a:lnSpc>
              <a:spcBef>
                <a:spcPts val="0"/>
              </a:spcBef>
              <a:spcAft>
                <a:spcPts val="0"/>
              </a:spcAft>
            </a:pPr>
            <a:r>
              <a:rPr sz="850" b="1">
                <a:solidFill>
                  <a:srgbClr val="B80000"/>
                </a:solidFill>
                <a:latin typeface="Red Hat Display"/>
              </a:rPr>
              <a:t>MEDIA PASS</a:t>
            </a:r>
          </a:p>
        </p:txBody>
      </p:sp>
      <p:pic>
        <p:nvPicPr>
          <p:cNvPr id="24" name="Picture 23" descr="eye_slate.png"/>
          <p:cNvPicPr>
            <a:picLocks noChangeAspect="1"/>
          </p:cNvPicPr>
          <p:nvPr/>
        </p:nvPicPr>
        <p:blipFill>
          <a:blip r:embed="rId4"/>
          <a:stretch>
            <a:fillRect/>
          </a:stretch>
        </p:blipFill>
        <p:spPr>
          <a:xfrm>
            <a:off x="8843619" y="3108960"/>
            <a:ext cx="475488" cy="475488"/>
          </a:xfrm>
          <a:prstGeom prst="rect">
            <a:avLst/>
          </a:prstGeom>
        </p:spPr>
      </p:pic>
      <p:sp>
        <p:nvSpPr>
          <p:cNvPr id="25" name="TextBox 24"/>
          <p:cNvSpPr txBox="1"/>
          <p:nvPr/>
        </p:nvSpPr>
        <p:spPr>
          <a:xfrm>
            <a:off x="7050024" y="3721608"/>
            <a:ext cx="4062679" cy="1481328"/>
          </a:xfrm>
          <a:prstGeom prst="rect">
            <a:avLst/>
          </a:prstGeom>
          <a:noFill/>
        </p:spPr>
        <p:txBody>
          <a:bodyPr wrap="square" anchor="t" lIns="0" rIns="0" tIns="0" bIns="0">
            <a:spAutoFit/>
          </a:bodyPr>
          <a:lstStyle/>
          <a:p>
            <a:pPr algn="l">
              <a:lnSpc>
                <a:spcPct val="120000"/>
              </a:lnSpc>
              <a:spcBef>
                <a:spcPts val="0"/>
              </a:spcBef>
              <a:spcAft>
                <a:spcPts val="0"/>
              </a:spcAft>
            </a:pPr>
            <a:r>
              <a:rPr sz="950" b="0">
                <a:solidFill>
                  <a:srgbClr val="8A9099"/>
                </a:solidFill>
                <a:latin typeface="Red Hat Text"/>
              </a:rPr>
              <a:t>A three-tier app box (web/API/db) with "everything talks to everything" arrows in grey, inside a cluster frame with no external door — the "before" picture.</a:t>
            </a:r>
          </a:p>
        </p:txBody>
      </p:sp>
      <p:cxnSp>
        <p:nvCxnSpPr>
          <p:cNvPr id="26" name="Connector 25"/>
          <p:cNvCxnSpPr/>
          <p:nvPr/>
        </p:nvCxnSpPr>
        <p:spPr>
          <a:xfrm>
            <a:off x="841248" y="6437376"/>
            <a:ext cx="10509199" cy="0"/>
          </a:xfrm>
          <a:prstGeom prst="bentConnector3">
            <a:avLst/>
          </a:prstGeom>
          <a:ln w="12700">
            <a:solidFill>
              <a:srgbClr val="DDE1E6"/>
            </a:solidFill>
          </a:ln>
          <a:effectLst/>
        </p:spPr>
        <p:style>
          <a:lnRef idx="2">
            <a:schemeClr val="accent1"/>
          </a:lnRef>
          <a:fillRef idx="0">
            <a:schemeClr val="accent1"/>
          </a:fillRef>
          <a:effectRef idx="1">
            <a:schemeClr val="accent1"/>
          </a:effectRef>
          <a:fontRef idx="minor">
            <a:schemeClr val="tx1"/>
          </a:fontRef>
        </p:style>
      </p:cxnSp>
      <p:sp>
        <p:nvSpPr>
          <p:cNvPr id="27" name="TextBox 26"/>
          <p:cNvSpPr txBox="1"/>
          <p:nvPr/>
        </p:nvSpPr>
        <p:spPr>
          <a:xfrm>
            <a:off x="841248" y="6473952"/>
            <a:ext cx="7315200" cy="274320"/>
          </a:xfrm>
          <a:prstGeom prst="rect">
            <a:avLst/>
          </a:prstGeom>
          <a:noFill/>
        </p:spPr>
        <p:txBody>
          <a:bodyPr wrap="square" anchor="t" lIns="0" rIns="0" tIns="0" bIns="0">
            <a:spAutoFit/>
          </a:bodyPr>
          <a:lstStyle/>
          <a:p>
            <a:pPr algn="l">
              <a:lnSpc>
                <a:spcPct val="106000"/>
              </a:lnSpc>
              <a:spcBef>
                <a:spcPts val="0"/>
              </a:spcBef>
              <a:spcAft>
                <a:spcPts val="0"/>
              </a:spcAft>
            </a:pPr>
            <a:r>
              <a:rPr sz="950" b="0">
                <a:solidFill>
                  <a:srgbClr val="8A9099"/>
                </a:solidFill>
                <a:latin typeface="Red Hat Text"/>
              </a:rPr>
              <a:t>CONFIDENTIAL</a:t>
            </a:r>
          </a:p>
        </p:txBody>
      </p:sp>
      <p:sp>
        <p:nvSpPr>
          <p:cNvPr id="28" name="TextBox 27"/>
          <p:cNvSpPr txBox="1"/>
          <p:nvPr/>
        </p:nvSpPr>
        <p:spPr>
          <a:xfrm>
            <a:off x="10801807" y="6473952"/>
            <a:ext cx="548640" cy="274320"/>
          </a:xfrm>
          <a:prstGeom prst="rect">
            <a:avLst/>
          </a:prstGeom>
          <a:noFill/>
        </p:spPr>
        <p:txBody>
          <a:bodyPr wrap="square" anchor="t" lIns="0" rIns="0" tIns="0" bIns="0">
            <a:spAutoFit/>
          </a:bodyPr>
          <a:lstStyle/>
          <a:p>
            <a:pPr algn="r">
              <a:lnSpc>
                <a:spcPct val="106000"/>
              </a:lnSpc>
              <a:spcBef>
                <a:spcPts val="0"/>
              </a:spcBef>
              <a:spcAft>
                <a:spcPts val="0"/>
              </a:spcAft>
            </a:pPr>
            <a:r>
              <a:rPr sz="950" b="0">
                <a:solidFill>
                  <a:srgbClr val="8A9099"/>
                </a:solidFill>
                <a:latin typeface="Red Hat Text"/>
              </a:rPr>
              <a:t>112</a:t>
            </a:r>
          </a:p>
        </p:txBody>
      </p:sp>
    </p:spTree>
  </p:cSld>
  <p:clrMapOvr>
    <a:masterClrMapping/>
  </p:clrMapOvr>
</p:sld>
</file>

<file path=ppt/slides/slide1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redhat_logo.jpg"/>
          <p:cNvPicPr>
            <a:picLocks noChangeAspect="1"/>
          </p:cNvPicPr>
          <p:nvPr/>
        </p:nvPicPr>
        <p:blipFill>
          <a:blip r:embed="rId2"/>
          <a:stretch>
            <a:fillRect/>
          </a:stretch>
        </p:blipFill>
        <p:spPr>
          <a:xfrm>
            <a:off x="10326319" y="475488"/>
            <a:ext cx="1024128" cy="242248"/>
          </a:xfrm>
          <a:prstGeom prst="rect">
            <a:avLst/>
          </a:prstGeom>
        </p:spPr>
      </p:pic>
      <p:sp>
        <p:nvSpPr>
          <p:cNvPr id="3" name="TextBox 2"/>
          <p:cNvSpPr txBox="1"/>
          <p:nvPr/>
        </p:nvSpPr>
        <p:spPr>
          <a:xfrm>
            <a:off x="841248" y="548640"/>
            <a:ext cx="8595360" cy="274320"/>
          </a:xfrm>
          <a:prstGeom prst="rect">
            <a:avLst/>
          </a:prstGeom>
          <a:noFill/>
        </p:spPr>
        <p:txBody>
          <a:bodyPr wrap="square" anchor="t" lIns="0" rIns="0" tIns="0" bIns="0">
            <a:spAutoFit/>
          </a:bodyPr>
          <a:lstStyle/>
          <a:p>
            <a:pPr algn="l">
              <a:lnSpc>
                <a:spcPct val="106000"/>
              </a:lnSpc>
              <a:spcBef>
                <a:spcPts val="0"/>
              </a:spcBef>
              <a:spcAft>
                <a:spcPts val="0"/>
              </a:spcAft>
            </a:pPr>
            <a:r>
              <a:rPr sz="1250" b="1" spc="220">
                <a:solidFill>
                  <a:srgbClr val="EE0000"/>
                </a:solidFill>
                <a:latin typeface="Red Hat Display"/>
              </a:rPr>
              <a:t>M16 · NETWORKING FOR DEV &amp; DEVOPS</a:t>
            </a:r>
          </a:p>
        </p:txBody>
      </p:sp>
      <p:sp>
        <p:nvSpPr>
          <p:cNvPr id="4" name="TextBox 3"/>
          <p:cNvSpPr txBox="1"/>
          <p:nvPr/>
        </p:nvSpPr>
        <p:spPr>
          <a:xfrm>
            <a:off x="841248" y="877824"/>
            <a:ext cx="10515600" cy="548640"/>
          </a:xfrm>
          <a:prstGeom prst="rect">
            <a:avLst/>
          </a:prstGeom>
          <a:noFill/>
        </p:spPr>
        <p:txBody>
          <a:bodyPr wrap="none" anchor="t" lIns="0" rIns="0" tIns="0" bIns="0">
            <a:spAutoFit/>
          </a:bodyPr>
          <a:lstStyle/>
          <a:p>
            <a:pPr algn="l">
              <a:lnSpc>
                <a:spcPct val="100000"/>
              </a:lnSpc>
              <a:spcBef>
                <a:spcPts val="0"/>
              </a:spcBef>
              <a:spcAft>
                <a:spcPts val="0"/>
              </a:spcAft>
            </a:pPr>
            <a:r>
              <a:rPr sz="2500" b="1">
                <a:solidFill>
                  <a:srgbClr val="1A1A1A"/>
                </a:solidFill>
                <a:latin typeface="Red Hat Display"/>
              </a:rPr>
              <a:t>Two directions of traffic</a:t>
            </a:r>
          </a:p>
        </p:txBody>
      </p:sp>
      <p:cxnSp>
        <p:nvCxnSpPr>
          <p:cNvPr id="5" name="Connector 4"/>
          <p:cNvCxnSpPr/>
          <p:nvPr/>
        </p:nvCxnSpPr>
        <p:spPr>
          <a:xfrm>
            <a:off x="841248" y="1554480"/>
            <a:ext cx="1371600" cy="0"/>
          </a:xfrm>
          <a:prstGeom prst="bentConnector3">
            <a:avLst/>
          </a:prstGeom>
          <a:ln w="31750">
            <a:solidFill>
              <a:srgbClr val="EE0000"/>
            </a:solidFill>
          </a:ln>
          <a:effectLst/>
        </p:spPr>
        <p:style>
          <a:lnRef idx="2">
            <a:schemeClr val="accent1"/>
          </a:lnRef>
          <a:fillRef idx="0">
            <a:schemeClr val="accent1"/>
          </a:fillRef>
          <a:effectRef idx="1">
            <a:schemeClr val="accent1"/>
          </a:effectRef>
          <a:fontRef idx="minor">
            <a:schemeClr val="tx1"/>
          </a:fontRef>
        </p:style>
      </p:cxnSp>
      <p:sp>
        <p:nvSpPr>
          <p:cNvPr id="6" name="Rounded Rectangle 5"/>
          <p:cNvSpPr/>
          <p:nvPr/>
        </p:nvSpPr>
        <p:spPr>
          <a:xfrm>
            <a:off x="841248" y="2395728"/>
            <a:ext cx="5715000" cy="530352"/>
          </a:xfrm>
          <a:prstGeom prst="roundRect">
            <a:avLst>
              <a:gd name="adj" fmla="val 6000"/>
            </a:avLst>
          </a:prstGeom>
          <a:solidFill>
            <a:srgbClr val="F5F6F8"/>
          </a:solidFill>
          <a:ln w="12700">
            <a:solidFill>
              <a:srgbClr val="DDE1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check_steel.png"/>
          <p:cNvPicPr>
            <a:picLocks noChangeAspect="1"/>
          </p:cNvPicPr>
          <p:nvPr/>
        </p:nvPicPr>
        <p:blipFill>
          <a:blip r:embed="rId3"/>
          <a:stretch>
            <a:fillRect/>
          </a:stretch>
        </p:blipFill>
        <p:spPr>
          <a:xfrm>
            <a:off x="987552" y="2542032"/>
            <a:ext cx="237744" cy="237744"/>
          </a:xfrm>
          <a:prstGeom prst="rect">
            <a:avLst/>
          </a:prstGeom>
        </p:spPr>
      </p:pic>
      <p:sp>
        <p:nvSpPr>
          <p:cNvPr id="8" name="TextBox 7"/>
          <p:cNvSpPr txBox="1"/>
          <p:nvPr/>
        </p:nvSpPr>
        <p:spPr>
          <a:xfrm>
            <a:off x="1353312" y="2395728"/>
            <a:ext cx="5029200" cy="530352"/>
          </a:xfrm>
          <a:prstGeom prst="rect">
            <a:avLst/>
          </a:prstGeom>
          <a:noFill/>
        </p:spPr>
        <p:txBody>
          <a:bodyPr wrap="square" anchor="ctr" lIns="0" rIns="0" tIns="0" bIns="0">
            <a:spAutoFit/>
          </a:bodyPr>
          <a:lstStyle/>
          <a:p>
            <a:pPr algn="l">
              <a:lnSpc>
                <a:spcPct val="106000"/>
              </a:lnSpc>
              <a:spcBef>
                <a:spcPts val="0"/>
              </a:spcBef>
              <a:spcAft>
                <a:spcPts val="0"/>
              </a:spcAft>
            </a:pPr>
            <a:r>
              <a:rPr sz="1200" b="0">
                <a:solidFill>
                  <a:srgbClr val="1A1A1A"/>
                </a:solidFill>
                <a:latin typeface="Red Hat Text"/>
              </a:rPr>
              <a:t>North-south: crossing the cluster boundary</a:t>
            </a:r>
          </a:p>
        </p:txBody>
      </p:sp>
      <p:sp>
        <p:nvSpPr>
          <p:cNvPr id="9" name="Rounded Rectangle 8"/>
          <p:cNvSpPr/>
          <p:nvPr/>
        </p:nvSpPr>
        <p:spPr>
          <a:xfrm>
            <a:off x="841248" y="2999232"/>
            <a:ext cx="5715000" cy="530352"/>
          </a:xfrm>
          <a:prstGeom prst="roundRect">
            <a:avLst>
              <a:gd name="adj" fmla="val 6000"/>
            </a:avLst>
          </a:prstGeom>
          <a:solidFill>
            <a:srgbClr val="F5F6F8"/>
          </a:solidFill>
          <a:ln w="12700">
            <a:solidFill>
              <a:srgbClr val="DDE1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0" name="Picture 9" descr="check_steel.png"/>
          <p:cNvPicPr>
            <a:picLocks noChangeAspect="1"/>
          </p:cNvPicPr>
          <p:nvPr/>
        </p:nvPicPr>
        <p:blipFill>
          <a:blip r:embed="rId3"/>
          <a:stretch>
            <a:fillRect/>
          </a:stretch>
        </p:blipFill>
        <p:spPr>
          <a:xfrm>
            <a:off x="987552" y="3145536"/>
            <a:ext cx="237744" cy="237744"/>
          </a:xfrm>
          <a:prstGeom prst="rect">
            <a:avLst/>
          </a:prstGeom>
        </p:spPr>
      </p:pic>
      <p:sp>
        <p:nvSpPr>
          <p:cNvPr id="11" name="TextBox 10"/>
          <p:cNvSpPr txBox="1"/>
          <p:nvPr/>
        </p:nvSpPr>
        <p:spPr>
          <a:xfrm>
            <a:off x="1353312" y="2999232"/>
            <a:ext cx="5029200" cy="530352"/>
          </a:xfrm>
          <a:prstGeom prst="rect">
            <a:avLst/>
          </a:prstGeom>
          <a:noFill/>
        </p:spPr>
        <p:txBody>
          <a:bodyPr wrap="square" anchor="ctr" lIns="0" rIns="0" tIns="0" bIns="0">
            <a:spAutoFit/>
          </a:bodyPr>
          <a:lstStyle/>
          <a:p>
            <a:pPr algn="l">
              <a:lnSpc>
                <a:spcPct val="106000"/>
              </a:lnSpc>
              <a:spcBef>
                <a:spcPts val="0"/>
              </a:spcBef>
              <a:spcAft>
                <a:spcPts val="0"/>
              </a:spcAft>
            </a:pPr>
            <a:r>
              <a:rPr sz="1200" b="0">
                <a:solidFill>
                  <a:srgbClr val="1A1A1A"/>
                </a:solidFill>
                <a:latin typeface="Red Hat Text"/>
              </a:rPr>
              <a:t>Controlled by what you EXPOSE (Route / Gateway)</a:t>
            </a:r>
          </a:p>
        </p:txBody>
      </p:sp>
      <p:sp>
        <p:nvSpPr>
          <p:cNvPr id="12" name="Rounded Rectangle 11"/>
          <p:cNvSpPr/>
          <p:nvPr/>
        </p:nvSpPr>
        <p:spPr>
          <a:xfrm>
            <a:off x="841248" y="3602736"/>
            <a:ext cx="5715000" cy="530352"/>
          </a:xfrm>
          <a:prstGeom prst="roundRect">
            <a:avLst>
              <a:gd name="adj" fmla="val 6000"/>
            </a:avLst>
          </a:prstGeom>
          <a:solidFill>
            <a:srgbClr val="F5F6F8"/>
          </a:solidFill>
          <a:ln w="12700">
            <a:solidFill>
              <a:srgbClr val="DDE1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3" name="Picture 12" descr="check_steel.png"/>
          <p:cNvPicPr>
            <a:picLocks noChangeAspect="1"/>
          </p:cNvPicPr>
          <p:nvPr/>
        </p:nvPicPr>
        <p:blipFill>
          <a:blip r:embed="rId3"/>
          <a:stretch>
            <a:fillRect/>
          </a:stretch>
        </p:blipFill>
        <p:spPr>
          <a:xfrm>
            <a:off x="987552" y="3749040"/>
            <a:ext cx="237744" cy="237744"/>
          </a:xfrm>
          <a:prstGeom prst="rect">
            <a:avLst/>
          </a:prstGeom>
        </p:spPr>
      </p:pic>
      <p:sp>
        <p:nvSpPr>
          <p:cNvPr id="14" name="TextBox 13"/>
          <p:cNvSpPr txBox="1"/>
          <p:nvPr/>
        </p:nvSpPr>
        <p:spPr>
          <a:xfrm>
            <a:off x="1353312" y="3602736"/>
            <a:ext cx="5029200" cy="530352"/>
          </a:xfrm>
          <a:prstGeom prst="rect">
            <a:avLst/>
          </a:prstGeom>
          <a:noFill/>
        </p:spPr>
        <p:txBody>
          <a:bodyPr wrap="square" anchor="ctr" lIns="0" rIns="0" tIns="0" bIns="0">
            <a:spAutoFit/>
          </a:bodyPr>
          <a:lstStyle/>
          <a:p>
            <a:pPr algn="l">
              <a:lnSpc>
                <a:spcPct val="106000"/>
              </a:lnSpc>
              <a:spcBef>
                <a:spcPts val="0"/>
              </a:spcBef>
              <a:spcAft>
                <a:spcPts val="0"/>
              </a:spcAft>
            </a:pPr>
            <a:r>
              <a:rPr sz="1200" b="0">
                <a:solidFill>
                  <a:srgbClr val="1A1A1A"/>
                </a:solidFill>
                <a:latin typeface="Red Hat Text"/>
              </a:rPr>
              <a:t>East-west: pod-to-pod inside the cluster</a:t>
            </a:r>
          </a:p>
        </p:txBody>
      </p:sp>
      <p:sp>
        <p:nvSpPr>
          <p:cNvPr id="15" name="Rounded Rectangle 14"/>
          <p:cNvSpPr/>
          <p:nvPr/>
        </p:nvSpPr>
        <p:spPr>
          <a:xfrm>
            <a:off x="841248" y="4206240"/>
            <a:ext cx="5715000" cy="530352"/>
          </a:xfrm>
          <a:prstGeom prst="roundRect">
            <a:avLst>
              <a:gd name="adj" fmla="val 6000"/>
            </a:avLst>
          </a:prstGeom>
          <a:solidFill>
            <a:srgbClr val="F5F6F8"/>
          </a:solidFill>
          <a:ln w="12700">
            <a:solidFill>
              <a:srgbClr val="DDE1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6" name="Picture 15" descr="check_steel.png"/>
          <p:cNvPicPr>
            <a:picLocks noChangeAspect="1"/>
          </p:cNvPicPr>
          <p:nvPr/>
        </p:nvPicPr>
        <p:blipFill>
          <a:blip r:embed="rId3"/>
          <a:stretch>
            <a:fillRect/>
          </a:stretch>
        </p:blipFill>
        <p:spPr>
          <a:xfrm>
            <a:off x="987552" y="4352544"/>
            <a:ext cx="237744" cy="237744"/>
          </a:xfrm>
          <a:prstGeom prst="rect">
            <a:avLst/>
          </a:prstGeom>
        </p:spPr>
      </p:pic>
      <p:sp>
        <p:nvSpPr>
          <p:cNvPr id="17" name="TextBox 16"/>
          <p:cNvSpPr txBox="1"/>
          <p:nvPr/>
        </p:nvSpPr>
        <p:spPr>
          <a:xfrm>
            <a:off x="1353312" y="4206240"/>
            <a:ext cx="5029200" cy="530352"/>
          </a:xfrm>
          <a:prstGeom prst="rect">
            <a:avLst/>
          </a:prstGeom>
          <a:noFill/>
        </p:spPr>
        <p:txBody>
          <a:bodyPr wrap="square" anchor="ctr" lIns="0" rIns="0" tIns="0" bIns="0">
            <a:spAutoFit/>
          </a:bodyPr>
          <a:lstStyle/>
          <a:p>
            <a:pPr algn="l">
              <a:lnSpc>
                <a:spcPct val="106000"/>
              </a:lnSpc>
              <a:spcBef>
                <a:spcPts val="0"/>
              </a:spcBef>
              <a:spcAft>
                <a:spcPts val="0"/>
              </a:spcAft>
            </a:pPr>
            <a:r>
              <a:rPr sz="1200" b="0">
                <a:solidFill>
                  <a:srgbClr val="1A1A1A"/>
                </a:solidFill>
                <a:latin typeface="Red Hat Text"/>
              </a:rPr>
              <a:t>Controlled by who may TALK (NetworkPolicy / UDN)</a:t>
            </a:r>
          </a:p>
        </p:txBody>
      </p:sp>
      <p:sp>
        <p:nvSpPr>
          <p:cNvPr id="18" name="Rounded Rectangle 17"/>
          <p:cNvSpPr/>
          <p:nvPr/>
        </p:nvSpPr>
        <p:spPr>
          <a:xfrm>
            <a:off x="841248" y="4809744"/>
            <a:ext cx="5715000" cy="530352"/>
          </a:xfrm>
          <a:prstGeom prst="roundRect">
            <a:avLst>
              <a:gd name="adj" fmla="val 6000"/>
            </a:avLst>
          </a:prstGeom>
          <a:solidFill>
            <a:srgbClr val="F5F6F8"/>
          </a:solidFill>
          <a:ln w="12700">
            <a:solidFill>
              <a:srgbClr val="DDE1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9" name="Picture 18" descr="check_steel.png"/>
          <p:cNvPicPr>
            <a:picLocks noChangeAspect="1"/>
          </p:cNvPicPr>
          <p:nvPr/>
        </p:nvPicPr>
        <p:blipFill>
          <a:blip r:embed="rId3"/>
          <a:stretch>
            <a:fillRect/>
          </a:stretch>
        </p:blipFill>
        <p:spPr>
          <a:xfrm>
            <a:off x="987552" y="4956048"/>
            <a:ext cx="237744" cy="237744"/>
          </a:xfrm>
          <a:prstGeom prst="rect">
            <a:avLst/>
          </a:prstGeom>
        </p:spPr>
      </p:pic>
      <p:sp>
        <p:nvSpPr>
          <p:cNvPr id="20" name="TextBox 19"/>
          <p:cNvSpPr txBox="1"/>
          <p:nvPr/>
        </p:nvSpPr>
        <p:spPr>
          <a:xfrm>
            <a:off x="1353312" y="4809744"/>
            <a:ext cx="5029200" cy="530352"/>
          </a:xfrm>
          <a:prstGeom prst="rect">
            <a:avLst/>
          </a:prstGeom>
          <a:noFill/>
        </p:spPr>
        <p:txBody>
          <a:bodyPr wrap="square" anchor="ctr" lIns="0" rIns="0" tIns="0" bIns="0">
            <a:spAutoFit/>
          </a:bodyPr>
          <a:lstStyle/>
          <a:p>
            <a:pPr algn="l">
              <a:lnSpc>
                <a:spcPct val="106000"/>
              </a:lnSpc>
              <a:spcBef>
                <a:spcPts val="0"/>
              </a:spcBef>
              <a:spcAft>
                <a:spcPts val="0"/>
              </a:spcAft>
            </a:pPr>
            <a:r>
              <a:rPr sz="1200" b="0">
                <a:solidFill>
                  <a:srgbClr val="1A1A1A"/>
                </a:solidFill>
                <a:latin typeface="Red Hat Text"/>
              </a:rPr>
              <a:t>Every tool is one direction or the other</a:t>
            </a:r>
          </a:p>
        </p:txBody>
      </p:sp>
      <p:sp>
        <p:nvSpPr>
          <p:cNvPr id="21" name="Rounded Rectangle 20"/>
          <p:cNvSpPr/>
          <p:nvPr/>
        </p:nvSpPr>
        <p:spPr>
          <a:xfrm>
            <a:off x="6812280" y="2395728"/>
            <a:ext cx="4538167" cy="2944368"/>
          </a:xfrm>
          <a:prstGeom prst="roundRect">
            <a:avLst>
              <a:gd name="adj" fmla="val 4000"/>
            </a:avLst>
          </a:prstGeom>
          <a:solidFill>
            <a:srgbClr val="FFFFFF"/>
          </a:solidFill>
          <a:ln w="15240">
            <a:solidFill>
              <a:srgbClr val="DDE1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ounded Rectangle 21"/>
          <p:cNvSpPr/>
          <p:nvPr/>
        </p:nvSpPr>
        <p:spPr>
          <a:xfrm>
            <a:off x="7013448" y="2596896"/>
            <a:ext cx="1298448" cy="310896"/>
          </a:xfrm>
          <a:prstGeom prst="roundRect">
            <a:avLst>
              <a:gd name="adj" fmla="val 50000"/>
            </a:avLst>
          </a:prstGeom>
          <a:solidFill>
            <a:srgbClr val="FCEC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7013448" y="2596896"/>
            <a:ext cx="1298448" cy="310896"/>
          </a:xfrm>
          <a:prstGeom prst="rect">
            <a:avLst/>
          </a:prstGeom>
          <a:noFill/>
        </p:spPr>
        <p:txBody>
          <a:bodyPr wrap="none" anchor="ctr" lIns="0" rIns="0" tIns="0" bIns="0">
            <a:spAutoFit/>
          </a:bodyPr>
          <a:lstStyle/>
          <a:p>
            <a:pPr algn="ctr">
              <a:lnSpc>
                <a:spcPct val="106000"/>
              </a:lnSpc>
              <a:spcBef>
                <a:spcPts val="0"/>
              </a:spcBef>
              <a:spcAft>
                <a:spcPts val="0"/>
              </a:spcAft>
            </a:pPr>
            <a:r>
              <a:rPr sz="850" b="1">
                <a:solidFill>
                  <a:srgbClr val="B80000"/>
                </a:solidFill>
                <a:latin typeface="Red Hat Display"/>
              </a:rPr>
              <a:t>MEDIA PASS</a:t>
            </a:r>
          </a:p>
        </p:txBody>
      </p:sp>
      <p:pic>
        <p:nvPicPr>
          <p:cNvPr id="24" name="Picture 23" descr="eye_slate.png"/>
          <p:cNvPicPr>
            <a:picLocks noChangeAspect="1"/>
          </p:cNvPicPr>
          <p:nvPr/>
        </p:nvPicPr>
        <p:blipFill>
          <a:blip r:embed="rId4"/>
          <a:stretch>
            <a:fillRect/>
          </a:stretch>
        </p:blipFill>
        <p:spPr>
          <a:xfrm>
            <a:off x="8843619" y="3108960"/>
            <a:ext cx="475488" cy="475488"/>
          </a:xfrm>
          <a:prstGeom prst="rect">
            <a:avLst/>
          </a:prstGeom>
        </p:spPr>
      </p:pic>
      <p:sp>
        <p:nvSpPr>
          <p:cNvPr id="25" name="TextBox 24"/>
          <p:cNvSpPr txBox="1"/>
          <p:nvPr/>
        </p:nvSpPr>
        <p:spPr>
          <a:xfrm>
            <a:off x="7050024" y="3721608"/>
            <a:ext cx="4062679" cy="1481328"/>
          </a:xfrm>
          <a:prstGeom prst="rect">
            <a:avLst/>
          </a:prstGeom>
          <a:noFill/>
        </p:spPr>
        <p:txBody>
          <a:bodyPr wrap="square" anchor="t" lIns="0" rIns="0" tIns="0" bIns="0">
            <a:spAutoFit/>
          </a:bodyPr>
          <a:lstStyle/>
          <a:p>
            <a:pPr algn="l">
              <a:lnSpc>
                <a:spcPct val="120000"/>
              </a:lnSpc>
              <a:spcBef>
                <a:spcPts val="0"/>
              </a:spcBef>
              <a:spcAft>
                <a:spcPts val="0"/>
              </a:spcAft>
            </a:pPr>
            <a:r>
              <a:rPr sz="950" b="0">
                <a:solidFill>
                  <a:srgbClr val="8A9099"/>
                </a:solidFill>
                <a:latin typeface="Red Hat Text"/>
              </a:rPr>
              <a:t>Reuse concept diagram networking-dev-devops-...-01-traffic-directions.svg — outside→web (north-south, exposure) and web→api→db (east-west, policy).</a:t>
            </a:r>
          </a:p>
        </p:txBody>
      </p:sp>
      <p:cxnSp>
        <p:nvCxnSpPr>
          <p:cNvPr id="26" name="Connector 25"/>
          <p:cNvCxnSpPr/>
          <p:nvPr/>
        </p:nvCxnSpPr>
        <p:spPr>
          <a:xfrm>
            <a:off x="841248" y="6437376"/>
            <a:ext cx="10509199" cy="0"/>
          </a:xfrm>
          <a:prstGeom prst="bentConnector3">
            <a:avLst/>
          </a:prstGeom>
          <a:ln w="12700">
            <a:solidFill>
              <a:srgbClr val="DDE1E6"/>
            </a:solidFill>
          </a:ln>
          <a:effectLst/>
        </p:spPr>
        <p:style>
          <a:lnRef idx="2">
            <a:schemeClr val="accent1"/>
          </a:lnRef>
          <a:fillRef idx="0">
            <a:schemeClr val="accent1"/>
          </a:fillRef>
          <a:effectRef idx="1">
            <a:schemeClr val="accent1"/>
          </a:effectRef>
          <a:fontRef idx="minor">
            <a:schemeClr val="tx1"/>
          </a:fontRef>
        </p:style>
      </p:cxnSp>
      <p:sp>
        <p:nvSpPr>
          <p:cNvPr id="27" name="TextBox 26"/>
          <p:cNvSpPr txBox="1"/>
          <p:nvPr/>
        </p:nvSpPr>
        <p:spPr>
          <a:xfrm>
            <a:off x="841248" y="6473952"/>
            <a:ext cx="7315200" cy="274320"/>
          </a:xfrm>
          <a:prstGeom prst="rect">
            <a:avLst/>
          </a:prstGeom>
          <a:noFill/>
        </p:spPr>
        <p:txBody>
          <a:bodyPr wrap="square" anchor="t" lIns="0" rIns="0" tIns="0" bIns="0">
            <a:spAutoFit/>
          </a:bodyPr>
          <a:lstStyle/>
          <a:p>
            <a:pPr algn="l">
              <a:lnSpc>
                <a:spcPct val="106000"/>
              </a:lnSpc>
              <a:spcBef>
                <a:spcPts val="0"/>
              </a:spcBef>
              <a:spcAft>
                <a:spcPts val="0"/>
              </a:spcAft>
            </a:pPr>
            <a:r>
              <a:rPr sz="950" b="0">
                <a:solidFill>
                  <a:srgbClr val="8A9099"/>
                </a:solidFill>
                <a:latin typeface="Red Hat Text"/>
              </a:rPr>
              <a:t>CONFIDENTIAL</a:t>
            </a:r>
          </a:p>
        </p:txBody>
      </p:sp>
      <p:sp>
        <p:nvSpPr>
          <p:cNvPr id="28" name="TextBox 27"/>
          <p:cNvSpPr txBox="1"/>
          <p:nvPr/>
        </p:nvSpPr>
        <p:spPr>
          <a:xfrm>
            <a:off x="10801807" y="6473952"/>
            <a:ext cx="548640" cy="274320"/>
          </a:xfrm>
          <a:prstGeom prst="rect">
            <a:avLst/>
          </a:prstGeom>
          <a:noFill/>
        </p:spPr>
        <p:txBody>
          <a:bodyPr wrap="square" anchor="t" lIns="0" rIns="0" tIns="0" bIns="0">
            <a:spAutoFit/>
          </a:bodyPr>
          <a:lstStyle/>
          <a:p>
            <a:pPr algn="r">
              <a:lnSpc>
                <a:spcPct val="106000"/>
              </a:lnSpc>
              <a:spcBef>
                <a:spcPts val="0"/>
              </a:spcBef>
              <a:spcAft>
                <a:spcPts val="0"/>
              </a:spcAft>
            </a:pPr>
            <a:r>
              <a:rPr sz="950" b="0">
                <a:solidFill>
                  <a:srgbClr val="8A9099"/>
                </a:solidFill>
                <a:latin typeface="Red Hat Text"/>
              </a:rPr>
              <a:t>113</a:t>
            </a:r>
          </a:p>
        </p:txBody>
      </p:sp>
    </p:spTree>
  </p:cSld>
  <p:clrMapOvr>
    <a:masterClrMapping/>
  </p:clrMapOvr>
</p:sld>
</file>

<file path=ppt/slides/slide1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redhat_logo.jpg"/>
          <p:cNvPicPr>
            <a:picLocks noChangeAspect="1"/>
          </p:cNvPicPr>
          <p:nvPr/>
        </p:nvPicPr>
        <p:blipFill>
          <a:blip r:embed="rId2"/>
          <a:stretch>
            <a:fillRect/>
          </a:stretch>
        </p:blipFill>
        <p:spPr>
          <a:xfrm>
            <a:off x="10326319" y="475488"/>
            <a:ext cx="1024128" cy="242248"/>
          </a:xfrm>
          <a:prstGeom prst="rect">
            <a:avLst/>
          </a:prstGeom>
        </p:spPr>
      </p:pic>
      <p:sp>
        <p:nvSpPr>
          <p:cNvPr id="3" name="TextBox 2"/>
          <p:cNvSpPr txBox="1"/>
          <p:nvPr/>
        </p:nvSpPr>
        <p:spPr>
          <a:xfrm>
            <a:off x="841248" y="548640"/>
            <a:ext cx="8595360" cy="274320"/>
          </a:xfrm>
          <a:prstGeom prst="rect">
            <a:avLst/>
          </a:prstGeom>
          <a:noFill/>
        </p:spPr>
        <p:txBody>
          <a:bodyPr wrap="square" anchor="t" lIns="0" rIns="0" tIns="0" bIns="0">
            <a:spAutoFit/>
          </a:bodyPr>
          <a:lstStyle/>
          <a:p>
            <a:pPr algn="l">
              <a:lnSpc>
                <a:spcPct val="106000"/>
              </a:lnSpc>
              <a:spcBef>
                <a:spcPts val="0"/>
              </a:spcBef>
              <a:spcAft>
                <a:spcPts val="0"/>
              </a:spcAft>
            </a:pPr>
            <a:r>
              <a:rPr sz="1250" b="1" spc="220">
                <a:solidFill>
                  <a:srgbClr val="EE0000"/>
                </a:solidFill>
                <a:latin typeface="Red Hat Display"/>
              </a:rPr>
              <a:t>M16 · NETWORKING FOR DEV &amp; DEVOPS</a:t>
            </a:r>
          </a:p>
        </p:txBody>
      </p:sp>
      <p:sp>
        <p:nvSpPr>
          <p:cNvPr id="4" name="TextBox 3"/>
          <p:cNvSpPr txBox="1"/>
          <p:nvPr/>
        </p:nvSpPr>
        <p:spPr>
          <a:xfrm>
            <a:off x="841248" y="877824"/>
            <a:ext cx="10515600" cy="548640"/>
          </a:xfrm>
          <a:prstGeom prst="rect">
            <a:avLst/>
          </a:prstGeom>
          <a:noFill/>
        </p:spPr>
        <p:txBody>
          <a:bodyPr wrap="none" anchor="t" lIns="0" rIns="0" tIns="0" bIns="0">
            <a:spAutoFit/>
          </a:bodyPr>
          <a:lstStyle/>
          <a:p>
            <a:pPr algn="l">
              <a:lnSpc>
                <a:spcPct val="100000"/>
              </a:lnSpc>
              <a:spcBef>
                <a:spcPts val="0"/>
              </a:spcBef>
              <a:spcAft>
                <a:spcPts val="0"/>
              </a:spcAft>
            </a:pPr>
            <a:r>
              <a:rPr sz="2500" b="1">
                <a:solidFill>
                  <a:srgbClr val="1A1A1A"/>
                </a:solidFill>
                <a:latin typeface="Red Hat Display"/>
              </a:rPr>
              <a:t>A mental model of the network</a:t>
            </a:r>
          </a:p>
        </p:txBody>
      </p:sp>
      <p:cxnSp>
        <p:nvCxnSpPr>
          <p:cNvPr id="5" name="Connector 4"/>
          <p:cNvCxnSpPr/>
          <p:nvPr/>
        </p:nvCxnSpPr>
        <p:spPr>
          <a:xfrm>
            <a:off x="841248" y="1554480"/>
            <a:ext cx="1371600" cy="0"/>
          </a:xfrm>
          <a:prstGeom prst="bentConnector3">
            <a:avLst/>
          </a:prstGeom>
          <a:ln w="31750">
            <a:solidFill>
              <a:srgbClr val="EE0000"/>
            </a:solidFill>
          </a:ln>
          <a:effectLst/>
        </p:spPr>
        <p:style>
          <a:lnRef idx="2">
            <a:schemeClr val="accent1"/>
          </a:lnRef>
          <a:fillRef idx="0">
            <a:schemeClr val="accent1"/>
          </a:fillRef>
          <a:effectRef idx="1">
            <a:schemeClr val="accent1"/>
          </a:effectRef>
          <a:fontRef idx="minor">
            <a:schemeClr val="tx1"/>
          </a:fontRef>
        </p:style>
      </p:cxnSp>
      <p:sp>
        <p:nvSpPr>
          <p:cNvPr id="6" name="Rounded Rectangle 5"/>
          <p:cNvSpPr/>
          <p:nvPr/>
        </p:nvSpPr>
        <p:spPr>
          <a:xfrm>
            <a:off x="841248" y="2395728"/>
            <a:ext cx="5715000" cy="530352"/>
          </a:xfrm>
          <a:prstGeom prst="roundRect">
            <a:avLst>
              <a:gd name="adj" fmla="val 6000"/>
            </a:avLst>
          </a:prstGeom>
          <a:solidFill>
            <a:srgbClr val="F5F6F8"/>
          </a:solidFill>
          <a:ln w="12700">
            <a:solidFill>
              <a:srgbClr val="DDE1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check_steel.png"/>
          <p:cNvPicPr>
            <a:picLocks noChangeAspect="1"/>
          </p:cNvPicPr>
          <p:nvPr/>
        </p:nvPicPr>
        <p:blipFill>
          <a:blip r:embed="rId3"/>
          <a:stretch>
            <a:fillRect/>
          </a:stretch>
        </p:blipFill>
        <p:spPr>
          <a:xfrm>
            <a:off x="987552" y="2542032"/>
            <a:ext cx="237744" cy="237744"/>
          </a:xfrm>
          <a:prstGeom prst="rect">
            <a:avLst/>
          </a:prstGeom>
        </p:spPr>
      </p:pic>
      <p:sp>
        <p:nvSpPr>
          <p:cNvPr id="8" name="TextBox 7"/>
          <p:cNvSpPr txBox="1"/>
          <p:nvPr/>
        </p:nvSpPr>
        <p:spPr>
          <a:xfrm>
            <a:off x="1353312" y="2395728"/>
            <a:ext cx="5029200" cy="530352"/>
          </a:xfrm>
          <a:prstGeom prst="rect">
            <a:avLst/>
          </a:prstGeom>
          <a:noFill/>
        </p:spPr>
        <p:txBody>
          <a:bodyPr wrap="square" anchor="ctr" lIns="0" rIns="0" tIns="0" bIns="0">
            <a:spAutoFit/>
          </a:bodyPr>
          <a:lstStyle/>
          <a:p>
            <a:pPr algn="l">
              <a:lnSpc>
                <a:spcPct val="106000"/>
              </a:lnSpc>
              <a:spcBef>
                <a:spcPts val="0"/>
              </a:spcBef>
              <a:spcAft>
                <a:spcPts val="0"/>
              </a:spcAft>
            </a:pPr>
            <a:r>
              <a:rPr sz="1200" b="0">
                <a:solidFill>
                  <a:srgbClr val="1A1A1A"/>
                </a:solidFill>
                <a:latin typeface="Red Hat Text"/>
              </a:rPr>
              <a:t>Service: stable name + virtual IP</a:t>
            </a:r>
          </a:p>
        </p:txBody>
      </p:sp>
      <p:sp>
        <p:nvSpPr>
          <p:cNvPr id="9" name="Rounded Rectangle 8"/>
          <p:cNvSpPr/>
          <p:nvPr/>
        </p:nvSpPr>
        <p:spPr>
          <a:xfrm>
            <a:off x="841248" y="2999232"/>
            <a:ext cx="5715000" cy="530352"/>
          </a:xfrm>
          <a:prstGeom prst="roundRect">
            <a:avLst>
              <a:gd name="adj" fmla="val 6000"/>
            </a:avLst>
          </a:prstGeom>
          <a:solidFill>
            <a:srgbClr val="F5F6F8"/>
          </a:solidFill>
          <a:ln w="12700">
            <a:solidFill>
              <a:srgbClr val="DDE1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0" name="Picture 9" descr="check_steel.png"/>
          <p:cNvPicPr>
            <a:picLocks noChangeAspect="1"/>
          </p:cNvPicPr>
          <p:nvPr/>
        </p:nvPicPr>
        <p:blipFill>
          <a:blip r:embed="rId3"/>
          <a:stretch>
            <a:fillRect/>
          </a:stretch>
        </p:blipFill>
        <p:spPr>
          <a:xfrm>
            <a:off x="987552" y="3145536"/>
            <a:ext cx="237744" cy="237744"/>
          </a:xfrm>
          <a:prstGeom prst="rect">
            <a:avLst/>
          </a:prstGeom>
        </p:spPr>
      </p:pic>
      <p:sp>
        <p:nvSpPr>
          <p:cNvPr id="11" name="TextBox 10"/>
          <p:cNvSpPr txBox="1"/>
          <p:nvPr/>
        </p:nvSpPr>
        <p:spPr>
          <a:xfrm>
            <a:off x="1353312" y="2999232"/>
            <a:ext cx="5029200" cy="530352"/>
          </a:xfrm>
          <a:prstGeom prst="rect">
            <a:avLst/>
          </a:prstGeom>
          <a:noFill/>
        </p:spPr>
        <p:txBody>
          <a:bodyPr wrap="square" anchor="ctr" lIns="0" rIns="0" tIns="0" bIns="0">
            <a:spAutoFit/>
          </a:bodyPr>
          <a:lstStyle/>
          <a:p>
            <a:pPr algn="l">
              <a:lnSpc>
                <a:spcPct val="106000"/>
              </a:lnSpc>
              <a:spcBef>
                <a:spcPts val="0"/>
              </a:spcBef>
              <a:spcAft>
                <a:spcPts val="0"/>
              </a:spcAft>
            </a:pPr>
            <a:r>
              <a:rPr sz="1200" b="0">
                <a:solidFill>
                  <a:srgbClr val="1A1A1A"/>
                </a:solidFill>
                <a:latin typeface="Red Hat Text"/>
              </a:rPr>
              <a:t>Endpoints: the actual pod IPs (via label selector)</a:t>
            </a:r>
          </a:p>
        </p:txBody>
      </p:sp>
      <p:sp>
        <p:nvSpPr>
          <p:cNvPr id="12" name="Rounded Rectangle 11"/>
          <p:cNvSpPr/>
          <p:nvPr/>
        </p:nvSpPr>
        <p:spPr>
          <a:xfrm>
            <a:off x="841248" y="3602736"/>
            <a:ext cx="5715000" cy="530352"/>
          </a:xfrm>
          <a:prstGeom prst="roundRect">
            <a:avLst>
              <a:gd name="adj" fmla="val 6000"/>
            </a:avLst>
          </a:prstGeom>
          <a:solidFill>
            <a:srgbClr val="F5F6F8"/>
          </a:solidFill>
          <a:ln w="12700">
            <a:solidFill>
              <a:srgbClr val="DDE1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3" name="Picture 12" descr="check_steel.png"/>
          <p:cNvPicPr>
            <a:picLocks noChangeAspect="1"/>
          </p:cNvPicPr>
          <p:nvPr/>
        </p:nvPicPr>
        <p:blipFill>
          <a:blip r:embed="rId3"/>
          <a:stretch>
            <a:fillRect/>
          </a:stretch>
        </p:blipFill>
        <p:spPr>
          <a:xfrm>
            <a:off x="987552" y="3749040"/>
            <a:ext cx="237744" cy="237744"/>
          </a:xfrm>
          <a:prstGeom prst="rect">
            <a:avLst/>
          </a:prstGeom>
        </p:spPr>
      </p:pic>
      <p:sp>
        <p:nvSpPr>
          <p:cNvPr id="14" name="TextBox 13"/>
          <p:cNvSpPr txBox="1"/>
          <p:nvPr/>
        </p:nvSpPr>
        <p:spPr>
          <a:xfrm>
            <a:off x="1353312" y="3602736"/>
            <a:ext cx="5029200" cy="530352"/>
          </a:xfrm>
          <a:prstGeom prst="rect">
            <a:avLst/>
          </a:prstGeom>
          <a:noFill/>
        </p:spPr>
        <p:txBody>
          <a:bodyPr wrap="square" anchor="ctr" lIns="0" rIns="0" tIns="0" bIns="0">
            <a:spAutoFit/>
          </a:bodyPr>
          <a:lstStyle/>
          <a:p>
            <a:pPr algn="l">
              <a:lnSpc>
                <a:spcPct val="106000"/>
              </a:lnSpc>
              <a:spcBef>
                <a:spcPts val="0"/>
              </a:spcBef>
              <a:spcAft>
                <a:spcPts val="0"/>
              </a:spcAft>
            </a:pPr>
            <a:r>
              <a:rPr sz="1200" b="0">
                <a:solidFill>
                  <a:srgbClr val="1A1A1A"/>
                </a:solidFill>
                <a:latin typeface="Red Hat Text"/>
              </a:rPr>
              <a:t>Data plane (OVN-K): programs every node, enforces policy</a:t>
            </a:r>
          </a:p>
        </p:txBody>
      </p:sp>
      <p:sp>
        <p:nvSpPr>
          <p:cNvPr id="15" name="Rounded Rectangle 14"/>
          <p:cNvSpPr/>
          <p:nvPr/>
        </p:nvSpPr>
        <p:spPr>
          <a:xfrm>
            <a:off x="841248" y="4206240"/>
            <a:ext cx="5715000" cy="530352"/>
          </a:xfrm>
          <a:prstGeom prst="roundRect">
            <a:avLst>
              <a:gd name="adj" fmla="val 6000"/>
            </a:avLst>
          </a:prstGeom>
          <a:solidFill>
            <a:srgbClr val="F5F6F8"/>
          </a:solidFill>
          <a:ln w="12700">
            <a:solidFill>
              <a:srgbClr val="DDE1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6" name="Picture 15" descr="check_steel.png"/>
          <p:cNvPicPr>
            <a:picLocks noChangeAspect="1"/>
          </p:cNvPicPr>
          <p:nvPr/>
        </p:nvPicPr>
        <p:blipFill>
          <a:blip r:embed="rId3"/>
          <a:stretch>
            <a:fillRect/>
          </a:stretch>
        </p:blipFill>
        <p:spPr>
          <a:xfrm>
            <a:off x="987552" y="4352544"/>
            <a:ext cx="237744" cy="237744"/>
          </a:xfrm>
          <a:prstGeom prst="rect">
            <a:avLst/>
          </a:prstGeom>
        </p:spPr>
      </p:pic>
      <p:sp>
        <p:nvSpPr>
          <p:cNvPr id="17" name="TextBox 16"/>
          <p:cNvSpPr txBox="1"/>
          <p:nvPr/>
        </p:nvSpPr>
        <p:spPr>
          <a:xfrm>
            <a:off x="1353312" y="4206240"/>
            <a:ext cx="5029200" cy="530352"/>
          </a:xfrm>
          <a:prstGeom prst="rect">
            <a:avLst/>
          </a:prstGeom>
          <a:noFill/>
        </p:spPr>
        <p:txBody>
          <a:bodyPr wrap="square" anchor="ctr" lIns="0" rIns="0" tIns="0" bIns="0">
            <a:spAutoFit/>
          </a:bodyPr>
          <a:lstStyle/>
          <a:p>
            <a:pPr algn="l">
              <a:lnSpc>
                <a:spcPct val="106000"/>
              </a:lnSpc>
              <a:spcBef>
                <a:spcPts val="0"/>
              </a:spcBef>
              <a:spcAft>
                <a:spcPts val="0"/>
              </a:spcAft>
            </a:pPr>
            <a:r>
              <a:rPr sz="1200" b="0">
                <a:solidFill>
                  <a:srgbClr val="1A1A1A"/>
                </a:solidFill>
                <a:latin typeface="Red Hat Text"/>
              </a:rPr>
              <a:t>Route: tells the router to accept outside traffic</a:t>
            </a:r>
          </a:p>
        </p:txBody>
      </p:sp>
      <p:sp>
        <p:nvSpPr>
          <p:cNvPr id="18" name="Rounded Rectangle 17"/>
          <p:cNvSpPr/>
          <p:nvPr/>
        </p:nvSpPr>
        <p:spPr>
          <a:xfrm>
            <a:off x="841248" y="4809744"/>
            <a:ext cx="5715000" cy="530352"/>
          </a:xfrm>
          <a:prstGeom prst="roundRect">
            <a:avLst>
              <a:gd name="adj" fmla="val 6000"/>
            </a:avLst>
          </a:prstGeom>
          <a:solidFill>
            <a:srgbClr val="F5F6F8"/>
          </a:solidFill>
          <a:ln w="12700">
            <a:solidFill>
              <a:srgbClr val="DDE1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9" name="Picture 18" descr="check_steel.png"/>
          <p:cNvPicPr>
            <a:picLocks noChangeAspect="1"/>
          </p:cNvPicPr>
          <p:nvPr/>
        </p:nvPicPr>
        <p:blipFill>
          <a:blip r:embed="rId3"/>
          <a:stretch>
            <a:fillRect/>
          </a:stretch>
        </p:blipFill>
        <p:spPr>
          <a:xfrm>
            <a:off x="987552" y="4956048"/>
            <a:ext cx="237744" cy="237744"/>
          </a:xfrm>
          <a:prstGeom prst="rect">
            <a:avLst/>
          </a:prstGeom>
        </p:spPr>
      </p:pic>
      <p:sp>
        <p:nvSpPr>
          <p:cNvPr id="20" name="TextBox 19"/>
          <p:cNvSpPr txBox="1"/>
          <p:nvPr/>
        </p:nvSpPr>
        <p:spPr>
          <a:xfrm>
            <a:off x="1353312" y="4809744"/>
            <a:ext cx="5029200" cy="530352"/>
          </a:xfrm>
          <a:prstGeom prst="rect">
            <a:avLst/>
          </a:prstGeom>
          <a:noFill/>
        </p:spPr>
        <p:txBody>
          <a:bodyPr wrap="square" anchor="ctr" lIns="0" rIns="0" tIns="0" bIns="0">
            <a:spAutoFit/>
          </a:bodyPr>
          <a:lstStyle/>
          <a:p>
            <a:pPr algn="l">
              <a:lnSpc>
                <a:spcPct val="106000"/>
              </a:lnSpc>
              <a:spcBef>
                <a:spcPts val="0"/>
              </a:spcBef>
              <a:spcAft>
                <a:spcPts val="0"/>
              </a:spcAft>
            </a:pPr>
            <a:r>
              <a:rPr sz="1200" b="0">
                <a:solidFill>
                  <a:srgbClr val="1A1A1A"/>
                </a:solidFill>
                <a:latin typeface="Red Hat Text"/>
              </a:rPr>
              <a:t>The #1 bug: a selector that matches no pods</a:t>
            </a:r>
          </a:p>
        </p:txBody>
      </p:sp>
      <p:sp>
        <p:nvSpPr>
          <p:cNvPr id="21" name="Rounded Rectangle 20"/>
          <p:cNvSpPr/>
          <p:nvPr/>
        </p:nvSpPr>
        <p:spPr>
          <a:xfrm>
            <a:off x="6812280" y="2395728"/>
            <a:ext cx="4538167" cy="2944368"/>
          </a:xfrm>
          <a:prstGeom prst="roundRect">
            <a:avLst>
              <a:gd name="adj" fmla="val 4000"/>
            </a:avLst>
          </a:prstGeom>
          <a:solidFill>
            <a:srgbClr val="FFFFFF"/>
          </a:solidFill>
          <a:ln w="15240">
            <a:solidFill>
              <a:srgbClr val="DDE1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ounded Rectangle 21"/>
          <p:cNvSpPr/>
          <p:nvPr/>
        </p:nvSpPr>
        <p:spPr>
          <a:xfrm>
            <a:off x="7013448" y="2596896"/>
            <a:ext cx="1298448" cy="310896"/>
          </a:xfrm>
          <a:prstGeom prst="roundRect">
            <a:avLst>
              <a:gd name="adj" fmla="val 50000"/>
            </a:avLst>
          </a:prstGeom>
          <a:solidFill>
            <a:srgbClr val="FCEC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7013448" y="2596896"/>
            <a:ext cx="1298448" cy="310896"/>
          </a:xfrm>
          <a:prstGeom prst="rect">
            <a:avLst/>
          </a:prstGeom>
          <a:noFill/>
        </p:spPr>
        <p:txBody>
          <a:bodyPr wrap="none" anchor="ctr" lIns="0" rIns="0" tIns="0" bIns="0">
            <a:spAutoFit/>
          </a:bodyPr>
          <a:lstStyle/>
          <a:p>
            <a:pPr algn="ctr">
              <a:lnSpc>
                <a:spcPct val="106000"/>
              </a:lnSpc>
              <a:spcBef>
                <a:spcPts val="0"/>
              </a:spcBef>
              <a:spcAft>
                <a:spcPts val="0"/>
              </a:spcAft>
            </a:pPr>
            <a:r>
              <a:rPr sz="850" b="1">
                <a:solidFill>
                  <a:srgbClr val="B80000"/>
                </a:solidFill>
                <a:latin typeface="Red Hat Display"/>
              </a:rPr>
              <a:t>MEDIA PASS</a:t>
            </a:r>
          </a:p>
        </p:txBody>
      </p:sp>
      <p:pic>
        <p:nvPicPr>
          <p:cNvPr id="24" name="Picture 23" descr="eye_slate.png"/>
          <p:cNvPicPr>
            <a:picLocks noChangeAspect="1"/>
          </p:cNvPicPr>
          <p:nvPr/>
        </p:nvPicPr>
        <p:blipFill>
          <a:blip r:embed="rId4"/>
          <a:stretch>
            <a:fillRect/>
          </a:stretch>
        </p:blipFill>
        <p:spPr>
          <a:xfrm>
            <a:off x="8843619" y="3108960"/>
            <a:ext cx="475488" cy="475488"/>
          </a:xfrm>
          <a:prstGeom prst="rect">
            <a:avLst/>
          </a:prstGeom>
        </p:spPr>
      </p:pic>
      <p:sp>
        <p:nvSpPr>
          <p:cNvPr id="25" name="TextBox 24"/>
          <p:cNvSpPr txBox="1"/>
          <p:nvPr/>
        </p:nvSpPr>
        <p:spPr>
          <a:xfrm>
            <a:off x="7050024" y="3721608"/>
            <a:ext cx="4062679" cy="1481328"/>
          </a:xfrm>
          <a:prstGeom prst="rect">
            <a:avLst/>
          </a:prstGeom>
          <a:noFill/>
        </p:spPr>
        <p:txBody>
          <a:bodyPr wrap="square" anchor="t" lIns="0" rIns="0" tIns="0" bIns="0">
            <a:spAutoFit/>
          </a:bodyPr>
          <a:lstStyle/>
          <a:p>
            <a:pPr algn="l">
              <a:lnSpc>
                <a:spcPct val="120000"/>
              </a:lnSpc>
              <a:spcBef>
                <a:spcPts val="0"/>
              </a:spcBef>
              <a:spcAft>
                <a:spcPts val="0"/>
              </a:spcAft>
            </a:pPr>
            <a:r>
              <a:rPr sz="950" b="0">
                <a:solidFill>
                  <a:srgbClr val="8A9099"/>
                </a:solidFill>
                <a:latin typeface="Red Hat Text"/>
              </a:rPr>
              <a:t>A left-to-right chain: Service (name/VIP) → Endpoints (pod IPs, selector) → data plane (node flow rules) → Route (router), with a red callout "selector typo → endpoints &lt;none&gt; → all connections fail."</a:t>
            </a:r>
          </a:p>
        </p:txBody>
      </p:sp>
      <p:cxnSp>
        <p:nvCxnSpPr>
          <p:cNvPr id="26" name="Connector 25"/>
          <p:cNvCxnSpPr/>
          <p:nvPr/>
        </p:nvCxnSpPr>
        <p:spPr>
          <a:xfrm>
            <a:off x="841248" y="6437376"/>
            <a:ext cx="10509199" cy="0"/>
          </a:xfrm>
          <a:prstGeom prst="bentConnector3">
            <a:avLst/>
          </a:prstGeom>
          <a:ln w="12700">
            <a:solidFill>
              <a:srgbClr val="DDE1E6"/>
            </a:solidFill>
          </a:ln>
          <a:effectLst/>
        </p:spPr>
        <p:style>
          <a:lnRef idx="2">
            <a:schemeClr val="accent1"/>
          </a:lnRef>
          <a:fillRef idx="0">
            <a:schemeClr val="accent1"/>
          </a:fillRef>
          <a:effectRef idx="1">
            <a:schemeClr val="accent1"/>
          </a:effectRef>
          <a:fontRef idx="minor">
            <a:schemeClr val="tx1"/>
          </a:fontRef>
        </p:style>
      </p:cxnSp>
      <p:sp>
        <p:nvSpPr>
          <p:cNvPr id="27" name="TextBox 26"/>
          <p:cNvSpPr txBox="1"/>
          <p:nvPr/>
        </p:nvSpPr>
        <p:spPr>
          <a:xfrm>
            <a:off x="841248" y="6473952"/>
            <a:ext cx="7315200" cy="274320"/>
          </a:xfrm>
          <a:prstGeom prst="rect">
            <a:avLst/>
          </a:prstGeom>
          <a:noFill/>
        </p:spPr>
        <p:txBody>
          <a:bodyPr wrap="square" anchor="t" lIns="0" rIns="0" tIns="0" bIns="0">
            <a:spAutoFit/>
          </a:bodyPr>
          <a:lstStyle/>
          <a:p>
            <a:pPr algn="l">
              <a:lnSpc>
                <a:spcPct val="106000"/>
              </a:lnSpc>
              <a:spcBef>
                <a:spcPts val="0"/>
              </a:spcBef>
              <a:spcAft>
                <a:spcPts val="0"/>
              </a:spcAft>
            </a:pPr>
            <a:r>
              <a:rPr sz="950" b="0">
                <a:solidFill>
                  <a:srgbClr val="8A9099"/>
                </a:solidFill>
                <a:latin typeface="Red Hat Text"/>
              </a:rPr>
              <a:t>CONFIDENTIAL</a:t>
            </a:r>
          </a:p>
        </p:txBody>
      </p:sp>
      <p:sp>
        <p:nvSpPr>
          <p:cNvPr id="28" name="TextBox 27"/>
          <p:cNvSpPr txBox="1"/>
          <p:nvPr/>
        </p:nvSpPr>
        <p:spPr>
          <a:xfrm>
            <a:off x="10801807" y="6473952"/>
            <a:ext cx="548640" cy="274320"/>
          </a:xfrm>
          <a:prstGeom prst="rect">
            <a:avLst/>
          </a:prstGeom>
          <a:noFill/>
        </p:spPr>
        <p:txBody>
          <a:bodyPr wrap="square" anchor="t" lIns="0" rIns="0" tIns="0" bIns="0">
            <a:spAutoFit/>
          </a:bodyPr>
          <a:lstStyle/>
          <a:p>
            <a:pPr algn="r">
              <a:lnSpc>
                <a:spcPct val="106000"/>
              </a:lnSpc>
              <a:spcBef>
                <a:spcPts val="0"/>
              </a:spcBef>
              <a:spcAft>
                <a:spcPts val="0"/>
              </a:spcAft>
            </a:pPr>
            <a:r>
              <a:rPr sz="950" b="0">
                <a:solidFill>
                  <a:srgbClr val="8A9099"/>
                </a:solidFill>
                <a:latin typeface="Red Hat Text"/>
              </a:rPr>
              <a:t>114</a:t>
            </a:r>
          </a:p>
        </p:txBody>
      </p:sp>
    </p:spTree>
  </p:cSld>
  <p:clrMapOvr>
    <a:masterClrMapping/>
  </p:clrMapOvr>
</p:sld>
</file>

<file path=ppt/slides/slide1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redhat_logo.jpg"/>
          <p:cNvPicPr>
            <a:picLocks noChangeAspect="1"/>
          </p:cNvPicPr>
          <p:nvPr/>
        </p:nvPicPr>
        <p:blipFill>
          <a:blip r:embed="rId2"/>
          <a:stretch>
            <a:fillRect/>
          </a:stretch>
        </p:blipFill>
        <p:spPr>
          <a:xfrm>
            <a:off x="10326319" y="475488"/>
            <a:ext cx="1024128" cy="242248"/>
          </a:xfrm>
          <a:prstGeom prst="rect">
            <a:avLst/>
          </a:prstGeom>
        </p:spPr>
      </p:pic>
      <p:sp>
        <p:nvSpPr>
          <p:cNvPr id="3" name="TextBox 2"/>
          <p:cNvSpPr txBox="1"/>
          <p:nvPr/>
        </p:nvSpPr>
        <p:spPr>
          <a:xfrm>
            <a:off x="841248" y="548640"/>
            <a:ext cx="8595360" cy="274320"/>
          </a:xfrm>
          <a:prstGeom prst="rect">
            <a:avLst/>
          </a:prstGeom>
          <a:noFill/>
        </p:spPr>
        <p:txBody>
          <a:bodyPr wrap="square" anchor="t" lIns="0" rIns="0" tIns="0" bIns="0">
            <a:spAutoFit/>
          </a:bodyPr>
          <a:lstStyle/>
          <a:p>
            <a:pPr algn="l">
              <a:lnSpc>
                <a:spcPct val="106000"/>
              </a:lnSpc>
              <a:spcBef>
                <a:spcPts val="0"/>
              </a:spcBef>
              <a:spcAft>
                <a:spcPts val="0"/>
              </a:spcAft>
            </a:pPr>
            <a:r>
              <a:rPr sz="1250" b="1" spc="220">
                <a:solidFill>
                  <a:srgbClr val="EE0000"/>
                </a:solidFill>
                <a:latin typeface="Red Hat Display"/>
              </a:rPr>
              <a:t>M16 · NETWORKING FOR DEV &amp; DEVOPS</a:t>
            </a:r>
          </a:p>
        </p:txBody>
      </p:sp>
      <p:sp>
        <p:nvSpPr>
          <p:cNvPr id="4" name="TextBox 3"/>
          <p:cNvSpPr txBox="1"/>
          <p:nvPr/>
        </p:nvSpPr>
        <p:spPr>
          <a:xfrm>
            <a:off x="841248" y="877824"/>
            <a:ext cx="10515600" cy="548640"/>
          </a:xfrm>
          <a:prstGeom prst="rect">
            <a:avLst/>
          </a:prstGeom>
          <a:noFill/>
        </p:spPr>
        <p:txBody>
          <a:bodyPr wrap="none" anchor="t" lIns="0" rIns="0" tIns="0" bIns="0">
            <a:spAutoFit/>
          </a:bodyPr>
          <a:lstStyle/>
          <a:p>
            <a:pPr algn="l">
              <a:lnSpc>
                <a:spcPct val="100000"/>
              </a:lnSpc>
              <a:spcBef>
                <a:spcPts val="0"/>
              </a:spcBef>
              <a:spcAft>
                <a:spcPts val="0"/>
              </a:spcAft>
            </a:pPr>
            <a:r>
              <a:rPr sz="2500" b="1">
                <a:solidFill>
                  <a:srgbClr val="1A1A1A"/>
                </a:solidFill>
                <a:latin typeface="Red Hat Display"/>
              </a:rPr>
              <a:t>North-south — the exposure decision tree</a:t>
            </a:r>
          </a:p>
        </p:txBody>
      </p:sp>
      <p:cxnSp>
        <p:nvCxnSpPr>
          <p:cNvPr id="5" name="Connector 4"/>
          <p:cNvCxnSpPr/>
          <p:nvPr/>
        </p:nvCxnSpPr>
        <p:spPr>
          <a:xfrm>
            <a:off x="841248" y="1554480"/>
            <a:ext cx="1371600" cy="0"/>
          </a:xfrm>
          <a:prstGeom prst="bentConnector3">
            <a:avLst/>
          </a:prstGeom>
          <a:ln w="31750">
            <a:solidFill>
              <a:srgbClr val="EE0000"/>
            </a:solidFill>
          </a:ln>
          <a:effectLst/>
        </p:spPr>
        <p:style>
          <a:lnRef idx="2">
            <a:schemeClr val="accent1"/>
          </a:lnRef>
          <a:fillRef idx="0">
            <a:schemeClr val="accent1"/>
          </a:fillRef>
          <a:effectRef idx="1">
            <a:schemeClr val="accent1"/>
          </a:effectRef>
          <a:fontRef idx="minor">
            <a:schemeClr val="tx1"/>
          </a:fontRef>
        </p:style>
      </p:cxnSp>
      <p:sp>
        <p:nvSpPr>
          <p:cNvPr id="6" name="Rounded Rectangle 5"/>
          <p:cNvSpPr/>
          <p:nvPr/>
        </p:nvSpPr>
        <p:spPr>
          <a:xfrm>
            <a:off x="841248" y="2395728"/>
            <a:ext cx="5715000" cy="530352"/>
          </a:xfrm>
          <a:prstGeom prst="roundRect">
            <a:avLst>
              <a:gd name="adj" fmla="val 6000"/>
            </a:avLst>
          </a:prstGeom>
          <a:solidFill>
            <a:srgbClr val="F5F6F8"/>
          </a:solidFill>
          <a:ln w="12700">
            <a:solidFill>
              <a:srgbClr val="DDE1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check_steel.png"/>
          <p:cNvPicPr>
            <a:picLocks noChangeAspect="1"/>
          </p:cNvPicPr>
          <p:nvPr/>
        </p:nvPicPr>
        <p:blipFill>
          <a:blip r:embed="rId3"/>
          <a:stretch>
            <a:fillRect/>
          </a:stretch>
        </p:blipFill>
        <p:spPr>
          <a:xfrm>
            <a:off x="987552" y="2542032"/>
            <a:ext cx="237744" cy="237744"/>
          </a:xfrm>
          <a:prstGeom prst="rect">
            <a:avLst/>
          </a:prstGeom>
        </p:spPr>
      </p:pic>
      <p:sp>
        <p:nvSpPr>
          <p:cNvPr id="8" name="TextBox 7"/>
          <p:cNvSpPr txBox="1"/>
          <p:nvPr/>
        </p:nvSpPr>
        <p:spPr>
          <a:xfrm>
            <a:off x="1353312" y="2395728"/>
            <a:ext cx="5029200" cy="530352"/>
          </a:xfrm>
          <a:prstGeom prst="rect">
            <a:avLst/>
          </a:prstGeom>
          <a:noFill/>
        </p:spPr>
        <p:txBody>
          <a:bodyPr wrap="square" anchor="ctr" lIns="0" rIns="0" tIns="0" bIns="0">
            <a:spAutoFit/>
          </a:bodyPr>
          <a:lstStyle/>
          <a:p>
            <a:pPr algn="l">
              <a:lnSpc>
                <a:spcPct val="106000"/>
              </a:lnSpc>
              <a:spcBef>
                <a:spcPts val="0"/>
              </a:spcBef>
              <a:spcAft>
                <a:spcPts val="0"/>
              </a:spcAft>
            </a:pPr>
            <a:r>
              <a:rPr sz="1200" b="0">
                <a:solidFill>
                  <a:srgbClr val="1A1A1A"/>
                </a:solidFill>
                <a:latin typeface="Red Hat Text"/>
              </a:rPr>
              <a:t>ClusterIP (default) — in-cluster only, most workloads</a:t>
            </a:r>
          </a:p>
        </p:txBody>
      </p:sp>
      <p:sp>
        <p:nvSpPr>
          <p:cNvPr id="9" name="Rounded Rectangle 8"/>
          <p:cNvSpPr/>
          <p:nvPr/>
        </p:nvSpPr>
        <p:spPr>
          <a:xfrm>
            <a:off x="841248" y="2999232"/>
            <a:ext cx="5715000" cy="530352"/>
          </a:xfrm>
          <a:prstGeom prst="roundRect">
            <a:avLst>
              <a:gd name="adj" fmla="val 6000"/>
            </a:avLst>
          </a:prstGeom>
          <a:solidFill>
            <a:srgbClr val="F5F6F8"/>
          </a:solidFill>
          <a:ln w="12700">
            <a:solidFill>
              <a:srgbClr val="DDE1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0" name="Picture 9" descr="check_steel.png"/>
          <p:cNvPicPr>
            <a:picLocks noChangeAspect="1"/>
          </p:cNvPicPr>
          <p:nvPr/>
        </p:nvPicPr>
        <p:blipFill>
          <a:blip r:embed="rId3"/>
          <a:stretch>
            <a:fillRect/>
          </a:stretch>
        </p:blipFill>
        <p:spPr>
          <a:xfrm>
            <a:off x="987552" y="3145536"/>
            <a:ext cx="237744" cy="237744"/>
          </a:xfrm>
          <a:prstGeom prst="rect">
            <a:avLst/>
          </a:prstGeom>
        </p:spPr>
      </p:pic>
      <p:sp>
        <p:nvSpPr>
          <p:cNvPr id="11" name="TextBox 10"/>
          <p:cNvSpPr txBox="1"/>
          <p:nvPr/>
        </p:nvSpPr>
        <p:spPr>
          <a:xfrm>
            <a:off x="1353312" y="2999232"/>
            <a:ext cx="5029200" cy="530352"/>
          </a:xfrm>
          <a:prstGeom prst="rect">
            <a:avLst/>
          </a:prstGeom>
          <a:noFill/>
        </p:spPr>
        <p:txBody>
          <a:bodyPr wrap="square" anchor="ctr" lIns="0" rIns="0" tIns="0" bIns="0">
            <a:spAutoFit/>
          </a:bodyPr>
          <a:lstStyle/>
          <a:p>
            <a:pPr algn="l">
              <a:lnSpc>
                <a:spcPct val="106000"/>
              </a:lnSpc>
              <a:spcBef>
                <a:spcPts val="0"/>
              </a:spcBef>
              <a:spcAft>
                <a:spcPts val="0"/>
              </a:spcAft>
            </a:pPr>
            <a:r>
              <a:rPr sz="1200" b="0">
                <a:solidFill>
                  <a:srgbClr val="1A1A1A"/>
                </a:solidFill>
                <a:latin typeface="Red Hat Text"/>
              </a:rPr>
              <a:t>NodePort — a port on every node, learn once</a:t>
            </a:r>
          </a:p>
        </p:txBody>
      </p:sp>
      <p:sp>
        <p:nvSpPr>
          <p:cNvPr id="12" name="Rounded Rectangle 11"/>
          <p:cNvSpPr/>
          <p:nvPr/>
        </p:nvSpPr>
        <p:spPr>
          <a:xfrm>
            <a:off x="841248" y="3602736"/>
            <a:ext cx="5715000" cy="530352"/>
          </a:xfrm>
          <a:prstGeom prst="roundRect">
            <a:avLst>
              <a:gd name="adj" fmla="val 6000"/>
            </a:avLst>
          </a:prstGeom>
          <a:solidFill>
            <a:srgbClr val="F5F6F8"/>
          </a:solidFill>
          <a:ln w="12700">
            <a:solidFill>
              <a:srgbClr val="DDE1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3" name="Picture 12" descr="check_steel.png"/>
          <p:cNvPicPr>
            <a:picLocks noChangeAspect="1"/>
          </p:cNvPicPr>
          <p:nvPr/>
        </p:nvPicPr>
        <p:blipFill>
          <a:blip r:embed="rId3"/>
          <a:stretch>
            <a:fillRect/>
          </a:stretch>
        </p:blipFill>
        <p:spPr>
          <a:xfrm>
            <a:off x="987552" y="3749040"/>
            <a:ext cx="237744" cy="237744"/>
          </a:xfrm>
          <a:prstGeom prst="rect">
            <a:avLst/>
          </a:prstGeom>
        </p:spPr>
      </p:pic>
      <p:sp>
        <p:nvSpPr>
          <p:cNvPr id="14" name="TextBox 13"/>
          <p:cNvSpPr txBox="1"/>
          <p:nvPr/>
        </p:nvSpPr>
        <p:spPr>
          <a:xfrm>
            <a:off x="1353312" y="3602736"/>
            <a:ext cx="5029200" cy="530352"/>
          </a:xfrm>
          <a:prstGeom prst="rect">
            <a:avLst/>
          </a:prstGeom>
          <a:noFill/>
        </p:spPr>
        <p:txBody>
          <a:bodyPr wrap="square" anchor="ctr" lIns="0" rIns="0" tIns="0" bIns="0">
            <a:spAutoFit/>
          </a:bodyPr>
          <a:lstStyle/>
          <a:p>
            <a:pPr algn="l">
              <a:lnSpc>
                <a:spcPct val="106000"/>
              </a:lnSpc>
              <a:spcBef>
                <a:spcPts val="0"/>
              </a:spcBef>
              <a:spcAft>
                <a:spcPts val="0"/>
              </a:spcAft>
            </a:pPr>
            <a:r>
              <a:rPr sz="1200" b="0">
                <a:solidFill>
                  <a:srgbClr val="1A1A1A"/>
                </a:solidFill>
                <a:latin typeface="Red Hat Text"/>
              </a:rPr>
              <a:t>LoadBalancer — needs a provider, else &lt;pending&gt;</a:t>
            </a:r>
          </a:p>
        </p:txBody>
      </p:sp>
      <p:sp>
        <p:nvSpPr>
          <p:cNvPr id="15" name="Rounded Rectangle 14"/>
          <p:cNvSpPr/>
          <p:nvPr/>
        </p:nvSpPr>
        <p:spPr>
          <a:xfrm>
            <a:off x="841248" y="4206240"/>
            <a:ext cx="5715000" cy="530352"/>
          </a:xfrm>
          <a:prstGeom prst="roundRect">
            <a:avLst>
              <a:gd name="adj" fmla="val 6000"/>
            </a:avLst>
          </a:prstGeom>
          <a:solidFill>
            <a:srgbClr val="F5F6F8"/>
          </a:solidFill>
          <a:ln w="12700">
            <a:solidFill>
              <a:srgbClr val="DDE1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6" name="Picture 15" descr="check_steel.png"/>
          <p:cNvPicPr>
            <a:picLocks noChangeAspect="1"/>
          </p:cNvPicPr>
          <p:nvPr/>
        </p:nvPicPr>
        <p:blipFill>
          <a:blip r:embed="rId3"/>
          <a:stretch>
            <a:fillRect/>
          </a:stretch>
        </p:blipFill>
        <p:spPr>
          <a:xfrm>
            <a:off x="987552" y="4352544"/>
            <a:ext cx="237744" cy="237744"/>
          </a:xfrm>
          <a:prstGeom prst="rect">
            <a:avLst/>
          </a:prstGeom>
        </p:spPr>
      </p:pic>
      <p:sp>
        <p:nvSpPr>
          <p:cNvPr id="17" name="TextBox 16"/>
          <p:cNvSpPr txBox="1"/>
          <p:nvPr/>
        </p:nvSpPr>
        <p:spPr>
          <a:xfrm>
            <a:off x="1353312" y="4206240"/>
            <a:ext cx="5029200" cy="530352"/>
          </a:xfrm>
          <a:prstGeom prst="rect">
            <a:avLst/>
          </a:prstGeom>
          <a:noFill/>
        </p:spPr>
        <p:txBody>
          <a:bodyPr wrap="square" anchor="ctr" lIns="0" rIns="0" tIns="0" bIns="0">
            <a:spAutoFit/>
          </a:bodyPr>
          <a:lstStyle/>
          <a:p>
            <a:pPr algn="l">
              <a:lnSpc>
                <a:spcPct val="106000"/>
              </a:lnSpc>
              <a:spcBef>
                <a:spcPts val="0"/>
              </a:spcBef>
              <a:spcAft>
                <a:spcPts val="0"/>
              </a:spcAft>
            </a:pPr>
            <a:r>
              <a:rPr sz="1200" b="0">
                <a:solidFill>
                  <a:srgbClr val="1A1A1A"/>
                </a:solidFill>
                <a:latin typeface="Red Hat Text"/>
              </a:rPr>
              <a:t>Route — the workhorse: external, wildcard DNS, edge TLS</a:t>
            </a:r>
          </a:p>
        </p:txBody>
      </p:sp>
      <p:sp>
        <p:nvSpPr>
          <p:cNvPr id="18" name="Rounded Rectangle 17"/>
          <p:cNvSpPr/>
          <p:nvPr/>
        </p:nvSpPr>
        <p:spPr>
          <a:xfrm>
            <a:off x="841248" y="4809744"/>
            <a:ext cx="5715000" cy="530352"/>
          </a:xfrm>
          <a:prstGeom prst="roundRect">
            <a:avLst>
              <a:gd name="adj" fmla="val 6000"/>
            </a:avLst>
          </a:prstGeom>
          <a:solidFill>
            <a:srgbClr val="F5F6F8"/>
          </a:solidFill>
          <a:ln w="12700">
            <a:solidFill>
              <a:srgbClr val="DDE1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9" name="Picture 18" descr="check_steel.png"/>
          <p:cNvPicPr>
            <a:picLocks noChangeAspect="1"/>
          </p:cNvPicPr>
          <p:nvPr/>
        </p:nvPicPr>
        <p:blipFill>
          <a:blip r:embed="rId3"/>
          <a:stretch>
            <a:fillRect/>
          </a:stretch>
        </p:blipFill>
        <p:spPr>
          <a:xfrm>
            <a:off x="987552" y="4956048"/>
            <a:ext cx="237744" cy="237744"/>
          </a:xfrm>
          <a:prstGeom prst="rect">
            <a:avLst/>
          </a:prstGeom>
        </p:spPr>
      </p:pic>
      <p:sp>
        <p:nvSpPr>
          <p:cNvPr id="20" name="TextBox 19"/>
          <p:cNvSpPr txBox="1"/>
          <p:nvPr/>
        </p:nvSpPr>
        <p:spPr>
          <a:xfrm>
            <a:off x="1353312" y="4809744"/>
            <a:ext cx="5029200" cy="530352"/>
          </a:xfrm>
          <a:prstGeom prst="rect">
            <a:avLst/>
          </a:prstGeom>
          <a:noFill/>
        </p:spPr>
        <p:txBody>
          <a:bodyPr wrap="square" anchor="ctr" lIns="0" rIns="0" tIns="0" bIns="0">
            <a:spAutoFit/>
          </a:bodyPr>
          <a:lstStyle/>
          <a:p>
            <a:pPr algn="l">
              <a:lnSpc>
                <a:spcPct val="106000"/>
              </a:lnSpc>
              <a:spcBef>
                <a:spcPts val="0"/>
              </a:spcBef>
              <a:spcAft>
                <a:spcPts val="0"/>
              </a:spcAft>
            </a:pPr>
            <a:r>
              <a:rPr sz="1200" b="0">
                <a:solidFill>
                  <a:srgbClr val="1A1A1A"/>
                </a:solidFill>
                <a:latin typeface="Red Hat Text"/>
              </a:rPr>
              <a:t>Gateway API — the strategic direction (GA)</a:t>
            </a:r>
          </a:p>
        </p:txBody>
      </p:sp>
      <p:sp>
        <p:nvSpPr>
          <p:cNvPr id="21" name="Rounded Rectangle 20"/>
          <p:cNvSpPr/>
          <p:nvPr/>
        </p:nvSpPr>
        <p:spPr>
          <a:xfrm>
            <a:off x="6812280" y="2395728"/>
            <a:ext cx="4538167" cy="2944368"/>
          </a:xfrm>
          <a:prstGeom prst="roundRect">
            <a:avLst>
              <a:gd name="adj" fmla="val 4000"/>
            </a:avLst>
          </a:prstGeom>
          <a:solidFill>
            <a:srgbClr val="FFFFFF"/>
          </a:solidFill>
          <a:ln w="15240">
            <a:solidFill>
              <a:srgbClr val="DDE1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ounded Rectangle 21"/>
          <p:cNvSpPr/>
          <p:nvPr/>
        </p:nvSpPr>
        <p:spPr>
          <a:xfrm>
            <a:off x="7013448" y="2596896"/>
            <a:ext cx="1298448" cy="310896"/>
          </a:xfrm>
          <a:prstGeom prst="roundRect">
            <a:avLst>
              <a:gd name="adj" fmla="val 50000"/>
            </a:avLst>
          </a:prstGeom>
          <a:solidFill>
            <a:srgbClr val="FCEC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7013448" y="2596896"/>
            <a:ext cx="1298448" cy="310896"/>
          </a:xfrm>
          <a:prstGeom prst="rect">
            <a:avLst/>
          </a:prstGeom>
          <a:noFill/>
        </p:spPr>
        <p:txBody>
          <a:bodyPr wrap="none" anchor="ctr" lIns="0" rIns="0" tIns="0" bIns="0">
            <a:spAutoFit/>
          </a:bodyPr>
          <a:lstStyle/>
          <a:p>
            <a:pPr algn="ctr">
              <a:lnSpc>
                <a:spcPct val="106000"/>
              </a:lnSpc>
              <a:spcBef>
                <a:spcPts val="0"/>
              </a:spcBef>
              <a:spcAft>
                <a:spcPts val="0"/>
              </a:spcAft>
            </a:pPr>
            <a:r>
              <a:rPr sz="850" b="1">
                <a:solidFill>
                  <a:srgbClr val="B80000"/>
                </a:solidFill>
                <a:latin typeface="Red Hat Display"/>
              </a:rPr>
              <a:t>MEDIA PASS</a:t>
            </a:r>
          </a:p>
        </p:txBody>
      </p:sp>
      <p:pic>
        <p:nvPicPr>
          <p:cNvPr id="24" name="Picture 23" descr="eye_slate.png"/>
          <p:cNvPicPr>
            <a:picLocks noChangeAspect="1"/>
          </p:cNvPicPr>
          <p:nvPr/>
        </p:nvPicPr>
        <p:blipFill>
          <a:blip r:embed="rId4"/>
          <a:stretch>
            <a:fillRect/>
          </a:stretch>
        </p:blipFill>
        <p:spPr>
          <a:xfrm>
            <a:off x="8843619" y="3108960"/>
            <a:ext cx="475488" cy="475488"/>
          </a:xfrm>
          <a:prstGeom prst="rect">
            <a:avLst/>
          </a:prstGeom>
        </p:spPr>
      </p:pic>
      <p:sp>
        <p:nvSpPr>
          <p:cNvPr id="25" name="TextBox 24"/>
          <p:cNvSpPr txBox="1"/>
          <p:nvPr/>
        </p:nvSpPr>
        <p:spPr>
          <a:xfrm>
            <a:off x="7050024" y="3721608"/>
            <a:ext cx="4062679" cy="1481328"/>
          </a:xfrm>
          <a:prstGeom prst="rect">
            <a:avLst/>
          </a:prstGeom>
          <a:noFill/>
        </p:spPr>
        <p:txBody>
          <a:bodyPr wrap="square" anchor="t" lIns="0" rIns="0" tIns="0" bIns="0">
            <a:spAutoFit/>
          </a:bodyPr>
          <a:lstStyle/>
          <a:p>
            <a:pPr algn="l">
              <a:lnSpc>
                <a:spcPct val="120000"/>
              </a:lnSpc>
              <a:spcBef>
                <a:spcPts val="0"/>
              </a:spcBef>
              <a:spcAft>
                <a:spcPts val="0"/>
              </a:spcAft>
            </a:pPr>
            <a:r>
              <a:rPr sz="950" b="0">
                <a:solidFill>
                  <a:srgbClr val="8A9099"/>
                </a:solidFill>
                <a:latin typeface="Red Hat Text"/>
              </a:rPr>
              <a:t>Reuse concept diagram networking-dev-devops-...-02-exposure-tree.svg — the branching tree from ClusterIP through Route/Gateway, with LoadBalancer flagged "&lt;pending&gt; on bare metal."</a:t>
            </a:r>
          </a:p>
        </p:txBody>
      </p:sp>
      <p:cxnSp>
        <p:nvCxnSpPr>
          <p:cNvPr id="26" name="Connector 25"/>
          <p:cNvCxnSpPr/>
          <p:nvPr/>
        </p:nvCxnSpPr>
        <p:spPr>
          <a:xfrm>
            <a:off x="841248" y="6437376"/>
            <a:ext cx="10509199" cy="0"/>
          </a:xfrm>
          <a:prstGeom prst="bentConnector3">
            <a:avLst/>
          </a:prstGeom>
          <a:ln w="12700">
            <a:solidFill>
              <a:srgbClr val="DDE1E6"/>
            </a:solidFill>
          </a:ln>
          <a:effectLst/>
        </p:spPr>
        <p:style>
          <a:lnRef idx="2">
            <a:schemeClr val="accent1"/>
          </a:lnRef>
          <a:fillRef idx="0">
            <a:schemeClr val="accent1"/>
          </a:fillRef>
          <a:effectRef idx="1">
            <a:schemeClr val="accent1"/>
          </a:effectRef>
          <a:fontRef idx="minor">
            <a:schemeClr val="tx1"/>
          </a:fontRef>
        </p:style>
      </p:cxnSp>
      <p:sp>
        <p:nvSpPr>
          <p:cNvPr id="27" name="TextBox 26"/>
          <p:cNvSpPr txBox="1"/>
          <p:nvPr/>
        </p:nvSpPr>
        <p:spPr>
          <a:xfrm>
            <a:off x="841248" y="6473952"/>
            <a:ext cx="7315200" cy="274320"/>
          </a:xfrm>
          <a:prstGeom prst="rect">
            <a:avLst/>
          </a:prstGeom>
          <a:noFill/>
        </p:spPr>
        <p:txBody>
          <a:bodyPr wrap="square" anchor="t" lIns="0" rIns="0" tIns="0" bIns="0">
            <a:spAutoFit/>
          </a:bodyPr>
          <a:lstStyle/>
          <a:p>
            <a:pPr algn="l">
              <a:lnSpc>
                <a:spcPct val="106000"/>
              </a:lnSpc>
              <a:spcBef>
                <a:spcPts val="0"/>
              </a:spcBef>
              <a:spcAft>
                <a:spcPts val="0"/>
              </a:spcAft>
            </a:pPr>
            <a:r>
              <a:rPr sz="950" b="0">
                <a:solidFill>
                  <a:srgbClr val="8A9099"/>
                </a:solidFill>
                <a:latin typeface="Red Hat Text"/>
              </a:rPr>
              <a:t>CONFIDENTIAL</a:t>
            </a:r>
          </a:p>
        </p:txBody>
      </p:sp>
      <p:sp>
        <p:nvSpPr>
          <p:cNvPr id="28" name="TextBox 27"/>
          <p:cNvSpPr txBox="1"/>
          <p:nvPr/>
        </p:nvSpPr>
        <p:spPr>
          <a:xfrm>
            <a:off x="10801807" y="6473952"/>
            <a:ext cx="548640" cy="274320"/>
          </a:xfrm>
          <a:prstGeom prst="rect">
            <a:avLst/>
          </a:prstGeom>
          <a:noFill/>
        </p:spPr>
        <p:txBody>
          <a:bodyPr wrap="square" anchor="t" lIns="0" rIns="0" tIns="0" bIns="0">
            <a:spAutoFit/>
          </a:bodyPr>
          <a:lstStyle/>
          <a:p>
            <a:pPr algn="r">
              <a:lnSpc>
                <a:spcPct val="106000"/>
              </a:lnSpc>
              <a:spcBef>
                <a:spcPts val="0"/>
              </a:spcBef>
              <a:spcAft>
                <a:spcPts val="0"/>
              </a:spcAft>
            </a:pPr>
            <a:r>
              <a:rPr sz="950" b="0">
                <a:solidFill>
                  <a:srgbClr val="8A9099"/>
                </a:solidFill>
                <a:latin typeface="Red Hat Text"/>
              </a:rPr>
              <a:t>115</a:t>
            </a:r>
          </a:p>
        </p:txBody>
      </p:sp>
    </p:spTree>
  </p:cSld>
  <p:clrMapOvr>
    <a:masterClrMapping/>
  </p:clrMapOvr>
</p:sld>
</file>

<file path=ppt/slides/slide1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redhat_logo.jpg"/>
          <p:cNvPicPr>
            <a:picLocks noChangeAspect="1"/>
          </p:cNvPicPr>
          <p:nvPr/>
        </p:nvPicPr>
        <p:blipFill>
          <a:blip r:embed="rId2"/>
          <a:stretch>
            <a:fillRect/>
          </a:stretch>
        </p:blipFill>
        <p:spPr>
          <a:xfrm>
            <a:off x="10326319" y="475488"/>
            <a:ext cx="1024128" cy="242248"/>
          </a:xfrm>
          <a:prstGeom prst="rect">
            <a:avLst/>
          </a:prstGeom>
        </p:spPr>
      </p:pic>
      <p:sp>
        <p:nvSpPr>
          <p:cNvPr id="3" name="TextBox 2"/>
          <p:cNvSpPr txBox="1"/>
          <p:nvPr/>
        </p:nvSpPr>
        <p:spPr>
          <a:xfrm>
            <a:off x="841248" y="548640"/>
            <a:ext cx="8595360" cy="274320"/>
          </a:xfrm>
          <a:prstGeom prst="rect">
            <a:avLst/>
          </a:prstGeom>
          <a:noFill/>
        </p:spPr>
        <p:txBody>
          <a:bodyPr wrap="square" anchor="t" lIns="0" rIns="0" tIns="0" bIns="0">
            <a:spAutoFit/>
          </a:bodyPr>
          <a:lstStyle/>
          <a:p>
            <a:pPr algn="l">
              <a:lnSpc>
                <a:spcPct val="106000"/>
              </a:lnSpc>
              <a:spcBef>
                <a:spcPts val="0"/>
              </a:spcBef>
              <a:spcAft>
                <a:spcPts val="0"/>
              </a:spcAft>
            </a:pPr>
            <a:r>
              <a:rPr sz="1250" b="1" spc="220">
                <a:solidFill>
                  <a:srgbClr val="EE0000"/>
                </a:solidFill>
                <a:latin typeface="Red Hat Display"/>
              </a:rPr>
              <a:t>M16 · NETWORKING FOR DEV &amp; DEVOPS</a:t>
            </a:r>
          </a:p>
        </p:txBody>
      </p:sp>
      <p:sp>
        <p:nvSpPr>
          <p:cNvPr id="4" name="TextBox 3"/>
          <p:cNvSpPr txBox="1"/>
          <p:nvPr/>
        </p:nvSpPr>
        <p:spPr>
          <a:xfrm>
            <a:off x="841248" y="877824"/>
            <a:ext cx="10515600" cy="548640"/>
          </a:xfrm>
          <a:prstGeom prst="rect">
            <a:avLst/>
          </a:prstGeom>
          <a:noFill/>
        </p:spPr>
        <p:txBody>
          <a:bodyPr wrap="none" anchor="t" lIns="0" rIns="0" tIns="0" bIns="0">
            <a:spAutoFit/>
          </a:bodyPr>
          <a:lstStyle/>
          <a:p>
            <a:pPr algn="l">
              <a:lnSpc>
                <a:spcPct val="100000"/>
              </a:lnSpc>
              <a:spcBef>
                <a:spcPts val="0"/>
              </a:spcBef>
              <a:spcAft>
                <a:spcPts val="0"/>
              </a:spcAft>
            </a:pPr>
            <a:r>
              <a:rPr sz="2500" b="1">
                <a:solidFill>
                  <a:srgbClr val="1A1A1A"/>
                </a:solidFill>
                <a:latin typeface="Red Hat Display"/>
              </a:rPr>
              <a:t>The honest L4 boundary</a:t>
            </a:r>
          </a:p>
        </p:txBody>
      </p:sp>
      <p:cxnSp>
        <p:nvCxnSpPr>
          <p:cNvPr id="5" name="Connector 4"/>
          <p:cNvCxnSpPr/>
          <p:nvPr/>
        </p:nvCxnSpPr>
        <p:spPr>
          <a:xfrm>
            <a:off x="841248" y="1554480"/>
            <a:ext cx="1371600" cy="0"/>
          </a:xfrm>
          <a:prstGeom prst="bentConnector3">
            <a:avLst/>
          </a:prstGeom>
          <a:ln w="31750">
            <a:solidFill>
              <a:srgbClr val="EE0000"/>
            </a:solidFill>
          </a:ln>
          <a:effectLst/>
        </p:spPr>
        <p:style>
          <a:lnRef idx="2">
            <a:schemeClr val="accent1"/>
          </a:lnRef>
          <a:fillRef idx="0">
            <a:schemeClr val="accent1"/>
          </a:fillRef>
          <a:effectRef idx="1">
            <a:schemeClr val="accent1"/>
          </a:effectRef>
          <a:fontRef idx="minor">
            <a:schemeClr val="tx1"/>
          </a:fontRef>
        </p:style>
      </p:cxnSp>
      <p:sp>
        <p:nvSpPr>
          <p:cNvPr id="6" name="Rounded Rectangle 5"/>
          <p:cNvSpPr/>
          <p:nvPr/>
        </p:nvSpPr>
        <p:spPr>
          <a:xfrm>
            <a:off x="841248" y="2395728"/>
            <a:ext cx="5715000" cy="530352"/>
          </a:xfrm>
          <a:prstGeom prst="roundRect">
            <a:avLst>
              <a:gd name="adj" fmla="val 6000"/>
            </a:avLst>
          </a:prstGeom>
          <a:solidFill>
            <a:srgbClr val="F5F6F8"/>
          </a:solidFill>
          <a:ln w="12700">
            <a:solidFill>
              <a:srgbClr val="DDE1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check_steel.png"/>
          <p:cNvPicPr>
            <a:picLocks noChangeAspect="1"/>
          </p:cNvPicPr>
          <p:nvPr/>
        </p:nvPicPr>
        <p:blipFill>
          <a:blip r:embed="rId3"/>
          <a:stretch>
            <a:fillRect/>
          </a:stretch>
        </p:blipFill>
        <p:spPr>
          <a:xfrm>
            <a:off x="987552" y="2542032"/>
            <a:ext cx="237744" cy="237744"/>
          </a:xfrm>
          <a:prstGeom prst="rect">
            <a:avLst/>
          </a:prstGeom>
        </p:spPr>
      </p:pic>
      <p:sp>
        <p:nvSpPr>
          <p:cNvPr id="8" name="TextBox 7"/>
          <p:cNvSpPr txBox="1"/>
          <p:nvPr/>
        </p:nvSpPr>
        <p:spPr>
          <a:xfrm>
            <a:off x="1353312" y="2395728"/>
            <a:ext cx="5029200" cy="530352"/>
          </a:xfrm>
          <a:prstGeom prst="rect">
            <a:avLst/>
          </a:prstGeom>
          <a:noFill/>
        </p:spPr>
        <p:txBody>
          <a:bodyPr wrap="square" anchor="ctr" lIns="0" rIns="0" tIns="0" bIns="0">
            <a:spAutoFit/>
          </a:bodyPr>
          <a:lstStyle/>
          <a:p>
            <a:pPr algn="l">
              <a:lnSpc>
                <a:spcPct val="106000"/>
              </a:lnSpc>
              <a:spcBef>
                <a:spcPts val="0"/>
              </a:spcBef>
              <a:spcAft>
                <a:spcPts val="0"/>
              </a:spcAft>
            </a:pPr>
            <a:r>
              <a:rPr sz="1200" b="0">
                <a:solidFill>
                  <a:srgbClr val="1A1A1A"/>
                </a:solidFill>
                <a:latin typeface="Red Hat Text"/>
              </a:rPr>
              <a:t>Routes + today's Gateway API: HTTP(S)/SNI-centric</a:t>
            </a:r>
          </a:p>
        </p:txBody>
      </p:sp>
      <p:sp>
        <p:nvSpPr>
          <p:cNvPr id="9" name="Rounded Rectangle 8"/>
          <p:cNvSpPr/>
          <p:nvPr/>
        </p:nvSpPr>
        <p:spPr>
          <a:xfrm>
            <a:off x="841248" y="2999232"/>
            <a:ext cx="5715000" cy="530352"/>
          </a:xfrm>
          <a:prstGeom prst="roundRect">
            <a:avLst>
              <a:gd name="adj" fmla="val 6000"/>
            </a:avLst>
          </a:prstGeom>
          <a:solidFill>
            <a:srgbClr val="F5F6F8"/>
          </a:solidFill>
          <a:ln w="12700">
            <a:solidFill>
              <a:srgbClr val="DDE1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0" name="Picture 9" descr="check_steel.png"/>
          <p:cNvPicPr>
            <a:picLocks noChangeAspect="1"/>
          </p:cNvPicPr>
          <p:nvPr/>
        </p:nvPicPr>
        <p:blipFill>
          <a:blip r:embed="rId3"/>
          <a:stretch>
            <a:fillRect/>
          </a:stretch>
        </p:blipFill>
        <p:spPr>
          <a:xfrm>
            <a:off x="987552" y="3145536"/>
            <a:ext cx="237744" cy="237744"/>
          </a:xfrm>
          <a:prstGeom prst="rect">
            <a:avLst/>
          </a:prstGeom>
        </p:spPr>
      </p:pic>
      <p:sp>
        <p:nvSpPr>
          <p:cNvPr id="11" name="TextBox 10"/>
          <p:cNvSpPr txBox="1"/>
          <p:nvPr/>
        </p:nvSpPr>
        <p:spPr>
          <a:xfrm>
            <a:off x="1353312" y="2999232"/>
            <a:ext cx="5029200" cy="530352"/>
          </a:xfrm>
          <a:prstGeom prst="rect">
            <a:avLst/>
          </a:prstGeom>
          <a:noFill/>
        </p:spPr>
        <p:txBody>
          <a:bodyPr wrap="square" anchor="ctr" lIns="0" rIns="0" tIns="0" bIns="0">
            <a:spAutoFit/>
          </a:bodyPr>
          <a:lstStyle/>
          <a:p>
            <a:pPr algn="l">
              <a:lnSpc>
                <a:spcPct val="106000"/>
              </a:lnSpc>
              <a:spcBef>
                <a:spcPts val="0"/>
              </a:spcBef>
              <a:spcAft>
                <a:spcPts val="0"/>
              </a:spcAft>
            </a:pPr>
            <a:r>
              <a:rPr sz="1200" b="0">
                <a:solidFill>
                  <a:srgbClr val="1A1A1A"/>
                </a:solidFill>
                <a:latin typeface="Red Hat Text"/>
              </a:rPr>
              <a:t>Route by hostname/path; TLS by SNI</a:t>
            </a:r>
          </a:p>
        </p:txBody>
      </p:sp>
      <p:sp>
        <p:nvSpPr>
          <p:cNvPr id="12" name="Rounded Rectangle 11"/>
          <p:cNvSpPr/>
          <p:nvPr/>
        </p:nvSpPr>
        <p:spPr>
          <a:xfrm>
            <a:off x="841248" y="3602736"/>
            <a:ext cx="5715000" cy="530352"/>
          </a:xfrm>
          <a:prstGeom prst="roundRect">
            <a:avLst>
              <a:gd name="adj" fmla="val 6000"/>
            </a:avLst>
          </a:prstGeom>
          <a:solidFill>
            <a:srgbClr val="F5F6F8"/>
          </a:solidFill>
          <a:ln w="12700">
            <a:solidFill>
              <a:srgbClr val="DDE1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3" name="Picture 12" descr="check_steel.png"/>
          <p:cNvPicPr>
            <a:picLocks noChangeAspect="1"/>
          </p:cNvPicPr>
          <p:nvPr/>
        </p:nvPicPr>
        <p:blipFill>
          <a:blip r:embed="rId3"/>
          <a:stretch>
            <a:fillRect/>
          </a:stretch>
        </p:blipFill>
        <p:spPr>
          <a:xfrm>
            <a:off x="987552" y="3749040"/>
            <a:ext cx="237744" cy="237744"/>
          </a:xfrm>
          <a:prstGeom prst="rect">
            <a:avLst/>
          </a:prstGeom>
        </p:spPr>
      </p:pic>
      <p:sp>
        <p:nvSpPr>
          <p:cNvPr id="14" name="TextBox 13"/>
          <p:cNvSpPr txBox="1"/>
          <p:nvPr/>
        </p:nvSpPr>
        <p:spPr>
          <a:xfrm>
            <a:off x="1353312" y="3602736"/>
            <a:ext cx="5029200" cy="530352"/>
          </a:xfrm>
          <a:prstGeom prst="rect">
            <a:avLst/>
          </a:prstGeom>
          <a:noFill/>
        </p:spPr>
        <p:txBody>
          <a:bodyPr wrap="square" anchor="ctr" lIns="0" rIns="0" tIns="0" bIns="0">
            <a:spAutoFit/>
          </a:bodyPr>
          <a:lstStyle/>
          <a:p>
            <a:pPr algn="l">
              <a:lnSpc>
                <a:spcPct val="106000"/>
              </a:lnSpc>
              <a:spcBef>
                <a:spcPts val="0"/>
              </a:spcBef>
              <a:spcAft>
                <a:spcPts val="0"/>
              </a:spcAft>
            </a:pPr>
            <a:r>
              <a:rPr sz="1200" b="0">
                <a:solidFill>
                  <a:srgbClr val="1A1A1A"/>
                </a:solidFill>
                <a:latin typeface="Red Hat Text"/>
              </a:rPr>
              <a:t>No raw TCP / UDP / TLS-passthrough</a:t>
            </a:r>
          </a:p>
        </p:txBody>
      </p:sp>
      <p:sp>
        <p:nvSpPr>
          <p:cNvPr id="15" name="Rounded Rectangle 14"/>
          <p:cNvSpPr/>
          <p:nvPr/>
        </p:nvSpPr>
        <p:spPr>
          <a:xfrm>
            <a:off x="841248" y="4206240"/>
            <a:ext cx="5715000" cy="530352"/>
          </a:xfrm>
          <a:prstGeom prst="roundRect">
            <a:avLst>
              <a:gd name="adj" fmla="val 6000"/>
            </a:avLst>
          </a:prstGeom>
          <a:solidFill>
            <a:srgbClr val="F5F6F8"/>
          </a:solidFill>
          <a:ln w="12700">
            <a:solidFill>
              <a:srgbClr val="DDE1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6" name="Picture 15" descr="check_steel.png"/>
          <p:cNvPicPr>
            <a:picLocks noChangeAspect="1"/>
          </p:cNvPicPr>
          <p:nvPr/>
        </p:nvPicPr>
        <p:blipFill>
          <a:blip r:embed="rId3"/>
          <a:stretch>
            <a:fillRect/>
          </a:stretch>
        </p:blipFill>
        <p:spPr>
          <a:xfrm>
            <a:off x="987552" y="4352544"/>
            <a:ext cx="237744" cy="237744"/>
          </a:xfrm>
          <a:prstGeom prst="rect">
            <a:avLst/>
          </a:prstGeom>
        </p:spPr>
      </p:pic>
      <p:sp>
        <p:nvSpPr>
          <p:cNvPr id="17" name="TextBox 16"/>
          <p:cNvSpPr txBox="1"/>
          <p:nvPr/>
        </p:nvSpPr>
        <p:spPr>
          <a:xfrm>
            <a:off x="1353312" y="4206240"/>
            <a:ext cx="5029200" cy="530352"/>
          </a:xfrm>
          <a:prstGeom prst="rect">
            <a:avLst/>
          </a:prstGeom>
          <a:noFill/>
        </p:spPr>
        <p:txBody>
          <a:bodyPr wrap="square" anchor="ctr" lIns="0" rIns="0" tIns="0" bIns="0">
            <a:spAutoFit/>
          </a:bodyPr>
          <a:lstStyle/>
          <a:p>
            <a:pPr algn="l">
              <a:lnSpc>
                <a:spcPct val="106000"/>
              </a:lnSpc>
              <a:spcBef>
                <a:spcPts val="0"/>
              </a:spcBef>
              <a:spcAft>
                <a:spcPts val="0"/>
              </a:spcAft>
            </a:pPr>
            <a:r>
              <a:rPr sz="1200" b="0">
                <a:solidFill>
                  <a:srgbClr val="1A1A1A"/>
                </a:solidFill>
                <a:latin typeface="Red Hat Text"/>
              </a:rPr>
              <a:t>That's the service mesh's job (a later module)</a:t>
            </a:r>
          </a:p>
        </p:txBody>
      </p:sp>
      <p:sp>
        <p:nvSpPr>
          <p:cNvPr id="18" name="Rounded Rectangle 17"/>
          <p:cNvSpPr/>
          <p:nvPr/>
        </p:nvSpPr>
        <p:spPr>
          <a:xfrm>
            <a:off x="841248" y="4809744"/>
            <a:ext cx="5715000" cy="530352"/>
          </a:xfrm>
          <a:prstGeom prst="roundRect">
            <a:avLst>
              <a:gd name="adj" fmla="val 6000"/>
            </a:avLst>
          </a:prstGeom>
          <a:solidFill>
            <a:srgbClr val="F5F6F8"/>
          </a:solidFill>
          <a:ln w="12700">
            <a:solidFill>
              <a:srgbClr val="DDE1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9" name="Picture 18" descr="check_steel.png"/>
          <p:cNvPicPr>
            <a:picLocks noChangeAspect="1"/>
          </p:cNvPicPr>
          <p:nvPr/>
        </p:nvPicPr>
        <p:blipFill>
          <a:blip r:embed="rId3"/>
          <a:stretch>
            <a:fillRect/>
          </a:stretch>
        </p:blipFill>
        <p:spPr>
          <a:xfrm>
            <a:off x="987552" y="4956048"/>
            <a:ext cx="237744" cy="237744"/>
          </a:xfrm>
          <a:prstGeom prst="rect">
            <a:avLst/>
          </a:prstGeom>
        </p:spPr>
      </p:pic>
      <p:sp>
        <p:nvSpPr>
          <p:cNvPr id="20" name="TextBox 19"/>
          <p:cNvSpPr txBox="1"/>
          <p:nvPr/>
        </p:nvSpPr>
        <p:spPr>
          <a:xfrm>
            <a:off x="1353312" y="4809744"/>
            <a:ext cx="5029200" cy="530352"/>
          </a:xfrm>
          <a:prstGeom prst="rect">
            <a:avLst/>
          </a:prstGeom>
          <a:noFill/>
        </p:spPr>
        <p:txBody>
          <a:bodyPr wrap="square" anchor="ctr" lIns="0" rIns="0" tIns="0" bIns="0">
            <a:spAutoFit/>
          </a:bodyPr>
          <a:lstStyle/>
          <a:p>
            <a:pPr algn="l">
              <a:lnSpc>
                <a:spcPct val="106000"/>
              </a:lnSpc>
              <a:spcBef>
                <a:spcPts val="0"/>
              </a:spcBef>
              <a:spcAft>
                <a:spcPts val="0"/>
              </a:spcAft>
            </a:pPr>
            <a:r>
              <a:rPr sz="1200" b="0">
                <a:solidFill>
                  <a:srgbClr val="1A1A1A"/>
                </a:solidFill>
                <a:latin typeface="Red Hat Text"/>
              </a:rPr>
              <a:t>Know the boundary — don't fight the Route</a:t>
            </a:r>
          </a:p>
        </p:txBody>
      </p:sp>
      <p:sp>
        <p:nvSpPr>
          <p:cNvPr id="21" name="Rounded Rectangle 20"/>
          <p:cNvSpPr/>
          <p:nvPr/>
        </p:nvSpPr>
        <p:spPr>
          <a:xfrm>
            <a:off x="6812280" y="2395728"/>
            <a:ext cx="4538167" cy="2944368"/>
          </a:xfrm>
          <a:prstGeom prst="roundRect">
            <a:avLst>
              <a:gd name="adj" fmla="val 4000"/>
            </a:avLst>
          </a:prstGeom>
          <a:solidFill>
            <a:srgbClr val="FFFFFF"/>
          </a:solidFill>
          <a:ln w="15240">
            <a:solidFill>
              <a:srgbClr val="DDE1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ounded Rectangle 21"/>
          <p:cNvSpPr/>
          <p:nvPr/>
        </p:nvSpPr>
        <p:spPr>
          <a:xfrm>
            <a:off x="7013448" y="2596896"/>
            <a:ext cx="1298448" cy="310896"/>
          </a:xfrm>
          <a:prstGeom prst="roundRect">
            <a:avLst>
              <a:gd name="adj" fmla="val 50000"/>
            </a:avLst>
          </a:prstGeom>
          <a:solidFill>
            <a:srgbClr val="FCEC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7013448" y="2596896"/>
            <a:ext cx="1298448" cy="310896"/>
          </a:xfrm>
          <a:prstGeom prst="rect">
            <a:avLst/>
          </a:prstGeom>
          <a:noFill/>
        </p:spPr>
        <p:txBody>
          <a:bodyPr wrap="none" anchor="ctr" lIns="0" rIns="0" tIns="0" bIns="0">
            <a:spAutoFit/>
          </a:bodyPr>
          <a:lstStyle/>
          <a:p>
            <a:pPr algn="ctr">
              <a:lnSpc>
                <a:spcPct val="106000"/>
              </a:lnSpc>
              <a:spcBef>
                <a:spcPts val="0"/>
              </a:spcBef>
              <a:spcAft>
                <a:spcPts val="0"/>
              </a:spcAft>
            </a:pPr>
            <a:r>
              <a:rPr sz="850" b="1">
                <a:solidFill>
                  <a:srgbClr val="B80000"/>
                </a:solidFill>
                <a:latin typeface="Red Hat Display"/>
              </a:rPr>
              <a:t>MEDIA PASS</a:t>
            </a:r>
          </a:p>
        </p:txBody>
      </p:sp>
      <p:pic>
        <p:nvPicPr>
          <p:cNvPr id="24" name="Picture 23" descr="eye_slate.png"/>
          <p:cNvPicPr>
            <a:picLocks noChangeAspect="1"/>
          </p:cNvPicPr>
          <p:nvPr/>
        </p:nvPicPr>
        <p:blipFill>
          <a:blip r:embed="rId4"/>
          <a:stretch>
            <a:fillRect/>
          </a:stretch>
        </p:blipFill>
        <p:spPr>
          <a:xfrm>
            <a:off x="8843619" y="3108960"/>
            <a:ext cx="475488" cy="475488"/>
          </a:xfrm>
          <a:prstGeom prst="rect">
            <a:avLst/>
          </a:prstGeom>
        </p:spPr>
      </p:pic>
      <p:sp>
        <p:nvSpPr>
          <p:cNvPr id="25" name="TextBox 24"/>
          <p:cNvSpPr txBox="1"/>
          <p:nvPr/>
        </p:nvSpPr>
        <p:spPr>
          <a:xfrm>
            <a:off x="7050024" y="3721608"/>
            <a:ext cx="4062679" cy="1481328"/>
          </a:xfrm>
          <a:prstGeom prst="rect">
            <a:avLst/>
          </a:prstGeom>
          <a:noFill/>
        </p:spPr>
        <p:txBody>
          <a:bodyPr wrap="square" anchor="t" lIns="0" rIns="0" tIns="0" bIns="0">
            <a:spAutoFit/>
          </a:bodyPr>
          <a:lstStyle/>
          <a:p>
            <a:pPr algn="l">
              <a:lnSpc>
                <a:spcPct val="120000"/>
              </a:lnSpc>
              <a:spcBef>
                <a:spcPts val="0"/>
              </a:spcBef>
              <a:spcAft>
                <a:spcPts val="0"/>
              </a:spcAft>
            </a:pPr>
            <a:r>
              <a:rPr sz="950" b="0">
                <a:solidFill>
                  <a:srgbClr val="8A9099"/>
                </a:solidFill>
                <a:latin typeface="Red Hat Text"/>
              </a:rPr>
              <a:t>A split card: left "Route / Gateway API → HTTP(S), SNI, hostname/path" (green); right "raw TCP / UDP / passthrough → service mesh" (amber), arrow pointing to the later module.</a:t>
            </a:r>
          </a:p>
        </p:txBody>
      </p:sp>
      <p:cxnSp>
        <p:nvCxnSpPr>
          <p:cNvPr id="26" name="Connector 25"/>
          <p:cNvCxnSpPr/>
          <p:nvPr/>
        </p:nvCxnSpPr>
        <p:spPr>
          <a:xfrm>
            <a:off x="841248" y="6437376"/>
            <a:ext cx="10509199" cy="0"/>
          </a:xfrm>
          <a:prstGeom prst="bentConnector3">
            <a:avLst/>
          </a:prstGeom>
          <a:ln w="12700">
            <a:solidFill>
              <a:srgbClr val="DDE1E6"/>
            </a:solidFill>
          </a:ln>
          <a:effectLst/>
        </p:spPr>
        <p:style>
          <a:lnRef idx="2">
            <a:schemeClr val="accent1"/>
          </a:lnRef>
          <a:fillRef idx="0">
            <a:schemeClr val="accent1"/>
          </a:fillRef>
          <a:effectRef idx="1">
            <a:schemeClr val="accent1"/>
          </a:effectRef>
          <a:fontRef idx="minor">
            <a:schemeClr val="tx1"/>
          </a:fontRef>
        </p:style>
      </p:cxnSp>
      <p:sp>
        <p:nvSpPr>
          <p:cNvPr id="27" name="TextBox 26"/>
          <p:cNvSpPr txBox="1"/>
          <p:nvPr/>
        </p:nvSpPr>
        <p:spPr>
          <a:xfrm>
            <a:off x="841248" y="6473952"/>
            <a:ext cx="7315200" cy="274320"/>
          </a:xfrm>
          <a:prstGeom prst="rect">
            <a:avLst/>
          </a:prstGeom>
          <a:noFill/>
        </p:spPr>
        <p:txBody>
          <a:bodyPr wrap="square" anchor="t" lIns="0" rIns="0" tIns="0" bIns="0">
            <a:spAutoFit/>
          </a:bodyPr>
          <a:lstStyle/>
          <a:p>
            <a:pPr algn="l">
              <a:lnSpc>
                <a:spcPct val="106000"/>
              </a:lnSpc>
              <a:spcBef>
                <a:spcPts val="0"/>
              </a:spcBef>
              <a:spcAft>
                <a:spcPts val="0"/>
              </a:spcAft>
            </a:pPr>
            <a:r>
              <a:rPr sz="950" b="0">
                <a:solidFill>
                  <a:srgbClr val="8A9099"/>
                </a:solidFill>
                <a:latin typeface="Red Hat Text"/>
              </a:rPr>
              <a:t>CONFIDENTIAL</a:t>
            </a:r>
          </a:p>
        </p:txBody>
      </p:sp>
      <p:sp>
        <p:nvSpPr>
          <p:cNvPr id="28" name="TextBox 27"/>
          <p:cNvSpPr txBox="1"/>
          <p:nvPr/>
        </p:nvSpPr>
        <p:spPr>
          <a:xfrm>
            <a:off x="10801807" y="6473952"/>
            <a:ext cx="548640" cy="274320"/>
          </a:xfrm>
          <a:prstGeom prst="rect">
            <a:avLst/>
          </a:prstGeom>
          <a:noFill/>
        </p:spPr>
        <p:txBody>
          <a:bodyPr wrap="square" anchor="t" lIns="0" rIns="0" tIns="0" bIns="0">
            <a:spAutoFit/>
          </a:bodyPr>
          <a:lstStyle/>
          <a:p>
            <a:pPr algn="r">
              <a:lnSpc>
                <a:spcPct val="106000"/>
              </a:lnSpc>
              <a:spcBef>
                <a:spcPts val="0"/>
              </a:spcBef>
              <a:spcAft>
                <a:spcPts val="0"/>
              </a:spcAft>
            </a:pPr>
            <a:r>
              <a:rPr sz="950" b="0">
                <a:solidFill>
                  <a:srgbClr val="8A9099"/>
                </a:solidFill>
                <a:latin typeface="Red Hat Text"/>
              </a:rPr>
              <a:t>116</a:t>
            </a:r>
          </a:p>
        </p:txBody>
      </p:sp>
    </p:spTree>
  </p:cSld>
  <p:clrMapOvr>
    <a:masterClrMapping/>
  </p:clrMapOvr>
</p:sld>
</file>

<file path=ppt/slides/slide1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redhat_logo.jpg"/>
          <p:cNvPicPr>
            <a:picLocks noChangeAspect="1"/>
          </p:cNvPicPr>
          <p:nvPr/>
        </p:nvPicPr>
        <p:blipFill>
          <a:blip r:embed="rId2"/>
          <a:stretch>
            <a:fillRect/>
          </a:stretch>
        </p:blipFill>
        <p:spPr>
          <a:xfrm>
            <a:off x="10326319" y="475488"/>
            <a:ext cx="1024128" cy="242248"/>
          </a:xfrm>
          <a:prstGeom prst="rect">
            <a:avLst/>
          </a:prstGeom>
        </p:spPr>
      </p:pic>
      <p:sp>
        <p:nvSpPr>
          <p:cNvPr id="3" name="TextBox 2"/>
          <p:cNvSpPr txBox="1"/>
          <p:nvPr/>
        </p:nvSpPr>
        <p:spPr>
          <a:xfrm>
            <a:off x="841248" y="548640"/>
            <a:ext cx="8595360" cy="274320"/>
          </a:xfrm>
          <a:prstGeom prst="rect">
            <a:avLst/>
          </a:prstGeom>
          <a:noFill/>
        </p:spPr>
        <p:txBody>
          <a:bodyPr wrap="square" anchor="t" lIns="0" rIns="0" tIns="0" bIns="0">
            <a:spAutoFit/>
          </a:bodyPr>
          <a:lstStyle/>
          <a:p>
            <a:pPr algn="l">
              <a:lnSpc>
                <a:spcPct val="106000"/>
              </a:lnSpc>
              <a:spcBef>
                <a:spcPts val="0"/>
              </a:spcBef>
              <a:spcAft>
                <a:spcPts val="0"/>
              </a:spcAft>
            </a:pPr>
            <a:r>
              <a:rPr sz="1250" b="1" spc="220">
                <a:solidFill>
                  <a:srgbClr val="EE0000"/>
                </a:solidFill>
                <a:latin typeface="Red Hat Display"/>
              </a:rPr>
              <a:t>M16 · NETWORKING FOR DEV &amp; DEVOPS</a:t>
            </a:r>
          </a:p>
        </p:txBody>
      </p:sp>
      <p:sp>
        <p:nvSpPr>
          <p:cNvPr id="4" name="TextBox 3"/>
          <p:cNvSpPr txBox="1"/>
          <p:nvPr/>
        </p:nvSpPr>
        <p:spPr>
          <a:xfrm>
            <a:off x="841248" y="877824"/>
            <a:ext cx="10515600" cy="548640"/>
          </a:xfrm>
          <a:prstGeom prst="rect">
            <a:avLst/>
          </a:prstGeom>
          <a:noFill/>
        </p:spPr>
        <p:txBody>
          <a:bodyPr wrap="none" anchor="t" lIns="0" rIns="0" tIns="0" bIns="0">
            <a:spAutoFit/>
          </a:bodyPr>
          <a:lstStyle/>
          <a:p>
            <a:pPr algn="l">
              <a:lnSpc>
                <a:spcPct val="100000"/>
              </a:lnSpc>
              <a:spcBef>
                <a:spcPts val="0"/>
              </a:spcBef>
              <a:spcAft>
                <a:spcPts val="0"/>
              </a:spcAft>
            </a:pPr>
            <a:r>
              <a:rPr sz="2500" b="1">
                <a:solidFill>
                  <a:srgbClr val="1A1A1A"/>
                </a:solidFill>
                <a:latin typeface="Red Hat Display"/>
              </a:rPr>
              <a:t>East-west</a:t>
            </a:r>
          </a:p>
        </p:txBody>
      </p:sp>
      <p:cxnSp>
        <p:nvCxnSpPr>
          <p:cNvPr id="5" name="Connector 4"/>
          <p:cNvCxnSpPr/>
          <p:nvPr/>
        </p:nvCxnSpPr>
        <p:spPr>
          <a:xfrm>
            <a:off x="841248" y="1554480"/>
            <a:ext cx="1371600" cy="0"/>
          </a:xfrm>
          <a:prstGeom prst="bentConnector3">
            <a:avLst/>
          </a:prstGeom>
          <a:ln w="31750">
            <a:solidFill>
              <a:srgbClr val="EE0000"/>
            </a:solidFill>
          </a:ln>
          <a:effectLst/>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841248" y="1664208"/>
            <a:ext cx="10515600" cy="365760"/>
          </a:xfrm>
          <a:prstGeom prst="rect">
            <a:avLst/>
          </a:prstGeom>
          <a:noFill/>
        </p:spPr>
        <p:txBody>
          <a:bodyPr wrap="square" anchor="t" lIns="0" rIns="0" tIns="0" bIns="0">
            <a:spAutoFit/>
          </a:bodyPr>
          <a:lstStyle/>
          <a:p>
            <a:pPr algn="l">
              <a:lnSpc>
                <a:spcPct val="106000"/>
              </a:lnSpc>
              <a:spcBef>
                <a:spcPts val="0"/>
              </a:spcBef>
              <a:spcAft>
                <a:spcPts val="0"/>
              </a:spcAft>
            </a:pPr>
            <a:r>
              <a:rPr sz="1350" b="0">
                <a:solidFill>
                  <a:srgbClr val="555960"/>
                </a:solidFill>
                <a:latin typeface="Red Hat Text"/>
              </a:rPr>
              <a:t>default-deny, then precise allows</a:t>
            </a:r>
          </a:p>
        </p:txBody>
      </p:sp>
      <p:sp>
        <p:nvSpPr>
          <p:cNvPr id="7" name="Rounded Rectangle 6"/>
          <p:cNvSpPr/>
          <p:nvPr/>
        </p:nvSpPr>
        <p:spPr>
          <a:xfrm>
            <a:off x="841248" y="2670048"/>
            <a:ext cx="5715000" cy="530352"/>
          </a:xfrm>
          <a:prstGeom prst="roundRect">
            <a:avLst>
              <a:gd name="adj" fmla="val 6000"/>
            </a:avLst>
          </a:prstGeom>
          <a:solidFill>
            <a:srgbClr val="F5F6F8"/>
          </a:solidFill>
          <a:ln w="12700">
            <a:solidFill>
              <a:srgbClr val="DDE1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check_steel.png"/>
          <p:cNvPicPr>
            <a:picLocks noChangeAspect="1"/>
          </p:cNvPicPr>
          <p:nvPr/>
        </p:nvPicPr>
        <p:blipFill>
          <a:blip r:embed="rId3"/>
          <a:stretch>
            <a:fillRect/>
          </a:stretch>
        </p:blipFill>
        <p:spPr>
          <a:xfrm>
            <a:off x="987552" y="2816352"/>
            <a:ext cx="237744" cy="237744"/>
          </a:xfrm>
          <a:prstGeom prst="rect">
            <a:avLst/>
          </a:prstGeom>
        </p:spPr>
      </p:pic>
      <p:sp>
        <p:nvSpPr>
          <p:cNvPr id="9" name="TextBox 8"/>
          <p:cNvSpPr txBox="1"/>
          <p:nvPr/>
        </p:nvSpPr>
        <p:spPr>
          <a:xfrm>
            <a:off x="1353312" y="2670048"/>
            <a:ext cx="5029200" cy="530352"/>
          </a:xfrm>
          <a:prstGeom prst="rect">
            <a:avLst/>
          </a:prstGeom>
          <a:noFill/>
        </p:spPr>
        <p:txBody>
          <a:bodyPr wrap="square" anchor="ctr" lIns="0" rIns="0" tIns="0" bIns="0">
            <a:spAutoFit/>
          </a:bodyPr>
          <a:lstStyle/>
          <a:p>
            <a:pPr algn="l">
              <a:lnSpc>
                <a:spcPct val="106000"/>
              </a:lnSpc>
              <a:spcBef>
                <a:spcPts val="0"/>
              </a:spcBef>
              <a:spcAft>
                <a:spcPts val="0"/>
              </a:spcAft>
            </a:pPr>
            <a:r>
              <a:rPr sz="1200" b="0">
                <a:solidFill>
                  <a:srgbClr val="1A1A1A"/>
                </a:solidFill>
                <a:latin typeface="Red Hat Text"/>
              </a:rPr>
              <a:t>Default is allow-all between pods</a:t>
            </a:r>
          </a:p>
        </p:txBody>
      </p:sp>
      <p:sp>
        <p:nvSpPr>
          <p:cNvPr id="10" name="Rounded Rectangle 9"/>
          <p:cNvSpPr/>
          <p:nvPr/>
        </p:nvSpPr>
        <p:spPr>
          <a:xfrm>
            <a:off x="841248" y="3273552"/>
            <a:ext cx="5715000" cy="530352"/>
          </a:xfrm>
          <a:prstGeom prst="roundRect">
            <a:avLst>
              <a:gd name="adj" fmla="val 6000"/>
            </a:avLst>
          </a:prstGeom>
          <a:solidFill>
            <a:srgbClr val="F5F6F8"/>
          </a:solidFill>
          <a:ln w="12700">
            <a:solidFill>
              <a:srgbClr val="DDE1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1" name="Picture 10" descr="check_steel.png"/>
          <p:cNvPicPr>
            <a:picLocks noChangeAspect="1"/>
          </p:cNvPicPr>
          <p:nvPr/>
        </p:nvPicPr>
        <p:blipFill>
          <a:blip r:embed="rId3"/>
          <a:stretch>
            <a:fillRect/>
          </a:stretch>
        </p:blipFill>
        <p:spPr>
          <a:xfrm>
            <a:off x="987552" y="3419856"/>
            <a:ext cx="237744" cy="237744"/>
          </a:xfrm>
          <a:prstGeom prst="rect">
            <a:avLst/>
          </a:prstGeom>
        </p:spPr>
      </p:pic>
      <p:sp>
        <p:nvSpPr>
          <p:cNvPr id="12" name="TextBox 11"/>
          <p:cNvSpPr txBox="1"/>
          <p:nvPr/>
        </p:nvSpPr>
        <p:spPr>
          <a:xfrm>
            <a:off x="1353312" y="3273552"/>
            <a:ext cx="5029200" cy="530352"/>
          </a:xfrm>
          <a:prstGeom prst="rect">
            <a:avLst/>
          </a:prstGeom>
          <a:noFill/>
        </p:spPr>
        <p:txBody>
          <a:bodyPr wrap="square" anchor="ctr" lIns="0" rIns="0" tIns="0" bIns="0">
            <a:spAutoFit/>
          </a:bodyPr>
          <a:lstStyle/>
          <a:p>
            <a:pPr algn="l">
              <a:lnSpc>
                <a:spcPct val="106000"/>
              </a:lnSpc>
              <a:spcBef>
                <a:spcPts val="0"/>
              </a:spcBef>
              <a:spcAft>
                <a:spcPts val="0"/>
              </a:spcAft>
            </a:pPr>
            <a:r>
              <a:rPr sz="1200" b="0">
                <a:solidFill>
                  <a:srgbClr val="1A1A1A"/>
                </a:solidFill>
                <a:latin typeface="Red Hat Text"/>
              </a:rPr>
              <a:t>Step 1: default-deny the namespace</a:t>
            </a:r>
          </a:p>
        </p:txBody>
      </p:sp>
      <p:sp>
        <p:nvSpPr>
          <p:cNvPr id="13" name="Rounded Rectangle 12"/>
          <p:cNvSpPr/>
          <p:nvPr/>
        </p:nvSpPr>
        <p:spPr>
          <a:xfrm>
            <a:off x="841248" y="3877056"/>
            <a:ext cx="5715000" cy="530352"/>
          </a:xfrm>
          <a:prstGeom prst="roundRect">
            <a:avLst>
              <a:gd name="adj" fmla="val 6000"/>
            </a:avLst>
          </a:prstGeom>
          <a:solidFill>
            <a:srgbClr val="F5F6F8"/>
          </a:solidFill>
          <a:ln w="12700">
            <a:solidFill>
              <a:srgbClr val="DDE1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4" name="Picture 13" descr="check_steel.png"/>
          <p:cNvPicPr>
            <a:picLocks noChangeAspect="1"/>
          </p:cNvPicPr>
          <p:nvPr/>
        </p:nvPicPr>
        <p:blipFill>
          <a:blip r:embed="rId3"/>
          <a:stretch>
            <a:fillRect/>
          </a:stretch>
        </p:blipFill>
        <p:spPr>
          <a:xfrm>
            <a:off x="987552" y="4023360"/>
            <a:ext cx="237744" cy="237744"/>
          </a:xfrm>
          <a:prstGeom prst="rect">
            <a:avLst/>
          </a:prstGeom>
        </p:spPr>
      </p:pic>
      <p:sp>
        <p:nvSpPr>
          <p:cNvPr id="15" name="TextBox 14"/>
          <p:cNvSpPr txBox="1"/>
          <p:nvPr/>
        </p:nvSpPr>
        <p:spPr>
          <a:xfrm>
            <a:off x="1353312" y="3877056"/>
            <a:ext cx="5029200" cy="530352"/>
          </a:xfrm>
          <a:prstGeom prst="rect">
            <a:avLst/>
          </a:prstGeom>
          <a:noFill/>
        </p:spPr>
        <p:txBody>
          <a:bodyPr wrap="square" anchor="ctr" lIns="0" rIns="0" tIns="0" bIns="0">
            <a:spAutoFit/>
          </a:bodyPr>
          <a:lstStyle/>
          <a:p>
            <a:pPr algn="l">
              <a:lnSpc>
                <a:spcPct val="106000"/>
              </a:lnSpc>
              <a:spcBef>
                <a:spcPts val="0"/>
              </a:spcBef>
              <a:spcAft>
                <a:spcPts val="0"/>
              </a:spcAft>
            </a:pPr>
            <a:r>
              <a:rPr sz="1200" b="0">
                <a:solidFill>
                  <a:srgbClr val="1A1A1A"/>
                </a:solidFill>
                <a:latin typeface="Red Hat Text"/>
              </a:rPr>
              <a:t>Step 2: re-open only the flows the app needs</a:t>
            </a:r>
          </a:p>
        </p:txBody>
      </p:sp>
      <p:sp>
        <p:nvSpPr>
          <p:cNvPr id="16" name="Rounded Rectangle 15"/>
          <p:cNvSpPr/>
          <p:nvPr/>
        </p:nvSpPr>
        <p:spPr>
          <a:xfrm>
            <a:off x="841248" y="4480560"/>
            <a:ext cx="5715000" cy="530352"/>
          </a:xfrm>
          <a:prstGeom prst="roundRect">
            <a:avLst>
              <a:gd name="adj" fmla="val 6000"/>
            </a:avLst>
          </a:prstGeom>
          <a:solidFill>
            <a:srgbClr val="F5F6F8"/>
          </a:solidFill>
          <a:ln w="12700">
            <a:solidFill>
              <a:srgbClr val="DDE1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7" name="Picture 16" descr="check_steel.png"/>
          <p:cNvPicPr>
            <a:picLocks noChangeAspect="1"/>
          </p:cNvPicPr>
          <p:nvPr/>
        </p:nvPicPr>
        <p:blipFill>
          <a:blip r:embed="rId3"/>
          <a:stretch>
            <a:fillRect/>
          </a:stretch>
        </p:blipFill>
        <p:spPr>
          <a:xfrm>
            <a:off x="987552" y="4626864"/>
            <a:ext cx="237744" cy="237744"/>
          </a:xfrm>
          <a:prstGeom prst="rect">
            <a:avLst/>
          </a:prstGeom>
        </p:spPr>
      </p:pic>
      <p:sp>
        <p:nvSpPr>
          <p:cNvPr id="18" name="TextBox 17"/>
          <p:cNvSpPr txBox="1"/>
          <p:nvPr/>
        </p:nvSpPr>
        <p:spPr>
          <a:xfrm>
            <a:off x="1353312" y="4480560"/>
            <a:ext cx="5029200" cy="530352"/>
          </a:xfrm>
          <a:prstGeom prst="rect">
            <a:avLst/>
          </a:prstGeom>
          <a:noFill/>
        </p:spPr>
        <p:txBody>
          <a:bodyPr wrap="square" anchor="ctr" lIns="0" rIns="0" tIns="0" bIns="0">
            <a:spAutoFit/>
          </a:bodyPr>
          <a:lstStyle/>
          <a:p>
            <a:pPr algn="l">
              <a:lnSpc>
                <a:spcPct val="106000"/>
              </a:lnSpc>
              <a:spcBef>
                <a:spcPts val="0"/>
              </a:spcBef>
              <a:spcAft>
                <a:spcPts val="0"/>
              </a:spcAft>
            </a:pPr>
            <a:r>
              <a:rPr sz="1200" b="0">
                <a:solidFill>
                  <a:srgbClr val="1A1A1A"/>
                </a:solidFill>
                <a:latin typeface="Red Hat Text"/>
              </a:rPr>
              <a:t>db only from api; api only from web</a:t>
            </a:r>
          </a:p>
        </p:txBody>
      </p:sp>
      <p:sp>
        <p:nvSpPr>
          <p:cNvPr id="19" name="Rounded Rectangle 18"/>
          <p:cNvSpPr/>
          <p:nvPr/>
        </p:nvSpPr>
        <p:spPr>
          <a:xfrm>
            <a:off x="841248" y="5084064"/>
            <a:ext cx="5715000" cy="530352"/>
          </a:xfrm>
          <a:prstGeom prst="roundRect">
            <a:avLst>
              <a:gd name="adj" fmla="val 6000"/>
            </a:avLst>
          </a:prstGeom>
          <a:solidFill>
            <a:srgbClr val="F5F6F8"/>
          </a:solidFill>
          <a:ln w="12700">
            <a:solidFill>
              <a:srgbClr val="DDE1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0" name="Picture 19" descr="check_steel.png"/>
          <p:cNvPicPr>
            <a:picLocks noChangeAspect="1"/>
          </p:cNvPicPr>
          <p:nvPr/>
        </p:nvPicPr>
        <p:blipFill>
          <a:blip r:embed="rId3"/>
          <a:stretch>
            <a:fillRect/>
          </a:stretch>
        </p:blipFill>
        <p:spPr>
          <a:xfrm>
            <a:off x="987552" y="5230368"/>
            <a:ext cx="237744" cy="237744"/>
          </a:xfrm>
          <a:prstGeom prst="rect">
            <a:avLst/>
          </a:prstGeom>
        </p:spPr>
      </p:pic>
      <p:sp>
        <p:nvSpPr>
          <p:cNvPr id="21" name="TextBox 20"/>
          <p:cNvSpPr txBox="1"/>
          <p:nvPr/>
        </p:nvSpPr>
        <p:spPr>
          <a:xfrm>
            <a:off x="1353312" y="5084064"/>
            <a:ext cx="5029200" cy="530352"/>
          </a:xfrm>
          <a:prstGeom prst="rect">
            <a:avLst/>
          </a:prstGeom>
          <a:noFill/>
        </p:spPr>
        <p:txBody>
          <a:bodyPr wrap="square" anchor="ctr" lIns="0" rIns="0" tIns="0" bIns="0">
            <a:spAutoFit/>
          </a:bodyPr>
          <a:lstStyle/>
          <a:p>
            <a:pPr algn="l">
              <a:lnSpc>
                <a:spcPct val="106000"/>
              </a:lnSpc>
              <a:spcBef>
                <a:spcPts val="0"/>
              </a:spcBef>
              <a:spcAft>
                <a:spcPts val="0"/>
              </a:spcAft>
            </a:pPr>
            <a:r>
              <a:rPr sz="1200" b="0">
                <a:solidFill>
                  <a:srgbClr val="1A1A1A"/>
                </a:solidFill>
                <a:latin typeface="Red Hat Text"/>
              </a:rPr>
              <a:t>The gotcha: default-deny eats DNS too</a:t>
            </a:r>
          </a:p>
        </p:txBody>
      </p:sp>
      <p:sp>
        <p:nvSpPr>
          <p:cNvPr id="22" name="Rounded Rectangle 21"/>
          <p:cNvSpPr/>
          <p:nvPr/>
        </p:nvSpPr>
        <p:spPr>
          <a:xfrm>
            <a:off x="6812280" y="2670048"/>
            <a:ext cx="4538167" cy="2944368"/>
          </a:xfrm>
          <a:prstGeom prst="roundRect">
            <a:avLst>
              <a:gd name="adj" fmla="val 4000"/>
            </a:avLst>
          </a:prstGeom>
          <a:solidFill>
            <a:srgbClr val="FFFFFF"/>
          </a:solidFill>
          <a:ln w="15240">
            <a:solidFill>
              <a:srgbClr val="DDE1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ounded Rectangle 22"/>
          <p:cNvSpPr/>
          <p:nvPr/>
        </p:nvSpPr>
        <p:spPr>
          <a:xfrm>
            <a:off x="7013448" y="2871216"/>
            <a:ext cx="1298448" cy="310896"/>
          </a:xfrm>
          <a:prstGeom prst="roundRect">
            <a:avLst>
              <a:gd name="adj" fmla="val 50000"/>
            </a:avLst>
          </a:prstGeom>
          <a:solidFill>
            <a:srgbClr val="FCEC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7013448" y="2871216"/>
            <a:ext cx="1298448" cy="310896"/>
          </a:xfrm>
          <a:prstGeom prst="rect">
            <a:avLst/>
          </a:prstGeom>
          <a:noFill/>
        </p:spPr>
        <p:txBody>
          <a:bodyPr wrap="none" anchor="ctr" lIns="0" rIns="0" tIns="0" bIns="0">
            <a:spAutoFit/>
          </a:bodyPr>
          <a:lstStyle/>
          <a:p>
            <a:pPr algn="ctr">
              <a:lnSpc>
                <a:spcPct val="106000"/>
              </a:lnSpc>
              <a:spcBef>
                <a:spcPts val="0"/>
              </a:spcBef>
              <a:spcAft>
                <a:spcPts val="0"/>
              </a:spcAft>
            </a:pPr>
            <a:r>
              <a:rPr sz="850" b="1">
                <a:solidFill>
                  <a:srgbClr val="B80000"/>
                </a:solidFill>
                <a:latin typeface="Red Hat Display"/>
              </a:rPr>
              <a:t>MEDIA PASS</a:t>
            </a:r>
          </a:p>
        </p:txBody>
      </p:sp>
      <p:pic>
        <p:nvPicPr>
          <p:cNvPr id="25" name="Picture 24" descr="eye_slate.png"/>
          <p:cNvPicPr>
            <a:picLocks noChangeAspect="1"/>
          </p:cNvPicPr>
          <p:nvPr/>
        </p:nvPicPr>
        <p:blipFill>
          <a:blip r:embed="rId4"/>
          <a:stretch>
            <a:fillRect/>
          </a:stretch>
        </p:blipFill>
        <p:spPr>
          <a:xfrm>
            <a:off x="8843619" y="3383280"/>
            <a:ext cx="475488" cy="475488"/>
          </a:xfrm>
          <a:prstGeom prst="rect">
            <a:avLst/>
          </a:prstGeom>
        </p:spPr>
      </p:pic>
      <p:sp>
        <p:nvSpPr>
          <p:cNvPr id="26" name="TextBox 25"/>
          <p:cNvSpPr txBox="1"/>
          <p:nvPr/>
        </p:nvSpPr>
        <p:spPr>
          <a:xfrm>
            <a:off x="7050024" y="3995928"/>
            <a:ext cx="4062679" cy="1481328"/>
          </a:xfrm>
          <a:prstGeom prst="rect">
            <a:avLst/>
          </a:prstGeom>
          <a:noFill/>
        </p:spPr>
        <p:txBody>
          <a:bodyPr wrap="square" anchor="t" lIns="0" rIns="0" tIns="0" bIns="0">
            <a:spAutoFit/>
          </a:bodyPr>
          <a:lstStyle/>
          <a:p>
            <a:pPr algn="l">
              <a:lnSpc>
                <a:spcPct val="120000"/>
              </a:lnSpc>
              <a:spcBef>
                <a:spcPts val="0"/>
              </a:spcBef>
              <a:spcAft>
                <a:spcPts val="0"/>
              </a:spcAft>
            </a:pPr>
            <a:r>
              <a:rPr sz="950" b="0">
                <a:solidFill>
                  <a:srgbClr val="8A9099"/>
                </a:solidFill>
                <a:latin typeface="Red Hat Text"/>
              </a:rPr>
              <a:t>Two-panel before/after: left "default-deny (everything red)"; right "precise allows (web→api→db green, demo-client→db red)", footnote "+ allow DNS egress (CoreDNS port, not 53)".</a:t>
            </a:r>
          </a:p>
        </p:txBody>
      </p:sp>
      <p:cxnSp>
        <p:nvCxnSpPr>
          <p:cNvPr id="27" name="Connector 26"/>
          <p:cNvCxnSpPr/>
          <p:nvPr/>
        </p:nvCxnSpPr>
        <p:spPr>
          <a:xfrm>
            <a:off x="841248" y="6437376"/>
            <a:ext cx="10509199" cy="0"/>
          </a:xfrm>
          <a:prstGeom prst="bentConnector3">
            <a:avLst/>
          </a:prstGeom>
          <a:ln w="12700">
            <a:solidFill>
              <a:srgbClr val="DDE1E6"/>
            </a:solidFill>
          </a:ln>
          <a:effectLst/>
        </p:spPr>
        <p:style>
          <a:lnRef idx="2">
            <a:schemeClr val="accent1"/>
          </a:lnRef>
          <a:fillRef idx="0">
            <a:schemeClr val="accent1"/>
          </a:fillRef>
          <a:effectRef idx="1">
            <a:schemeClr val="accent1"/>
          </a:effectRef>
          <a:fontRef idx="minor">
            <a:schemeClr val="tx1"/>
          </a:fontRef>
        </p:style>
      </p:cxnSp>
      <p:sp>
        <p:nvSpPr>
          <p:cNvPr id="28" name="TextBox 27"/>
          <p:cNvSpPr txBox="1"/>
          <p:nvPr/>
        </p:nvSpPr>
        <p:spPr>
          <a:xfrm>
            <a:off x="841248" y="6473952"/>
            <a:ext cx="7315200" cy="274320"/>
          </a:xfrm>
          <a:prstGeom prst="rect">
            <a:avLst/>
          </a:prstGeom>
          <a:noFill/>
        </p:spPr>
        <p:txBody>
          <a:bodyPr wrap="square" anchor="t" lIns="0" rIns="0" tIns="0" bIns="0">
            <a:spAutoFit/>
          </a:bodyPr>
          <a:lstStyle/>
          <a:p>
            <a:pPr algn="l">
              <a:lnSpc>
                <a:spcPct val="106000"/>
              </a:lnSpc>
              <a:spcBef>
                <a:spcPts val="0"/>
              </a:spcBef>
              <a:spcAft>
                <a:spcPts val="0"/>
              </a:spcAft>
            </a:pPr>
            <a:r>
              <a:rPr sz="950" b="0">
                <a:solidFill>
                  <a:srgbClr val="8A9099"/>
                </a:solidFill>
                <a:latin typeface="Red Hat Text"/>
              </a:rPr>
              <a:t>CONFIDENTIAL</a:t>
            </a:r>
          </a:p>
        </p:txBody>
      </p:sp>
      <p:sp>
        <p:nvSpPr>
          <p:cNvPr id="29" name="TextBox 28"/>
          <p:cNvSpPr txBox="1"/>
          <p:nvPr/>
        </p:nvSpPr>
        <p:spPr>
          <a:xfrm>
            <a:off x="10801807" y="6473952"/>
            <a:ext cx="548640" cy="274320"/>
          </a:xfrm>
          <a:prstGeom prst="rect">
            <a:avLst/>
          </a:prstGeom>
          <a:noFill/>
        </p:spPr>
        <p:txBody>
          <a:bodyPr wrap="square" anchor="t" lIns="0" rIns="0" tIns="0" bIns="0">
            <a:spAutoFit/>
          </a:bodyPr>
          <a:lstStyle/>
          <a:p>
            <a:pPr algn="r">
              <a:lnSpc>
                <a:spcPct val="106000"/>
              </a:lnSpc>
              <a:spcBef>
                <a:spcPts val="0"/>
              </a:spcBef>
              <a:spcAft>
                <a:spcPts val="0"/>
              </a:spcAft>
            </a:pPr>
            <a:r>
              <a:rPr sz="950" b="0">
                <a:solidFill>
                  <a:srgbClr val="8A9099"/>
                </a:solidFill>
                <a:latin typeface="Red Hat Text"/>
              </a:rPr>
              <a:t>117</a:t>
            </a:r>
          </a:p>
        </p:txBody>
      </p:sp>
    </p:spTree>
  </p:cSld>
  <p:clrMapOvr>
    <a:masterClrMapping/>
  </p:clrMapOvr>
</p:sld>
</file>

<file path=ppt/slides/slide1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redhat_logo.jpg"/>
          <p:cNvPicPr>
            <a:picLocks noChangeAspect="1"/>
          </p:cNvPicPr>
          <p:nvPr/>
        </p:nvPicPr>
        <p:blipFill>
          <a:blip r:embed="rId2"/>
          <a:stretch>
            <a:fillRect/>
          </a:stretch>
        </p:blipFill>
        <p:spPr>
          <a:xfrm>
            <a:off x="10326319" y="475488"/>
            <a:ext cx="1024128" cy="242248"/>
          </a:xfrm>
          <a:prstGeom prst="rect">
            <a:avLst/>
          </a:prstGeom>
        </p:spPr>
      </p:pic>
      <p:sp>
        <p:nvSpPr>
          <p:cNvPr id="3" name="TextBox 2"/>
          <p:cNvSpPr txBox="1"/>
          <p:nvPr/>
        </p:nvSpPr>
        <p:spPr>
          <a:xfrm>
            <a:off x="841248" y="548640"/>
            <a:ext cx="8595360" cy="274320"/>
          </a:xfrm>
          <a:prstGeom prst="rect">
            <a:avLst/>
          </a:prstGeom>
          <a:noFill/>
        </p:spPr>
        <p:txBody>
          <a:bodyPr wrap="square" anchor="t" lIns="0" rIns="0" tIns="0" bIns="0">
            <a:spAutoFit/>
          </a:bodyPr>
          <a:lstStyle/>
          <a:p>
            <a:pPr algn="l">
              <a:lnSpc>
                <a:spcPct val="106000"/>
              </a:lnSpc>
              <a:spcBef>
                <a:spcPts val="0"/>
              </a:spcBef>
              <a:spcAft>
                <a:spcPts val="0"/>
              </a:spcAft>
            </a:pPr>
            <a:r>
              <a:rPr sz="1250" b="1" spc="220">
                <a:solidFill>
                  <a:srgbClr val="EE0000"/>
                </a:solidFill>
                <a:latin typeface="Red Hat Display"/>
              </a:rPr>
              <a:t>M16 · NETWORKING FOR DEV &amp; DEVOPS</a:t>
            </a:r>
          </a:p>
        </p:txBody>
      </p:sp>
      <p:sp>
        <p:nvSpPr>
          <p:cNvPr id="4" name="TextBox 3"/>
          <p:cNvSpPr txBox="1"/>
          <p:nvPr/>
        </p:nvSpPr>
        <p:spPr>
          <a:xfrm>
            <a:off x="841248" y="877824"/>
            <a:ext cx="10515600" cy="548640"/>
          </a:xfrm>
          <a:prstGeom prst="rect">
            <a:avLst/>
          </a:prstGeom>
          <a:noFill/>
        </p:spPr>
        <p:txBody>
          <a:bodyPr wrap="none" anchor="t" lIns="0" rIns="0" tIns="0" bIns="0">
            <a:spAutoFit/>
          </a:bodyPr>
          <a:lstStyle/>
          <a:p>
            <a:pPr algn="l">
              <a:lnSpc>
                <a:spcPct val="100000"/>
              </a:lnSpc>
              <a:spcBef>
                <a:spcPts val="0"/>
              </a:spcBef>
              <a:spcAft>
                <a:spcPts val="0"/>
              </a:spcAft>
            </a:pPr>
            <a:r>
              <a:rPr sz="2500" b="1">
                <a:solidFill>
                  <a:srgbClr val="1A1A1A"/>
                </a:solidFill>
                <a:latin typeface="Red Hat Display"/>
              </a:rPr>
              <a:t>UserDefinedNetwork</a:t>
            </a:r>
          </a:p>
        </p:txBody>
      </p:sp>
      <p:cxnSp>
        <p:nvCxnSpPr>
          <p:cNvPr id="5" name="Connector 4"/>
          <p:cNvCxnSpPr/>
          <p:nvPr/>
        </p:nvCxnSpPr>
        <p:spPr>
          <a:xfrm>
            <a:off x="841248" y="1554480"/>
            <a:ext cx="1371600" cy="0"/>
          </a:xfrm>
          <a:prstGeom prst="bentConnector3">
            <a:avLst/>
          </a:prstGeom>
          <a:ln w="31750">
            <a:solidFill>
              <a:srgbClr val="EE0000"/>
            </a:solidFill>
          </a:ln>
          <a:effectLst/>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841248" y="1664208"/>
            <a:ext cx="10515600" cy="365760"/>
          </a:xfrm>
          <a:prstGeom prst="rect">
            <a:avLst/>
          </a:prstGeom>
          <a:noFill/>
        </p:spPr>
        <p:txBody>
          <a:bodyPr wrap="square" anchor="t" lIns="0" rIns="0" tIns="0" bIns="0">
            <a:spAutoFit/>
          </a:bodyPr>
          <a:lstStyle/>
          <a:p>
            <a:pPr algn="l">
              <a:lnSpc>
                <a:spcPct val="106000"/>
              </a:lnSpc>
              <a:spcBef>
                <a:spcPts val="0"/>
              </a:spcBef>
              <a:spcAft>
                <a:spcPts val="0"/>
              </a:spcAft>
            </a:pPr>
            <a:r>
              <a:rPr sz="1350" b="0">
                <a:solidFill>
                  <a:srgbClr val="555960"/>
                </a:solidFill>
                <a:latin typeface="Red Hat Text"/>
              </a:rPr>
              <a:t>isolation without policy</a:t>
            </a:r>
          </a:p>
        </p:txBody>
      </p:sp>
      <p:sp>
        <p:nvSpPr>
          <p:cNvPr id="7" name="Rounded Rectangle 6"/>
          <p:cNvSpPr/>
          <p:nvPr/>
        </p:nvSpPr>
        <p:spPr>
          <a:xfrm>
            <a:off x="841248" y="2670048"/>
            <a:ext cx="5715000" cy="530352"/>
          </a:xfrm>
          <a:prstGeom prst="roundRect">
            <a:avLst>
              <a:gd name="adj" fmla="val 6000"/>
            </a:avLst>
          </a:prstGeom>
          <a:solidFill>
            <a:srgbClr val="F5F6F8"/>
          </a:solidFill>
          <a:ln w="12700">
            <a:solidFill>
              <a:srgbClr val="DDE1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check_steel.png"/>
          <p:cNvPicPr>
            <a:picLocks noChangeAspect="1"/>
          </p:cNvPicPr>
          <p:nvPr/>
        </p:nvPicPr>
        <p:blipFill>
          <a:blip r:embed="rId3"/>
          <a:stretch>
            <a:fillRect/>
          </a:stretch>
        </p:blipFill>
        <p:spPr>
          <a:xfrm>
            <a:off x="987552" y="2816352"/>
            <a:ext cx="237744" cy="237744"/>
          </a:xfrm>
          <a:prstGeom prst="rect">
            <a:avLst/>
          </a:prstGeom>
        </p:spPr>
      </p:pic>
      <p:sp>
        <p:nvSpPr>
          <p:cNvPr id="9" name="TextBox 8"/>
          <p:cNvSpPr txBox="1"/>
          <p:nvPr/>
        </p:nvSpPr>
        <p:spPr>
          <a:xfrm>
            <a:off x="1353312" y="2670048"/>
            <a:ext cx="5029200" cy="530352"/>
          </a:xfrm>
          <a:prstGeom prst="rect">
            <a:avLst/>
          </a:prstGeom>
          <a:noFill/>
        </p:spPr>
        <p:txBody>
          <a:bodyPr wrap="square" anchor="ctr" lIns="0" rIns="0" tIns="0" bIns="0">
            <a:spAutoFit/>
          </a:bodyPr>
          <a:lstStyle/>
          <a:p>
            <a:pPr algn="l">
              <a:lnSpc>
                <a:spcPct val="106000"/>
              </a:lnSpc>
              <a:spcBef>
                <a:spcPts val="0"/>
              </a:spcBef>
              <a:spcAft>
                <a:spcPts val="0"/>
              </a:spcAft>
            </a:pPr>
            <a:r>
              <a:rPr sz="1200" b="0">
                <a:solidFill>
                  <a:srgbClr val="1A1A1A"/>
                </a:solidFill>
                <a:latin typeface="Red Hat Text"/>
              </a:rPr>
              <a:t>Primary UDN: a namespace's OWN pod network</a:t>
            </a:r>
          </a:p>
        </p:txBody>
      </p:sp>
      <p:sp>
        <p:nvSpPr>
          <p:cNvPr id="10" name="Rounded Rectangle 9"/>
          <p:cNvSpPr/>
          <p:nvPr/>
        </p:nvSpPr>
        <p:spPr>
          <a:xfrm>
            <a:off x="841248" y="3273552"/>
            <a:ext cx="5715000" cy="530352"/>
          </a:xfrm>
          <a:prstGeom prst="roundRect">
            <a:avLst>
              <a:gd name="adj" fmla="val 6000"/>
            </a:avLst>
          </a:prstGeom>
          <a:solidFill>
            <a:srgbClr val="F5F6F8"/>
          </a:solidFill>
          <a:ln w="12700">
            <a:solidFill>
              <a:srgbClr val="DDE1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1" name="Picture 10" descr="check_steel.png"/>
          <p:cNvPicPr>
            <a:picLocks noChangeAspect="1"/>
          </p:cNvPicPr>
          <p:nvPr/>
        </p:nvPicPr>
        <p:blipFill>
          <a:blip r:embed="rId3"/>
          <a:stretch>
            <a:fillRect/>
          </a:stretch>
        </p:blipFill>
        <p:spPr>
          <a:xfrm>
            <a:off x="987552" y="3419856"/>
            <a:ext cx="237744" cy="237744"/>
          </a:xfrm>
          <a:prstGeom prst="rect">
            <a:avLst/>
          </a:prstGeom>
        </p:spPr>
      </p:pic>
      <p:sp>
        <p:nvSpPr>
          <p:cNvPr id="12" name="TextBox 11"/>
          <p:cNvSpPr txBox="1"/>
          <p:nvPr/>
        </p:nvSpPr>
        <p:spPr>
          <a:xfrm>
            <a:off x="1353312" y="3273552"/>
            <a:ext cx="5029200" cy="530352"/>
          </a:xfrm>
          <a:prstGeom prst="rect">
            <a:avLst/>
          </a:prstGeom>
          <a:noFill/>
        </p:spPr>
        <p:txBody>
          <a:bodyPr wrap="square" anchor="ctr" lIns="0" rIns="0" tIns="0" bIns="0">
            <a:spAutoFit/>
          </a:bodyPr>
          <a:lstStyle/>
          <a:p>
            <a:pPr algn="l">
              <a:lnSpc>
                <a:spcPct val="106000"/>
              </a:lnSpc>
              <a:spcBef>
                <a:spcPts val="0"/>
              </a:spcBef>
              <a:spcAft>
                <a:spcPts val="0"/>
              </a:spcAft>
            </a:pPr>
            <a:r>
              <a:rPr sz="1200" b="0">
                <a:solidFill>
                  <a:srgbClr val="1A1A1A"/>
                </a:solidFill>
                <a:latin typeface="Red Hat Text"/>
              </a:rPr>
              <a:t>Native isolation — no NetworkPolicy at all</a:t>
            </a:r>
          </a:p>
        </p:txBody>
      </p:sp>
      <p:sp>
        <p:nvSpPr>
          <p:cNvPr id="13" name="Rounded Rectangle 12"/>
          <p:cNvSpPr/>
          <p:nvPr/>
        </p:nvSpPr>
        <p:spPr>
          <a:xfrm>
            <a:off x="841248" y="3877056"/>
            <a:ext cx="5715000" cy="530352"/>
          </a:xfrm>
          <a:prstGeom prst="roundRect">
            <a:avLst>
              <a:gd name="adj" fmla="val 6000"/>
            </a:avLst>
          </a:prstGeom>
          <a:solidFill>
            <a:srgbClr val="F5F6F8"/>
          </a:solidFill>
          <a:ln w="12700">
            <a:solidFill>
              <a:srgbClr val="DDE1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4" name="Picture 13" descr="check_steel.png"/>
          <p:cNvPicPr>
            <a:picLocks noChangeAspect="1"/>
          </p:cNvPicPr>
          <p:nvPr/>
        </p:nvPicPr>
        <p:blipFill>
          <a:blip r:embed="rId3"/>
          <a:stretch>
            <a:fillRect/>
          </a:stretch>
        </p:blipFill>
        <p:spPr>
          <a:xfrm>
            <a:off x="987552" y="4023360"/>
            <a:ext cx="237744" cy="237744"/>
          </a:xfrm>
          <a:prstGeom prst="rect">
            <a:avLst/>
          </a:prstGeom>
        </p:spPr>
      </p:pic>
      <p:sp>
        <p:nvSpPr>
          <p:cNvPr id="15" name="TextBox 14"/>
          <p:cNvSpPr txBox="1"/>
          <p:nvPr/>
        </p:nvSpPr>
        <p:spPr>
          <a:xfrm>
            <a:off x="1353312" y="3877056"/>
            <a:ext cx="5029200" cy="530352"/>
          </a:xfrm>
          <a:prstGeom prst="rect">
            <a:avLst/>
          </a:prstGeom>
          <a:noFill/>
        </p:spPr>
        <p:txBody>
          <a:bodyPr wrap="square" anchor="ctr" lIns="0" rIns="0" tIns="0" bIns="0">
            <a:spAutoFit/>
          </a:bodyPr>
          <a:lstStyle/>
          <a:p>
            <a:pPr algn="l">
              <a:lnSpc>
                <a:spcPct val="106000"/>
              </a:lnSpc>
              <a:spcBef>
                <a:spcPts val="0"/>
              </a:spcBef>
              <a:spcAft>
                <a:spcPts val="0"/>
              </a:spcAft>
            </a:pPr>
            <a:r>
              <a:rPr sz="1200" b="0">
                <a:solidFill>
                  <a:srgbClr val="1A1A1A"/>
                </a:solidFill>
                <a:latin typeface="Red Hat Text"/>
              </a:rPr>
              <a:t>Layer 2 segment (e.g. 10.20.0.0/16 on ovn-udn1)</a:t>
            </a:r>
          </a:p>
        </p:txBody>
      </p:sp>
      <p:sp>
        <p:nvSpPr>
          <p:cNvPr id="16" name="Rounded Rectangle 15"/>
          <p:cNvSpPr/>
          <p:nvPr/>
        </p:nvSpPr>
        <p:spPr>
          <a:xfrm>
            <a:off x="841248" y="4480560"/>
            <a:ext cx="5715000" cy="530352"/>
          </a:xfrm>
          <a:prstGeom prst="roundRect">
            <a:avLst>
              <a:gd name="adj" fmla="val 6000"/>
            </a:avLst>
          </a:prstGeom>
          <a:solidFill>
            <a:srgbClr val="F5F6F8"/>
          </a:solidFill>
          <a:ln w="12700">
            <a:solidFill>
              <a:srgbClr val="DDE1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7" name="Picture 16" descr="check_steel.png"/>
          <p:cNvPicPr>
            <a:picLocks noChangeAspect="1"/>
          </p:cNvPicPr>
          <p:nvPr/>
        </p:nvPicPr>
        <p:blipFill>
          <a:blip r:embed="rId3"/>
          <a:stretch>
            <a:fillRect/>
          </a:stretch>
        </p:blipFill>
        <p:spPr>
          <a:xfrm>
            <a:off x="987552" y="4626864"/>
            <a:ext cx="237744" cy="237744"/>
          </a:xfrm>
          <a:prstGeom prst="rect">
            <a:avLst/>
          </a:prstGeom>
        </p:spPr>
      </p:pic>
      <p:sp>
        <p:nvSpPr>
          <p:cNvPr id="18" name="TextBox 17"/>
          <p:cNvSpPr txBox="1"/>
          <p:nvPr/>
        </p:nvSpPr>
        <p:spPr>
          <a:xfrm>
            <a:off x="1353312" y="4480560"/>
            <a:ext cx="5029200" cy="530352"/>
          </a:xfrm>
          <a:prstGeom prst="rect">
            <a:avLst/>
          </a:prstGeom>
          <a:noFill/>
        </p:spPr>
        <p:txBody>
          <a:bodyPr wrap="square" anchor="ctr" lIns="0" rIns="0" tIns="0" bIns="0">
            <a:spAutoFit/>
          </a:bodyPr>
          <a:lstStyle/>
          <a:p>
            <a:pPr algn="l">
              <a:lnSpc>
                <a:spcPct val="106000"/>
              </a:lnSpc>
              <a:spcBef>
                <a:spcPts val="0"/>
              </a:spcBef>
              <a:spcAft>
                <a:spcPts val="0"/>
              </a:spcAft>
            </a:pPr>
            <a:r>
              <a:rPr sz="1200" b="0">
                <a:solidFill>
                  <a:srgbClr val="1A1A1A"/>
                </a:solidFill>
                <a:latin typeface="Red Hat Text"/>
              </a:rPr>
              <a:t>Must exist BEFORE the namespace's first pod</a:t>
            </a:r>
          </a:p>
        </p:txBody>
      </p:sp>
      <p:sp>
        <p:nvSpPr>
          <p:cNvPr id="19" name="Rounded Rectangle 18"/>
          <p:cNvSpPr/>
          <p:nvPr/>
        </p:nvSpPr>
        <p:spPr>
          <a:xfrm>
            <a:off x="841248" y="5084064"/>
            <a:ext cx="5715000" cy="530352"/>
          </a:xfrm>
          <a:prstGeom prst="roundRect">
            <a:avLst>
              <a:gd name="adj" fmla="val 6000"/>
            </a:avLst>
          </a:prstGeom>
          <a:solidFill>
            <a:srgbClr val="F5F6F8"/>
          </a:solidFill>
          <a:ln w="12700">
            <a:solidFill>
              <a:srgbClr val="DDE1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0" name="Picture 19" descr="check_steel.png"/>
          <p:cNvPicPr>
            <a:picLocks noChangeAspect="1"/>
          </p:cNvPicPr>
          <p:nvPr/>
        </p:nvPicPr>
        <p:blipFill>
          <a:blip r:embed="rId3"/>
          <a:stretch>
            <a:fillRect/>
          </a:stretch>
        </p:blipFill>
        <p:spPr>
          <a:xfrm>
            <a:off x="987552" y="5230368"/>
            <a:ext cx="237744" cy="237744"/>
          </a:xfrm>
          <a:prstGeom prst="rect">
            <a:avLst/>
          </a:prstGeom>
        </p:spPr>
      </p:pic>
      <p:sp>
        <p:nvSpPr>
          <p:cNvPr id="21" name="TextBox 20"/>
          <p:cNvSpPr txBox="1"/>
          <p:nvPr/>
        </p:nvSpPr>
        <p:spPr>
          <a:xfrm>
            <a:off x="1353312" y="5084064"/>
            <a:ext cx="5029200" cy="530352"/>
          </a:xfrm>
          <a:prstGeom prst="rect">
            <a:avLst/>
          </a:prstGeom>
          <a:noFill/>
        </p:spPr>
        <p:txBody>
          <a:bodyPr wrap="square" anchor="ctr" lIns="0" rIns="0" tIns="0" bIns="0">
            <a:spAutoFit/>
          </a:bodyPr>
          <a:lstStyle/>
          <a:p>
            <a:pPr algn="l">
              <a:lnSpc>
                <a:spcPct val="106000"/>
              </a:lnSpc>
              <a:spcBef>
                <a:spcPts val="0"/>
              </a:spcBef>
              <a:spcAft>
                <a:spcPts val="0"/>
              </a:spcAft>
            </a:pPr>
            <a:r>
              <a:rPr sz="1200" b="0">
                <a:solidFill>
                  <a:srgbClr val="1A1A1A"/>
                </a:solidFill>
                <a:latin typeface="Red Hat Text"/>
              </a:rPr>
              <a:t>UDN for whole-namespace; netpol for selective flows</a:t>
            </a:r>
          </a:p>
        </p:txBody>
      </p:sp>
      <p:sp>
        <p:nvSpPr>
          <p:cNvPr id="22" name="Rounded Rectangle 21"/>
          <p:cNvSpPr/>
          <p:nvPr/>
        </p:nvSpPr>
        <p:spPr>
          <a:xfrm>
            <a:off x="6812280" y="2670048"/>
            <a:ext cx="4538167" cy="2944368"/>
          </a:xfrm>
          <a:prstGeom prst="roundRect">
            <a:avLst>
              <a:gd name="adj" fmla="val 4000"/>
            </a:avLst>
          </a:prstGeom>
          <a:solidFill>
            <a:srgbClr val="FFFFFF"/>
          </a:solidFill>
          <a:ln w="15240">
            <a:solidFill>
              <a:srgbClr val="DDE1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ounded Rectangle 22"/>
          <p:cNvSpPr/>
          <p:nvPr/>
        </p:nvSpPr>
        <p:spPr>
          <a:xfrm>
            <a:off x="7013448" y="2871216"/>
            <a:ext cx="1298448" cy="310896"/>
          </a:xfrm>
          <a:prstGeom prst="roundRect">
            <a:avLst>
              <a:gd name="adj" fmla="val 50000"/>
            </a:avLst>
          </a:prstGeom>
          <a:solidFill>
            <a:srgbClr val="FCEC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7013448" y="2871216"/>
            <a:ext cx="1298448" cy="310896"/>
          </a:xfrm>
          <a:prstGeom prst="rect">
            <a:avLst/>
          </a:prstGeom>
          <a:noFill/>
        </p:spPr>
        <p:txBody>
          <a:bodyPr wrap="none" anchor="ctr" lIns="0" rIns="0" tIns="0" bIns="0">
            <a:spAutoFit/>
          </a:bodyPr>
          <a:lstStyle/>
          <a:p>
            <a:pPr algn="ctr">
              <a:lnSpc>
                <a:spcPct val="106000"/>
              </a:lnSpc>
              <a:spcBef>
                <a:spcPts val="0"/>
              </a:spcBef>
              <a:spcAft>
                <a:spcPts val="0"/>
              </a:spcAft>
            </a:pPr>
            <a:r>
              <a:rPr sz="850" b="1">
                <a:solidFill>
                  <a:srgbClr val="B80000"/>
                </a:solidFill>
                <a:latin typeface="Red Hat Display"/>
              </a:rPr>
              <a:t>MEDIA PASS</a:t>
            </a:r>
          </a:p>
        </p:txBody>
      </p:sp>
      <p:pic>
        <p:nvPicPr>
          <p:cNvPr id="25" name="Picture 24" descr="eye_slate.png"/>
          <p:cNvPicPr>
            <a:picLocks noChangeAspect="1"/>
          </p:cNvPicPr>
          <p:nvPr/>
        </p:nvPicPr>
        <p:blipFill>
          <a:blip r:embed="rId4"/>
          <a:stretch>
            <a:fillRect/>
          </a:stretch>
        </p:blipFill>
        <p:spPr>
          <a:xfrm>
            <a:off x="8843619" y="3383280"/>
            <a:ext cx="475488" cy="475488"/>
          </a:xfrm>
          <a:prstGeom prst="rect">
            <a:avLst/>
          </a:prstGeom>
        </p:spPr>
      </p:pic>
      <p:sp>
        <p:nvSpPr>
          <p:cNvPr id="26" name="TextBox 25"/>
          <p:cNvSpPr txBox="1"/>
          <p:nvPr/>
        </p:nvSpPr>
        <p:spPr>
          <a:xfrm>
            <a:off x="7050024" y="3995928"/>
            <a:ext cx="4062679" cy="1481328"/>
          </a:xfrm>
          <a:prstGeom prst="rect">
            <a:avLst/>
          </a:prstGeom>
          <a:noFill/>
        </p:spPr>
        <p:txBody>
          <a:bodyPr wrap="square" anchor="t" lIns="0" rIns="0" tIns="0" bIns="0">
            <a:spAutoFit/>
          </a:bodyPr>
          <a:lstStyle/>
          <a:p>
            <a:pPr algn="l">
              <a:lnSpc>
                <a:spcPct val="120000"/>
              </a:lnSpc>
              <a:spcBef>
                <a:spcPts val="0"/>
              </a:spcBef>
              <a:spcAft>
                <a:spcPts val="0"/>
              </a:spcAft>
            </a:pPr>
            <a:r>
              <a:rPr sz="950" b="0">
                <a:solidFill>
                  <a:srgbClr val="8A9099"/>
                </a:solidFill>
                <a:latin typeface="Red Hat Text"/>
              </a:rPr>
              <a:t>Two namespace boxes — "app (NetworkPolicy: 7 rules)" and "partner (UDN: 0 rules, ovn-udn1 / 10.20.0.0/16)" — with a solid wall between them labelled "native, no policy."</a:t>
            </a:r>
          </a:p>
        </p:txBody>
      </p:sp>
      <p:cxnSp>
        <p:nvCxnSpPr>
          <p:cNvPr id="27" name="Connector 26"/>
          <p:cNvCxnSpPr/>
          <p:nvPr/>
        </p:nvCxnSpPr>
        <p:spPr>
          <a:xfrm>
            <a:off x="841248" y="6437376"/>
            <a:ext cx="10509199" cy="0"/>
          </a:xfrm>
          <a:prstGeom prst="bentConnector3">
            <a:avLst/>
          </a:prstGeom>
          <a:ln w="12700">
            <a:solidFill>
              <a:srgbClr val="DDE1E6"/>
            </a:solidFill>
          </a:ln>
          <a:effectLst/>
        </p:spPr>
        <p:style>
          <a:lnRef idx="2">
            <a:schemeClr val="accent1"/>
          </a:lnRef>
          <a:fillRef idx="0">
            <a:schemeClr val="accent1"/>
          </a:fillRef>
          <a:effectRef idx="1">
            <a:schemeClr val="accent1"/>
          </a:effectRef>
          <a:fontRef idx="minor">
            <a:schemeClr val="tx1"/>
          </a:fontRef>
        </p:style>
      </p:cxnSp>
      <p:sp>
        <p:nvSpPr>
          <p:cNvPr id="28" name="TextBox 27"/>
          <p:cNvSpPr txBox="1"/>
          <p:nvPr/>
        </p:nvSpPr>
        <p:spPr>
          <a:xfrm>
            <a:off x="841248" y="6473952"/>
            <a:ext cx="7315200" cy="274320"/>
          </a:xfrm>
          <a:prstGeom prst="rect">
            <a:avLst/>
          </a:prstGeom>
          <a:noFill/>
        </p:spPr>
        <p:txBody>
          <a:bodyPr wrap="square" anchor="t" lIns="0" rIns="0" tIns="0" bIns="0">
            <a:spAutoFit/>
          </a:bodyPr>
          <a:lstStyle/>
          <a:p>
            <a:pPr algn="l">
              <a:lnSpc>
                <a:spcPct val="106000"/>
              </a:lnSpc>
              <a:spcBef>
                <a:spcPts val="0"/>
              </a:spcBef>
              <a:spcAft>
                <a:spcPts val="0"/>
              </a:spcAft>
            </a:pPr>
            <a:r>
              <a:rPr sz="950" b="0">
                <a:solidFill>
                  <a:srgbClr val="8A9099"/>
                </a:solidFill>
                <a:latin typeface="Red Hat Text"/>
              </a:rPr>
              <a:t>CONFIDENTIAL</a:t>
            </a:r>
          </a:p>
        </p:txBody>
      </p:sp>
      <p:sp>
        <p:nvSpPr>
          <p:cNvPr id="29" name="TextBox 28"/>
          <p:cNvSpPr txBox="1"/>
          <p:nvPr/>
        </p:nvSpPr>
        <p:spPr>
          <a:xfrm>
            <a:off x="10801807" y="6473952"/>
            <a:ext cx="548640" cy="274320"/>
          </a:xfrm>
          <a:prstGeom prst="rect">
            <a:avLst/>
          </a:prstGeom>
          <a:noFill/>
        </p:spPr>
        <p:txBody>
          <a:bodyPr wrap="square" anchor="t" lIns="0" rIns="0" tIns="0" bIns="0">
            <a:spAutoFit/>
          </a:bodyPr>
          <a:lstStyle/>
          <a:p>
            <a:pPr algn="r">
              <a:lnSpc>
                <a:spcPct val="106000"/>
              </a:lnSpc>
              <a:spcBef>
                <a:spcPts val="0"/>
              </a:spcBef>
              <a:spcAft>
                <a:spcPts val="0"/>
              </a:spcAft>
            </a:pPr>
            <a:r>
              <a:rPr sz="950" b="0">
                <a:solidFill>
                  <a:srgbClr val="8A9099"/>
                </a:solidFill>
                <a:latin typeface="Red Hat Text"/>
              </a:rPr>
              <a:t>118</a:t>
            </a:r>
          </a:p>
        </p:txBody>
      </p:sp>
    </p:spTree>
  </p:cSld>
  <p:clrMapOvr>
    <a:masterClrMapping/>
  </p:clrMapOvr>
</p:sld>
</file>

<file path=ppt/slides/slide1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redhat_logo.jpg"/>
          <p:cNvPicPr>
            <a:picLocks noChangeAspect="1"/>
          </p:cNvPicPr>
          <p:nvPr/>
        </p:nvPicPr>
        <p:blipFill>
          <a:blip r:embed="rId2"/>
          <a:stretch>
            <a:fillRect/>
          </a:stretch>
        </p:blipFill>
        <p:spPr>
          <a:xfrm>
            <a:off x="10326319" y="475488"/>
            <a:ext cx="1024128" cy="242248"/>
          </a:xfrm>
          <a:prstGeom prst="rect">
            <a:avLst/>
          </a:prstGeom>
        </p:spPr>
      </p:pic>
      <p:sp>
        <p:nvSpPr>
          <p:cNvPr id="3" name="TextBox 2"/>
          <p:cNvSpPr txBox="1"/>
          <p:nvPr/>
        </p:nvSpPr>
        <p:spPr>
          <a:xfrm>
            <a:off x="841248" y="548640"/>
            <a:ext cx="8595360" cy="274320"/>
          </a:xfrm>
          <a:prstGeom prst="rect">
            <a:avLst/>
          </a:prstGeom>
          <a:noFill/>
        </p:spPr>
        <p:txBody>
          <a:bodyPr wrap="square" anchor="t" lIns="0" rIns="0" tIns="0" bIns="0">
            <a:spAutoFit/>
          </a:bodyPr>
          <a:lstStyle/>
          <a:p>
            <a:pPr algn="l">
              <a:lnSpc>
                <a:spcPct val="106000"/>
              </a:lnSpc>
              <a:spcBef>
                <a:spcPts val="0"/>
              </a:spcBef>
              <a:spcAft>
                <a:spcPts val="0"/>
              </a:spcAft>
            </a:pPr>
            <a:r>
              <a:rPr sz="1250" b="1" spc="220">
                <a:solidFill>
                  <a:srgbClr val="EE0000"/>
                </a:solidFill>
                <a:latin typeface="Red Hat Display"/>
              </a:rPr>
              <a:t>M16 · NETWORKING FOR DEV &amp; DEVOPS</a:t>
            </a:r>
          </a:p>
        </p:txBody>
      </p:sp>
      <p:sp>
        <p:nvSpPr>
          <p:cNvPr id="4" name="TextBox 3"/>
          <p:cNvSpPr txBox="1"/>
          <p:nvPr/>
        </p:nvSpPr>
        <p:spPr>
          <a:xfrm>
            <a:off x="841248" y="877824"/>
            <a:ext cx="10515600" cy="548640"/>
          </a:xfrm>
          <a:prstGeom prst="rect">
            <a:avLst/>
          </a:prstGeom>
          <a:noFill/>
        </p:spPr>
        <p:txBody>
          <a:bodyPr wrap="none" anchor="t" lIns="0" rIns="0" tIns="0" bIns="0">
            <a:spAutoFit/>
          </a:bodyPr>
          <a:lstStyle/>
          <a:p>
            <a:pPr algn="l">
              <a:lnSpc>
                <a:spcPct val="100000"/>
              </a:lnSpc>
              <a:spcBef>
                <a:spcPts val="0"/>
              </a:spcBef>
              <a:spcAft>
                <a:spcPts val="0"/>
              </a:spcAft>
            </a:pPr>
            <a:r>
              <a:rPr sz="2500" b="1">
                <a:solidFill>
                  <a:srgbClr val="1A1A1A"/>
                </a:solidFill>
                <a:latin typeface="Red Hat Display"/>
              </a:rPr>
              <a:t>What you'll do — and map to your org</a:t>
            </a:r>
          </a:p>
        </p:txBody>
      </p:sp>
      <p:cxnSp>
        <p:nvCxnSpPr>
          <p:cNvPr id="5" name="Connector 4"/>
          <p:cNvCxnSpPr/>
          <p:nvPr/>
        </p:nvCxnSpPr>
        <p:spPr>
          <a:xfrm>
            <a:off x="841248" y="1554480"/>
            <a:ext cx="1371600" cy="0"/>
          </a:xfrm>
          <a:prstGeom prst="bentConnector3">
            <a:avLst/>
          </a:prstGeom>
          <a:ln w="31750">
            <a:solidFill>
              <a:srgbClr val="EE0000"/>
            </a:solidFill>
          </a:ln>
          <a:effectLst/>
        </p:spPr>
        <p:style>
          <a:lnRef idx="2">
            <a:schemeClr val="accent1"/>
          </a:lnRef>
          <a:fillRef idx="0">
            <a:schemeClr val="accent1"/>
          </a:fillRef>
          <a:effectRef idx="1">
            <a:schemeClr val="accent1"/>
          </a:effectRef>
          <a:fontRef idx="minor">
            <a:schemeClr val="tx1"/>
          </a:fontRef>
        </p:style>
      </p:cxnSp>
      <p:sp>
        <p:nvSpPr>
          <p:cNvPr id="6" name="Rounded Rectangle 5"/>
          <p:cNvSpPr/>
          <p:nvPr/>
        </p:nvSpPr>
        <p:spPr>
          <a:xfrm>
            <a:off x="841248" y="2395728"/>
            <a:ext cx="5715000" cy="530352"/>
          </a:xfrm>
          <a:prstGeom prst="roundRect">
            <a:avLst>
              <a:gd name="adj" fmla="val 6000"/>
            </a:avLst>
          </a:prstGeom>
          <a:solidFill>
            <a:srgbClr val="F5F6F8"/>
          </a:solidFill>
          <a:ln w="12700">
            <a:solidFill>
              <a:srgbClr val="DDE1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check_steel.png"/>
          <p:cNvPicPr>
            <a:picLocks noChangeAspect="1"/>
          </p:cNvPicPr>
          <p:nvPr/>
        </p:nvPicPr>
        <p:blipFill>
          <a:blip r:embed="rId3"/>
          <a:stretch>
            <a:fillRect/>
          </a:stretch>
        </p:blipFill>
        <p:spPr>
          <a:xfrm>
            <a:off x="987552" y="2542032"/>
            <a:ext cx="237744" cy="237744"/>
          </a:xfrm>
          <a:prstGeom prst="rect">
            <a:avLst/>
          </a:prstGeom>
        </p:spPr>
      </p:pic>
      <p:sp>
        <p:nvSpPr>
          <p:cNvPr id="8" name="TextBox 7"/>
          <p:cNvSpPr txBox="1"/>
          <p:nvPr/>
        </p:nvSpPr>
        <p:spPr>
          <a:xfrm>
            <a:off x="1353312" y="2395728"/>
            <a:ext cx="5029200" cy="530352"/>
          </a:xfrm>
          <a:prstGeom prst="rect">
            <a:avLst/>
          </a:prstGeom>
          <a:noFill/>
        </p:spPr>
        <p:txBody>
          <a:bodyPr wrap="square" anchor="ctr" lIns="0" rIns="0" tIns="0" bIns="0">
            <a:spAutoFit/>
          </a:bodyPr>
          <a:lstStyle/>
          <a:p>
            <a:pPr algn="l">
              <a:lnSpc>
                <a:spcPct val="106000"/>
              </a:lnSpc>
              <a:spcBef>
                <a:spcPts val="0"/>
              </a:spcBef>
              <a:spcAft>
                <a:spcPts val="0"/>
              </a:spcAft>
            </a:pPr>
            <a:r>
              <a:rPr sz="1200" b="0">
                <a:solidFill>
                  <a:srgbClr val="1A1A1A"/>
                </a:solidFill>
                <a:latin typeface="Red Hat Text"/>
              </a:rPr>
              <a:t>Trace a packet; break a selector and fix it</a:t>
            </a:r>
          </a:p>
        </p:txBody>
      </p:sp>
      <p:sp>
        <p:nvSpPr>
          <p:cNvPr id="9" name="Rounded Rectangle 8"/>
          <p:cNvSpPr/>
          <p:nvPr/>
        </p:nvSpPr>
        <p:spPr>
          <a:xfrm>
            <a:off x="841248" y="2999232"/>
            <a:ext cx="5715000" cy="530352"/>
          </a:xfrm>
          <a:prstGeom prst="roundRect">
            <a:avLst>
              <a:gd name="adj" fmla="val 6000"/>
            </a:avLst>
          </a:prstGeom>
          <a:solidFill>
            <a:srgbClr val="F5F6F8"/>
          </a:solidFill>
          <a:ln w="12700">
            <a:solidFill>
              <a:srgbClr val="DDE1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0" name="Picture 9" descr="check_steel.png"/>
          <p:cNvPicPr>
            <a:picLocks noChangeAspect="1"/>
          </p:cNvPicPr>
          <p:nvPr/>
        </p:nvPicPr>
        <p:blipFill>
          <a:blip r:embed="rId3"/>
          <a:stretch>
            <a:fillRect/>
          </a:stretch>
        </p:blipFill>
        <p:spPr>
          <a:xfrm>
            <a:off x="987552" y="3145536"/>
            <a:ext cx="237744" cy="237744"/>
          </a:xfrm>
          <a:prstGeom prst="rect">
            <a:avLst/>
          </a:prstGeom>
        </p:spPr>
      </p:pic>
      <p:sp>
        <p:nvSpPr>
          <p:cNvPr id="11" name="TextBox 10"/>
          <p:cNvSpPr txBox="1"/>
          <p:nvPr/>
        </p:nvSpPr>
        <p:spPr>
          <a:xfrm>
            <a:off x="1353312" y="2999232"/>
            <a:ext cx="5029200" cy="530352"/>
          </a:xfrm>
          <a:prstGeom prst="rect">
            <a:avLst/>
          </a:prstGeom>
          <a:noFill/>
        </p:spPr>
        <p:txBody>
          <a:bodyPr wrap="square" anchor="ctr" lIns="0" rIns="0" tIns="0" bIns="0">
            <a:spAutoFit/>
          </a:bodyPr>
          <a:lstStyle/>
          <a:p>
            <a:pPr algn="l">
              <a:lnSpc>
                <a:spcPct val="106000"/>
              </a:lnSpc>
              <a:spcBef>
                <a:spcPts val="0"/>
              </a:spcBef>
              <a:spcAft>
                <a:spcPts val="0"/>
              </a:spcAft>
            </a:pPr>
            <a:r>
              <a:rPr sz="1200" b="0">
                <a:solidFill>
                  <a:srgbClr val="1A1A1A"/>
                </a:solidFill>
                <a:latin typeface="Red Hat Text"/>
              </a:rPr>
              <a:t>Expose the front end with an edge Route</a:t>
            </a:r>
          </a:p>
        </p:txBody>
      </p:sp>
      <p:sp>
        <p:nvSpPr>
          <p:cNvPr id="12" name="Rounded Rectangle 11"/>
          <p:cNvSpPr/>
          <p:nvPr/>
        </p:nvSpPr>
        <p:spPr>
          <a:xfrm>
            <a:off x="841248" y="3602736"/>
            <a:ext cx="5715000" cy="530352"/>
          </a:xfrm>
          <a:prstGeom prst="roundRect">
            <a:avLst>
              <a:gd name="adj" fmla="val 6000"/>
            </a:avLst>
          </a:prstGeom>
          <a:solidFill>
            <a:srgbClr val="F5F6F8"/>
          </a:solidFill>
          <a:ln w="12700">
            <a:solidFill>
              <a:srgbClr val="DDE1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3" name="Picture 12" descr="check_steel.png"/>
          <p:cNvPicPr>
            <a:picLocks noChangeAspect="1"/>
          </p:cNvPicPr>
          <p:nvPr/>
        </p:nvPicPr>
        <p:blipFill>
          <a:blip r:embed="rId3"/>
          <a:stretch>
            <a:fillRect/>
          </a:stretch>
        </p:blipFill>
        <p:spPr>
          <a:xfrm>
            <a:off x="987552" y="3749040"/>
            <a:ext cx="237744" cy="237744"/>
          </a:xfrm>
          <a:prstGeom prst="rect">
            <a:avLst/>
          </a:prstGeom>
        </p:spPr>
      </p:pic>
      <p:sp>
        <p:nvSpPr>
          <p:cNvPr id="14" name="TextBox 13"/>
          <p:cNvSpPr txBox="1"/>
          <p:nvPr/>
        </p:nvSpPr>
        <p:spPr>
          <a:xfrm>
            <a:off x="1353312" y="3602736"/>
            <a:ext cx="5029200" cy="530352"/>
          </a:xfrm>
          <a:prstGeom prst="rect">
            <a:avLst/>
          </a:prstGeom>
          <a:noFill/>
        </p:spPr>
        <p:txBody>
          <a:bodyPr wrap="square" anchor="ctr" lIns="0" rIns="0" tIns="0" bIns="0">
            <a:spAutoFit/>
          </a:bodyPr>
          <a:lstStyle/>
          <a:p>
            <a:pPr algn="l">
              <a:lnSpc>
                <a:spcPct val="106000"/>
              </a:lnSpc>
              <a:spcBef>
                <a:spcPts val="0"/>
              </a:spcBef>
              <a:spcAft>
                <a:spcPts val="0"/>
              </a:spcAft>
            </a:pPr>
            <a:r>
              <a:rPr sz="1200" b="0">
                <a:solidFill>
                  <a:srgbClr val="1A1A1A"/>
                </a:solidFill>
                <a:latin typeface="Red Hat Text"/>
              </a:rPr>
              <a:t>default-deny → precise allows → prove isolation</a:t>
            </a:r>
          </a:p>
        </p:txBody>
      </p:sp>
      <p:sp>
        <p:nvSpPr>
          <p:cNvPr id="15" name="Rounded Rectangle 14"/>
          <p:cNvSpPr/>
          <p:nvPr/>
        </p:nvSpPr>
        <p:spPr>
          <a:xfrm>
            <a:off x="841248" y="4206240"/>
            <a:ext cx="5715000" cy="530352"/>
          </a:xfrm>
          <a:prstGeom prst="roundRect">
            <a:avLst>
              <a:gd name="adj" fmla="val 6000"/>
            </a:avLst>
          </a:prstGeom>
          <a:solidFill>
            <a:srgbClr val="F5F6F8"/>
          </a:solidFill>
          <a:ln w="12700">
            <a:solidFill>
              <a:srgbClr val="DDE1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6" name="Picture 15" descr="check_steel.png"/>
          <p:cNvPicPr>
            <a:picLocks noChangeAspect="1"/>
          </p:cNvPicPr>
          <p:nvPr/>
        </p:nvPicPr>
        <p:blipFill>
          <a:blip r:embed="rId3"/>
          <a:stretch>
            <a:fillRect/>
          </a:stretch>
        </p:blipFill>
        <p:spPr>
          <a:xfrm>
            <a:off x="987552" y="4352544"/>
            <a:ext cx="237744" cy="237744"/>
          </a:xfrm>
          <a:prstGeom prst="rect">
            <a:avLst/>
          </a:prstGeom>
        </p:spPr>
      </p:pic>
      <p:sp>
        <p:nvSpPr>
          <p:cNvPr id="17" name="TextBox 16"/>
          <p:cNvSpPr txBox="1"/>
          <p:nvPr/>
        </p:nvSpPr>
        <p:spPr>
          <a:xfrm>
            <a:off x="1353312" y="4206240"/>
            <a:ext cx="5029200" cy="530352"/>
          </a:xfrm>
          <a:prstGeom prst="rect">
            <a:avLst/>
          </a:prstGeom>
          <a:noFill/>
        </p:spPr>
        <p:txBody>
          <a:bodyPr wrap="square" anchor="ctr" lIns="0" rIns="0" tIns="0" bIns="0">
            <a:spAutoFit/>
          </a:bodyPr>
          <a:lstStyle/>
          <a:p>
            <a:pPr algn="l">
              <a:lnSpc>
                <a:spcPct val="106000"/>
              </a:lnSpc>
              <a:spcBef>
                <a:spcPts val="0"/>
              </a:spcBef>
              <a:spcAft>
                <a:spcPts val="0"/>
              </a:spcAft>
            </a:pPr>
            <a:r>
              <a:rPr sz="1200" b="0">
                <a:solidFill>
                  <a:srgbClr val="1A1A1A"/>
                </a:solidFill>
                <a:latin typeface="Red Hat Text"/>
              </a:rPr>
              <a:t>Meet a namespace isolated natively by a UDN</a:t>
            </a:r>
          </a:p>
        </p:txBody>
      </p:sp>
      <p:sp>
        <p:nvSpPr>
          <p:cNvPr id="18" name="Rounded Rectangle 17"/>
          <p:cNvSpPr/>
          <p:nvPr/>
        </p:nvSpPr>
        <p:spPr>
          <a:xfrm>
            <a:off x="841248" y="4809744"/>
            <a:ext cx="5715000" cy="530352"/>
          </a:xfrm>
          <a:prstGeom prst="roundRect">
            <a:avLst>
              <a:gd name="adj" fmla="val 6000"/>
            </a:avLst>
          </a:prstGeom>
          <a:solidFill>
            <a:srgbClr val="F5F6F8"/>
          </a:solidFill>
          <a:ln w="12700">
            <a:solidFill>
              <a:srgbClr val="DDE1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9" name="Picture 18" descr="check_steel.png"/>
          <p:cNvPicPr>
            <a:picLocks noChangeAspect="1"/>
          </p:cNvPicPr>
          <p:nvPr/>
        </p:nvPicPr>
        <p:blipFill>
          <a:blip r:embed="rId3"/>
          <a:stretch>
            <a:fillRect/>
          </a:stretch>
        </p:blipFill>
        <p:spPr>
          <a:xfrm>
            <a:off x="987552" y="4956048"/>
            <a:ext cx="237744" cy="237744"/>
          </a:xfrm>
          <a:prstGeom prst="rect">
            <a:avLst/>
          </a:prstGeom>
        </p:spPr>
      </p:pic>
      <p:sp>
        <p:nvSpPr>
          <p:cNvPr id="20" name="TextBox 19"/>
          <p:cNvSpPr txBox="1"/>
          <p:nvPr/>
        </p:nvSpPr>
        <p:spPr>
          <a:xfrm>
            <a:off x="1353312" y="4809744"/>
            <a:ext cx="5029200" cy="530352"/>
          </a:xfrm>
          <a:prstGeom prst="rect">
            <a:avLst/>
          </a:prstGeom>
          <a:noFill/>
        </p:spPr>
        <p:txBody>
          <a:bodyPr wrap="square" anchor="ctr" lIns="0" rIns="0" tIns="0" bIns="0">
            <a:spAutoFit/>
          </a:bodyPr>
          <a:lstStyle/>
          <a:p>
            <a:pPr algn="l">
              <a:lnSpc>
                <a:spcPct val="106000"/>
              </a:lnSpc>
              <a:spcBef>
                <a:spcPts val="0"/>
              </a:spcBef>
              <a:spcAft>
                <a:spcPts val="0"/>
              </a:spcAft>
            </a:pPr>
            <a:r>
              <a:rPr sz="1200" b="0">
                <a:solidFill>
                  <a:srgbClr val="1A1A1A"/>
                </a:solidFill>
                <a:latin typeface="Red Hat Text"/>
              </a:rPr>
              <a:t>If a debug pod landed in prod, what could it reach?</a:t>
            </a:r>
          </a:p>
        </p:txBody>
      </p:sp>
      <p:sp>
        <p:nvSpPr>
          <p:cNvPr id="21" name="Rounded Rectangle 20"/>
          <p:cNvSpPr/>
          <p:nvPr/>
        </p:nvSpPr>
        <p:spPr>
          <a:xfrm>
            <a:off x="6812280" y="2395728"/>
            <a:ext cx="4538167" cy="2944368"/>
          </a:xfrm>
          <a:prstGeom prst="roundRect">
            <a:avLst>
              <a:gd name="adj" fmla="val 4000"/>
            </a:avLst>
          </a:prstGeom>
          <a:solidFill>
            <a:srgbClr val="FFFFFF"/>
          </a:solidFill>
          <a:ln w="15240">
            <a:solidFill>
              <a:srgbClr val="DDE1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ounded Rectangle 21"/>
          <p:cNvSpPr/>
          <p:nvPr/>
        </p:nvSpPr>
        <p:spPr>
          <a:xfrm>
            <a:off x="7013448" y="2596896"/>
            <a:ext cx="1298448" cy="310896"/>
          </a:xfrm>
          <a:prstGeom prst="roundRect">
            <a:avLst>
              <a:gd name="adj" fmla="val 50000"/>
            </a:avLst>
          </a:prstGeom>
          <a:solidFill>
            <a:srgbClr val="FCEC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7013448" y="2596896"/>
            <a:ext cx="1298448" cy="310896"/>
          </a:xfrm>
          <a:prstGeom prst="rect">
            <a:avLst/>
          </a:prstGeom>
          <a:noFill/>
        </p:spPr>
        <p:txBody>
          <a:bodyPr wrap="none" anchor="ctr" lIns="0" rIns="0" tIns="0" bIns="0">
            <a:spAutoFit/>
          </a:bodyPr>
          <a:lstStyle/>
          <a:p>
            <a:pPr algn="ctr">
              <a:lnSpc>
                <a:spcPct val="106000"/>
              </a:lnSpc>
              <a:spcBef>
                <a:spcPts val="0"/>
              </a:spcBef>
              <a:spcAft>
                <a:spcPts val="0"/>
              </a:spcAft>
            </a:pPr>
            <a:r>
              <a:rPr sz="850" b="1">
                <a:solidFill>
                  <a:srgbClr val="B80000"/>
                </a:solidFill>
                <a:latin typeface="Red Hat Display"/>
              </a:rPr>
              <a:t>MEDIA PASS</a:t>
            </a:r>
          </a:p>
        </p:txBody>
      </p:sp>
      <p:pic>
        <p:nvPicPr>
          <p:cNvPr id="24" name="Picture 23" descr="eye_slate.png"/>
          <p:cNvPicPr>
            <a:picLocks noChangeAspect="1"/>
          </p:cNvPicPr>
          <p:nvPr/>
        </p:nvPicPr>
        <p:blipFill>
          <a:blip r:embed="rId4"/>
          <a:stretch>
            <a:fillRect/>
          </a:stretch>
        </p:blipFill>
        <p:spPr>
          <a:xfrm>
            <a:off x="8843619" y="3108960"/>
            <a:ext cx="475488" cy="475488"/>
          </a:xfrm>
          <a:prstGeom prst="rect">
            <a:avLst/>
          </a:prstGeom>
        </p:spPr>
      </p:pic>
      <p:sp>
        <p:nvSpPr>
          <p:cNvPr id="25" name="TextBox 24"/>
          <p:cNvSpPr txBox="1"/>
          <p:nvPr/>
        </p:nvSpPr>
        <p:spPr>
          <a:xfrm>
            <a:off x="7050024" y="3721608"/>
            <a:ext cx="4062679" cy="1481328"/>
          </a:xfrm>
          <a:prstGeom prst="rect">
            <a:avLst/>
          </a:prstGeom>
          <a:noFill/>
        </p:spPr>
        <p:txBody>
          <a:bodyPr wrap="square" anchor="t" lIns="0" rIns="0" tIns="0" bIns="0">
            <a:spAutoFit/>
          </a:bodyPr>
          <a:lstStyle/>
          <a:p>
            <a:pPr algn="l">
              <a:lnSpc>
                <a:spcPct val="120000"/>
              </a:lnSpc>
              <a:spcBef>
                <a:spcPts val="0"/>
              </a:spcBef>
              <a:spcAft>
                <a:spcPts val="0"/>
              </a:spcAft>
            </a:pPr>
            <a:r>
              <a:rPr sz="950" b="0">
                <a:solidFill>
                  <a:srgbClr val="8A9099"/>
                </a:solidFill>
                <a:latin typeface="Red Hat Text"/>
              </a:rPr>
              <a:t>Numbered arc strip: trace/break-fix → Route → default-deny/allow/prove → UDN reveal; footnote pointer to the Service Mesh module for the mTLS/L7/L4 layer.</a:t>
            </a:r>
          </a:p>
        </p:txBody>
      </p:sp>
      <p:cxnSp>
        <p:nvCxnSpPr>
          <p:cNvPr id="26" name="Connector 25"/>
          <p:cNvCxnSpPr/>
          <p:nvPr/>
        </p:nvCxnSpPr>
        <p:spPr>
          <a:xfrm>
            <a:off x="841248" y="6437376"/>
            <a:ext cx="10509199" cy="0"/>
          </a:xfrm>
          <a:prstGeom prst="bentConnector3">
            <a:avLst/>
          </a:prstGeom>
          <a:ln w="12700">
            <a:solidFill>
              <a:srgbClr val="DDE1E6"/>
            </a:solidFill>
          </a:ln>
          <a:effectLst/>
        </p:spPr>
        <p:style>
          <a:lnRef idx="2">
            <a:schemeClr val="accent1"/>
          </a:lnRef>
          <a:fillRef idx="0">
            <a:schemeClr val="accent1"/>
          </a:fillRef>
          <a:effectRef idx="1">
            <a:schemeClr val="accent1"/>
          </a:effectRef>
          <a:fontRef idx="minor">
            <a:schemeClr val="tx1"/>
          </a:fontRef>
        </p:style>
      </p:cxnSp>
      <p:sp>
        <p:nvSpPr>
          <p:cNvPr id="27" name="TextBox 26"/>
          <p:cNvSpPr txBox="1"/>
          <p:nvPr/>
        </p:nvSpPr>
        <p:spPr>
          <a:xfrm>
            <a:off x="841248" y="6473952"/>
            <a:ext cx="7315200" cy="274320"/>
          </a:xfrm>
          <a:prstGeom prst="rect">
            <a:avLst/>
          </a:prstGeom>
          <a:noFill/>
        </p:spPr>
        <p:txBody>
          <a:bodyPr wrap="square" anchor="t" lIns="0" rIns="0" tIns="0" bIns="0">
            <a:spAutoFit/>
          </a:bodyPr>
          <a:lstStyle/>
          <a:p>
            <a:pPr algn="l">
              <a:lnSpc>
                <a:spcPct val="106000"/>
              </a:lnSpc>
              <a:spcBef>
                <a:spcPts val="0"/>
              </a:spcBef>
              <a:spcAft>
                <a:spcPts val="0"/>
              </a:spcAft>
            </a:pPr>
            <a:r>
              <a:rPr sz="950" b="0">
                <a:solidFill>
                  <a:srgbClr val="8A9099"/>
                </a:solidFill>
                <a:latin typeface="Red Hat Text"/>
              </a:rPr>
              <a:t>CONFIDENTIAL</a:t>
            </a:r>
          </a:p>
        </p:txBody>
      </p:sp>
      <p:sp>
        <p:nvSpPr>
          <p:cNvPr id="28" name="TextBox 27"/>
          <p:cNvSpPr txBox="1"/>
          <p:nvPr/>
        </p:nvSpPr>
        <p:spPr>
          <a:xfrm>
            <a:off x="10801807" y="6473952"/>
            <a:ext cx="548640" cy="274320"/>
          </a:xfrm>
          <a:prstGeom prst="rect">
            <a:avLst/>
          </a:prstGeom>
          <a:noFill/>
        </p:spPr>
        <p:txBody>
          <a:bodyPr wrap="square" anchor="t" lIns="0" rIns="0" tIns="0" bIns="0">
            <a:spAutoFit/>
          </a:bodyPr>
          <a:lstStyle/>
          <a:p>
            <a:pPr algn="r">
              <a:lnSpc>
                <a:spcPct val="106000"/>
              </a:lnSpc>
              <a:spcBef>
                <a:spcPts val="0"/>
              </a:spcBef>
              <a:spcAft>
                <a:spcPts val="0"/>
              </a:spcAft>
            </a:pPr>
            <a:r>
              <a:rPr sz="950" b="0">
                <a:solidFill>
                  <a:srgbClr val="8A9099"/>
                </a:solidFill>
                <a:latin typeface="Red Hat Text"/>
              </a:rPr>
              <a:t>119</a:t>
            </a:r>
          </a:p>
        </p:txBody>
      </p:sp>
    </p:spTree>
  </p:cSld>
  <p:clrMapOvr>
    <a:masterClrMapping/>
  </p:clrMapOvr>
</p:sld>
</file>

<file path=ppt/slides/slide1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redhat_logo.jpg"/>
          <p:cNvPicPr>
            <a:picLocks noChangeAspect="1"/>
          </p:cNvPicPr>
          <p:nvPr/>
        </p:nvPicPr>
        <p:blipFill>
          <a:blip r:embed="rId2"/>
          <a:stretch>
            <a:fillRect/>
          </a:stretch>
        </p:blipFill>
        <p:spPr>
          <a:xfrm>
            <a:off x="841248" y="731520"/>
            <a:ext cx="1554480" cy="367699"/>
          </a:xfrm>
          <a:prstGeom prst="rect">
            <a:avLst/>
          </a:prstGeom>
        </p:spPr>
      </p:pic>
      <p:sp>
        <p:nvSpPr>
          <p:cNvPr id="3" name="TextBox 2"/>
          <p:cNvSpPr txBox="1"/>
          <p:nvPr/>
        </p:nvSpPr>
        <p:spPr>
          <a:xfrm>
            <a:off x="841248" y="2514600"/>
            <a:ext cx="9601200" cy="274320"/>
          </a:xfrm>
          <a:prstGeom prst="rect">
            <a:avLst/>
          </a:prstGeom>
          <a:noFill/>
        </p:spPr>
        <p:txBody>
          <a:bodyPr wrap="square" anchor="t" lIns="0" rIns="0" tIns="0" bIns="0">
            <a:spAutoFit/>
          </a:bodyPr>
          <a:lstStyle/>
          <a:p>
            <a:pPr algn="l">
              <a:lnSpc>
                <a:spcPct val="106000"/>
              </a:lnSpc>
              <a:spcBef>
                <a:spcPts val="0"/>
              </a:spcBef>
              <a:spcAft>
                <a:spcPts val="0"/>
              </a:spcAft>
            </a:pPr>
            <a:r>
              <a:rPr sz="1250" b="1" spc="180">
                <a:solidFill>
                  <a:srgbClr val="2E7D32"/>
                </a:solidFill>
                <a:latin typeface="Red Hat Display"/>
              </a:rPr>
              <a:t>C · PLATFORM &amp; TENANCY</a:t>
            </a:r>
          </a:p>
        </p:txBody>
      </p:sp>
      <p:sp>
        <p:nvSpPr>
          <p:cNvPr id="4" name="TextBox 3"/>
          <p:cNvSpPr txBox="1"/>
          <p:nvPr/>
        </p:nvSpPr>
        <p:spPr>
          <a:xfrm>
            <a:off x="841248" y="2880360"/>
            <a:ext cx="2103120" cy="1188720"/>
          </a:xfrm>
          <a:prstGeom prst="rect">
            <a:avLst/>
          </a:prstGeom>
          <a:noFill/>
        </p:spPr>
        <p:txBody>
          <a:bodyPr wrap="none" anchor="t" lIns="0" rIns="0" tIns="0" bIns="0">
            <a:spAutoFit/>
          </a:bodyPr>
          <a:lstStyle/>
          <a:p>
            <a:pPr algn="l">
              <a:lnSpc>
                <a:spcPct val="90000"/>
              </a:lnSpc>
              <a:spcBef>
                <a:spcPts val="0"/>
              </a:spcBef>
              <a:spcAft>
                <a:spcPts val="0"/>
              </a:spcAft>
            </a:pPr>
            <a:r>
              <a:rPr sz="5200" b="1">
                <a:solidFill>
                  <a:srgbClr val="B80000"/>
                </a:solidFill>
                <a:latin typeface="Red Hat Display"/>
              </a:rPr>
              <a:t>M17</a:t>
            </a:r>
          </a:p>
        </p:txBody>
      </p:sp>
      <p:sp>
        <p:nvSpPr>
          <p:cNvPr id="5" name="TextBox 4"/>
          <p:cNvSpPr txBox="1"/>
          <p:nvPr/>
        </p:nvSpPr>
        <p:spPr>
          <a:xfrm>
            <a:off x="3127248" y="2971800"/>
            <a:ext cx="8412480" cy="1188720"/>
          </a:xfrm>
          <a:prstGeom prst="rect">
            <a:avLst/>
          </a:prstGeom>
          <a:noFill/>
        </p:spPr>
        <p:txBody>
          <a:bodyPr wrap="square" anchor="t" lIns="0" rIns="0" tIns="0" bIns="0">
            <a:spAutoFit/>
          </a:bodyPr>
          <a:lstStyle/>
          <a:p>
            <a:pPr algn="l">
              <a:lnSpc>
                <a:spcPct val="102000"/>
              </a:lnSpc>
              <a:spcBef>
                <a:spcPts val="0"/>
              </a:spcBef>
              <a:spcAft>
                <a:spcPts val="0"/>
              </a:spcAft>
            </a:pPr>
            <a:r>
              <a:rPr sz="3000" b="1">
                <a:solidFill>
                  <a:srgbClr val="1A1A1A"/>
                </a:solidFill>
                <a:latin typeface="Red Hat Display"/>
              </a:rPr>
              <a:t>Deployment Targets &amp; Scheduling</a:t>
            </a:r>
          </a:p>
        </p:txBody>
      </p:sp>
      <p:cxnSp>
        <p:nvCxnSpPr>
          <p:cNvPr id="6" name="Connector 5"/>
          <p:cNvCxnSpPr/>
          <p:nvPr/>
        </p:nvCxnSpPr>
        <p:spPr>
          <a:xfrm>
            <a:off x="841248" y="4443984"/>
            <a:ext cx="1463040" cy="0"/>
          </a:xfrm>
          <a:prstGeom prst="bentConnector3">
            <a:avLst/>
          </a:prstGeom>
          <a:ln w="38100">
            <a:solidFill>
              <a:srgbClr val="EE0000"/>
            </a:solidFill>
          </a:ln>
          <a:effectLst/>
        </p:spPr>
        <p:style>
          <a:lnRef idx="2">
            <a:schemeClr val="accent1"/>
          </a:lnRef>
          <a:fillRef idx="0">
            <a:schemeClr val="accent1"/>
          </a:fillRef>
          <a:effectRef idx="1">
            <a:schemeClr val="accent1"/>
          </a:effectRef>
          <a:fontRef idx="minor">
            <a:schemeClr val="tx1"/>
          </a:fontRef>
        </p:style>
      </p:cxnSp>
    </p:spTree>
  </p:cSld>
  <p:clrMapOvr>
    <a:masterClrMapping/>
  </p:clrMapOvr>
</p:sld>
</file>

<file path=ppt/slides/slide1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redhat_logo.jpg"/>
          <p:cNvPicPr>
            <a:picLocks noChangeAspect="1"/>
          </p:cNvPicPr>
          <p:nvPr/>
        </p:nvPicPr>
        <p:blipFill>
          <a:blip r:embed="rId2"/>
          <a:stretch>
            <a:fillRect/>
          </a:stretch>
        </p:blipFill>
        <p:spPr>
          <a:xfrm>
            <a:off x="10326319" y="475488"/>
            <a:ext cx="1024128" cy="242248"/>
          </a:xfrm>
          <a:prstGeom prst="rect">
            <a:avLst/>
          </a:prstGeom>
        </p:spPr>
      </p:pic>
      <p:sp>
        <p:nvSpPr>
          <p:cNvPr id="3" name="TextBox 2"/>
          <p:cNvSpPr txBox="1"/>
          <p:nvPr/>
        </p:nvSpPr>
        <p:spPr>
          <a:xfrm>
            <a:off x="841248" y="548640"/>
            <a:ext cx="8595360" cy="274320"/>
          </a:xfrm>
          <a:prstGeom prst="rect">
            <a:avLst/>
          </a:prstGeom>
          <a:noFill/>
        </p:spPr>
        <p:txBody>
          <a:bodyPr wrap="square" anchor="t" lIns="0" rIns="0" tIns="0" bIns="0">
            <a:spAutoFit/>
          </a:bodyPr>
          <a:lstStyle/>
          <a:p>
            <a:pPr algn="l">
              <a:lnSpc>
                <a:spcPct val="106000"/>
              </a:lnSpc>
              <a:spcBef>
                <a:spcPts val="0"/>
              </a:spcBef>
              <a:spcAft>
                <a:spcPts val="0"/>
              </a:spcAft>
            </a:pPr>
            <a:r>
              <a:rPr sz="1250" b="1" spc="220">
                <a:solidFill>
                  <a:srgbClr val="EE0000"/>
                </a:solidFill>
                <a:latin typeface="Red Hat Display"/>
              </a:rPr>
              <a:t>M17 · DEPLOYMENT TARGETS &amp; SCHEDULING</a:t>
            </a:r>
          </a:p>
        </p:txBody>
      </p:sp>
      <p:sp>
        <p:nvSpPr>
          <p:cNvPr id="4" name="TextBox 3"/>
          <p:cNvSpPr txBox="1"/>
          <p:nvPr/>
        </p:nvSpPr>
        <p:spPr>
          <a:xfrm>
            <a:off x="841248" y="877824"/>
            <a:ext cx="10515600" cy="548640"/>
          </a:xfrm>
          <a:prstGeom prst="rect">
            <a:avLst/>
          </a:prstGeom>
          <a:noFill/>
        </p:spPr>
        <p:txBody>
          <a:bodyPr wrap="none" anchor="t" lIns="0" rIns="0" tIns="0" bIns="0">
            <a:spAutoFit/>
          </a:bodyPr>
          <a:lstStyle/>
          <a:p>
            <a:pPr algn="l">
              <a:lnSpc>
                <a:spcPct val="100000"/>
              </a:lnSpc>
              <a:spcBef>
                <a:spcPts val="0"/>
              </a:spcBef>
              <a:spcAft>
                <a:spcPts val="0"/>
              </a:spcAft>
            </a:pPr>
            <a:r>
              <a:rPr sz="2500" b="1">
                <a:solidFill>
                  <a:srgbClr val="1A1A1A"/>
                </a:solidFill>
                <a:latin typeface="Red Hat Display"/>
              </a:rPr>
              <a:t>From scheduled-wherever to placed-on-purpose</a:t>
            </a:r>
          </a:p>
        </p:txBody>
      </p:sp>
      <p:cxnSp>
        <p:nvCxnSpPr>
          <p:cNvPr id="5" name="Connector 4"/>
          <p:cNvCxnSpPr/>
          <p:nvPr/>
        </p:nvCxnSpPr>
        <p:spPr>
          <a:xfrm>
            <a:off x="841248" y="1554480"/>
            <a:ext cx="1371600" cy="0"/>
          </a:xfrm>
          <a:prstGeom prst="bentConnector3">
            <a:avLst/>
          </a:prstGeom>
          <a:ln w="31750">
            <a:solidFill>
              <a:srgbClr val="EE0000"/>
            </a:solidFill>
          </a:ln>
          <a:effectLst/>
        </p:spPr>
        <p:style>
          <a:lnRef idx="2">
            <a:schemeClr val="accent1"/>
          </a:lnRef>
          <a:fillRef idx="0">
            <a:schemeClr val="accent1"/>
          </a:fillRef>
          <a:effectRef idx="1">
            <a:schemeClr val="accent1"/>
          </a:effectRef>
          <a:fontRef idx="minor">
            <a:schemeClr val="tx1"/>
          </a:fontRef>
        </p:style>
      </p:cxnSp>
      <p:sp>
        <p:nvSpPr>
          <p:cNvPr id="6" name="Rounded Rectangle 5"/>
          <p:cNvSpPr/>
          <p:nvPr/>
        </p:nvSpPr>
        <p:spPr>
          <a:xfrm>
            <a:off x="841248" y="2395728"/>
            <a:ext cx="5715000" cy="530352"/>
          </a:xfrm>
          <a:prstGeom prst="roundRect">
            <a:avLst>
              <a:gd name="adj" fmla="val 6000"/>
            </a:avLst>
          </a:prstGeom>
          <a:solidFill>
            <a:srgbClr val="F5F6F8"/>
          </a:solidFill>
          <a:ln w="12700">
            <a:solidFill>
              <a:srgbClr val="DDE1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check_steel.png"/>
          <p:cNvPicPr>
            <a:picLocks noChangeAspect="1"/>
          </p:cNvPicPr>
          <p:nvPr/>
        </p:nvPicPr>
        <p:blipFill>
          <a:blip r:embed="rId3"/>
          <a:stretch>
            <a:fillRect/>
          </a:stretch>
        </p:blipFill>
        <p:spPr>
          <a:xfrm>
            <a:off x="987552" y="2542032"/>
            <a:ext cx="237744" cy="237744"/>
          </a:xfrm>
          <a:prstGeom prst="rect">
            <a:avLst/>
          </a:prstGeom>
        </p:spPr>
      </p:pic>
      <p:sp>
        <p:nvSpPr>
          <p:cNvPr id="8" name="TextBox 7"/>
          <p:cNvSpPr txBox="1"/>
          <p:nvPr/>
        </p:nvSpPr>
        <p:spPr>
          <a:xfrm>
            <a:off x="1353312" y="2395728"/>
            <a:ext cx="5029200" cy="530352"/>
          </a:xfrm>
          <a:prstGeom prst="rect">
            <a:avLst/>
          </a:prstGeom>
          <a:noFill/>
        </p:spPr>
        <p:txBody>
          <a:bodyPr wrap="square" anchor="ctr" lIns="0" rIns="0" tIns="0" bIns="0">
            <a:spAutoFit/>
          </a:bodyPr>
          <a:lstStyle/>
          <a:p>
            <a:pPr algn="l">
              <a:lnSpc>
                <a:spcPct val="106000"/>
              </a:lnSpc>
              <a:spcBef>
                <a:spcPts val="0"/>
              </a:spcBef>
              <a:spcAft>
                <a:spcPts val="0"/>
              </a:spcAft>
            </a:pPr>
            <a:r>
              <a:rPr sz="1200" b="0">
                <a:solidFill>
                  <a:srgbClr val="1A1A1A"/>
                </a:solidFill>
                <a:latin typeface="Red Hat Text"/>
              </a:rPr>
              <a:t>Parasol's claims API lands wherever it fits</a:t>
            </a:r>
          </a:p>
        </p:txBody>
      </p:sp>
      <p:sp>
        <p:nvSpPr>
          <p:cNvPr id="9" name="Rounded Rectangle 8"/>
          <p:cNvSpPr/>
          <p:nvPr/>
        </p:nvSpPr>
        <p:spPr>
          <a:xfrm>
            <a:off x="841248" y="2999232"/>
            <a:ext cx="5715000" cy="530352"/>
          </a:xfrm>
          <a:prstGeom prst="roundRect">
            <a:avLst>
              <a:gd name="adj" fmla="val 6000"/>
            </a:avLst>
          </a:prstGeom>
          <a:solidFill>
            <a:srgbClr val="F5F6F8"/>
          </a:solidFill>
          <a:ln w="12700">
            <a:solidFill>
              <a:srgbClr val="DDE1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0" name="Picture 9" descr="check_steel.png"/>
          <p:cNvPicPr>
            <a:picLocks noChangeAspect="1"/>
          </p:cNvPicPr>
          <p:nvPr/>
        </p:nvPicPr>
        <p:blipFill>
          <a:blip r:embed="rId3"/>
          <a:stretch>
            <a:fillRect/>
          </a:stretch>
        </p:blipFill>
        <p:spPr>
          <a:xfrm>
            <a:off x="987552" y="3145536"/>
            <a:ext cx="237744" cy="237744"/>
          </a:xfrm>
          <a:prstGeom prst="rect">
            <a:avLst/>
          </a:prstGeom>
        </p:spPr>
      </p:pic>
      <p:sp>
        <p:nvSpPr>
          <p:cNvPr id="11" name="TextBox 10"/>
          <p:cNvSpPr txBox="1"/>
          <p:nvPr/>
        </p:nvSpPr>
        <p:spPr>
          <a:xfrm>
            <a:off x="1353312" y="2999232"/>
            <a:ext cx="5029200" cy="530352"/>
          </a:xfrm>
          <a:prstGeom prst="rect">
            <a:avLst/>
          </a:prstGeom>
          <a:noFill/>
        </p:spPr>
        <p:txBody>
          <a:bodyPr wrap="square" anchor="ctr" lIns="0" rIns="0" tIns="0" bIns="0">
            <a:spAutoFit/>
          </a:bodyPr>
          <a:lstStyle/>
          <a:p>
            <a:pPr algn="l">
              <a:lnSpc>
                <a:spcPct val="106000"/>
              </a:lnSpc>
              <a:spcBef>
                <a:spcPts val="0"/>
              </a:spcBef>
              <a:spcAft>
                <a:spcPts val="0"/>
              </a:spcAft>
            </a:pPr>
            <a:r>
              <a:rPr sz="1200" b="0">
                <a:solidFill>
                  <a:srgbClr val="1A1A1A"/>
                </a:solidFill>
                <a:latin typeface="Red Hat Text"/>
              </a:rPr>
              <a:t>A batch job fights the API for the same CPUs</a:t>
            </a:r>
          </a:p>
        </p:txBody>
      </p:sp>
      <p:sp>
        <p:nvSpPr>
          <p:cNvPr id="12" name="Rounded Rectangle 11"/>
          <p:cNvSpPr/>
          <p:nvPr/>
        </p:nvSpPr>
        <p:spPr>
          <a:xfrm>
            <a:off x="841248" y="3602736"/>
            <a:ext cx="5715000" cy="530352"/>
          </a:xfrm>
          <a:prstGeom prst="roundRect">
            <a:avLst>
              <a:gd name="adj" fmla="val 6000"/>
            </a:avLst>
          </a:prstGeom>
          <a:solidFill>
            <a:srgbClr val="F5F6F8"/>
          </a:solidFill>
          <a:ln w="12700">
            <a:solidFill>
              <a:srgbClr val="DDE1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3" name="Picture 12" descr="check_steel.png"/>
          <p:cNvPicPr>
            <a:picLocks noChangeAspect="1"/>
          </p:cNvPicPr>
          <p:nvPr/>
        </p:nvPicPr>
        <p:blipFill>
          <a:blip r:embed="rId3"/>
          <a:stretch>
            <a:fillRect/>
          </a:stretch>
        </p:blipFill>
        <p:spPr>
          <a:xfrm>
            <a:off x="987552" y="3749040"/>
            <a:ext cx="237744" cy="237744"/>
          </a:xfrm>
          <a:prstGeom prst="rect">
            <a:avLst/>
          </a:prstGeom>
        </p:spPr>
      </p:pic>
      <p:sp>
        <p:nvSpPr>
          <p:cNvPr id="14" name="TextBox 13"/>
          <p:cNvSpPr txBox="1"/>
          <p:nvPr/>
        </p:nvSpPr>
        <p:spPr>
          <a:xfrm>
            <a:off x="1353312" y="3602736"/>
            <a:ext cx="5029200" cy="530352"/>
          </a:xfrm>
          <a:prstGeom prst="rect">
            <a:avLst/>
          </a:prstGeom>
          <a:noFill/>
        </p:spPr>
        <p:txBody>
          <a:bodyPr wrap="square" anchor="ctr" lIns="0" rIns="0" tIns="0" bIns="0">
            <a:spAutoFit/>
          </a:bodyPr>
          <a:lstStyle/>
          <a:p>
            <a:pPr algn="l">
              <a:lnSpc>
                <a:spcPct val="106000"/>
              </a:lnSpc>
              <a:spcBef>
                <a:spcPts val="0"/>
              </a:spcBef>
              <a:spcAft>
                <a:spcPts val="0"/>
              </a:spcAft>
            </a:pPr>
            <a:r>
              <a:rPr sz="1200" b="0">
                <a:solidFill>
                  <a:srgbClr val="1A1A1A"/>
                </a:solidFill>
                <a:latin typeface="Red Hat Text"/>
              </a:rPr>
              <a:t>A routine rollout drops customer requests</a:t>
            </a:r>
          </a:p>
        </p:txBody>
      </p:sp>
      <p:sp>
        <p:nvSpPr>
          <p:cNvPr id="15" name="Rounded Rectangle 14"/>
          <p:cNvSpPr/>
          <p:nvPr/>
        </p:nvSpPr>
        <p:spPr>
          <a:xfrm>
            <a:off x="841248" y="4206240"/>
            <a:ext cx="5715000" cy="530352"/>
          </a:xfrm>
          <a:prstGeom prst="roundRect">
            <a:avLst>
              <a:gd name="adj" fmla="val 6000"/>
            </a:avLst>
          </a:prstGeom>
          <a:solidFill>
            <a:srgbClr val="F5F6F8"/>
          </a:solidFill>
          <a:ln w="12700">
            <a:solidFill>
              <a:srgbClr val="DDE1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6" name="Picture 15" descr="check_steel.png"/>
          <p:cNvPicPr>
            <a:picLocks noChangeAspect="1"/>
          </p:cNvPicPr>
          <p:nvPr/>
        </p:nvPicPr>
        <p:blipFill>
          <a:blip r:embed="rId3"/>
          <a:stretch>
            <a:fillRect/>
          </a:stretch>
        </p:blipFill>
        <p:spPr>
          <a:xfrm>
            <a:off x="987552" y="4352544"/>
            <a:ext cx="237744" cy="237744"/>
          </a:xfrm>
          <a:prstGeom prst="rect">
            <a:avLst/>
          </a:prstGeom>
        </p:spPr>
      </p:pic>
      <p:sp>
        <p:nvSpPr>
          <p:cNvPr id="17" name="TextBox 16"/>
          <p:cNvSpPr txBox="1"/>
          <p:nvPr/>
        </p:nvSpPr>
        <p:spPr>
          <a:xfrm>
            <a:off x="1353312" y="4206240"/>
            <a:ext cx="5029200" cy="530352"/>
          </a:xfrm>
          <a:prstGeom prst="rect">
            <a:avLst/>
          </a:prstGeom>
          <a:noFill/>
        </p:spPr>
        <p:txBody>
          <a:bodyPr wrap="square" anchor="ctr" lIns="0" rIns="0" tIns="0" bIns="0">
            <a:spAutoFit/>
          </a:bodyPr>
          <a:lstStyle/>
          <a:p>
            <a:pPr algn="l">
              <a:lnSpc>
                <a:spcPct val="106000"/>
              </a:lnSpc>
              <a:spcBef>
                <a:spcPts val="0"/>
              </a:spcBef>
              <a:spcAft>
                <a:spcPts val="0"/>
              </a:spcAft>
            </a:pPr>
            <a:r>
              <a:rPr sz="1200" b="0">
                <a:solidFill>
                  <a:srgbClr val="1A1A1A"/>
                </a:solidFill>
                <a:latin typeface="Red Hat Text"/>
              </a:rPr>
              <a:t>None of it is a bigger cluster — it's control</a:t>
            </a:r>
          </a:p>
        </p:txBody>
      </p:sp>
      <p:sp>
        <p:nvSpPr>
          <p:cNvPr id="18" name="Rounded Rectangle 17"/>
          <p:cNvSpPr/>
          <p:nvPr/>
        </p:nvSpPr>
        <p:spPr>
          <a:xfrm>
            <a:off x="841248" y="4809744"/>
            <a:ext cx="5715000" cy="530352"/>
          </a:xfrm>
          <a:prstGeom prst="roundRect">
            <a:avLst>
              <a:gd name="adj" fmla="val 6000"/>
            </a:avLst>
          </a:prstGeom>
          <a:solidFill>
            <a:srgbClr val="F5F6F8"/>
          </a:solidFill>
          <a:ln w="12700">
            <a:solidFill>
              <a:srgbClr val="DDE1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9" name="Picture 18" descr="check_steel.png"/>
          <p:cNvPicPr>
            <a:picLocks noChangeAspect="1"/>
          </p:cNvPicPr>
          <p:nvPr/>
        </p:nvPicPr>
        <p:blipFill>
          <a:blip r:embed="rId3"/>
          <a:stretch>
            <a:fillRect/>
          </a:stretch>
        </p:blipFill>
        <p:spPr>
          <a:xfrm>
            <a:off x="987552" y="4956048"/>
            <a:ext cx="237744" cy="237744"/>
          </a:xfrm>
          <a:prstGeom prst="rect">
            <a:avLst/>
          </a:prstGeom>
        </p:spPr>
      </p:pic>
      <p:sp>
        <p:nvSpPr>
          <p:cNvPr id="20" name="TextBox 19"/>
          <p:cNvSpPr txBox="1"/>
          <p:nvPr/>
        </p:nvSpPr>
        <p:spPr>
          <a:xfrm>
            <a:off x="1353312" y="4809744"/>
            <a:ext cx="5029200" cy="530352"/>
          </a:xfrm>
          <a:prstGeom prst="rect">
            <a:avLst/>
          </a:prstGeom>
          <a:noFill/>
        </p:spPr>
        <p:txBody>
          <a:bodyPr wrap="square" anchor="ctr" lIns="0" rIns="0" tIns="0" bIns="0">
            <a:spAutoFit/>
          </a:bodyPr>
          <a:lstStyle/>
          <a:p>
            <a:pPr algn="l">
              <a:lnSpc>
                <a:spcPct val="106000"/>
              </a:lnSpc>
              <a:spcBef>
                <a:spcPts val="0"/>
              </a:spcBef>
              <a:spcAft>
                <a:spcPts val="0"/>
              </a:spcAft>
            </a:pPr>
            <a:r>
              <a:rPr sz="1200" b="0">
                <a:solidFill>
                  <a:srgbClr val="1A1A1A"/>
                </a:solidFill>
                <a:latin typeface="Red Hat Text"/>
              </a:rPr>
              <a:t>Placement is a decision, not a lottery</a:t>
            </a:r>
          </a:p>
        </p:txBody>
      </p:sp>
      <p:sp>
        <p:nvSpPr>
          <p:cNvPr id="21" name="Rounded Rectangle 20"/>
          <p:cNvSpPr/>
          <p:nvPr/>
        </p:nvSpPr>
        <p:spPr>
          <a:xfrm>
            <a:off x="6812280" y="2395728"/>
            <a:ext cx="4538167" cy="2944368"/>
          </a:xfrm>
          <a:prstGeom prst="roundRect">
            <a:avLst>
              <a:gd name="adj" fmla="val 4000"/>
            </a:avLst>
          </a:prstGeom>
          <a:solidFill>
            <a:srgbClr val="FFFFFF"/>
          </a:solidFill>
          <a:ln w="15240">
            <a:solidFill>
              <a:srgbClr val="DDE1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ounded Rectangle 21"/>
          <p:cNvSpPr/>
          <p:nvPr/>
        </p:nvSpPr>
        <p:spPr>
          <a:xfrm>
            <a:off x="7013448" y="2596896"/>
            <a:ext cx="1298448" cy="310896"/>
          </a:xfrm>
          <a:prstGeom prst="roundRect">
            <a:avLst>
              <a:gd name="adj" fmla="val 50000"/>
            </a:avLst>
          </a:prstGeom>
          <a:solidFill>
            <a:srgbClr val="FCEC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7013448" y="2596896"/>
            <a:ext cx="1298448" cy="310896"/>
          </a:xfrm>
          <a:prstGeom prst="rect">
            <a:avLst/>
          </a:prstGeom>
          <a:noFill/>
        </p:spPr>
        <p:txBody>
          <a:bodyPr wrap="none" anchor="ctr" lIns="0" rIns="0" tIns="0" bIns="0">
            <a:spAutoFit/>
          </a:bodyPr>
          <a:lstStyle/>
          <a:p>
            <a:pPr algn="ctr">
              <a:lnSpc>
                <a:spcPct val="106000"/>
              </a:lnSpc>
              <a:spcBef>
                <a:spcPts val="0"/>
              </a:spcBef>
              <a:spcAft>
                <a:spcPts val="0"/>
              </a:spcAft>
            </a:pPr>
            <a:r>
              <a:rPr sz="850" b="1">
                <a:solidFill>
                  <a:srgbClr val="B80000"/>
                </a:solidFill>
                <a:latin typeface="Red Hat Display"/>
              </a:rPr>
              <a:t>MEDIA PASS</a:t>
            </a:r>
          </a:p>
        </p:txBody>
      </p:sp>
      <p:pic>
        <p:nvPicPr>
          <p:cNvPr id="24" name="Picture 23" descr="eye_slate.png"/>
          <p:cNvPicPr>
            <a:picLocks noChangeAspect="1"/>
          </p:cNvPicPr>
          <p:nvPr/>
        </p:nvPicPr>
        <p:blipFill>
          <a:blip r:embed="rId4"/>
          <a:stretch>
            <a:fillRect/>
          </a:stretch>
        </p:blipFill>
        <p:spPr>
          <a:xfrm>
            <a:off x="8843619" y="3108960"/>
            <a:ext cx="475488" cy="475488"/>
          </a:xfrm>
          <a:prstGeom prst="rect">
            <a:avLst/>
          </a:prstGeom>
        </p:spPr>
      </p:pic>
      <p:sp>
        <p:nvSpPr>
          <p:cNvPr id="25" name="TextBox 24"/>
          <p:cNvSpPr txBox="1"/>
          <p:nvPr/>
        </p:nvSpPr>
        <p:spPr>
          <a:xfrm>
            <a:off x="7050024" y="3721608"/>
            <a:ext cx="4062679" cy="1481328"/>
          </a:xfrm>
          <a:prstGeom prst="rect">
            <a:avLst/>
          </a:prstGeom>
          <a:noFill/>
        </p:spPr>
        <p:txBody>
          <a:bodyPr wrap="square" anchor="t" lIns="0" rIns="0" tIns="0" bIns="0">
            <a:spAutoFit/>
          </a:bodyPr>
          <a:lstStyle/>
          <a:p>
            <a:pPr algn="l">
              <a:lnSpc>
                <a:spcPct val="120000"/>
              </a:lnSpc>
              <a:spcBef>
                <a:spcPts val="0"/>
              </a:spcBef>
              <a:spcAft>
                <a:spcPts val="0"/>
              </a:spcAft>
            </a:pPr>
            <a:r>
              <a:rPr sz="950" b="0">
                <a:solidFill>
                  <a:srgbClr val="8A9099"/>
                </a:solidFill>
                <a:latin typeface="Red Hat Text"/>
              </a:rPr>
              <a:t>A "before" cluster: pods scattered at random across nodes, a batch box and an API box crammed onto the same node (red "contention"), and a deploy arrow leaking a couple of dropped-request dots.</a:t>
            </a:r>
          </a:p>
        </p:txBody>
      </p:sp>
      <p:cxnSp>
        <p:nvCxnSpPr>
          <p:cNvPr id="26" name="Connector 25"/>
          <p:cNvCxnSpPr/>
          <p:nvPr/>
        </p:nvCxnSpPr>
        <p:spPr>
          <a:xfrm>
            <a:off x="841248" y="6437376"/>
            <a:ext cx="10509199" cy="0"/>
          </a:xfrm>
          <a:prstGeom prst="bentConnector3">
            <a:avLst/>
          </a:prstGeom>
          <a:ln w="12700">
            <a:solidFill>
              <a:srgbClr val="DDE1E6"/>
            </a:solidFill>
          </a:ln>
          <a:effectLst/>
        </p:spPr>
        <p:style>
          <a:lnRef idx="2">
            <a:schemeClr val="accent1"/>
          </a:lnRef>
          <a:fillRef idx="0">
            <a:schemeClr val="accent1"/>
          </a:fillRef>
          <a:effectRef idx="1">
            <a:schemeClr val="accent1"/>
          </a:effectRef>
          <a:fontRef idx="minor">
            <a:schemeClr val="tx1"/>
          </a:fontRef>
        </p:style>
      </p:cxnSp>
      <p:sp>
        <p:nvSpPr>
          <p:cNvPr id="27" name="TextBox 26"/>
          <p:cNvSpPr txBox="1"/>
          <p:nvPr/>
        </p:nvSpPr>
        <p:spPr>
          <a:xfrm>
            <a:off x="841248" y="6473952"/>
            <a:ext cx="7315200" cy="274320"/>
          </a:xfrm>
          <a:prstGeom prst="rect">
            <a:avLst/>
          </a:prstGeom>
          <a:noFill/>
        </p:spPr>
        <p:txBody>
          <a:bodyPr wrap="square" anchor="t" lIns="0" rIns="0" tIns="0" bIns="0">
            <a:spAutoFit/>
          </a:bodyPr>
          <a:lstStyle/>
          <a:p>
            <a:pPr algn="l">
              <a:lnSpc>
                <a:spcPct val="106000"/>
              </a:lnSpc>
              <a:spcBef>
                <a:spcPts val="0"/>
              </a:spcBef>
              <a:spcAft>
                <a:spcPts val="0"/>
              </a:spcAft>
            </a:pPr>
            <a:r>
              <a:rPr sz="950" b="0">
                <a:solidFill>
                  <a:srgbClr val="8A9099"/>
                </a:solidFill>
                <a:latin typeface="Red Hat Text"/>
              </a:rPr>
              <a:t>CONFIDENTIAL</a:t>
            </a:r>
          </a:p>
        </p:txBody>
      </p:sp>
      <p:sp>
        <p:nvSpPr>
          <p:cNvPr id="28" name="TextBox 27"/>
          <p:cNvSpPr txBox="1"/>
          <p:nvPr/>
        </p:nvSpPr>
        <p:spPr>
          <a:xfrm>
            <a:off x="10801807" y="6473952"/>
            <a:ext cx="548640" cy="274320"/>
          </a:xfrm>
          <a:prstGeom prst="rect">
            <a:avLst/>
          </a:prstGeom>
          <a:noFill/>
        </p:spPr>
        <p:txBody>
          <a:bodyPr wrap="square" anchor="t" lIns="0" rIns="0" tIns="0" bIns="0">
            <a:spAutoFit/>
          </a:bodyPr>
          <a:lstStyle/>
          <a:p>
            <a:pPr algn="r">
              <a:lnSpc>
                <a:spcPct val="106000"/>
              </a:lnSpc>
              <a:spcBef>
                <a:spcPts val="0"/>
              </a:spcBef>
              <a:spcAft>
                <a:spcPts val="0"/>
              </a:spcAft>
            </a:pPr>
            <a:r>
              <a:rPr sz="950" b="0">
                <a:solidFill>
                  <a:srgbClr val="8A9099"/>
                </a:solidFill>
                <a:latin typeface="Red Hat Text"/>
              </a:rPr>
              <a:t>120</a:t>
            </a:r>
          </a:p>
        </p:txBody>
      </p:sp>
    </p:spTree>
  </p:cSld>
  <p:clrMapOvr>
    <a:masterClrMapping/>
  </p:clrMapOvr>
</p:sld>
</file>

<file path=ppt/slides/slide1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redhat_logo.jpg"/>
          <p:cNvPicPr>
            <a:picLocks noChangeAspect="1"/>
          </p:cNvPicPr>
          <p:nvPr/>
        </p:nvPicPr>
        <p:blipFill>
          <a:blip r:embed="rId2"/>
          <a:stretch>
            <a:fillRect/>
          </a:stretch>
        </p:blipFill>
        <p:spPr>
          <a:xfrm>
            <a:off x="10326319" y="475488"/>
            <a:ext cx="1024128" cy="242248"/>
          </a:xfrm>
          <a:prstGeom prst="rect">
            <a:avLst/>
          </a:prstGeom>
        </p:spPr>
      </p:pic>
      <p:sp>
        <p:nvSpPr>
          <p:cNvPr id="3" name="TextBox 2"/>
          <p:cNvSpPr txBox="1"/>
          <p:nvPr/>
        </p:nvSpPr>
        <p:spPr>
          <a:xfrm>
            <a:off x="841248" y="548640"/>
            <a:ext cx="8595360" cy="274320"/>
          </a:xfrm>
          <a:prstGeom prst="rect">
            <a:avLst/>
          </a:prstGeom>
          <a:noFill/>
        </p:spPr>
        <p:txBody>
          <a:bodyPr wrap="square" anchor="t" lIns="0" rIns="0" tIns="0" bIns="0">
            <a:spAutoFit/>
          </a:bodyPr>
          <a:lstStyle/>
          <a:p>
            <a:pPr algn="l">
              <a:lnSpc>
                <a:spcPct val="106000"/>
              </a:lnSpc>
              <a:spcBef>
                <a:spcPts val="0"/>
              </a:spcBef>
              <a:spcAft>
                <a:spcPts val="0"/>
              </a:spcAft>
            </a:pPr>
            <a:r>
              <a:rPr sz="1250" b="1" spc="220">
                <a:solidFill>
                  <a:srgbClr val="EE0000"/>
                </a:solidFill>
                <a:latin typeface="Red Hat Display"/>
              </a:rPr>
              <a:t>M17 · DEPLOYMENT TARGETS &amp; SCHEDULING</a:t>
            </a:r>
          </a:p>
        </p:txBody>
      </p:sp>
      <p:sp>
        <p:nvSpPr>
          <p:cNvPr id="4" name="TextBox 3"/>
          <p:cNvSpPr txBox="1"/>
          <p:nvPr/>
        </p:nvSpPr>
        <p:spPr>
          <a:xfrm>
            <a:off x="841248" y="877824"/>
            <a:ext cx="10515600" cy="548640"/>
          </a:xfrm>
          <a:prstGeom prst="rect">
            <a:avLst/>
          </a:prstGeom>
          <a:noFill/>
        </p:spPr>
        <p:txBody>
          <a:bodyPr wrap="none" anchor="t" lIns="0" rIns="0" tIns="0" bIns="0">
            <a:spAutoFit/>
          </a:bodyPr>
          <a:lstStyle/>
          <a:p>
            <a:pPr algn="l">
              <a:lnSpc>
                <a:spcPct val="100000"/>
              </a:lnSpc>
              <a:spcBef>
                <a:spcPts val="0"/>
              </a:spcBef>
              <a:spcAft>
                <a:spcPts val="0"/>
              </a:spcAft>
            </a:pPr>
            <a:r>
              <a:rPr sz="2500" b="1">
                <a:solidFill>
                  <a:srgbClr val="1A1A1A"/>
                </a:solidFill>
                <a:latin typeface="Red Hat Display"/>
              </a:rPr>
              <a:t>The scheduler in one mental model</a:t>
            </a:r>
          </a:p>
        </p:txBody>
      </p:sp>
      <p:cxnSp>
        <p:nvCxnSpPr>
          <p:cNvPr id="5" name="Connector 4"/>
          <p:cNvCxnSpPr/>
          <p:nvPr/>
        </p:nvCxnSpPr>
        <p:spPr>
          <a:xfrm>
            <a:off x="841248" y="1554480"/>
            <a:ext cx="1371600" cy="0"/>
          </a:xfrm>
          <a:prstGeom prst="bentConnector3">
            <a:avLst/>
          </a:prstGeom>
          <a:ln w="31750">
            <a:solidFill>
              <a:srgbClr val="EE0000"/>
            </a:solidFill>
          </a:ln>
          <a:effectLst/>
        </p:spPr>
        <p:style>
          <a:lnRef idx="2">
            <a:schemeClr val="accent1"/>
          </a:lnRef>
          <a:fillRef idx="0">
            <a:schemeClr val="accent1"/>
          </a:fillRef>
          <a:effectRef idx="1">
            <a:schemeClr val="accent1"/>
          </a:effectRef>
          <a:fontRef idx="minor">
            <a:schemeClr val="tx1"/>
          </a:fontRef>
        </p:style>
      </p:cxnSp>
      <p:sp>
        <p:nvSpPr>
          <p:cNvPr id="6" name="Rounded Rectangle 5"/>
          <p:cNvSpPr/>
          <p:nvPr/>
        </p:nvSpPr>
        <p:spPr>
          <a:xfrm>
            <a:off x="841248" y="2395728"/>
            <a:ext cx="5715000" cy="530352"/>
          </a:xfrm>
          <a:prstGeom prst="roundRect">
            <a:avLst>
              <a:gd name="adj" fmla="val 6000"/>
            </a:avLst>
          </a:prstGeom>
          <a:solidFill>
            <a:srgbClr val="F5F6F8"/>
          </a:solidFill>
          <a:ln w="12700">
            <a:solidFill>
              <a:srgbClr val="DDE1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check_steel.png"/>
          <p:cNvPicPr>
            <a:picLocks noChangeAspect="1"/>
          </p:cNvPicPr>
          <p:nvPr/>
        </p:nvPicPr>
        <p:blipFill>
          <a:blip r:embed="rId3"/>
          <a:stretch>
            <a:fillRect/>
          </a:stretch>
        </p:blipFill>
        <p:spPr>
          <a:xfrm>
            <a:off x="987552" y="2542032"/>
            <a:ext cx="237744" cy="237744"/>
          </a:xfrm>
          <a:prstGeom prst="rect">
            <a:avLst/>
          </a:prstGeom>
        </p:spPr>
      </p:pic>
      <p:sp>
        <p:nvSpPr>
          <p:cNvPr id="8" name="TextBox 7"/>
          <p:cNvSpPr txBox="1"/>
          <p:nvPr/>
        </p:nvSpPr>
        <p:spPr>
          <a:xfrm>
            <a:off x="1353312" y="2395728"/>
            <a:ext cx="5029200" cy="530352"/>
          </a:xfrm>
          <a:prstGeom prst="rect">
            <a:avLst/>
          </a:prstGeom>
          <a:noFill/>
        </p:spPr>
        <p:txBody>
          <a:bodyPr wrap="square" anchor="ctr" lIns="0" rIns="0" tIns="0" bIns="0">
            <a:spAutoFit/>
          </a:bodyPr>
          <a:lstStyle/>
          <a:p>
            <a:pPr algn="l">
              <a:lnSpc>
                <a:spcPct val="106000"/>
              </a:lnSpc>
              <a:spcBef>
                <a:spcPts val="0"/>
              </a:spcBef>
              <a:spcAft>
                <a:spcPts val="0"/>
              </a:spcAft>
            </a:pPr>
            <a:r>
              <a:rPr sz="1200" b="0">
                <a:solidFill>
                  <a:srgbClr val="1A1A1A"/>
                </a:solidFill>
                <a:latin typeface="Red Hat Text"/>
              </a:rPr>
              <a:t>Every pod: FILTER then SCORE, then bind</a:t>
            </a:r>
          </a:p>
        </p:txBody>
      </p:sp>
      <p:sp>
        <p:nvSpPr>
          <p:cNvPr id="9" name="Rounded Rectangle 8"/>
          <p:cNvSpPr/>
          <p:nvPr/>
        </p:nvSpPr>
        <p:spPr>
          <a:xfrm>
            <a:off x="841248" y="2999232"/>
            <a:ext cx="5715000" cy="530352"/>
          </a:xfrm>
          <a:prstGeom prst="roundRect">
            <a:avLst>
              <a:gd name="adj" fmla="val 6000"/>
            </a:avLst>
          </a:prstGeom>
          <a:solidFill>
            <a:srgbClr val="F5F6F8"/>
          </a:solidFill>
          <a:ln w="12700">
            <a:solidFill>
              <a:srgbClr val="DDE1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0" name="Picture 9" descr="check_steel.png"/>
          <p:cNvPicPr>
            <a:picLocks noChangeAspect="1"/>
          </p:cNvPicPr>
          <p:nvPr/>
        </p:nvPicPr>
        <p:blipFill>
          <a:blip r:embed="rId3"/>
          <a:stretch>
            <a:fillRect/>
          </a:stretch>
        </p:blipFill>
        <p:spPr>
          <a:xfrm>
            <a:off x="987552" y="3145536"/>
            <a:ext cx="237744" cy="237744"/>
          </a:xfrm>
          <a:prstGeom prst="rect">
            <a:avLst/>
          </a:prstGeom>
        </p:spPr>
      </p:pic>
      <p:sp>
        <p:nvSpPr>
          <p:cNvPr id="11" name="TextBox 10"/>
          <p:cNvSpPr txBox="1"/>
          <p:nvPr/>
        </p:nvSpPr>
        <p:spPr>
          <a:xfrm>
            <a:off x="1353312" y="2999232"/>
            <a:ext cx="5029200" cy="530352"/>
          </a:xfrm>
          <a:prstGeom prst="rect">
            <a:avLst/>
          </a:prstGeom>
          <a:noFill/>
        </p:spPr>
        <p:txBody>
          <a:bodyPr wrap="square" anchor="ctr" lIns="0" rIns="0" tIns="0" bIns="0">
            <a:spAutoFit/>
          </a:bodyPr>
          <a:lstStyle/>
          <a:p>
            <a:pPr algn="l">
              <a:lnSpc>
                <a:spcPct val="106000"/>
              </a:lnSpc>
              <a:spcBef>
                <a:spcPts val="0"/>
              </a:spcBef>
              <a:spcAft>
                <a:spcPts val="0"/>
              </a:spcAft>
            </a:pPr>
            <a:r>
              <a:rPr sz="1200" b="0">
                <a:solidFill>
                  <a:srgbClr val="1A1A1A"/>
                </a:solidFill>
                <a:latin typeface="Red Hat Text"/>
              </a:rPr>
              <a:t>Filter: which nodes CAN run it (requests, taints, selectors)</a:t>
            </a:r>
          </a:p>
        </p:txBody>
      </p:sp>
      <p:sp>
        <p:nvSpPr>
          <p:cNvPr id="12" name="Rounded Rectangle 11"/>
          <p:cNvSpPr/>
          <p:nvPr/>
        </p:nvSpPr>
        <p:spPr>
          <a:xfrm>
            <a:off x="841248" y="3602736"/>
            <a:ext cx="5715000" cy="530352"/>
          </a:xfrm>
          <a:prstGeom prst="roundRect">
            <a:avLst>
              <a:gd name="adj" fmla="val 6000"/>
            </a:avLst>
          </a:prstGeom>
          <a:solidFill>
            <a:srgbClr val="F5F6F8"/>
          </a:solidFill>
          <a:ln w="12700">
            <a:solidFill>
              <a:srgbClr val="DDE1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3" name="Picture 12" descr="check_steel.png"/>
          <p:cNvPicPr>
            <a:picLocks noChangeAspect="1"/>
          </p:cNvPicPr>
          <p:nvPr/>
        </p:nvPicPr>
        <p:blipFill>
          <a:blip r:embed="rId3"/>
          <a:stretch>
            <a:fillRect/>
          </a:stretch>
        </p:blipFill>
        <p:spPr>
          <a:xfrm>
            <a:off x="987552" y="3749040"/>
            <a:ext cx="237744" cy="237744"/>
          </a:xfrm>
          <a:prstGeom prst="rect">
            <a:avLst/>
          </a:prstGeom>
        </p:spPr>
      </p:pic>
      <p:sp>
        <p:nvSpPr>
          <p:cNvPr id="14" name="TextBox 13"/>
          <p:cNvSpPr txBox="1"/>
          <p:nvPr/>
        </p:nvSpPr>
        <p:spPr>
          <a:xfrm>
            <a:off x="1353312" y="3602736"/>
            <a:ext cx="5029200" cy="530352"/>
          </a:xfrm>
          <a:prstGeom prst="rect">
            <a:avLst/>
          </a:prstGeom>
          <a:noFill/>
        </p:spPr>
        <p:txBody>
          <a:bodyPr wrap="square" anchor="ctr" lIns="0" rIns="0" tIns="0" bIns="0">
            <a:spAutoFit/>
          </a:bodyPr>
          <a:lstStyle/>
          <a:p>
            <a:pPr algn="l">
              <a:lnSpc>
                <a:spcPct val="106000"/>
              </a:lnSpc>
              <a:spcBef>
                <a:spcPts val="0"/>
              </a:spcBef>
              <a:spcAft>
                <a:spcPts val="0"/>
              </a:spcAft>
            </a:pPr>
            <a:r>
              <a:rPr sz="1200" b="0">
                <a:solidFill>
                  <a:srgbClr val="1A1A1A"/>
                </a:solidFill>
                <a:latin typeface="Red Hat Text"/>
              </a:rPr>
              <a:t>Score: which survivor is BEST (room, spread)</a:t>
            </a:r>
          </a:p>
        </p:txBody>
      </p:sp>
      <p:sp>
        <p:nvSpPr>
          <p:cNvPr id="15" name="Rounded Rectangle 14"/>
          <p:cNvSpPr/>
          <p:nvPr/>
        </p:nvSpPr>
        <p:spPr>
          <a:xfrm>
            <a:off x="841248" y="4206240"/>
            <a:ext cx="5715000" cy="530352"/>
          </a:xfrm>
          <a:prstGeom prst="roundRect">
            <a:avLst>
              <a:gd name="adj" fmla="val 6000"/>
            </a:avLst>
          </a:prstGeom>
          <a:solidFill>
            <a:srgbClr val="F5F6F8"/>
          </a:solidFill>
          <a:ln w="12700">
            <a:solidFill>
              <a:srgbClr val="DDE1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6" name="Picture 15" descr="check_steel.png"/>
          <p:cNvPicPr>
            <a:picLocks noChangeAspect="1"/>
          </p:cNvPicPr>
          <p:nvPr/>
        </p:nvPicPr>
        <p:blipFill>
          <a:blip r:embed="rId3"/>
          <a:stretch>
            <a:fillRect/>
          </a:stretch>
        </p:blipFill>
        <p:spPr>
          <a:xfrm>
            <a:off x="987552" y="4352544"/>
            <a:ext cx="237744" cy="237744"/>
          </a:xfrm>
          <a:prstGeom prst="rect">
            <a:avLst/>
          </a:prstGeom>
        </p:spPr>
      </p:pic>
      <p:sp>
        <p:nvSpPr>
          <p:cNvPr id="17" name="TextBox 16"/>
          <p:cNvSpPr txBox="1"/>
          <p:nvPr/>
        </p:nvSpPr>
        <p:spPr>
          <a:xfrm>
            <a:off x="1353312" y="4206240"/>
            <a:ext cx="5029200" cy="530352"/>
          </a:xfrm>
          <a:prstGeom prst="rect">
            <a:avLst/>
          </a:prstGeom>
          <a:noFill/>
        </p:spPr>
        <p:txBody>
          <a:bodyPr wrap="square" anchor="ctr" lIns="0" rIns="0" tIns="0" bIns="0">
            <a:spAutoFit/>
          </a:bodyPr>
          <a:lstStyle/>
          <a:p>
            <a:pPr algn="l">
              <a:lnSpc>
                <a:spcPct val="106000"/>
              </a:lnSpc>
              <a:spcBef>
                <a:spcPts val="0"/>
              </a:spcBef>
              <a:spcAft>
                <a:spcPts val="0"/>
              </a:spcAft>
            </a:pPr>
            <a:r>
              <a:rPr sz="1200" b="0">
                <a:solidFill>
                  <a:srgbClr val="1A1A1A"/>
                </a:solidFill>
                <a:latin typeface="Red Hat Text"/>
              </a:rPr>
              <a:t>No survivor → Pending + FailedScheduling event</a:t>
            </a:r>
          </a:p>
        </p:txBody>
      </p:sp>
      <p:sp>
        <p:nvSpPr>
          <p:cNvPr id="18" name="Rounded Rectangle 17"/>
          <p:cNvSpPr/>
          <p:nvPr/>
        </p:nvSpPr>
        <p:spPr>
          <a:xfrm>
            <a:off x="841248" y="4809744"/>
            <a:ext cx="5715000" cy="530352"/>
          </a:xfrm>
          <a:prstGeom prst="roundRect">
            <a:avLst>
              <a:gd name="adj" fmla="val 6000"/>
            </a:avLst>
          </a:prstGeom>
          <a:solidFill>
            <a:srgbClr val="F5F6F8"/>
          </a:solidFill>
          <a:ln w="12700">
            <a:solidFill>
              <a:srgbClr val="DDE1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9" name="Picture 18" descr="check_steel.png"/>
          <p:cNvPicPr>
            <a:picLocks noChangeAspect="1"/>
          </p:cNvPicPr>
          <p:nvPr/>
        </p:nvPicPr>
        <p:blipFill>
          <a:blip r:embed="rId3"/>
          <a:stretch>
            <a:fillRect/>
          </a:stretch>
        </p:blipFill>
        <p:spPr>
          <a:xfrm>
            <a:off x="987552" y="4956048"/>
            <a:ext cx="237744" cy="237744"/>
          </a:xfrm>
          <a:prstGeom prst="rect">
            <a:avLst/>
          </a:prstGeom>
        </p:spPr>
      </p:pic>
      <p:sp>
        <p:nvSpPr>
          <p:cNvPr id="20" name="TextBox 19"/>
          <p:cNvSpPr txBox="1"/>
          <p:nvPr/>
        </p:nvSpPr>
        <p:spPr>
          <a:xfrm>
            <a:off x="1353312" y="4809744"/>
            <a:ext cx="5029200" cy="530352"/>
          </a:xfrm>
          <a:prstGeom prst="rect">
            <a:avLst/>
          </a:prstGeom>
          <a:noFill/>
        </p:spPr>
        <p:txBody>
          <a:bodyPr wrap="square" anchor="ctr" lIns="0" rIns="0" tIns="0" bIns="0">
            <a:spAutoFit/>
          </a:bodyPr>
          <a:lstStyle/>
          <a:p>
            <a:pPr algn="l">
              <a:lnSpc>
                <a:spcPct val="106000"/>
              </a:lnSpc>
              <a:spcBef>
                <a:spcPts val="0"/>
              </a:spcBef>
              <a:spcAft>
                <a:spcPts val="0"/>
              </a:spcAft>
            </a:pPr>
            <a:r>
              <a:rPr sz="1200" b="0">
                <a:solidFill>
                  <a:srgbClr val="1A1A1A"/>
                </a:solidFill>
                <a:latin typeface="Red Hat Text"/>
              </a:rPr>
              <a:t>The currency is REQUESTS, not usage</a:t>
            </a:r>
          </a:p>
        </p:txBody>
      </p:sp>
      <p:sp>
        <p:nvSpPr>
          <p:cNvPr id="21" name="Rounded Rectangle 20"/>
          <p:cNvSpPr/>
          <p:nvPr/>
        </p:nvSpPr>
        <p:spPr>
          <a:xfrm>
            <a:off x="6812280" y="2395728"/>
            <a:ext cx="4538167" cy="2944368"/>
          </a:xfrm>
          <a:prstGeom prst="roundRect">
            <a:avLst>
              <a:gd name="adj" fmla="val 4000"/>
            </a:avLst>
          </a:prstGeom>
          <a:solidFill>
            <a:srgbClr val="FFFFFF"/>
          </a:solidFill>
          <a:ln w="15240">
            <a:solidFill>
              <a:srgbClr val="DDE1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ounded Rectangle 21"/>
          <p:cNvSpPr/>
          <p:nvPr/>
        </p:nvSpPr>
        <p:spPr>
          <a:xfrm>
            <a:off x="7013448" y="2596896"/>
            <a:ext cx="1298448" cy="310896"/>
          </a:xfrm>
          <a:prstGeom prst="roundRect">
            <a:avLst>
              <a:gd name="adj" fmla="val 50000"/>
            </a:avLst>
          </a:prstGeom>
          <a:solidFill>
            <a:srgbClr val="FCEC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7013448" y="2596896"/>
            <a:ext cx="1298448" cy="310896"/>
          </a:xfrm>
          <a:prstGeom prst="rect">
            <a:avLst/>
          </a:prstGeom>
          <a:noFill/>
        </p:spPr>
        <p:txBody>
          <a:bodyPr wrap="none" anchor="ctr" lIns="0" rIns="0" tIns="0" bIns="0">
            <a:spAutoFit/>
          </a:bodyPr>
          <a:lstStyle/>
          <a:p>
            <a:pPr algn="ctr">
              <a:lnSpc>
                <a:spcPct val="106000"/>
              </a:lnSpc>
              <a:spcBef>
                <a:spcPts val="0"/>
              </a:spcBef>
              <a:spcAft>
                <a:spcPts val="0"/>
              </a:spcAft>
            </a:pPr>
            <a:r>
              <a:rPr sz="850" b="1">
                <a:solidFill>
                  <a:srgbClr val="B80000"/>
                </a:solidFill>
                <a:latin typeface="Red Hat Display"/>
              </a:rPr>
              <a:t>MEDIA PASS</a:t>
            </a:r>
          </a:p>
        </p:txBody>
      </p:sp>
      <p:pic>
        <p:nvPicPr>
          <p:cNvPr id="24" name="Picture 23" descr="eye_slate.png"/>
          <p:cNvPicPr>
            <a:picLocks noChangeAspect="1"/>
          </p:cNvPicPr>
          <p:nvPr/>
        </p:nvPicPr>
        <p:blipFill>
          <a:blip r:embed="rId4"/>
          <a:stretch>
            <a:fillRect/>
          </a:stretch>
        </p:blipFill>
        <p:spPr>
          <a:xfrm>
            <a:off x="8843619" y="3108960"/>
            <a:ext cx="475488" cy="475488"/>
          </a:xfrm>
          <a:prstGeom prst="rect">
            <a:avLst/>
          </a:prstGeom>
        </p:spPr>
      </p:pic>
      <p:sp>
        <p:nvSpPr>
          <p:cNvPr id="25" name="TextBox 24"/>
          <p:cNvSpPr txBox="1"/>
          <p:nvPr/>
        </p:nvSpPr>
        <p:spPr>
          <a:xfrm>
            <a:off x="7050024" y="3721608"/>
            <a:ext cx="4062679" cy="1481328"/>
          </a:xfrm>
          <a:prstGeom prst="rect">
            <a:avLst/>
          </a:prstGeom>
          <a:noFill/>
        </p:spPr>
        <p:txBody>
          <a:bodyPr wrap="square" anchor="t" lIns="0" rIns="0" tIns="0" bIns="0">
            <a:spAutoFit/>
          </a:bodyPr>
          <a:lstStyle/>
          <a:p>
            <a:pPr algn="l">
              <a:lnSpc>
                <a:spcPct val="120000"/>
              </a:lnSpc>
              <a:spcBef>
                <a:spcPts val="0"/>
              </a:spcBef>
              <a:spcAft>
                <a:spcPts val="0"/>
              </a:spcAft>
            </a:pPr>
            <a:r>
              <a:rPr sz="950" b="0">
                <a:solidFill>
                  <a:srgbClr val="8A9099"/>
                </a:solidFill>
                <a:latin typeface="Red Hat Text"/>
              </a:rPr>
              <a:t>Reuse concept diagram deployment-targets-scheduling-...-01-scheduler-pipeline.svg — Pending pod → FILTER → SCORE → BIND, with a red branch "0 survive → Pending + FailedScheduling."</a:t>
            </a:r>
          </a:p>
        </p:txBody>
      </p:sp>
      <p:cxnSp>
        <p:nvCxnSpPr>
          <p:cNvPr id="26" name="Connector 25"/>
          <p:cNvCxnSpPr/>
          <p:nvPr/>
        </p:nvCxnSpPr>
        <p:spPr>
          <a:xfrm>
            <a:off x="841248" y="6437376"/>
            <a:ext cx="10509199" cy="0"/>
          </a:xfrm>
          <a:prstGeom prst="bentConnector3">
            <a:avLst/>
          </a:prstGeom>
          <a:ln w="12700">
            <a:solidFill>
              <a:srgbClr val="DDE1E6"/>
            </a:solidFill>
          </a:ln>
          <a:effectLst/>
        </p:spPr>
        <p:style>
          <a:lnRef idx="2">
            <a:schemeClr val="accent1"/>
          </a:lnRef>
          <a:fillRef idx="0">
            <a:schemeClr val="accent1"/>
          </a:fillRef>
          <a:effectRef idx="1">
            <a:schemeClr val="accent1"/>
          </a:effectRef>
          <a:fontRef idx="minor">
            <a:schemeClr val="tx1"/>
          </a:fontRef>
        </p:style>
      </p:cxnSp>
      <p:sp>
        <p:nvSpPr>
          <p:cNvPr id="27" name="TextBox 26"/>
          <p:cNvSpPr txBox="1"/>
          <p:nvPr/>
        </p:nvSpPr>
        <p:spPr>
          <a:xfrm>
            <a:off x="841248" y="6473952"/>
            <a:ext cx="7315200" cy="274320"/>
          </a:xfrm>
          <a:prstGeom prst="rect">
            <a:avLst/>
          </a:prstGeom>
          <a:noFill/>
        </p:spPr>
        <p:txBody>
          <a:bodyPr wrap="square" anchor="t" lIns="0" rIns="0" tIns="0" bIns="0">
            <a:spAutoFit/>
          </a:bodyPr>
          <a:lstStyle/>
          <a:p>
            <a:pPr algn="l">
              <a:lnSpc>
                <a:spcPct val="106000"/>
              </a:lnSpc>
              <a:spcBef>
                <a:spcPts val="0"/>
              </a:spcBef>
              <a:spcAft>
                <a:spcPts val="0"/>
              </a:spcAft>
            </a:pPr>
            <a:r>
              <a:rPr sz="950" b="0">
                <a:solidFill>
                  <a:srgbClr val="8A9099"/>
                </a:solidFill>
                <a:latin typeface="Red Hat Text"/>
              </a:rPr>
              <a:t>CONFIDENTIAL</a:t>
            </a:r>
          </a:p>
        </p:txBody>
      </p:sp>
      <p:sp>
        <p:nvSpPr>
          <p:cNvPr id="28" name="TextBox 27"/>
          <p:cNvSpPr txBox="1"/>
          <p:nvPr/>
        </p:nvSpPr>
        <p:spPr>
          <a:xfrm>
            <a:off x="10801807" y="6473952"/>
            <a:ext cx="548640" cy="274320"/>
          </a:xfrm>
          <a:prstGeom prst="rect">
            <a:avLst/>
          </a:prstGeom>
          <a:noFill/>
        </p:spPr>
        <p:txBody>
          <a:bodyPr wrap="square" anchor="t" lIns="0" rIns="0" tIns="0" bIns="0">
            <a:spAutoFit/>
          </a:bodyPr>
          <a:lstStyle/>
          <a:p>
            <a:pPr algn="r">
              <a:lnSpc>
                <a:spcPct val="106000"/>
              </a:lnSpc>
              <a:spcBef>
                <a:spcPts val="0"/>
              </a:spcBef>
              <a:spcAft>
                <a:spcPts val="0"/>
              </a:spcAft>
            </a:pPr>
            <a:r>
              <a:rPr sz="950" b="0">
                <a:solidFill>
                  <a:srgbClr val="8A9099"/>
                </a:solidFill>
                <a:latin typeface="Red Hat Text"/>
              </a:rPr>
              <a:t>121</a:t>
            </a:r>
          </a:p>
        </p:txBody>
      </p:sp>
    </p:spTree>
  </p:cSld>
  <p:clrMapOvr>
    <a:masterClrMapping/>
  </p:clrMapOvr>
</p:sld>
</file>

<file path=ppt/slides/slide1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redhat_logo.jpg"/>
          <p:cNvPicPr>
            <a:picLocks noChangeAspect="1"/>
          </p:cNvPicPr>
          <p:nvPr/>
        </p:nvPicPr>
        <p:blipFill>
          <a:blip r:embed="rId2"/>
          <a:stretch>
            <a:fillRect/>
          </a:stretch>
        </p:blipFill>
        <p:spPr>
          <a:xfrm>
            <a:off x="10326319" y="475488"/>
            <a:ext cx="1024128" cy="242248"/>
          </a:xfrm>
          <a:prstGeom prst="rect">
            <a:avLst/>
          </a:prstGeom>
        </p:spPr>
      </p:pic>
      <p:sp>
        <p:nvSpPr>
          <p:cNvPr id="3" name="TextBox 2"/>
          <p:cNvSpPr txBox="1"/>
          <p:nvPr/>
        </p:nvSpPr>
        <p:spPr>
          <a:xfrm>
            <a:off x="841248" y="548640"/>
            <a:ext cx="8595360" cy="274320"/>
          </a:xfrm>
          <a:prstGeom prst="rect">
            <a:avLst/>
          </a:prstGeom>
          <a:noFill/>
        </p:spPr>
        <p:txBody>
          <a:bodyPr wrap="square" anchor="t" lIns="0" rIns="0" tIns="0" bIns="0">
            <a:spAutoFit/>
          </a:bodyPr>
          <a:lstStyle/>
          <a:p>
            <a:pPr algn="l">
              <a:lnSpc>
                <a:spcPct val="106000"/>
              </a:lnSpc>
              <a:spcBef>
                <a:spcPts val="0"/>
              </a:spcBef>
              <a:spcAft>
                <a:spcPts val="0"/>
              </a:spcAft>
            </a:pPr>
            <a:r>
              <a:rPr sz="1250" b="1" spc="220">
                <a:solidFill>
                  <a:srgbClr val="EE0000"/>
                </a:solidFill>
                <a:latin typeface="Red Hat Display"/>
              </a:rPr>
              <a:t>M17 · DEPLOYMENT TARGETS &amp; SCHEDULING</a:t>
            </a:r>
          </a:p>
        </p:txBody>
      </p:sp>
      <p:sp>
        <p:nvSpPr>
          <p:cNvPr id="4" name="TextBox 3"/>
          <p:cNvSpPr txBox="1"/>
          <p:nvPr/>
        </p:nvSpPr>
        <p:spPr>
          <a:xfrm>
            <a:off x="841248" y="877824"/>
            <a:ext cx="10515600" cy="548640"/>
          </a:xfrm>
          <a:prstGeom prst="rect">
            <a:avLst/>
          </a:prstGeom>
          <a:noFill/>
        </p:spPr>
        <p:txBody>
          <a:bodyPr wrap="none" anchor="t" lIns="0" rIns="0" tIns="0" bIns="0">
            <a:spAutoFit/>
          </a:bodyPr>
          <a:lstStyle/>
          <a:p>
            <a:pPr algn="l">
              <a:lnSpc>
                <a:spcPct val="100000"/>
              </a:lnSpc>
              <a:spcBef>
                <a:spcPts val="0"/>
              </a:spcBef>
              <a:spcAft>
                <a:spcPts val="0"/>
              </a:spcAft>
            </a:pPr>
            <a:r>
              <a:rPr sz="2500" b="1">
                <a:solidFill>
                  <a:srgbClr val="1A1A1A"/>
                </a:solidFill>
                <a:latin typeface="Red Hat Display"/>
              </a:rPr>
              <a:t>Direct pods — who seeks, who repels</a:t>
            </a:r>
          </a:p>
        </p:txBody>
      </p:sp>
      <p:cxnSp>
        <p:nvCxnSpPr>
          <p:cNvPr id="5" name="Connector 4"/>
          <p:cNvCxnSpPr/>
          <p:nvPr/>
        </p:nvCxnSpPr>
        <p:spPr>
          <a:xfrm>
            <a:off x="841248" y="1554480"/>
            <a:ext cx="1371600" cy="0"/>
          </a:xfrm>
          <a:prstGeom prst="bentConnector3">
            <a:avLst/>
          </a:prstGeom>
          <a:ln w="31750">
            <a:solidFill>
              <a:srgbClr val="EE0000"/>
            </a:solidFill>
          </a:ln>
          <a:effectLst/>
        </p:spPr>
        <p:style>
          <a:lnRef idx="2">
            <a:schemeClr val="accent1"/>
          </a:lnRef>
          <a:fillRef idx="0">
            <a:schemeClr val="accent1"/>
          </a:fillRef>
          <a:effectRef idx="1">
            <a:schemeClr val="accent1"/>
          </a:effectRef>
          <a:fontRef idx="minor">
            <a:schemeClr val="tx1"/>
          </a:fontRef>
        </p:style>
      </p:cxnSp>
      <p:sp>
        <p:nvSpPr>
          <p:cNvPr id="6" name="Rounded Rectangle 5"/>
          <p:cNvSpPr/>
          <p:nvPr/>
        </p:nvSpPr>
        <p:spPr>
          <a:xfrm>
            <a:off x="841248" y="2395728"/>
            <a:ext cx="5715000" cy="530352"/>
          </a:xfrm>
          <a:prstGeom prst="roundRect">
            <a:avLst>
              <a:gd name="adj" fmla="val 6000"/>
            </a:avLst>
          </a:prstGeom>
          <a:solidFill>
            <a:srgbClr val="F5F6F8"/>
          </a:solidFill>
          <a:ln w="12700">
            <a:solidFill>
              <a:srgbClr val="DDE1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check_steel.png"/>
          <p:cNvPicPr>
            <a:picLocks noChangeAspect="1"/>
          </p:cNvPicPr>
          <p:nvPr/>
        </p:nvPicPr>
        <p:blipFill>
          <a:blip r:embed="rId3"/>
          <a:stretch>
            <a:fillRect/>
          </a:stretch>
        </p:blipFill>
        <p:spPr>
          <a:xfrm>
            <a:off x="987552" y="2542032"/>
            <a:ext cx="237744" cy="237744"/>
          </a:xfrm>
          <a:prstGeom prst="rect">
            <a:avLst/>
          </a:prstGeom>
        </p:spPr>
      </p:pic>
      <p:sp>
        <p:nvSpPr>
          <p:cNvPr id="8" name="TextBox 7"/>
          <p:cNvSpPr txBox="1"/>
          <p:nvPr/>
        </p:nvSpPr>
        <p:spPr>
          <a:xfrm>
            <a:off x="1353312" y="2395728"/>
            <a:ext cx="5029200" cy="530352"/>
          </a:xfrm>
          <a:prstGeom prst="rect">
            <a:avLst/>
          </a:prstGeom>
          <a:noFill/>
        </p:spPr>
        <p:txBody>
          <a:bodyPr wrap="square" anchor="ctr" lIns="0" rIns="0" tIns="0" bIns="0">
            <a:spAutoFit/>
          </a:bodyPr>
          <a:lstStyle/>
          <a:p>
            <a:pPr algn="l">
              <a:lnSpc>
                <a:spcPct val="106000"/>
              </a:lnSpc>
              <a:spcBef>
                <a:spcPts val="0"/>
              </a:spcBef>
              <a:spcAft>
                <a:spcPts val="0"/>
              </a:spcAft>
            </a:pPr>
            <a:r>
              <a:rPr sz="1200" b="0">
                <a:solidFill>
                  <a:srgbClr val="1A1A1A"/>
                </a:solidFill>
                <a:latin typeface="Red Hat Text"/>
              </a:rPr>
              <a:t>Affinity / nodeSelector: the POD seeks (attract)</a:t>
            </a:r>
          </a:p>
        </p:txBody>
      </p:sp>
      <p:sp>
        <p:nvSpPr>
          <p:cNvPr id="9" name="Rounded Rectangle 8"/>
          <p:cNvSpPr/>
          <p:nvPr/>
        </p:nvSpPr>
        <p:spPr>
          <a:xfrm>
            <a:off x="841248" y="2999232"/>
            <a:ext cx="5715000" cy="530352"/>
          </a:xfrm>
          <a:prstGeom prst="roundRect">
            <a:avLst>
              <a:gd name="adj" fmla="val 6000"/>
            </a:avLst>
          </a:prstGeom>
          <a:solidFill>
            <a:srgbClr val="F5F6F8"/>
          </a:solidFill>
          <a:ln w="12700">
            <a:solidFill>
              <a:srgbClr val="DDE1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0" name="Picture 9" descr="check_steel.png"/>
          <p:cNvPicPr>
            <a:picLocks noChangeAspect="1"/>
          </p:cNvPicPr>
          <p:nvPr/>
        </p:nvPicPr>
        <p:blipFill>
          <a:blip r:embed="rId3"/>
          <a:stretch>
            <a:fillRect/>
          </a:stretch>
        </p:blipFill>
        <p:spPr>
          <a:xfrm>
            <a:off x="987552" y="3145536"/>
            <a:ext cx="237744" cy="237744"/>
          </a:xfrm>
          <a:prstGeom prst="rect">
            <a:avLst/>
          </a:prstGeom>
        </p:spPr>
      </p:pic>
      <p:sp>
        <p:nvSpPr>
          <p:cNvPr id="11" name="TextBox 10"/>
          <p:cNvSpPr txBox="1"/>
          <p:nvPr/>
        </p:nvSpPr>
        <p:spPr>
          <a:xfrm>
            <a:off x="1353312" y="2999232"/>
            <a:ext cx="5029200" cy="530352"/>
          </a:xfrm>
          <a:prstGeom prst="rect">
            <a:avLst/>
          </a:prstGeom>
          <a:noFill/>
        </p:spPr>
        <p:txBody>
          <a:bodyPr wrap="square" anchor="ctr" lIns="0" rIns="0" tIns="0" bIns="0">
            <a:spAutoFit/>
          </a:bodyPr>
          <a:lstStyle/>
          <a:p>
            <a:pPr algn="l">
              <a:lnSpc>
                <a:spcPct val="106000"/>
              </a:lnSpc>
              <a:spcBef>
                <a:spcPts val="0"/>
              </a:spcBef>
              <a:spcAft>
                <a:spcPts val="0"/>
              </a:spcAft>
            </a:pPr>
            <a:r>
              <a:rPr sz="1200" b="0">
                <a:solidFill>
                  <a:srgbClr val="1A1A1A"/>
                </a:solidFill>
                <a:latin typeface="Red Hat Text"/>
              </a:rPr>
              <a:t>Taint: the NODE repels</a:t>
            </a:r>
          </a:p>
        </p:txBody>
      </p:sp>
      <p:sp>
        <p:nvSpPr>
          <p:cNvPr id="12" name="Rounded Rectangle 11"/>
          <p:cNvSpPr/>
          <p:nvPr/>
        </p:nvSpPr>
        <p:spPr>
          <a:xfrm>
            <a:off x="841248" y="3602736"/>
            <a:ext cx="5715000" cy="530352"/>
          </a:xfrm>
          <a:prstGeom prst="roundRect">
            <a:avLst>
              <a:gd name="adj" fmla="val 6000"/>
            </a:avLst>
          </a:prstGeom>
          <a:solidFill>
            <a:srgbClr val="F5F6F8"/>
          </a:solidFill>
          <a:ln w="12700">
            <a:solidFill>
              <a:srgbClr val="DDE1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3" name="Picture 12" descr="check_steel.png"/>
          <p:cNvPicPr>
            <a:picLocks noChangeAspect="1"/>
          </p:cNvPicPr>
          <p:nvPr/>
        </p:nvPicPr>
        <p:blipFill>
          <a:blip r:embed="rId3"/>
          <a:stretch>
            <a:fillRect/>
          </a:stretch>
        </p:blipFill>
        <p:spPr>
          <a:xfrm>
            <a:off x="987552" y="3749040"/>
            <a:ext cx="237744" cy="237744"/>
          </a:xfrm>
          <a:prstGeom prst="rect">
            <a:avLst/>
          </a:prstGeom>
        </p:spPr>
      </p:pic>
      <p:sp>
        <p:nvSpPr>
          <p:cNvPr id="14" name="TextBox 13"/>
          <p:cNvSpPr txBox="1"/>
          <p:nvPr/>
        </p:nvSpPr>
        <p:spPr>
          <a:xfrm>
            <a:off x="1353312" y="3602736"/>
            <a:ext cx="5029200" cy="530352"/>
          </a:xfrm>
          <a:prstGeom prst="rect">
            <a:avLst/>
          </a:prstGeom>
          <a:noFill/>
        </p:spPr>
        <p:txBody>
          <a:bodyPr wrap="square" anchor="ctr" lIns="0" rIns="0" tIns="0" bIns="0">
            <a:spAutoFit/>
          </a:bodyPr>
          <a:lstStyle/>
          <a:p>
            <a:pPr algn="l">
              <a:lnSpc>
                <a:spcPct val="106000"/>
              </a:lnSpc>
              <a:spcBef>
                <a:spcPts val="0"/>
              </a:spcBef>
              <a:spcAft>
                <a:spcPts val="0"/>
              </a:spcAft>
            </a:pPr>
            <a:r>
              <a:rPr sz="1200" b="0">
                <a:solidFill>
                  <a:srgbClr val="1A1A1A"/>
                </a:solidFill>
                <a:latin typeface="Red Hat Text"/>
              </a:rPr>
              <a:t>Toleration: only PERMITS — it does not attract</a:t>
            </a:r>
          </a:p>
        </p:txBody>
      </p:sp>
      <p:sp>
        <p:nvSpPr>
          <p:cNvPr id="15" name="Rounded Rectangle 14"/>
          <p:cNvSpPr/>
          <p:nvPr/>
        </p:nvSpPr>
        <p:spPr>
          <a:xfrm>
            <a:off x="841248" y="4206240"/>
            <a:ext cx="5715000" cy="530352"/>
          </a:xfrm>
          <a:prstGeom prst="roundRect">
            <a:avLst>
              <a:gd name="adj" fmla="val 6000"/>
            </a:avLst>
          </a:prstGeom>
          <a:solidFill>
            <a:srgbClr val="F5F6F8"/>
          </a:solidFill>
          <a:ln w="12700">
            <a:solidFill>
              <a:srgbClr val="DDE1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6" name="Picture 15" descr="check_steel.png"/>
          <p:cNvPicPr>
            <a:picLocks noChangeAspect="1"/>
          </p:cNvPicPr>
          <p:nvPr/>
        </p:nvPicPr>
        <p:blipFill>
          <a:blip r:embed="rId3"/>
          <a:stretch>
            <a:fillRect/>
          </a:stretch>
        </p:blipFill>
        <p:spPr>
          <a:xfrm>
            <a:off x="987552" y="4352544"/>
            <a:ext cx="237744" cy="237744"/>
          </a:xfrm>
          <a:prstGeom prst="rect">
            <a:avLst/>
          </a:prstGeom>
        </p:spPr>
      </p:pic>
      <p:sp>
        <p:nvSpPr>
          <p:cNvPr id="17" name="TextBox 16"/>
          <p:cNvSpPr txBox="1"/>
          <p:nvPr/>
        </p:nvSpPr>
        <p:spPr>
          <a:xfrm>
            <a:off x="1353312" y="4206240"/>
            <a:ext cx="5029200" cy="530352"/>
          </a:xfrm>
          <a:prstGeom prst="rect">
            <a:avLst/>
          </a:prstGeom>
          <a:noFill/>
        </p:spPr>
        <p:txBody>
          <a:bodyPr wrap="square" anchor="ctr" lIns="0" rIns="0" tIns="0" bIns="0">
            <a:spAutoFit/>
          </a:bodyPr>
          <a:lstStyle/>
          <a:p>
            <a:pPr algn="l">
              <a:lnSpc>
                <a:spcPct val="106000"/>
              </a:lnSpc>
              <a:spcBef>
                <a:spcPts val="0"/>
              </a:spcBef>
              <a:spcAft>
                <a:spcPts val="0"/>
              </a:spcAft>
            </a:pPr>
            <a:r>
              <a:rPr sz="1200" b="0">
                <a:solidFill>
                  <a:srgbClr val="1A1A1A"/>
                </a:solidFill>
                <a:latin typeface="Red Hat Text"/>
              </a:rPr>
              <a:t>Dedicated pool needs taint + toleration + selector</a:t>
            </a:r>
          </a:p>
        </p:txBody>
      </p:sp>
      <p:sp>
        <p:nvSpPr>
          <p:cNvPr id="18" name="Rounded Rectangle 17"/>
          <p:cNvSpPr/>
          <p:nvPr/>
        </p:nvSpPr>
        <p:spPr>
          <a:xfrm>
            <a:off x="841248" y="4809744"/>
            <a:ext cx="5715000" cy="530352"/>
          </a:xfrm>
          <a:prstGeom prst="roundRect">
            <a:avLst>
              <a:gd name="adj" fmla="val 6000"/>
            </a:avLst>
          </a:prstGeom>
          <a:solidFill>
            <a:srgbClr val="F5F6F8"/>
          </a:solidFill>
          <a:ln w="12700">
            <a:solidFill>
              <a:srgbClr val="DDE1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9" name="Picture 18" descr="check_steel.png"/>
          <p:cNvPicPr>
            <a:picLocks noChangeAspect="1"/>
          </p:cNvPicPr>
          <p:nvPr/>
        </p:nvPicPr>
        <p:blipFill>
          <a:blip r:embed="rId3"/>
          <a:stretch>
            <a:fillRect/>
          </a:stretch>
        </p:blipFill>
        <p:spPr>
          <a:xfrm>
            <a:off x="987552" y="4956048"/>
            <a:ext cx="237744" cy="237744"/>
          </a:xfrm>
          <a:prstGeom prst="rect">
            <a:avLst/>
          </a:prstGeom>
        </p:spPr>
      </p:pic>
      <p:sp>
        <p:nvSpPr>
          <p:cNvPr id="20" name="TextBox 19"/>
          <p:cNvSpPr txBox="1"/>
          <p:nvPr/>
        </p:nvSpPr>
        <p:spPr>
          <a:xfrm>
            <a:off x="1353312" y="4809744"/>
            <a:ext cx="5029200" cy="530352"/>
          </a:xfrm>
          <a:prstGeom prst="rect">
            <a:avLst/>
          </a:prstGeom>
          <a:noFill/>
        </p:spPr>
        <p:txBody>
          <a:bodyPr wrap="square" anchor="ctr" lIns="0" rIns="0" tIns="0" bIns="0">
            <a:spAutoFit/>
          </a:bodyPr>
          <a:lstStyle/>
          <a:p>
            <a:pPr algn="l">
              <a:lnSpc>
                <a:spcPct val="106000"/>
              </a:lnSpc>
              <a:spcBef>
                <a:spcPts val="0"/>
              </a:spcBef>
              <a:spcAft>
                <a:spcPts val="0"/>
              </a:spcAft>
            </a:pPr>
            <a:r>
              <a:rPr sz="1200" b="0">
                <a:solidFill>
                  <a:srgbClr val="1A1A1A"/>
                </a:solidFill>
                <a:latin typeface="Red Hat Text"/>
              </a:rPr>
              <a:t>podAntiAffinity: never two replicas on one node</a:t>
            </a:r>
          </a:p>
        </p:txBody>
      </p:sp>
      <p:sp>
        <p:nvSpPr>
          <p:cNvPr id="21" name="Rounded Rectangle 20"/>
          <p:cNvSpPr/>
          <p:nvPr/>
        </p:nvSpPr>
        <p:spPr>
          <a:xfrm>
            <a:off x="6812280" y="2395728"/>
            <a:ext cx="4538167" cy="2944368"/>
          </a:xfrm>
          <a:prstGeom prst="roundRect">
            <a:avLst>
              <a:gd name="adj" fmla="val 4000"/>
            </a:avLst>
          </a:prstGeom>
          <a:solidFill>
            <a:srgbClr val="FFFFFF"/>
          </a:solidFill>
          <a:ln w="15240">
            <a:solidFill>
              <a:srgbClr val="DDE1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ounded Rectangle 21"/>
          <p:cNvSpPr/>
          <p:nvPr/>
        </p:nvSpPr>
        <p:spPr>
          <a:xfrm>
            <a:off x="7013448" y="2596896"/>
            <a:ext cx="1298448" cy="310896"/>
          </a:xfrm>
          <a:prstGeom prst="roundRect">
            <a:avLst>
              <a:gd name="adj" fmla="val 50000"/>
            </a:avLst>
          </a:prstGeom>
          <a:solidFill>
            <a:srgbClr val="FCEC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7013448" y="2596896"/>
            <a:ext cx="1298448" cy="310896"/>
          </a:xfrm>
          <a:prstGeom prst="rect">
            <a:avLst/>
          </a:prstGeom>
          <a:noFill/>
        </p:spPr>
        <p:txBody>
          <a:bodyPr wrap="none" anchor="ctr" lIns="0" rIns="0" tIns="0" bIns="0">
            <a:spAutoFit/>
          </a:bodyPr>
          <a:lstStyle/>
          <a:p>
            <a:pPr algn="ctr">
              <a:lnSpc>
                <a:spcPct val="106000"/>
              </a:lnSpc>
              <a:spcBef>
                <a:spcPts val="0"/>
              </a:spcBef>
              <a:spcAft>
                <a:spcPts val="0"/>
              </a:spcAft>
            </a:pPr>
            <a:r>
              <a:rPr sz="850" b="1">
                <a:solidFill>
                  <a:srgbClr val="B80000"/>
                </a:solidFill>
                <a:latin typeface="Red Hat Display"/>
              </a:rPr>
              <a:t>MEDIA PASS</a:t>
            </a:r>
          </a:p>
        </p:txBody>
      </p:sp>
      <p:pic>
        <p:nvPicPr>
          <p:cNvPr id="24" name="Picture 23" descr="eye_slate.png"/>
          <p:cNvPicPr>
            <a:picLocks noChangeAspect="1"/>
          </p:cNvPicPr>
          <p:nvPr/>
        </p:nvPicPr>
        <p:blipFill>
          <a:blip r:embed="rId4"/>
          <a:stretch>
            <a:fillRect/>
          </a:stretch>
        </p:blipFill>
        <p:spPr>
          <a:xfrm>
            <a:off x="8843619" y="3108960"/>
            <a:ext cx="475488" cy="475488"/>
          </a:xfrm>
          <a:prstGeom prst="rect">
            <a:avLst/>
          </a:prstGeom>
        </p:spPr>
      </p:pic>
      <p:sp>
        <p:nvSpPr>
          <p:cNvPr id="25" name="TextBox 24"/>
          <p:cNvSpPr txBox="1"/>
          <p:nvPr/>
        </p:nvSpPr>
        <p:spPr>
          <a:xfrm>
            <a:off x="7050024" y="3721608"/>
            <a:ext cx="4062679" cy="1481328"/>
          </a:xfrm>
          <a:prstGeom prst="rect">
            <a:avLst/>
          </a:prstGeom>
          <a:noFill/>
        </p:spPr>
        <p:txBody>
          <a:bodyPr wrap="square" anchor="t" lIns="0" rIns="0" tIns="0" bIns="0">
            <a:spAutoFit/>
          </a:bodyPr>
          <a:lstStyle/>
          <a:p>
            <a:pPr algn="l">
              <a:lnSpc>
                <a:spcPct val="120000"/>
              </a:lnSpc>
              <a:spcBef>
                <a:spcPts val="0"/>
              </a:spcBef>
              <a:spcAft>
                <a:spcPts val="0"/>
              </a:spcAft>
            </a:pPr>
            <a:r>
              <a:rPr sz="950" b="0">
                <a:solidFill>
                  <a:srgbClr val="8A9099"/>
                </a:solidFill>
                <a:latin typeface="Red Hat Text"/>
              </a:rPr>
              <a:t>Reuse concept diagram deployment-targets-scheduling-...-02-seek-vs-repel.svg — left "affinity pulls the pod toward a labelled node"; right "a taint pushes pods away; a toleration is a permitted-but-not-attracted arrow."</a:t>
            </a:r>
          </a:p>
        </p:txBody>
      </p:sp>
      <p:cxnSp>
        <p:nvCxnSpPr>
          <p:cNvPr id="26" name="Connector 25"/>
          <p:cNvCxnSpPr/>
          <p:nvPr/>
        </p:nvCxnSpPr>
        <p:spPr>
          <a:xfrm>
            <a:off x="841248" y="6437376"/>
            <a:ext cx="10509199" cy="0"/>
          </a:xfrm>
          <a:prstGeom prst="bentConnector3">
            <a:avLst/>
          </a:prstGeom>
          <a:ln w="12700">
            <a:solidFill>
              <a:srgbClr val="DDE1E6"/>
            </a:solidFill>
          </a:ln>
          <a:effectLst/>
        </p:spPr>
        <p:style>
          <a:lnRef idx="2">
            <a:schemeClr val="accent1"/>
          </a:lnRef>
          <a:fillRef idx="0">
            <a:schemeClr val="accent1"/>
          </a:fillRef>
          <a:effectRef idx="1">
            <a:schemeClr val="accent1"/>
          </a:effectRef>
          <a:fontRef idx="minor">
            <a:schemeClr val="tx1"/>
          </a:fontRef>
        </p:style>
      </p:cxnSp>
      <p:sp>
        <p:nvSpPr>
          <p:cNvPr id="27" name="TextBox 26"/>
          <p:cNvSpPr txBox="1"/>
          <p:nvPr/>
        </p:nvSpPr>
        <p:spPr>
          <a:xfrm>
            <a:off x="841248" y="6473952"/>
            <a:ext cx="7315200" cy="274320"/>
          </a:xfrm>
          <a:prstGeom prst="rect">
            <a:avLst/>
          </a:prstGeom>
          <a:noFill/>
        </p:spPr>
        <p:txBody>
          <a:bodyPr wrap="square" anchor="t" lIns="0" rIns="0" tIns="0" bIns="0">
            <a:spAutoFit/>
          </a:bodyPr>
          <a:lstStyle/>
          <a:p>
            <a:pPr algn="l">
              <a:lnSpc>
                <a:spcPct val="106000"/>
              </a:lnSpc>
              <a:spcBef>
                <a:spcPts val="0"/>
              </a:spcBef>
              <a:spcAft>
                <a:spcPts val="0"/>
              </a:spcAft>
            </a:pPr>
            <a:r>
              <a:rPr sz="950" b="0">
                <a:solidFill>
                  <a:srgbClr val="8A9099"/>
                </a:solidFill>
                <a:latin typeface="Red Hat Text"/>
              </a:rPr>
              <a:t>CONFIDENTIAL</a:t>
            </a:r>
          </a:p>
        </p:txBody>
      </p:sp>
      <p:sp>
        <p:nvSpPr>
          <p:cNvPr id="28" name="TextBox 27"/>
          <p:cNvSpPr txBox="1"/>
          <p:nvPr/>
        </p:nvSpPr>
        <p:spPr>
          <a:xfrm>
            <a:off x="10801807" y="6473952"/>
            <a:ext cx="548640" cy="274320"/>
          </a:xfrm>
          <a:prstGeom prst="rect">
            <a:avLst/>
          </a:prstGeom>
          <a:noFill/>
        </p:spPr>
        <p:txBody>
          <a:bodyPr wrap="square" anchor="t" lIns="0" rIns="0" tIns="0" bIns="0">
            <a:spAutoFit/>
          </a:bodyPr>
          <a:lstStyle/>
          <a:p>
            <a:pPr algn="r">
              <a:lnSpc>
                <a:spcPct val="106000"/>
              </a:lnSpc>
              <a:spcBef>
                <a:spcPts val="0"/>
              </a:spcBef>
              <a:spcAft>
                <a:spcPts val="0"/>
              </a:spcAft>
            </a:pPr>
            <a:r>
              <a:rPr sz="950" b="0">
                <a:solidFill>
                  <a:srgbClr val="8A9099"/>
                </a:solidFill>
                <a:latin typeface="Red Hat Text"/>
              </a:rPr>
              <a:t>122</a:t>
            </a:r>
          </a:p>
        </p:txBody>
      </p:sp>
    </p:spTree>
  </p:cSld>
  <p:clrMapOvr>
    <a:masterClrMapping/>
  </p:clrMapOvr>
</p:sld>
</file>

<file path=ppt/slides/slide1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redhat_logo.jpg"/>
          <p:cNvPicPr>
            <a:picLocks noChangeAspect="1"/>
          </p:cNvPicPr>
          <p:nvPr/>
        </p:nvPicPr>
        <p:blipFill>
          <a:blip r:embed="rId2"/>
          <a:stretch>
            <a:fillRect/>
          </a:stretch>
        </p:blipFill>
        <p:spPr>
          <a:xfrm>
            <a:off x="10326319" y="475488"/>
            <a:ext cx="1024128" cy="242248"/>
          </a:xfrm>
          <a:prstGeom prst="rect">
            <a:avLst/>
          </a:prstGeom>
        </p:spPr>
      </p:pic>
      <p:sp>
        <p:nvSpPr>
          <p:cNvPr id="3" name="TextBox 2"/>
          <p:cNvSpPr txBox="1"/>
          <p:nvPr/>
        </p:nvSpPr>
        <p:spPr>
          <a:xfrm>
            <a:off x="841248" y="548640"/>
            <a:ext cx="8595360" cy="274320"/>
          </a:xfrm>
          <a:prstGeom prst="rect">
            <a:avLst/>
          </a:prstGeom>
          <a:noFill/>
        </p:spPr>
        <p:txBody>
          <a:bodyPr wrap="square" anchor="t" lIns="0" rIns="0" tIns="0" bIns="0">
            <a:spAutoFit/>
          </a:bodyPr>
          <a:lstStyle/>
          <a:p>
            <a:pPr algn="l">
              <a:lnSpc>
                <a:spcPct val="106000"/>
              </a:lnSpc>
              <a:spcBef>
                <a:spcPts val="0"/>
              </a:spcBef>
              <a:spcAft>
                <a:spcPts val="0"/>
              </a:spcAft>
            </a:pPr>
            <a:r>
              <a:rPr sz="1250" b="1" spc="220">
                <a:solidFill>
                  <a:srgbClr val="EE0000"/>
                </a:solidFill>
                <a:latin typeface="Red Hat Display"/>
              </a:rPr>
              <a:t>M17 · DEPLOYMENT TARGETS &amp; SCHEDULING</a:t>
            </a:r>
          </a:p>
        </p:txBody>
      </p:sp>
      <p:sp>
        <p:nvSpPr>
          <p:cNvPr id="4" name="TextBox 3"/>
          <p:cNvSpPr txBox="1"/>
          <p:nvPr/>
        </p:nvSpPr>
        <p:spPr>
          <a:xfrm>
            <a:off x="841248" y="877824"/>
            <a:ext cx="10515600" cy="548640"/>
          </a:xfrm>
          <a:prstGeom prst="rect">
            <a:avLst/>
          </a:prstGeom>
          <a:noFill/>
        </p:spPr>
        <p:txBody>
          <a:bodyPr wrap="none" anchor="t" lIns="0" rIns="0" tIns="0" bIns="0">
            <a:spAutoFit/>
          </a:bodyPr>
          <a:lstStyle/>
          <a:p>
            <a:pPr algn="l">
              <a:lnSpc>
                <a:spcPct val="100000"/>
              </a:lnSpc>
              <a:spcBef>
                <a:spcPts val="0"/>
              </a:spcBef>
              <a:spcAft>
                <a:spcPts val="0"/>
              </a:spcAft>
            </a:pPr>
            <a:r>
              <a:rPr sz="2500" b="1">
                <a:solidFill>
                  <a:srgbClr val="1A1A1A"/>
                </a:solidFill>
                <a:latin typeface="Red Hat Display"/>
              </a:rPr>
              <a:t>Spread across failure domains</a:t>
            </a:r>
          </a:p>
        </p:txBody>
      </p:sp>
      <p:cxnSp>
        <p:nvCxnSpPr>
          <p:cNvPr id="5" name="Connector 4"/>
          <p:cNvCxnSpPr/>
          <p:nvPr/>
        </p:nvCxnSpPr>
        <p:spPr>
          <a:xfrm>
            <a:off x="841248" y="1554480"/>
            <a:ext cx="1371600" cy="0"/>
          </a:xfrm>
          <a:prstGeom prst="bentConnector3">
            <a:avLst/>
          </a:prstGeom>
          <a:ln w="31750">
            <a:solidFill>
              <a:srgbClr val="EE0000"/>
            </a:solidFill>
          </a:ln>
          <a:effectLst/>
        </p:spPr>
        <p:style>
          <a:lnRef idx="2">
            <a:schemeClr val="accent1"/>
          </a:lnRef>
          <a:fillRef idx="0">
            <a:schemeClr val="accent1"/>
          </a:fillRef>
          <a:effectRef idx="1">
            <a:schemeClr val="accent1"/>
          </a:effectRef>
          <a:fontRef idx="minor">
            <a:schemeClr val="tx1"/>
          </a:fontRef>
        </p:style>
      </p:cxnSp>
      <p:sp>
        <p:nvSpPr>
          <p:cNvPr id="6" name="Rounded Rectangle 5"/>
          <p:cNvSpPr/>
          <p:nvPr/>
        </p:nvSpPr>
        <p:spPr>
          <a:xfrm>
            <a:off x="841248" y="2395728"/>
            <a:ext cx="5715000" cy="530352"/>
          </a:xfrm>
          <a:prstGeom prst="roundRect">
            <a:avLst>
              <a:gd name="adj" fmla="val 6000"/>
            </a:avLst>
          </a:prstGeom>
          <a:solidFill>
            <a:srgbClr val="F5F6F8"/>
          </a:solidFill>
          <a:ln w="12700">
            <a:solidFill>
              <a:srgbClr val="DDE1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check_steel.png"/>
          <p:cNvPicPr>
            <a:picLocks noChangeAspect="1"/>
          </p:cNvPicPr>
          <p:nvPr/>
        </p:nvPicPr>
        <p:blipFill>
          <a:blip r:embed="rId3"/>
          <a:stretch>
            <a:fillRect/>
          </a:stretch>
        </p:blipFill>
        <p:spPr>
          <a:xfrm>
            <a:off x="987552" y="2542032"/>
            <a:ext cx="237744" cy="237744"/>
          </a:xfrm>
          <a:prstGeom prst="rect">
            <a:avLst/>
          </a:prstGeom>
        </p:spPr>
      </p:pic>
      <p:sp>
        <p:nvSpPr>
          <p:cNvPr id="8" name="TextBox 7"/>
          <p:cNvSpPr txBox="1"/>
          <p:nvPr/>
        </p:nvSpPr>
        <p:spPr>
          <a:xfrm>
            <a:off x="1353312" y="2395728"/>
            <a:ext cx="5029200" cy="530352"/>
          </a:xfrm>
          <a:prstGeom prst="rect">
            <a:avLst/>
          </a:prstGeom>
          <a:noFill/>
        </p:spPr>
        <p:txBody>
          <a:bodyPr wrap="square" anchor="ctr" lIns="0" rIns="0" tIns="0" bIns="0">
            <a:spAutoFit/>
          </a:bodyPr>
          <a:lstStyle/>
          <a:p>
            <a:pPr algn="l">
              <a:lnSpc>
                <a:spcPct val="106000"/>
              </a:lnSpc>
              <a:spcBef>
                <a:spcPts val="0"/>
              </a:spcBef>
              <a:spcAft>
                <a:spcPts val="0"/>
              </a:spcAft>
            </a:pPr>
            <a:r>
              <a:rPr sz="1200" b="0">
                <a:solidFill>
                  <a:srgbClr val="1A1A1A"/>
                </a:solidFill>
                <a:latin typeface="Red Hat Text"/>
              </a:rPr>
              <a:t>Anti-affinity: blunt "no two on a node"</a:t>
            </a:r>
          </a:p>
        </p:txBody>
      </p:sp>
      <p:sp>
        <p:nvSpPr>
          <p:cNvPr id="9" name="Rounded Rectangle 8"/>
          <p:cNvSpPr/>
          <p:nvPr/>
        </p:nvSpPr>
        <p:spPr>
          <a:xfrm>
            <a:off x="841248" y="2999232"/>
            <a:ext cx="5715000" cy="530352"/>
          </a:xfrm>
          <a:prstGeom prst="roundRect">
            <a:avLst>
              <a:gd name="adj" fmla="val 6000"/>
            </a:avLst>
          </a:prstGeom>
          <a:solidFill>
            <a:srgbClr val="F5F6F8"/>
          </a:solidFill>
          <a:ln w="12700">
            <a:solidFill>
              <a:srgbClr val="DDE1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0" name="Picture 9" descr="check_steel.png"/>
          <p:cNvPicPr>
            <a:picLocks noChangeAspect="1"/>
          </p:cNvPicPr>
          <p:nvPr/>
        </p:nvPicPr>
        <p:blipFill>
          <a:blip r:embed="rId3"/>
          <a:stretch>
            <a:fillRect/>
          </a:stretch>
        </p:blipFill>
        <p:spPr>
          <a:xfrm>
            <a:off x="987552" y="3145536"/>
            <a:ext cx="237744" cy="237744"/>
          </a:xfrm>
          <a:prstGeom prst="rect">
            <a:avLst/>
          </a:prstGeom>
        </p:spPr>
      </p:pic>
      <p:sp>
        <p:nvSpPr>
          <p:cNvPr id="11" name="TextBox 10"/>
          <p:cNvSpPr txBox="1"/>
          <p:nvPr/>
        </p:nvSpPr>
        <p:spPr>
          <a:xfrm>
            <a:off x="1353312" y="2999232"/>
            <a:ext cx="5029200" cy="530352"/>
          </a:xfrm>
          <a:prstGeom prst="rect">
            <a:avLst/>
          </a:prstGeom>
          <a:noFill/>
        </p:spPr>
        <p:txBody>
          <a:bodyPr wrap="square" anchor="ctr" lIns="0" rIns="0" tIns="0" bIns="0">
            <a:spAutoFit/>
          </a:bodyPr>
          <a:lstStyle/>
          <a:p>
            <a:pPr algn="l">
              <a:lnSpc>
                <a:spcPct val="106000"/>
              </a:lnSpc>
              <a:spcBef>
                <a:spcPts val="0"/>
              </a:spcBef>
              <a:spcAft>
                <a:spcPts val="0"/>
              </a:spcAft>
            </a:pPr>
            <a:r>
              <a:rPr sz="1200" b="0">
                <a:solidFill>
                  <a:srgbClr val="1A1A1A"/>
                </a:solidFill>
                <a:latin typeface="Red Hat Text"/>
              </a:rPr>
              <a:t>topologySpreadConstraints: EVEN spread across a domain</a:t>
            </a:r>
          </a:p>
        </p:txBody>
      </p:sp>
      <p:sp>
        <p:nvSpPr>
          <p:cNvPr id="12" name="Rounded Rectangle 11"/>
          <p:cNvSpPr/>
          <p:nvPr/>
        </p:nvSpPr>
        <p:spPr>
          <a:xfrm>
            <a:off x="841248" y="3602736"/>
            <a:ext cx="5715000" cy="530352"/>
          </a:xfrm>
          <a:prstGeom prst="roundRect">
            <a:avLst>
              <a:gd name="adj" fmla="val 6000"/>
            </a:avLst>
          </a:prstGeom>
          <a:solidFill>
            <a:srgbClr val="F5F6F8"/>
          </a:solidFill>
          <a:ln w="12700">
            <a:solidFill>
              <a:srgbClr val="DDE1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3" name="Picture 12" descr="check_steel.png"/>
          <p:cNvPicPr>
            <a:picLocks noChangeAspect="1"/>
          </p:cNvPicPr>
          <p:nvPr/>
        </p:nvPicPr>
        <p:blipFill>
          <a:blip r:embed="rId3"/>
          <a:stretch>
            <a:fillRect/>
          </a:stretch>
        </p:blipFill>
        <p:spPr>
          <a:xfrm>
            <a:off x="987552" y="3749040"/>
            <a:ext cx="237744" cy="237744"/>
          </a:xfrm>
          <a:prstGeom prst="rect">
            <a:avLst/>
          </a:prstGeom>
        </p:spPr>
      </p:pic>
      <p:sp>
        <p:nvSpPr>
          <p:cNvPr id="14" name="TextBox 13"/>
          <p:cNvSpPr txBox="1"/>
          <p:nvPr/>
        </p:nvSpPr>
        <p:spPr>
          <a:xfrm>
            <a:off x="1353312" y="3602736"/>
            <a:ext cx="5029200" cy="530352"/>
          </a:xfrm>
          <a:prstGeom prst="rect">
            <a:avLst/>
          </a:prstGeom>
          <a:noFill/>
        </p:spPr>
        <p:txBody>
          <a:bodyPr wrap="square" anchor="ctr" lIns="0" rIns="0" tIns="0" bIns="0">
            <a:spAutoFit/>
          </a:bodyPr>
          <a:lstStyle/>
          <a:p>
            <a:pPr algn="l">
              <a:lnSpc>
                <a:spcPct val="106000"/>
              </a:lnSpc>
              <a:spcBef>
                <a:spcPts val="0"/>
              </a:spcBef>
              <a:spcAft>
                <a:spcPts val="0"/>
              </a:spcAft>
            </a:pPr>
            <a:r>
              <a:rPr sz="1200" b="0">
                <a:solidFill>
                  <a:srgbClr val="1A1A1A"/>
                </a:solidFill>
                <a:latin typeface="Red Hat Text"/>
              </a:rPr>
              <a:t>Domain = any node label (hostname, zone, region)</a:t>
            </a:r>
          </a:p>
        </p:txBody>
      </p:sp>
      <p:sp>
        <p:nvSpPr>
          <p:cNvPr id="15" name="Rounded Rectangle 14"/>
          <p:cNvSpPr/>
          <p:nvPr/>
        </p:nvSpPr>
        <p:spPr>
          <a:xfrm>
            <a:off x="841248" y="4206240"/>
            <a:ext cx="5715000" cy="530352"/>
          </a:xfrm>
          <a:prstGeom prst="roundRect">
            <a:avLst>
              <a:gd name="adj" fmla="val 6000"/>
            </a:avLst>
          </a:prstGeom>
          <a:solidFill>
            <a:srgbClr val="F5F6F8"/>
          </a:solidFill>
          <a:ln w="12700">
            <a:solidFill>
              <a:srgbClr val="DDE1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6" name="Picture 15" descr="check_steel.png"/>
          <p:cNvPicPr>
            <a:picLocks noChangeAspect="1"/>
          </p:cNvPicPr>
          <p:nvPr/>
        </p:nvPicPr>
        <p:blipFill>
          <a:blip r:embed="rId3"/>
          <a:stretch>
            <a:fillRect/>
          </a:stretch>
        </p:blipFill>
        <p:spPr>
          <a:xfrm>
            <a:off x="987552" y="4352544"/>
            <a:ext cx="237744" cy="237744"/>
          </a:xfrm>
          <a:prstGeom prst="rect">
            <a:avLst/>
          </a:prstGeom>
        </p:spPr>
      </p:pic>
      <p:sp>
        <p:nvSpPr>
          <p:cNvPr id="17" name="TextBox 16"/>
          <p:cNvSpPr txBox="1"/>
          <p:nvPr/>
        </p:nvSpPr>
        <p:spPr>
          <a:xfrm>
            <a:off x="1353312" y="4206240"/>
            <a:ext cx="5029200" cy="530352"/>
          </a:xfrm>
          <a:prstGeom prst="rect">
            <a:avLst/>
          </a:prstGeom>
          <a:noFill/>
        </p:spPr>
        <p:txBody>
          <a:bodyPr wrap="square" anchor="ctr" lIns="0" rIns="0" tIns="0" bIns="0">
            <a:spAutoFit/>
          </a:bodyPr>
          <a:lstStyle/>
          <a:p>
            <a:pPr algn="l">
              <a:lnSpc>
                <a:spcPct val="106000"/>
              </a:lnSpc>
              <a:spcBef>
                <a:spcPts val="0"/>
              </a:spcBef>
              <a:spcAft>
                <a:spcPts val="0"/>
              </a:spcAft>
            </a:pPr>
            <a:r>
              <a:rPr sz="1200" b="0">
                <a:solidFill>
                  <a:srgbClr val="1A1A1A"/>
                </a:solidFill>
                <a:latin typeface="Red Hat Text"/>
              </a:rPr>
              <a:t>maxSkew = how uneven you'll tolerate</a:t>
            </a:r>
          </a:p>
        </p:txBody>
      </p:sp>
      <p:sp>
        <p:nvSpPr>
          <p:cNvPr id="18" name="Rounded Rectangle 17"/>
          <p:cNvSpPr/>
          <p:nvPr/>
        </p:nvSpPr>
        <p:spPr>
          <a:xfrm>
            <a:off x="841248" y="4809744"/>
            <a:ext cx="5715000" cy="530352"/>
          </a:xfrm>
          <a:prstGeom prst="roundRect">
            <a:avLst>
              <a:gd name="adj" fmla="val 6000"/>
            </a:avLst>
          </a:prstGeom>
          <a:solidFill>
            <a:srgbClr val="F5F6F8"/>
          </a:solidFill>
          <a:ln w="12700">
            <a:solidFill>
              <a:srgbClr val="DDE1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9" name="Picture 18" descr="check_steel.png"/>
          <p:cNvPicPr>
            <a:picLocks noChangeAspect="1"/>
          </p:cNvPicPr>
          <p:nvPr/>
        </p:nvPicPr>
        <p:blipFill>
          <a:blip r:embed="rId3"/>
          <a:stretch>
            <a:fillRect/>
          </a:stretch>
        </p:blipFill>
        <p:spPr>
          <a:xfrm>
            <a:off x="987552" y="4956048"/>
            <a:ext cx="237744" cy="237744"/>
          </a:xfrm>
          <a:prstGeom prst="rect">
            <a:avLst/>
          </a:prstGeom>
        </p:spPr>
      </p:pic>
      <p:sp>
        <p:nvSpPr>
          <p:cNvPr id="20" name="TextBox 19"/>
          <p:cNvSpPr txBox="1"/>
          <p:nvPr/>
        </p:nvSpPr>
        <p:spPr>
          <a:xfrm>
            <a:off x="1353312" y="4809744"/>
            <a:ext cx="5029200" cy="530352"/>
          </a:xfrm>
          <a:prstGeom prst="rect">
            <a:avLst/>
          </a:prstGeom>
          <a:noFill/>
        </p:spPr>
        <p:txBody>
          <a:bodyPr wrap="square" anchor="ctr" lIns="0" rIns="0" tIns="0" bIns="0">
            <a:spAutoFit/>
          </a:bodyPr>
          <a:lstStyle/>
          <a:p>
            <a:pPr algn="l">
              <a:lnSpc>
                <a:spcPct val="106000"/>
              </a:lnSpc>
              <a:spcBef>
                <a:spcPts val="0"/>
              </a:spcBef>
              <a:spcAft>
                <a:spcPts val="0"/>
              </a:spcAft>
            </a:pPr>
            <a:r>
              <a:rPr sz="1200" b="0">
                <a:solidFill>
                  <a:srgbClr val="1A1A1A"/>
                </a:solidFill>
                <a:latin typeface="Red Hat Text"/>
              </a:rPr>
              <a:t>DoNotSchedule (hard) vs ScheduleAnyway (soft)</a:t>
            </a:r>
          </a:p>
        </p:txBody>
      </p:sp>
      <p:sp>
        <p:nvSpPr>
          <p:cNvPr id="21" name="Rounded Rectangle 20"/>
          <p:cNvSpPr/>
          <p:nvPr/>
        </p:nvSpPr>
        <p:spPr>
          <a:xfrm>
            <a:off x="6812280" y="2395728"/>
            <a:ext cx="4538167" cy="2944368"/>
          </a:xfrm>
          <a:prstGeom prst="roundRect">
            <a:avLst>
              <a:gd name="adj" fmla="val 4000"/>
            </a:avLst>
          </a:prstGeom>
          <a:solidFill>
            <a:srgbClr val="FFFFFF"/>
          </a:solidFill>
          <a:ln w="15240">
            <a:solidFill>
              <a:srgbClr val="DDE1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ounded Rectangle 21"/>
          <p:cNvSpPr/>
          <p:nvPr/>
        </p:nvSpPr>
        <p:spPr>
          <a:xfrm>
            <a:off x="7013448" y="2596896"/>
            <a:ext cx="1298448" cy="310896"/>
          </a:xfrm>
          <a:prstGeom prst="roundRect">
            <a:avLst>
              <a:gd name="adj" fmla="val 50000"/>
            </a:avLst>
          </a:prstGeom>
          <a:solidFill>
            <a:srgbClr val="FCEC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7013448" y="2596896"/>
            <a:ext cx="1298448" cy="310896"/>
          </a:xfrm>
          <a:prstGeom prst="rect">
            <a:avLst/>
          </a:prstGeom>
          <a:noFill/>
        </p:spPr>
        <p:txBody>
          <a:bodyPr wrap="none" anchor="ctr" lIns="0" rIns="0" tIns="0" bIns="0">
            <a:spAutoFit/>
          </a:bodyPr>
          <a:lstStyle/>
          <a:p>
            <a:pPr algn="ctr">
              <a:lnSpc>
                <a:spcPct val="106000"/>
              </a:lnSpc>
              <a:spcBef>
                <a:spcPts val="0"/>
              </a:spcBef>
              <a:spcAft>
                <a:spcPts val="0"/>
              </a:spcAft>
            </a:pPr>
            <a:r>
              <a:rPr sz="850" b="1">
                <a:solidFill>
                  <a:srgbClr val="B80000"/>
                </a:solidFill>
                <a:latin typeface="Red Hat Display"/>
              </a:rPr>
              <a:t>MEDIA PASS</a:t>
            </a:r>
          </a:p>
        </p:txBody>
      </p:sp>
      <p:pic>
        <p:nvPicPr>
          <p:cNvPr id="24" name="Picture 23" descr="eye_slate.png"/>
          <p:cNvPicPr>
            <a:picLocks noChangeAspect="1"/>
          </p:cNvPicPr>
          <p:nvPr/>
        </p:nvPicPr>
        <p:blipFill>
          <a:blip r:embed="rId4"/>
          <a:stretch>
            <a:fillRect/>
          </a:stretch>
        </p:blipFill>
        <p:spPr>
          <a:xfrm>
            <a:off x="8843619" y="3108960"/>
            <a:ext cx="475488" cy="475488"/>
          </a:xfrm>
          <a:prstGeom prst="rect">
            <a:avLst/>
          </a:prstGeom>
        </p:spPr>
      </p:pic>
      <p:sp>
        <p:nvSpPr>
          <p:cNvPr id="25" name="TextBox 24"/>
          <p:cNvSpPr txBox="1"/>
          <p:nvPr/>
        </p:nvSpPr>
        <p:spPr>
          <a:xfrm>
            <a:off x="7050024" y="3721608"/>
            <a:ext cx="4062679" cy="1481328"/>
          </a:xfrm>
          <a:prstGeom prst="rect">
            <a:avLst/>
          </a:prstGeom>
          <a:noFill/>
        </p:spPr>
        <p:txBody>
          <a:bodyPr wrap="square" anchor="t" lIns="0" rIns="0" tIns="0" bIns="0">
            <a:spAutoFit/>
          </a:bodyPr>
          <a:lstStyle/>
          <a:p>
            <a:pPr algn="l">
              <a:lnSpc>
                <a:spcPct val="120000"/>
              </a:lnSpc>
              <a:spcBef>
                <a:spcPts val="0"/>
              </a:spcBef>
              <a:spcAft>
                <a:spcPts val="0"/>
              </a:spcAft>
            </a:pPr>
            <a:r>
              <a:rPr sz="950" b="0">
                <a:solidFill>
                  <a:srgbClr val="8A9099"/>
                </a:solidFill>
                <a:latin typeface="Red Hat Text"/>
              </a:rPr>
              <a:t>Three nodes (or three zones) each holding one replica evenly, with a maxSkew=1 caption; a fourth would-be pod bouncing off with "DoNotSchedule → Pending" vs sliding in with "ScheduleAnyway".</a:t>
            </a:r>
          </a:p>
        </p:txBody>
      </p:sp>
      <p:cxnSp>
        <p:nvCxnSpPr>
          <p:cNvPr id="26" name="Connector 25"/>
          <p:cNvCxnSpPr/>
          <p:nvPr/>
        </p:nvCxnSpPr>
        <p:spPr>
          <a:xfrm>
            <a:off x="841248" y="6437376"/>
            <a:ext cx="10509199" cy="0"/>
          </a:xfrm>
          <a:prstGeom prst="bentConnector3">
            <a:avLst/>
          </a:prstGeom>
          <a:ln w="12700">
            <a:solidFill>
              <a:srgbClr val="DDE1E6"/>
            </a:solidFill>
          </a:ln>
          <a:effectLst/>
        </p:spPr>
        <p:style>
          <a:lnRef idx="2">
            <a:schemeClr val="accent1"/>
          </a:lnRef>
          <a:fillRef idx="0">
            <a:schemeClr val="accent1"/>
          </a:fillRef>
          <a:effectRef idx="1">
            <a:schemeClr val="accent1"/>
          </a:effectRef>
          <a:fontRef idx="minor">
            <a:schemeClr val="tx1"/>
          </a:fontRef>
        </p:style>
      </p:cxnSp>
      <p:sp>
        <p:nvSpPr>
          <p:cNvPr id="27" name="TextBox 26"/>
          <p:cNvSpPr txBox="1"/>
          <p:nvPr/>
        </p:nvSpPr>
        <p:spPr>
          <a:xfrm>
            <a:off x="841248" y="6473952"/>
            <a:ext cx="7315200" cy="274320"/>
          </a:xfrm>
          <a:prstGeom prst="rect">
            <a:avLst/>
          </a:prstGeom>
          <a:noFill/>
        </p:spPr>
        <p:txBody>
          <a:bodyPr wrap="square" anchor="t" lIns="0" rIns="0" tIns="0" bIns="0">
            <a:spAutoFit/>
          </a:bodyPr>
          <a:lstStyle/>
          <a:p>
            <a:pPr algn="l">
              <a:lnSpc>
                <a:spcPct val="106000"/>
              </a:lnSpc>
              <a:spcBef>
                <a:spcPts val="0"/>
              </a:spcBef>
              <a:spcAft>
                <a:spcPts val="0"/>
              </a:spcAft>
            </a:pPr>
            <a:r>
              <a:rPr sz="950" b="0">
                <a:solidFill>
                  <a:srgbClr val="8A9099"/>
                </a:solidFill>
                <a:latin typeface="Red Hat Text"/>
              </a:rPr>
              <a:t>CONFIDENTIAL</a:t>
            </a:r>
          </a:p>
        </p:txBody>
      </p:sp>
      <p:sp>
        <p:nvSpPr>
          <p:cNvPr id="28" name="TextBox 27"/>
          <p:cNvSpPr txBox="1"/>
          <p:nvPr/>
        </p:nvSpPr>
        <p:spPr>
          <a:xfrm>
            <a:off x="10801807" y="6473952"/>
            <a:ext cx="548640" cy="274320"/>
          </a:xfrm>
          <a:prstGeom prst="rect">
            <a:avLst/>
          </a:prstGeom>
          <a:noFill/>
        </p:spPr>
        <p:txBody>
          <a:bodyPr wrap="square" anchor="t" lIns="0" rIns="0" tIns="0" bIns="0">
            <a:spAutoFit/>
          </a:bodyPr>
          <a:lstStyle/>
          <a:p>
            <a:pPr algn="r">
              <a:lnSpc>
                <a:spcPct val="106000"/>
              </a:lnSpc>
              <a:spcBef>
                <a:spcPts val="0"/>
              </a:spcBef>
              <a:spcAft>
                <a:spcPts val="0"/>
              </a:spcAft>
            </a:pPr>
            <a:r>
              <a:rPr sz="950" b="0">
                <a:solidFill>
                  <a:srgbClr val="8A9099"/>
                </a:solidFill>
                <a:latin typeface="Red Hat Text"/>
              </a:rPr>
              <a:t>123</a:t>
            </a:r>
          </a:p>
        </p:txBody>
      </p:sp>
    </p:spTree>
  </p:cSld>
  <p:clrMapOvr>
    <a:masterClrMapping/>
  </p:clrMapOvr>
</p:sld>
</file>

<file path=ppt/slides/slide14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redhat_logo.jpg"/>
          <p:cNvPicPr>
            <a:picLocks noChangeAspect="1"/>
          </p:cNvPicPr>
          <p:nvPr/>
        </p:nvPicPr>
        <p:blipFill>
          <a:blip r:embed="rId2"/>
          <a:stretch>
            <a:fillRect/>
          </a:stretch>
        </p:blipFill>
        <p:spPr>
          <a:xfrm>
            <a:off x="10326319" y="475488"/>
            <a:ext cx="1024128" cy="242248"/>
          </a:xfrm>
          <a:prstGeom prst="rect">
            <a:avLst/>
          </a:prstGeom>
        </p:spPr>
      </p:pic>
      <p:sp>
        <p:nvSpPr>
          <p:cNvPr id="3" name="TextBox 2"/>
          <p:cNvSpPr txBox="1"/>
          <p:nvPr/>
        </p:nvSpPr>
        <p:spPr>
          <a:xfrm>
            <a:off x="841248" y="548640"/>
            <a:ext cx="8595360" cy="274320"/>
          </a:xfrm>
          <a:prstGeom prst="rect">
            <a:avLst/>
          </a:prstGeom>
          <a:noFill/>
        </p:spPr>
        <p:txBody>
          <a:bodyPr wrap="square" anchor="t" lIns="0" rIns="0" tIns="0" bIns="0">
            <a:spAutoFit/>
          </a:bodyPr>
          <a:lstStyle/>
          <a:p>
            <a:pPr algn="l">
              <a:lnSpc>
                <a:spcPct val="106000"/>
              </a:lnSpc>
              <a:spcBef>
                <a:spcPts val="0"/>
              </a:spcBef>
              <a:spcAft>
                <a:spcPts val="0"/>
              </a:spcAft>
            </a:pPr>
            <a:r>
              <a:rPr sz="1250" b="1" spc="220">
                <a:solidFill>
                  <a:srgbClr val="EE0000"/>
                </a:solidFill>
                <a:latin typeface="Red Hat Display"/>
              </a:rPr>
              <a:t>M17 · DEPLOYMENT TARGETS &amp; SCHEDULING</a:t>
            </a:r>
          </a:p>
        </p:txBody>
      </p:sp>
      <p:sp>
        <p:nvSpPr>
          <p:cNvPr id="4" name="TextBox 3"/>
          <p:cNvSpPr txBox="1"/>
          <p:nvPr/>
        </p:nvSpPr>
        <p:spPr>
          <a:xfrm>
            <a:off x="841248" y="877824"/>
            <a:ext cx="10515600" cy="548640"/>
          </a:xfrm>
          <a:prstGeom prst="rect">
            <a:avLst/>
          </a:prstGeom>
          <a:noFill/>
        </p:spPr>
        <p:txBody>
          <a:bodyPr wrap="none" anchor="t" lIns="0" rIns="0" tIns="0" bIns="0">
            <a:spAutoFit/>
          </a:bodyPr>
          <a:lstStyle/>
          <a:p>
            <a:pPr algn="l">
              <a:lnSpc>
                <a:spcPct val="100000"/>
              </a:lnSpc>
              <a:spcBef>
                <a:spcPts val="0"/>
              </a:spcBef>
              <a:spcAft>
                <a:spcPts val="0"/>
              </a:spcAft>
            </a:pPr>
            <a:r>
              <a:rPr sz="2500" b="1">
                <a:solidFill>
                  <a:srgbClr val="1A1A1A"/>
                </a:solidFill>
                <a:latin typeface="Red Hat Display"/>
              </a:rPr>
              <a:t>Dedicated pools — the trio in practice</a:t>
            </a:r>
          </a:p>
        </p:txBody>
      </p:sp>
      <p:cxnSp>
        <p:nvCxnSpPr>
          <p:cNvPr id="5" name="Connector 4"/>
          <p:cNvCxnSpPr/>
          <p:nvPr/>
        </p:nvCxnSpPr>
        <p:spPr>
          <a:xfrm>
            <a:off x="841248" y="1554480"/>
            <a:ext cx="1371600" cy="0"/>
          </a:xfrm>
          <a:prstGeom prst="bentConnector3">
            <a:avLst/>
          </a:prstGeom>
          <a:ln w="31750">
            <a:solidFill>
              <a:srgbClr val="EE0000"/>
            </a:solidFill>
          </a:ln>
          <a:effectLst/>
        </p:spPr>
        <p:style>
          <a:lnRef idx="2">
            <a:schemeClr val="accent1"/>
          </a:lnRef>
          <a:fillRef idx="0">
            <a:schemeClr val="accent1"/>
          </a:fillRef>
          <a:effectRef idx="1">
            <a:schemeClr val="accent1"/>
          </a:effectRef>
          <a:fontRef idx="minor">
            <a:schemeClr val="tx1"/>
          </a:fontRef>
        </p:style>
      </p:cxnSp>
      <p:sp>
        <p:nvSpPr>
          <p:cNvPr id="6" name="Rounded Rectangle 5"/>
          <p:cNvSpPr/>
          <p:nvPr/>
        </p:nvSpPr>
        <p:spPr>
          <a:xfrm>
            <a:off x="841248" y="2395728"/>
            <a:ext cx="5715000" cy="530352"/>
          </a:xfrm>
          <a:prstGeom prst="roundRect">
            <a:avLst>
              <a:gd name="adj" fmla="val 6000"/>
            </a:avLst>
          </a:prstGeom>
          <a:solidFill>
            <a:srgbClr val="F5F6F8"/>
          </a:solidFill>
          <a:ln w="12700">
            <a:solidFill>
              <a:srgbClr val="DDE1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check_steel.png"/>
          <p:cNvPicPr>
            <a:picLocks noChangeAspect="1"/>
          </p:cNvPicPr>
          <p:nvPr/>
        </p:nvPicPr>
        <p:blipFill>
          <a:blip r:embed="rId3"/>
          <a:stretch>
            <a:fillRect/>
          </a:stretch>
        </p:blipFill>
        <p:spPr>
          <a:xfrm>
            <a:off x="987552" y="2542032"/>
            <a:ext cx="237744" cy="237744"/>
          </a:xfrm>
          <a:prstGeom prst="rect">
            <a:avLst/>
          </a:prstGeom>
        </p:spPr>
      </p:pic>
      <p:sp>
        <p:nvSpPr>
          <p:cNvPr id="8" name="TextBox 7"/>
          <p:cNvSpPr txBox="1"/>
          <p:nvPr/>
        </p:nvSpPr>
        <p:spPr>
          <a:xfrm>
            <a:off x="1353312" y="2395728"/>
            <a:ext cx="5029200" cy="530352"/>
          </a:xfrm>
          <a:prstGeom prst="rect">
            <a:avLst/>
          </a:prstGeom>
          <a:noFill/>
        </p:spPr>
        <p:txBody>
          <a:bodyPr wrap="square" anchor="ctr" lIns="0" rIns="0" tIns="0" bIns="0">
            <a:spAutoFit/>
          </a:bodyPr>
          <a:lstStyle/>
          <a:p>
            <a:pPr algn="l">
              <a:lnSpc>
                <a:spcPct val="106000"/>
              </a:lnSpc>
              <a:spcBef>
                <a:spcPts val="0"/>
              </a:spcBef>
              <a:spcAft>
                <a:spcPts val="0"/>
              </a:spcAft>
            </a:pPr>
            <a:r>
              <a:rPr sz="1200" b="0">
                <a:solidFill>
                  <a:srgbClr val="1A1A1A"/>
                </a:solidFill>
                <a:latin typeface="Red Hat Text"/>
              </a:rPr>
              <a:t>Platform taints a pool: keep everything off</a:t>
            </a:r>
          </a:p>
        </p:txBody>
      </p:sp>
      <p:sp>
        <p:nvSpPr>
          <p:cNvPr id="9" name="Rounded Rectangle 8"/>
          <p:cNvSpPr/>
          <p:nvPr/>
        </p:nvSpPr>
        <p:spPr>
          <a:xfrm>
            <a:off x="841248" y="2999232"/>
            <a:ext cx="5715000" cy="530352"/>
          </a:xfrm>
          <a:prstGeom prst="roundRect">
            <a:avLst>
              <a:gd name="adj" fmla="val 6000"/>
            </a:avLst>
          </a:prstGeom>
          <a:solidFill>
            <a:srgbClr val="F5F6F8"/>
          </a:solidFill>
          <a:ln w="12700">
            <a:solidFill>
              <a:srgbClr val="DDE1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0" name="Picture 9" descr="check_steel.png"/>
          <p:cNvPicPr>
            <a:picLocks noChangeAspect="1"/>
          </p:cNvPicPr>
          <p:nvPr/>
        </p:nvPicPr>
        <p:blipFill>
          <a:blip r:embed="rId3"/>
          <a:stretch>
            <a:fillRect/>
          </a:stretch>
        </p:blipFill>
        <p:spPr>
          <a:xfrm>
            <a:off x="987552" y="3145536"/>
            <a:ext cx="237744" cy="237744"/>
          </a:xfrm>
          <a:prstGeom prst="rect">
            <a:avLst/>
          </a:prstGeom>
        </p:spPr>
      </p:pic>
      <p:sp>
        <p:nvSpPr>
          <p:cNvPr id="11" name="TextBox 10"/>
          <p:cNvSpPr txBox="1"/>
          <p:nvPr/>
        </p:nvSpPr>
        <p:spPr>
          <a:xfrm>
            <a:off x="1353312" y="2999232"/>
            <a:ext cx="5029200" cy="530352"/>
          </a:xfrm>
          <a:prstGeom prst="rect">
            <a:avLst/>
          </a:prstGeom>
          <a:noFill/>
        </p:spPr>
        <p:txBody>
          <a:bodyPr wrap="square" anchor="ctr" lIns="0" rIns="0" tIns="0" bIns="0">
            <a:spAutoFit/>
          </a:bodyPr>
          <a:lstStyle/>
          <a:p>
            <a:pPr algn="l">
              <a:lnSpc>
                <a:spcPct val="106000"/>
              </a:lnSpc>
              <a:spcBef>
                <a:spcPts val="0"/>
              </a:spcBef>
              <a:spcAft>
                <a:spcPts val="0"/>
              </a:spcAft>
            </a:pPr>
            <a:r>
              <a:rPr sz="1200" b="0">
                <a:solidFill>
                  <a:srgbClr val="1A1A1A"/>
                </a:solidFill>
                <a:latin typeface="Red Hat Text"/>
              </a:rPr>
              <a:t>Your workload tolerates it: allowed on</a:t>
            </a:r>
          </a:p>
        </p:txBody>
      </p:sp>
      <p:sp>
        <p:nvSpPr>
          <p:cNvPr id="12" name="Rounded Rectangle 11"/>
          <p:cNvSpPr/>
          <p:nvPr/>
        </p:nvSpPr>
        <p:spPr>
          <a:xfrm>
            <a:off x="841248" y="3602736"/>
            <a:ext cx="5715000" cy="530352"/>
          </a:xfrm>
          <a:prstGeom prst="roundRect">
            <a:avLst>
              <a:gd name="adj" fmla="val 6000"/>
            </a:avLst>
          </a:prstGeom>
          <a:solidFill>
            <a:srgbClr val="F5F6F8"/>
          </a:solidFill>
          <a:ln w="12700">
            <a:solidFill>
              <a:srgbClr val="DDE1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3" name="Picture 12" descr="check_steel.png"/>
          <p:cNvPicPr>
            <a:picLocks noChangeAspect="1"/>
          </p:cNvPicPr>
          <p:nvPr/>
        </p:nvPicPr>
        <p:blipFill>
          <a:blip r:embed="rId3"/>
          <a:stretch>
            <a:fillRect/>
          </a:stretch>
        </p:blipFill>
        <p:spPr>
          <a:xfrm>
            <a:off x="987552" y="3749040"/>
            <a:ext cx="237744" cy="237744"/>
          </a:xfrm>
          <a:prstGeom prst="rect">
            <a:avLst/>
          </a:prstGeom>
        </p:spPr>
      </p:pic>
      <p:sp>
        <p:nvSpPr>
          <p:cNvPr id="14" name="TextBox 13"/>
          <p:cNvSpPr txBox="1"/>
          <p:nvPr/>
        </p:nvSpPr>
        <p:spPr>
          <a:xfrm>
            <a:off x="1353312" y="3602736"/>
            <a:ext cx="5029200" cy="530352"/>
          </a:xfrm>
          <a:prstGeom prst="rect">
            <a:avLst/>
          </a:prstGeom>
          <a:noFill/>
        </p:spPr>
        <p:txBody>
          <a:bodyPr wrap="square" anchor="ctr" lIns="0" rIns="0" tIns="0" bIns="0">
            <a:spAutoFit/>
          </a:bodyPr>
          <a:lstStyle/>
          <a:p>
            <a:pPr algn="l">
              <a:lnSpc>
                <a:spcPct val="106000"/>
              </a:lnSpc>
              <a:spcBef>
                <a:spcPts val="0"/>
              </a:spcBef>
              <a:spcAft>
                <a:spcPts val="0"/>
              </a:spcAft>
            </a:pPr>
            <a:r>
              <a:rPr sz="1200" b="0">
                <a:solidFill>
                  <a:srgbClr val="1A1A1A"/>
                </a:solidFill>
                <a:latin typeface="Red Hat Text"/>
              </a:rPr>
              <a:t>Your workload selects it: sent there</a:t>
            </a:r>
          </a:p>
        </p:txBody>
      </p:sp>
      <p:sp>
        <p:nvSpPr>
          <p:cNvPr id="15" name="Rounded Rectangle 14"/>
          <p:cNvSpPr/>
          <p:nvPr/>
        </p:nvSpPr>
        <p:spPr>
          <a:xfrm>
            <a:off x="841248" y="4206240"/>
            <a:ext cx="5715000" cy="530352"/>
          </a:xfrm>
          <a:prstGeom prst="roundRect">
            <a:avLst>
              <a:gd name="adj" fmla="val 6000"/>
            </a:avLst>
          </a:prstGeom>
          <a:solidFill>
            <a:srgbClr val="F5F6F8"/>
          </a:solidFill>
          <a:ln w="12700">
            <a:solidFill>
              <a:srgbClr val="DDE1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6" name="Picture 15" descr="check_steel.png"/>
          <p:cNvPicPr>
            <a:picLocks noChangeAspect="1"/>
          </p:cNvPicPr>
          <p:nvPr/>
        </p:nvPicPr>
        <p:blipFill>
          <a:blip r:embed="rId3"/>
          <a:stretch>
            <a:fillRect/>
          </a:stretch>
        </p:blipFill>
        <p:spPr>
          <a:xfrm>
            <a:off x="987552" y="4352544"/>
            <a:ext cx="237744" cy="237744"/>
          </a:xfrm>
          <a:prstGeom prst="rect">
            <a:avLst/>
          </a:prstGeom>
        </p:spPr>
      </p:pic>
      <p:sp>
        <p:nvSpPr>
          <p:cNvPr id="17" name="TextBox 16"/>
          <p:cNvSpPr txBox="1"/>
          <p:nvPr/>
        </p:nvSpPr>
        <p:spPr>
          <a:xfrm>
            <a:off x="1353312" y="4206240"/>
            <a:ext cx="5029200" cy="530352"/>
          </a:xfrm>
          <a:prstGeom prst="rect">
            <a:avLst/>
          </a:prstGeom>
          <a:noFill/>
        </p:spPr>
        <p:txBody>
          <a:bodyPr wrap="square" anchor="ctr" lIns="0" rIns="0" tIns="0" bIns="0">
            <a:spAutoFit/>
          </a:bodyPr>
          <a:lstStyle/>
          <a:p>
            <a:pPr algn="l">
              <a:lnSpc>
                <a:spcPct val="106000"/>
              </a:lnSpc>
              <a:spcBef>
                <a:spcPts val="0"/>
              </a:spcBef>
              <a:spcAft>
                <a:spcPts val="0"/>
              </a:spcAft>
            </a:pPr>
            <a:r>
              <a:rPr sz="1200" b="0">
                <a:solidFill>
                  <a:srgbClr val="1A1A1A"/>
                </a:solidFill>
                <a:latin typeface="Red Hat Text"/>
              </a:rPr>
              <a:t>Miss the selector → Pending (untolerated taint)</a:t>
            </a:r>
          </a:p>
        </p:txBody>
      </p:sp>
      <p:sp>
        <p:nvSpPr>
          <p:cNvPr id="18" name="Rounded Rectangle 17"/>
          <p:cNvSpPr/>
          <p:nvPr/>
        </p:nvSpPr>
        <p:spPr>
          <a:xfrm>
            <a:off x="841248" y="4809744"/>
            <a:ext cx="5715000" cy="530352"/>
          </a:xfrm>
          <a:prstGeom prst="roundRect">
            <a:avLst>
              <a:gd name="adj" fmla="val 6000"/>
            </a:avLst>
          </a:prstGeom>
          <a:solidFill>
            <a:srgbClr val="F5F6F8"/>
          </a:solidFill>
          <a:ln w="12700">
            <a:solidFill>
              <a:srgbClr val="DDE1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9" name="Picture 18" descr="check_steel.png"/>
          <p:cNvPicPr>
            <a:picLocks noChangeAspect="1"/>
          </p:cNvPicPr>
          <p:nvPr/>
        </p:nvPicPr>
        <p:blipFill>
          <a:blip r:embed="rId3"/>
          <a:stretch>
            <a:fillRect/>
          </a:stretch>
        </p:blipFill>
        <p:spPr>
          <a:xfrm>
            <a:off x="987552" y="4956048"/>
            <a:ext cx="237744" cy="237744"/>
          </a:xfrm>
          <a:prstGeom prst="rect">
            <a:avLst/>
          </a:prstGeom>
        </p:spPr>
      </p:pic>
      <p:sp>
        <p:nvSpPr>
          <p:cNvPr id="20" name="TextBox 19"/>
          <p:cNvSpPr txBox="1"/>
          <p:nvPr/>
        </p:nvSpPr>
        <p:spPr>
          <a:xfrm>
            <a:off x="1353312" y="4809744"/>
            <a:ext cx="5029200" cy="530352"/>
          </a:xfrm>
          <a:prstGeom prst="rect">
            <a:avLst/>
          </a:prstGeom>
          <a:noFill/>
        </p:spPr>
        <p:txBody>
          <a:bodyPr wrap="square" anchor="ctr" lIns="0" rIns="0" tIns="0" bIns="0">
            <a:spAutoFit/>
          </a:bodyPr>
          <a:lstStyle/>
          <a:p>
            <a:pPr algn="l">
              <a:lnSpc>
                <a:spcPct val="106000"/>
              </a:lnSpc>
              <a:spcBef>
                <a:spcPts val="0"/>
              </a:spcBef>
              <a:spcAft>
                <a:spcPts val="0"/>
              </a:spcAft>
            </a:pPr>
            <a:r>
              <a:rPr sz="1200" b="0">
                <a:solidFill>
                  <a:srgbClr val="1A1A1A"/>
                </a:solidFill>
                <a:latin typeface="Red Hat Text"/>
              </a:rPr>
              <a:t>GPU / batch / licensed-software pools work this way</a:t>
            </a:r>
          </a:p>
        </p:txBody>
      </p:sp>
      <p:sp>
        <p:nvSpPr>
          <p:cNvPr id="21" name="Rounded Rectangle 20"/>
          <p:cNvSpPr/>
          <p:nvPr/>
        </p:nvSpPr>
        <p:spPr>
          <a:xfrm>
            <a:off x="6812280" y="2395728"/>
            <a:ext cx="4538167" cy="2944368"/>
          </a:xfrm>
          <a:prstGeom prst="roundRect">
            <a:avLst>
              <a:gd name="adj" fmla="val 4000"/>
            </a:avLst>
          </a:prstGeom>
          <a:solidFill>
            <a:srgbClr val="FFFFFF"/>
          </a:solidFill>
          <a:ln w="15240">
            <a:solidFill>
              <a:srgbClr val="DDE1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ounded Rectangle 21"/>
          <p:cNvSpPr/>
          <p:nvPr/>
        </p:nvSpPr>
        <p:spPr>
          <a:xfrm>
            <a:off x="7013448" y="2596896"/>
            <a:ext cx="1298448" cy="310896"/>
          </a:xfrm>
          <a:prstGeom prst="roundRect">
            <a:avLst>
              <a:gd name="adj" fmla="val 50000"/>
            </a:avLst>
          </a:prstGeom>
          <a:solidFill>
            <a:srgbClr val="FCEC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7013448" y="2596896"/>
            <a:ext cx="1298448" cy="310896"/>
          </a:xfrm>
          <a:prstGeom prst="rect">
            <a:avLst/>
          </a:prstGeom>
          <a:noFill/>
        </p:spPr>
        <p:txBody>
          <a:bodyPr wrap="none" anchor="ctr" lIns="0" rIns="0" tIns="0" bIns="0">
            <a:spAutoFit/>
          </a:bodyPr>
          <a:lstStyle/>
          <a:p>
            <a:pPr algn="ctr">
              <a:lnSpc>
                <a:spcPct val="106000"/>
              </a:lnSpc>
              <a:spcBef>
                <a:spcPts val="0"/>
              </a:spcBef>
              <a:spcAft>
                <a:spcPts val="0"/>
              </a:spcAft>
            </a:pPr>
            <a:r>
              <a:rPr sz="850" b="1">
                <a:solidFill>
                  <a:srgbClr val="B80000"/>
                </a:solidFill>
                <a:latin typeface="Red Hat Display"/>
              </a:rPr>
              <a:t>MEDIA PASS</a:t>
            </a:r>
          </a:p>
        </p:txBody>
      </p:sp>
      <p:pic>
        <p:nvPicPr>
          <p:cNvPr id="24" name="Picture 23" descr="eye_slate.png"/>
          <p:cNvPicPr>
            <a:picLocks noChangeAspect="1"/>
          </p:cNvPicPr>
          <p:nvPr/>
        </p:nvPicPr>
        <p:blipFill>
          <a:blip r:embed="rId4"/>
          <a:stretch>
            <a:fillRect/>
          </a:stretch>
        </p:blipFill>
        <p:spPr>
          <a:xfrm>
            <a:off x="8843619" y="3108960"/>
            <a:ext cx="475488" cy="475488"/>
          </a:xfrm>
          <a:prstGeom prst="rect">
            <a:avLst/>
          </a:prstGeom>
        </p:spPr>
      </p:pic>
      <p:sp>
        <p:nvSpPr>
          <p:cNvPr id="25" name="TextBox 24"/>
          <p:cNvSpPr txBox="1"/>
          <p:nvPr/>
        </p:nvSpPr>
        <p:spPr>
          <a:xfrm>
            <a:off x="7050024" y="3721608"/>
            <a:ext cx="4062679" cy="1481328"/>
          </a:xfrm>
          <a:prstGeom prst="rect">
            <a:avLst/>
          </a:prstGeom>
          <a:noFill/>
        </p:spPr>
        <p:txBody>
          <a:bodyPr wrap="square" anchor="t" lIns="0" rIns="0" tIns="0" bIns="0">
            <a:spAutoFit/>
          </a:bodyPr>
          <a:lstStyle/>
          <a:p>
            <a:pPr algn="l">
              <a:lnSpc>
                <a:spcPct val="120000"/>
              </a:lnSpc>
              <a:spcBef>
                <a:spcPts val="0"/>
              </a:spcBef>
              <a:spcAft>
                <a:spcPts val="0"/>
              </a:spcAft>
            </a:pPr>
            <a:r>
              <a:rPr sz="950" b="0">
                <a:solidFill>
                  <a:srgbClr val="8A9099"/>
                </a:solidFill>
                <a:latin typeface="Red Hat Text"/>
              </a:rPr>
              <a:t>A three-step strip: (1) platform taints the pool, (2) pod + toleration = permitted, (3) pod + selector = directed; with a red inset "selector alone → Pending."</a:t>
            </a:r>
          </a:p>
        </p:txBody>
      </p:sp>
      <p:cxnSp>
        <p:nvCxnSpPr>
          <p:cNvPr id="26" name="Connector 25"/>
          <p:cNvCxnSpPr/>
          <p:nvPr/>
        </p:nvCxnSpPr>
        <p:spPr>
          <a:xfrm>
            <a:off x="841248" y="6437376"/>
            <a:ext cx="10509199" cy="0"/>
          </a:xfrm>
          <a:prstGeom prst="bentConnector3">
            <a:avLst/>
          </a:prstGeom>
          <a:ln w="12700">
            <a:solidFill>
              <a:srgbClr val="DDE1E6"/>
            </a:solidFill>
          </a:ln>
          <a:effectLst/>
        </p:spPr>
        <p:style>
          <a:lnRef idx="2">
            <a:schemeClr val="accent1"/>
          </a:lnRef>
          <a:fillRef idx="0">
            <a:schemeClr val="accent1"/>
          </a:fillRef>
          <a:effectRef idx="1">
            <a:schemeClr val="accent1"/>
          </a:effectRef>
          <a:fontRef idx="minor">
            <a:schemeClr val="tx1"/>
          </a:fontRef>
        </p:style>
      </p:cxnSp>
      <p:sp>
        <p:nvSpPr>
          <p:cNvPr id="27" name="TextBox 26"/>
          <p:cNvSpPr txBox="1"/>
          <p:nvPr/>
        </p:nvSpPr>
        <p:spPr>
          <a:xfrm>
            <a:off x="841248" y="6473952"/>
            <a:ext cx="7315200" cy="274320"/>
          </a:xfrm>
          <a:prstGeom prst="rect">
            <a:avLst/>
          </a:prstGeom>
          <a:noFill/>
        </p:spPr>
        <p:txBody>
          <a:bodyPr wrap="square" anchor="t" lIns="0" rIns="0" tIns="0" bIns="0">
            <a:spAutoFit/>
          </a:bodyPr>
          <a:lstStyle/>
          <a:p>
            <a:pPr algn="l">
              <a:lnSpc>
                <a:spcPct val="106000"/>
              </a:lnSpc>
              <a:spcBef>
                <a:spcPts val="0"/>
              </a:spcBef>
              <a:spcAft>
                <a:spcPts val="0"/>
              </a:spcAft>
            </a:pPr>
            <a:r>
              <a:rPr sz="950" b="0">
                <a:solidFill>
                  <a:srgbClr val="8A9099"/>
                </a:solidFill>
                <a:latin typeface="Red Hat Text"/>
              </a:rPr>
              <a:t>CONFIDENTIAL</a:t>
            </a:r>
          </a:p>
        </p:txBody>
      </p:sp>
      <p:sp>
        <p:nvSpPr>
          <p:cNvPr id="28" name="TextBox 27"/>
          <p:cNvSpPr txBox="1"/>
          <p:nvPr/>
        </p:nvSpPr>
        <p:spPr>
          <a:xfrm>
            <a:off x="10801807" y="6473952"/>
            <a:ext cx="548640" cy="274320"/>
          </a:xfrm>
          <a:prstGeom prst="rect">
            <a:avLst/>
          </a:prstGeom>
          <a:noFill/>
        </p:spPr>
        <p:txBody>
          <a:bodyPr wrap="square" anchor="t" lIns="0" rIns="0" tIns="0" bIns="0">
            <a:spAutoFit/>
          </a:bodyPr>
          <a:lstStyle/>
          <a:p>
            <a:pPr algn="r">
              <a:lnSpc>
                <a:spcPct val="106000"/>
              </a:lnSpc>
              <a:spcBef>
                <a:spcPts val="0"/>
              </a:spcBef>
              <a:spcAft>
                <a:spcPts val="0"/>
              </a:spcAft>
            </a:pPr>
            <a:r>
              <a:rPr sz="950" b="0">
                <a:solidFill>
                  <a:srgbClr val="8A9099"/>
                </a:solidFill>
                <a:latin typeface="Red Hat Text"/>
              </a:rPr>
              <a:t>124</a:t>
            </a:r>
          </a:p>
        </p:txBody>
      </p:sp>
    </p:spTree>
  </p:cSld>
  <p:clrMapOvr>
    <a:masterClrMapping/>
  </p:clrMapOvr>
</p:sld>
</file>

<file path=ppt/slides/slide14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redhat_logo.jpg"/>
          <p:cNvPicPr>
            <a:picLocks noChangeAspect="1"/>
          </p:cNvPicPr>
          <p:nvPr/>
        </p:nvPicPr>
        <p:blipFill>
          <a:blip r:embed="rId2"/>
          <a:stretch>
            <a:fillRect/>
          </a:stretch>
        </p:blipFill>
        <p:spPr>
          <a:xfrm>
            <a:off x="10326319" y="475488"/>
            <a:ext cx="1024128" cy="242248"/>
          </a:xfrm>
          <a:prstGeom prst="rect">
            <a:avLst/>
          </a:prstGeom>
        </p:spPr>
      </p:pic>
      <p:sp>
        <p:nvSpPr>
          <p:cNvPr id="3" name="TextBox 2"/>
          <p:cNvSpPr txBox="1"/>
          <p:nvPr/>
        </p:nvSpPr>
        <p:spPr>
          <a:xfrm>
            <a:off x="841248" y="548640"/>
            <a:ext cx="8595360" cy="274320"/>
          </a:xfrm>
          <a:prstGeom prst="rect">
            <a:avLst/>
          </a:prstGeom>
          <a:noFill/>
        </p:spPr>
        <p:txBody>
          <a:bodyPr wrap="square" anchor="t" lIns="0" rIns="0" tIns="0" bIns="0">
            <a:spAutoFit/>
          </a:bodyPr>
          <a:lstStyle/>
          <a:p>
            <a:pPr algn="l">
              <a:lnSpc>
                <a:spcPct val="106000"/>
              </a:lnSpc>
              <a:spcBef>
                <a:spcPts val="0"/>
              </a:spcBef>
              <a:spcAft>
                <a:spcPts val="0"/>
              </a:spcAft>
            </a:pPr>
            <a:r>
              <a:rPr sz="1250" b="1" spc="220">
                <a:solidFill>
                  <a:srgbClr val="EE0000"/>
                </a:solidFill>
                <a:latin typeface="Red Hat Display"/>
              </a:rPr>
              <a:t>M17 · DEPLOYMENT TARGETS &amp; SCHEDULING</a:t>
            </a:r>
          </a:p>
        </p:txBody>
      </p:sp>
      <p:sp>
        <p:nvSpPr>
          <p:cNvPr id="4" name="TextBox 3"/>
          <p:cNvSpPr txBox="1"/>
          <p:nvPr/>
        </p:nvSpPr>
        <p:spPr>
          <a:xfrm>
            <a:off x="841248" y="877824"/>
            <a:ext cx="10515600" cy="548640"/>
          </a:xfrm>
          <a:prstGeom prst="rect">
            <a:avLst/>
          </a:prstGeom>
          <a:noFill/>
        </p:spPr>
        <p:txBody>
          <a:bodyPr wrap="none" anchor="t" lIns="0" rIns="0" tIns="0" bIns="0">
            <a:spAutoFit/>
          </a:bodyPr>
          <a:lstStyle/>
          <a:p>
            <a:pPr algn="l">
              <a:lnSpc>
                <a:spcPct val="100000"/>
              </a:lnSpc>
              <a:spcBef>
                <a:spcPts val="0"/>
              </a:spcBef>
              <a:spcAft>
                <a:spcPts val="0"/>
              </a:spcAft>
            </a:pPr>
            <a:r>
              <a:rPr sz="2500" b="1">
                <a:solidFill>
                  <a:srgbClr val="1A1A1A"/>
                </a:solidFill>
                <a:latin typeface="Red Hat Display"/>
              </a:rPr>
              <a:t>Zero-downtime — capacity AND data</a:t>
            </a:r>
          </a:p>
        </p:txBody>
      </p:sp>
      <p:cxnSp>
        <p:nvCxnSpPr>
          <p:cNvPr id="5" name="Connector 4"/>
          <p:cNvCxnSpPr/>
          <p:nvPr/>
        </p:nvCxnSpPr>
        <p:spPr>
          <a:xfrm>
            <a:off x="841248" y="1554480"/>
            <a:ext cx="1371600" cy="0"/>
          </a:xfrm>
          <a:prstGeom prst="bentConnector3">
            <a:avLst/>
          </a:prstGeom>
          <a:ln w="31750">
            <a:solidFill>
              <a:srgbClr val="EE0000"/>
            </a:solidFill>
          </a:ln>
          <a:effectLst/>
        </p:spPr>
        <p:style>
          <a:lnRef idx="2">
            <a:schemeClr val="accent1"/>
          </a:lnRef>
          <a:fillRef idx="0">
            <a:schemeClr val="accent1"/>
          </a:fillRef>
          <a:effectRef idx="1">
            <a:schemeClr val="accent1"/>
          </a:effectRef>
          <a:fontRef idx="minor">
            <a:schemeClr val="tx1"/>
          </a:fontRef>
        </p:style>
      </p:cxnSp>
      <p:sp>
        <p:nvSpPr>
          <p:cNvPr id="6" name="Rounded Rectangle 5"/>
          <p:cNvSpPr/>
          <p:nvPr/>
        </p:nvSpPr>
        <p:spPr>
          <a:xfrm>
            <a:off x="841248" y="2395728"/>
            <a:ext cx="5715000" cy="530352"/>
          </a:xfrm>
          <a:prstGeom prst="roundRect">
            <a:avLst>
              <a:gd name="adj" fmla="val 6000"/>
            </a:avLst>
          </a:prstGeom>
          <a:solidFill>
            <a:srgbClr val="F5F6F8"/>
          </a:solidFill>
          <a:ln w="12700">
            <a:solidFill>
              <a:srgbClr val="DDE1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check_steel.png"/>
          <p:cNvPicPr>
            <a:picLocks noChangeAspect="1"/>
          </p:cNvPicPr>
          <p:nvPr/>
        </p:nvPicPr>
        <p:blipFill>
          <a:blip r:embed="rId3"/>
          <a:stretch>
            <a:fillRect/>
          </a:stretch>
        </p:blipFill>
        <p:spPr>
          <a:xfrm>
            <a:off x="987552" y="2542032"/>
            <a:ext cx="237744" cy="237744"/>
          </a:xfrm>
          <a:prstGeom prst="rect">
            <a:avLst/>
          </a:prstGeom>
        </p:spPr>
      </p:pic>
      <p:sp>
        <p:nvSpPr>
          <p:cNvPr id="8" name="TextBox 7"/>
          <p:cNvSpPr txBox="1"/>
          <p:nvPr/>
        </p:nvSpPr>
        <p:spPr>
          <a:xfrm>
            <a:off x="1353312" y="2395728"/>
            <a:ext cx="5029200" cy="530352"/>
          </a:xfrm>
          <a:prstGeom prst="rect">
            <a:avLst/>
          </a:prstGeom>
          <a:noFill/>
        </p:spPr>
        <p:txBody>
          <a:bodyPr wrap="square" anchor="ctr" lIns="0" rIns="0" tIns="0" bIns="0">
            <a:spAutoFit/>
          </a:bodyPr>
          <a:lstStyle/>
          <a:p>
            <a:pPr algn="l">
              <a:lnSpc>
                <a:spcPct val="106000"/>
              </a:lnSpc>
              <a:spcBef>
                <a:spcPts val="0"/>
              </a:spcBef>
              <a:spcAft>
                <a:spcPts val="0"/>
              </a:spcAft>
            </a:pPr>
            <a:r>
              <a:rPr sz="1200" b="0">
                <a:solidFill>
                  <a:srgbClr val="1A1A1A"/>
                </a:solidFill>
                <a:latin typeface="Red Hat Text"/>
              </a:rPr>
              <a:t>maxUnavailable: 0 — surge before retire, capacity flat</a:t>
            </a:r>
          </a:p>
        </p:txBody>
      </p:sp>
      <p:sp>
        <p:nvSpPr>
          <p:cNvPr id="9" name="Rounded Rectangle 8"/>
          <p:cNvSpPr/>
          <p:nvPr/>
        </p:nvSpPr>
        <p:spPr>
          <a:xfrm>
            <a:off x="841248" y="2999232"/>
            <a:ext cx="5715000" cy="530352"/>
          </a:xfrm>
          <a:prstGeom prst="roundRect">
            <a:avLst>
              <a:gd name="adj" fmla="val 6000"/>
            </a:avLst>
          </a:prstGeom>
          <a:solidFill>
            <a:srgbClr val="F5F6F8"/>
          </a:solidFill>
          <a:ln w="12700">
            <a:solidFill>
              <a:srgbClr val="DDE1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0" name="Picture 9" descr="check_steel.png"/>
          <p:cNvPicPr>
            <a:picLocks noChangeAspect="1"/>
          </p:cNvPicPr>
          <p:nvPr/>
        </p:nvPicPr>
        <p:blipFill>
          <a:blip r:embed="rId3"/>
          <a:stretch>
            <a:fillRect/>
          </a:stretch>
        </p:blipFill>
        <p:spPr>
          <a:xfrm>
            <a:off x="987552" y="3145536"/>
            <a:ext cx="237744" cy="237744"/>
          </a:xfrm>
          <a:prstGeom prst="rect">
            <a:avLst/>
          </a:prstGeom>
        </p:spPr>
      </p:pic>
      <p:sp>
        <p:nvSpPr>
          <p:cNvPr id="11" name="TextBox 10"/>
          <p:cNvSpPr txBox="1"/>
          <p:nvPr/>
        </p:nvSpPr>
        <p:spPr>
          <a:xfrm>
            <a:off x="1353312" y="2999232"/>
            <a:ext cx="5029200" cy="530352"/>
          </a:xfrm>
          <a:prstGeom prst="rect">
            <a:avLst/>
          </a:prstGeom>
          <a:noFill/>
        </p:spPr>
        <p:txBody>
          <a:bodyPr wrap="square" anchor="ctr" lIns="0" rIns="0" tIns="0" bIns="0">
            <a:spAutoFit/>
          </a:bodyPr>
          <a:lstStyle/>
          <a:p>
            <a:pPr algn="l">
              <a:lnSpc>
                <a:spcPct val="106000"/>
              </a:lnSpc>
              <a:spcBef>
                <a:spcPts val="0"/>
              </a:spcBef>
              <a:spcAft>
                <a:spcPts val="0"/>
              </a:spcAft>
            </a:pPr>
            <a:r>
              <a:rPr sz="1200" b="0">
                <a:solidFill>
                  <a:srgbClr val="1A1A1A"/>
                </a:solidFill>
                <a:latin typeface="Red Hat Text"/>
              </a:rPr>
              <a:t>Recreate — for single-writers (deliberate gap)</a:t>
            </a:r>
          </a:p>
        </p:txBody>
      </p:sp>
      <p:sp>
        <p:nvSpPr>
          <p:cNvPr id="12" name="Rounded Rectangle 11"/>
          <p:cNvSpPr/>
          <p:nvPr/>
        </p:nvSpPr>
        <p:spPr>
          <a:xfrm>
            <a:off x="841248" y="3602736"/>
            <a:ext cx="5715000" cy="530352"/>
          </a:xfrm>
          <a:prstGeom prst="roundRect">
            <a:avLst>
              <a:gd name="adj" fmla="val 6000"/>
            </a:avLst>
          </a:prstGeom>
          <a:solidFill>
            <a:srgbClr val="F5F6F8"/>
          </a:solidFill>
          <a:ln w="12700">
            <a:solidFill>
              <a:srgbClr val="DDE1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3" name="Picture 12" descr="check_steel.png"/>
          <p:cNvPicPr>
            <a:picLocks noChangeAspect="1"/>
          </p:cNvPicPr>
          <p:nvPr/>
        </p:nvPicPr>
        <p:blipFill>
          <a:blip r:embed="rId3"/>
          <a:stretch>
            <a:fillRect/>
          </a:stretch>
        </p:blipFill>
        <p:spPr>
          <a:xfrm>
            <a:off x="987552" y="3749040"/>
            <a:ext cx="237744" cy="237744"/>
          </a:xfrm>
          <a:prstGeom prst="rect">
            <a:avLst/>
          </a:prstGeom>
        </p:spPr>
      </p:pic>
      <p:sp>
        <p:nvSpPr>
          <p:cNvPr id="14" name="TextBox 13"/>
          <p:cNvSpPr txBox="1"/>
          <p:nvPr/>
        </p:nvSpPr>
        <p:spPr>
          <a:xfrm>
            <a:off x="1353312" y="3602736"/>
            <a:ext cx="5029200" cy="530352"/>
          </a:xfrm>
          <a:prstGeom prst="rect">
            <a:avLst/>
          </a:prstGeom>
          <a:noFill/>
        </p:spPr>
        <p:txBody>
          <a:bodyPr wrap="square" anchor="ctr" lIns="0" rIns="0" tIns="0" bIns="0">
            <a:spAutoFit/>
          </a:bodyPr>
          <a:lstStyle/>
          <a:p>
            <a:pPr algn="l">
              <a:lnSpc>
                <a:spcPct val="106000"/>
              </a:lnSpc>
              <a:spcBef>
                <a:spcPts val="0"/>
              </a:spcBef>
              <a:spcAft>
                <a:spcPts val="0"/>
              </a:spcAft>
            </a:pPr>
            <a:r>
              <a:rPr sz="1200" b="0">
                <a:solidFill>
                  <a:srgbClr val="1A1A1A"/>
                </a:solidFill>
                <a:latin typeface="Red Hat Text"/>
              </a:rPr>
              <a:t>The real trap: a pod that *rebuilds shared state on boot*</a:t>
            </a:r>
          </a:p>
        </p:txBody>
      </p:sp>
      <p:sp>
        <p:nvSpPr>
          <p:cNvPr id="15" name="Rounded Rectangle 14"/>
          <p:cNvSpPr/>
          <p:nvPr/>
        </p:nvSpPr>
        <p:spPr>
          <a:xfrm>
            <a:off x="841248" y="4206240"/>
            <a:ext cx="5715000" cy="530352"/>
          </a:xfrm>
          <a:prstGeom prst="roundRect">
            <a:avLst>
              <a:gd name="adj" fmla="val 6000"/>
            </a:avLst>
          </a:prstGeom>
          <a:solidFill>
            <a:srgbClr val="F5F6F8"/>
          </a:solidFill>
          <a:ln w="12700">
            <a:solidFill>
              <a:srgbClr val="DDE1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6" name="Picture 15" descr="check_steel.png"/>
          <p:cNvPicPr>
            <a:picLocks noChangeAspect="1"/>
          </p:cNvPicPr>
          <p:nvPr/>
        </p:nvPicPr>
        <p:blipFill>
          <a:blip r:embed="rId3"/>
          <a:stretch>
            <a:fillRect/>
          </a:stretch>
        </p:blipFill>
        <p:spPr>
          <a:xfrm>
            <a:off x="987552" y="4352544"/>
            <a:ext cx="237744" cy="237744"/>
          </a:xfrm>
          <a:prstGeom prst="rect">
            <a:avLst/>
          </a:prstGeom>
        </p:spPr>
      </p:pic>
      <p:sp>
        <p:nvSpPr>
          <p:cNvPr id="17" name="TextBox 16"/>
          <p:cNvSpPr txBox="1"/>
          <p:nvPr/>
        </p:nvSpPr>
        <p:spPr>
          <a:xfrm>
            <a:off x="1353312" y="4206240"/>
            <a:ext cx="5029200" cy="530352"/>
          </a:xfrm>
          <a:prstGeom prst="rect">
            <a:avLst/>
          </a:prstGeom>
          <a:noFill/>
        </p:spPr>
        <p:txBody>
          <a:bodyPr wrap="square" anchor="ctr" lIns="0" rIns="0" tIns="0" bIns="0">
            <a:spAutoFit/>
          </a:bodyPr>
          <a:lstStyle/>
          <a:p>
            <a:pPr algn="l">
              <a:lnSpc>
                <a:spcPct val="106000"/>
              </a:lnSpc>
              <a:spcBef>
                <a:spcPts val="0"/>
              </a:spcBef>
              <a:spcAft>
                <a:spcPts val="0"/>
              </a:spcAft>
            </a:pPr>
            <a:r>
              <a:rPr sz="1200" b="0">
                <a:solidFill>
                  <a:srgbClr val="1A1A1A"/>
                </a:solidFill>
                <a:latin typeface="Red Hat Text"/>
              </a:rPr>
              <a:t>Fix: schema-management=none + seed once at deploy + raise the CPU limit</a:t>
            </a:r>
          </a:p>
        </p:txBody>
      </p:sp>
      <p:sp>
        <p:nvSpPr>
          <p:cNvPr id="18" name="Rounded Rectangle 17"/>
          <p:cNvSpPr/>
          <p:nvPr/>
        </p:nvSpPr>
        <p:spPr>
          <a:xfrm>
            <a:off x="841248" y="4809744"/>
            <a:ext cx="5715000" cy="530352"/>
          </a:xfrm>
          <a:prstGeom prst="roundRect">
            <a:avLst>
              <a:gd name="adj" fmla="val 6000"/>
            </a:avLst>
          </a:prstGeom>
          <a:solidFill>
            <a:srgbClr val="F5F6F8"/>
          </a:solidFill>
          <a:ln w="12700">
            <a:solidFill>
              <a:srgbClr val="DDE1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9" name="Picture 18" descr="check_steel.png"/>
          <p:cNvPicPr>
            <a:picLocks noChangeAspect="1"/>
          </p:cNvPicPr>
          <p:nvPr/>
        </p:nvPicPr>
        <p:blipFill>
          <a:blip r:embed="rId3"/>
          <a:stretch>
            <a:fillRect/>
          </a:stretch>
        </p:blipFill>
        <p:spPr>
          <a:xfrm>
            <a:off x="987552" y="4956048"/>
            <a:ext cx="237744" cy="237744"/>
          </a:xfrm>
          <a:prstGeom prst="rect">
            <a:avLst/>
          </a:prstGeom>
        </p:spPr>
      </p:pic>
      <p:sp>
        <p:nvSpPr>
          <p:cNvPr id="20" name="TextBox 19"/>
          <p:cNvSpPr txBox="1"/>
          <p:nvPr/>
        </p:nvSpPr>
        <p:spPr>
          <a:xfrm>
            <a:off x="1353312" y="4809744"/>
            <a:ext cx="5029200" cy="530352"/>
          </a:xfrm>
          <a:prstGeom prst="rect">
            <a:avLst/>
          </a:prstGeom>
          <a:noFill/>
        </p:spPr>
        <p:txBody>
          <a:bodyPr wrap="square" anchor="ctr" lIns="0" rIns="0" tIns="0" bIns="0">
            <a:spAutoFit/>
          </a:bodyPr>
          <a:lstStyle/>
          <a:p>
            <a:pPr algn="l">
              <a:lnSpc>
                <a:spcPct val="106000"/>
              </a:lnSpc>
              <a:spcBef>
                <a:spcPts val="0"/>
              </a:spcBef>
              <a:spcAft>
                <a:spcPts val="0"/>
              </a:spcAft>
            </a:pPr>
            <a:r>
              <a:rPr sz="1200" b="0">
                <a:solidFill>
                  <a:srgbClr val="1A1A1A"/>
                </a:solidFill>
                <a:latin typeface="Red Hat Text"/>
              </a:rPr>
              <a:t>A PDB makes a node drain wait its turn</a:t>
            </a:r>
          </a:p>
        </p:txBody>
      </p:sp>
      <p:sp>
        <p:nvSpPr>
          <p:cNvPr id="21" name="Rounded Rectangle 20"/>
          <p:cNvSpPr/>
          <p:nvPr/>
        </p:nvSpPr>
        <p:spPr>
          <a:xfrm>
            <a:off x="6812280" y="2395728"/>
            <a:ext cx="4538167" cy="2944368"/>
          </a:xfrm>
          <a:prstGeom prst="roundRect">
            <a:avLst>
              <a:gd name="adj" fmla="val 4000"/>
            </a:avLst>
          </a:prstGeom>
          <a:solidFill>
            <a:srgbClr val="FFFFFF"/>
          </a:solidFill>
          <a:ln w="15240">
            <a:solidFill>
              <a:srgbClr val="DDE1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ounded Rectangle 21"/>
          <p:cNvSpPr/>
          <p:nvPr/>
        </p:nvSpPr>
        <p:spPr>
          <a:xfrm>
            <a:off x="7013448" y="2596896"/>
            <a:ext cx="1298448" cy="310896"/>
          </a:xfrm>
          <a:prstGeom prst="roundRect">
            <a:avLst>
              <a:gd name="adj" fmla="val 50000"/>
            </a:avLst>
          </a:prstGeom>
          <a:solidFill>
            <a:srgbClr val="FCEC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7013448" y="2596896"/>
            <a:ext cx="1298448" cy="310896"/>
          </a:xfrm>
          <a:prstGeom prst="rect">
            <a:avLst/>
          </a:prstGeom>
          <a:noFill/>
        </p:spPr>
        <p:txBody>
          <a:bodyPr wrap="none" anchor="ctr" lIns="0" rIns="0" tIns="0" bIns="0">
            <a:spAutoFit/>
          </a:bodyPr>
          <a:lstStyle/>
          <a:p>
            <a:pPr algn="ctr">
              <a:lnSpc>
                <a:spcPct val="106000"/>
              </a:lnSpc>
              <a:spcBef>
                <a:spcPts val="0"/>
              </a:spcBef>
              <a:spcAft>
                <a:spcPts val="0"/>
              </a:spcAft>
            </a:pPr>
            <a:r>
              <a:rPr sz="850" b="1">
                <a:solidFill>
                  <a:srgbClr val="B80000"/>
                </a:solidFill>
                <a:latin typeface="Red Hat Display"/>
              </a:rPr>
              <a:t>MEDIA PASS</a:t>
            </a:r>
          </a:p>
        </p:txBody>
      </p:sp>
      <p:pic>
        <p:nvPicPr>
          <p:cNvPr id="24" name="Picture 23" descr="eye_slate.png"/>
          <p:cNvPicPr>
            <a:picLocks noChangeAspect="1"/>
          </p:cNvPicPr>
          <p:nvPr/>
        </p:nvPicPr>
        <p:blipFill>
          <a:blip r:embed="rId4"/>
          <a:stretch>
            <a:fillRect/>
          </a:stretch>
        </p:blipFill>
        <p:spPr>
          <a:xfrm>
            <a:off x="8843619" y="3108960"/>
            <a:ext cx="475488" cy="475488"/>
          </a:xfrm>
          <a:prstGeom prst="rect">
            <a:avLst/>
          </a:prstGeom>
        </p:spPr>
      </p:pic>
      <p:sp>
        <p:nvSpPr>
          <p:cNvPr id="25" name="TextBox 24"/>
          <p:cNvSpPr txBox="1"/>
          <p:nvPr/>
        </p:nvSpPr>
        <p:spPr>
          <a:xfrm>
            <a:off x="7050024" y="3721608"/>
            <a:ext cx="4062679" cy="1481328"/>
          </a:xfrm>
          <a:prstGeom prst="rect">
            <a:avLst/>
          </a:prstGeom>
          <a:noFill/>
        </p:spPr>
        <p:txBody>
          <a:bodyPr wrap="square" anchor="t" lIns="0" rIns="0" tIns="0" bIns="0">
            <a:spAutoFit/>
          </a:bodyPr>
          <a:lstStyle/>
          <a:p>
            <a:pPr algn="l">
              <a:lnSpc>
                <a:spcPct val="120000"/>
              </a:lnSpc>
              <a:spcBef>
                <a:spcPts val="0"/>
              </a:spcBef>
              <a:spcAft>
                <a:spcPts val="0"/>
              </a:spcAft>
            </a:pPr>
            <a:r>
              <a:rPr sz="950" b="0">
                <a:solidFill>
                  <a:srgbClr val="8A9099"/>
                </a:solidFill>
                <a:latin typeface="Red Hat Text"/>
              </a:rPr>
              <a:t>Two panels — top "maxUnavailable:0" with a flat "3/3 ready" line through a rollout; bottom a new pod's "drop-and-create on boot" arrow wiping a shared database while an old pod still reads it, labelled "data plane, at startup."</a:t>
            </a:r>
          </a:p>
        </p:txBody>
      </p:sp>
      <p:cxnSp>
        <p:nvCxnSpPr>
          <p:cNvPr id="26" name="Connector 25"/>
          <p:cNvCxnSpPr/>
          <p:nvPr/>
        </p:nvCxnSpPr>
        <p:spPr>
          <a:xfrm>
            <a:off x="841248" y="6437376"/>
            <a:ext cx="10509199" cy="0"/>
          </a:xfrm>
          <a:prstGeom prst="bentConnector3">
            <a:avLst/>
          </a:prstGeom>
          <a:ln w="12700">
            <a:solidFill>
              <a:srgbClr val="DDE1E6"/>
            </a:solidFill>
          </a:ln>
          <a:effectLst/>
        </p:spPr>
        <p:style>
          <a:lnRef idx="2">
            <a:schemeClr val="accent1"/>
          </a:lnRef>
          <a:fillRef idx="0">
            <a:schemeClr val="accent1"/>
          </a:fillRef>
          <a:effectRef idx="1">
            <a:schemeClr val="accent1"/>
          </a:effectRef>
          <a:fontRef idx="minor">
            <a:schemeClr val="tx1"/>
          </a:fontRef>
        </p:style>
      </p:cxnSp>
      <p:sp>
        <p:nvSpPr>
          <p:cNvPr id="27" name="TextBox 26"/>
          <p:cNvSpPr txBox="1"/>
          <p:nvPr/>
        </p:nvSpPr>
        <p:spPr>
          <a:xfrm>
            <a:off x="841248" y="6473952"/>
            <a:ext cx="7315200" cy="274320"/>
          </a:xfrm>
          <a:prstGeom prst="rect">
            <a:avLst/>
          </a:prstGeom>
          <a:noFill/>
        </p:spPr>
        <p:txBody>
          <a:bodyPr wrap="square" anchor="t" lIns="0" rIns="0" tIns="0" bIns="0">
            <a:spAutoFit/>
          </a:bodyPr>
          <a:lstStyle/>
          <a:p>
            <a:pPr algn="l">
              <a:lnSpc>
                <a:spcPct val="106000"/>
              </a:lnSpc>
              <a:spcBef>
                <a:spcPts val="0"/>
              </a:spcBef>
              <a:spcAft>
                <a:spcPts val="0"/>
              </a:spcAft>
            </a:pPr>
            <a:r>
              <a:rPr sz="950" b="0">
                <a:solidFill>
                  <a:srgbClr val="8A9099"/>
                </a:solidFill>
                <a:latin typeface="Red Hat Text"/>
              </a:rPr>
              <a:t>CONFIDENTIAL</a:t>
            </a:r>
          </a:p>
        </p:txBody>
      </p:sp>
      <p:sp>
        <p:nvSpPr>
          <p:cNvPr id="28" name="TextBox 27"/>
          <p:cNvSpPr txBox="1"/>
          <p:nvPr/>
        </p:nvSpPr>
        <p:spPr>
          <a:xfrm>
            <a:off x="10801807" y="6473952"/>
            <a:ext cx="548640" cy="274320"/>
          </a:xfrm>
          <a:prstGeom prst="rect">
            <a:avLst/>
          </a:prstGeom>
          <a:noFill/>
        </p:spPr>
        <p:txBody>
          <a:bodyPr wrap="square" anchor="t" lIns="0" rIns="0" tIns="0" bIns="0">
            <a:spAutoFit/>
          </a:bodyPr>
          <a:lstStyle/>
          <a:p>
            <a:pPr algn="r">
              <a:lnSpc>
                <a:spcPct val="106000"/>
              </a:lnSpc>
              <a:spcBef>
                <a:spcPts val="0"/>
              </a:spcBef>
              <a:spcAft>
                <a:spcPts val="0"/>
              </a:spcAft>
            </a:pPr>
            <a:r>
              <a:rPr sz="950" b="0">
                <a:solidFill>
                  <a:srgbClr val="8A9099"/>
                </a:solidFill>
                <a:latin typeface="Red Hat Text"/>
              </a:rPr>
              <a:t>125</a:t>
            </a:r>
          </a:p>
        </p:txBody>
      </p:sp>
    </p:spTree>
  </p:cSld>
  <p:clrMapOvr>
    <a:masterClrMapping/>
  </p:clrMapOvr>
</p:sld>
</file>

<file path=ppt/slides/slide14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redhat_logo.jpg"/>
          <p:cNvPicPr>
            <a:picLocks noChangeAspect="1"/>
          </p:cNvPicPr>
          <p:nvPr/>
        </p:nvPicPr>
        <p:blipFill>
          <a:blip r:embed="rId2"/>
          <a:stretch>
            <a:fillRect/>
          </a:stretch>
        </p:blipFill>
        <p:spPr>
          <a:xfrm>
            <a:off x="10326319" y="475488"/>
            <a:ext cx="1024128" cy="242248"/>
          </a:xfrm>
          <a:prstGeom prst="rect">
            <a:avLst/>
          </a:prstGeom>
        </p:spPr>
      </p:pic>
      <p:sp>
        <p:nvSpPr>
          <p:cNvPr id="3" name="TextBox 2"/>
          <p:cNvSpPr txBox="1"/>
          <p:nvPr/>
        </p:nvSpPr>
        <p:spPr>
          <a:xfrm>
            <a:off x="841248" y="548640"/>
            <a:ext cx="8595360" cy="274320"/>
          </a:xfrm>
          <a:prstGeom prst="rect">
            <a:avLst/>
          </a:prstGeom>
          <a:noFill/>
        </p:spPr>
        <p:txBody>
          <a:bodyPr wrap="square" anchor="t" lIns="0" rIns="0" tIns="0" bIns="0">
            <a:spAutoFit/>
          </a:bodyPr>
          <a:lstStyle/>
          <a:p>
            <a:pPr algn="l">
              <a:lnSpc>
                <a:spcPct val="106000"/>
              </a:lnSpc>
              <a:spcBef>
                <a:spcPts val="0"/>
              </a:spcBef>
              <a:spcAft>
                <a:spcPts val="0"/>
              </a:spcAft>
            </a:pPr>
            <a:r>
              <a:rPr sz="1250" b="1" spc="220">
                <a:solidFill>
                  <a:srgbClr val="EE0000"/>
                </a:solidFill>
                <a:latin typeface="Red Hat Display"/>
              </a:rPr>
              <a:t>M17 · DEPLOYMENT TARGETS &amp; SCHEDULING</a:t>
            </a:r>
          </a:p>
        </p:txBody>
      </p:sp>
      <p:sp>
        <p:nvSpPr>
          <p:cNvPr id="4" name="TextBox 3"/>
          <p:cNvSpPr txBox="1"/>
          <p:nvPr/>
        </p:nvSpPr>
        <p:spPr>
          <a:xfrm>
            <a:off x="841248" y="877824"/>
            <a:ext cx="10515600" cy="548640"/>
          </a:xfrm>
          <a:prstGeom prst="rect">
            <a:avLst/>
          </a:prstGeom>
          <a:noFill/>
        </p:spPr>
        <p:txBody>
          <a:bodyPr wrap="none" anchor="t" lIns="0" rIns="0" tIns="0" bIns="0">
            <a:spAutoFit/>
          </a:bodyPr>
          <a:lstStyle/>
          <a:p>
            <a:pPr algn="l">
              <a:lnSpc>
                <a:spcPct val="100000"/>
              </a:lnSpc>
              <a:spcBef>
                <a:spcPts val="0"/>
              </a:spcBef>
              <a:spcAft>
                <a:spcPts val="0"/>
              </a:spcAft>
            </a:pPr>
            <a:r>
              <a:rPr sz="2500" b="1">
                <a:solidFill>
                  <a:srgbClr val="1A1A1A"/>
                </a:solidFill>
                <a:latin typeface="Red Hat Display"/>
              </a:rPr>
              <a:t>How platform teams shape the cluster</a:t>
            </a:r>
          </a:p>
        </p:txBody>
      </p:sp>
      <p:cxnSp>
        <p:nvCxnSpPr>
          <p:cNvPr id="5" name="Connector 4"/>
          <p:cNvCxnSpPr/>
          <p:nvPr/>
        </p:nvCxnSpPr>
        <p:spPr>
          <a:xfrm>
            <a:off x="841248" y="1554480"/>
            <a:ext cx="1371600" cy="0"/>
          </a:xfrm>
          <a:prstGeom prst="bentConnector3">
            <a:avLst/>
          </a:prstGeom>
          <a:ln w="31750">
            <a:solidFill>
              <a:srgbClr val="EE0000"/>
            </a:solidFill>
          </a:ln>
          <a:effectLst/>
        </p:spPr>
        <p:style>
          <a:lnRef idx="2">
            <a:schemeClr val="accent1"/>
          </a:lnRef>
          <a:fillRef idx="0">
            <a:schemeClr val="accent1"/>
          </a:fillRef>
          <a:effectRef idx="1">
            <a:schemeClr val="accent1"/>
          </a:effectRef>
          <a:fontRef idx="minor">
            <a:schemeClr val="tx1"/>
          </a:fontRef>
        </p:style>
      </p:cxnSp>
      <p:sp>
        <p:nvSpPr>
          <p:cNvPr id="6" name="Rounded Rectangle 5"/>
          <p:cNvSpPr/>
          <p:nvPr/>
        </p:nvSpPr>
        <p:spPr>
          <a:xfrm>
            <a:off x="841248" y="2395728"/>
            <a:ext cx="5715000" cy="530352"/>
          </a:xfrm>
          <a:prstGeom prst="roundRect">
            <a:avLst>
              <a:gd name="adj" fmla="val 6000"/>
            </a:avLst>
          </a:prstGeom>
          <a:solidFill>
            <a:srgbClr val="F5F6F8"/>
          </a:solidFill>
          <a:ln w="12700">
            <a:solidFill>
              <a:srgbClr val="DDE1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check_steel.png"/>
          <p:cNvPicPr>
            <a:picLocks noChangeAspect="1"/>
          </p:cNvPicPr>
          <p:nvPr/>
        </p:nvPicPr>
        <p:blipFill>
          <a:blip r:embed="rId3"/>
          <a:stretch>
            <a:fillRect/>
          </a:stretch>
        </p:blipFill>
        <p:spPr>
          <a:xfrm>
            <a:off x="987552" y="2542032"/>
            <a:ext cx="237744" cy="237744"/>
          </a:xfrm>
          <a:prstGeom prst="rect">
            <a:avLst/>
          </a:prstGeom>
        </p:spPr>
      </p:pic>
      <p:sp>
        <p:nvSpPr>
          <p:cNvPr id="8" name="TextBox 7"/>
          <p:cNvSpPr txBox="1"/>
          <p:nvPr/>
        </p:nvSpPr>
        <p:spPr>
          <a:xfrm>
            <a:off x="1353312" y="2395728"/>
            <a:ext cx="5029200" cy="530352"/>
          </a:xfrm>
          <a:prstGeom prst="rect">
            <a:avLst/>
          </a:prstGeom>
          <a:noFill/>
        </p:spPr>
        <p:txBody>
          <a:bodyPr wrap="square" anchor="ctr" lIns="0" rIns="0" tIns="0" bIns="0">
            <a:spAutoFit/>
          </a:bodyPr>
          <a:lstStyle/>
          <a:p>
            <a:pPr algn="l">
              <a:lnSpc>
                <a:spcPct val="106000"/>
              </a:lnSpc>
              <a:spcBef>
                <a:spcPts val="0"/>
              </a:spcBef>
              <a:spcAft>
                <a:spcPts val="0"/>
              </a:spcAft>
            </a:pPr>
            <a:r>
              <a:rPr sz="1200" b="0">
                <a:solidFill>
                  <a:srgbClr val="1A1A1A"/>
                </a:solidFill>
                <a:latin typeface="Red Hat Text"/>
              </a:rPr>
              <a:t>DaemonSets: one pod per node (the node-agent pattern)</a:t>
            </a:r>
          </a:p>
        </p:txBody>
      </p:sp>
      <p:sp>
        <p:nvSpPr>
          <p:cNvPr id="9" name="Rounded Rectangle 8"/>
          <p:cNvSpPr/>
          <p:nvPr/>
        </p:nvSpPr>
        <p:spPr>
          <a:xfrm>
            <a:off x="841248" y="2999232"/>
            <a:ext cx="5715000" cy="530352"/>
          </a:xfrm>
          <a:prstGeom prst="roundRect">
            <a:avLst>
              <a:gd name="adj" fmla="val 6000"/>
            </a:avLst>
          </a:prstGeom>
          <a:solidFill>
            <a:srgbClr val="F5F6F8"/>
          </a:solidFill>
          <a:ln w="12700">
            <a:solidFill>
              <a:srgbClr val="DDE1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0" name="Picture 9" descr="check_steel.png"/>
          <p:cNvPicPr>
            <a:picLocks noChangeAspect="1"/>
          </p:cNvPicPr>
          <p:nvPr/>
        </p:nvPicPr>
        <p:blipFill>
          <a:blip r:embed="rId3"/>
          <a:stretch>
            <a:fillRect/>
          </a:stretch>
        </p:blipFill>
        <p:spPr>
          <a:xfrm>
            <a:off x="987552" y="3145536"/>
            <a:ext cx="237744" cy="237744"/>
          </a:xfrm>
          <a:prstGeom prst="rect">
            <a:avLst/>
          </a:prstGeom>
        </p:spPr>
      </p:pic>
      <p:sp>
        <p:nvSpPr>
          <p:cNvPr id="11" name="TextBox 10"/>
          <p:cNvSpPr txBox="1"/>
          <p:nvPr/>
        </p:nvSpPr>
        <p:spPr>
          <a:xfrm>
            <a:off x="1353312" y="2999232"/>
            <a:ext cx="5029200" cy="530352"/>
          </a:xfrm>
          <a:prstGeom prst="rect">
            <a:avLst/>
          </a:prstGeom>
          <a:noFill/>
        </p:spPr>
        <p:txBody>
          <a:bodyPr wrap="square" anchor="ctr" lIns="0" rIns="0" tIns="0" bIns="0">
            <a:spAutoFit/>
          </a:bodyPr>
          <a:lstStyle/>
          <a:p>
            <a:pPr algn="l">
              <a:lnSpc>
                <a:spcPct val="106000"/>
              </a:lnSpc>
              <a:spcBef>
                <a:spcPts val="0"/>
              </a:spcBef>
              <a:spcAft>
                <a:spcPts val="0"/>
              </a:spcAft>
            </a:pPr>
            <a:r>
              <a:rPr sz="1200" b="0">
                <a:solidFill>
                  <a:srgbClr val="1A1A1A"/>
                </a:solidFill>
                <a:latin typeface="Red Hat Text"/>
              </a:rPr>
              <a:t>The CNI, monitoring, machine-config ARE DaemonSets</a:t>
            </a:r>
          </a:p>
        </p:txBody>
      </p:sp>
      <p:sp>
        <p:nvSpPr>
          <p:cNvPr id="12" name="Rounded Rectangle 11"/>
          <p:cNvSpPr/>
          <p:nvPr/>
        </p:nvSpPr>
        <p:spPr>
          <a:xfrm>
            <a:off x="841248" y="3602736"/>
            <a:ext cx="5715000" cy="530352"/>
          </a:xfrm>
          <a:prstGeom prst="roundRect">
            <a:avLst>
              <a:gd name="adj" fmla="val 6000"/>
            </a:avLst>
          </a:prstGeom>
          <a:solidFill>
            <a:srgbClr val="F5F6F8"/>
          </a:solidFill>
          <a:ln w="12700">
            <a:solidFill>
              <a:srgbClr val="DDE1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3" name="Picture 12" descr="check_steel.png"/>
          <p:cNvPicPr>
            <a:picLocks noChangeAspect="1"/>
          </p:cNvPicPr>
          <p:nvPr/>
        </p:nvPicPr>
        <p:blipFill>
          <a:blip r:embed="rId3"/>
          <a:stretch>
            <a:fillRect/>
          </a:stretch>
        </p:blipFill>
        <p:spPr>
          <a:xfrm>
            <a:off x="987552" y="3749040"/>
            <a:ext cx="237744" cy="237744"/>
          </a:xfrm>
          <a:prstGeom prst="rect">
            <a:avLst/>
          </a:prstGeom>
        </p:spPr>
      </p:pic>
      <p:sp>
        <p:nvSpPr>
          <p:cNvPr id="14" name="TextBox 13"/>
          <p:cNvSpPr txBox="1"/>
          <p:nvPr/>
        </p:nvSpPr>
        <p:spPr>
          <a:xfrm>
            <a:off x="1353312" y="3602736"/>
            <a:ext cx="5029200" cy="530352"/>
          </a:xfrm>
          <a:prstGeom prst="rect">
            <a:avLst/>
          </a:prstGeom>
          <a:noFill/>
        </p:spPr>
        <p:txBody>
          <a:bodyPr wrap="square" anchor="ctr" lIns="0" rIns="0" tIns="0" bIns="0">
            <a:spAutoFit/>
          </a:bodyPr>
          <a:lstStyle/>
          <a:p>
            <a:pPr algn="l">
              <a:lnSpc>
                <a:spcPct val="106000"/>
              </a:lnSpc>
              <a:spcBef>
                <a:spcPts val="0"/>
              </a:spcBef>
              <a:spcAft>
                <a:spcPts val="0"/>
              </a:spcAft>
            </a:pPr>
            <a:r>
              <a:rPr sz="1200" b="0">
                <a:solidFill>
                  <a:srgbClr val="1A1A1A"/>
                </a:solidFill>
                <a:latin typeface="Red Hat Text"/>
              </a:rPr>
              <a:t>Native sidecar (GA): init container, restartPolicy Always</a:t>
            </a:r>
          </a:p>
        </p:txBody>
      </p:sp>
      <p:sp>
        <p:nvSpPr>
          <p:cNvPr id="15" name="Rounded Rectangle 14"/>
          <p:cNvSpPr/>
          <p:nvPr/>
        </p:nvSpPr>
        <p:spPr>
          <a:xfrm>
            <a:off x="841248" y="4206240"/>
            <a:ext cx="5715000" cy="530352"/>
          </a:xfrm>
          <a:prstGeom prst="roundRect">
            <a:avLst>
              <a:gd name="adj" fmla="val 6000"/>
            </a:avLst>
          </a:prstGeom>
          <a:solidFill>
            <a:srgbClr val="F5F6F8"/>
          </a:solidFill>
          <a:ln w="12700">
            <a:solidFill>
              <a:srgbClr val="DDE1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6" name="Picture 15" descr="check_steel.png"/>
          <p:cNvPicPr>
            <a:picLocks noChangeAspect="1"/>
          </p:cNvPicPr>
          <p:nvPr/>
        </p:nvPicPr>
        <p:blipFill>
          <a:blip r:embed="rId3"/>
          <a:stretch>
            <a:fillRect/>
          </a:stretch>
        </p:blipFill>
        <p:spPr>
          <a:xfrm>
            <a:off x="987552" y="4352544"/>
            <a:ext cx="237744" cy="237744"/>
          </a:xfrm>
          <a:prstGeom prst="rect">
            <a:avLst/>
          </a:prstGeom>
        </p:spPr>
      </p:pic>
      <p:sp>
        <p:nvSpPr>
          <p:cNvPr id="17" name="TextBox 16"/>
          <p:cNvSpPr txBox="1"/>
          <p:nvPr/>
        </p:nvSpPr>
        <p:spPr>
          <a:xfrm>
            <a:off x="1353312" y="4206240"/>
            <a:ext cx="5029200" cy="530352"/>
          </a:xfrm>
          <a:prstGeom prst="rect">
            <a:avLst/>
          </a:prstGeom>
          <a:noFill/>
        </p:spPr>
        <p:txBody>
          <a:bodyPr wrap="square" anchor="ctr" lIns="0" rIns="0" tIns="0" bIns="0">
            <a:spAutoFit/>
          </a:bodyPr>
          <a:lstStyle/>
          <a:p>
            <a:pPr algn="l">
              <a:lnSpc>
                <a:spcPct val="106000"/>
              </a:lnSpc>
              <a:spcBef>
                <a:spcPts val="0"/>
              </a:spcBef>
              <a:spcAft>
                <a:spcPts val="0"/>
              </a:spcAft>
            </a:pPr>
            <a:r>
              <a:rPr sz="1200" b="0">
                <a:solidFill>
                  <a:srgbClr val="1A1A1A"/>
                </a:solidFill>
                <a:latin typeface="Red Hat Text"/>
              </a:rPr>
              <a:t>MachineSets: the object that builds the pools</a:t>
            </a:r>
          </a:p>
        </p:txBody>
      </p:sp>
      <p:sp>
        <p:nvSpPr>
          <p:cNvPr id="18" name="Rounded Rectangle 17"/>
          <p:cNvSpPr/>
          <p:nvPr/>
        </p:nvSpPr>
        <p:spPr>
          <a:xfrm>
            <a:off x="841248" y="4809744"/>
            <a:ext cx="5715000" cy="530352"/>
          </a:xfrm>
          <a:prstGeom prst="roundRect">
            <a:avLst>
              <a:gd name="adj" fmla="val 6000"/>
            </a:avLst>
          </a:prstGeom>
          <a:solidFill>
            <a:srgbClr val="F5F6F8"/>
          </a:solidFill>
          <a:ln w="12700">
            <a:solidFill>
              <a:srgbClr val="DDE1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9" name="Picture 18" descr="check_steel.png"/>
          <p:cNvPicPr>
            <a:picLocks noChangeAspect="1"/>
          </p:cNvPicPr>
          <p:nvPr/>
        </p:nvPicPr>
        <p:blipFill>
          <a:blip r:embed="rId3"/>
          <a:stretch>
            <a:fillRect/>
          </a:stretch>
        </p:blipFill>
        <p:spPr>
          <a:xfrm>
            <a:off x="987552" y="4956048"/>
            <a:ext cx="237744" cy="237744"/>
          </a:xfrm>
          <a:prstGeom prst="rect">
            <a:avLst/>
          </a:prstGeom>
        </p:spPr>
      </p:pic>
      <p:sp>
        <p:nvSpPr>
          <p:cNvPr id="20" name="TextBox 19"/>
          <p:cNvSpPr txBox="1"/>
          <p:nvPr/>
        </p:nvSpPr>
        <p:spPr>
          <a:xfrm>
            <a:off x="1353312" y="4809744"/>
            <a:ext cx="5029200" cy="530352"/>
          </a:xfrm>
          <a:prstGeom prst="rect">
            <a:avLst/>
          </a:prstGeom>
          <a:noFill/>
        </p:spPr>
        <p:txBody>
          <a:bodyPr wrap="square" anchor="ctr" lIns="0" rIns="0" tIns="0" bIns="0">
            <a:spAutoFit/>
          </a:bodyPr>
          <a:lstStyle/>
          <a:p>
            <a:pPr algn="l">
              <a:lnSpc>
                <a:spcPct val="106000"/>
              </a:lnSpc>
              <a:spcBef>
                <a:spcPts val="0"/>
              </a:spcBef>
              <a:spcAft>
                <a:spcPts val="0"/>
              </a:spcAft>
            </a:pPr>
            <a:r>
              <a:rPr sz="1200" b="0">
                <a:solidFill>
                  <a:srgbClr val="1A1A1A"/>
                </a:solidFill>
                <a:latin typeface="Red Hat Text"/>
              </a:rPr>
              <a:t>You read these; creating a pool is cluster-wide</a:t>
            </a:r>
          </a:p>
        </p:txBody>
      </p:sp>
      <p:sp>
        <p:nvSpPr>
          <p:cNvPr id="21" name="Rounded Rectangle 20"/>
          <p:cNvSpPr/>
          <p:nvPr/>
        </p:nvSpPr>
        <p:spPr>
          <a:xfrm>
            <a:off x="6812280" y="2395728"/>
            <a:ext cx="4538167" cy="2944368"/>
          </a:xfrm>
          <a:prstGeom prst="roundRect">
            <a:avLst>
              <a:gd name="adj" fmla="val 4000"/>
            </a:avLst>
          </a:prstGeom>
          <a:solidFill>
            <a:srgbClr val="FFFFFF"/>
          </a:solidFill>
          <a:ln w="15240">
            <a:solidFill>
              <a:srgbClr val="DDE1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ounded Rectangle 21"/>
          <p:cNvSpPr/>
          <p:nvPr/>
        </p:nvSpPr>
        <p:spPr>
          <a:xfrm>
            <a:off x="7013448" y="2596896"/>
            <a:ext cx="1298448" cy="310896"/>
          </a:xfrm>
          <a:prstGeom prst="roundRect">
            <a:avLst>
              <a:gd name="adj" fmla="val 50000"/>
            </a:avLst>
          </a:prstGeom>
          <a:solidFill>
            <a:srgbClr val="FCEC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7013448" y="2596896"/>
            <a:ext cx="1298448" cy="310896"/>
          </a:xfrm>
          <a:prstGeom prst="rect">
            <a:avLst/>
          </a:prstGeom>
          <a:noFill/>
        </p:spPr>
        <p:txBody>
          <a:bodyPr wrap="none" anchor="ctr" lIns="0" rIns="0" tIns="0" bIns="0">
            <a:spAutoFit/>
          </a:bodyPr>
          <a:lstStyle/>
          <a:p>
            <a:pPr algn="ctr">
              <a:lnSpc>
                <a:spcPct val="106000"/>
              </a:lnSpc>
              <a:spcBef>
                <a:spcPts val="0"/>
              </a:spcBef>
              <a:spcAft>
                <a:spcPts val="0"/>
              </a:spcAft>
            </a:pPr>
            <a:r>
              <a:rPr sz="850" b="1">
                <a:solidFill>
                  <a:srgbClr val="B80000"/>
                </a:solidFill>
                <a:latin typeface="Red Hat Display"/>
              </a:rPr>
              <a:t>MEDIA PASS</a:t>
            </a:r>
          </a:p>
        </p:txBody>
      </p:sp>
      <p:pic>
        <p:nvPicPr>
          <p:cNvPr id="24" name="Picture 23" descr="eye_slate.png"/>
          <p:cNvPicPr>
            <a:picLocks noChangeAspect="1"/>
          </p:cNvPicPr>
          <p:nvPr/>
        </p:nvPicPr>
        <p:blipFill>
          <a:blip r:embed="rId4"/>
          <a:stretch>
            <a:fillRect/>
          </a:stretch>
        </p:blipFill>
        <p:spPr>
          <a:xfrm>
            <a:off x="8843619" y="3108960"/>
            <a:ext cx="475488" cy="475488"/>
          </a:xfrm>
          <a:prstGeom prst="rect">
            <a:avLst/>
          </a:prstGeom>
        </p:spPr>
      </p:pic>
      <p:sp>
        <p:nvSpPr>
          <p:cNvPr id="25" name="TextBox 24"/>
          <p:cNvSpPr txBox="1"/>
          <p:nvPr/>
        </p:nvSpPr>
        <p:spPr>
          <a:xfrm>
            <a:off x="7050024" y="3721608"/>
            <a:ext cx="4062679" cy="1481328"/>
          </a:xfrm>
          <a:prstGeom prst="rect">
            <a:avLst/>
          </a:prstGeom>
          <a:noFill/>
        </p:spPr>
        <p:txBody>
          <a:bodyPr wrap="square" anchor="t" lIns="0" rIns="0" tIns="0" bIns="0">
            <a:spAutoFit/>
          </a:bodyPr>
          <a:lstStyle/>
          <a:p>
            <a:pPr algn="l">
              <a:lnSpc>
                <a:spcPct val="120000"/>
              </a:lnSpc>
              <a:spcBef>
                <a:spcPts val="0"/>
              </a:spcBef>
              <a:spcAft>
                <a:spcPts val="0"/>
              </a:spcAft>
            </a:pPr>
            <a:r>
              <a:rPr sz="950" b="0">
                <a:solidFill>
                  <a:srgbClr val="8A9099"/>
                </a:solidFill>
                <a:latin typeface="Red Hat Text"/>
              </a:rPr>
              <a:t>A node grid with a DaemonSet agent icon on every node; one agent only on the control-plane row (nodeSelector); a side callout "MachineSet → labels + taints → the pool you target."</a:t>
            </a:r>
          </a:p>
        </p:txBody>
      </p:sp>
      <p:cxnSp>
        <p:nvCxnSpPr>
          <p:cNvPr id="26" name="Connector 25"/>
          <p:cNvCxnSpPr/>
          <p:nvPr/>
        </p:nvCxnSpPr>
        <p:spPr>
          <a:xfrm>
            <a:off x="841248" y="6437376"/>
            <a:ext cx="10509199" cy="0"/>
          </a:xfrm>
          <a:prstGeom prst="bentConnector3">
            <a:avLst/>
          </a:prstGeom>
          <a:ln w="12700">
            <a:solidFill>
              <a:srgbClr val="DDE1E6"/>
            </a:solidFill>
          </a:ln>
          <a:effectLst/>
        </p:spPr>
        <p:style>
          <a:lnRef idx="2">
            <a:schemeClr val="accent1"/>
          </a:lnRef>
          <a:fillRef idx="0">
            <a:schemeClr val="accent1"/>
          </a:fillRef>
          <a:effectRef idx="1">
            <a:schemeClr val="accent1"/>
          </a:effectRef>
          <a:fontRef idx="minor">
            <a:schemeClr val="tx1"/>
          </a:fontRef>
        </p:style>
      </p:cxnSp>
      <p:sp>
        <p:nvSpPr>
          <p:cNvPr id="27" name="TextBox 26"/>
          <p:cNvSpPr txBox="1"/>
          <p:nvPr/>
        </p:nvSpPr>
        <p:spPr>
          <a:xfrm>
            <a:off x="841248" y="6473952"/>
            <a:ext cx="7315200" cy="274320"/>
          </a:xfrm>
          <a:prstGeom prst="rect">
            <a:avLst/>
          </a:prstGeom>
          <a:noFill/>
        </p:spPr>
        <p:txBody>
          <a:bodyPr wrap="square" anchor="t" lIns="0" rIns="0" tIns="0" bIns="0">
            <a:spAutoFit/>
          </a:bodyPr>
          <a:lstStyle/>
          <a:p>
            <a:pPr algn="l">
              <a:lnSpc>
                <a:spcPct val="106000"/>
              </a:lnSpc>
              <a:spcBef>
                <a:spcPts val="0"/>
              </a:spcBef>
              <a:spcAft>
                <a:spcPts val="0"/>
              </a:spcAft>
            </a:pPr>
            <a:r>
              <a:rPr sz="950" b="0">
                <a:solidFill>
                  <a:srgbClr val="8A9099"/>
                </a:solidFill>
                <a:latin typeface="Red Hat Text"/>
              </a:rPr>
              <a:t>CONFIDENTIAL</a:t>
            </a:r>
          </a:p>
        </p:txBody>
      </p:sp>
      <p:sp>
        <p:nvSpPr>
          <p:cNvPr id="28" name="TextBox 27"/>
          <p:cNvSpPr txBox="1"/>
          <p:nvPr/>
        </p:nvSpPr>
        <p:spPr>
          <a:xfrm>
            <a:off x="10801807" y="6473952"/>
            <a:ext cx="548640" cy="274320"/>
          </a:xfrm>
          <a:prstGeom prst="rect">
            <a:avLst/>
          </a:prstGeom>
          <a:noFill/>
        </p:spPr>
        <p:txBody>
          <a:bodyPr wrap="square" anchor="t" lIns="0" rIns="0" tIns="0" bIns="0">
            <a:spAutoFit/>
          </a:bodyPr>
          <a:lstStyle/>
          <a:p>
            <a:pPr algn="r">
              <a:lnSpc>
                <a:spcPct val="106000"/>
              </a:lnSpc>
              <a:spcBef>
                <a:spcPts val="0"/>
              </a:spcBef>
              <a:spcAft>
                <a:spcPts val="0"/>
              </a:spcAft>
            </a:pPr>
            <a:r>
              <a:rPr sz="950" b="0">
                <a:solidFill>
                  <a:srgbClr val="8A9099"/>
                </a:solidFill>
                <a:latin typeface="Red Hat Text"/>
              </a:rPr>
              <a:t>126</a:t>
            </a:r>
          </a:p>
        </p:txBody>
      </p:sp>
    </p:spTree>
  </p:cSld>
  <p:clrMapOvr>
    <a:masterClrMapping/>
  </p:clrMapOvr>
</p:sld>
</file>

<file path=ppt/slides/slide14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redhat_logo.jpg"/>
          <p:cNvPicPr>
            <a:picLocks noChangeAspect="1"/>
          </p:cNvPicPr>
          <p:nvPr/>
        </p:nvPicPr>
        <p:blipFill>
          <a:blip r:embed="rId2"/>
          <a:stretch>
            <a:fillRect/>
          </a:stretch>
        </p:blipFill>
        <p:spPr>
          <a:xfrm>
            <a:off x="10326319" y="475488"/>
            <a:ext cx="1024128" cy="242248"/>
          </a:xfrm>
          <a:prstGeom prst="rect">
            <a:avLst/>
          </a:prstGeom>
        </p:spPr>
      </p:pic>
      <p:sp>
        <p:nvSpPr>
          <p:cNvPr id="3" name="TextBox 2"/>
          <p:cNvSpPr txBox="1"/>
          <p:nvPr/>
        </p:nvSpPr>
        <p:spPr>
          <a:xfrm>
            <a:off x="841248" y="548640"/>
            <a:ext cx="8595360" cy="274320"/>
          </a:xfrm>
          <a:prstGeom prst="rect">
            <a:avLst/>
          </a:prstGeom>
          <a:noFill/>
        </p:spPr>
        <p:txBody>
          <a:bodyPr wrap="square" anchor="t" lIns="0" rIns="0" tIns="0" bIns="0">
            <a:spAutoFit/>
          </a:bodyPr>
          <a:lstStyle/>
          <a:p>
            <a:pPr algn="l">
              <a:lnSpc>
                <a:spcPct val="106000"/>
              </a:lnSpc>
              <a:spcBef>
                <a:spcPts val="0"/>
              </a:spcBef>
              <a:spcAft>
                <a:spcPts val="0"/>
              </a:spcAft>
            </a:pPr>
            <a:r>
              <a:rPr sz="1250" b="1" spc="220">
                <a:solidFill>
                  <a:srgbClr val="EE0000"/>
                </a:solidFill>
                <a:latin typeface="Red Hat Display"/>
              </a:rPr>
              <a:t>M17 · DEPLOYMENT TARGETS &amp; SCHEDULING</a:t>
            </a:r>
          </a:p>
        </p:txBody>
      </p:sp>
      <p:sp>
        <p:nvSpPr>
          <p:cNvPr id="4" name="TextBox 3"/>
          <p:cNvSpPr txBox="1"/>
          <p:nvPr/>
        </p:nvSpPr>
        <p:spPr>
          <a:xfrm>
            <a:off x="841248" y="877824"/>
            <a:ext cx="10515600" cy="548640"/>
          </a:xfrm>
          <a:prstGeom prst="rect">
            <a:avLst/>
          </a:prstGeom>
          <a:noFill/>
        </p:spPr>
        <p:txBody>
          <a:bodyPr wrap="none" anchor="t" lIns="0" rIns="0" tIns="0" bIns="0">
            <a:spAutoFit/>
          </a:bodyPr>
          <a:lstStyle/>
          <a:p>
            <a:pPr algn="l">
              <a:lnSpc>
                <a:spcPct val="100000"/>
              </a:lnSpc>
              <a:spcBef>
                <a:spcPts val="0"/>
              </a:spcBef>
              <a:spcAft>
                <a:spcPts val="0"/>
              </a:spcAft>
            </a:pPr>
            <a:r>
              <a:rPr sz="2500" b="1">
                <a:solidFill>
                  <a:srgbClr val="1A1A1A"/>
                </a:solidFill>
                <a:latin typeface="Red Hat Display"/>
              </a:rPr>
              <a:t>What you'll do — and map to your org</a:t>
            </a:r>
          </a:p>
        </p:txBody>
      </p:sp>
      <p:cxnSp>
        <p:nvCxnSpPr>
          <p:cNvPr id="5" name="Connector 4"/>
          <p:cNvCxnSpPr/>
          <p:nvPr/>
        </p:nvCxnSpPr>
        <p:spPr>
          <a:xfrm>
            <a:off x="841248" y="1554480"/>
            <a:ext cx="1371600" cy="0"/>
          </a:xfrm>
          <a:prstGeom prst="bentConnector3">
            <a:avLst/>
          </a:prstGeom>
          <a:ln w="31750">
            <a:solidFill>
              <a:srgbClr val="EE0000"/>
            </a:solidFill>
          </a:ln>
          <a:effectLst/>
        </p:spPr>
        <p:style>
          <a:lnRef idx="2">
            <a:schemeClr val="accent1"/>
          </a:lnRef>
          <a:fillRef idx="0">
            <a:schemeClr val="accent1"/>
          </a:fillRef>
          <a:effectRef idx="1">
            <a:schemeClr val="accent1"/>
          </a:effectRef>
          <a:fontRef idx="minor">
            <a:schemeClr val="tx1"/>
          </a:fontRef>
        </p:style>
      </p:cxnSp>
      <p:sp>
        <p:nvSpPr>
          <p:cNvPr id="6" name="Rounded Rectangle 5"/>
          <p:cNvSpPr/>
          <p:nvPr/>
        </p:nvSpPr>
        <p:spPr>
          <a:xfrm>
            <a:off x="841248" y="2395728"/>
            <a:ext cx="5715000" cy="530352"/>
          </a:xfrm>
          <a:prstGeom prst="roundRect">
            <a:avLst>
              <a:gd name="adj" fmla="val 6000"/>
            </a:avLst>
          </a:prstGeom>
          <a:solidFill>
            <a:srgbClr val="F5F6F8"/>
          </a:solidFill>
          <a:ln w="12700">
            <a:solidFill>
              <a:srgbClr val="DDE1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check_steel.png"/>
          <p:cNvPicPr>
            <a:picLocks noChangeAspect="1"/>
          </p:cNvPicPr>
          <p:nvPr/>
        </p:nvPicPr>
        <p:blipFill>
          <a:blip r:embed="rId3"/>
          <a:stretch>
            <a:fillRect/>
          </a:stretch>
        </p:blipFill>
        <p:spPr>
          <a:xfrm>
            <a:off x="987552" y="2542032"/>
            <a:ext cx="237744" cy="237744"/>
          </a:xfrm>
          <a:prstGeom prst="rect">
            <a:avLst/>
          </a:prstGeom>
        </p:spPr>
      </p:pic>
      <p:sp>
        <p:nvSpPr>
          <p:cNvPr id="8" name="TextBox 7"/>
          <p:cNvSpPr txBox="1"/>
          <p:nvPr/>
        </p:nvSpPr>
        <p:spPr>
          <a:xfrm>
            <a:off x="1353312" y="2395728"/>
            <a:ext cx="5029200" cy="530352"/>
          </a:xfrm>
          <a:prstGeom prst="rect">
            <a:avLst/>
          </a:prstGeom>
          <a:noFill/>
        </p:spPr>
        <p:txBody>
          <a:bodyPr wrap="square" anchor="ctr" lIns="0" rIns="0" tIns="0" bIns="0">
            <a:spAutoFit/>
          </a:bodyPr>
          <a:lstStyle/>
          <a:p>
            <a:pPr algn="l">
              <a:lnSpc>
                <a:spcPct val="106000"/>
              </a:lnSpc>
              <a:spcBef>
                <a:spcPts val="0"/>
              </a:spcBef>
              <a:spcAft>
                <a:spcPts val="0"/>
              </a:spcAft>
            </a:pPr>
            <a:r>
              <a:rPr sz="1200" b="0">
                <a:solidFill>
                  <a:srgbClr val="1A1A1A"/>
                </a:solidFill>
                <a:latin typeface="Red Hat Text"/>
              </a:rPr>
              <a:t>Read placement; force replicas apart; read a refusal</a:t>
            </a:r>
          </a:p>
        </p:txBody>
      </p:sp>
      <p:sp>
        <p:nvSpPr>
          <p:cNvPr id="9" name="Rounded Rectangle 8"/>
          <p:cNvSpPr/>
          <p:nvPr/>
        </p:nvSpPr>
        <p:spPr>
          <a:xfrm>
            <a:off x="841248" y="2999232"/>
            <a:ext cx="5715000" cy="530352"/>
          </a:xfrm>
          <a:prstGeom prst="roundRect">
            <a:avLst>
              <a:gd name="adj" fmla="val 6000"/>
            </a:avLst>
          </a:prstGeom>
          <a:solidFill>
            <a:srgbClr val="F5F6F8"/>
          </a:solidFill>
          <a:ln w="12700">
            <a:solidFill>
              <a:srgbClr val="DDE1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0" name="Picture 9" descr="check_steel.png"/>
          <p:cNvPicPr>
            <a:picLocks noChangeAspect="1"/>
          </p:cNvPicPr>
          <p:nvPr/>
        </p:nvPicPr>
        <p:blipFill>
          <a:blip r:embed="rId3"/>
          <a:stretch>
            <a:fillRect/>
          </a:stretch>
        </p:blipFill>
        <p:spPr>
          <a:xfrm>
            <a:off x="987552" y="3145536"/>
            <a:ext cx="237744" cy="237744"/>
          </a:xfrm>
          <a:prstGeom prst="rect">
            <a:avLst/>
          </a:prstGeom>
        </p:spPr>
      </p:pic>
      <p:sp>
        <p:nvSpPr>
          <p:cNvPr id="11" name="TextBox 10"/>
          <p:cNvSpPr txBox="1"/>
          <p:nvPr/>
        </p:nvSpPr>
        <p:spPr>
          <a:xfrm>
            <a:off x="1353312" y="2999232"/>
            <a:ext cx="5029200" cy="530352"/>
          </a:xfrm>
          <a:prstGeom prst="rect">
            <a:avLst/>
          </a:prstGeom>
          <a:noFill/>
        </p:spPr>
        <p:txBody>
          <a:bodyPr wrap="square" anchor="ctr" lIns="0" rIns="0" tIns="0" bIns="0">
            <a:spAutoFit/>
          </a:bodyPr>
          <a:lstStyle/>
          <a:p>
            <a:pPr algn="l">
              <a:lnSpc>
                <a:spcPct val="106000"/>
              </a:lnSpc>
              <a:spcBef>
                <a:spcPts val="0"/>
              </a:spcBef>
              <a:spcAft>
                <a:spcPts val="0"/>
              </a:spcAft>
            </a:pPr>
            <a:r>
              <a:rPr sz="1200" b="0">
                <a:solidFill>
                  <a:srgbClr val="1A1A1A"/>
                </a:solidFill>
                <a:latin typeface="Red Hat Text"/>
              </a:rPr>
              <a:t>Spread across nodes (and, with one knob, zones)</a:t>
            </a:r>
          </a:p>
        </p:txBody>
      </p:sp>
      <p:sp>
        <p:nvSpPr>
          <p:cNvPr id="12" name="Rounded Rectangle 11"/>
          <p:cNvSpPr/>
          <p:nvPr/>
        </p:nvSpPr>
        <p:spPr>
          <a:xfrm>
            <a:off x="841248" y="3602736"/>
            <a:ext cx="5715000" cy="530352"/>
          </a:xfrm>
          <a:prstGeom prst="roundRect">
            <a:avLst>
              <a:gd name="adj" fmla="val 6000"/>
            </a:avLst>
          </a:prstGeom>
          <a:solidFill>
            <a:srgbClr val="F5F6F8"/>
          </a:solidFill>
          <a:ln w="12700">
            <a:solidFill>
              <a:srgbClr val="DDE1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3" name="Picture 12" descr="check_steel.png"/>
          <p:cNvPicPr>
            <a:picLocks noChangeAspect="1"/>
          </p:cNvPicPr>
          <p:nvPr/>
        </p:nvPicPr>
        <p:blipFill>
          <a:blip r:embed="rId3"/>
          <a:stretch>
            <a:fillRect/>
          </a:stretch>
        </p:blipFill>
        <p:spPr>
          <a:xfrm>
            <a:off x="987552" y="3749040"/>
            <a:ext cx="237744" cy="237744"/>
          </a:xfrm>
          <a:prstGeom prst="rect">
            <a:avLst/>
          </a:prstGeom>
        </p:spPr>
      </p:pic>
      <p:sp>
        <p:nvSpPr>
          <p:cNvPr id="14" name="TextBox 13"/>
          <p:cNvSpPr txBox="1"/>
          <p:nvPr/>
        </p:nvSpPr>
        <p:spPr>
          <a:xfrm>
            <a:off x="1353312" y="3602736"/>
            <a:ext cx="5029200" cy="530352"/>
          </a:xfrm>
          <a:prstGeom prst="rect">
            <a:avLst/>
          </a:prstGeom>
          <a:noFill/>
        </p:spPr>
        <p:txBody>
          <a:bodyPr wrap="square" anchor="ctr" lIns="0" rIns="0" tIns="0" bIns="0">
            <a:spAutoFit/>
          </a:bodyPr>
          <a:lstStyle/>
          <a:p>
            <a:pPr algn="l">
              <a:lnSpc>
                <a:spcPct val="106000"/>
              </a:lnSpc>
              <a:spcBef>
                <a:spcPts val="0"/>
              </a:spcBef>
              <a:spcAft>
                <a:spcPts val="0"/>
              </a:spcAft>
            </a:pPr>
            <a:r>
              <a:rPr sz="1200" b="0">
                <a:solidFill>
                  <a:srgbClr val="1A1A1A"/>
                </a:solidFill>
                <a:latin typeface="Red Hat Text"/>
              </a:rPr>
              <a:t>Pin the batch worker onto a dedicated pool</a:t>
            </a:r>
          </a:p>
        </p:txBody>
      </p:sp>
      <p:sp>
        <p:nvSpPr>
          <p:cNvPr id="15" name="Rounded Rectangle 14"/>
          <p:cNvSpPr/>
          <p:nvPr/>
        </p:nvSpPr>
        <p:spPr>
          <a:xfrm>
            <a:off x="841248" y="4206240"/>
            <a:ext cx="5715000" cy="530352"/>
          </a:xfrm>
          <a:prstGeom prst="roundRect">
            <a:avLst>
              <a:gd name="adj" fmla="val 6000"/>
            </a:avLst>
          </a:prstGeom>
          <a:solidFill>
            <a:srgbClr val="F5F6F8"/>
          </a:solidFill>
          <a:ln w="12700">
            <a:solidFill>
              <a:srgbClr val="DDE1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6" name="Picture 15" descr="check_steel.png"/>
          <p:cNvPicPr>
            <a:picLocks noChangeAspect="1"/>
          </p:cNvPicPr>
          <p:nvPr/>
        </p:nvPicPr>
        <p:blipFill>
          <a:blip r:embed="rId3"/>
          <a:stretch>
            <a:fillRect/>
          </a:stretch>
        </p:blipFill>
        <p:spPr>
          <a:xfrm>
            <a:off x="987552" y="4352544"/>
            <a:ext cx="237744" cy="237744"/>
          </a:xfrm>
          <a:prstGeom prst="rect">
            <a:avLst/>
          </a:prstGeom>
        </p:spPr>
      </p:pic>
      <p:sp>
        <p:nvSpPr>
          <p:cNvPr id="17" name="TextBox 16"/>
          <p:cNvSpPr txBox="1"/>
          <p:nvPr/>
        </p:nvSpPr>
        <p:spPr>
          <a:xfrm>
            <a:off x="1353312" y="4206240"/>
            <a:ext cx="5029200" cy="530352"/>
          </a:xfrm>
          <a:prstGeom prst="rect">
            <a:avLst/>
          </a:prstGeom>
          <a:noFill/>
        </p:spPr>
        <p:txBody>
          <a:bodyPr wrap="square" anchor="ctr" lIns="0" rIns="0" tIns="0" bIns="0">
            <a:spAutoFit/>
          </a:bodyPr>
          <a:lstStyle/>
          <a:p>
            <a:pPr algn="l">
              <a:lnSpc>
                <a:spcPct val="106000"/>
              </a:lnSpc>
              <a:spcBef>
                <a:spcPts val="0"/>
              </a:spcBef>
              <a:spcAft>
                <a:spcPts val="0"/>
              </a:spcAft>
            </a:pPr>
            <a:r>
              <a:rPr sz="1200" b="0">
                <a:solidFill>
                  <a:srgbClr val="1A1A1A"/>
                </a:solidFill>
                <a:latin typeface="Red Hat Text"/>
              </a:rPr>
              <a:t>Roll under load with capacity held flat; add a PDB</a:t>
            </a:r>
          </a:p>
        </p:txBody>
      </p:sp>
      <p:sp>
        <p:nvSpPr>
          <p:cNvPr id="18" name="Rounded Rectangle 17"/>
          <p:cNvSpPr/>
          <p:nvPr/>
        </p:nvSpPr>
        <p:spPr>
          <a:xfrm>
            <a:off x="841248" y="4809744"/>
            <a:ext cx="5715000" cy="530352"/>
          </a:xfrm>
          <a:prstGeom prst="roundRect">
            <a:avLst>
              <a:gd name="adj" fmla="val 6000"/>
            </a:avLst>
          </a:prstGeom>
          <a:solidFill>
            <a:srgbClr val="F5F6F8"/>
          </a:solidFill>
          <a:ln w="12700">
            <a:solidFill>
              <a:srgbClr val="DDE1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9" name="Picture 18" descr="check_steel.png"/>
          <p:cNvPicPr>
            <a:picLocks noChangeAspect="1"/>
          </p:cNvPicPr>
          <p:nvPr/>
        </p:nvPicPr>
        <p:blipFill>
          <a:blip r:embed="rId3"/>
          <a:stretch>
            <a:fillRect/>
          </a:stretch>
        </p:blipFill>
        <p:spPr>
          <a:xfrm>
            <a:off x="987552" y="4956048"/>
            <a:ext cx="237744" cy="237744"/>
          </a:xfrm>
          <a:prstGeom prst="rect">
            <a:avLst/>
          </a:prstGeom>
        </p:spPr>
      </p:pic>
      <p:sp>
        <p:nvSpPr>
          <p:cNvPr id="20" name="TextBox 19"/>
          <p:cNvSpPr txBox="1"/>
          <p:nvPr/>
        </p:nvSpPr>
        <p:spPr>
          <a:xfrm>
            <a:off x="1353312" y="4809744"/>
            <a:ext cx="5029200" cy="530352"/>
          </a:xfrm>
          <a:prstGeom prst="rect">
            <a:avLst/>
          </a:prstGeom>
          <a:noFill/>
        </p:spPr>
        <p:txBody>
          <a:bodyPr wrap="square" anchor="ctr" lIns="0" rIns="0" tIns="0" bIns="0">
            <a:spAutoFit/>
          </a:bodyPr>
          <a:lstStyle/>
          <a:p>
            <a:pPr algn="l">
              <a:lnSpc>
                <a:spcPct val="106000"/>
              </a:lnSpc>
              <a:spcBef>
                <a:spcPts val="0"/>
              </a:spcBef>
              <a:spcAft>
                <a:spcPts val="0"/>
              </a:spcAft>
            </a:pPr>
            <a:r>
              <a:rPr sz="1200" b="0">
                <a:solidFill>
                  <a:srgbClr val="1A1A1A"/>
                </a:solidFill>
                <a:latin typeface="Red Hat Text"/>
              </a:rPr>
              <a:t>If that node died now — replica elsewhere, guaranteed?</a:t>
            </a:r>
          </a:p>
        </p:txBody>
      </p:sp>
      <p:sp>
        <p:nvSpPr>
          <p:cNvPr id="21" name="Rounded Rectangle 20"/>
          <p:cNvSpPr/>
          <p:nvPr/>
        </p:nvSpPr>
        <p:spPr>
          <a:xfrm>
            <a:off x="6812280" y="2395728"/>
            <a:ext cx="4538167" cy="2944368"/>
          </a:xfrm>
          <a:prstGeom prst="roundRect">
            <a:avLst>
              <a:gd name="adj" fmla="val 4000"/>
            </a:avLst>
          </a:prstGeom>
          <a:solidFill>
            <a:srgbClr val="FFFFFF"/>
          </a:solidFill>
          <a:ln w="15240">
            <a:solidFill>
              <a:srgbClr val="DDE1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ounded Rectangle 21"/>
          <p:cNvSpPr/>
          <p:nvPr/>
        </p:nvSpPr>
        <p:spPr>
          <a:xfrm>
            <a:off x="7013448" y="2596896"/>
            <a:ext cx="1298448" cy="310896"/>
          </a:xfrm>
          <a:prstGeom prst="roundRect">
            <a:avLst>
              <a:gd name="adj" fmla="val 50000"/>
            </a:avLst>
          </a:prstGeom>
          <a:solidFill>
            <a:srgbClr val="FCEC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7013448" y="2596896"/>
            <a:ext cx="1298448" cy="310896"/>
          </a:xfrm>
          <a:prstGeom prst="rect">
            <a:avLst/>
          </a:prstGeom>
          <a:noFill/>
        </p:spPr>
        <p:txBody>
          <a:bodyPr wrap="none" anchor="ctr" lIns="0" rIns="0" tIns="0" bIns="0">
            <a:spAutoFit/>
          </a:bodyPr>
          <a:lstStyle/>
          <a:p>
            <a:pPr algn="ctr">
              <a:lnSpc>
                <a:spcPct val="106000"/>
              </a:lnSpc>
              <a:spcBef>
                <a:spcPts val="0"/>
              </a:spcBef>
              <a:spcAft>
                <a:spcPts val="0"/>
              </a:spcAft>
            </a:pPr>
            <a:r>
              <a:rPr sz="850" b="1">
                <a:solidFill>
                  <a:srgbClr val="B80000"/>
                </a:solidFill>
                <a:latin typeface="Red Hat Display"/>
              </a:rPr>
              <a:t>MEDIA PASS</a:t>
            </a:r>
          </a:p>
        </p:txBody>
      </p:sp>
      <p:pic>
        <p:nvPicPr>
          <p:cNvPr id="24" name="Picture 23" descr="eye_slate.png"/>
          <p:cNvPicPr>
            <a:picLocks noChangeAspect="1"/>
          </p:cNvPicPr>
          <p:nvPr/>
        </p:nvPicPr>
        <p:blipFill>
          <a:blip r:embed="rId4"/>
          <a:stretch>
            <a:fillRect/>
          </a:stretch>
        </p:blipFill>
        <p:spPr>
          <a:xfrm>
            <a:off x="8843619" y="3108960"/>
            <a:ext cx="475488" cy="475488"/>
          </a:xfrm>
          <a:prstGeom prst="rect">
            <a:avLst/>
          </a:prstGeom>
        </p:spPr>
      </p:pic>
      <p:sp>
        <p:nvSpPr>
          <p:cNvPr id="25" name="TextBox 24"/>
          <p:cNvSpPr txBox="1"/>
          <p:nvPr/>
        </p:nvSpPr>
        <p:spPr>
          <a:xfrm>
            <a:off x="7050024" y="3721608"/>
            <a:ext cx="4062679" cy="1481328"/>
          </a:xfrm>
          <a:prstGeom prst="rect">
            <a:avLst/>
          </a:prstGeom>
          <a:noFill/>
        </p:spPr>
        <p:txBody>
          <a:bodyPr wrap="square" anchor="t" lIns="0" rIns="0" tIns="0" bIns="0">
            <a:spAutoFit/>
          </a:bodyPr>
          <a:lstStyle/>
          <a:p>
            <a:pPr algn="l">
              <a:lnSpc>
                <a:spcPct val="120000"/>
              </a:lnSpc>
              <a:spcBef>
                <a:spcPts val="0"/>
              </a:spcBef>
              <a:spcAft>
                <a:spcPts val="0"/>
              </a:spcAft>
            </a:pPr>
            <a:r>
              <a:rPr sz="950" b="0">
                <a:solidFill>
                  <a:srgbClr val="8A9099"/>
                </a:solidFill>
                <a:latin typeface="Red Hat Text"/>
              </a:rPr>
              <a:t>Numbered arc strip: read/force-apart → spread → dedicated pool (break-fix) → zero-downtime roll + PDB; footnote pointer to the GitOps at Scale module for canary/blue-green.</a:t>
            </a:r>
          </a:p>
        </p:txBody>
      </p:sp>
      <p:cxnSp>
        <p:nvCxnSpPr>
          <p:cNvPr id="26" name="Connector 25"/>
          <p:cNvCxnSpPr/>
          <p:nvPr/>
        </p:nvCxnSpPr>
        <p:spPr>
          <a:xfrm>
            <a:off x="841248" y="6437376"/>
            <a:ext cx="10509199" cy="0"/>
          </a:xfrm>
          <a:prstGeom prst="bentConnector3">
            <a:avLst/>
          </a:prstGeom>
          <a:ln w="12700">
            <a:solidFill>
              <a:srgbClr val="DDE1E6"/>
            </a:solidFill>
          </a:ln>
          <a:effectLst/>
        </p:spPr>
        <p:style>
          <a:lnRef idx="2">
            <a:schemeClr val="accent1"/>
          </a:lnRef>
          <a:fillRef idx="0">
            <a:schemeClr val="accent1"/>
          </a:fillRef>
          <a:effectRef idx="1">
            <a:schemeClr val="accent1"/>
          </a:effectRef>
          <a:fontRef idx="minor">
            <a:schemeClr val="tx1"/>
          </a:fontRef>
        </p:style>
      </p:cxnSp>
      <p:sp>
        <p:nvSpPr>
          <p:cNvPr id="27" name="TextBox 26"/>
          <p:cNvSpPr txBox="1"/>
          <p:nvPr/>
        </p:nvSpPr>
        <p:spPr>
          <a:xfrm>
            <a:off x="841248" y="6473952"/>
            <a:ext cx="7315200" cy="274320"/>
          </a:xfrm>
          <a:prstGeom prst="rect">
            <a:avLst/>
          </a:prstGeom>
          <a:noFill/>
        </p:spPr>
        <p:txBody>
          <a:bodyPr wrap="square" anchor="t" lIns="0" rIns="0" tIns="0" bIns="0">
            <a:spAutoFit/>
          </a:bodyPr>
          <a:lstStyle/>
          <a:p>
            <a:pPr algn="l">
              <a:lnSpc>
                <a:spcPct val="106000"/>
              </a:lnSpc>
              <a:spcBef>
                <a:spcPts val="0"/>
              </a:spcBef>
              <a:spcAft>
                <a:spcPts val="0"/>
              </a:spcAft>
            </a:pPr>
            <a:r>
              <a:rPr sz="950" b="0">
                <a:solidFill>
                  <a:srgbClr val="8A9099"/>
                </a:solidFill>
                <a:latin typeface="Red Hat Text"/>
              </a:rPr>
              <a:t>CONFIDENTIAL</a:t>
            </a:r>
          </a:p>
        </p:txBody>
      </p:sp>
      <p:sp>
        <p:nvSpPr>
          <p:cNvPr id="28" name="TextBox 27"/>
          <p:cNvSpPr txBox="1"/>
          <p:nvPr/>
        </p:nvSpPr>
        <p:spPr>
          <a:xfrm>
            <a:off x="10801807" y="6473952"/>
            <a:ext cx="548640" cy="274320"/>
          </a:xfrm>
          <a:prstGeom prst="rect">
            <a:avLst/>
          </a:prstGeom>
          <a:noFill/>
        </p:spPr>
        <p:txBody>
          <a:bodyPr wrap="square" anchor="t" lIns="0" rIns="0" tIns="0" bIns="0">
            <a:spAutoFit/>
          </a:bodyPr>
          <a:lstStyle/>
          <a:p>
            <a:pPr algn="r">
              <a:lnSpc>
                <a:spcPct val="106000"/>
              </a:lnSpc>
              <a:spcBef>
                <a:spcPts val="0"/>
              </a:spcBef>
              <a:spcAft>
                <a:spcPts val="0"/>
              </a:spcAft>
            </a:pPr>
            <a:r>
              <a:rPr sz="950" b="0">
                <a:solidFill>
                  <a:srgbClr val="8A9099"/>
                </a:solidFill>
                <a:latin typeface="Red Hat Text"/>
              </a:rPr>
              <a:t>127</a:t>
            </a:r>
          </a:p>
        </p:txBody>
      </p:sp>
    </p:spTree>
  </p:cSld>
  <p:clrMapOvr>
    <a:masterClrMapping/>
  </p:clrMapOvr>
</p:sld>
</file>

<file path=ppt/slides/slide14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redhat_logo.jpg"/>
          <p:cNvPicPr>
            <a:picLocks noChangeAspect="1"/>
          </p:cNvPicPr>
          <p:nvPr/>
        </p:nvPicPr>
        <p:blipFill>
          <a:blip r:embed="rId2"/>
          <a:stretch>
            <a:fillRect/>
          </a:stretch>
        </p:blipFill>
        <p:spPr>
          <a:xfrm>
            <a:off x="841248" y="731520"/>
            <a:ext cx="1554480" cy="367699"/>
          </a:xfrm>
          <a:prstGeom prst="rect">
            <a:avLst/>
          </a:prstGeom>
        </p:spPr>
      </p:pic>
      <p:sp>
        <p:nvSpPr>
          <p:cNvPr id="3" name="TextBox 2"/>
          <p:cNvSpPr txBox="1"/>
          <p:nvPr/>
        </p:nvSpPr>
        <p:spPr>
          <a:xfrm>
            <a:off x="841248" y="2514600"/>
            <a:ext cx="9601200" cy="274320"/>
          </a:xfrm>
          <a:prstGeom prst="rect">
            <a:avLst/>
          </a:prstGeom>
          <a:noFill/>
        </p:spPr>
        <p:txBody>
          <a:bodyPr wrap="square" anchor="t" lIns="0" rIns="0" tIns="0" bIns="0">
            <a:spAutoFit/>
          </a:bodyPr>
          <a:lstStyle/>
          <a:p>
            <a:pPr algn="l">
              <a:lnSpc>
                <a:spcPct val="106000"/>
              </a:lnSpc>
              <a:spcBef>
                <a:spcPts val="0"/>
              </a:spcBef>
              <a:spcAft>
                <a:spcPts val="0"/>
              </a:spcAft>
            </a:pPr>
            <a:r>
              <a:rPr sz="1250" b="1" spc="180">
                <a:solidFill>
                  <a:srgbClr val="5B3E8E"/>
                </a:solidFill>
                <a:latin typeface="Red Hat Display"/>
              </a:rPr>
              <a:t>D · ADVANCED ELECTIVES</a:t>
            </a:r>
          </a:p>
        </p:txBody>
      </p:sp>
      <p:sp>
        <p:nvSpPr>
          <p:cNvPr id="4" name="TextBox 3"/>
          <p:cNvSpPr txBox="1"/>
          <p:nvPr/>
        </p:nvSpPr>
        <p:spPr>
          <a:xfrm>
            <a:off x="841248" y="2880360"/>
            <a:ext cx="2103120" cy="1188720"/>
          </a:xfrm>
          <a:prstGeom prst="rect">
            <a:avLst/>
          </a:prstGeom>
          <a:noFill/>
        </p:spPr>
        <p:txBody>
          <a:bodyPr wrap="none" anchor="t" lIns="0" rIns="0" tIns="0" bIns="0">
            <a:spAutoFit/>
          </a:bodyPr>
          <a:lstStyle/>
          <a:p>
            <a:pPr algn="l">
              <a:lnSpc>
                <a:spcPct val="90000"/>
              </a:lnSpc>
              <a:spcBef>
                <a:spcPts val="0"/>
              </a:spcBef>
              <a:spcAft>
                <a:spcPts val="0"/>
              </a:spcAft>
            </a:pPr>
            <a:r>
              <a:rPr sz="5200" b="1">
                <a:solidFill>
                  <a:srgbClr val="B80000"/>
                </a:solidFill>
                <a:latin typeface="Red Hat Display"/>
              </a:rPr>
              <a:t>M18</a:t>
            </a:r>
          </a:p>
        </p:txBody>
      </p:sp>
      <p:sp>
        <p:nvSpPr>
          <p:cNvPr id="5" name="TextBox 4"/>
          <p:cNvSpPr txBox="1"/>
          <p:nvPr/>
        </p:nvSpPr>
        <p:spPr>
          <a:xfrm>
            <a:off x="3127248" y="2971800"/>
            <a:ext cx="8412480" cy="1188720"/>
          </a:xfrm>
          <a:prstGeom prst="rect">
            <a:avLst/>
          </a:prstGeom>
          <a:noFill/>
        </p:spPr>
        <p:txBody>
          <a:bodyPr wrap="square" anchor="t" lIns="0" rIns="0" tIns="0" bIns="0">
            <a:spAutoFit/>
          </a:bodyPr>
          <a:lstStyle/>
          <a:p>
            <a:pPr algn="l">
              <a:lnSpc>
                <a:spcPct val="102000"/>
              </a:lnSpc>
              <a:spcBef>
                <a:spcPts val="0"/>
              </a:spcBef>
              <a:spcAft>
                <a:spcPts val="0"/>
              </a:spcAft>
            </a:pPr>
            <a:r>
              <a:rPr sz="3000" b="1">
                <a:solidFill>
                  <a:srgbClr val="1A1A1A"/>
                </a:solidFill>
                <a:latin typeface="Red Hat Display"/>
              </a:rPr>
              <a:t>Registry, Images &amp; Catalog Governance</a:t>
            </a:r>
          </a:p>
        </p:txBody>
      </p:sp>
      <p:cxnSp>
        <p:nvCxnSpPr>
          <p:cNvPr id="6" name="Connector 5"/>
          <p:cNvCxnSpPr/>
          <p:nvPr/>
        </p:nvCxnSpPr>
        <p:spPr>
          <a:xfrm>
            <a:off x="841248" y="4443984"/>
            <a:ext cx="1463040" cy="0"/>
          </a:xfrm>
          <a:prstGeom prst="bentConnector3">
            <a:avLst/>
          </a:prstGeom>
          <a:ln w="38100">
            <a:solidFill>
              <a:srgbClr val="EE0000"/>
            </a:solidFill>
          </a:ln>
          <a:effectLst/>
        </p:spPr>
        <p:style>
          <a:lnRef idx="2">
            <a:schemeClr val="accent1"/>
          </a:lnRef>
          <a:fillRef idx="0">
            <a:schemeClr val="accent1"/>
          </a:fillRef>
          <a:effectRef idx="1">
            <a:schemeClr val="accent1"/>
          </a:effectRef>
          <a:fontRef idx="minor">
            <a:schemeClr val="tx1"/>
          </a:fontRef>
        </p:style>
      </p:cxnSp>
    </p:spTree>
  </p:cSld>
  <p:clrMapOvr>
    <a:masterClrMapping/>
  </p:clrMapOvr>
</p:sld>
</file>

<file path=ppt/slides/slide14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redhat_logo.jpg"/>
          <p:cNvPicPr>
            <a:picLocks noChangeAspect="1"/>
          </p:cNvPicPr>
          <p:nvPr/>
        </p:nvPicPr>
        <p:blipFill>
          <a:blip r:embed="rId2"/>
          <a:stretch>
            <a:fillRect/>
          </a:stretch>
        </p:blipFill>
        <p:spPr>
          <a:xfrm>
            <a:off x="10326319" y="475488"/>
            <a:ext cx="1024128" cy="242248"/>
          </a:xfrm>
          <a:prstGeom prst="rect">
            <a:avLst/>
          </a:prstGeom>
        </p:spPr>
      </p:pic>
      <p:sp>
        <p:nvSpPr>
          <p:cNvPr id="3" name="TextBox 2"/>
          <p:cNvSpPr txBox="1"/>
          <p:nvPr/>
        </p:nvSpPr>
        <p:spPr>
          <a:xfrm>
            <a:off x="841248" y="548640"/>
            <a:ext cx="8595360" cy="274320"/>
          </a:xfrm>
          <a:prstGeom prst="rect">
            <a:avLst/>
          </a:prstGeom>
          <a:noFill/>
        </p:spPr>
        <p:txBody>
          <a:bodyPr wrap="square" anchor="t" lIns="0" rIns="0" tIns="0" bIns="0">
            <a:spAutoFit/>
          </a:bodyPr>
          <a:lstStyle/>
          <a:p>
            <a:pPr algn="l">
              <a:lnSpc>
                <a:spcPct val="106000"/>
              </a:lnSpc>
              <a:spcBef>
                <a:spcPts val="0"/>
              </a:spcBef>
              <a:spcAft>
                <a:spcPts val="0"/>
              </a:spcAft>
            </a:pPr>
            <a:r>
              <a:rPr sz="1250" b="1" spc="220">
                <a:solidFill>
                  <a:srgbClr val="EE0000"/>
                </a:solidFill>
                <a:latin typeface="Red Hat Display"/>
              </a:rPr>
              <a:t>M18 · REGISTRY, IMAGES &amp; CATALOG GOVERNANCE</a:t>
            </a:r>
          </a:p>
        </p:txBody>
      </p:sp>
      <p:sp>
        <p:nvSpPr>
          <p:cNvPr id="4" name="TextBox 3"/>
          <p:cNvSpPr txBox="1"/>
          <p:nvPr/>
        </p:nvSpPr>
        <p:spPr>
          <a:xfrm>
            <a:off x="841248" y="877824"/>
            <a:ext cx="10515600" cy="548640"/>
          </a:xfrm>
          <a:prstGeom prst="rect">
            <a:avLst/>
          </a:prstGeom>
          <a:noFill/>
        </p:spPr>
        <p:txBody>
          <a:bodyPr wrap="none" anchor="t" lIns="0" rIns="0" tIns="0" bIns="0">
            <a:spAutoFit/>
          </a:bodyPr>
          <a:lstStyle/>
          <a:p>
            <a:pPr algn="l">
              <a:lnSpc>
                <a:spcPct val="100000"/>
              </a:lnSpc>
              <a:spcBef>
                <a:spcPts val="0"/>
              </a:spcBef>
              <a:spcAft>
                <a:spcPts val="0"/>
              </a:spcAft>
            </a:pPr>
            <a:r>
              <a:rPr sz="2500" b="1">
                <a:solidFill>
                  <a:srgbClr val="1A1A1A"/>
                </a:solidFill>
                <a:latin typeface="Red Hat Display"/>
              </a:rPr>
              <a:t>The layer underneath the shiny catalog</a:t>
            </a:r>
          </a:p>
        </p:txBody>
      </p:sp>
      <p:cxnSp>
        <p:nvCxnSpPr>
          <p:cNvPr id="5" name="Connector 4"/>
          <p:cNvCxnSpPr/>
          <p:nvPr/>
        </p:nvCxnSpPr>
        <p:spPr>
          <a:xfrm>
            <a:off x="841248" y="1554480"/>
            <a:ext cx="1371600" cy="0"/>
          </a:xfrm>
          <a:prstGeom prst="bentConnector3">
            <a:avLst/>
          </a:prstGeom>
          <a:ln w="31750">
            <a:solidFill>
              <a:srgbClr val="EE0000"/>
            </a:solidFill>
          </a:ln>
          <a:effectLst/>
        </p:spPr>
        <p:style>
          <a:lnRef idx="2">
            <a:schemeClr val="accent1"/>
          </a:lnRef>
          <a:fillRef idx="0">
            <a:schemeClr val="accent1"/>
          </a:fillRef>
          <a:effectRef idx="1">
            <a:schemeClr val="accent1"/>
          </a:effectRef>
          <a:fontRef idx="minor">
            <a:schemeClr val="tx1"/>
          </a:fontRef>
        </p:style>
      </p:cxnSp>
      <p:sp>
        <p:nvSpPr>
          <p:cNvPr id="6" name="Rounded Rectangle 5"/>
          <p:cNvSpPr/>
          <p:nvPr/>
        </p:nvSpPr>
        <p:spPr>
          <a:xfrm>
            <a:off x="841248" y="2395728"/>
            <a:ext cx="5715000" cy="530352"/>
          </a:xfrm>
          <a:prstGeom prst="roundRect">
            <a:avLst>
              <a:gd name="adj" fmla="val 6000"/>
            </a:avLst>
          </a:prstGeom>
          <a:solidFill>
            <a:srgbClr val="F5F6F8"/>
          </a:solidFill>
          <a:ln w="12700">
            <a:solidFill>
              <a:srgbClr val="DDE1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check_steel.png"/>
          <p:cNvPicPr>
            <a:picLocks noChangeAspect="1"/>
          </p:cNvPicPr>
          <p:nvPr/>
        </p:nvPicPr>
        <p:blipFill>
          <a:blip r:embed="rId3"/>
          <a:stretch>
            <a:fillRect/>
          </a:stretch>
        </p:blipFill>
        <p:spPr>
          <a:xfrm>
            <a:off x="987552" y="2542032"/>
            <a:ext cx="237744" cy="237744"/>
          </a:xfrm>
          <a:prstGeom prst="rect">
            <a:avLst/>
          </a:prstGeom>
        </p:spPr>
      </p:pic>
      <p:sp>
        <p:nvSpPr>
          <p:cNvPr id="8" name="TextBox 7"/>
          <p:cNvSpPr txBox="1"/>
          <p:nvPr/>
        </p:nvSpPr>
        <p:spPr>
          <a:xfrm>
            <a:off x="1353312" y="2395728"/>
            <a:ext cx="5029200" cy="530352"/>
          </a:xfrm>
          <a:prstGeom prst="rect">
            <a:avLst/>
          </a:prstGeom>
          <a:noFill/>
        </p:spPr>
        <p:txBody>
          <a:bodyPr wrap="square" anchor="ctr" lIns="0" rIns="0" tIns="0" bIns="0">
            <a:spAutoFit/>
          </a:bodyPr>
          <a:lstStyle/>
          <a:p>
            <a:pPr algn="l">
              <a:lnSpc>
                <a:spcPct val="106000"/>
              </a:lnSpc>
              <a:spcBef>
                <a:spcPts val="0"/>
              </a:spcBef>
              <a:spcAft>
                <a:spcPts val="0"/>
              </a:spcAft>
            </a:pPr>
            <a:r>
              <a:rPr sz="1200" b="0">
                <a:solidFill>
                  <a:srgbClr val="1A1A1A"/>
                </a:solidFill>
                <a:latin typeface="Red Hat Text"/>
              </a:rPr>
              <a:t>The Developer Catalog didn't appear by magic</a:t>
            </a:r>
          </a:p>
        </p:txBody>
      </p:sp>
      <p:sp>
        <p:nvSpPr>
          <p:cNvPr id="9" name="Rounded Rectangle 8"/>
          <p:cNvSpPr/>
          <p:nvPr/>
        </p:nvSpPr>
        <p:spPr>
          <a:xfrm>
            <a:off x="841248" y="2999232"/>
            <a:ext cx="5715000" cy="530352"/>
          </a:xfrm>
          <a:prstGeom prst="roundRect">
            <a:avLst>
              <a:gd name="adj" fmla="val 6000"/>
            </a:avLst>
          </a:prstGeom>
          <a:solidFill>
            <a:srgbClr val="F5F6F8"/>
          </a:solidFill>
          <a:ln w="12700">
            <a:solidFill>
              <a:srgbClr val="DDE1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0" name="Picture 9" descr="check_steel.png"/>
          <p:cNvPicPr>
            <a:picLocks noChangeAspect="1"/>
          </p:cNvPicPr>
          <p:nvPr/>
        </p:nvPicPr>
        <p:blipFill>
          <a:blip r:embed="rId3"/>
          <a:stretch>
            <a:fillRect/>
          </a:stretch>
        </p:blipFill>
        <p:spPr>
          <a:xfrm>
            <a:off x="987552" y="3145536"/>
            <a:ext cx="237744" cy="237744"/>
          </a:xfrm>
          <a:prstGeom prst="rect">
            <a:avLst/>
          </a:prstGeom>
        </p:spPr>
      </p:pic>
      <p:sp>
        <p:nvSpPr>
          <p:cNvPr id="11" name="TextBox 10"/>
          <p:cNvSpPr txBox="1"/>
          <p:nvPr/>
        </p:nvSpPr>
        <p:spPr>
          <a:xfrm>
            <a:off x="1353312" y="2999232"/>
            <a:ext cx="5029200" cy="530352"/>
          </a:xfrm>
          <a:prstGeom prst="rect">
            <a:avLst/>
          </a:prstGeom>
          <a:noFill/>
        </p:spPr>
        <p:txBody>
          <a:bodyPr wrap="square" anchor="ctr" lIns="0" rIns="0" tIns="0" bIns="0">
            <a:spAutoFit/>
          </a:bodyPr>
          <a:lstStyle/>
          <a:p>
            <a:pPr algn="l">
              <a:lnSpc>
                <a:spcPct val="106000"/>
              </a:lnSpc>
              <a:spcBef>
                <a:spcPts val="0"/>
              </a:spcBef>
              <a:spcAft>
                <a:spcPts val="0"/>
              </a:spcAft>
            </a:pPr>
            <a:r>
              <a:rPr sz="1200" b="0">
                <a:solidFill>
                  <a:srgbClr val="1A1A1A"/>
                </a:solidFill>
                <a:latin typeface="Red Hat Text"/>
              </a:rPr>
              <a:t>A platform team curated every entry</a:t>
            </a:r>
          </a:p>
        </p:txBody>
      </p:sp>
      <p:sp>
        <p:nvSpPr>
          <p:cNvPr id="12" name="Rounded Rectangle 11"/>
          <p:cNvSpPr/>
          <p:nvPr/>
        </p:nvSpPr>
        <p:spPr>
          <a:xfrm>
            <a:off x="841248" y="3602736"/>
            <a:ext cx="5715000" cy="530352"/>
          </a:xfrm>
          <a:prstGeom prst="roundRect">
            <a:avLst>
              <a:gd name="adj" fmla="val 6000"/>
            </a:avLst>
          </a:prstGeom>
          <a:solidFill>
            <a:srgbClr val="F5F6F8"/>
          </a:solidFill>
          <a:ln w="12700">
            <a:solidFill>
              <a:srgbClr val="DDE1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3" name="Picture 12" descr="check_steel.png"/>
          <p:cNvPicPr>
            <a:picLocks noChangeAspect="1"/>
          </p:cNvPicPr>
          <p:nvPr/>
        </p:nvPicPr>
        <p:blipFill>
          <a:blip r:embed="rId3"/>
          <a:stretch>
            <a:fillRect/>
          </a:stretch>
        </p:blipFill>
        <p:spPr>
          <a:xfrm>
            <a:off x="987552" y="3749040"/>
            <a:ext cx="237744" cy="237744"/>
          </a:xfrm>
          <a:prstGeom prst="rect">
            <a:avLst/>
          </a:prstGeom>
        </p:spPr>
      </p:pic>
      <p:sp>
        <p:nvSpPr>
          <p:cNvPr id="14" name="TextBox 13"/>
          <p:cNvSpPr txBox="1"/>
          <p:nvPr/>
        </p:nvSpPr>
        <p:spPr>
          <a:xfrm>
            <a:off x="1353312" y="3602736"/>
            <a:ext cx="5029200" cy="530352"/>
          </a:xfrm>
          <a:prstGeom prst="rect">
            <a:avLst/>
          </a:prstGeom>
          <a:noFill/>
        </p:spPr>
        <p:txBody>
          <a:bodyPr wrap="square" anchor="ctr" lIns="0" rIns="0" tIns="0" bIns="0">
            <a:spAutoFit/>
          </a:bodyPr>
          <a:lstStyle/>
          <a:p>
            <a:pPr algn="l">
              <a:lnSpc>
                <a:spcPct val="106000"/>
              </a:lnSpc>
              <a:spcBef>
                <a:spcPts val="0"/>
              </a:spcBef>
              <a:spcAft>
                <a:spcPts val="0"/>
              </a:spcAft>
            </a:pPr>
            <a:r>
              <a:rPr sz="1200" b="0">
                <a:solidFill>
                  <a:srgbClr val="1A1A1A"/>
                </a:solidFill>
                <a:latin typeface="Red Hat Text"/>
              </a:rPr>
              <a:t>…and decided which registries images may come from</a:t>
            </a:r>
          </a:p>
        </p:txBody>
      </p:sp>
      <p:sp>
        <p:nvSpPr>
          <p:cNvPr id="15" name="Rounded Rectangle 14"/>
          <p:cNvSpPr/>
          <p:nvPr/>
        </p:nvSpPr>
        <p:spPr>
          <a:xfrm>
            <a:off x="841248" y="4206240"/>
            <a:ext cx="5715000" cy="530352"/>
          </a:xfrm>
          <a:prstGeom prst="roundRect">
            <a:avLst>
              <a:gd name="adj" fmla="val 6000"/>
            </a:avLst>
          </a:prstGeom>
          <a:solidFill>
            <a:srgbClr val="F5F6F8"/>
          </a:solidFill>
          <a:ln w="12700">
            <a:solidFill>
              <a:srgbClr val="DDE1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6" name="Picture 15" descr="check_steel.png"/>
          <p:cNvPicPr>
            <a:picLocks noChangeAspect="1"/>
          </p:cNvPicPr>
          <p:nvPr/>
        </p:nvPicPr>
        <p:blipFill>
          <a:blip r:embed="rId3"/>
          <a:stretch>
            <a:fillRect/>
          </a:stretch>
        </p:blipFill>
        <p:spPr>
          <a:xfrm>
            <a:off x="987552" y="4352544"/>
            <a:ext cx="237744" cy="237744"/>
          </a:xfrm>
          <a:prstGeom prst="rect">
            <a:avLst/>
          </a:prstGeom>
        </p:spPr>
      </p:pic>
      <p:sp>
        <p:nvSpPr>
          <p:cNvPr id="17" name="TextBox 16"/>
          <p:cNvSpPr txBox="1"/>
          <p:nvPr/>
        </p:nvSpPr>
        <p:spPr>
          <a:xfrm>
            <a:off x="1353312" y="4206240"/>
            <a:ext cx="5029200" cy="530352"/>
          </a:xfrm>
          <a:prstGeom prst="rect">
            <a:avLst/>
          </a:prstGeom>
          <a:noFill/>
        </p:spPr>
        <p:txBody>
          <a:bodyPr wrap="square" anchor="ctr" lIns="0" rIns="0" tIns="0" bIns="0">
            <a:spAutoFit/>
          </a:bodyPr>
          <a:lstStyle/>
          <a:p>
            <a:pPr algn="l">
              <a:lnSpc>
                <a:spcPct val="106000"/>
              </a:lnSpc>
              <a:spcBef>
                <a:spcPts val="0"/>
              </a:spcBef>
              <a:spcAft>
                <a:spcPts val="0"/>
              </a:spcAft>
            </a:pPr>
            <a:r>
              <a:rPr sz="1200" b="0">
                <a:solidFill>
                  <a:srgbClr val="1A1A1A"/>
                </a:solidFill>
                <a:latin typeface="Red Hat Text"/>
              </a:rPr>
              <a:t>Two supply chains: image supply + catalog supply</a:t>
            </a:r>
          </a:p>
        </p:txBody>
      </p:sp>
      <p:sp>
        <p:nvSpPr>
          <p:cNvPr id="18" name="Rounded Rectangle 17"/>
          <p:cNvSpPr/>
          <p:nvPr/>
        </p:nvSpPr>
        <p:spPr>
          <a:xfrm>
            <a:off x="841248" y="4809744"/>
            <a:ext cx="5715000" cy="530352"/>
          </a:xfrm>
          <a:prstGeom prst="roundRect">
            <a:avLst>
              <a:gd name="adj" fmla="val 6000"/>
            </a:avLst>
          </a:prstGeom>
          <a:solidFill>
            <a:srgbClr val="F5F6F8"/>
          </a:solidFill>
          <a:ln w="12700">
            <a:solidFill>
              <a:srgbClr val="DDE1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9" name="Picture 18" descr="check_steel.png"/>
          <p:cNvPicPr>
            <a:picLocks noChangeAspect="1"/>
          </p:cNvPicPr>
          <p:nvPr/>
        </p:nvPicPr>
        <p:blipFill>
          <a:blip r:embed="rId3"/>
          <a:stretch>
            <a:fillRect/>
          </a:stretch>
        </p:blipFill>
        <p:spPr>
          <a:xfrm>
            <a:off x="987552" y="4956048"/>
            <a:ext cx="237744" cy="237744"/>
          </a:xfrm>
          <a:prstGeom prst="rect">
            <a:avLst/>
          </a:prstGeom>
        </p:spPr>
      </p:pic>
      <p:sp>
        <p:nvSpPr>
          <p:cNvPr id="20" name="TextBox 19"/>
          <p:cNvSpPr txBox="1"/>
          <p:nvPr/>
        </p:nvSpPr>
        <p:spPr>
          <a:xfrm>
            <a:off x="1353312" y="4809744"/>
            <a:ext cx="5029200" cy="530352"/>
          </a:xfrm>
          <a:prstGeom prst="rect">
            <a:avLst/>
          </a:prstGeom>
          <a:noFill/>
        </p:spPr>
        <p:txBody>
          <a:bodyPr wrap="square" anchor="ctr" lIns="0" rIns="0" tIns="0" bIns="0">
            <a:spAutoFit/>
          </a:bodyPr>
          <a:lstStyle/>
          <a:p>
            <a:pPr algn="l">
              <a:lnSpc>
                <a:spcPct val="106000"/>
              </a:lnSpc>
              <a:spcBef>
                <a:spcPts val="0"/>
              </a:spcBef>
              <a:spcAft>
                <a:spcPts val="0"/>
              </a:spcAft>
            </a:pPr>
            <a:r>
              <a:rPr sz="1200" b="0">
                <a:solidFill>
                  <a:srgbClr val="1A1A1A"/>
                </a:solidFill>
                <a:latin typeface="Red Hat Text"/>
              </a:rPr>
              <a:t>An image reference is a promise — make it provable</a:t>
            </a:r>
          </a:p>
        </p:txBody>
      </p:sp>
      <p:sp>
        <p:nvSpPr>
          <p:cNvPr id="21" name="Rounded Rectangle 20"/>
          <p:cNvSpPr/>
          <p:nvPr/>
        </p:nvSpPr>
        <p:spPr>
          <a:xfrm>
            <a:off x="6812280" y="2395728"/>
            <a:ext cx="4538167" cy="2944368"/>
          </a:xfrm>
          <a:prstGeom prst="roundRect">
            <a:avLst>
              <a:gd name="adj" fmla="val 4000"/>
            </a:avLst>
          </a:prstGeom>
          <a:solidFill>
            <a:srgbClr val="FFFFFF"/>
          </a:solidFill>
          <a:ln w="15240">
            <a:solidFill>
              <a:srgbClr val="DDE1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ounded Rectangle 21"/>
          <p:cNvSpPr/>
          <p:nvPr/>
        </p:nvSpPr>
        <p:spPr>
          <a:xfrm>
            <a:off x="7013448" y="2596896"/>
            <a:ext cx="1298448" cy="310896"/>
          </a:xfrm>
          <a:prstGeom prst="roundRect">
            <a:avLst>
              <a:gd name="adj" fmla="val 50000"/>
            </a:avLst>
          </a:prstGeom>
          <a:solidFill>
            <a:srgbClr val="FCEC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7013448" y="2596896"/>
            <a:ext cx="1298448" cy="310896"/>
          </a:xfrm>
          <a:prstGeom prst="rect">
            <a:avLst/>
          </a:prstGeom>
          <a:noFill/>
        </p:spPr>
        <p:txBody>
          <a:bodyPr wrap="none" anchor="ctr" lIns="0" rIns="0" tIns="0" bIns="0">
            <a:spAutoFit/>
          </a:bodyPr>
          <a:lstStyle/>
          <a:p>
            <a:pPr algn="ctr">
              <a:lnSpc>
                <a:spcPct val="106000"/>
              </a:lnSpc>
              <a:spcBef>
                <a:spcPts val="0"/>
              </a:spcBef>
              <a:spcAft>
                <a:spcPts val="0"/>
              </a:spcAft>
            </a:pPr>
            <a:r>
              <a:rPr sz="850" b="1">
                <a:solidFill>
                  <a:srgbClr val="B80000"/>
                </a:solidFill>
                <a:latin typeface="Red Hat Display"/>
              </a:rPr>
              <a:t>MEDIA PASS</a:t>
            </a:r>
          </a:p>
        </p:txBody>
      </p:sp>
      <p:pic>
        <p:nvPicPr>
          <p:cNvPr id="24" name="Picture 23" descr="eye_slate.png"/>
          <p:cNvPicPr>
            <a:picLocks noChangeAspect="1"/>
          </p:cNvPicPr>
          <p:nvPr/>
        </p:nvPicPr>
        <p:blipFill>
          <a:blip r:embed="rId4"/>
          <a:stretch>
            <a:fillRect/>
          </a:stretch>
        </p:blipFill>
        <p:spPr>
          <a:xfrm>
            <a:off x="8843619" y="3108960"/>
            <a:ext cx="475488" cy="475488"/>
          </a:xfrm>
          <a:prstGeom prst="rect">
            <a:avLst/>
          </a:prstGeom>
        </p:spPr>
      </p:pic>
      <p:sp>
        <p:nvSpPr>
          <p:cNvPr id="25" name="TextBox 24"/>
          <p:cNvSpPr txBox="1"/>
          <p:nvPr/>
        </p:nvSpPr>
        <p:spPr>
          <a:xfrm>
            <a:off x="7050024" y="3721608"/>
            <a:ext cx="4062679" cy="1481328"/>
          </a:xfrm>
          <a:prstGeom prst="rect">
            <a:avLst/>
          </a:prstGeom>
          <a:noFill/>
        </p:spPr>
        <p:txBody>
          <a:bodyPr wrap="square" anchor="t" lIns="0" rIns="0" tIns="0" bIns="0">
            <a:spAutoFit/>
          </a:bodyPr>
          <a:lstStyle/>
          <a:p>
            <a:pPr algn="l">
              <a:lnSpc>
                <a:spcPct val="120000"/>
              </a:lnSpc>
              <a:spcBef>
                <a:spcPts val="0"/>
              </a:spcBef>
              <a:spcAft>
                <a:spcPts val="0"/>
              </a:spcAft>
            </a:pPr>
            <a:r>
              <a:rPr sz="950" b="0">
                <a:solidFill>
                  <a:srgbClr val="8A9099"/>
                </a:solidFill>
                <a:latin typeface="Red Hat Text"/>
              </a:rPr>
              <a:t>A "before/after" split — left: a lone `prod` tag floating over a registry with a question mark ("is this the image we tested?"); right: the same tag pinned to an immutable sha256, inside a governed supply chain with an amber "policy" gate.</a:t>
            </a:r>
          </a:p>
        </p:txBody>
      </p:sp>
      <p:cxnSp>
        <p:nvCxnSpPr>
          <p:cNvPr id="26" name="Connector 25"/>
          <p:cNvCxnSpPr/>
          <p:nvPr/>
        </p:nvCxnSpPr>
        <p:spPr>
          <a:xfrm>
            <a:off x="841248" y="6437376"/>
            <a:ext cx="10509199" cy="0"/>
          </a:xfrm>
          <a:prstGeom prst="bentConnector3">
            <a:avLst/>
          </a:prstGeom>
          <a:ln w="12700">
            <a:solidFill>
              <a:srgbClr val="DDE1E6"/>
            </a:solidFill>
          </a:ln>
          <a:effectLst/>
        </p:spPr>
        <p:style>
          <a:lnRef idx="2">
            <a:schemeClr val="accent1"/>
          </a:lnRef>
          <a:fillRef idx="0">
            <a:schemeClr val="accent1"/>
          </a:fillRef>
          <a:effectRef idx="1">
            <a:schemeClr val="accent1"/>
          </a:effectRef>
          <a:fontRef idx="minor">
            <a:schemeClr val="tx1"/>
          </a:fontRef>
        </p:style>
      </p:cxnSp>
      <p:sp>
        <p:nvSpPr>
          <p:cNvPr id="27" name="TextBox 26"/>
          <p:cNvSpPr txBox="1"/>
          <p:nvPr/>
        </p:nvSpPr>
        <p:spPr>
          <a:xfrm>
            <a:off x="841248" y="6473952"/>
            <a:ext cx="7315200" cy="274320"/>
          </a:xfrm>
          <a:prstGeom prst="rect">
            <a:avLst/>
          </a:prstGeom>
          <a:noFill/>
        </p:spPr>
        <p:txBody>
          <a:bodyPr wrap="square" anchor="t" lIns="0" rIns="0" tIns="0" bIns="0">
            <a:spAutoFit/>
          </a:bodyPr>
          <a:lstStyle/>
          <a:p>
            <a:pPr algn="l">
              <a:lnSpc>
                <a:spcPct val="106000"/>
              </a:lnSpc>
              <a:spcBef>
                <a:spcPts val="0"/>
              </a:spcBef>
              <a:spcAft>
                <a:spcPts val="0"/>
              </a:spcAft>
            </a:pPr>
            <a:r>
              <a:rPr sz="950" b="0">
                <a:solidFill>
                  <a:srgbClr val="8A9099"/>
                </a:solidFill>
                <a:latin typeface="Red Hat Text"/>
              </a:rPr>
              <a:t>CONFIDENTIAL</a:t>
            </a:r>
          </a:p>
        </p:txBody>
      </p:sp>
      <p:sp>
        <p:nvSpPr>
          <p:cNvPr id="28" name="TextBox 27"/>
          <p:cNvSpPr txBox="1"/>
          <p:nvPr/>
        </p:nvSpPr>
        <p:spPr>
          <a:xfrm>
            <a:off x="10801807" y="6473952"/>
            <a:ext cx="548640" cy="274320"/>
          </a:xfrm>
          <a:prstGeom prst="rect">
            <a:avLst/>
          </a:prstGeom>
          <a:noFill/>
        </p:spPr>
        <p:txBody>
          <a:bodyPr wrap="square" anchor="t" lIns="0" rIns="0" tIns="0" bIns="0">
            <a:spAutoFit/>
          </a:bodyPr>
          <a:lstStyle/>
          <a:p>
            <a:pPr algn="r">
              <a:lnSpc>
                <a:spcPct val="106000"/>
              </a:lnSpc>
              <a:spcBef>
                <a:spcPts val="0"/>
              </a:spcBef>
              <a:spcAft>
                <a:spcPts val="0"/>
              </a:spcAft>
            </a:pPr>
            <a:r>
              <a:rPr sz="950" b="0">
                <a:solidFill>
                  <a:srgbClr val="8A9099"/>
                </a:solidFill>
                <a:latin typeface="Red Hat Text"/>
              </a:rPr>
              <a:t>128</a:t>
            </a:r>
          </a:p>
        </p:txBody>
      </p:sp>
    </p:spTree>
  </p:cSld>
  <p:clrMapOvr>
    <a:masterClrMapping/>
  </p:clrMapOvr>
</p:sld>
</file>

<file path=ppt/slides/slide14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redhat_logo.jpg"/>
          <p:cNvPicPr>
            <a:picLocks noChangeAspect="1"/>
          </p:cNvPicPr>
          <p:nvPr/>
        </p:nvPicPr>
        <p:blipFill>
          <a:blip r:embed="rId2"/>
          <a:stretch>
            <a:fillRect/>
          </a:stretch>
        </p:blipFill>
        <p:spPr>
          <a:xfrm>
            <a:off x="10326319" y="475488"/>
            <a:ext cx="1024128" cy="242248"/>
          </a:xfrm>
          <a:prstGeom prst="rect">
            <a:avLst/>
          </a:prstGeom>
        </p:spPr>
      </p:pic>
      <p:sp>
        <p:nvSpPr>
          <p:cNvPr id="3" name="TextBox 2"/>
          <p:cNvSpPr txBox="1"/>
          <p:nvPr/>
        </p:nvSpPr>
        <p:spPr>
          <a:xfrm>
            <a:off x="841248" y="548640"/>
            <a:ext cx="8595360" cy="274320"/>
          </a:xfrm>
          <a:prstGeom prst="rect">
            <a:avLst/>
          </a:prstGeom>
          <a:noFill/>
        </p:spPr>
        <p:txBody>
          <a:bodyPr wrap="square" anchor="t" lIns="0" rIns="0" tIns="0" bIns="0">
            <a:spAutoFit/>
          </a:bodyPr>
          <a:lstStyle/>
          <a:p>
            <a:pPr algn="l">
              <a:lnSpc>
                <a:spcPct val="106000"/>
              </a:lnSpc>
              <a:spcBef>
                <a:spcPts val="0"/>
              </a:spcBef>
              <a:spcAft>
                <a:spcPts val="0"/>
              </a:spcAft>
            </a:pPr>
            <a:r>
              <a:rPr sz="1250" b="1" spc="220">
                <a:solidFill>
                  <a:srgbClr val="EE0000"/>
                </a:solidFill>
                <a:latin typeface="Red Hat Display"/>
              </a:rPr>
              <a:t>M18 · REGISTRY, IMAGES &amp; CATALOG GOVERNANCE</a:t>
            </a:r>
          </a:p>
        </p:txBody>
      </p:sp>
      <p:sp>
        <p:nvSpPr>
          <p:cNvPr id="4" name="TextBox 3"/>
          <p:cNvSpPr txBox="1"/>
          <p:nvPr/>
        </p:nvSpPr>
        <p:spPr>
          <a:xfrm>
            <a:off x="841248" y="877824"/>
            <a:ext cx="10515600" cy="548640"/>
          </a:xfrm>
          <a:prstGeom prst="rect">
            <a:avLst/>
          </a:prstGeom>
          <a:noFill/>
        </p:spPr>
        <p:txBody>
          <a:bodyPr wrap="none" anchor="t" lIns="0" rIns="0" tIns="0" bIns="0">
            <a:spAutoFit/>
          </a:bodyPr>
          <a:lstStyle/>
          <a:p>
            <a:pPr algn="l">
              <a:lnSpc>
                <a:spcPct val="100000"/>
              </a:lnSpc>
              <a:spcBef>
                <a:spcPts val="0"/>
              </a:spcBef>
              <a:spcAft>
                <a:spcPts val="0"/>
              </a:spcAft>
            </a:pPr>
            <a:r>
              <a:rPr sz="2500" b="1">
                <a:solidFill>
                  <a:srgbClr val="1A1A1A"/>
                </a:solidFill>
                <a:latin typeface="Red Hat Display"/>
              </a:rPr>
              <a:t>Two supply chains on one page</a:t>
            </a:r>
          </a:p>
        </p:txBody>
      </p:sp>
      <p:cxnSp>
        <p:nvCxnSpPr>
          <p:cNvPr id="5" name="Connector 4"/>
          <p:cNvCxnSpPr/>
          <p:nvPr/>
        </p:nvCxnSpPr>
        <p:spPr>
          <a:xfrm>
            <a:off x="841248" y="1554480"/>
            <a:ext cx="1371600" cy="0"/>
          </a:xfrm>
          <a:prstGeom prst="bentConnector3">
            <a:avLst/>
          </a:prstGeom>
          <a:ln w="31750">
            <a:solidFill>
              <a:srgbClr val="EE0000"/>
            </a:solidFill>
          </a:ln>
          <a:effectLst/>
        </p:spPr>
        <p:style>
          <a:lnRef idx="2">
            <a:schemeClr val="accent1"/>
          </a:lnRef>
          <a:fillRef idx="0">
            <a:schemeClr val="accent1"/>
          </a:fillRef>
          <a:effectRef idx="1">
            <a:schemeClr val="accent1"/>
          </a:effectRef>
          <a:fontRef idx="minor">
            <a:schemeClr val="tx1"/>
          </a:fontRef>
        </p:style>
      </p:cxnSp>
      <p:sp>
        <p:nvSpPr>
          <p:cNvPr id="6" name="Rounded Rectangle 5"/>
          <p:cNvSpPr/>
          <p:nvPr/>
        </p:nvSpPr>
        <p:spPr>
          <a:xfrm>
            <a:off x="841248" y="2395728"/>
            <a:ext cx="5715000" cy="530352"/>
          </a:xfrm>
          <a:prstGeom prst="roundRect">
            <a:avLst>
              <a:gd name="adj" fmla="val 6000"/>
            </a:avLst>
          </a:prstGeom>
          <a:solidFill>
            <a:srgbClr val="F5F6F8"/>
          </a:solidFill>
          <a:ln w="12700">
            <a:solidFill>
              <a:srgbClr val="DDE1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check_steel.png"/>
          <p:cNvPicPr>
            <a:picLocks noChangeAspect="1"/>
          </p:cNvPicPr>
          <p:nvPr/>
        </p:nvPicPr>
        <p:blipFill>
          <a:blip r:embed="rId3"/>
          <a:stretch>
            <a:fillRect/>
          </a:stretch>
        </p:blipFill>
        <p:spPr>
          <a:xfrm>
            <a:off x="987552" y="2542032"/>
            <a:ext cx="237744" cy="237744"/>
          </a:xfrm>
          <a:prstGeom prst="rect">
            <a:avLst/>
          </a:prstGeom>
        </p:spPr>
      </p:pic>
      <p:sp>
        <p:nvSpPr>
          <p:cNvPr id="8" name="TextBox 7"/>
          <p:cNvSpPr txBox="1"/>
          <p:nvPr/>
        </p:nvSpPr>
        <p:spPr>
          <a:xfrm>
            <a:off x="1353312" y="2395728"/>
            <a:ext cx="5029200" cy="530352"/>
          </a:xfrm>
          <a:prstGeom prst="rect">
            <a:avLst/>
          </a:prstGeom>
          <a:noFill/>
        </p:spPr>
        <p:txBody>
          <a:bodyPr wrap="square" anchor="ctr" lIns="0" rIns="0" tIns="0" bIns="0">
            <a:spAutoFit/>
          </a:bodyPr>
          <a:lstStyle/>
          <a:p>
            <a:pPr algn="l">
              <a:lnSpc>
                <a:spcPct val="106000"/>
              </a:lnSpc>
              <a:spcBef>
                <a:spcPts val="0"/>
              </a:spcBef>
              <a:spcAft>
                <a:spcPts val="0"/>
              </a:spcAft>
            </a:pPr>
            <a:r>
              <a:rPr sz="1200" b="0">
                <a:solidFill>
                  <a:srgbClr val="1A1A1A"/>
                </a:solidFill>
                <a:latin typeface="Red Hat Text"/>
              </a:rPr>
              <a:t>Image supply: external → governance → registry → ImageStream → workload</a:t>
            </a:r>
          </a:p>
        </p:txBody>
      </p:sp>
      <p:sp>
        <p:nvSpPr>
          <p:cNvPr id="9" name="Rounded Rectangle 8"/>
          <p:cNvSpPr/>
          <p:nvPr/>
        </p:nvSpPr>
        <p:spPr>
          <a:xfrm>
            <a:off x="841248" y="2999232"/>
            <a:ext cx="5715000" cy="530352"/>
          </a:xfrm>
          <a:prstGeom prst="roundRect">
            <a:avLst>
              <a:gd name="adj" fmla="val 6000"/>
            </a:avLst>
          </a:prstGeom>
          <a:solidFill>
            <a:srgbClr val="F5F6F8"/>
          </a:solidFill>
          <a:ln w="12700">
            <a:solidFill>
              <a:srgbClr val="DDE1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0" name="Picture 9" descr="check_steel.png"/>
          <p:cNvPicPr>
            <a:picLocks noChangeAspect="1"/>
          </p:cNvPicPr>
          <p:nvPr/>
        </p:nvPicPr>
        <p:blipFill>
          <a:blip r:embed="rId3"/>
          <a:stretch>
            <a:fillRect/>
          </a:stretch>
        </p:blipFill>
        <p:spPr>
          <a:xfrm>
            <a:off x="987552" y="3145536"/>
            <a:ext cx="237744" cy="237744"/>
          </a:xfrm>
          <a:prstGeom prst="rect">
            <a:avLst/>
          </a:prstGeom>
        </p:spPr>
      </p:pic>
      <p:sp>
        <p:nvSpPr>
          <p:cNvPr id="11" name="TextBox 10"/>
          <p:cNvSpPr txBox="1"/>
          <p:nvPr/>
        </p:nvSpPr>
        <p:spPr>
          <a:xfrm>
            <a:off x="1353312" y="2999232"/>
            <a:ext cx="5029200" cy="530352"/>
          </a:xfrm>
          <a:prstGeom prst="rect">
            <a:avLst/>
          </a:prstGeom>
          <a:noFill/>
        </p:spPr>
        <p:txBody>
          <a:bodyPr wrap="square" anchor="ctr" lIns="0" rIns="0" tIns="0" bIns="0">
            <a:spAutoFit/>
          </a:bodyPr>
          <a:lstStyle/>
          <a:p>
            <a:pPr algn="l">
              <a:lnSpc>
                <a:spcPct val="106000"/>
              </a:lnSpc>
              <a:spcBef>
                <a:spcPts val="0"/>
              </a:spcBef>
              <a:spcAft>
                <a:spcPts val="0"/>
              </a:spcAft>
            </a:pPr>
            <a:r>
              <a:rPr sz="1200" b="0">
                <a:solidFill>
                  <a:srgbClr val="1A1A1A"/>
                </a:solidFill>
                <a:latin typeface="Red Hat Text"/>
              </a:rPr>
              <a:t>Catalog supply: OperatorHub sources · samples · ConsoleSample · Template · devfiles</a:t>
            </a:r>
          </a:p>
        </p:txBody>
      </p:sp>
      <p:sp>
        <p:nvSpPr>
          <p:cNvPr id="12" name="Rounded Rectangle 11"/>
          <p:cNvSpPr/>
          <p:nvPr/>
        </p:nvSpPr>
        <p:spPr>
          <a:xfrm>
            <a:off x="841248" y="3602736"/>
            <a:ext cx="5715000" cy="530352"/>
          </a:xfrm>
          <a:prstGeom prst="roundRect">
            <a:avLst>
              <a:gd name="adj" fmla="val 6000"/>
            </a:avLst>
          </a:prstGeom>
          <a:solidFill>
            <a:srgbClr val="F5F6F8"/>
          </a:solidFill>
          <a:ln w="12700">
            <a:solidFill>
              <a:srgbClr val="DDE1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3" name="Picture 12" descr="check_steel.png"/>
          <p:cNvPicPr>
            <a:picLocks noChangeAspect="1"/>
          </p:cNvPicPr>
          <p:nvPr/>
        </p:nvPicPr>
        <p:blipFill>
          <a:blip r:embed="rId3"/>
          <a:stretch>
            <a:fillRect/>
          </a:stretch>
        </p:blipFill>
        <p:spPr>
          <a:xfrm>
            <a:off x="987552" y="3749040"/>
            <a:ext cx="237744" cy="237744"/>
          </a:xfrm>
          <a:prstGeom prst="rect">
            <a:avLst/>
          </a:prstGeom>
        </p:spPr>
      </p:pic>
      <p:sp>
        <p:nvSpPr>
          <p:cNvPr id="14" name="TextBox 13"/>
          <p:cNvSpPr txBox="1"/>
          <p:nvPr/>
        </p:nvSpPr>
        <p:spPr>
          <a:xfrm>
            <a:off x="1353312" y="3602736"/>
            <a:ext cx="5029200" cy="530352"/>
          </a:xfrm>
          <a:prstGeom prst="rect">
            <a:avLst/>
          </a:prstGeom>
          <a:noFill/>
        </p:spPr>
        <p:txBody>
          <a:bodyPr wrap="square" anchor="ctr" lIns="0" rIns="0" tIns="0" bIns="0">
            <a:spAutoFit/>
          </a:bodyPr>
          <a:lstStyle/>
          <a:p>
            <a:pPr algn="l">
              <a:lnSpc>
                <a:spcPct val="106000"/>
              </a:lnSpc>
              <a:spcBef>
                <a:spcPts val="0"/>
              </a:spcBef>
              <a:spcAft>
                <a:spcPts val="0"/>
              </a:spcAft>
            </a:pPr>
            <a:r>
              <a:rPr sz="1200" b="0">
                <a:solidFill>
                  <a:srgbClr val="1A1A1A"/>
                </a:solidFill>
                <a:latin typeface="Red Hat Text"/>
              </a:rPr>
              <a:t>Red = outside your trust boundary</a:t>
            </a:r>
          </a:p>
        </p:txBody>
      </p:sp>
      <p:sp>
        <p:nvSpPr>
          <p:cNvPr id="15" name="Rounded Rectangle 14"/>
          <p:cNvSpPr/>
          <p:nvPr/>
        </p:nvSpPr>
        <p:spPr>
          <a:xfrm>
            <a:off x="841248" y="4206240"/>
            <a:ext cx="5715000" cy="530352"/>
          </a:xfrm>
          <a:prstGeom prst="roundRect">
            <a:avLst>
              <a:gd name="adj" fmla="val 6000"/>
            </a:avLst>
          </a:prstGeom>
          <a:solidFill>
            <a:srgbClr val="F5F6F8"/>
          </a:solidFill>
          <a:ln w="12700">
            <a:solidFill>
              <a:srgbClr val="DDE1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6" name="Picture 15" descr="check_steel.png"/>
          <p:cNvPicPr>
            <a:picLocks noChangeAspect="1"/>
          </p:cNvPicPr>
          <p:nvPr/>
        </p:nvPicPr>
        <p:blipFill>
          <a:blip r:embed="rId3"/>
          <a:stretch>
            <a:fillRect/>
          </a:stretch>
        </p:blipFill>
        <p:spPr>
          <a:xfrm>
            <a:off x="987552" y="4352544"/>
            <a:ext cx="237744" cy="237744"/>
          </a:xfrm>
          <a:prstGeom prst="rect">
            <a:avLst/>
          </a:prstGeom>
        </p:spPr>
      </p:pic>
      <p:sp>
        <p:nvSpPr>
          <p:cNvPr id="17" name="TextBox 16"/>
          <p:cNvSpPr txBox="1"/>
          <p:nvPr/>
        </p:nvSpPr>
        <p:spPr>
          <a:xfrm>
            <a:off x="1353312" y="4206240"/>
            <a:ext cx="5029200" cy="530352"/>
          </a:xfrm>
          <a:prstGeom prst="rect">
            <a:avLst/>
          </a:prstGeom>
          <a:noFill/>
        </p:spPr>
        <p:txBody>
          <a:bodyPr wrap="square" anchor="ctr" lIns="0" rIns="0" tIns="0" bIns="0">
            <a:spAutoFit/>
          </a:bodyPr>
          <a:lstStyle/>
          <a:p>
            <a:pPr algn="l">
              <a:lnSpc>
                <a:spcPct val="106000"/>
              </a:lnSpc>
              <a:spcBef>
                <a:spcPts val="0"/>
              </a:spcBef>
              <a:spcAft>
                <a:spcPts val="0"/>
              </a:spcAft>
            </a:pPr>
            <a:r>
              <a:rPr sz="1200" b="0">
                <a:solidFill>
                  <a:srgbClr val="1A1A1A"/>
                </a:solidFill>
                <a:latin typeface="Red Hat Text"/>
              </a:rPr>
              <a:t>Amber = platform governance controls</a:t>
            </a:r>
          </a:p>
        </p:txBody>
      </p:sp>
      <p:sp>
        <p:nvSpPr>
          <p:cNvPr id="18" name="Rounded Rectangle 17"/>
          <p:cNvSpPr/>
          <p:nvPr/>
        </p:nvSpPr>
        <p:spPr>
          <a:xfrm>
            <a:off x="841248" y="4809744"/>
            <a:ext cx="5715000" cy="530352"/>
          </a:xfrm>
          <a:prstGeom prst="roundRect">
            <a:avLst>
              <a:gd name="adj" fmla="val 6000"/>
            </a:avLst>
          </a:prstGeom>
          <a:solidFill>
            <a:srgbClr val="F5F6F8"/>
          </a:solidFill>
          <a:ln w="12700">
            <a:solidFill>
              <a:srgbClr val="DDE1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9" name="Picture 18" descr="check_steel.png"/>
          <p:cNvPicPr>
            <a:picLocks noChangeAspect="1"/>
          </p:cNvPicPr>
          <p:nvPr/>
        </p:nvPicPr>
        <p:blipFill>
          <a:blip r:embed="rId3"/>
          <a:stretch>
            <a:fillRect/>
          </a:stretch>
        </p:blipFill>
        <p:spPr>
          <a:xfrm>
            <a:off x="987552" y="4956048"/>
            <a:ext cx="237744" cy="237744"/>
          </a:xfrm>
          <a:prstGeom prst="rect">
            <a:avLst/>
          </a:prstGeom>
        </p:spPr>
      </p:pic>
      <p:sp>
        <p:nvSpPr>
          <p:cNvPr id="20" name="TextBox 19"/>
          <p:cNvSpPr txBox="1"/>
          <p:nvPr/>
        </p:nvSpPr>
        <p:spPr>
          <a:xfrm>
            <a:off x="1353312" y="4809744"/>
            <a:ext cx="5029200" cy="530352"/>
          </a:xfrm>
          <a:prstGeom prst="rect">
            <a:avLst/>
          </a:prstGeom>
          <a:noFill/>
        </p:spPr>
        <p:txBody>
          <a:bodyPr wrap="square" anchor="ctr" lIns="0" rIns="0" tIns="0" bIns="0">
            <a:spAutoFit/>
          </a:bodyPr>
          <a:lstStyle/>
          <a:p>
            <a:pPr algn="l">
              <a:lnSpc>
                <a:spcPct val="106000"/>
              </a:lnSpc>
              <a:spcBef>
                <a:spcPts val="0"/>
              </a:spcBef>
              <a:spcAft>
                <a:spcPts val="0"/>
              </a:spcAft>
            </a:pPr>
            <a:r>
              <a:rPr sz="1200" b="0">
                <a:solidFill>
                  <a:srgbClr val="1A1A1A"/>
                </a:solidFill>
                <a:latin typeface="Red Hat Text"/>
              </a:rPr>
              <a:t>Green = what you drive hands-on</a:t>
            </a:r>
          </a:p>
        </p:txBody>
      </p:sp>
      <p:sp>
        <p:nvSpPr>
          <p:cNvPr id="21" name="Rounded Rectangle 20"/>
          <p:cNvSpPr/>
          <p:nvPr/>
        </p:nvSpPr>
        <p:spPr>
          <a:xfrm>
            <a:off x="6812280" y="2395728"/>
            <a:ext cx="4538167" cy="2944368"/>
          </a:xfrm>
          <a:prstGeom prst="roundRect">
            <a:avLst>
              <a:gd name="adj" fmla="val 4000"/>
            </a:avLst>
          </a:prstGeom>
          <a:solidFill>
            <a:srgbClr val="FFFFFF"/>
          </a:solidFill>
          <a:ln w="15240">
            <a:solidFill>
              <a:srgbClr val="DDE1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ounded Rectangle 21"/>
          <p:cNvSpPr/>
          <p:nvPr/>
        </p:nvSpPr>
        <p:spPr>
          <a:xfrm>
            <a:off x="7013448" y="2596896"/>
            <a:ext cx="1298448" cy="310896"/>
          </a:xfrm>
          <a:prstGeom prst="roundRect">
            <a:avLst>
              <a:gd name="adj" fmla="val 50000"/>
            </a:avLst>
          </a:prstGeom>
          <a:solidFill>
            <a:srgbClr val="FCEC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7013448" y="2596896"/>
            <a:ext cx="1298448" cy="310896"/>
          </a:xfrm>
          <a:prstGeom prst="rect">
            <a:avLst/>
          </a:prstGeom>
          <a:noFill/>
        </p:spPr>
        <p:txBody>
          <a:bodyPr wrap="none" anchor="ctr" lIns="0" rIns="0" tIns="0" bIns="0">
            <a:spAutoFit/>
          </a:bodyPr>
          <a:lstStyle/>
          <a:p>
            <a:pPr algn="ctr">
              <a:lnSpc>
                <a:spcPct val="106000"/>
              </a:lnSpc>
              <a:spcBef>
                <a:spcPts val="0"/>
              </a:spcBef>
              <a:spcAft>
                <a:spcPts val="0"/>
              </a:spcAft>
            </a:pPr>
            <a:r>
              <a:rPr sz="850" b="1">
                <a:solidFill>
                  <a:srgbClr val="B80000"/>
                </a:solidFill>
                <a:latin typeface="Red Hat Display"/>
              </a:rPr>
              <a:t>MEDIA PASS</a:t>
            </a:r>
          </a:p>
        </p:txBody>
      </p:sp>
      <p:pic>
        <p:nvPicPr>
          <p:cNvPr id="24" name="Picture 23" descr="eye_slate.png"/>
          <p:cNvPicPr>
            <a:picLocks noChangeAspect="1"/>
          </p:cNvPicPr>
          <p:nvPr/>
        </p:nvPicPr>
        <p:blipFill>
          <a:blip r:embed="rId4"/>
          <a:stretch>
            <a:fillRect/>
          </a:stretch>
        </p:blipFill>
        <p:spPr>
          <a:xfrm>
            <a:off x="8843619" y="3108960"/>
            <a:ext cx="475488" cy="475488"/>
          </a:xfrm>
          <a:prstGeom prst="rect">
            <a:avLst/>
          </a:prstGeom>
        </p:spPr>
      </p:pic>
      <p:sp>
        <p:nvSpPr>
          <p:cNvPr id="25" name="TextBox 24"/>
          <p:cNvSpPr txBox="1"/>
          <p:nvPr/>
        </p:nvSpPr>
        <p:spPr>
          <a:xfrm>
            <a:off x="7050024" y="3721608"/>
            <a:ext cx="4062679" cy="1481328"/>
          </a:xfrm>
          <a:prstGeom prst="rect">
            <a:avLst/>
          </a:prstGeom>
          <a:noFill/>
        </p:spPr>
        <p:txBody>
          <a:bodyPr wrap="square" anchor="t" lIns="0" rIns="0" tIns="0" bIns="0">
            <a:spAutoFit/>
          </a:bodyPr>
          <a:lstStyle/>
          <a:p>
            <a:pPr algn="l">
              <a:lnSpc>
                <a:spcPct val="120000"/>
              </a:lnSpc>
              <a:spcBef>
                <a:spcPts val="0"/>
              </a:spcBef>
              <a:spcAft>
                <a:spcPts val="0"/>
              </a:spcAft>
            </a:pPr>
            <a:r>
              <a:rPr sz="950" b="0">
                <a:solidFill>
                  <a:srgbClr val="8A9099"/>
                </a:solidFill>
                <a:latin typeface="Red Hat Text"/>
              </a:rPr>
              <a:t>Reuse concept diagram registry-images-catalog-governance-...-01-two-supply-chains.svg — the left-to-right image supply with an amber governance gate, and the bottom catalog-supply branch converging on the Developer Catalog.</a:t>
            </a:r>
          </a:p>
        </p:txBody>
      </p:sp>
      <p:cxnSp>
        <p:nvCxnSpPr>
          <p:cNvPr id="26" name="Connector 25"/>
          <p:cNvCxnSpPr/>
          <p:nvPr/>
        </p:nvCxnSpPr>
        <p:spPr>
          <a:xfrm>
            <a:off x="841248" y="6437376"/>
            <a:ext cx="10509199" cy="0"/>
          </a:xfrm>
          <a:prstGeom prst="bentConnector3">
            <a:avLst/>
          </a:prstGeom>
          <a:ln w="12700">
            <a:solidFill>
              <a:srgbClr val="DDE1E6"/>
            </a:solidFill>
          </a:ln>
          <a:effectLst/>
        </p:spPr>
        <p:style>
          <a:lnRef idx="2">
            <a:schemeClr val="accent1"/>
          </a:lnRef>
          <a:fillRef idx="0">
            <a:schemeClr val="accent1"/>
          </a:fillRef>
          <a:effectRef idx="1">
            <a:schemeClr val="accent1"/>
          </a:effectRef>
          <a:fontRef idx="minor">
            <a:schemeClr val="tx1"/>
          </a:fontRef>
        </p:style>
      </p:cxnSp>
      <p:sp>
        <p:nvSpPr>
          <p:cNvPr id="27" name="TextBox 26"/>
          <p:cNvSpPr txBox="1"/>
          <p:nvPr/>
        </p:nvSpPr>
        <p:spPr>
          <a:xfrm>
            <a:off x="841248" y="6473952"/>
            <a:ext cx="7315200" cy="274320"/>
          </a:xfrm>
          <a:prstGeom prst="rect">
            <a:avLst/>
          </a:prstGeom>
          <a:noFill/>
        </p:spPr>
        <p:txBody>
          <a:bodyPr wrap="square" anchor="t" lIns="0" rIns="0" tIns="0" bIns="0">
            <a:spAutoFit/>
          </a:bodyPr>
          <a:lstStyle/>
          <a:p>
            <a:pPr algn="l">
              <a:lnSpc>
                <a:spcPct val="106000"/>
              </a:lnSpc>
              <a:spcBef>
                <a:spcPts val="0"/>
              </a:spcBef>
              <a:spcAft>
                <a:spcPts val="0"/>
              </a:spcAft>
            </a:pPr>
            <a:r>
              <a:rPr sz="950" b="0">
                <a:solidFill>
                  <a:srgbClr val="8A9099"/>
                </a:solidFill>
                <a:latin typeface="Red Hat Text"/>
              </a:rPr>
              <a:t>CONFIDENTIAL</a:t>
            </a:r>
          </a:p>
        </p:txBody>
      </p:sp>
      <p:sp>
        <p:nvSpPr>
          <p:cNvPr id="28" name="TextBox 27"/>
          <p:cNvSpPr txBox="1"/>
          <p:nvPr/>
        </p:nvSpPr>
        <p:spPr>
          <a:xfrm>
            <a:off x="10801807" y="6473952"/>
            <a:ext cx="548640" cy="274320"/>
          </a:xfrm>
          <a:prstGeom prst="rect">
            <a:avLst/>
          </a:prstGeom>
          <a:noFill/>
        </p:spPr>
        <p:txBody>
          <a:bodyPr wrap="square" anchor="t" lIns="0" rIns="0" tIns="0" bIns="0">
            <a:spAutoFit/>
          </a:bodyPr>
          <a:lstStyle/>
          <a:p>
            <a:pPr algn="r">
              <a:lnSpc>
                <a:spcPct val="106000"/>
              </a:lnSpc>
              <a:spcBef>
                <a:spcPts val="0"/>
              </a:spcBef>
              <a:spcAft>
                <a:spcPts val="0"/>
              </a:spcAft>
            </a:pPr>
            <a:r>
              <a:rPr sz="950" b="0">
                <a:solidFill>
                  <a:srgbClr val="8A9099"/>
                </a:solidFill>
                <a:latin typeface="Red Hat Text"/>
              </a:rPr>
              <a:t>129</a:t>
            </a:r>
          </a:p>
        </p:txBody>
      </p:sp>
    </p:spTree>
  </p:cSld>
  <p:clrMapOvr>
    <a:masterClrMapping/>
  </p:clrMapOvr>
</p:sld>
</file>

<file path=ppt/slides/slide14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redhat_logo.jpg"/>
          <p:cNvPicPr>
            <a:picLocks noChangeAspect="1"/>
          </p:cNvPicPr>
          <p:nvPr/>
        </p:nvPicPr>
        <p:blipFill>
          <a:blip r:embed="rId2"/>
          <a:stretch>
            <a:fillRect/>
          </a:stretch>
        </p:blipFill>
        <p:spPr>
          <a:xfrm>
            <a:off x="10326319" y="475488"/>
            <a:ext cx="1024128" cy="242248"/>
          </a:xfrm>
          <a:prstGeom prst="rect">
            <a:avLst/>
          </a:prstGeom>
        </p:spPr>
      </p:pic>
      <p:sp>
        <p:nvSpPr>
          <p:cNvPr id="3" name="TextBox 2"/>
          <p:cNvSpPr txBox="1"/>
          <p:nvPr/>
        </p:nvSpPr>
        <p:spPr>
          <a:xfrm>
            <a:off x="841248" y="548640"/>
            <a:ext cx="8595360" cy="274320"/>
          </a:xfrm>
          <a:prstGeom prst="rect">
            <a:avLst/>
          </a:prstGeom>
          <a:noFill/>
        </p:spPr>
        <p:txBody>
          <a:bodyPr wrap="square" anchor="t" lIns="0" rIns="0" tIns="0" bIns="0">
            <a:spAutoFit/>
          </a:bodyPr>
          <a:lstStyle/>
          <a:p>
            <a:pPr algn="l">
              <a:lnSpc>
                <a:spcPct val="106000"/>
              </a:lnSpc>
              <a:spcBef>
                <a:spcPts val="0"/>
              </a:spcBef>
              <a:spcAft>
                <a:spcPts val="0"/>
              </a:spcAft>
            </a:pPr>
            <a:r>
              <a:rPr sz="1250" b="1" spc="220">
                <a:solidFill>
                  <a:srgbClr val="EE0000"/>
                </a:solidFill>
                <a:latin typeface="Red Hat Display"/>
              </a:rPr>
              <a:t>M18 · REGISTRY, IMAGES &amp; CATALOG GOVERNANCE</a:t>
            </a:r>
          </a:p>
        </p:txBody>
      </p:sp>
      <p:sp>
        <p:nvSpPr>
          <p:cNvPr id="4" name="TextBox 3"/>
          <p:cNvSpPr txBox="1"/>
          <p:nvPr/>
        </p:nvSpPr>
        <p:spPr>
          <a:xfrm>
            <a:off x="841248" y="877824"/>
            <a:ext cx="10515600" cy="548640"/>
          </a:xfrm>
          <a:prstGeom prst="rect">
            <a:avLst/>
          </a:prstGeom>
          <a:noFill/>
        </p:spPr>
        <p:txBody>
          <a:bodyPr wrap="none" anchor="t" lIns="0" rIns="0" tIns="0" bIns="0">
            <a:spAutoFit/>
          </a:bodyPr>
          <a:lstStyle/>
          <a:p>
            <a:pPr algn="l">
              <a:lnSpc>
                <a:spcPct val="100000"/>
              </a:lnSpc>
              <a:spcBef>
                <a:spcPts val="0"/>
              </a:spcBef>
              <a:spcAft>
                <a:spcPts val="0"/>
              </a:spcAft>
            </a:pPr>
            <a:r>
              <a:rPr sz="2500" b="1">
                <a:solidFill>
                  <a:srgbClr val="1A1A1A"/>
                </a:solidFill>
                <a:latin typeface="Red Hat Display"/>
              </a:rPr>
              <a:t>Why an ImageStream still matters</a:t>
            </a:r>
          </a:p>
        </p:txBody>
      </p:sp>
      <p:cxnSp>
        <p:nvCxnSpPr>
          <p:cNvPr id="5" name="Connector 4"/>
          <p:cNvCxnSpPr/>
          <p:nvPr/>
        </p:nvCxnSpPr>
        <p:spPr>
          <a:xfrm>
            <a:off x="841248" y="1554480"/>
            <a:ext cx="1371600" cy="0"/>
          </a:xfrm>
          <a:prstGeom prst="bentConnector3">
            <a:avLst/>
          </a:prstGeom>
          <a:ln w="31750">
            <a:solidFill>
              <a:srgbClr val="EE0000"/>
            </a:solidFill>
          </a:ln>
          <a:effectLst/>
        </p:spPr>
        <p:style>
          <a:lnRef idx="2">
            <a:schemeClr val="accent1"/>
          </a:lnRef>
          <a:fillRef idx="0">
            <a:schemeClr val="accent1"/>
          </a:fillRef>
          <a:effectRef idx="1">
            <a:schemeClr val="accent1"/>
          </a:effectRef>
          <a:fontRef idx="minor">
            <a:schemeClr val="tx1"/>
          </a:fontRef>
        </p:style>
      </p:cxnSp>
      <p:sp>
        <p:nvSpPr>
          <p:cNvPr id="6" name="Rounded Rectangle 5"/>
          <p:cNvSpPr/>
          <p:nvPr/>
        </p:nvSpPr>
        <p:spPr>
          <a:xfrm>
            <a:off x="841248" y="2395728"/>
            <a:ext cx="5715000" cy="530352"/>
          </a:xfrm>
          <a:prstGeom prst="roundRect">
            <a:avLst>
              <a:gd name="adj" fmla="val 6000"/>
            </a:avLst>
          </a:prstGeom>
          <a:solidFill>
            <a:srgbClr val="F5F6F8"/>
          </a:solidFill>
          <a:ln w="12700">
            <a:solidFill>
              <a:srgbClr val="DDE1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check_steel.png"/>
          <p:cNvPicPr>
            <a:picLocks noChangeAspect="1"/>
          </p:cNvPicPr>
          <p:nvPr/>
        </p:nvPicPr>
        <p:blipFill>
          <a:blip r:embed="rId3"/>
          <a:stretch>
            <a:fillRect/>
          </a:stretch>
        </p:blipFill>
        <p:spPr>
          <a:xfrm>
            <a:off x="987552" y="2542032"/>
            <a:ext cx="237744" cy="237744"/>
          </a:xfrm>
          <a:prstGeom prst="rect">
            <a:avLst/>
          </a:prstGeom>
        </p:spPr>
      </p:pic>
      <p:sp>
        <p:nvSpPr>
          <p:cNvPr id="8" name="TextBox 7"/>
          <p:cNvSpPr txBox="1"/>
          <p:nvPr/>
        </p:nvSpPr>
        <p:spPr>
          <a:xfrm>
            <a:off x="1353312" y="2395728"/>
            <a:ext cx="5029200" cy="530352"/>
          </a:xfrm>
          <a:prstGeom prst="rect">
            <a:avLst/>
          </a:prstGeom>
          <a:noFill/>
        </p:spPr>
        <p:txBody>
          <a:bodyPr wrap="square" anchor="ctr" lIns="0" rIns="0" tIns="0" bIns="0">
            <a:spAutoFit/>
          </a:bodyPr>
          <a:lstStyle/>
          <a:p>
            <a:pPr algn="l">
              <a:lnSpc>
                <a:spcPct val="106000"/>
              </a:lnSpc>
              <a:spcBef>
                <a:spcPts val="0"/>
              </a:spcBef>
              <a:spcAft>
                <a:spcPts val="0"/>
              </a:spcAft>
            </a:pPr>
            <a:r>
              <a:rPr sz="1200" b="0">
                <a:solidFill>
                  <a:srgbClr val="1A1A1A"/>
                </a:solidFill>
                <a:latin typeface="Red Hat Text"/>
              </a:rPr>
              <a:t>Pins a moving tag to an immutable sha256 digest</a:t>
            </a:r>
          </a:p>
        </p:txBody>
      </p:sp>
      <p:sp>
        <p:nvSpPr>
          <p:cNvPr id="9" name="Rounded Rectangle 8"/>
          <p:cNvSpPr/>
          <p:nvPr/>
        </p:nvSpPr>
        <p:spPr>
          <a:xfrm>
            <a:off x="841248" y="2999232"/>
            <a:ext cx="5715000" cy="530352"/>
          </a:xfrm>
          <a:prstGeom prst="roundRect">
            <a:avLst>
              <a:gd name="adj" fmla="val 6000"/>
            </a:avLst>
          </a:prstGeom>
          <a:solidFill>
            <a:srgbClr val="F5F6F8"/>
          </a:solidFill>
          <a:ln w="12700">
            <a:solidFill>
              <a:srgbClr val="DDE1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0" name="Picture 9" descr="check_steel.png"/>
          <p:cNvPicPr>
            <a:picLocks noChangeAspect="1"/>
          </p:cNvPicPr>
          <p:nvPr/>
        </p:nvPicPr>
        <p:blipFill>
          <a:blip r:embed="rId3"/>
          <a:stretch>
            <a:fillRect/>
          </a:stretch>
        </p:blipFill>
        <p:spPr>
          <a:xfrm>
            <a:off x="987552" y="3145536"/>
            <a:ext cx="237744" cy="237744"/>
          </a:xfrm>
          <a:prstGeom prst="rect">
            <a:avLst/>
          </a:prstGeom>
        </p:spPr>
      </p:pic>
      <p:sp>
        <p:nvSpPr>
          <p:cNvPr id="11" name="TextBox 10"/>
          <p:cNvSpPr txBox="1"/>
          <p:nvPr/>
        </p:nvSpPr>
        <p:spPr>
          <a:xfrm>
            <a:off x="1353312" y="2999232"/>
            <a:ext cx="5029200" cy="530352"/>
          </a:xfrm>
          <a:prstGeom prst="rect">
            <a:avLst/>
          </a:prstGeom>
          <a:noFill/>
        </p:spPr>
        <p:txBody>
          <a:bodyPr wrap="square" anchor="ctr" lIns="0" rIns="0" tIns="0" bIns="0">
            <a:spAutoFit/>
          </a:bodyPr>
          <a:lstStyle/>
          <a:p>
            <a:pPr algn="l">
              <a:lnSpc>
                <a:spcPct val="106000"/>
              </a:lnSpc>
              <a:spcBef>
                <a:spcPts val="0"/>
              </a:spcBef>
              <a:spcAft>
                <a:spcPts val="0"/>
              </a:spcAft>
            </a:pPr>
            <a:r>
              <a:rPr sz="1200" b="0">
                <a:solidFill>
                  <a:srgbClr val="1A1A1A"/>
                </a:solidFill>
                <a:latin typeface="Red Hat Text"/>
              </a:rPr>
              <a:t>Promote = pointer to exact bits, not a rebuild</a:t>
            </a:r>
          </a:p>
        </p:txBody>
      </p:sp>
      <p:sp>
        <p:nvSpPr>
          <p:cNvPr id="12" name="Rounded Rectangle 11"/>
          <p:cNvSpPr/>
          <p:nvPr/>
        </p:nvSpPr>
        <p:spPr>
          <a:xfrm>
            <a:off x="841248" y="3602736"/>
            <a:ext cx="5715000" cy="530352"/>
          </a:xfrm>
          <a:prstGeom prst="roundRect">
            <a:avLst>
              <a:gd name="adj" fmla="val 6000"/>
            </a:avLst>
          </a:prstGeom>
          <a:solidFill>
            <a:srgbClr val="F5F6F8"/>
          </a:solidFill>
          <a:ln w="12700">
            <a:solidFill>
              <a:srgbClr val="DDE1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3" name="Picture 12" descr="check_steel.png"/>
          <p:cNvPicPr>
            <a:picLocks noChangeAspect="1"/>
          </p:cNvPicPr>
          <p:nvPr/>
        </p:nvPicPr>
        <p:blipFill>
          <a:blip r:embed="rId3"/>
          <a:stretch>
            <a:fillRect/>
          </a:stretch>
        </p:blipFill>
        <p:spPr>
          <a:xfrm>
            <a:off x="987552" y="3749040"/>
            <a:ext cx="237744" cy="237744"/>
          </a:xfrm>
          <a:prstGeom prst="rect">
            <a:avLst/>
          </a:prstGeom>
        </p:spPr>
      </p:pic>
      <p:sp>
        <p:nvSpPr>
          <p:cNvPr id="14" name="TextBox 13"/>
          <p:cNvSpPr txBox="1"/>
          <p:nvPr/>
        </p:nvSpPr>
        <p:spPr>
          <a:xfrm>
            <a:off x="1353312" y="3602736"/>
            <a:ext cx="5029200" cy="530352"/>
          </a:xfrm>
          <a:prstGeom prst="rect">
            <a:avLst/>
          </a:prstGeom>
          <a:noFill/>
        </p:spPr>
        <p:txBody>
          <a:bodyPr wrap="square" anchor="ctr" lIns="0" rIns="0" tIns="0" bIns="0">
            <a:spAutoFit/>
          </a:bodyPr>
          <a:lstStyle/>
          <a:p>
            <a:pPr algn="l">
              <a:lnSpc>
                <a:spcPct val="106000"/>
              </a:lnSpc>
              <a:spcBef>
                <a:spcPts val="0"/>
              </a:spcBef>
              <a:spcAft>
                <a:spcPts val="0"/>
              </a:spcAft>
            </a:pPr>
            <a:r>
              <a:rPr sz="1200" b="0">
                <a:solidFill>
                  <a:srgbClr val="1A1A1A"/>
                </a:solidFill>
                <a:latin typeface="Red Hat Text"/>
              </a:rPr>
              <a:t>prod and 1.0 resolve to the SAME digest (provable)</a:t>
            </a:r>
          </a:p>
        </p:txBody>
      </p:sp>
      <p:sp>
        <p:nvSpPr>
          <p:cNvPr id="15" name="Rounded Rectangle 14"/>
          <p:cNvSpPr/>
          <p:nvPr/>
        </p:nvSpPr>
        <p:spPr>
          <a:xfrm>
            <a:off x="841248" y="4206240"/>
            <a:ext cx="5715000" cy="530352"/>
          </a:xfrm>
          <a:prstGeom prst="roundRect">
            <a:avLst>
              <a:gd name="adj" fmla="val 6000"/>
            </a:avLst>
          </a:prstGeom>
          <a:solidFill>
            <a:srgbClr val="F5F6F8"/>
          </a:solidFill>
          <a:ln w="12700">
            <a:solidFill>
              <a:srgbClr val="DDE1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6" name="Picture 15" descr="check_steel.png"/>
          <p:cNvPicPr>
            <a:picLocks noChangeAspect="1"/>
          </p:cNvPicPr>
          <p:nvPr/>
        </p:nvPicPr>
        <p:blipFill>
          <a:blip r:embed="rId3"/>
          <a:stretch>
            <a:fillRect/>
          </a:stretch>
        </p:blipFill>
        <p:spPr>
          <a:xfrm>
            <a:off x="987552" y="4352544"/>
            <a:ext cx="237744" cy="237744"/>
          </a:xfrm>
          <a:prstGeom prst="rect">
            <a:avLst/>
          </a:prstGeom>
        </p:spPr>
      </p:pic>
      <p:sp>
        <p:nvSpPr>
          <p:cNvPr id="17" name="TextBox 16"/>
          <p:cNvSpPr txBox="1"/>
          <p:nvPr/>
        </p:nvSpPr>
        <p:spPr>
          <a:xfrm>
            <a:off x="1353312" y="4206240"/>
            <a:ext cx="5029200" cy="530352"/>
          </a:xfrm>
          <a:prstGeom prst="rect">
            <a:avLst/>
          </a:prstGeom>
          <a:noFill/>
        </p:spPr>
        <p:txBody>
          <a:bodyPr wrap="square" anchor="ctr" lIns="0" rIns="0" tIns="0" bIns="0">
            <a:spAutoFit/>
          </a:bodyPr>
          <a:lstStyle/>
          <a:p>
            <a:pPr algn="l">
              <a:lnSpc>
                <a:spcPct val="106000"/>
              </a:lnSpc>
              <a:spcBef>
                <a:spcPts val="0"/>
              </a:spcBef>
              <a:spcAft>
                <a:spcPts val="0"/>
              </a:spcAft>
            </a:pPr>
            <a:r>
              <a:rPr sz="1200" b="0">
                <a:solidFill>
                  <a:srgbClr val="1A1A1A"/>
                </a:solidFill>
                <a:latin typeface="Red Hat Text"/>
              </a:rPr>
              <a:t>Scheduled import: re-pull a base image on its own</a:t>
            </a:r>
          </a:p>
        </p:txBody>
      </p:sp>
      <p:sp>
        <p:nvSpPr>
          <p:cNvPr id="18" name="Rounded Rectangle 17"/>
          <p:cNvSpPr/>
          <p:nvPr/>
        </p:nvSpPr>
        <p:spPr>
          <a:xfrm>
            <a:off x="841248" y="4809744"/>
            <a:ext cx="5715000" cy="530352"/>
          </a:xfrm>
          <a:prstGeom prst="roundRect">
            <a:avLst>
              <a:gd name="adj" fmla="val 6000"/>
            </a:avLst>
          </a:prstGeom>
          <a:solidFill>
            <a:srgbClr val="F5F6F8"/>
          </a:solidFill>
          <a:ln w="12700">
            <a:solidFill>
              <a:srgbClr val="DDE1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9" name="Picture 18" descr="check_steel.png"/>
          <p:cNvPicPr>
            <a:picLocks noChangeAspect="1"/>
          </p:cNvPicPr>
          <p:nvPr/>
        </p:nvPicPr>
        <p:blipFill>
          <a:blip r:embed="rId3"/>
          <a:stretch>
            <a:fillRect/>
          </a:stretch>
        </p:blipFill>
        <p:spPr>
          <a:xfrm>
            <a:off x="987552" y="4956048"/>
            <a:ext cx="237744" cy="237744"/>
          </a:xfrm>
          <a:prstGeom prst="rect">
            <a:avLst/>
          </a:prstGeom>
        </p:spPr>
      </p:pic>
      <p:sp>
        <p:nvSpPr>
          <p:cNvPr id="20" name="TextBox 19"/>
          <p:cNvSpPr txBox="1"/>
          <p:nvPr/>
        </p:nvSpPr>
        <p:spPr>
          <a:xfrm>
            <a:off x="1353312" y="4809744"/>
            <a:ext cx="5029200" cy="530352"/>
          </a:xfrm>
          <a:prstGeom prst="rect">
            <a:avLst/>
          </a:prstGeom>
          <a:noFill/>
        </p:spPr>
        <p:txBody>
          <a:bodyPr wrap="square" anchor="ctr" lIns="0" rIns="0" tIns="0" bIns="0">
            <a:spAutoFit/>
          </a:bodyPr>
          <a:lstStyle/>
          <a:p>
            <a:pPr algn="l">
              <a:lnSpc>
                <a:spcPct val="106000"/>
              </a:lnSpc>
              <a:spcBef>
                <a:spcPts val="0"/>
              </a:spcBef>
              <a:spcAft>
                <a:spcPts val="0"/>
              </a:spcAft>
            </a:pPr>
            <a:r>
              <a:rPr sz="1200" b="0">
                <a:solidFill>
                  <a:srgbClr val="1A1A1A"/>
                </a:solidFill>
                <a:latin typeface="Red Hat Text"/>
              </a:rPr>
              <a:t>referencePolicy Local: registry pull-through cache</a:t>
            </a:r>
          </a:p>
        </p:txBody>
      </p:sp>
      <p:sp>
        <p:nvSpPr>
          <p:cNvPr id="21" name="Rounded Rectangle 20"/>
          <p:cNvSpPr/>
          <p:nvPr/>
        </p:nvSpPr>
        <p:spPr>
          <a:xfrm>
            <a:off x="6812280" y="2395728"/>
            <a:ext cx="4538167" cy="2944368"/>
          </a:xfrm>
          <a:prstGeom prst="roundRect">
            <a:avLst>
              <a:gd name="adj" fmla="val 4000"/>
            </a:avLst>
          </a:prstGeom>
          <a:solidFill>
            <a:srgbClr val="FFFFFF"/>
          </a:solidFill>
          <a:ln w="15240">
            <a:solidFill>
              <a:srgbClr val="DDE1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ounded Rectangle 21"/>
          <p:cNvSpPr/>
          <p:nvPr/>
        </p:nvSpPr>
        <p:spPr>
          <a:xfrm>
            <a:off x="7013448" y="2596896"/>
            <a:ext cx="1298448" cy="310896"/>
          </a:xfrm>
          <a:prstGeom prst="roundRect">
            <a:avLst>
              <a:gd name="adj" fmla="val 50000"/>
            </a:avLst>
          </a:prstGeom>
          <a:solidFill>
            <a:srgbClr val="FCEC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7013448" y="2596896"/>
            <a:ext cx="1298448" cy="310896"/>
          </a:xfrm>
          <a:prstGeom prst="rect">
            <a:avLst/>
          </a:prstGeom>
          <a:noFill/>
        </p:spPr>
        <p:txBody>
          <a:bodyPr wrap="none" anchor="ctr" lIns="0" rIns="0" tIns="0" bIns="0">
            <a:spAutoFit/>
          </a:bodyPr>
          <a:lstStyle/>
          <a:p>
            <a:pPr algn="ctr">
              <a:lnSpc>
                <a:spcPct val="106000"/>
              </a:lnSpc>
              <a:spcBef>
                <a:spcPts val="0"/>
              </a:spcBef>
              <a:spcAft>
                <a:spcPts val="0"/>
              </a:spcAft>
            </a:pPr>
            <a:r>
              <a:rPr sz="850" b="1">
                <a:solidFill>
                  <a:srgbClr val="B80000"/>
                </a:solidFill>
                <a:latin typeface="Red Hat Display"/>
              </a:rPr>
              <a:t>MEDIA PASS</a:t>
            </a:r>
          </a:p>
        </p:txBody>
      </p:sp>
      <p:pic>
        <p:nvPicPr>
          <p:cNvPr id="24" name="Picture 23" descr="eye_slate.png"/>
          <p:cNvPicPr>
            <a:picLocks noChangeAspect="1"/>
          </p:cNvPicPr>
          <p:nvPr/>
        </p:nvPicPr>
        <p:blipFill>
          <a:blip r:embed="rId4"/>
          <a:stretch>
            <a:fillRect/>
          </a:stretch>
        </p:blipFill>
        <p:spPr>
          <a:xfrm>
            <a:off x="8843619" y="3108960"/>
            <a:ext cx="475488" cy="475488"/>
          </a:xfrm>
          <a:prstGeom prst="rect">
            <a:avLst/>
          </a:prstGeom>
        </p:spPr>
      </p:pic>
      <p:sp>
        <p:nvSpPr>
          <p:cNvPr id="25" name="TextBox 24"/>
          <p:cNvSpPr txBox="1"/>
          <p:nvPr/>
        </p:nvSpPr>
        <p:spPr>
          <a:xfrm>
            <a:off x="7050024" y="3721608"/>
            <a:ext cx="4062679" cy="1481328"/>
          </a:xfrm>
          <a:prstGeom prst="rect">
            <a:avLst/>
          </a:prstGeom>
          <a:noFill/>
        </p:spPr>
        <p:txBody>
          <a:bodyPr wrap="square" anchor="t" lIns="0" rIns="0" tIns="0" bIns="0">
            <a:spAutoFit/>
          </a:bodyPr>
          <a:lstStyle/>
          <a:p>
            <a:pPr algn="l">
              <a:lnSpc>
                <a:spcPct val="120000"/>
              </a:lnSpc>
              <a:spcBef>
                <a:spcPts val="0"/>
              </a:spcBef>
              <a:spcAft>
                <a:spcPts val="0"/>
              </a:spcAft>
            </a:pPr>
            <a:r>
              <a:rPr sz="950" b="0">
                <a:solidFill>
                  <a:srgbClr val="8A9099"/>
                </a:solidFill>
                <a:latin typeface="Red Hat Text"/>
              </a:rPr>
              <a:t>Reuse concept diagram registry-images-catalog-governance-...-02-immutable-promote.svg — two tag arrows (1.0, prod) converging on one immutable sha256 box, with a "re-push upstream → prod unmoved" side note.</a:t>
            </a:r>
          </a:p>
        </p:txBody>
      </p:sp>
      <p:cxnSp>
        <p:nvCxnSpPr>
          <p:cNvPr id="26" name="Connector 25"/>
          <p:cNvCxnSpPr/>
          <p:nvPr/>
        </p:nvCxnSpPr>
        <p:spPr>
          <a:xfrm>
            <a:off x="841248" y="6437376"/>
            <a:ext cx="10509199" cy="0"/>
          </a:xfrm>
          <a:prstGeom prst="bentConnector3">
            <a:avLst/>
          </a:prstGeom>
          <a:ln w="12700">
            <a:solidFill>
              <a:srgbClr val="DDE1E6"/>
            </a:solidFill>
          </a:ln>
          <a:effectLst/>
        </p:spPr>
        <p:style>
          <a:lnRef idx="2">
            <a:schemeClr val="accent1"/>
          </a:lnRef>
          <a:fillRef idx="0">
            <a:schemeClr val="accent1"/>
          </a:fillRef>
          <a:effectRef idx="1">
            <a:schemeClr val="accent1"/>
          </a:effectRef>
          <a:fontRef idx="minor">
            <a:schemeClr val="tx1"/>
          </a:fontRef>
        </p:style>
      </p:cxnSp>
      <p:sp>
        <p:nvSpPr>
          <p:cNvPr id="27" name="TextBox 26"/>
          <p:cNvSpPr txBox="1"/>
          <p:nvPr/>
        </p:nvSpPr>
        <p:spPr>
          <a:xfrm>
            <a:off x="841248" y="6473952"/>
            <a:ext cx="7315200" cy="274320"/>
          </a:xfrm>
          <a:prstGeom prst="rect">
            <a:avLst/>
          </a:prstGeom>
          <a:noFill/>
        </p:spPr>
        <p:txBody>
          <a:bodyPr wrap="square" anchor="t" lIns="0" rIns="0" tIns="0" bIns="0">
            <a:spAutoFit/>
          </a:bodyPr>
          <a:lstStyle/>
          <a:p>
            <a:pPr algn="l">
              <a:lnSpc>
                <a:spcPct val="106000"/>
              </a:lnSpc>
              <a:spcBef>
                <a:spcPts val="0"/>
              </a:spcBef>
              <a:spcAft>
                <a:spcPts val="0"/>
              </a:spcAft>
            </a:pPr>
            <a:r>
              <a:rPr sz="950" b="0">
                <a:solidFill>
                  <a:srgbClr val="8A9099"/>
                </a:solidFill>
                <a:latin typeface="Red Hat Text"/>
              </a:rPr>
              <a:t>CONFIDENTIAL</a:t>
            </a:r>
          </a:p>
        </p:txBody>
      </p:sp>
      <p:sp>
        <p:nvSpPr>
          <p:cNvPr id="28" name="TextBox 27"/>
          <p:cNvSpPr txBox="1"/>
          <p:nvPr/>
        </p:nvSpPr>
        <p:spPr>
          <a:xfrm>
            <a:off x="10801807" y="6473952"/>
            <a:ext cx="548640" cy="274320"/>
          </a:xfrm>
          <a:prstGeom prst="rect">
            <a:avLst/>
          </a:prstGeom>
          <a:noFill/>
        </p:spPr>
        <p:txBody>
          <a:bodyPr wrap="square" anchor="t" lIns="0" rIns="0" tIns="0" bIns="0">
            <a:spAutoFit/>
          </a:bodyPr>
          <a:lstStyle/>
          <a:p>
            <a:pPr algn="r">
              <a:lnSpc>
                <a:spcPct val="106000"/>
              </a:lnSpc>
              <a:spcBef>
                <a:spcPts val="0"/>
              </a:spcBef>
              <a:spcAft>
                <a:spcPts val="0"/>
              </a:spcAft>
            </a:pPr>
            <a:r>
              <a:rPr sz="950" b="0">
                <a:solidFill>
                  <a:srgbClr val="8A9099"/>
                </a:solidFill>
                <a:latin typeface="Red Hat Text"/>
              </a:rPr>
              <a:t>130</a:t>
            </a:r>
          </a:p>
        </p:txBody>
      </p:sp>
    </p:spTree>
  </p:cSld>
  <p:clrMapOvr>
    <a:masterClrMapping/>
  </p:clrMapOvr>
</p:sld>
</file>

<file path=ppt/slides/slide14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redhat_logo.jpg"/>
          <p:cNvPicPr>
            <a:picLocks noChangeAspect="1"/>
          </p:cNvPicPr>
          <p:nvPr/>
        </p:nvPicPr>
        <p:blipFill>
          <a:blip r:embed="rId2"/>
          <a:stretch>
            <a:fillRect/>
          </a:stretch>
        </p:blipFill>
        <p:spPr>
          <a:xfrm>
            <a:off x="10326319" y="475488"/>
            <a:ext cx="1024128" cy="242248"/>
          </a:xfrm>
          <a:prstGeom prst="rect">
            <a:avLst/>
          </a:prstGeom>
        </p:spPr>
      </p:pic>
      <p:sp>
        <p:nvSpPr>
          <p:cNvPr id="3" name="TextBox 2"/>
          <p:cNvSpPr txBox="1"/>
          <p:nvPr/>
        </p:nvSpPr>
        <p:spPr>
          <a:xfrm>
            <a:off x="841248" y="548640"/>
            <a:ext cx="8595360" cy="274320"/>
          </a:xfrm>
          <a:prstGeom prst="rect">
            <a:avLst/>
          </a:prstGeom>
          <a:noFill/>
        </p:spPr>
        <p:txBody>
          <a:bodyPr wrap="square" anchor="t" lIns="0" rIns="0" tIns="0" bIns="0">
            <a:spAutoFit/>
          </a:bodyPr>
          <a:lstStyle/>
          <a:p>
            <a:pPr algn="l">
              <a:lnSpc>
                <a:spcPct val="106000"/>
              </a:lnSpc>
              <a:spcBef>
                <a:spcPts val="0"/>
              </a:spcBef>
              <a:spcAft>
                <a:spcPts val="0"/>
              </a:spcAft>
            </a:pPr>
            <a:r>
              <a:rPr sz="1250" b="1" spc="220">
                <a:solidFill>
                  <a:srgbClr val="EE0000"/>
                </a:solidFill>
                <a:latin typeface="Red Hat Display"/>
              </a:rPr>
              <a:t>M18 · REGISTRY, IMAGES &amp; CATALOG GOVERNANCE</a:t>
            </a:r>
          </a:p>
        </p:txBody>
      </p:sp>
      <p:sp>
        <p:nvSpPr>
          <p:cNvPr id="4" name="TextBox 3"/>
          <p:cNvSpPr txBox="1"/>
          <p:nvPr/>
        </p:nvSpPr>
        <p:spPr>
          <a:xfrm>
            <a:off x="841248" y="877824"/>
            <a:ext cx="10515600" cy="548640"/>
          </a:xfrm>
          <a:prstGeom prst="rect">
            <a:avLst/>
          </a:prstGeom>
          <a:noFill/>
        </p:spPr>
        <p:txBody>
          <a:bodyPr wrap="none" anchor="t" lIns="0" rIns="0" tIns="0" bIns="0">
            <a:spAutoFit/>
          </a:bodyPr>
          <a:lstStyle/>
          <a:p>
            <a:pPr algn="l">
              <a:lnSpc>
                <a:spcPct val="100000"/>
              </a:lnSpc>
              <a:spcBef>
                <a:spcPts val="0"/>
              </a:spcBef>
              <a:spcAft>
                <a:spcPts val="0"/>
              </a:spcAft>
            </a:pPr>
            <a:r>
              <a:rPr sz="2500" b="1">
                <a:solidFill>
                  <a:srgbClr val="1A1A1A"/>
                </a:solidFill>
                <a:latin typeface="Red Hat Display"/>
              </a:rPr>
              <a:t>The trust boundary</a:t>
            </a:r>
          </a:p>
        </p:txBody>
      </p:sp>
      <p:cxnSp>
        <p:nvCxnSpPr>
          <p:cNvPr id="5" name="Connector 4"/>
          <p:cNvCxnSpPr/>
          <p:nvPr/>
        </p:nvCxnSpPr>
        <p:spPr>
          <a:xfrm>
            <a:off x="841248" y="1554480"/>
            <a:ext cx="1371600" cy="0"/>
          </a:xfrm>
          <a:prstGeom prst="bentConnector3">
            <a:avLst/>
          </a:prstGeom>
          <a:ln w="31750">
            <a:solidFill>
              <a:srgbClr val="EE0000"/>
            </a:solidFill>
          </a:ln>
          <a:effectLst/>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841248" y="1664208"/>
            <a:ext cx="10515600" cy="365760"/>
          </a:xfrm>
          <a:prstGeom prst="rect">
            <a:avLst/>
          </a:prstGeom>
          <a:noFill/>
        </p:spPr>
        <p:txBody>
          <a:bodyPr wrap="square" anchor="t" lIns="0" rIns="0" tIns="0" bIns="0">
            <a:spAutoFit/>
          </a:bodyPr>
          <a:lstStyle/>
          <a:p>
            <a:pPr algn="l">
              <a:lnSpc>
                <a:spcPct val="106000"/>
              </a:lnSpc>
              <a:spcBef>
                <a:spcPts val="0"/>
              </a:spcBef>
              <a:spcAft>
                <a:spcPts val="0"/>
              </a:spcAft>
            </a:pPr>
            <a:r>
              <a:rPr sz="1350" b="0">
                <a:solidFill>
                  <a:srgbClr val="555960"/>
                </a:solidFill>
                <a:latin typeface="Red Hat Text"/>
              </a:rPr>
              <a:t>where images may come from</a:t>
            </a:r>
          </a:p>
        </p:txBody>
      </p:sp>
      <p:sp>
        <p:nvSpPr>
          <p:cNvPr id="7" name="Rounded Rectangle 6"/>
          <p:cNvSpPr/>
          <p:nvPr/>
        </p:nvSpPr>
        <p:spPr>
          <a:xfrm>
            <a:off x="841248" y="2670048"/>
            <a:ext cx="5715000" cy="530352"/>
          </a:xfrm>
          <a:prstGeom prst="roundRect">
            <a:avLst>
              <a:gd name="adj" fmla="val 6000"/>
            </a:avLst>
          </a:prstGeom>
          <a:solidFill>
            <a:srgbClr val="F5F6F8"/>
          </a:solidFill>
          <a:ln w="12700">
            <a:solidFill>
              <a:srgbClr val="DDE1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check_steel.png"/>
          <p:cNvPicPr>
            <a:picLocks noChangeAspect="1"/>
          </p:cNvPicPr>
          <p:nvPr/>
        </p:nvPicPr>
        <p:blipFill>
          <a:blip r:embed="rId3"/>
          <a:stretch>
            <a:fillRect/>
          </a:stretch>
        </p:blipFill>
        <p:spPr>
          <a:xfrm>
            <a:off x="987552" y="2816352"/>
            <a:ext cx="237744" cy="237744"/>
          </a:xfrm>
          <a:prstGeom prst="rect">
            <a:avLst/>
          </a:prstGeom>
        </p:spPr>
      </p:pic>
      <p:sp>
        <p:nvSpPr>
          <p:cNvPr id="9" name="TextBox 8"/>
          <p:cNvSpPr txBox="1"/>
          <p:nvPr/>
        </p:nvSpPr>
        <p:spPr>
          <a:xfrm>
            <a:off x="1353312" y="2670048"/>
            <a:ext cx="5029200" cy="530352"/>
          </a:xfrm>
          <a:prstGeom prst="rect">
            <a:avLst/>
          </a:prstGeom>
          <a:noFill/>
        </p:spPr>
        <p:txBody>
          <a:bodyPr wrap="square" anchor="ctr" lIns="0" rIns="0" tIns="0" bIns="0">
            <a:spAutoFit/>
          </a:bodyPr>
          <a:lstStyle/>
          <a:p>
            <a:pPr algn="l">
              <a:lnSpc>
                <a:spcPct val="106000"/>
              </a:lnSpc>
              <a:spcBef>
                <a:spcPts val="0"/>
              </a:spcBef>
              <a:spcAft>
                <a:spcPts val="0"/>
              </a:spcAft>
            </a:pPr>
            <a:r>
              <a:rPr sz="1200" b="0">
                <a:solidFill>
                  <a:srgbClr val="1A1A1A"/>
                </a:solidFill>
                <a:latin typeface="Red Hat Text"/>
              </a:rPr>
              <a:t>Two questions: is it signed? (Trusted Software Supply Chain) — may it come from here? (Registry, Images &amp; Catalog Governance)</a:t>
            </a:r>
          </a:p>
        </p:txBody>
      </p:sp>
      <p:sp>
        <p:nvSpPr>
          <p:cNvPr id="10" name="Rounded Rectangle 9"/>
          <p:cNvSpPr/>
          <p:nvPr/>
        </p:nvSpPr>
        <p:spPr>
          <a:xfrm>
            <a:off x="841248" y="3273552"/>
            <a:ext cx="5715000" cy="530352"/>
          </a:xfrm>
          <a:prstGeom prst="roundRect">
            <a:avLst>
              <a:gd name="adj" fmla="val 6000"/>
            </a:avLst>
          </a:prstGeom>
          <a:solidFill>
            <a:srgbClr val="F5F6F8"/>
          </a:solidFill>
          <a:ln w="12700">
            <a:solidFill>
              <a:srgbClr val="DDE1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1" name="Picture 10" descr="check_steel.png"/>
          <p:cNvPicPr>
            <a:picLocks noChangeAspect="1"/>
          </p:cNvPicPr>
          <p:nvPr/>
        </p:nvPicPr>
        <p:blipFill>
          <a:blip r:embed="rId3"/>
          <a:stretch>
            <a:fillRect/>
          </a:stretch>
        </p:blipFill>
        <p:spPr>
          <a:xfrm>
            <a:off x="987552" y="3419856"/>
            <a:ext cx="237744" cy="237744"/>
          </a:xfrm>
          <a:prstGeom prst="rect">
            <a:avLst/>
          </a:prstGeom>
        </p:spPr>
      </p:pic>
      <p:sp>
        <p:nvSpPr>
          <p:cNvPr id="12" name="TextBox 11"/>
          <p:cNvSpPr txBox="1"/>
          <p:nvPr/>
        </p:nvSpPr>
        <p:spPr>
          <a:xfrm>
            <a:off x="1353312" y="3273552"/>
            <a:ext cx="5029200" cy="530352"/>
          </a:xfrm>
          <a:prstGeom prst="rect">
            <a:avLst/>
          </a:prstGeom>
          <a:noFill/>
        </p:spPr>
        <p:txBody>
          <a:bodyPr wrap="square" anchor="ctr" lIns="0" rIns="0" tIns="0" bIns="0">
            <a:spAutoFit/>
          </a:bodyPr>
          <a:lstStyle/>
          <a:p>
            <a:pPr algn="l">
              <a:lnSpc>
                <a:spcPct val="106000"/>
              </a:lnSpc>
              <a:spcBef>
                <a:spcPts val="0"/>
              </a:spcBef>
              <a:spcAft>
                <a:spcPts val="0"/>
              </a:spcAft>
            </a:pPr>
            <a:r>
              <a:rPr sz="1200" b="0">
                <a:solidFill>
                  <a:srgbClr val="1A1A1A"/>
                </a:solidFill>
                <a:latin typeface="Red Hat Text"/>
              </a:rPr>
              <a:t>allowedRegistriesForImport — instant, admission-level</a:t>
            </a:r>
          </a:p>
        </p:txBody>
      </p:sp>
      <p:sp>
        <p:nvSpPr>
          <p:cNvPr id="13" name="Rounded Rectangle 12"/>
          <p:cNvSpPr/>
          <p:nvPr/>
        </p:nvSpPr>
        <p:spPr>
          <a:xfrm>
            <a:off x="841248" y="3877056"/>
            <a:ext cx="5715000" cy="530352"/>
          </a:xfrm>
          <a:prstGeom prst="roundRect">
            <a:avLst>
              <a:gd name="adj" fmla="val 6000"/>
            </a:avLst>
          </a:prstGeom>
          <a:solidFill>
            <a:srgbClr val="F5F6F8"/>
          </a:solidFill>
          <a:ln w="12700">
            <a:solidFill>
              <a:srgbClr val="DDE1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4" name="Picture 13" descr="check_steel.png"/>
          <p:cNvPicPr>
            <a:picLocks noChangeAspect="1"/>
          </p:cNvPicPr>
          <p:nvPr/>
        </p:nvPicPr>
        <p:blipFill>
          <a:blip r:embed="rId3"/>
          <a:stretch>
            <a:fillRect/>
          </a:stretch>
        </p:blipFill>
        <p:spPr>
          <a:xfrm>
            <a:off x="987552" y="4023360"/>
            <a:ext cx="237744" cy="237744"/>
          </a:xfrm>
          <a:prstGeom prst="rect">
            <a:avLst/>
          </a:prstGeom>
        </p:spPr>
      </p:pic>
      <p:sp>
        <p:nvSpPr>
          <p:cNvPr id="15" name="TextBox 14"/>
          <p:cNvSpPr txBox="1"/>
          <p:nvPr/>
        </p:nvSpPr>
        <p:spPr>
          <a:xfrm>
            <a:off x="1353312" y="3877056"/>
            <a:ext cx="5029200" cy="530352"/>
          </a:xfrm>
          <a:prstGeom prst="rect">
            <a:avLst/>
          </a:prstGeom>
          <a:noFill/>
        </p:spPr>
        <p:txBody>
          <a:bodyPr wrap="square" anchor="ctr" lIns="0" rIns="0" tIns="0" bIns="0">
            <a:spAutoFit/>
          </a:bodyPr>
          <a:lstStyle/>
          <a:p>
            <a:pPr algn="l">
              <a:lnSpc>
                <a:spcPct val="106000"/>
              </a:lnSpc>
              <a:spcBef>
                <a:spcPts val="0"/>
              </a:spcBef>
              <a:spcAft>
                <a:spcPts val="0"/>
              </a:spcAft>
            </a:pPr>
            <a:r>
              <a:rPr sz="1200" b="0">
                <a:solidFill>
                  <a:srgbClr val="1A1A1A"/>
                </a:solidFill>
                <a:latin typeface="Red Hat Text"/>
              </a:rPr>
              <a:t>registrySources — node-enforced, reboots the pool</a:t>
            </a:r>
          </a:p>
        </p:txBody>
      </p:sp>
      <p:sp>
        <p:nvSpPr>
          <p:cNvPr id="16" name="Rounded Rectangle 15"/>
          <p:cNvSpPr/>
          <p:nvPr/>
        </p:nvSpPr>
        <p:spPr>
          <a:xfrm>
            <a:off x="841248" y="4480560"/>
            <a:ext cx="5715000" cy="530352"/>
          </a:xfrm>
          <a:prstGeom prst="roundRect">
            <a:avLst>
              <a:gd name="adj" fmla="val 6000"/>
            </a:avLst>
          </a:prstGeom>
          <a:solidFill>
            <a:srgbClr val="F5F6F8"/>
          </a:solidFill>
          <a:ln w="12700">
            <a:solidFill>
              <a:srgbClr val="DDE1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7" name="Picture 16" descr="check_steel.png"/>
          <p:cNvPicPr>
            <a:picLocks noChangeAspect="1"/>
          </p:cNvPicPr>
          <p:nvPr/>
        </p:nvPicPr>
        <p:blipFill>
          <a:blip r:embed="rId3"/>
          <a:stretch>
            <a:fillRect/>
          </a:stretch>
        </p:blipFill>
        <p:spPr>
          <a:xfrm>
            <a:off x="987552" y="4626864"/>
            <a:ext cx="237744" cy="237744"/>
          </a:xfrm>
          <a:prstGeom prst="rect">
            <a:avLst/>
          </a:prstGeom>
        </p:spPr>
      </p:pic>
      <p:sp>
        <p:nvSpPr>
          <p:cNvPr id="18" name="TextBox 17"/>
          <p:cNvSpPr txBox="1"/>
          <p:nvPr/>
        </p:nvSpPr>
        <p:spPr>
          <a:xfrm>
            <a:off x="1353312" y="4480560"/>
            <a:ext cx="5029200" cy="530352"/>
          </a:xfrm>
          <a:prstGeom prst="rect">
            <a:avLst/>
          </a:prstGeom>
          <a:noFill/>
        </p:spPr>
        <p:txBody>
          <a:bodyPr wrap="square" anchor="ctr" lIns="0" rIns="0" tIns="0" bIns="0">
            <a:spAutoFit/>
          </a:bodyPr>
          <a:lstStyle/>
          <a:p>
            <a:pPr algn="l">
              <a:lnSpc>
                <a:spcPct val="106000"/>
              </a:lnSpc>
              <a:spcBef>
                <a:spcPts val="0"/>
              </a:spcBef>
              <a:spcAft>
                <a:spcPts val="0"/>
              </a:spcAft>
            </a:pPr>
            <a:r>
              <a:rPr sz="1200" b="0">
                <a:solidFill>
                  <a:srgbClr val="1A1A1A"/>
                </a:solidFill>
                <a:latin typeface="Red Hat Text"/>
              </a:rPr>
              <a:t>IDMS / ITMS — mirror for disconnected installs</a:t>
            </a:r>
          </a:p>
        </p:txBody>
      </p:sp>
      <p:sp>
        <p:nvSpPr>
          <p:cNvPr id="19" name="Rounded Rectangle 18"/>
          <p:cNvSpPr/>
          <p:nvPr/>
        </p:nvSpPr>
        <p:spPr>
          <a:xfrm>
            <a:off x="841248" y="5084064"/>
            <a:ext cx="5715000" cy="530352"/>
          </a:xfrm>
          <a:prstGeom prst="roundRect">
            <a:avLst>
              <a:gd name="adj" fmla="val 6000"/>
            </a:avLst>
          </a:prstGeom>
          <a:solidFill>
            <a:srgbClr val="F5F6F8"/>
          </a:solidFill>
          <a:ln w="12700">
            <a:solidFill>
              <a:srgbClr val="DDE1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0" name="Picture 19" descr="check_steel.png"/>
          <p:cNvPicPr>
            <a:picLocks noChangeAspect="1"/>
          </p:cNvPicPr>
          <p:nvPr/>
        </p:nvPicPr>
        <p:blipFill>
          <a:blip r:embed="rId3"/>
          <a:stretch>
            <a:fillRect/>
          </a:stretch>
        </p:blipFill>
        <p:spPr>
          <a:xfrm>
            <a:off x="987552" y="5230368"/>
            <a:ext cx="237744" cy="237744"/>
          </a:xfrm>
          <a:prstGeom prst="rect">
            <a:avLst/>
          </a:prstGeom>
        </p:spPr>
      </p:pic>
      <p:sp>
        <p:nvSpPr>
          <p:cNvPr id="21" name="TextBox 20"/>
          <p:cNvSpPr txBox="1"/>
          <p:nvPr/>
        </p:nvSpPr>
        <p:spPr>
          <a:xfrm>
            <a:off x="1353312" y="5084064"/>
            <a:ext cx="5029200" cy="530352"/>
          </a:xfrm>
          <a:prstGeom prst="rect">
            <a:avLst/>
          </a:prstGeom>
          <a:noFill/>
        </p:spPr>
        <p:txBody>
          <a:bodyPr wrap="square" anchor="ctr" lIns="0" rIns="0" tIns="0" bIns="0">
            <a:spAutoFit/>
          </a:bodyPr>
          <a:lstStyle/>
          <a:p>
            <a:pPr algn="l">
              <a:lnSpc>
                <a:spcPct val="106000"/>
              </a:lnSpc>
              <a:spcBef>
                <a:spcPts val="0"/>
              </a:spcBef>
              <a:spcAft>
                <a:spcPts val="0"/>
              </a:spcAft>
            </a:pPr>
            <a:r>
              <a:rPr sz="1200" b="0">
                <a:solidFill>
                  <a:srgbClr val="1A1A1A"/>
                </a:solidFill>
                <a:latin typeface="Red Hat Text"/>
              </a:rPr>
              <a:t>ICSP is the deprecated predecessor (migrate to IDMS)</a:t>
            </a:r>
          </a:p>
        </p:txBody>
      </p:sp>
      <p:sp>
        <p:nvSpPr>
          <p:cNvPr id="22" name="Rounded Rectangle 21"/>
          <p:cNvSpPr/>
          <p:nvPr/>
        </p:nvSpPr>
        <p:spPr>
          <a:xfrm>
            <a:off x="6812280" y="2670048"/>
            <a:ext cx="4538167" cy="2944368"/>
          </a:xfrm>
          <a:prstGeom prst="roundRect">
            <a:avLst>
              <a:gd name="adj" fmla="val 4000"/>
            </a:avLst>
          </a:prstGeom>
          <a:solidFill>
            <a:srgbClr val="FFFFFF"/>
          </a:solidFill>
          <a:ln w="15240">
            <a:solidFill>
              <a:srgbClr val="DDE1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ounded Rectangle 22"/>
          <p:cNvSpPr/>
          <p:nvPr/>
        </p:nvSpPr>
        <p:spPr>
          <a:xfrm>
            <a:off x="7013448" y="2871216"/>
            <a:ext cx="1298448" cy="310896"/>
          </a:xfrm>
          <a:prstGeom prst="roundRect">
            <a:avLst>
              <a:gd name="adj" fmla="val 50000"/>
            </a:avLst>
          </a:prstGeom>
          <a:solidFill>
            <a:srgbClr val="FCEC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7013448" y="2871216"/>
            <a:ext cx="1298448" cy="310896"/>
          </a:xfrm>
          <a:prstGeom prst="rect">
            <a:avLst/>
          </a:prstGeom>
          <a:noFill/>
        </p:spPr>
        <p:txBody>
          <a:bodyPr wrap="none" anchor="ctr" lIns="0" rIns="0" tIns="0" bIns="0">
            <a:spAutoFit/>
          </a:bodyPr>
          <a:lstStyle/>
          <a:p>
            <a:pPr algn="ctr">
              <a:lnSpc>
                <a:spcPct val="106000"/>
              </a:lnSpc>
              <a:spcBef>
                <a:spcPts val="0"/>
              </a:spcBef>
              <a:spcAft>
                <a:spcPts val="0"/>
              </a:spcAft>
            </a:pPr>
            <a:r>
              <a:rPr sz="850" b="1">
                <a:solidFill>
                  <a:srgbClr val="B80000"/>
                </a:solidFill>
                <a:latin typeface="Red Hat Display"/>
              </a:rPr>
              <a:t>MEDIA PASS</a:t>
            </a:r>
          </a:p>
        </p:txBody>
      </p:sp>
      <p:pic>
        <p:nvPicPr>
          <p:cNvPr id="25" name="Picture 24" descr="eye_slate.png"/>
          <p:cNvPicPr>
            <a:picLocks noChangeAspect="1"/>
          </p:cNvPicPr>
          <p:nvPr/>
        </p:nvPicPr>
        <p:blipFill>
          <a:blip r:embed="rId4"/>
          <a:stretch>
            <a:fillRect/>
          </a:stretch>
        </p:blipFill>
        <p:spPr>
          <a:xfrm>
            <a:off x="8843619" y="3383280"/>
            <a:ext cx="475488" cy="475488"/>
          </a:xfrm>
          <a:prstGeom prst="rect">
            <a:avLst/>
          </a:prstGeom>
        </p:spPr>
      </p:pic>
      <p:sp>
        <p:nvSpPr>
          <p:cNvPr id="26" name="TextBox 25"/>
          <p:cNvSpPr txBox="1"/>
          <p:nvPr/>
        </p:nvSpPr>
        <p:spPr>
          <a:xfrm>
            <a:off x="7050024" y="3995928"/>
            <a:ext cx="4062679" cy="1481328"/>
          </a:xfrm>
          <a:prstGeom prst="rect">
            <a:avLst/>
          </a:prstGeom>
          <a:noFill/>
        </p:spPr>
        <p:txBody>
          <a:bodyPr wrap="square" anchor="t" lIns="0" rIns="0" tIns="0" bIns="0">
            <a:spAutoFit/>
          </a:bodyPr>
          <a:lstStyle/>
          <a:p>
            <a:pPr algn="l">
              <a:lnSpc>
                <a:spcPct val="120000"/>
              </a:lnSpc>
              <a:spcBef>
                <a:spcPts val="0"/>
              </a:spcBef>
              <a:spcAft>
                <a:spcPts val="0"/>
              </a:spcAft>
            </a:pPr>
            <a:r>
              <a:rPr sz="950" b="0">
                <a:solidFill>
                  <a:srgbClr val="8A9099"/>
                </a:solidFill>
                <a:latin typeface="Red Hat Text"/>
              </a:rPr>
              <a:t>A three-tier "blast radius" ladder — allowedRegistriesForImport (instant, green) → registrySources (node reboot, amber) → IDMS/ITMS (every node, disconnected, red) — with a side arrow to Trusted Software Supply Chain "signatures = the other axis."</a:t>
            </a:r>
          </a:p>
        </p:txBody>
      </p:sp>
      <p:cxnSp>
        <p:nvCxnSpPr>
          <p:cNvPr id="27" name="Connector 26"/>
          <p:cNvCxnSpPr/>
          <p:nvPr/>
        </p:nvCxnSpPr>
        <p:spPr>
          <a:xfrm>
            <a:off x="841248" y="6437376"/>
            <a:ext cx="10509199" cy="0"/>
          </a:xfrm>
          <a:prstGeom prst="bentConnector3">
            <a:avLst/>
          </a:prstGeom>
          <a:ln w="12700">
            <a:solidFill>
              <a:srgbClr val="DDE1E6"/>
            </a:solidFill>
          </a:ln>
          <a:effectLst/>
        </p:spPr>
        <p:style>
          <a:lnRef idx="2">
            <a:schemeClr val="accent1"/>
          </a:lnRef>
          <a:fillRef idx="0">
            <a:schemeClr val="accent1"/>
          </a:fillRef>
          <a:effectRef idx="1">
            <a:schemeClr val="accent1"/>
          </a:effectRef>
          <a:fontRef idx="minor">
            <a:schemeClr val="tx1"/>
          </a:fontRef>
        </p:style>
      </p:cxnSp>
      <p:sp>
        <p:nvSpPr>
          <p:cNvPr id="28" name="TextBox 27"/>
          <p:cNvSpPr txBox="1"/>
          <p:nvPr/>
        </p:nvSpPr>
        <p:spPr>
          <a:xfrm>
            <a:off x="841248" y="6473952"/>
            <a:ext cx="7315200" cy="274320"/>
          </a:xfrm>
          <a:prstGeom prst="rect">
            <a:avLst/>
          </a:prstGeom>
          <a:noFill/>
        </p:spPr>
        <p:txBody>
          <a:bodyPr wrap="square" anchor="t" lIns="0" rIns="0" tIns="0" bIns="0">
            <a:spAutoFit/>
          </a:bodyPr>
          <a:lstStyle/>
          <a:p>
            <a:pPr algn="l">
              <a:lnSpc>
                <a:spcPct val="106000"/>
              </a:lnSpc>
              <a:spcBef>
                <a:spcPts val="0"/>
              </a:spcBef>
              <a:spcAft>
                <a:spcPts val="0"/>
              </a:spcAft>
            </a:pPr>
            <a:r>
              <a:rPr sz="950" b="0">
                <a:solidFill>
                  <a:srgbClr val="8A9099"/>
                </a:solidFill>
                <a:latin typeface="Red Hat Text"/>
              </a:rPr>
              <a:t>CONFIDENTIAL</a:t>
            </a:r>
          </a:p>
        </p:txBody>
      </p:sp>
      <p:sp>
        <p:nvSpPr>
          <p:cNvPr id="29" name="TextBox 28"/>
          <p:cNvSpPr txBox="1"/>
          <p:nvPr/>
        </p:nvSpPr>
        <p:spPr>
          <a:xfrm>
            <a:off x="10801807" y="6473952"/>
            <a:ext cx="548640" cy="274320"/>
          </a:xfrm>
          <a:prstGeom prst="rect">
            <a:avLst/>
          </a:prstGeom>
          <a:noFill/>
        </p:spPr>
        <p:txBody>
          <a:bodyPr wrap="square" anchor="t" lIns="0" rIns="0" tIns="0" bIns="0">
            <a:spAutoFit/>
          </a:bodyPr>
          <a:lstStyle/>
          <a:p>
            <a:pPr algn="r">
              <a:lnSpc>
                <a:spcPct val="106000"/>
              </a:lnSpc>
              <a:spcBef>
                <a:spcPts val="0"/>
              </a:spcBef>
              <a:spcAft>
                <a:spcPts val="0"/>
              </a:spcAft>
            </a:pPr>
            <a:r>
              <a:rPr sz="950" b="0">
                <a:solidFill>
                  <a:srgbClr val="8A9099"/>
                </a:solidFill>
                <a:latin typeface="Red Hat Text"/>
              </a:rPr>
              <a:t>131</a:t>
            </a:r>
          </a:p>
        </p:txBody>
      </p:sp>
    </p:spTree>
  </p:cSld>
  <p:clrMapOvr>
    <a:masterClrMapping/>
  </p:clrMapOvr>
</p:sld>
</file>

<file path=ppt/slides/slide15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redhat_logo.jpg"/>
          <p:cNvPicPr>
            <a:picLocks noChangeAspect="1"/>
          </p:cNvPicPr>
          <p:nvPr/>
        </p:nvPicPr>
        <p:blipFill>
          <a:blip r:embed="rId2"/>
          <a:stretch>
            <a:fillRect/>
          </a:stretch>
        </p:blipFill>
        <p:spPr>
          <a:xfrm>
            <a:off x="10326319" y="475488"/>
            <a:ext cx="1024128" cy="242248"/>
          </a:xfrm>
          <a:prstGeom prst="rect">
            <a:avLst/>
          </a:prstGeom>
        </p:spPr>
      </p:pic>
      <p:sp>
        <p:nvSpPr>
          <p:cNvPr id="3" name="TextBox 2"/>
          <p:cNvSpPr txBox="1"/>
          <p:nvPr/>
        </p:nvSpPr>
        <p:spPr>
          <a:xfrm>
            <a:off x="841248" y="548640"/>
            <a:ext cx="8595360" cy="274320"/>
          </a:xfrm>
          <a:prstGeom prst="rect">
            <a:avLst/>
          </a:prstGeom>
          <a:noFill/>
        </p:spPr>
        <p:txBody>
          <a:bodyPr wrap="square" anchor="t" lIns="0" rIns="0" tIns="0" bIns="0">
            <a:spAutoFit/>
          </a:bodyPr>
          <a:lstStyle/>
          <a:p>
            <a:pPr algn="l">
              <a:lnSpc>
                <a:spcPct val="106000"/>
              </a:lnSpc>
              <a:spcBef>
                <a:spcPts val="0"/>
              </a:spcBef>
              <a:spcAft>
                <a:spcPts val="0"/>
              </a:spcAft>
            </a:pPr>
            <a:r>
              <a:rPr sz="1250" b="1" spc="220">
                <a:solidFill>
                  <a:srgbClr val="EE0000"/>
                </a:solidFill>
                <a:latin typeface="Red Hat Display"/>
              </a:rPr>
              <a:t>M18 · REGISTRY, IMAGES &amp; CATALOG GOVERNANCE</a:t>
            </a:r>
          </a:p>
        </p:txBody>
      </p:sp>
      <p:sp>
        <p:nvSpPr>
          <p:cNvPr id="4" name="TextBox 3"/>
          <p:cNvSpPr txBox="1"/>
          <p:nvPr/>
        </p:nvSpPr>
        <p:spPr>
          <a:xfrm>
            <a:off x="841248" y="877824"/>
            <a:ext cx="10515600" cy="548640"/>
          </a:xfrm>
          <a:prstGeom prst="rect">
            <a:avLst/>
          </a:prstGeom>
          <a:noFill/>
        </p:spPr>
        <p:txBody>
          <a:bodyPr wrap="none" anchor="t" lIns="0" rIns="0" tIns="0" bIns="0">
            <a:spAutoFit/>
          </a:bodyPr>
          <a:lstStyle/>
          <a:p>
            <a:pPr algn="l">
              <a:lnSpc>
                <a:spcPct val="100000"/>
              </a:lnSpc>
              <a:spcBef>
                <a:spcPts val="0"/>
              </a:spcBef>
              <a:spcAft>
                <a:spcPts val="0"/>
              </a:spcAft>
            </a:pPr>
            <a:r>
              <a:rPr sz="2500" b="1">
                <a:solidFill>
                  <a:srgbClr val="1A1A1A"/>
                </a:solidFill>
                <a:latin typeface="Red Hat Display"/>
              </a:rPr>
              <a:t>The catalog supply</a:t>
            </a:r>
          </a:p>
        </p:txBody>
      </p:sp>
      <p:cxnSp>
        <p:nvCxnSpPr>
          <p:cNvPr id="5" name="Connector 4"/>
          <p:cNvCxnSpPr/>
          <p:nvPr/>
        </p:nvCxnSpPr>
        <p:spPr>
          <a:xfrm>
            <a:off x="841248" y="1554480"/>
            <a:ext cx="1371600" cy="0"/>
          </a:xfrm>
          <a:prstGeom prst="bentConnector3">
            <a:avLst/>
          </a:prstGeom>
          <a:ln w="31750">
            <a:solidFill>
              <a:srgbClr val="EE0000"/>
            </a:solidFill>
          </a:ln>
          <a:effectLst/>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841248" y="1664208"/>
            <a:ext cx="10515600" cy="365760"/>
          </a:xfrm>
          <a:prstGeom prst="rect">
            <a:avLst/>
          </a:prstGeom>
          <a:noFill/>
        </p:spPr>
        <p:txBody>
          <a:bodyPr wrap="square" anchor="t" lIns="0" rIns="0" tIns="0" bIns="0">
            <a:spAutoFit/>
          </a:bodyPr>
          <a:lstStyle/>
          <a:p>
            <a:pPr algn="l">
              <a:lnSpc>
                <a:spcPct val="106000"/>
              </a:lnSpc>
              <a:spcBef>
                <a:spcPts val="0"/>
              </a:spcBef>
              <a:spcAft>
                <a:spcPts val="0"/>
              </a:spcAft>
            </a:pPr>
            <a:r>
              <a:rPr sz="1350" b="0">
                <a:solidFill>
                  <a:srgbClr val="555960"/>
                </a:solidFill>
                <a:latin typeface="Red Hat Text"/>
              </a:rPr>
              <a:t>what developers can run and offer</a:t>
            </a:r>
          </a:p>
        </p:txBody>
      </p:sp>
      <p:sp>
        <p:nvSpPr>
          <p:cNvPr id="7" name="Rounded Rectangle 6"/>
          <p:cNvSpPr/>
          <p:nvPr/>
        </p:nvSpPr>
        <p:spPr>
          <a:xfrm>
            <a:off x="841248" y="2670048"/>
            <a:ext cx="5715000" cy="530352"/>
          </a:xfrm>
          <a:prstGeom prst="roundRect">
            <a:avLst>
              <a:gd name="adj" fmla="val 6000"/>
            </a:avLst>
          </a:prstGeom>
          <a:solidFill>
            <a:srgbClr val="F5F6F8"/>
          </a:solidFill>
          <a:ln w="12700">
            <a:solidFill>
              <a:srgbClr val="DDE1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check_steel.png"/>
          <p:cNvPicPr>
            <a:picLocks noChangeAspect="1"/>
          </p:cNvPicPr>
          <p:nvPr/>
        </p:nvPicPr>
        <p:blipFill>
          <a:blip r:embed="rId3"/>
          <a:stretch>
            <a:fillRect/>
          </a:stretch>
        </p:blipFill>
        <p:spPr>
          <a:xfrm>
            <a:off x="987552" y="2816352"/>
            <a:ext cx="237744" cy="237744"/>
          </a:xfrm>
          <a:prstGeom prst="rect">
            <a:avLst/>
          </a:prstGeom>
        </p:spPr>
      </p:pic>
      <p:sp>
        <p:nvSpPr>
          <p:cNvPr id="9" name="TextBox 8"/>
          <p:cNvSpPr txBox="1"/>
          <p:nvPr/>
        </p:nvSpPr>
        <p:spPr>
          <a:xfrm>
            <a:off x="1353312" y="2670048"/>
            <a:ext cx="5029200" cy="530352"/>
          </a:xfrm>
          <a:prstGeom prst="rect">
            <a:avLst/>
          </a:prstGeom>
          <a:noFill/>
        </p:spPr>
        <p:txBody>
          <a:bodyPr wrap="square" anchor="ctr" lIns="0" rIns="0" tIns="0" bIns="0">
            <a:spAutoFit/>
          </a:bodyPr>
          <a:lstStyle/>
          <a:p>
            <a:pPr algn="l">
              <a:lnSpc>
                <a:spcPct val="106000"/>
              </a:lnSpc>
              <a:spcBef>
                <a:spcPts val="0"/>
              </a:spcBef>
              <a:spcAft>
                <a:spcPts val="0"/>
              </a:spcAft>
            </a:pPr>
            <a:r>
              <a:rPr sz="1200" b="0">
                <a:solidFill>
                  <a:srgbClr val="1A1A1A"/>
                </a:solidFill>
                <a:latin typeface="Red Hat Text"/>
              </a:rPr>
              <a:t>OperatorHub sources + CatalogSources (trim / add)</a:t>
            </a:r>
          </a:p>
        </p:txBody>
      </p:sp>
      <p:sp>
        <p:nvSpPr>
          <p:cNvPr id="10" name="Rounded Rectangle 9"/>
          <p:cNvSpPr/>
          <p:nvPr/>
        </p:nvSpPr>
        <p:spPr>
          <a:xfrm>
            <a:off x="841248" y="3273552"/>
            <a:ext cx="5715000" cy="530352"/>
          </a:xfrm>
          <a:prstGeom prst="roundRect">
            <a:avLst>
              <a:gd name="adj" fmla="val 6000"/>
            </a:avLst>
          </a:prstGeom>
          <a:solidFill>
            <a:srgbClr val="F5F6F8"/>
          </a:solidFill>
          <a:ln w="12700">
            <a:solidFill>
              <a:srgbClr val="DDE1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1" name="Picture 10" descr="check_steel.png"/>
          <p:cNvPicPr>
            <a:picLocks noChangeAspect="1"/>
          </p:cNvPicPr>
          <p:nvPr/>
        </p:nvPicPr>
        <p:blipFill>
          <a:blip r:embed="rId3"/>
          <a:stretch>
            <a:fillRect/>
          </a:stretch>
        </p:blipFill>
        <p:spPr>
          <a:xfrm>
            <a:off x="987552" y="3419856"/>
            <a:ext cx="237744" cy="237744"/>
          </a:xfrm>
          <a:prstGeom prst="rect">
            <a:avLst/>
          </a:prstGeom>
        </p:spPr>
      </p:pic>
      <p:sp>
        <p:nvSpPr>
          <p:cNvPr id="12" name="TextBox 11"/>
          <p:cNvSpPr txBox="1"/>
          <p:nvPr/>
        </p:nvSpPr>
        <p:spPr>
          <a:xfrm>
            <a:off x="1353312" y="3273552"/>
            <a:ext cx="5029200" cy="530352"/>
          </a:xfrm>
          <a:prstGeom prst="rect">
            <a:avLst/>
          </a:prstGeom>
          <a:noFill/>
        </p:spPr>
        <p:txBody>
          <a:bodyPr wrap="square" anchor="ctr" lIns="0" rIns="0" tIns="0" bIns="0">
            <a:spAutoFit/>
          </a:bodyPr>
          <a:lstStyle/>
          <a:p>
            <a:pPr algn="l">
              <a:lnSpc>
                <a:spcPct val="106000"/>
              </a:lnSpc>
              <a:spcBef>
                <a:spcPts val="0"/>
              </a:spcBef>
              <a:spcAft>
                <a:spcPts val="0"/>
              </a:spcAft>
            </a:pPr>
            <a:r>
              <a:rPr sz="1200" b="0">
                <a:solidFill>
                  <a:srgbClr val="1A1A1A"/>
                </a:solidFill>
                <a:latin typeface="Red Hat Text"/>
              </a:rPr>
              <a:t>Samples operator: skip a sample (never Removed)</a:t>
            </a:r>
          </a:p>
        </p:txBody>
      </p:sp>
      <p:sp>
        <p:nvSpPr>
          <p:cNvPr id="13" name="Rounded Rectangle 12"/>
          <p:cNvSpPr/>
          <p:nvPr/>
        </p:nvSpPr>
        <p:spPr>
          <a:xfrm>
            <a:off x="841248" y="3877056"/>
            <a:ext cx="5715000" cy="530352"/>
          </a:xfrm>
          <a:prstGeom prst="roundRect">
            <a:avLst>
              <a:gd name="adj" fmla="val 6000"/>
            </a:avLst>
          </a:prstGeom>
          <a:solidFill>
            <a:srgbClr val="F5F6F8"/>
          </a:solidFill>
          <a:ln w="12700">
            <a:solidFill>
              <a:srgbClr val="DDE1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4" name="Picture 13" descr="check_steel.png"/>
          <p:cNvPicPr>
            <a:picLocks noChangeAspect="1"/>
          </p:cNvPicPr>
          <p:nvPr/>
        </p:nvPicPr>
        <p:blipFill>
          <a:blip r:embed="rId3"/>
          <a:stretch>
            <a:fillRect/>
          </a:stretch>
        </p:blipFill>
        <p:spPr>
          <a:xfrm>
            <a:off x="987552" y="4023360"/>
            <a:ext cx="237744" cy="237744"/>
          </a:xfrm>
          <a:prstGeom prst="rect">
            <a:avLst/>
          </a:prstGeom>
        </p:spPr>
      </p:pic>
      <p:sp>
        <p:nvSpPr>
          <p:cNvPr id="15" name="TextBox 14"/>
          <p:cNvSpPr txBox="1"/>
          <p:nvPr/>
        </p:nvSpPr>
        <p:spPr>
          <a:xfrm>
            <a:off x="1353312" y="3877056"/>
            <a:ext cx="5029200" cy="530352"/>
          </a:xfrm>
          <a:prstGeom prst="rect">
            <a:avLst/>
          </a:prstGeom>
          <a:noFill/>
        </p:spPr>
        <p:txBody>
          <a:bodyPr wrap="square" anchor="ctr" lIns="0" rIns="0" tIns="0" bIns="0">
            <a:spAutoFit/>
          </a:bodyPr>
          <a:lstStyle/>
          <a:p>
            <a:pPr algn="l">
              <a:lnSpc>
                <a:spcPct val="106000"/>
              </a:lnSpc>
              <a:spcBef>
                <a:spcPts val="0"/>
              </a:spcBef>
              <a:spcAft>
                <a:spcPts val="0"/>
              </a:spcAft>
            </a:pPr>
            <a:r>
              <a:rPr sz="1200" b="0">
                <a:solidFill>
                  <a:srgbClr val="1A1A1A"/>
                </a:solidFill>
                <a:latin typeface="Red Hat Text"/>
              </a:rPr>
              <a:t>ConsoleSample: a cluster-wide blessed starter</a:t>
            </a:r>
          </a:p>
        </p:txBody>
      </p:sp>
      <p:sp>
        <p:nvSpPr>
          <p:cNvPr id="16" name="Rounded Rectangle 15"/>
          <p:cNvSpPr/>
          <p:nvPr/>
        </p:nvSpPr>
        <p:spPr>
          <a:xfrm>
            <a:off x="841248" y="4480560"/>
            <a:ext cx="5715000" cy="530352"/>
          </a:xfrm>
          <a:prstGeom prst="roundRect">
            <a:avLst>
              <a:gd name="adj" fmla="val 6000"/>
            </a:avLst>
          </a:prstGeom>
          <a:solidFill>
            <a:srgbClr val="F5F6F8"/>
          </a:solidFill>
          <a:ln w="12700">
            <a:solidFill>
              <a:srgbClr val="DDE1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7" name="Picture 16" descr="check_steel.png"/>
          <p:cNvPicPr>
            <a:picLocks noChangeAspect="1"/>
          </p:cNvPicPr>
          <p:nvPr/>
        </p:nvPicPr>
        <p:blipFill>
          <a:blip r:embed="rId3"/>
          <a:stretch>
            <a:fillRect/>
          </a:stretch>
        </p:blipFill>
        <p:spPr>
          <a:xfrm>
            <a:off x="987552" y="4626864"/>
            <a:ext cx="237744" cy="237744"/>
          </a:xfrm>
          <a:prstGeom prst="rect">
            <a:avLst/>
          </a:prstGeom>
        </p:spPr>
      </p:pic>
      <p:sp>
        <p:nvSpPr>
          <p:cNvPr id="18" name="TextBox 17"/>
          <p:cNvSpPr txBox="1"/>
          <p:nvPr/>
        </p:nvSpPr>
        <p:spPr>
          <a:xfrm>
            <a:off x="1353312" y="4480560"/>
            <a:ext cx="5029200" cy="530352"/>
          </a:xfrm>
          <a:prstGeom prst="rect">
            <a:avLst/>
          </a:prstGeom>
          <a:noFill/>
        </p:spPr>
        <p:txBody>
          <a:bodyPr wrap="square" anchor="ctr" lIns="0" rIns="0" tIns="0" bIns="0">
            <a:spAutoFit/>
          </a:bodyPr>
          <a:lstStyle/>
          <a:p>
            <a:pPr algn="l">
              <a:lnSpc>
                <a:spcPct val="106000"/>
              </a:lnSpc>
              <a:spcBef>
                <a:spcPts val="0"/>
              </a:spcBef>
              <a:spcAft>
                <a:spcPts val="0"/>
              </a:spcAft>
            </a:pPr>
            <a:r>
              <a:rPr sz="1200" b="0">
                <a:solidFill>
                  <a:srgbClr val="1A1A1A"/>
                </a:solidFill>
                <a:latin typeface="Red Hat Text"/>
              </a:rPr>
              <a:t>Namespaced Template: YOUR catalog entry, your ns only</a:t>
            </a:r>
          </a:p>
        </p:txBody>
      </p:sp>
      <p:sp>
        <p:nvSpPr>
          <p:cNvPr id="19" name="Rounded Rectangle 18"/>
          <p:cNvSpPr/>
          <p:nvPr/>
        </p:nvSpPr>
        <p:spPr>
          <a:xfrm>
            <a:off x="841248" y="5084064"/>
            <a:ext cx="5715000" cy="530352"/>
          </a:xfrm>
          <a:prstGeom prst="roundRect">
            <a:avLst>
              <a:gd name="adj" fmla="val 6000"/>
            </a:avLst>
          </a:prstGeom>
          <a:solidFill>
            <a:srgbClr val="F5F6F8"/>
          </a:solidFill>
          <a:ln w="12700">
            <a:solidFill>
              <a:srgbClr val="DDE1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0" name="Picture 19" descr="check_steel.png"/>
          <p:cNvPicPr>
            <a:picLocks noChangeAspect="1"/>
          </p:cNvPicPr>
          <p:nvPr/>
        </p:nvPicPr>
        <p:blipFill>
          <a:blip r:embed="rId3"/>
          <a:stretch>
            <a:fillRect/>
          </a:stretch>
        </p:blipFill>
        <p:spPr>
          <a:xfrm>
            <a:off x="987552" y="5230368"/>
            <a:ext cx="237744" cy="237744"/>
          </a:xfrm>
          <a:prstGeom prst="rect">
            <a:avLst/>
          </a:prstGeom>
        </p:spPr>
      </p:pic>
      <p:sp>
        <p:nvSpPr>
          <p:cNvPr id="21" name="TextBox 20"/>
          <p:cNvSpPr txBox="1"/>
          <p:nvPr/>
        </p:nvSpPr>
        <p:spPr>
          <a:xfrm>
            <a:off x="1353312" y="5084064"/>
            <a:ext cx="5029200" cy="530352"/>
          </a:xfrm>
          <a:prstGeom prst="rect">
            <a:avLst/>
          </a:prstGeom>
          <a:noFill/>
        </p:spPr>
        <p:txBody>
          <a:bodyPr wrap="square" anchor="ctr" lIns="0" rIns="0" tIns="0" bIns="0">
            <a:spAutoFit/>
          </a:bodyPr>
          <a:lstStyle/>
          <a:p>
            <a:pPr algn="l">
              <a:lnSpc>
                <a:spcPct val="106000"/>
              </a:lnSpc>
              <a:spcBef>
                <a:spcPts val="0"/>
              </a:spcBef>
              <a:spcAft>
                <a:spcPts val="0"/>
              </a:spcAft>
            </a:pPr>
            <a:r>
              <a:rPr sz="1200" b="0">
                <a:solidFill>
                  <a:srgbClr val="1A1A1A"/>
                </a:solidFill>
                <a:latin typeface="Red Hat Text"/>
              </a:rPr>
              <a:t>Devfiles: community + private (Dev Spaces, Dev Spaces &amp; the Inner Loop)</a:t>
            </a:r>
          </a:p>
        </p:txBody>
      </p:sp>
      <p:sp>
        <p:nvSpPr>
          <p:cNvPr id="22" name="Rounded Rectangle 21"/>
          <p:cNvSpPr/>
          <p:nvPr/>
        </p:nvSpPr>
        <p:spPr>
          <a:xfrm>
            <a:off x="6812280" y="2670048"/>
            <a:ext cx="4538167" cy="2944368"/>
          </a:xfrm>
          <a:prstGeom prst="roundRect">
            <a:avLst>
              <a:gd name="adj" fmla="val 4000"/>
            </a:avLst>
          </a:prstGeom>
          <a:solidFill>
            <a:srgbClr val="FFFFFF"/>
          </a:solidFill>
          <a:ln w="15240">
            <a:solidFill>
              <a:srgbClr val="DDE1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ounded Rectangle 22"/>
          <p:cNvSpPr/>
          <p:nvPr/>
        </p:nvSpPr>
        <p:spPr>
          <a:xfrm>
            <a:off x="7013448" y="2871216"/>
            <a:ext cx="1298448" cy="310896"/>
          </a:xfrm>
          <a:prstGeom prst="roundRect">
            <a:avLst>
              <a:gd name="adj" fmla="val 50000"/>
            </a:avLst>
          </a:prstGeom>
          <a:solidFill>
            <a:srgbClr val="FCEC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7013448" y="2871216"/>
            <a:ext cx="1298448" cy="310896"/>
          </a:xfrm>
          <a:prstGeom prst="rect">
            <a:avLst/>
          </a:prstGeom>
          <a:noFill/>
        </p:spPr>
        <p:txBody>
          <a:bodyPr wrap="none" anchor="ctr" lIns="0" rIns="0" tIns="0" bIns="0">
            <a:spAutoFit/>
          </a:bodyPr>
          <a:lstStyle/>
          <a:p>
            <a:pPr algn="ctr">
              <a:lnSpc>
                <a:spcPct val="106000"/>
              </a:lnSpc>
              <a:spcBef>
                <a:spcPts val="0"/>
              </a:spcBef>
              <a:spcAft>
                <a:spcPts val="0"/>
              </a:spcAft>
            </a:pPr>
            <a:r>
              <a:rPr sz="850" b="1">
                <a:solidFill>
                  <a:srgbClr val="B80000"/>
                </a:solidFill>
                <a:latin typeface="Red Hat Display"/>
              </a:rPr>
              <a:t>MEDIA PASS</a:t>
            </a:r>
          </a:p>
        </p:txBody>
      </p:sp>
      <p:pic>
        <p:nvPicPr>
          <p:cNvPr id="25" name="Picture 24" descr="eye_slate.png"/>
          <p:cNvPicPr>
            <a:picLocks noChangeAspect="1"/>
          </p:cNvPicPr>
          <p:nvPr/>
        </p:nvPicPr>
        <p:blipFill>
          <a:blip r:embed="rId4"/>
          <a:stretch>
            <a:fillRect/>
          </a:stretch>
        </p:blipFill>
        <p:spPr>
          <a:xfrm>
            <a:off x="8843619" y="3383280"/>
            <a:ext cx="475488" cy="475488"/>
          </a:xfrm>
          <a:prstGeom prst="rect">
            <a:avLst/>
          </a:prstGeom>
        </p:spPr>
      </p:pic>
      <p:sp>
        <p:nvSpPr>
          <p:cNvPr id="26" name="TextBox 25"/>
          <p:cNvSpPr txBox="1"/>
          <p:nvPr/>
        </p:nvSpPr>
        <p:spPr>
          <a:xfrm>
            <a:off x="7050024" y="3995928"/>
            <a:ext cx="4062679" cy="1481328"/>
          </a:xfrm>
          <a:prstGeom prst="rect">
            <a:avLst/>
          </a:prstGeom>
          <a:noFill/>
        </p:spPr>
        <p:txBody>
          <a:bodyPr wrap="square" anchor="t" lIns="0" rIns="0" tIns="0" bIns="0">
            <a:spAutoFit/>
          </a:bodyPr>
          <a:lstStyle/>
          <a:p>
            <a:pPr algn="l">
              <a:lnSpc>
                <a:spcPct val="120000"/>
              </a:lnSpc>
              <a:spcBef>
                <a:spcPts val="0"/>
              </a:spcBef>
              <a:spcAft>
                <a:spcPts val="0"/>
              </a:spcAft>
            </a:pPr>
            <a:r>
              <a:rPr sz="950" b="0">
                <a:solidFill>
                  <a:srgbClr val="8A9099"/>
                </a:solidFill>
                <a:latin typeface="Red Hat Text"/>
              </a:rPr>
              <a:t>A catalog "feed" diagram — five inputs (OperatorHub sources, samples operator, ConsoleSample, namespaced Template, devfiles) flowing into one Developer Catalog tile grid; the namespaced Template input tagged "your project only."</a:t>
            </a:r>
          </a:p>
        </p:txBody>
      </p:sp>
      <p:cxnSp>
        <p:nvCxnSpPr>
          <p:cNvPr id="27" name="Connector 26"/>
          <p:cNvCxnSpPr/>
          <p:nvPr/>
        </p:nvCxnSpPr>
        <p:spPr>
          <a:xfrm>
            <a:off x="841248" y="6437376"/>
            <a:ext cx="10509199" cy="0"/>
          </a:xfrm>
          <a:prstGeom prst="bentConnector3">
            <a:avLst/>
          </a:prstGeom>
          <a:ln w="12700">
            <a:solidFill>
              <a:srgbClr val="DDE1E6"/>
            </a:solidFill>
          </a:ln>
          <a:effectLst/>
        </p:spPr>
        <p:style>
          <a:lnRef idx="2">
            <a:schemeClr val="accent1"/>
          </a:lnRef>
          <a:fillRef idx="0">
            <a:schemeClr val="accent1"/>
          </a:fillRef>
          <a:effectRef idx="1">
            <a:schemeClr val="accent1"/>
          </a:effectRef>
          <a:fontRef idx="minor">
            <a:schemeClr val="tx1"/>
          </a:fontRef>
        </p:style>
      </p:cxnSp>
      <p:sp>
        <p:nvSpPr>
          <p:cNvPr id="28" name="TextBox 27"/>
          <p:cNvSpPr txBox="1"/>
          <p:nvPr/>
        </p:nvSpPr>
        <p:spPr>
          <a:xfrm>
            <a:off x="841248" y="6473952"/>
            <a:ext cx="7315200" cy="274320"/>
          </a:xfrm>
          <a:prstGeom prst="rect">
            <a:avLst/>
          </a:prstGeom>
          <a:noFill/>
        </p:spPr>
        <p:txBody>
          <a:bodyPr wrap="square" anchor="t" lIns="0" rIns="0" tIns="0" bIns="0">
            <a:spAutoFit/>
          </a:bodyPr>
          <a:lstStyle/>
          <a:p>
            <a:pPr algn="l">
              <a:lnSpc>
                <a:spcPct val="106000"/>
              </a:lnSpc>
              <a:spcBef>
                <a:spcPts val="0"/>
              </a:spcBef>
              <a:spcAft>
                <a:spcPts val="0"/>
              </a:spcAft>
            </a:pPr>
            <a:r>
              <a:rPr sz="950" b="0">
                <a:solidFill>
                  <a:srgbClr val="8A9099"/>
                </a:solidFill>
                <a:latin typeface="Red Hat Text"/>
              </a:rPr>
              <a:t>CONFIDENTIAL</a:t>
            </a:r>
          </a:p>
        </p:txBody>
      </p:sp>
      <p:sp>
        <p:nvSpPr>
          <p:cNvPr id="29" name="TextBox 28"/>
          <p:cNvSpPr txBox="1"/>
          <p:nvPr/>
        </p:nvSpPr>
        <p:spPr>
          <a:xfrm>
            <a:off x="10801807" y="6473952"/>
            <a:ext cx="548640" cy="274320"/>
          </a:xfrm>
          <a:prstGeom prst="rect">
            <a:avLst/>
          </a:prstGeom>
          <a:noFill/>
        </p:spPr>
        <p:txBody>
          <a:bodyPr wrap="square" anchor="t" lIns="0" rIns="0" tIns="0" bIns="0">
            <a:spAutoFit/>
          </a:bodyPr>
          <a:lstStyle/>
          <a:p>
            <a:pPr algn="r">
              <a:lnSpc>
                <a:spcPct val="106000"/>
              </a:lnSpc>
              <a:spcBef>
                <a:spcPts val="0"/>
              </a:spcBef>
              <a:spcAft>
                <a:spcPts val="0"/>
              </a:spcAft>
            </a:pPr>
            <a:r>
              <a:rPr sz="950" b="0">
                <a:solidFill>
                  <a:srgbClr val="8A9099"/>
                </a:solidFill>
                <a:latin typeface="Red Hat Text"/>
              </a:rPr>
              <a:t>132</a:t>
            </a:r>
          </a:p>
        </p:txBody>
      </p:sp>
    </p:spTree>
  </p:cSld>
  <p:clrMapOvr>
    <a:masterClrMapping/>
  </p:clrMapOvr>
</p:sld>
</file>

<file path=ppt/slides/slide15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redhat_logo.jpg"/>
          <p:cNvPicPr>
            <a:picLocks noChangeAspect="1"/>
          </p:cNvPicPr>
          <p:nvPr/>
        </p:nvPicPr>
        <p:blipFill>
          <a:blip r:embed="rId2"/>
          <a:stretch>
            <a:fillRect/>
          </a:stretch>
        </p:blipFill>
        <p:spPr>
          <a:xfrm>
            <a:off x="10326319" y="475488"/>
            <a:ext cx="1024128" cy="242248"/>
          </a:xfrm>
          <a:prstGeom prst="rect">
            <a:avLst/>
          </a:prstGeom>
        </p:spPr>
      </p:pic>
      <p:sp>
        <p:nvSpPr>
          <p:cNvPr id="3" name="TextBox 2"/>
          <p:cNvSpPr txBox="1"/>
          <p:nvPr/>
        </p:nvSpPr>
        <p:spPr>
          <a:xfrm>
            <a:off x="841248" y="548640"/>
            <a:ext cx="8595360" cy="274320"/>
          </a:xfrm>
          <a:prstGeom prst="rect">
            <a:avLst/>
          </a:prstGeom>
          <a:noFill/>
        </p:spPr>
        <p:txBody>
          <a:bodyPr wrap="square" anchor="t" lIns="0" rIns="0" tIns="0" bIns="0">
            <a:spAutoFit/>
          </a:bodyPr>
          <a:lstStyle/>
          <a:p>
            <a:pPr algn="l">
              <a:lnSpc>
                <a:spcPct val="106000"/>
              </a:lnSpc>
              <a:spcBef>
                <a:spcPts val="0"/>
              </a:spcBef>
              <a:spcAft>
                <a:spcPts val="0"/>
              </a:spcAft>
            </a:pPr>
            <a:r>
              <a:rPr sz="1250" b="1" spc="220">
                <a:solidFill>
                  <a:srgbClr val="EE0000"/>
                </a:solidFill>
                <a:latin typeface="Red Hat Display"/>
              </a:rPr>
              <a:t>M18 · REGISTRY, IMAGES &amp; CATALOG GOVERNANCE</a:t>
            </a:r>
          </a:p>
        </p:txBody>
      </p:sp>
      <p:sp>
        <p:nvSpPr>
          <p:cNvPr id="4" name="TextBox 3"/>
          <p:cNvSpPr txBox="1"/>
          <p:nvPr/>
        </p:nvSpPr>
        <p:spPr>
          <a:xfrm>
            <a:off x="841248" y="877824"/>
            <a:ext cx="10515600" cy="548640"/>
          </a:xfrm>
          <a:prstGeom prst="rect">
            <a:avLst/>
          </a:prstGeom>
          <a:noFill/>
        </p:spPr>
        <p:txBody>
          <a:bodyPr wrap="none" anchor="t" lIns="0" rIns="0" tIns="0" bIns="0">
            <a:spAutoFit/>
          </a:bodyPr>
          <a:lstStyle/>
          <a:p>
            <a:pPr algn="l">
              <a:lnSpc>
                <a:spcPct val="100000"/>
              </a:lnSpc>
              <a:spcBef>
                <a:spcPts val="0"/>
              </a:spcBef>
              <a:spcAft>
                <a:spcPts val="0"/>
              </a:spcAft>
            </a:pPr>
            <a:r>
              <a:rPr sz="2500" b="1">
                <a:solidFill>
                  <a:srgbClr val="1A1A1A"/>
                </a:solidFill>
                <a:latin typeface="Red Hat Display"/>
              </a:rPr>
              <a:t>Who runs what</a:t>
            </a:r>
          </a:p>
        </p:txBody>
      </p:sp>
      <p:cxnSp>
        <p:nvCxnSpPr>
          <p:cNvPr id="5" name="Connector 4"/>
          <p:cNvCxnSpPr/>
          <p:nvPr/>
        </p:nvCxnSpPr>
        <p:spPr>
          <a:xfrm>
            <a:off x="841248" y="1554480"/>
            <a:ext cx="1371600" cy="0"/>
          </a:xfrm>
          <a:prstGeom prst="bentConnector3">
            <a:avLst/>
          </a:prstGeom>
          <a:ln w="31750">
            <a:solidFill>
              <a:srgbClr val="EE0000"/>
            </a:solidFill>
          </a:ln>
          <a:effectLst/>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841248" y="1664208"/>
            <a:ext cx="10515600" cy="365760"/>
          </a:xfrm>
          <a:prstGeom prst="rect">
            <a:avLst/>
          </a:prstGeom>
          <a:noFill/>
        </p:spPr>
        <p:txBody>
          <a:bodyPr wrap="square" anchor="t" lIns="0" rIns="0" tIns="0" bIns="0">
            <a:spAutoFit/>
          </a:bodyPr>
          <a:lstStyle/>
          <a:p>
            <a:pPr algn="l">
              <a:lnSpc>
                <a:spcPct val="106000"/>
              </a:lnSpc>
              <a:spcBef>
                <a:spcPts val="0"/>
              </a:spcBef>
              <a:spcAft>
                <a:spcPts val="0"/>
              </a:spcAft>
            </a:pPr>
            <a:r>
              <a:rPr sz="1350" b="0">
                <a:solidFill>
                  <a:srgbClr val="555960"/>
                </a:solidFill>
                <a:latin typeface="Red Hat Text"/>
              </a:rPr>
              <a:t>and the honest operational note</a:t>
            </a:r>
          </a:p>
        </p:txBody>
      </p:sp>
      <p:sp>
        <p:nvSpPr>
          <p:cNvPr id="7" name="Rounded Rectangle 6"/>
          <p:cNvSpPr/>
          <p:nvPr/>
        </p:nvSpPr>
        <p:spPr>
          <a:xfrm>
            <a:off x="841248" y="2670048"/>
            <a:ext cx="5715000" cy="530352"/>
          </a:xfrm>
          <a:prstGeom prst="roundRect">
            <a:avLst>
              <a:gd name="adj" fmla="val 6000"/>
            </a:avLst>
          </a:prstGeom>
          <a:solidFill>
            <a:srgbClr val="F5F6F8"/>
          </a:solidFill>
          <a:ln w="12700">
            <a:solidFill>
              <a:srgbClr val="DDE1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check_steel.png"/>
          <p:cNvPicPr>
            <a:picLocks noChangeAspect="1"/>
          </p:cNvPicPr>
          <p:nvPr/>
        </p:nvPicPr>
        <p:blipFill>
          <a:blip r:embed="rId3"/>
          <a:stretch>
            <a:fillRect/>
          </a:stretch>
        </p:blipFill>
        <p:spPr>
          <a:xfrm>
            <a:off x="987552" y="2816352"/>
            <a:ext cx="237744" cy="237744"/>
          </a:xfrm>
          <a:prstGeom prst="rect">
            <a:avLst/>
          </a:prstGeom>
        </p:spPr>
      </p:pic>
      <p:sp>
        <p:nvSpPr>
          <p:cNvPr id="9" name="TextBox 8"/>
          <p:cNvSpPr txBox="1"/>
          <p:nvPr/>
        </p:nvSpPr>
        <p:spPr>
          <a:xfrm>
            <a:off x="1353312" y="2670048"/>
            <a:ext cx="5029200" cy="530352"/>
          </a:xfrm>
          <a:prstGeom prst="rect">
            <a:avLst/>
          </a:prstGeom>
          <a:noFill/>
        </p:spPr>
        <p:txBody>
          <a:bodyPr wrap="square" anchor="ctr" lIns="0" rIns="0" tIns="0" bIns="0">
            <a:spAutoFit/>
          </a:bodyPr>
          <a:lstStyle/>
          <a:p>
            <a:pPr algn="l">
              <a:lnSpc>
                <a:spcPct val="106000"/>
              </a:lnSpc>
              <a:spcBef>
                <a:spcPts val="0"/>
              </a:spcBef>
              <a:spcAft>
                <a:spcPts val="0"/>
              </a:spcAft>
            </a:pPr>
            <a:r>
              <a:rPr sz="1200" b="0">
                <a:solidFill>
                  <a:srgbClr val="1A1A1A"/>
                </a:solidFill>
                <a:latin typeface="Red Hat Text"/>
              </a:rPr>
              <a:t>Hands-on (your namespace): promote, import, pull secret, Template, read</a:t>
            </a:r>
          </a:p>
        </p:txBody>
      </p:sp>
      <p:sp>
        <p:nvSpPr>
          <p:cNvPr id="10" name="Rounded Rectangle 9"/>
          <p:cNvSpPr/>
          <p:nvPr/>
        </p:nvSpPr>
        <p:spPr>
          <a:xfrm>
            <a:off x="841248" y="3273552"/>
            <a:ext cx="5715000" cy="530352"/>
          </a:xfrm>
          <a:prstGeom prst="roundRect">
            <a:avLst>
              <a:gd name="adj" fmla="val 6000"/>
            </a:avLst>
          </a:prstGeom>
          <a:solidFill>
            <a:srgbClr val="F5F6F8"/>
          </a:solidFill>
          <a:ln w="12700">
            <a:solidFill>
              <a:srgbClr val="DDE1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1" name="Picture 10" descr="check_steel.png"/>
          <p:cNvPicPr>
            <a:picLocks noChangeAspect="1"/>
          </p:cNvPicPr>
          <p:nvPr/>
        </p:nvPicPr>
        <p:blipFill>
          <a:blip r:embed="rId3"/>
          <a:stretch>
            <a:fillRect/>
          </a:stretch>
        </p:blipFill>
        <p:spPr>
          <a:xfrm>
            <a:off x="987552" y="3419856"/>
            <a:ext cx="237744" cy="237744"/>
          </a:xfrm>
          <a:prstGeom prst="rect">
            <a:avLst/>
          </a:prstGeom>
        </p:spPr>
      </p:pic>
      <p:sp>
        <p:nvSpPr>
          <p:cNvPr id="12" name="TextBox 11"/>
          <p:cNvSpPr txBox="1"/>
          <p:nvPr/>
        </p:nvSpPr>
        <p:spPr>
          <a:xfrm>
            <a:off x="1353312" y="3273552"/>
            <a:ext cx="5029200" cy="530352"/>
          </a:xfrm>
          <a:prstGeom prst="rect">
            <a:avLst/>
          </a:prstGeom>
          <a:noFill/>
        </p:spPr>
        <p:txBody>
          <a:bodyPr wrap="square" anchor="ctr" lIns="0" rIns="0" tIns="0" bIns="0">
            <a:spAutoFit/>
          </a:bodyPr>
          <a:lstStyle/>
          <a:p>
            <a:pPr algn="l">
              <a:lnSpc>
                <a:spcPct val="106000"/>
              </a:lnSpc>
              <a:spcBef>
                <a:spcPts val="0"/>
              </a:spcBef>
              <a:spcAft>
                <a:spcPts val="0"/>
              </a:spcAft>
            </a:pPr>
            <a:r>
              <a:rPr sz="1200" b="0">
                <a:solidFill>
                  <a:srgbClr val="1A1A1A"/>
                </a:solidFill>
                <a:latin typeface="Red Hat Text"/>
              </a:rPr>
              <a:t>Instructor demo (cluster-wide): allowed-registries, mirroring, samples, ConsoleSample</a:t>
            </a:r>
          </a:p>
        </p:txBody>
      </p:sp>
      <p:sp>
        <p:nvSpPr>
          <p:cNvPr id="13" name="Rounded Rectangle 12"/>
          <p:cNvSpPr/>
          <p:nvPr/>
        </p:nvSpPr>
        <p:spPr>
          <a:xfrm>
            <a:off x="841248" y="3877056"/>
            <a:ext cx="5715000" cy="530352"/>
          </a:xfrm>
          <a:prstGeom prst="roundRect">
            <a:avLst>
              <a:gd name="adj" fmla="val 6000"/>
            </a:avLst>
          </a:prstGeom>
          <a:solidFill>
            <a:srgbClr val="F5F6F8"/>
          </a:solidFill>
          <a:ln w="12700">
            <a:solidFill>
              <a:srgbClr val="DDE1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4" name="Picture 13" descr="check_steel.png"/>
          <p:cNvPicPr>
            <a:picLocks noChangeAspect="1"/>
          </p:cNvPicPr>
          <p:nvPr/>
        </p:nvPicPr>
        <p:blipFill>
          <a:blip r:embed="rId3"/>
          <a:stretch>
            <a:fillRect/>
          </a:stretch>
        </p:blipFill>
        <p:spPr>
          <a:xfrm>
            <a:off x="987552" y="4023360"/>
            <a:ext cx="237744" cy="237744"/>
          </a:xfrm>
          <a:prstGeom prst="rect">
            <a:avLst/>
          </a:prstGeom>
        </p:spPr>
      </p:pic>
      <p:sp>
        <p:nvSpPr>
          <p:cNvPr id="15" name="TextBox 14"/>
          <p:cNvSpPr txBox="1"/>
          <p:nvPr/>
        </p:nvSpPr>
        <p:spPr>
          <a:xfrm>
            <a:off x="1353312" y="3877056"/>
            <a:ext cx="5029200" cy="530352"/>
          </a:xfrm>
          <a:prstGeom prst="rect">
            <a:avLst/>
          </a:prstGeom>
          <a:noFill/>
        </p:spPr>
        <p:txBody>
          <a:bodyPr wrap="square" anchor="ctr" lIns="0" rIns="0" tIns="0" bIns="0">
            <a:spAutoFit/>
          </a:bodyPr>
          <a:lstStyle/>
          <a:p>
            <a:pPr algn="l">
              <a:lnSpc>
                <a:spcPct val="106000"/>
              </a:lnSpc>
              <a:spcBef>
                <a:spcPts val="0"/>
              </a:spcBef>
              <a:spcAft>
                <a:spcPts val="0"/>
              </a:spcAft>
            </a:pPr>
            <a:r>
              <a:rPr sz="1200" b="0">
                <a:solidFill>
                  <a:srgbClr val="1A1A1A"/>
                </a:solidFill>
                <a:latin typeface="Red Hat Text"/>
              </a:rPr>
              <a:t>allowedRegistriesForImport is instant — safe to toggle</a:t>
            </a:r>
          </a:p>
        </p:txBody>
      </p:sp>
      <p:sp>
        <p:nvSpPr>
          <p:cNvPr id="16" name="Rounded Rectangle 15"/>
          <p:cNvSpPr/>
          <p:nvPr/>
        </p:nvSpPr>
        <p:spPr>
          <a:xfrm>
            <a:off x="841248" y="4480560"/>
            <a:ext cx="5715000" cy="530352"/>
          </a:xfrm>
          <a:prstGeom prst="roundRect">
            <a:avLst>
              <a:gd name="adj" fmla="val 6000"/>
            </a:avLst>
          </a:prstGeom>
          <a:solidFill>
            <a:srgbClr val="F5F6F8"/>
          </a:solidFill>
          <a:ln w="12700">
            <a:solidFill>
              <a:srgbClr val="DDE1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7" name="Picture 16" descr="check_steel.png"/>
          <p:cNvPicPr>
            <a:picLocks noChangeAspect="1"/>
          </p:cNvPicPr>
          <p:nvPr/>
        </p:nvPicPr>
        <p:blipFill>
          <a:blip r:embed="rId3"/>
          <a:stretch>
            <a:fillRect/>
          </a:stretch>
        </p:blipFill>
        <p:spPr>
          <a:xfrm>
            <a:off x="987552" y="4626864"/>
            <a:ext cx="237744" cy="237744"/>
          </a:xfrm>
          <a:prstGeom prst="rect">
            <a:avLst/>
          </a:prstGeom>
        </p:spPr>
      </p:pic>
      <p:sp>
        <p:nvSpPr>
          <p:cNvPr id="18" name="TextBox 17"/>
          <p:cNvSpPr txBox="1"/>
          <p:nvPr/>
        </p:nvSpPr>
        <p:spPr>
          <a:xfrm>
            <a:off x="1353312" y="4480560"/>
            <a:ext cx="5029200" cy="530352"/>
          </a:xfrm>
          <a:prstGeom prst="rect">
            <a:avLst/>
          </a:prstGeom>
          <a:noFill/>
        </p:spPr>
        <p:txBody>
          <a:bodyPr wrap="square" anchor="ctr" lIns="0" rIns="0" tIns="0" bIns="0">
            <a:spAutoFit/>
          </a:bodyPr>
          <a:lstStyle/>
          <a:p>
            <a:pPr algn="l">
              <a:lnSpc>
                <a:spcPct val="106000"/>
              </a:lnSpc>
              <a:spcBef>
                <a:spcPts val="0"/>
              </a:spcBef>
              <a:spcAft>
                <a:spcPts val="0"/>
              </a:spcAft>
            </a:pPr>
            <a:r>
              <a:rPr sz="1200" b="0">
                <a:solidFill>
                  <a:srgbClr val="1A1A1A"/>
                </a:solidFill>
                <a:latin typeface="Red Hat Text"/>
              </a:rPr>
              <a:t>registrySources / IDMS-ITMS reboot every node — talk-through</a:t>
            </a:r>
          </a:p>
        </p:txBody>
      </p:sp>
      <p:sp>
        <p:nvSpPr>
          <p:cNvPr id="19" name="Rounded Rectangle 18"/>
          <p:cNvSpPr/>
          <p:nvPr/>
        </p:nvSpPr>
        <p:spPr>
          <a:xfrm>
            <a:off x="841248" y="5084064"/>
            <a:ext cx="5715000" cy="530352"/>
          </a:xfrm>
          <a:prstGeom prst="roundRect">
            <a:avLst>
              <a:gd name="adj" fmla="val 6000"/>
            </a:avLst>
          </a:prstGeom>
          <a:solidFill>
            <a:srgbClr val="F5F6F8"/>
          </a:solidFill>
          <a:ln w="12700">
            <a:solidFill>
              <a:srgbClr val="DDE1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0" name="Picture 19" descr="check_steel.png"/>
          <p:cNvPicPr>
            <a:picLocks noChangeAspect="1"/>
          </p:cNvPicPr>
          <p:nvPr/>
        </p:nvPicPr>
        <p:blipFill>
          <a:blip r:embed="rId3"/>
          <a:stretch>
            <a:fillRect/>
          </a:stretch>
        </p:blipFill>
        <p:spPr>
          <a:xfrm>
            <a:off x="987552" y="5230368"/>
            <a:ext cx="237744" cy="237744"/>
          </a:xfrm>
          <a:prstGeom prst="rect">
            <a:avLst/>
          </a:prstGeom>
        </p:spPr>
      </p:pic>
      <p:sp>
        <p:nvSpPr>
          <p:cNvPr id="21" name="TextBox 20"/>
          <p:cNvSpPr txBox="1"/>
          <p:nvPr/>
        </p:nvSpPr>
        <p:spPr>
          <a:xfrm>
            <a:off x="1353312" y="5084064"/>
            <a:ext cx="5029200" cy="530352"/>
          </a:xfrm>
          <a:prstGeom prst="rect">
            <a:avLst/>
          </a:prstGeom>
          <a:noFill/>
        </p:spPr>
        <p:txBody>
          <a:bodyPr wrap="square" anchor="ctr" lIns="0" rIns="0" tIns="0" bIns="0">
            <a:spAutoFit/>
          </a:bodyPr>
          <a:lstStyle/>
          <a:p>
            <a:pPr algn="l">
              <a:lnSpc>
                <a:spcPct val="106000"/>
              </a:lnSpc>
              <a:spcBef>
                <a:spcPts val="0"/>
              </a:spcBef>
              <a:spcAft>
                <a:spcPts val="0"/>
              </a:spcAft>
            </a:pPr>
            <a:r>
              <a:rPr sz="1200" b="0">
                <a:solidFill>
                  <a:srgbClr val="1A1A1A"/>
                </a:solidFill>
                <a:latin typeface="Red Hat Text"/>
              </a:rPr>
              <a:t>Nightly pruner: keep unreferenced images referenced</a:t>
            </a:r>
          </a:p>
        </p:txBody>
      </p:sp>
      <p:sp>
        <p:nvSpPr>
          <p:cNvPr id="22" name="Rounded Rectangle 21"/>
          <p:cNvSpPr/>
          <p:nvPr/>
        </p:nvSpPr>
        <p:spPr>
          <a:xfrm>
            <a:off x="6812280" y="2670048"/>
            <a:ext cx="4538167" cy="2944368"/>
          </a:xfrm>
          <a:prstGeom prst="roundRect">
            <a:avLst>
              <a:gd name="adj" fmla="val 4000"/>
            </a:avLst>
          </a:prstGeom>
          <a:solidFill>
            <a:srgbClr val="FFFFFF"/>
          </a:solidFill>
          <a:ln w="15240">
            <a:solidFill>
              <a:srgbClr val="DDE1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ounded Rectangle 22"/>
          <p:cNvSpPr/>
          <p:nvPr/>
        </p:nvSpPr>
        <p:spPr>
          <a:xfrm>
            <a:off x="7013448" y="2871216"/>
            <a:ext cx="1298448" cy="310896"/>
          </a:xfrm>
          <a:prstGeom prst="roundRect">
            <a:avLst>
              <a:gd name="adj" fmla="val 50000"/>
            </a:avLst>
          </a:prstGeom>
          <a:solidFill>
            <a:srgbClr val="FCEC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7013448" y="2871216"/>
            <a:ext cx="1298448" cy="310896"/>
          </a:xfrm>
          <a:prstGeom prst="rect">
            <a:avLst/>
          </a:prstGeom>
          <a:noFill/>
        </p:spPr>
        <p:txBody>
          <a:bodyPr wrap="none" anchor="ctr" lIns="0" rIns="0" tIns="0" bIns="0">
            <a:spAutoFit/>
          </a:bodyPr>
          <a:lstStyle/>
          <a:p>
            <a:pPr algn="ctr">
              <a:lnSpc>
                <a:spcPct val="106000"/>
              </a:lnSpc>
              <a:spcBef>
                <a:spcPts val="0"/>
              </a:spcBef>
              <a:spcAft>
                <a:spcPts val="0"/>
              </a:spcAft>
            </a:pPr>
            <a:r>
              <a:rPr sz="850" b="1">
                <a:solidFill>
                  <a:srgbClr val="B80000"/>
                </a:solidFill>
                <a:latin typeface="Red Hat Display"/>
              </a:rPr>
              <a:t>MEDIA PASS</a:t>
            </a:r>
          </a:p>
        </p:txBody>
      </p:sp>
      <p:pic>
        <p:nvPicPr>
          <p:cNvPr id="25" name="Picture 24" descr="eye_slate.png"/>
          <p:cNvPicPr>
            <a:picLocks noChangeAspect="1"/>
          </p:cNvPicPr>
          <p:nvPr/>
        </p:nvPicPr>
        <p:blipFill>
          <a:blip r:embed="rId4"/>
          <a:stretch>
            <a:fillRect/>
          </a:stretch>
        </p:blipFill>
        <p:spPr>
          <a:xfrm>
            <a:off x="8843619" y="3383280"/>
            <a:ext cx="475488" cy="475488"/>
          </a:xfrm>
          <a:prstGeom prst="rect">
            <a:avLst/>
          </a:prstGeom>
        </p:spPr>
      </p:pic>
      <p:sp>
        <p:nvSpPr>
          <p:cNvPr id="26" name="TextBox 25"/>
          <p:cNvSpPr txBox="1"/>
          <p:nvPr/>
        </p:nvSpPr>
        <p:spPr>
          <a:xfrm>
            <a:off x="7050024" y="3995928"/>
            <a:ext cx="4062679" cy="1481328"/>
          </a:xfrm>
          <a:prstGeom prst="rect">
            <a:avLst/>
          </a:prstGeom>
          <a:noFill/>
        </p:spPr>
        <p:txBody>
          <a:bodyPr wrap="square" anchor="t" lIns="0" rIns="0" tIns="0" bIns="0">
            <a:spAutoFit/>
          </a:bodyPr>
          <a:lstStyle/>
          <a:p>
            <a:pPr algn="l">
              <a:lnSpc>
                <a:spcPct val="120000"/>
              </a:lnSpc>
              <a:spcBef>
                <a:spcPts val="0"/>
              </a:spcBef>
              <a:spcAft>
                <a:spcPts val="0"/>
              </a:spcAft>
            </a:pPr>
            <a:r>
              <a:rPr sz="950" b="0">
                <a:solidFill>
                  <a:srgbClr val="8A9099"/>
                </a:solidFill>
                <a:latin typeface="Red Hat Text"/>
              </a:rPr>
              <a:t>A two-column "who runs what" table — left green "you (namespaced)", right amber "instructor (cluster-wide)" — with a small clock icon on the pruner row and a "reboots nodes" warning icon on the registrySources/IDMS row.</a:t>
            </a:r>
          </a:p>
        </p:txBody>
      </p:sp>
      <p:cxnSp>
        <p:nvCxnSpPr>
          <p:cNvPr id="27" name="Connector 26"/>
          <p:cNvCxnSpPr/>
          <p:nvPr/>
        </p:nvCxnSpPr>
        <p:spPr>
          <a:xfrm>
            <a:off x="841248" y="6437376"/>
            <a:ext cx="10509199" cy="0"/>
          </a:xfrm>
          <a:prstGeom prst="bentConnector3">
            <a:avLst/>
          </a:prstGeom>
          <a:ln w="12700">
            <a:solidFill>
              <a:srgbClr val="DDE1E6"/>
            </a:solidFill>
          </a:ln>
          <a:effectLst/>
        </p:spPr>
        <p:style>
          <a:lnRef idx="2">
            <a:schemeClr val="accent1"/>
          </a:lnRef>
          <a:fillRef idx="0">
            <a:schemeClr val="accent1"/>
          </a:fillRef>
          <a:effectRef idx="1">
            <a:schemeClr val="accent1"/>
          </a:effectRef>
          <a:fontRef idx="minor">
            <a:schemeClr val="tx1"/>
          </a:fontRef>
        </p:style>
      </p:cxnSp>
      <p:sp>
        <p:nvSpPr>
          <p:cNvPr id="28" name="TextBox 27"/>
          <p:cNvSpPr txBox="1"/>
          <p:nvPr/>
        </p:nvSpPr>
        <p:spPr>
          <a:xfrm>
            <a:off x="841248" y="6473952"/>
            <a:ext cx="7315200" cy="274320"/>
          </a:xfrm>
          <a:prstGeom prst="rect">
            <a:avLst/>
          </a:prstGeom>
          <a:noFill/>
        </p:spPr>
        <p:txBody>
          <a:bodyPr wrap="square" anchor="t" lIns="0" rIns="0" tIns="0" bIns="0">
            <a:spAutoFit/>
          </a:bodyPr>
          <a:lstStyle/>
          <a:p>
            <a:pPr algn="l">
              <a:lnSpc>
                <a:spcPct val="106000"/>
              </a:lnSpc>
              <a:spcBef>
                <a:spcPts val="0"/>
              </a:spcBef>
              <a:spcAft>
                <a:spcPts val="0"/>
              </a:spcAft>
            </a:pPr>
            <a:r>
              <a:rPr sz="950" b="0">
                <a:solidFill>
                  <a:srgbClr val="8A9099"/>
                </a:solidFill>
                <a:latin typeface="Red Hat Text"/>
              </a:rPr>
              <a:t>CONFIDENTIAL</a:t>
            </a:r>
          </a:p>
        </p:txBody>
      </p:sp>
      <p:sp>
        <p:nvSpPr>
          <p:cNvPr id="29" name="TextBox 28"/>
          <p:cNvSpPr txBox="1"/>
          <p:nvPr/>
        </p:nvSpPr>
        <p:spPr>
          <a:xfrm>
            <a:off x="10801807" y="6473952"/>
            <a:ext cx="548640" cy="274320"/>
          </a:xfrm>
          <a:prstGeom prst="rect">
            <a:avLst/>
          </a:prstGeom>
          <a:noFill/>
        </p:spPr>
        <p:txBody>
          <a:bodyPr wrap="square" anchor="t" lIns="0" rIns="0" tIns="0" bIns="0">
            <a:spAutoFit/>
          </a:bodyPr>
          <a:lstStyle/>
          <a:p>
            <a:pPr algn="r">
              <a:lnSpc>
                <a:spcPct val="106000"/>
              </a:lnSpc>
              <a:spcBef>
                <a:spcPts val="0"/>
              </a:spcBef>
              <a:spcAft>
                <a:spcPts val="0"/>
              </a:spcAft>
            </a:pPr>
            <a:r>
              <a:rPr sz="950" b="0">
                <a:solidFill>
                  <a:srgbClr val="8A9099"/>
                </a:solidFill>
                <a:latin typeface="Red Hat Text"/>
              </a:rPr>
              <a:t>133</a:t>
            </a:r>
          </a:p>
        </p:txBody>
      </p:sp>
    </p:spTree>
  </p:cSld>
  <p:clrMapOvr>
    <a:masterClrMapping/>
  </p:clrMapOvr>
</p:sld>
</file>

<file path=ppt/slides/slide15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redhat_logo.jpg"/>
          <p:cNvPicPr>
            <a:picLocks noChangeAspect="1"/>
          </p:cNvPicPr>
          <p:nvPr/>
        </p:nvPicPr>
        <p:blipFill>
          <a:blip r:embed="rId2"/>
          <a:stretch>
            <a:fillRect/>
          </a:stretch>
        </p:blipFill>
        <p:spPr>
          <a:xfrm>
            <a:off x="10326319" y="475488"/>
            <a:ext cx="1024128" cy="242248"/>
          </a:xfrm>
          <a:prstGeom prst="rect">
            <a:avLst/>
          </a:prstGeom>
        </p:spPr>
      </p:pic>
      <p:sp>
        <p:nvSpPr>
          <p:cNvPr id="3" name="TextBox 2"/>
          <p:cNvSpPr txBox="1"/>
          <p:nvPr/>
        </p:nvSpPr>
        <p:spPr>
          <a:xfrm>
            <a:off x="841248" y="548640"/>
            <a:ext cx="8595360" cy="274320"/>
          </a:xfrm>
          <a:prstGeom prst="rect">
            <a:avLst/>
          </a:prstGeom>
          <a:noFill/>
        </p:spPr>
        <p:txBody>
          <a:bodyPr wrap="square" anchor="t" lIns="0" rIns="0" tIns="0" bIns="0">
            <a:spAutoFit/>
          </a:bodyPr>
          <a:lstStyle/>
          <a:p>
            <a:pPr algn="l">
              <a:lnSpc>
                <a:spcPct val="106000"/>
              </a:lnSpc>
              <a:spcBef>
                <a:spcPts val="0"/>
              </a:spcBef>
              <a:spcAft>
                <a:spcPts val="0"/>
              </a:spcAft>
            </a:pPr>
            <a:r>
              <a:rPr sz="1250" b="1" spc="220">
                <a:solidFill>
                  <a:srgbClr val="EE0000"/>
                </a:solidFill>
                <a:latin typeface="Red Hat Display"/>
              </a:rPr>
              <a:t>M18 · REGISTRY, IMAGES &amp; CATALOG GOVERNANCE</a:t>
            </a:r>
          </a:p>
        </p:txBody>
      </p:sp>
      <p:sp>
        <p:nvSpPr>
          <p:cNvPr id="4" name="TextBox 3"/>
          <p:cNvSpPr txBox="1"/>
          <p:nvPr/>
        </p:nvSpPr>
        <p:spPr>
          <a:xfrm>
            <a:off x="841248" y="877824"/>
            <a:ext cx="10515600" cy="548640"/>
          </a:xfrm>
          <a:prstGeom prst="rect">
            <a:avLst/>
          </a:prstGeom>
          <a:noFill/>
        </p:spPr>
        <p:txBody>
          <a:bodyPr wrap="none" anchor="t" lIns="0" rIns="0" tIns="0" bIns="0">
            <a:spAutoFit/>
          </a:bodyPr>
          <a:lstStyle/>
          <a:p>
            <a:pPr algn="l">
              <a:lnSpc>
                <a:spcPct val="100000"/>
              </a:lnSpc>
              <a:spcBef>
                <a:spcPts val="0"/>
              </a:spcBef>
              <a:spcAft>
                <a:spcPts val="0"/>
              </a:spcAft>
            </a:pPr>
            <a:r>
              <a:rPr sz="2500" b="1">
                <a:solidFill>
                  <a:srgbClr val="1A1A1A"/>
                </a:solidFill>
                <a:latin typeface="Red Hat Display"/>
              </a:rPr>
              <a:t>What you'll do — and map to your org</a:t>
            </a:r>
          </a:p>
        </p:txBody>
      </p:sp>
      <p:cxnSp>
        <p:nvCxnSpPr>
          <p:cNvPr id="5" name="Connector 4"/>
          <p:cNvCxnSpPr/>
          <p:nvPr/>
        </p:nvCxnSpPr>
        <p:spPr>
          <a:xfrm>
            <a:off x="841248" y="1554480"/>
            <a:ext cx="1371600" cy="0"/>
          </a:xfrm>
          <a:prstGeom prst="bentConnector3">
            <a:avLst/>
          </a:prstGeom>
          <a:ln w="31750">
            <a:solidFill>
              <a:srgbClr val="EE0000"/>
            </a:solidFill>
          </a:ln>
          <a:effectLst/>
        </p:spPr>
        <p:style>
          <a:lnRef idx="2">
            <a:schemeClr val="accent1"/>
          </a:lnRef>
          <a:fillRef idx="0">
            <a:schemeClr val="accent1"/>
          </a:fillRef>
          <a:effectRef idx="1">
            <a:schemeClr val="accent1"/>
          </a:effectRef>
          <a:fontRef idx="minor">
            <a:schemeClr val="tx1"/>
          </a:fontRef>
        </p:style>
      </p:cxnSp>
      <p:sp>
        <p:nvSpPr>
          <p:cNvPr id="6" name="Rounded Rectangle 5"/>
          <p:cNvSpPr/>
          <p:nvPr/>
        </p:nvSpPr>
        <p:spPr>
          <a:xfrm>
            <a:off x="841248" y="2395728"/>
            <a:ext cx="5715000" cy="530352"/>
          </a:xfrm>
          <a:prstGeom prst="roundRect">
            <a:avLst>
              <a:gd name="adj" fmla="val 6000"/>
            </a:avLst>
          </a:prstGeom>
          <a:solidFill>
            <a:srgbClr val="F5F6F8"/>
          </a:solidFill>
          <a:ln w="12700">
            <a:solidFill>
              <a:srgbClr val="DDE1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check_steel.png"/>
          <p:cNvPicPr>
            <a:picLocks noChangeAspect="1"/>
          </p:cNvPicPr>
          <p:nvPr/>
        </p:nvPicPr>
        <p:blipFill>
          <a:blip r:embed="rId3"/>
          <a:stretch>
            <a:fillRect/>
          </a:stretch>
        </p:blipFill>
        <p:spPr>
          <a:xfrm>
            <a:off x="987552" y="2542032"/>
            <a:ext cx="237744" cy="237744"/>
          </a:xfrm>
          <a:prstGeom prst="rect">
            <a:avLst/>
          </a:prstGeom>
        </p:spPr>
      </p:pic>
      <p:sp>
        <p:nvSpPr>
          <p:cNvPr id="8" name="TextBox 7"/>
          <p:cNvSpPr txBox="1"/>
          <p:nvPr/>
        </p:nvSpPr>
        <p:spPr>
          <a:xfrm>
            <a:off x="1353312" y="2395728"/>
            <a:ext cx="5029200" cy="530352"/>
          </a:xfrm>
          <a:prstGeom prst="rect">
            <a:avLst/>
          </a:prstGeom>
          <a:noFill/>
        </p:spPr>
        <p:txBody>
          <a:bodyPr wrap="square" anchor="ctr" lIns="0" rIns="0" tIns="0" bIns="0">
            <a:spAutoFit/>
          </a:bodyPr>
          <a:lstStyle/>
          <a:p>
            <a:pPr algn="l">
              <a:lnSpc>
                <a:spcPct val="106000"/>
              </a:lnSpc>
              <a:spcBef>
                <a:spcPts val="0"/>
              </a:spcBef>
              <a:spcAft>
                <a:spcPts val="0"/>
              </a:spcAft>
            </a:pPr>
            <a:r>
              <a:rPr sz="1200" b="0">
                <a:solidFill>
                  <a:srgbClr val="1A1A1A"/>
                </a:solidFill>
                <a:latin typeface="Red Hat Text"/>
              </a:rPr>
              <a:t>Tour the registry; promote 1.0 → prod by digest</a:t>
            </a:r>
          </a:p>
        </p:txBody>
      </p:sp>
      <p:sp>
        <p:nvSpPr>
          <p:cNvPr id="9" name="Rounded Rectangle 8"/>
          <p:cNvSpPr/>
          <p:nvPr/>
        </p:nvSpPr>
        <p:spPr>
          <a:xfrm>
            <a:off x="841248" y="2999232"/>
            <a:ext cx="5715000" cy="530352"/>
          </a:xfrm>
          <a:prstGeom prst="roundRect">
            <a:avLst>
              <a:gd name="adj" fmla="val 6000"/>
            </a:avLst>
          </a:prstGeom>
          <a:solidFill>
            <a:srgbClr val="F5F6F8"/>
          </a:solidFill>
          <a:ln w="12700">
            <a:solidFill>
              <a:srgbClr val="DDE1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0" name="Picture 9" descr="check_steel.png"/>
          <p:cNvPicPr>
            <a:picLocks noChangeAspect="1"/>
          </p:cNvPicPr>
          <p:nvPr/>
        </p:nvPicPr>
        <p:blipFill>
          <a:blip r:embed="rId3"/>
          <a:stretch>
            <a:fillRect/>
          </a:stretch>
        </p:blipFill>
        <p:spPr>
          <a:xfrm>
            <a:off x="987552" y="3145536"/>
            <a:ext cx="237744" cy="237744"/>
          </a:xfrm>
          <a:prstGeom prst="rect">
            <a:avLst/>
          </a:prstGeom>
        </p:spPr>
      </p:pic>
      <p:sp>
        <p:nvSpPr>
          <p:cNvPr id="11" name="TextBox 10"/>
          <p:cNvSpPr txBox="1"/>
          <p:nvPr/>
        </p:nvSpPr>
        <p:spPr>
          <a:xfrm>
            <a:off x="1353312" y="2999232"/>
            <a:ext cx="5029200" cy="530352"/>
          </a:xfrm>
          <a:prstGeom prst="rect">
            <a:avLst/>
          </a:prstGeom>
          <a:noFill/>
        </p:spPr>
        <p:txBody>
          <a:bodyPr wrap="square" anchor="ctr" lIns="0" rIns="0" tIns="0" bIns="0">
            <a:spAutoFit/>
          </a:bodyPr>
          <a:lstStyle/>
          <a:p>
            <a:pPr algn="l">
              <a:lnSpc>
                <a:spcPct val="106000"/>
              </a:lnSpc>
              <a:spcBef>
                <a:spcPts val="0"/>
              </a:spcBef>
              <a:spcAft>
                <a:spcPts val="0"/>
              </a:spcAft>
            </a:pPr>
            <a:r>
              <a:rPr sz="1200" b="0">
                <a:solidFill>
                  <a:srgbClr val="1A1A1A"/>
                </a:solidFill>
                <a:latin typeface="Red Hat Text"/>
              </a:rPr>
              <a:t>Scheduled import + read a real import failure</a:t>
            </a:r>
          </a:p>
        </p:txBody>
      </p:sp>
      <p:sp>
        <p:nvSpPr>
          <p:cNvPr id="12" name="Rounded Rectangle 11"/>
          <p:cNvSpPr/>
          <p:nvPr/>
        </p:nvSpPr>
        <p:spPr>
          <a:xfrm>
            <a:off x="841248" y="3602736"/>
            <a:ext cx="5715000" cy="530352"/>
          </a:xfrm>
          <a:prstGeom prst="roundRect">
            <a:avLst>
              <a:gd name="adj" fmla="val 6000"/>
            </a:avLst>
          </a:prstGeom>
          <a:solidFill>
            <a:srgbClr val="F5F6F8"/>
          </a:solidFill>
          <a:ln w="12700">
            <a:solidFill>
              <a:srgbClr val="DDE1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3" name="Picture 12" descr="check_steel.png"/>
          <p:cNvPicPr>
            <a:picLocks noChangeAspect="1"/>
          </p:cNvPicPr>
          <p:nvPr/>
        </p:nvPicPr>
        <p:blipFill>
          <a:blip r:embed="rId3"/>
          <a:stretch>
            <a:fillRect/>
          </a:stretch>
        </p:blipFill>
        <p:spPr>
          <a:xfrm>
            <a:off x="987552" y="3749040"/>
            <a:ext cx="237744" cy="237744"/>
          </a:xfrm>
          <a:prstGeom prst="rect">
            <a:avLst/>
          </a:prstGeom>
        </p:spPr>
      </p:pic>
      <p:sp>
        <p:nvSpPr>
          <p:cNvPr id="14" name="TextBox 13"/>
          <p:cNvSpPr txBox="1"/>
          <p:nvPr/>
        </p:nvSpPr>
        <p:spPr>
          <a:xfrm>
            <a:off x="1353312" y="3602736"/>
            <a:ext cx="5029200" cy="530352"/>
          </a:xfrm>
          <a:prstGeom prst="rect">
            <a:avLst/>
          </a:prstGeom>
          <a:noFill/>
        </p:spPr>
        <p:txBody>
          <a:bodyPr wrap="square" anchor="ctr" lIns="0" rIns="0" tIns="0" bIns="0">
            <a:spAutoFit/>
          </a:bodyPr>
          <a:lstStyle/>
          <a:p>
            <a:pPr algn="l">
              <a:lnSpc>
                <a:spcPct val="106000"/>
              </a:lnSpc>
              <a:spcBef>
                <a:spcPts val="0"/>
              </a:spcBef>
              <a:spcAft>
                <a:spcPts val="0"/>
              </a:spcAft>
            </a:pPr>
            <a:r>
              <a:rPr sz="1200" b="0">
                <a:solidFill>
                  <a:srgbClr val="1A1A1A"/>
                </a:solidFill>
                <a:latin typeface="Red Hat Text"/>
              </a:rPr>
              <a:t>Wire a pull secret; publish a namespaced Template</a:t>
            </a:r>
          </a:p>
        </p:txBody>
      </p:sp>
      <p:sp>
        <p:nvSpPr>
          <p:cNvPr id="15" name="Rounded Rectangle 14"/>
          <p:cNvSpPr/>
          <p:nvPr/>
        </p:nvSpPr>
        <p:spPr>
          <a:xfrm>
            <a:off x="841248" y="4206240"/>
            <a:ext cx="5715000" cy="530352"/>
          </a:xfrm>
          <a:prstGeom prst="roundRect">
            <a:avLst>
              <a:gd name="adj" fmla="val 6000"/>
            </a:avLst>
          </a:prstGeom>
          <a:solidFill>
            <a:srgbClr val="F5F6F8"/>
          </a:solidFill>
          <a:ln w="12700">
            <a:solidFill>
              <a:srgbClr val="DDE1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6" name="Picture 15" descr="check_steel.png"/>
          <p:cNvPicPr>
            <a:picLocks noChangeAspect="1"/>
          </p:cNvPicPr>
          <p:nvPr/>
        </p:nvPicPr>
        <p:blipFill>
          <a:blip r:embed="rId3"/>
          <a:stretch>
            <a:fillRect/>
          </a:stretch>
        </p:blipFill>
        <p:spPr>
          <a:xfrm>
            <a:off x="987552" y="4352544"/>
            <a:ext cx="237744" cy="237744"/>
          </a:xfrm>
          <a:prstGeom prst="rect">
            <a:avLst/>
          </a:prstGeom>
        </p:spPr>
      </p:pic>
      <p:sp>
        <p:nvSpPr>
          <p:cNvPr id="17" name="TextBox 16"/>
          <p:cNvSpPr txBox="1"/>
          <p:nvPr/>
        </p:nvSpPr>
        <p:spPr>
          <a:xfrm>
            <a:off x="1353312" y="4206240"/>
            <a:ext cx="5029200" cy="530352"/>
          </a:xfrm>
          <a:prstGeom prst="rect">
            <a:avLst/>
          </a:prstGeom>
          <a:noFill/>
        </p:spPr>
        <p:txBody>
          <a:bodyPr wrap="square" anchor="ctr" lIns="0" rIns="0" tIns="0" bIns="0">
            <a:spAutoFit/>
          </a:bodyPr>
          <a:lstStyle/>
          <a:p>
            <a:pPr algn="l">
              <a:lnSpc>
                <a:spcPct val="106000"/>
              </a:lnSpc>
              <a:spcBef>
                <a:spcPts val="0"/>
              </a:spcBef>
              <a:spcAft>
                <a:spcPts val="0"/>
              </a:spcAft>
            </a:pPr>
            <a:r>
              <a:rPr sz="1200" b="0">
                <a:solidFill>
                  <a:srgbClr val="1A1A1A"/>
                </a:solidFill>
                <a:latin typeface="Red Hat Text"/>
              </a:rPr>
              <a:t>Read the governance surface (allowed-registries, pruner, catalog)</a:t>
            </a:r>
          </a:p>
        </p:txBody>
      </p:sp>
      <p:sp>
        <p:nvSpPr>
          <p:cNvPr id="18" name="Rounded Rectangle 17"/>
          <p:cNvSpPr/>
          <p:nvPr/>
        </p:nvSpPr>
        <p:spPr>
          <a:xfrm>
            <a:off x="841248" y="4809744"/>
            <a:ext cx="5715000" cy="530352"/>
          </a:xfrm>
          <a:prstGeom prst="roundRect">
            <a:avLst>
              <a:gd name="adj" fmla="val 6000"/>
            </a:avLst>
          </a:prstGeom>
          <a:solidFill>
            <a:srgbClr val="F5F6F8"/>
          </a:solidFill>
          <a:ln w="12700">
            <a:solidFill>
              <a:srgbClr val="DDE1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9" name="Picture 18" descr="check_steel.png"/>
          <p:cNvPicPr>
            <a:picLocks noChangeAspect="1"/>
          </p:cNvPicPr>
          <p:nvPr/>
        </p:nvPicPr>
        <p:blipFill>
          <a:blip r:embed="rId3"/>
          <a:stretch>
            <a:fillRect/>
          </a:stretch>
        </p:blipFill>
        <p:spPr>
          <a:xfrm>
            <a:off x="987552" y="4956048"/>
            <a:ext cx="237744" cy="237744"/>
          </a:xfrm>
          <a:prstGeom prst="rect">
            <a:avLst/>
          </a:prstGeom>
        </p:spPr>
      </p:pic>
      <p:sp>
        <p:nvSpPr>
          <p:cNvPr id="20" name="TextBox 19"/>
          <p:cNvSpPr txBox="1"/>
          <p:nvPr/>
        </p:nvSpPr>
        <p:spPr>
          <a:xfrm>
            <a:off x="1353312" y="4809744"/>
            <a:ext cx="5029200" cy="530352"/>
          </a:xfrm>
          <a:prstGeom prst="rect">
            <a:avLst/>
          </a:prstGeom>
          <a:noFill/>
        </p:spPr>
        <p:txBody>
          <a:bodyPr wrap="square" anchor="ctr" lIns="0" rIns="0" tIns="0" bIns="0">
            <a:spAutoFit/>
          </a:bodyPr>
          <a:lstStyle/>
          <a:p>
            <a:pPr algn="l">
              <a:lnSpc>
                <a:spcPct val="106000"/>
              </a:lnSpc>
              <a:spcBef>
                <a:spcPts val="0"/>
              </a:spcBef>
              <a:spcAft>
                <a:spcPts val="0"/>
              </a:spcAft>
            </a:pPr>
            <a:r>
              <a:rPr sz="1200" b="0">
                <a:solidFill>
                  <a:srgbClr val="1A1A1A"/>
                </a:solidFill>
                <a:latin typeface="Red Hat Text"/>
              </a:rPr>
              <a:t>When you "promote to prod," can you prove it's what you tested?</a:t>
            </a:r>
          </a:p>
        </p:txBody>
      </p:sp>
      <p:sp>
        <p:nvSpPr>
          <p:cNvPr id="21" name="Rounded Rectangle 20"/>
          <p:cNvSpPr/>
          <p:nvPr/>
        </p:nvSpPr>
        <p:spPr>
          <a:xfrm>
            <a:off x="6812280" y="2395728"/>
            <a:ext cx="4538167" cy="2944368"/>
          </a:xfrm>
          <a:prstGeom prst="roundRect">
            <a:avLst>
              <a:gd name="adj" fmla="val 4000"/>
            </a:avLst>
          </a:prstGeom>
          <a:solidFill>
            <a:srgbClr val="FFFFFF"/>
          </a:solidFill>
          <a:ln w="15240">
            <a:solidFill>
              <a:srgbClr val="DDE1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ounded Rectangle 21"/>
          <p:cNvSpPr/>
          <p:nvPr/>
        </p:nvSpPr>
        <p:spPr>
          <a:xfrm>
            <a:off x="7013448" y="2596896"/>
            <a:ext cx="1298448" cy="310896"/>
          </a:xfrm>
          <a:prstGeom prst="roundRect">
            <a:avLst>
              <a:gd name="adj" fmla="val 50000"/>
            </a:avLst>
          </a:prstGeom>
          <a:solidFill>
            <a:srgbClr val="FCEC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7013448" y="2596896"/>
            <a:ext cx="1298448" cy="310896"/>
          </a:xfrm>
          <a:prstGeom prst="rect">
            <a:avLst/>
          </a:prstGeom>
          <a:noFill/>
        </p:spPr>
        <p:txBody>
          <a:bodyPr wrap="none" anchor="ctr" lIns="0" rIns="0" tIns="0" bIns="0">
            <a:spAutoFit/>
          </a:bodyPr>
          <a:lstStyle/>
          <a:p>
            <a:pPr algn="ctr">
              <a:lnSpc>
                <a:spcPct val="106000"/>
              </a:lnSpc>
              <a:spcBef>
                <a:spcPts val="0"/>
              </a:spcBef>
              <a:spcAft>
                <a:spcPts val="0"/>
              </a:spcAft>
            </a:pPr>
            <a:r>
              <a:rPr sz="850" b="1">
                <a:solidFill>
                  <a:srgbClr val="B80000"/>
                </a:solidFill>
                <a:latin typeface="Red Hat Display"/>
              </a:rPr>
              <a:t>MEDIA PASS</a:t>
            </a:r>
          </a:p>
        </p:txBody>
      </p:sp>
      <p:pic>
        <p:nvPicPr>
          <p:cNvPr id="24" name="Picture 23" descr="eye_slate.png"/>
          <p:cNvPicPr>
            <a:picLocks noChangeAspect="1"/>
          </p:cNvPicPr>
          <p:nvPr/>
        </p:nvPicPr>
        <p:blipFill>
          <a:blip r:embed="rId4"/>
          <a:stretch>
            <a:fillRect/>
          </a:stretch>
        </p:blipFill>
        <p:spPr>
          <a:xfrm>
            <a:off x="8843619" y="3108960"/>
            <a:ext cx="475488" cy="475488"/>
          </a:xfrm>
          <a:prstGeom prst="rect">
            <a:avLst/>
          </a:prstGeom>
        </p:spPr>
      </p:pic>
      <p:sp>
        <p:nvSpPr>
          <p:cNvPr id="25" name="TextBox 24"/>
          <p:cNvSpPr txBox="1"/>
          <p:nvPr/>
        </p:nvSpPr>
        <p:spPr>
          <a:xfrm>
            <a:off x="7050024" y="3721608"/>
            <a:ext cx="4062679" cy="1481328"/>
          </a:xfrm>
          <a:prstGeom prst="rect">
            <a:avLst/>
          </a:prstGeom>
          <a:noFill/>
        </p:spPr>
        <p:txBody>
          <a:bodyPr wrap="square" anchor="t" lIns="0" rIns="0" tIns="0" bIns="0">
            <a:spAutoFit/>
          </a:bodyPr>
          <a:lstStyle/>
          <a:p>
            <a:pPr algn="l">
              <a:lnSpc>
                <a:spcPct val="120000"/>
              </a:lnSpc>
              <a:spcBef>
                <a:spcPts val="0"/>
              </a:spcBef>
              <a:spcAft>
                <a:spcPts val="0"/>
              </a:spcAft>
            </a:pPr>
            <a:r>
              <a:rPr sz="950" b="0">
                <a:solidFill>
                  <a:srgbClr val="8A9099"/>
                </a:solidFill>
                <a:latin typeface="Red Hat Text"/>
              </a:rPr>
              <a:t>Numbered arc strip: tour → promote-by-digest → scheduled import (break-fix) → pull secret → namespaced Template → read governance; footnote pointers to Trusted Software Supply Chain (signatures) and Ways to Build &amp; Deliver Apps (the catalog this governs).</a:t>
            </a:r>
          </a:p>
        </p:txBody>
      </p:sp>
      <p:cxnSp>
        <p:nvCxnSpPr>
          <p:cNvPr id="26" name="Connector 25"/>
          <p:cNvCxnSpPr/>
          <p:nvPr/>
        </p:nvCxnSpPr>
        <p:spPr>
          <a:xfrm>
            <a:off x="841248" y="6437376"/>
            <a:ext cx="10509199" cy="0"/>
          </a:xfrm>
          <a:prstGeom prst="bentConnector3">
            <a:avLst/>
          </a:prstGeom>
          <a:ln w="12700">
            <a:solidFill>
              <a:srgbClr val="DDE1E6"/>
            </a:solidFill>
          </a:ln>
          <a:effectLst/>
        </p:spPr>
        <p:style>
          <a:lnRef idx="2">
            <a:schemeClr val="accent1"/>
          </a:lnRef>
          <a:fillRef idx="0">
            <a:schemeClr val="accent1"/>
          </a:fillRef>
          <a:effectRef idx="1">
            <a:schemeClr val="accent1"/>
          </a:effectRef>
          <a:fontRef idx="minor">
            <a:schemeClr val="tx1"/>
          </a:fontRef>
        </p:style>
      </p:cxnSp>
      <p:sp>
        <p:nvSpPr>
          <p:cNvPr id="27" name="TextBox 26"/>
          <p:cNvSpPr txBox="1"/>
          <p:nvPr/>
        </p:nvSpPr>
        <p:spPr>
          <a:xfrm>
            <a:off x="841248" y="6473952"/>
            <a:ext cx="7315200" cy="274320"/>
          </a:xfrm>
          <a:prstGeom prst="rect">
            <a:avLst/>
          </a:prstGeom>
          <a:noFill/>
        </p:spPr>
        <p:txBody>
          <a:bodyPr wrap="square" anchor="t" lIns="0" rIns="0" tIns="0" bIns="0">
            <a:spAutoFit/>
          </a:bodyPr>
          <a:lstStyle/>
          <a:p>
            <a:pPr algn="l">
              <a:lnSpc>
                <a:spcPct val="106000"/>
              </a:lnSpc>
              <a:spcBef>
                <a:spcPts val="0"/>
              </a:spcBef>
              <a:spcAft>
                <a:spcPts val="0"/>
              </a:spcAft>
            </a:pPr>
            <a:r>
              <a:rPr sz="950" b="0">
                <a:solidFill>
                  <a:srgbClr val="8A9099"/>
                </a:solidFill>
                <a:latin typeface="Red Hat Text"/>
              </a:rPr>
              <a:t>CONFIDENTIAL</a:t>
            </a:r>
          </a:p>
        </p:txBody>
      </p:sp>
      <p:sp>
        <p:nvSpPr>
          <p:cNvPr id="28" name="TextBox 27"/>
          <p:cNvSpPr txBox="1"/>
          <p:nvPr/>
        </p:nvSpPr>
        <p:spPr>
          <a:xfrm>
            <a:off x="10801807" y="6473952"/>
            <a:ext cx="548640" cy="274320"/>
          </a:xfrm>
          <a:prstGeom prst="rect">
            <a:avLst/>
          </a:prstGeom>
          <a:noFill/>
        </p:spPr>
        <p:txBody>
          <a:bodyPr wrap="square" anchor="t" lIns="0" rIns="0" tIns="0" bIns="0">
            <a:spAutoFit/>
          </a:bodyPr>
          <a:lstStyle/>
          <a:p>
            <a:pPr algn="r">
              <a:lnSpc>
                <a:spcPct val="106000"/>
              </a:lnSpc>
              <a:spcBef>
                <a:spcPts val="0"/>
              </a:spcBef>
              <a:spcAft>
                <a:spcPts val="0"/>
              </a:spcAft>
            </a:pPr>
            <a:r>
              <a:rPr sz="950" b="0">
                <a:solidFill>
                  <a:srgbClr val="8A9099"/>
                </a:solidFill>
                <a:latin typeface="Red Hat Text"/>
              </a:rPr>
              <a:t>134</a:t>
            </a:r>
          </a:p>
        </p:txBody>
      </p:sp>
    </p:spTree>
  </p:cSld>
  <p:clrMapOvr>
    <a:masterClrMapping/>
  </p:clrMapOvr>
</p:sld>
</file>

<file path=ppt/slides/slide15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redhat_logo.jpg"/>
          <p:cNvPicPr>
            <a:picLocks noChangeAspect="1"/>
          </p:cNvPicPr>
          <p:nvPr/>
        </p:nvPicPr>
        <p:blipFill>
          <a:blip r:embed="rId2"/>
          <a:stretch>
            <a:fillRect/>
          </a:stretch>
        </p:blipFill>
        <p:spPr>
          <a:xfrm>
            <a:off x="841248" y="731520"/>
            <a:ext cx="1554480" cy="367699"/>
          </a:xfrm>
          <a:prstGeom prst="rect">
            <a:avLst/>
          </a:prstGeom>
        </p:spPr>
      </p:pic>
      <p:sp>
        <p:nvSpPr>
          <p:cNvPr id="3" name="TextBox 2"/>
          <p:cNvSpPr txBox="1"/>
          <p:nvPr/>
        </p:nvSpPr>
        <p:spPr>
          <a:xfrm>
            <a:off x="841248" y="2514600"/>
            <a:ext cx="9601200" cy="274320"/>
          </a:xfrm>
          <a:prstGeom prst="rect">
            <a:avLst/>
          </a:prstGeom>
          <a:noFill/>
        </p:spPr>
        <p:txBody>
          <a:bodyPr wrap="square" anchor="t" lIns="0" rIns="0" tIns="0" bIns="0">
            <a:spAutoFit/>
          </a:bodyPr>
          <a:lstStyle/>
          <a:p>
            <a:pPr algn="l">
              <a:lnSpc>
                <a:spcPct val="106000"/>
              </a:lnSpc>
              <a:spcBef>
                <a:spcPts val="0"/>
              </a:spcBef>
              <a:spcAft>
                <a:spcPts val="0"/>
              </a:spcAft>
            </a:pPr>
            <a:r>
              <a:rPr sz="1250" b="1" spc="180">
                <a:solidFill>
                  <a:srgbClr val="5B3E8E"/>
                </a:solidFill>
                <a:latin typeface="Red Hat Display"/>
              </a:rPr>
              <a:t>D · ADVANCED ELECTIVES</a:t>
            </a:r>
          </a:p>
        </p:txBody>
      </p:sp>
      <p:sp>
        <p:nvSpPr>
          <p:cNvPr id="4" name="TextBox 3"/>
          <p:cNvSpPr txBox="1"/>
          <p:nvPr/>
        </p:nvSpPr>
        <p:spPr>
          <a:xfrm>
            <a:off x="841248" y="2880360"/>
            <a:ext cx="2103120" cy="1188720"/>
          </a:xfrm>
          <a:prstGeom prst="rect">
            <a:avLst/>
          </a:prstGeom>
          <a:noFill/>
        </p:spPr>
        <p:txBody>
          <a:bodyPr wrap="none" anchor="t" lIns="0" rIns="0" tIns="0" bIns="0">
            <a:spAutoFit/>
          </a:bodyPr>
          <a:lstStyle/>
          <a:p>
            <a:pPr algn="l">
              <a:lnSpc>
                <a:spcPct val="90000"/>
              </a:lnSpc>
              <a:spcBef>
                <a:spcPts val="0"/>
              </a:spcBef>
              <a:spcAft>
                <a:spcPts val="0"/>
              </a:spcAft>
            </a:pPr>
            <a:r>
              <a:rPr sz="5200" b="1">
                <a:solidFill>
                  <a:srgbClr val="B80000"/>
                </a:solidFill>
                <a:latin typeface="Red Hat Display"/>
              </a:rPr>
              <a:t>M19</a:t>
            </a:r>
          </a:p>
        </p:txBody>
      </p:sp>
      <p:sp>
        <p:nvSpPr>
          <p:cNvPr id="5" name="TextBox 4"/>
          <p:cNvSpPr txBox="1"/>
          <p:nvPr/>
        </p:nvSpPr>
        <p:spPr>
          <a:xfrm>
            <a:off x="3127248" y="2971800"/>
            <a:ext cx="8412480" cy="1188720"/>
          </a:xfrm>
          <a:prstGeom prst="rect">
            <a:avLst/>
          </a:prstGeom>
          <a:noFill/>
        </p:spPr>
        <p:txBody>
          <a:bodyPr wrap="square" anchor="t" lIns="0" rIns="0" tIns="0" bIns="0">
            <a:spAutoFit/>
          </a:bodyPr>
          <a:lstStyle/>
          <a:p>
            <a:pPr algn="l">
              <a:lnSpc>
                <a:spcPct val="102000"/>
              </a:lnSpc>
              <a:spcBef>
                <a:spcPts val="0"/>
              </a:spcBef>
              <a:spcAft>
                <a:spcPts val="0"/>
              </a:spcAft>
            </a:pPr>
            <a:r>
              <a:rPr sz="3000" b="1">
                <a:solidFill>
                  <a:srgbClr val="1A1A1A"/>
                </a:solidFill>
                <a:latin typeface="Red Hat Display"/>
              </a:rPr>
              <a:t>Service Mesh 3 &amp; Advanced Gateways</a:t>
            </a:r>
          </a:p>
        </p:txBody>
      </p:sp>
      <p:cxnSp>
        <p:nvCxnSpPr>
          <p:cNvPr id="6" name="Connector 5"/>
          <p:cNvCxnSpPr/>
          <p:nvPr/>
        </p:nvCxnSpPr>
        <p:spPr>
          <a:xfrm>
            <a:off x="841248" y="4443984"/>
            <a:ext cx="1463040" cy="0"/>
          </a:xfrm>
          <a:prstGeom prst="bentConnector3">
            <a:avLst/>
          </a:prstGeom>
          <a:ln w="38100">
            <a:solidFill>
              <a:srgbClr val="EE0000"/>
            </a:solidFill>
          </a:ln>
          <a:effectLst/>
        </p:spPr>
        <p:style>
          <a:lnRef idx="2">
            <a:schemeClr val="accent1"/>
          </a:lnRef>
          <a:fillRef idx="0">
            <a:schemeClr val="accent1"/>
          </a:fillRef>
          <a:effectRef idx="1">
            <a:schemeClr val="accent1"/>
          </a:effectRef>
          <a:fontRef idx="minor">
            <a:schemeClr val="tx1"/>
          </a:fontRef>
        </p:style>
      </p:cxnSp>
    </p:spTree>
  </p:cSld>
  <p:clrMapOvr>
    <a:masterClrMapping/>
  </p:clrMapOvr>
</p:sld>
</file>

<file path=ppt/slides/slide15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redhat_logo.jpg"/>
          <p:cNvPicPr>
            <a:picLocks noChangeAspect="1"/>
          </p:cNvPicPr>
          <p:nvPr/>
        </p:nvPicPr>
        <p:blipFill>
          <a:blip r:embed="rId2"/>
          <a:stretch>
            <a:fillRect/>
          </a:stretch>
        </p:blipFill>
        <p:spPr>
          <a:xfrm>
            <a:off x="10326319" y="475488"/>
            <a:ext cx="1024128" cy="242248"/>
          </a:xfrm>
          <a:prstGeom prst="rect">
            <a:avLst/>
          </a:prstGeom>
        </p:spPr>
      </p:pic>
      <p:sp>
        <p:nvSpPr>
          <p:cNvPr id="3" name="TextBox 2"/>
          <p:cNvSpPr txBox="1"/>
          <p:nvPr/>
        </p:nvSpPr>
        <p:spPr>
          <a:xfrm>
            <a:off x="841248" y="548640"/>
            <a:ext cx="8595360" cy="274320"/>
          </a:xfrm>
          <a:prstGeom prst="rect">
            <a:avLst/>
          </a:prstGeom>
          <a:noFill/>
        </p:spPr>
        <p:txBody>
          <a:bodyPr wrap="square" anchor="t" lIns="0" rIns="0" tIns="0" bIns="0">
            <a:spAutoFit/>
          </a:bodyPr>
          <a:lstStyle/>
          <a:p>
            <a:pPr algn="l">
              <a:lnSpc>
                <a:spcPct val="106000"/>
              </a:lnSpc>
              <a:spcBef>
                <a:spcPts val="0"/>
              </a:spcBef>
              <a:spcAft>
                <a:spcPts val="0"/>
              </a:spcAft>
            </a:pPr>
            <a:r>
              <a:rPr sz="1250" b="1" spc="220">
                <a:solidFill>
                  <a:srgbClr val="EE0000"/>
                </a:solidFill>
                <a:latin typeface="Red Hat Display"/>
              </a:rPr>
              <a:t>M19 · SERVICE MESH 3 &amp; ADVANCED GATEWAYS</a:t>
            </a:r>
          </a:p>
        </p:txBody>
      </p:sp>
      <p:sp>
        <p:nvSpPr>
          <p:cNvPr id="4" name="TextBox 3"/>
          <p:cNvSpPr txBox="1"/>
          <p:nvPr/>
        </p:nvSpPr>
        <p:spPr>
          <a:xfrm>
            <a:off x="841248" y="877824"/>
            <a:ext cx="10515600" cy="548640"/>
          </a:xfrm>
          <a:prstGeom prst="rect">
            <a:avLst/>
          </a:prstGeom>
          <a:noFill/>
        </p:spPr>
        <p:txBody>
          <a:bodyPr wrap="none" anchor="t" lIns="0" rIns="0" tIns="0" bIns="0">
            <a:spAutoFit/>
          </a:bodyPr>
          <a:lstStyle/>
          <a:p>
            <a:pPr algn="l">
              <a:lnSpc>
                <a:spcPct val="100000"/>
              </a:lnSpc>
              <a:spcBef>
                <a:spcPts val="0"/>
              </a:spcBef>
              <a:spcAft>
                <a:spcPts val="0"/>
              </a:spcAft>
            </a:pPr>
            <a:r>
              <a:rPr sz="2500" b="1">
                <a:solidFill>
                  <a:srgbClr val="1A1A1A"/>
                </a:solidFill>
                <a:latin typeface="Red Hat Display"/>
              </a:rPr>
              <a:t>One slow service shouldn't take down the</a:t>
            </a:r>
          </a:p>
        </p:txBody>
      </p:sp>
      <p:cxnSp>
        <p:nvCxnSpPr>
          <p:cNvPr id="5" name="Connector 4"/>
          <p:cNvCxnSpPr/>
          <p:nvPr/>
        </p:nvCxnSpPr>
        <p:spPr>
          <a:xfrm>
            <a:off x="841248" y="1554480"/>
            <a:ext cx="1371600" cy="0"/>
          </a:xfrm>
          <a:prstGeom prst="bentConnector3">
            <a:avLst/>
          </a:prstGeom>
          <a:ln w="31750">
            <a:solidFill>
              <a:srgbClr val="EE0000"/>
            </a:solidFill>
          </a:ln>
          <a:effectLst/>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841248" y="1664208"/>
            <a:ext cx="10515600" cy="365760"/>
          </a:xfrm>
          <a:prstGeom prst="rect">
            <a:avLst/>
          </a:prstGeom>
          <a:noFill/>
        </p:spPr>
        <p:txBody>
          <a:bodyPr wrap="square" anchor="t" lIns="0" rIns="0" tIns="0" bIns="0">
            <a:spAutoFit/>
          </a:bodyPr>
          <a:lstStyle/>
          <a:p>
            <a:pPr algn="l">
              <a:lnSpc>
                <a:spcPct val="106000"/>
              </a:lnSpc>
              <a:spcBef>
                <a:spcPts val="0"/>
              </a:spcBef>
              <a:spcAft>
                <a:spcPts val="0"/>
              </a:spcAft>
            </a:pPr>
            <a:r>
              <a:rPr sz="1350" b="0">
                <a:solidFill>
                  <a:srgbClr val="555960"/>
                </a:solidFill>
                <a:latin typeface="Red Hat Text"/>
              </a:rPr>
              <a:t>site</a:t>
            </a:r>
          </a:p>
        </p:txBody>
      </p:sp>
      <p:sp>
        <p:nvSpPr>
          <p:cNvPr id="7" name="Rounded Rectangle 6"/>
          <p:cNvSpPr/>
          <p:nvPr/>
        </p:nvSpPr>
        <p:spPr>
          <a:xfrm>
            <a:off x="841248" y="2670048"/>
            <a:ext cx="5715000" cy="530352"/>
          </a:xfrm>
          <a:prstGeom prst="roundRect">
            <a:avLst>
              <a:gd name="adj" fmla="val 6000"/>
            </a:avLst>
          </a:prstGeom>
          <a:solidFill>
            <a:srgbClr val="F5F6F8"/>
          </a:solidFill>
          <a:ln w="12700">
            <a:solidFill>
              <a:srgbClr val="DDE1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check_steel.png"/>
          <p:cNvPicPr>
            <a:picLocks noChangeAspect="1"/>
          </p:cNvPicPr>
          <p:nvPr/>
        </p:nvPicPr>
        <p:blipFill>
          <a:blip r:embed="rId3"/>
          <a:stretch>
            <a:fillRect/>
          </a:stretch>
        </p:blipFill>
        <p:spPr>
          <a:xfrm>
            <a:off x="987552" y="2816352"/>
            <a:ext cx="237744" cy="237744"/>
          </a:xfrm>
          <a:prstGeom prst="rect">
            <a:avLst/>
          </a:prstGeom>
        </p:spPr>
      </p:pic>
      <p:sp>
        <p:nvSpPr>
          <p:cNvPr id="9" name="TextBox 8"/>
          <p:cNvSpPr txBox="1"/>
          <p:nvPr/>
        </p:nvSpPr>
        <p:spPr>
          <a:xfrm>
            <a:off x="1353312" y="2670048"/>
            <a:ext cx="5029200" cy="530352"/>
          </a:xfrm>
          <a:prstGeom prst="rect">
            <a:avLst/>
          </a:prstGeom>
          <a:noFill/>
        </p:spPr>
        <p:txBody>
          <a:bodyPr wrap="square" anchor="ctr" lIns="0" rIns="0" tIns="0" bIns="0">
            <a:spAutoFit/>
          </a:bodyPr>
          <a:lstStyle/>
          <a:p>
            <a:pPr algn="l">
              <a:lnSpc>
                <a:spcPct val="106000"/>
              </a:lnSpc>
              <a:spcBef>
                <a:spcPts val="0"/>
              </a:spcBef>
              <a:spcAft>
                <a:spcPts val="0"/>
              </a:spcAft>
            </a:pPr>
            <a:r>
              <a:rPr sz="1200" b="0">
                <a:solidFill>
                  <a:srgbClr val="1A1A1A"/>
                </a:solidFill>
                <a:latin typeface="Red Hat Text"/>
              </a:rPr>
              <a:t>Parasol's chain: web → claims → fraud-scoring</a:t>
            </a:r>
          </a:p>
        </p:txBody>
      </p:sp>
      <p:sp>
        <p:nvSpPr>
          <p:cNvPr id="10" name="Rounded Rectangle 9"/>
          <p:cNvSpPr/>
          <p:nvPr/>
        </p:nvSpPr>
        <p:spPr>
          <a:xfrm>
            <a:off x="841248" y="3273552"/>
            <a:ext cx="5715000" cy="530352"/>
          </a:xfrm>
          <a:prstGeom prst="roundRect">
            <a:avLst>
              <a:gd name="adj" fmla="val 6000"/>
            </a:avLst>
          </a:prstGeom>
          <a:solidFill>
            <a:srgbClr val="F5F6F8"/>
          </a:solidFill>
          <a:ln w="12700">
            <a:solidFill>
              <a:srgbClr val="DDE1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1" name="Picture 10" descr="check_steel.png"/>
          <p:cNvPicPr>
            <a:picLocks noChangeAspect="1"/>
          </p:cNvPicPr>
          <p:nvPr/>
        </p:nvPicPr>
        <p:blipFill>
          <a:blip r:embed="rId3"/>
          <a:stretch>
            <a:fillRect/>
          </a:stretch>
        </p:blipFill>
        <p:spPr>
          <a:xfrm>
            <a:off x="987552" y="3419856"/>
            <a:ext cx="237744" cy="237744"/>
          </a:xfrm>
          <a:prstGeom prst="rect">
            <a:avLst/>
          </a:prstGeom>
        </p:spPr>
      </p:pic>
      <p:sp>
        <p:nvSpPr>
          <p:cNvPr id="12" name="TextBox 11"/>
          <p:cNvSpPr txBox="1"/>
          <p:nvPr/>
        </p:nvSpPr>
        <p:spPr>
          <a:xfrm>
            <a:off x="1353312" y="3273552"/>
            <a:ext cx="5029200" cy="530352"/>
          </a:xfrm>
          <a:prstGeom prst="rect">
            <a:avLst/>
          </a:prstGeom>
          <a:noFill/>
        </p:spPr>
        <p:txBody>
          <a:bodyPr wrap="square" anchor="ctr" lIns="0" rIns="0" tIns="0" bIns="0">
            <a:spAutoFit/>
          </a:bodyPr>
          <a:lstStyle/>
          <a:p>
            <a:pPr algn="l">
              <a:lnSpc>
                <a:spcPct val="106000"/>
              </a:lnSpc>
              <a:spcBef>
                <a:spcPts val="0"/>
              </a:spcBef>
              <a:spcAft>
                <a:spcPts val="0"/>
              </a:spcAft>
            </a:pPr>
            <a:r>
              <a:rPr sz="1200" b="0">
                <a:solidFill>
                  <a:srgbClr val="1A1A1A"/>
                </a:solidFill>
                <a:latin typeface="Red Hat Text"/>
              </a:rPr>
              <a:t>Fraud hangs → claims threads pile up → web stalls → outage</a:t>
            </a:r>
          </a:p>
        </p:txBody>
      </p:sp>
      <p:sp>
        <p:nvSpPr>
          <p:cNvPr id="13" name="Rounded Rectangle 12"/>
          <p:cNvSpPr/>
          <p:nvPr/>
        </p:nvSpPr>
        <p:spPr>
          <a:xfrm>
            <a:off x="841248" y="3877056"/>
            <a:ext cx="5715000" cy="530352"/>
          </a:xfrm>
          <a:prstGeom prst="roundRect">
            <a:avLst>
              <a:gd name="adj" fmla="val 6000"/>
            </a:avLst>
          </a:prstGeom>
          <a:solidFill>
            <a:srgbClr val="F5F6F8"/>
          </a:solidFill>
          <a:ln w="12700">
            <a:solidFill>
              <a:srgbClr val="DDE1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4" name="Picture 13" descr="check_steel.png"/>
          <p:cNvPicPr>
            <a:picLocks noChangeAspect="1"/>
          </p:cNvPicPr>
          <p:nvPr/>
        </p:nvPicPr>
        <p:blipFill>
          <a:blip r:embed="rId3"/>
          <a:stretch>
            <a:fillRect/>
          </a:stretch>
        </p:blipFill>
        <p:spPr>
          <a:xfrm>
            <a:off x="987552" y="4023360"/>
            <a:ext cx="237744" cy="237744"/>
          </a:xfrm>
          <a:prstGeom prst="rect">
            <a:avLst/>
          </a:prstGeom>
        </p:spPr>
      </p:pic>
      <p:sp>
        <p:nvSpPr>
          <p:cNvPr id="15" name="TextBox 14"/>
          <p:cNvSpPr txBox="1"/>
          <p:nvPr/>
        </p:nvSpPr>
        <p:spPr>
          <a:xfrm>
            <a:off x="1353312" y="3877056"/>
            <a:ext cx="5029200" cy="530352"/>
          </a:xfrm>
          <a:prstGeom prst="rect">
            <a:avLst/>
          </a:prstGeom>
          <a:noFill/>
        </p:spPr>
        <p:txBody>
          <a:bodyPr wrap="square" anchor="ctr" lIns="0" rIns="0" tIns="0" bIns="0">
            <a:spAutoFit/>
          </a:bodyPr>
          <a:lstStyle/>
          <a:p>
            <a:pPr algn="l">
              <a:lnSpc>
                <a:spcPct val="106000"/>
              </a:lnSpc>
              <a:spcBef>
                <a:spcPts val="0"/>
              </a:spcBef>
              <a:spcAft>
                <a:spcPts val="0"/>
              </a:spcAft>
            </a:pPr>
            <a:r>
              <a:rPr sz="1200" b="0">
                <a:solidFill>
                  <a:srgbClr val="1A1A1A"/>
                </a:solidFill>
                <a:latin typeface="Red Hat Text"/>
              </a:rPr>
              <a:t>Every link needs the same things: encrypt, see, route, retry, authorize</a:t>
            </a:r>
          </a:p>
        </p:txBody>
      </p:sp>
      <p:sp>
        <p:nvSpPr>
          <p:cNvPr id="16" name="Rounded Rectangle 15"/>
          <p:cNvSpPr/>
          <p:nvPr/>
        </p:nvSpPr>
        <p:spPr>
          <a:xfrm>
            <a:off x="841248" y="4480560"/>
            <a:ext cx="5715000" cy="530352"/>
          </a:xfrm>
          <a:prstGeom prst="roundRect">
            <a:avLst>
              <a:gd name="adj" fmla="val 6000"/>
            </a:avLst>
          </a:prstGeom>
          <a:solidFill>
            <a:srgbClr val="F5F6F8"/>
          </a:solidFill>
          <a:ln w="12700">
            <a:solidFill>
              <a:srgbClr val="DDE1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7" name="Picture 16" descr="check_steel.png"/>
          <p:cNvPicPr>
            <a:picLocks noChangeAspect="1"/>
          </p:cNvPicPr>
          <p:nvPr/>
        </p:nvPicPr>
        <p:blipFill>
          <a:blip r:embed="rId3"/>
          <a:stretch>
            <a:fillRect/>
          </a:stretch>
        </p:blipFill>
        <p:spPr>
          <a:xfrm>
            <a:off x="987552" y="4626864"/>
            <a:ext cx="237744" cy="237744"/>
          </a:xfrm>
          <a:prstGeom prst="rect">
            <a:avLst/>
          </a:prstGeom>
        </p:spPr>
      </p:pic>
      <p:sp>
        <p:nvSpPr>
          <p:cNvPr id="18" name="TextBox 17"/>
          <p:cNvSpPr txBox="1"/>
          <p:nvPr/>
        </p:nvSpPr>
        <p:spPr>
          <a:xfrm>
            <a:off x="1353312" y="4480560"/>
            <a:ext cx="5029200" cy="530352"/>
          </a:xfrm>
          <a:prstGeom prst="rect">
            <a:avLst/>
          </a:prstGeom>
          <a:noFill/>
        </p:spPr>
        <p:txBody>
          <a:bodyPr wrap="square" anchor="ctr" lIns="0" rIns="0" tIns="0" bIns="0">
            <a:spAutoFit/>
          </a:bodyPr>
          <a:lstStyle/>
          <a:p>
            <a:pPr algn="l">
              <a:lnSpc>
                <a:spcPct val="106000"/>
              </a:lnSpc>
              <a:spcBef>
                <a:spcPts val="0"/>
              </a:spcBef>
              <a:spcAft>
                <a:spcPts val="0"/>
              </a:spcAft>
            </a:pPr>
            <a:r>
              <a:rPr sz="1200" b="0">
                <a:solidFill>
                  <a:srgbClr val="1A1A1A"/>
                </a:solidFill>
                <a:latin typeface="Red Hat Text"/>
              </a:rPr>
              <a:t>Without a mesh, that's app code — per team, per language, per bug</a:t>
            </a:r>
          </a:p>
        </p:txBody>
      </p:sp>
      <p:sp>
        <p:nvSpPr>
          <p:cNvPr id="19" name="Rounded Rectangle 18"/>
          <p:cNvSpPr/>
          <p:nvPr/>
        </p:nvSpPr>
        <p:spPr>
          <a:xfrm>
            <a:off x="841248" y="5084064"/>
            <a:ext cx="5715000" cy="530352"/>
          </a:xfrm>
          <a:prstGeom prst="roundRect">
            <a:avLst>
              <a:gd name="adj" fmla="val 6000"/>
            </a:avLst>
          </a:prstGeom>
          <a:solidFill>
            <a:srgbClr val="F5F6F8"/>
          </a:solidFill>
          <a:ln w="12700">
            <a:solidFill>
              <a:srgbClr val="DDE1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0" name="Picture 19" descr="check_steel.png"/>
          <p:cNvPicPr>
            <a:picLocks noChangeAspect="1"/>
          </p:cNvPicPr>
          <p:nvPr/>
        </p:nvPicPr>
        <p:blipFill>
          <a:blip r:embed="rId3"/>
          <a:stretch>
            <a:fillRect/>
          </a:stretch>
        </p:blipFill>
        <p:spPr>
          <a:xfrm>
            <a:off x="987552" y="5230368"/>
            <a:ext cx="237744" cy="237744"/>
          </a:xfrm>
          <a:prstGeom prst="rect">
            <a:avLst/>
          </a:prstGeom>
        </p:spPr>
      </p:pic>
      <p:sp>
        <p:nvSpPr>
          <p:cNvPr id="21" name="TextBox 20"/>
          <p:cNvSpPr txBox="1"/>
          <p:nvPr/>
        </p:nvSpPr>
        <p:spPr>
          <a:xfrm>
            <a:off x="1353312" y="5084064"/>
            <a:ext cx="5029200" cy="530352"/>
          </a:xfrm>
          <a:prstGeom prst="rect">
            <a:avLst/>
          </a:prstGeom>
          <a:noFill/>
        </p:spPr>
        <p:txBody>
          <a:bodyPr wrap="square" anchor="ctr" lIns="0" rIns="0" tIns="0" bIns="0">
            <a:spAutoFit/>
          </a:bodyPr>
          <a:lstStyle/>
          <a:p>
            <a:pPr algn="l">
              <a:lnSpc>
                <a:spcPct val="106000"/>
              </a:lnSpc>
              <a:spcBef>
                <a:spcPts val="0"/>
              </a:spcBef>
              <a:spcAft>
                <a:spcPts val="0"/>
              </a:spcAft>
            </a:pPr>
            <a:r>
              <a:rPr sz="1200" b="0">
                <a:solidFill>
                  <a:srgbClr val="1A1A1A"/>
                </a:solidFill>
                <a:latin typeface="Red Hat Text"/>
              </a:rPr>
              <a:t>A mesh moves it into a proxy beside every workload</a:t>
            </a:r>
          </a:p>
        </p:txBody>
      </p:sp>
      <p:sp>
        <p:nvSpPr>
          <p:cNvPr id="22" name="Rounded Rectangle 21"/>
          <p:cNvSpPr/>
          <p:nvPr/>
        </p:nvSpPr>
        <p:spPr>
          <a:xfrm>
            <a:off x="6812280" y="2670048"/>
            <a:ext cx="4538167" cy="2944368"/>
          </a:xfrm>
          <a:prstGeom prst="roundRect">
            <a:avLst>
              <a:gd name="adj" fmla="val 4000"/>
            </a:avLst>
          </a:prstGeom>
          <a:solidFill>
            <a:srgbClr val="FFFFFF"/>
          </a:solidFill>
          <a:ln w="15240">
            <a:solidFill>
              <a:srgbClr val="DDE1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ounded Rectangle 22"/>
          <p:cNvSpPr/>
          <p:nvPr/>
        </p:nvSpPr>
        <p:spPr>
          <a:xfrm>
            <a:off x="7013448" y="2871216"/>
            <a:ext cx="1298448" cy="310896"/>
          </a:xfrm>
          <a:prstGeom prst="roundRect">
            <a:avLst>
              <a:gd name="adj" fmla="val 50000"/>
            </a:avLst>
          </a:prstGeom>
          <a:solidFill>
            <a:srgbClr val="FCEC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7013448" y="2871216"/>
            <a:ext cx="1298448" cy="310896"/>
          </a:xfrm>
          <a:prstGeom prst="rect">
            <a:avLst/>
          </a:prstGeom>
          <a:noFill/>
        </p:spPr>
        <p:txBody>
          <a:bodyPr wrap="none" anchor="ctr" lIns="0" rIns="0" tIns="0" bIns="0">
            <a:spAutoFit/>
          </a:bodyPr>
          <a:lstStyle/>
          <a:p>
            <a:pPr algn="ctr">
              <a:lnSpc>
                <a:spcPct val="106000"/>
              </a:lnSpc>
              <a:spcBef>
                <a:spcPts val="0"/>
              </a:spcBef>
              <a:spcAft>
                <a:spcPts val="0"/>
              </a:spcAft>
            </a:pPr>
            <a:r>
              <a:rPr sz="850" b="1">
                <a:solidFill>
                  <a:srgbClr val="B80000"/>
                </a:solidFill>
                <a:latin typeface="Red Hat Display"/>
              </a:rPr>
              <a:t>MEDIA PASS</a:t>
            </a:r>
          </a:p>
        </p:txBody>
      </p:sp>
      <p:pic>
        <p:nvPicPr>
          <p:cNvPr id="25" name="Picture 24" descr="eye_slate.png"/>
          <p:cNvPicPr>
            <a:picLocks noChangeAspect="1"/>
          </p:cNvPicPr>
          <p:nvPr/>
        </p:nvPicPr>
        <p:blipFill>
          <a:blip r:embed="rId4"/>
          <a:stretch>
            <a:fillRect/>
          </a:stretch>
        </p:blipFill>
        <p:spPr>
          <a:xfrm>
            <a:off x="8843619" y="3383280"/>
            <a:ext cx="475488" cy="475488"/>
          </a:xfrm>
          <a:prstGeom prst="rect">
            <a:avLst/>
          </a:prstGeom>
        </p:spPr>
      </p:pic>
      <p:sp>
        <p:nvSpPr>
          <p:cNvPr id="26" name="TextBox 25"/>
          <p:cNvSpPr txBox="1"/>
          <p:nvPr/>
        </p:nvSpPr>
        <p:spPr>
          <a:xfrm>
            <a:off x="7050024" y="3995928"/>
            <a:ext cx="4062679" cy="1481328"/>
          </a:xfrm>
          <a:prstGeom prst="rect">
            <a:avLst/>
          </a:prstGeom>
          <a:noFill/>
        </p:spPr>
        <p:txBody>
          <a:bodyPr wrap="square" anchor="t" lIns="0" rIns="0" tIns="0" bIns="0">
            <a:spAutoFit/>
          </a:bodyPr>
          <a:lstStyle/>
          <a:p>
            <a:pPr algn="l">
              <a:lnSpc>
                <a:spcPct val="120000"/>
              </a:lnSpc>
              <a:spcBef>
                <a:spcPts val="0"/>
              </a:spcBef>
              <a:spcAft>
                <a:spcPts val="0"/>
              </a:spcAft>
            </a:pPr>
            <a:r>
              <a:rPr sz="950" b="0">
                <a:solidFill>
                  <a:srgbClr val="8A9099"/>
                </a:solidFill>
                <a:latin typeface="Red Hat Text"/>
              </a:rPr>
              <a:t>A three-node chain (web → claims → fraud) with a red "hang" on the fraud node and back-pressure arrows piling up on claims and web; a side caption "one slow service, whole-site outage."</a:t>
            </a:r>
          </a:p>
        </p:txBody>
      </p:sp>
      <p:cxnSp>
        <p:nvCxnSpPr>
          <p:cNvPr id="27" name="Connector 26"/>
          <p:cNvCxnSpPr/>
          <p:nvPr/>
        </p:nvCxnSpPr>
        <p:spPr>
          <a:xfrm>
            <a:off x="841248" y="6437376"/>
            <a:ext cx="10509199" cy="0"/>
          </a:xfrm>
          <a:prstGeom prst="bentConnector3">
            <a:avLst/>
          </a:prstGeom>
          <a:ln w="12700">
            <a:solidFill>
              <a:srgbClr val="DDE1E6"/>
            </a:solidFill>
          </a:ln>
          <a:effectLst/>
        </p:spPr>
        <p:style>
          <a:lnRef idx="2">
            <a:schemeClr val="accent1"/>
          </a:lnRef>
          <a:fillRef idx="0">
            <a:schemeClr val="accent1"/>
          </a:fillRef>
          <a:effectRef idx="1">
            <a:schemeClr val="accent1"/>
          </a:effectRef>
          <a:fontRef idx="minor">
            <a:schemeClr val="tx1"/>
          </a:fontRef>
        </p:style>
      </p:cxnSp>
      <p:sp>
        <p:nvSpPr>
          <p:cNvPr id="28" name="TextBox 27"/>
          <p:cNvSpPr txBox="1"/>
          <p:nvPr/>
        </p:nvSpPr>
        <p:spPr>
          <a:xfrm>
            <a:off x="841248" y="6473952"/>
            <a:ext cx="7315200" cy="274320"/>
          </a:xfrm>
          <a:prstGeom prst="rect">
            <a:avLst/>
          </a:prstGeom>
          <a:noFill/>
        </p:spPr>
        <p:txBody>
          <a:bodyPr wrap="square" anchor="t" lIns="0" rIns="0" tIns="0" bIns="0">
            <a:spAutoFit/>
          </a:bodyPr>
          <a:lstStyle/>
          <a:p>
            <a:pPr algn="l">
              <a:lnSpc>
                <a:spcPct val="106000"/>
              </a:lnSpc>
              <a:spcBef>
                <a:spcPts val="0"/>
              </a:spcBef>
              <a:spcAft>
                <a:spcPts val="0"/>
              </a:spcAft>
            </a:pPr>
            <a:r>
              <a:rPr sz="950" b="0">
                <a:solidFill>
                  <a:srgbClr val="8A9099"/>
                </a:solidFill>
                <a:latin typeface="Red Hat Text"/>
              </a:rPr>
              <a:t>CONFIDENTIAL</a:t>
            </a:r>
          </a:p>
        </p:txBody>
      </p:sp>
      <p:sp>
        <p:nvSpPr>
          <p:cNvPr id="29" name="TextBox 28"/>
          <p:cNvSpPr txBox="1"/>
          <p:nvPr/>
        </p:nvSpPr>
        <p:spPr>
          <a:xfrm>
            <a:off x="10801807" y="6473952"/>
            <a:ext cx="548640" cy="274320"/>
          </a:xfrm>
          <a:prstGeom prst="rect">
            <a:avLst/>
          </a:prstGeom>
          <a:noFill/>
        </p:spPr>
        <p:txBody>
          <a:bodyPr wrap="square" anchor="t" lIns="0" rIns="0" tIns="0" bIns="0">
            <a:spAutoFit/>
          </a:bodyPr>
          <a:lstStyle/>
          <a:p>
            <a:pPr algn="r">
              <a:lnSpc>
                <a:spcPct val="106000"/>
              </a:lnSpc>
              <a:spcBef>
                <a:spcPts val="0"/>
              </a:spcBef>
              <a:spcAft>
                <a:spcPts val="0"/>
              </a:spcAft>
            </a:pPr>
            <a:r>
              <a:rPr sz="950" b="0">
                <a:solidFill>
                  <a:srgbClr val="8A9099"/>
                </a:solidFill>
                <a:latin typeface="Red Hat Text"/>
              </a:rPr>
              <a:t>135</a:t>
            </a:r>
          </a:p>
        </p:txBody>
      </p:sp>
    </p:spTree>
  </p:cSld>
  <p:clrMapOvr>
    <a:masterClrMapping/>
  </p:clrMapOvr>
</p:sld>
</file>

<file path=ppt/slides/slide15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redhat_logo.jpg"/>
          <p:cNvPicPr>
            <a:picLocks noChangeAspect="1"/>
          </p:cNvPicPr>
          <p:nvPr/>
        </p:nvPicPr>
        <p:blipFill>
          <a:blip r:embed="rId2"/>
          <a:stretch>
            <a:fillRect/>
          </a:stretch>
        </p:blipFill>
        <p:spPr>
          <a:xfrm>
            <a:off x="10326319" y="475488"/>
            <a:ext cx="1024128" cy="242248"/>
          </a:xfrm>
          <a:prstGeom prst="rect">
            <a:avLst/>
          </a:prstGeom>
        </p:spPr>
      </p:pic>
      <p:sp>
        <p:nvSpPr>
          <p:cNvPr id="3" name="TextBox 2"/>
          <p:cNvSpPr txBox="1"/>
          <p:nvPr/>
        </p:nvSpPr>
        <p:spPr>
          <a:xfrm>
            <a:off x="841248" y="548640"/>
            <a:ext cx="8595360" cy="274320"/>
          </a:xfrm>
          <a:prstGeom prst="rect">
            <a:avLst/>
          </a:prstGeom>
          <a:noFill/>
        </p:spPr>
        <p:txBody>
          <a:bodyPr wrap="square" anchor="t" lIns="0" rIns="0" tIns="0" bIns="0">
            <a:spAutoFit/>
          </a:bodyPr>
          <a:lstStyle/>
          <a:p>
            <a:pPr algn="l">
              <a:lnSpc>
                <a:spcPct val="106000"/>
              </a:lnSpc>
              <a:spcBef>
                <a:spcPts val="0"/>
              </a:spcBef>
              <a:spcAft>
                <a:spcPts val="0"/>
              </a:spcAft>
            </a:pPr>
            <a:r>
              <a:rPr sz="1250" b="1" spc="220">
                <a:solidFill>
                  <a:srgbClr val="EE0000"/>
                </a:solidFill>
                <a:latin typeface="Red Hat Display"/>
              </a:rPr>
              <a:t>M19 · SERVICE MESH 3 &amp; ADVANCED GATEWAYS</a:t>
            </a:r>
          </a:p>
        </p:txBody>
      </p:sp>
      <p:sp>
        <p:nvSpPr>
          <p:cNvPr id="4" name="TextBox 3"/>
          <p:cNvSpPr txBox="1"/>
          <p:nvPr/>
        </p:nvSpPr>
        <p:spPr>
          <a:xfrm>
            <a:off x="841248" y="877824"/>
            <a:ext cx="10515600" cy="548640"/>
          </a:xfrm>
          <a:prstGeom prst="rect">
            <a:avLst/>
          </a:prstGeom>
          <a:noFill/>
        </p:spPr>
        <p:txBody>
          <a:bodyPr wrap="none" anchor="t" lIns="0" rIns="0" tIns="0" bIns="0">
            <a:spAutoFit/>
          </a:bodyPr>
          <a:lstStyle/>
          <a:p>
            <a:pPr algn="l">
              <a:lnSpc>
                <a:spcPct val="100000"/>
              </a:lnSpc>
              <a:spcBef>
                <a:spcPts val="0"/>
              </a:spcBef>
              <a:spcAft>
                <a:spcPts val="0"/>
              </a:spcAft>
            </a:pPr>
            <a:r>
              <a:rPr sz="2500" b="1">
                <a:solidFill>
                  <a:srgbClr val="1A1A1A"/>
                </a:solidFill>
                <a:latin typeface="Red Hat Display"/>
              </a:rPr>
              <a:t>Data plane + control plane</a:t>
            </a:r>
          </a:p>
        </p:txBody>
      </p:sp>
      <p:cxnSp>
        <p:nvCxnSpPr>
          <p:cNvPr id="5" name="Connector 4"/>
          <p:cNvCxnSpPr/>
          <p:nvPr/>
        </p:nvCxnSpPr>
        <p:spPr>
          <a:xfrm>
            <a:off x="841248" y="1554480"/>
            <a:ext cx="1371600" cy="0"/>
          </a:xfrm>
          <a:prstGeom prst="bentConnector3">
            <a:avLst/>
          </a:prstGeom>
          <a:ln w="31750">
            <a:solidFill>
              <a:srgbClr val="EE0000"/>
            </a:solidFill>
          </a:ln>
          <a:effectLst/>
        </p:spPr>
        <p:style>
          <a:lnRef idx="2">
            <a:schemeClr val="accent1"/>
          </a:lnRef>
          <a:fillRef idx="0">
            <a:schemeClr val="accent1"/>
          </a:fillRef>
          <a:effectRef idx="1">
            <a:schemeClr val="accent1"/>
          </a:effectRef>
          <a:fontRef idx="minor">
            <a:schemeClr val="tx1"/>
          </a:fontRef>
        </p:style>
      </p:cxnSp>
      <p:sp>
        <p:nvSpPr>
          <p:cNvPr id="6" name="Rounded Rectangle 5"/>
          <p:cNvSpPr/>
          <p:nvPr/>
        </p:nvSpPr>
        <p:spPr>
          <a:xfrm>
            <a:off x="841248" y="2395728"/>
            <a:ext cx="5715000" cy="530352"/>
          </a:xfrm>
          <a:prstGeom prst="roundRect">
            <a:avLst>
              <a:gd name="adj" fmla="val 6000"/>
            </a:avLst>
          </a:prstGeom>
          <a:solidFill>
            <a:srgbClr val="F5F6F8"/>
          </a:solidFill>
          <a:ln w="12700">
            <a:solidFill>
              <a:srgbClr val="DDE1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check_steel.png"/>
          <p:cNvPicPr>
            <a:picLocks noChangeAspect="1"/>
          </p:cNvPicPr>
          <p:nvPr/>
        </p:nvPicPr>
        <p:blipFill>
          <a:blip r:embed="rId3"/>
          <a:stretch>
            <a:fillRect/>
          </a:stretch>
        </p:blipFill>
        <p:spPr>
          <a:xfrm>
            <a:off x="987552" y="2542032"/>
            <a:ext cx="237744" cy="237744"/>
          </a:xfrm>
          <a:prstGeom prst="rect">
            <a:avLst/>
          </a:prstGeom>
        </p:spPr>
      </p:pic>
      <p:sp>
        <p:nvSpPr>
          <p:cNvPr id="8" name="TextBox 7"/>
          <p:cNvSpPr txBox="1"/>
          <p:nvPr/>
        </p:nvSpPr>
        <p:spPr>
          <a:xfrm>
            <a:off x="1353312" y="2395728"/>
            <a:ext cx="5029200" cy="530352"/>
          </a:xfrm>
          <a:prstGeom prst="rect">
            <a:avLst/>
          </a:prstGeom>
          <a:noFill/>
        </p:spPr>
        <p:txBody>
          <a:bodyPr wrap="square" anchor="ctr" lIns="0" rIns="0" tIns="0" bIns="0">
            <a:spAutoFit/>
          </a:bodyPr>
          <a:lstStyle/>
          <a:p>
            <a:pPr algn="l">
              <a:lnSpc>
                <a:spcPct val="106000"/>
              </a:lnSpc>
              <a:spcBef>
                <a:spcPts val="0"/>
              </a:spcBef>
              <a:spcAft>
                <a:spcPts val="0"/>
              </a:spcAft>
            </a:pPr>
            <a:r>
              <a:rPr sz="1200" b="0">
                <a:solidFill>
                  <a:srgbClr val="1A1A1A"/>
                </a:solidFill>
                <a:latin typeface="Red Hat Text"/>
              </a:rPr>
              <a:t>Data plane: a sidecar proxy (Envoy) injected into every meshed pod</a:t>
            </a:r>
          </a:p>
        </p:txBody>
      </p:sp>
      <p:sp>
        <p:nvSpPr>
          <p:cNvPr id="9" name="Rounded Rectangle 8"/>
          <p:cNvSpPr/>
          <p:nvPr/>
        </p:nvSpPr>
        <p:spPr>
          <a:xfrm>
            <a:off x="841248" y="2999232"/>
            <a:ext cx="5715000" cy="530352"/>
          </a:xfrm>
          <a:prstGeom prst="roundRect">
            <a:avLst>
              <a:gd name="adj" fmla="val 6000"/>
            </a:avLst>
          </a:prstGeom>
          <a:solidFill>
            <a:srgbClr val="F5F6F8"/>
          </a:solidFill>
          <a:ln w="12700">
            <a:solidFill>
              <a:srgbClr val="DDE1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0" name="Picture 9" descr="check_steel.png"/>
          <p:cNvPicPr>
            <a:picLocks noChangeAspect="1"/>
          </p:cNvPicPr>
          <p:nvPr/>
        </p:nvPicPr>
        <p:blipFill>
          <a:blip r:embed="rId3"/>
          <a:stretch>
            <a:fillRect/>
          </a:stretch>
        </p:blipFill>
        <p:spPr>
          <a:xfrm>
            <a:off x="987552" y="3145536"/>
            <a:ext cx="237744" cy="237744"/>
          </a:xfrm>
          <a:prstGeom prst="rect">
            <a:avLst/>
          </a:prstGeom>
        </p:spPr>
      </p:pic>
      <p:sp>
        <p:nvSpPr>
          <p:cNvPr id="11" name="TextBox 10"/>
          <p:cNvSpPr txBox="1"/>
          <p:nvPr/>
        </p:nvSpPr>
        <p:spPr>
          <a:xfrm>
            <a:off x="1353312" y="2999232"/>
            <a:ext cx="5029200" cy="530352"/>
          </a:xfrm>
          <a:prstGeom prst="rect">
            <a:avLst/>
          </a:prstGeom>
          <a:noFill/>
        </p:spPr>
        <p:txBody>
          <a:bodyPr wrap="square" anchor="ctr" lIns="0" rIns="0" tIns="0" bIns="0">
            <a:spAutoFit/>
          </a:bodyPr>
          <a:lstStyle/>
          <a:p>
            <a:pPr algn="l">
              <a:lnSpc>
                <a:spcPct val="106000"/>
              </a:lnSpc>
              <a:spcBef>
                <a:spcPts val="0"/>
              </a:spcBef>
              <a:spcAft>
                <a:spcPts val="0"/>
              </a:spcAft>
            </a:pPr>
            <a:r>
              <a:rPr sz="1200" b="0">
                <a:solidFill>
                  <a:srgbClr val="1A1A1A"/>
                </a:solidFill>
                <a:latin typeface="Red Hat Text"/>
              </a:rPr>
              <a:t>All pod traffic transparently redirected through its proxy</a:t>
            </a:r>
          </a:p>
        </p:txBody>
      </p:sp>
      <p:sp>
        <p:nvSpPr>
          <p:cNvPr id="12" name="Rounded Rectangle 11"/>
          <p:cNvSpPr/>
          <p:nvPr/>
        </p:nvSpPr>
        <p:spPr>
          <a:xfrm>
            <a:off x="841248" y="3602736"/>
            <a:ext cx="5715000" cy="530352"/>
          </a:xfrm>
          <a:prstGeom prst="roundRect">
            <a:avLst>
              <a:gd name="adj" fmla="val 6000"/>
            </a:avLst>
          </a:prstGeom>
          <a:solidFill>
            <a:srgbClr val="F5F6F8"/>
          </a:solidFill>
          <a:ln w="12700">
            <a:solidFill>
              <a:srgbClr val="DDE1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3" name="Picture 12" descr="check_steel.png"/>
          <p:cNvPicPr>
            <a:picLocks noChangeAspect="1"/>
          </p:cNvPicPr>
          <p:nvPr/>
        </p:nvPicPr>
        <p:blipFill>
          <a:blip r:embed="rId3"/>
          <a:stretch>
            <a:fillRect/>
          </a:stretch>
        </p:blipFill>
        <p:spPr>
          <a:xfrm>
            <a:off x="987552" y="3749040"/>
            <a:ext cx="237744" cy="237744"/>
          </a:xfrm>
          <a:prstGeom prst="rect">
            <a:avLst/>
          </a:prstGeom>
        </p:spPr>
      </p:pic>
      <p:sp>
        <p:nvSpPr>
          <p:cNvPr id="14" name="TextBox 13"/>
          <p:cNvSpPr txBox="1"/>
          <p:nvPr/>
        </p:nvSpPr>
        <p:spPr>
          <a:xfrm>
            <a:off x="1353312" y="3602736"/>
            <a:ext cx="5029200" cy="530352"/>
          </a:xfrm>
          <a:prstGeom prst="rect">
            <a:avLst/>
          </a:prstGeom>
          <a:noFill/>
        </p:spPr>
        <p:txBody>
          <a:bodyPr wrap="square" anchor="ctr" lIns="0" rIns="0" tIns="0" bIns="0">
            <a:spAutoFit/>
          </a:bodyPr>
          <a:lstStyle/>
          <a:p>
            <a:pPr algn="l">
              <a:lnSpc>
                <a:spcPct val="106000"/>
              </a:lnSpc>
              <a:spcBef>
                <a:spcPts val="0"/>
              </a:spcBef>
              <a:spcAft>
                <a:spcPts val="0"/>
              </a:spcAft>
            </a:pPr>
            <a:r>
              <a:rPr sz="1200" b="0">
                <a:solidFill>
                  <a:srgbClr val="1A1A1A"/>
                </a:solidFill>
                <a:latin typeface="Red Hat Text"/>
              </a:rPr>
              <a:t>Control plane: istiod — compiles your CRs, pushes config + identity certs</a:t>
            </a:r>
          </a:p>
        </p:txBody>
      </p:sp>
      <p:sp>
        <p:nvSpPr>
          <p:cNvPr id="15" name="Rounded Rectangle 14"/>
          <p:cNvSpPr/>
          <p:nvPr/>
        </p:nvSpPr>
        <p:spPr>
          <a:xfrm>
            <a:off x="841248" y="4206240"/>
            <a:ext cx="5715000" cy="530352"/>
          </a:xfrm>
          <a:prstGeom prst="roundRect">
            <a:avLst>
              <a:gd name="adj" fmla="val 6000"/>
            </a:avLst>
          </a:prstGeom>
          <a:solidFill>
            <a:srgbClr val="F5F6F8"/>
          </a:solidFill>
          <a:ln w="12700">
            <a:solidFill>
              <a:srgbClr val="DDE1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6" name="Picture 15" descr="check_steel.png"/>
          <p:cNvPicPr>
            <a:picLocks noChangeAspect="1"/>
          </p:cNvPicPr>
          <p:nvPr/>
        </p:nvPicPr>
        <p:blipFill>
          <a:blip r:embed="rId3"/>
          <a:stretch>
            <a:fillRect/>
          </a:stretch>
        </p:blipFill>
        <p:spPr>
          <a:xfrm>
            <a:off x="987552" y="4352544"/>
            <a:ext cx="237744" cy="237744"/>
          </a:xfrm>
          <a:prstGeom prst="rect">
            <a:avLst/>
          </a:prstGeom>
        </p:spPr>
      </p:pic>
      <p:sp>
        <p:nvSpPr>
          <p:cNvPr id="17" name="TextBox 16"/>
          <p:cNvSpPr txBox="1"/>
          <p:nvPr/>
        </p:nvSpPr>
        <p:spPr>
          <a:xfrm>
            <a:off x="1353312" y="4206240"/>
            <a:ext cx="5029200" cy="530352"/>
          </a:xfrm>
          <a:prstGeom prst="rect">
            <a:avLst/>
          </a:prstGeom>
          <a:noFill/>
        </p:spPr>
        <p:txBody>
          <a:bodyPr wrap="square" anchor="ctr" lIns="0" rIns="0" tIns="0" bIns="0">
            <a:spAutoFit/>
          </a:bodyPr>
          <a:lstStyle/>
          <a:p>
            <a:pPr algn="l">
              <a:lnSpc>
                <a:spcPct val="106000"/>
              </a:lnSpc>
              <a:spcBef>
                <a:spcPts val="0"/>
              </a:spcBef>
              <a:spcAft>
                <a:spcPts val="0"/>
              </a:spcAft>
            </a:pPr>
            <a:r>
              <a:rPr sz="1200" b="0">
                <a:solidFill>
                  <a:srgbClr val="1A1A1A"/>
                </a:solidFill>
                <a:latin typeface="Red Hat Text"/>
              </a:rPr>
              <a:t>istiod is NOT in the request path (traffic survives its restart)</a:t>
            </a:r>
          </a:p>
        </p:txBody>
      </p:sp>
      <p:sp>
        <p:nvSpPr>
          <p:cNvPr id="18" name="Rounded Rectangle 17"/>
          <p:cNvSpPr/>
          <p:nvPr/>
        </p:nvSpPr>
        <p:spPr>
          <a:xfrm>
            <a:off x="841248" y="4809744"/>
            <a:ext cx="5715000" cy="530352"/>
          </a:xfrm>
          <a:prstGeom prst="roundRect">
            <a:avLst>
              <a:gd name="adj" fmla="val 6000"/>
            </a:avLst>
          </a:prstGeom>
          <a:solidFill>
            <a:srgbClr val="F5F6F8"/>
          </a:solidFill>
          <a:ln w="12700">
            <a:solidFill>
              <a:srgbClr val="DDE1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9" name="Picture 18" descr="check_steel.png"/>
          <p:cNvPicPr>
            <a:picLocks noChangeAspect="1"/>
          </p:cNvPicPr>
          <p:nvPr/>
        </p:nvPicPr>
        <p:blipFill>
          <a:blip r:embed="rId3"/>
          <a:stretch>
            <a:fillRect/>
          </a:stretch>
        </p:blipFill>
        <p:spPr>
          <a:xfrm>
            <a:off x="987552" y="4956048"/>
            <a:ext cx="237744" cy="237744"/>
          </a:xfrm>
          <a:prstGeom prst="rect">
            <a:avLst/>
          </a:prstGeom>
        </p:spPr>
      </p:pic>
      <p:sp>
        <p:nvSpPr>
          <p:cNvPr id="20" name="TextBox 19"/>
          <p:cNvSpPr txBox="1"/>
          <p:nvPr/>
        </p:nvSpPr>
        <p:spPr>
          <a:xfrm>
            <a:off x="1353312" y="4809744"/>
            <a:ext cx="5029200" cy="530352"/>
          </a:xfrm>
          <a:prstGeom prst="rect">
            <a:avLst/>
          </a:prstGeom>
          <a:noFill/>
        </p:spPr>
        <p:txBody>
          <a:bodyPr wrap="square" anchor="ctr" lIns="0" rIns="0" tIns="0" bIns="0">
            <a:spAutoFit/>
          </a:bodyPr>
          <a:lstStyle/>
          <a:p>
            <a:pPr algn="l">
              <a:lnSpc>
                <a:spcPct val="106000"/>
              </a:lnSpc>
              <a:spcBef>
                <a:spcPts val="0"/>
              </a:spcBef>
              <a:spcAft>
                <a:spcPts val="0"/>
              </a:spcAft>
            </a:pPr>
            <a:r>
              <a:rPr sz="1200" b="0">
                <a:solidFill>
                  <a:srgbClr val="1A1A1A"/>
                </a:solidFill>
                <a:latin typeface="Red Hat Text"/>
              </a:rPr>
              <a:t>OSSM3 injects a NATIVE sidecar: an always-on init container</a:t>
            </a:r>
          </a:p>
        </p:txBody>
      </p:sp>
      <p:sp>
        <p:nvSpPr>
          <p:cNvPr id="21" name="Rounded Rectangle 20"/>
          <p:cNvSpPr/>
          <p:nvPr/>
        </p:nvSpPr>
        <p:spPr>
          <a:xfrm>
            <a:off x="6812280" y="2395728"/>
            <a:ext cx="4538167" cy="2944368"/>
          </a:xfrm>
          <a:prstGeom prst="roundRect">
            <a:avLst>
              <a:gd name="adj" fmla="val 4000"/>
            </a:avLst>
          </a:prstGeom>
          <a:solidFill>
            <a:srgbClr val="FFFFFF"/>
          </a:solidFill>
          <a:ln w="15240">
            <a:solidFill>
              <a:srgbClr val="DDE1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ounded Rectangle 21"/>
          <p:cNvSpPr/>
          <p:nvPr/>
        </p:nvSpPr>
        <p:spPr>
          <a:xfrm>
            <a:off x="7013448" y="2596896"/>
            <a:ext cx="1298448" cy="310896"/>
          </a:xfrm>
          <a:prstGeom prst="roundRect">
            <a:avLst>
              <a:gd name="adj" fmla="val 50000"/>
            </a:avLst>
          </a:prstGeom>
          <a:solidFill>
            <a:srgbClr val="FCEC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7013448" y="2596896"/>
            <a:ext cx="1298448" cy="310896"/>
          </a:xfrm>
          <a:prstGeom prst="rect">
            <a:avLst/>
          </a:prstGeom>
          <a:noFill/>
        </p:spPr>
        <p:txBody>
          <a:bodyPr wrap="none" anchor="ctr" lIns="0" rIns="0" tIns="0" bIns="0">
            <a:spAutoFit/>
          </a:bodyPr>
          <a:lstStyle/>
          <a:p>
            <a:pPr algn="ctr">
              <a:lnSpc>
                <a:spcPct val="106000"/>
              </a:lnSpc>
              <a:spcBef>
                <a:spcPts val="0"/>
              </a:spcBef>
              <a:spcAft>
                <a:spcPts val="0"/>
              </a:spcAft>
            </a:pPr>
            <a:r>
              <a:rPr sz="850" b="1">
                <a:solidFill>
                  <a:srgbClr val="B80000"/>
                </a:solidFill>
                <a:latin typeface="Red Hat Display"/>
              </a:rPr>
              <a:t>MEDIA PASS</a:t>
            </a:r>
          </a:p>
        </p:txBody>
      </p:sp>
      <p:pic>
        <p:nvPicPr>
          <p:cNvPr id="24" name="Picture 23" descr="eye_slate.png"/>
          <p:cNvPicPr>
            <a:picLocks noChangeAspect="1"/>
          </p:cNvPicPr>
          <p:nvPr/>
        </p:nvPicPr>
        <p:blipFill>
          <a:blip r:embed="rId4"/>
          <a:stretch>
            <a:fillRect/>
          </a:stretch>
        </p:blipFill>
        <p:spPr>
          <a:xfrm>
            <a:off x="8843619" y="3108960"/>
            <a:ext cx="475488" cy="475488"/>
          </a:xfrm>
          <a:prstGeom prst="rect">
            <a:avLst/>
          </a:prstGeom>
        </p:spPr>
      </p:pic>
      <p:sp>
        <p:nvSpPr>
          <p:cNvPr id="25" name="TextBox 24"/>
          <p:cNvSpPr txBox="1"/>
          <p:nvPr/>
        </p:nvSpPr>
        <p:spPr>
          <a:xfrm>
            <a:off x="7050024" y="3721608"/>
            <a:ext cx="4062679" cy="1481328"/>
          </a:xfrm>
          <a:prstGeom prst="rect">
            <a:avLst/>
          </a:prstGeom>
          <a:noFill/>
        </p:spPr>
        <p:txBody>
          <a:bodyPr wrap="square" anchor="t" lIns="0" rIns="0" tIns="0" bIns="0">
            <a:spAutoFit/>
          </a:bodyPr>
          <a:lstStyle/>
          <a:p>
            <a:pPr algn="l">
              <a:lnSpc>
                <a:spcPct val="120000"/>
              </a:lnSpc>
              <a:spcBef>
                <a:spcPts val="0"/>
              </a:spcBef>
              <a:spcAft>
                <a:spcPts val="0"/>
              </a:spcAft>
            </a:pPr>
            <a:r>
              <a:rPr sz="950" b="0">
                <a:solidFill>
                  <a:srgbClr val="8A9099"/>
                </a:solidFill>
                <a:latin typeface="Red Hat Text"/>
              </a:rPr>
              <a:t>Reuse concept diagram service-mesh-advanced-gateways-...-01-mesh-architecture.svg — blue control plane (istiod + Kiali) pushing config/certs down to amber sidecar proxies wrapping green app containers, with an un-meshed red client outside.</a:t>
            </a:r>
          </a:p>
        </p:txBody>
      </p:sp>
      <p:cxnSp>
        <p:nvCxnSpPr>
          <p:cNvPr id="26" name="Connector 25"/>
          <p:cNvCxnSpPr/>
          <p:nvPr/>
        </p:nvCxnSpPr>
        <p:spPr>
          <a:xfrm>
            <a:off x="841248" y="6437376"/>
            <a:ext cx="10509199" cy="0"/>
          </a:xfrm>
          <a:prstGeom prst="bentConnector3">
            <a:avLst/>
          </a:prstGeom>
          <a:ln w="12700">
            <a:solidFill>
              <a:srgbClr val="DDE1E6"/>
            </a:solidFill>
          </a:ln>
          <a:effectLst/>
        </p:spPr>
        <p:style>
          <a:lnRef idx="2">
            <a:schemeClr val="accent1"/>
          </a:lnRef>
          <a:fillRef idx="0">
            <a:schemeClr val="accent1"/>
          </a:fillRef>
          <a:effectRef idx="1">
            <a:schemeClr val="accent1"/>
          </a:effectRef>
          <a:fontRef idx="minor">
            <a:schemeClr val="tx1"/>
          </a:fontRef>
        </p:style>
      </p:cxnSp>
      <p:sp>
        <p:nvSpPr>
          <p:cNvPr id="27" name="TextBox 26"/>
          <p:cNvSpPr txBox="1"/>
          <p:nvPr/>
        </p:nvSpPr>
        <p:spPr>
          <a:xfrm>
            <a:off x="841248" y="6473952"/>
            <a:ext cx="7315200" cy="274320"/>
          </a:xfrm>
          <a:prstGeom prst="rect">
            <a:avLst/>
          </a:prstGeom>
          <a:noFill/>
        </p:spPr>
        <p:txBody>
          <a:bodyPr wrap="square" anchor="t" lIns="0" rIns="0" tIns="0" bIns="0">
            <a:spAutoFit/>
          </a:bodyPr>
          <a:lstStyle/>
          <a:p>
            <a:pPr algn="l">
              <a:lnSpc>
                <a:spcPct val="106000"/>
              </a:lnSpc>
              <a:spcBef>
                <a:spcPts val="0"/>
              </a:spcBef>
              <a:spcAft>
                <a:spcPts val="0"/>
              </a:spcAft>
            </a:pPr>
            <a:r>
              <a:rPr sz="950" b="0">
                <a:solidFill>
                  <a:srgbClr val="8A9099"/>
                </a:solidFill>
                <a:latin typeface="Red Hat Text"/>
              </a:rPr>
              <a:t>CONFIDENTIAL</a:t>
            </a:r>
          </a:p>
        </p:txBody>
      </p:sp>
      <p:sp>
        <p:nvSpPr>
          <p:cNvPr id="28" name="TextBox 27"/>
          <p:cNvSpPr txBox="1"/>
          <p:nvPr/>
        </p:nvSpPr>
        <p:spPr>
          <a:xfrm>
            <a:off x="10801807" y="6473952"/>
            <a:ext cx="548640" cy="274320"/>
          </a:xfrm>
          <a:prstGeom prst="rect">
            <a:avLst/>
          </a:prstGeom>
          <a:noFill/>
        </p:spPr>
        <p:txBody>
          <a:bodyPr wrap="square" anchor="t" lIns="0" rIns="0" tIns="0" bIns="0">
            <a:spAutoFit/>
          </a:bodyPr>
          <a:lstStyle/>
          <a:p>
            <a:pPr algn="r">
              <a:lnSpc>
                <a:spcPct val="106000"/>
              </a:lnSpc>
              <a:spcBef>
                <a:spcPts val="0"/>
              </a:spcBef>
              <a:spcAft>
                <a:spcPts val="0"/>
              </a:spcAft>
            </a:pPr>
            <a:r>
              <a:rPr sz="950" b="0">
                <a:solidFill>
                  <a:srgbClr val="8A9099"/>
                </a:solidFill>
                <a:latin typeface="Red Hat Text"/>
              </a:rPr>
              <a:t>136</a:t>
            </a:r>
          </a:p>
        </p:txBody>
      </p:sp>
    </p:spTree>
  </p:cSld>
  <p:clrMapOvr>
    <a:masterClrMapping/>
  </p:clrMapOvr>
</p:sld>
</file>

<file path=ppt/slides/slide15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redhat_logo.jpg"/>
          <p:cNvPicPr>
            <a:picLocks noChangeAspect="1"/>
          </p:cNvPicPr>
          <p:nvPr/>
        </p:nvPicPr>
        <p:blipFill>
          <a:blip r:embed="rId2"/>
          <a:stretch>
            <a:fillRect/>
          </a:stretch>
        </p:blipFill>
        <p:spPr>
          <a:xfrm>
            <a:off x="10326319" y="475488"/>
            <a:ext cx="1024128" cy="242248"/>
          </a:xfrm>
          <a:prstGeom prst="rect">
            <a:avLst/>
          </a:prstGeom>
        </p:spPr>
      </p:pic>
      <p:sp>
        <p:nvSpPr>
          <p:cNvPr id="3" name="TextBox 2"/>
          <p:cNvSpPr txBox="1"/>
          <p:nvPr/>
        </p:nvSpPr>
        <p:spPr>
          <a:xfrm>
            <a:off x="841248" y="548640"/>
            <a:ext cx="8595360" cy="274320"/>
          </a:xfrm>
          <a:prstGeom prst="rect">
            <a:avLst/>
          </a:prstGeom>
          <a:noFill/>
        </p:spPr>
        <p:txBody>
          <a:bodyPr wrap="square" anchor="t" lIns="0" rIns="0" tIns="0" bIns="0">
            <a:spAutoFit/>
          </a:bodyPr>
          <a:lstStyle/>
          <a:p>
            <a:pPr algn="l">
              <a:lnSpc>
                <a:spcPct val="106000"/>
              </a:lnSpc>
              <a:spcBef>
                <a:spcPts val="0"/>
              </a:spcBef>
              <a:spcAft>
                <a:spcPts val="0"/>
              </a:spcAft>
            </a:pPr>
            <a:r>
              <a:rPr sz="1250" b="1" spc="220">
                <a:solidFill>
                  <a:srgbClr val="EE0000"/>
                </a:solidFill>
                <a:latin typeface="Red Hat Display"/>
              </a:rPr>
              <a:t>M19 · SERVICE MESH 3 &amp; ADVANCED GATEWAYS</a:t>
            </a:r>
          </a:p>
        </p:txBody>
      </p:sp>
      <p:sp>
        <p:nvSpPr>
          <p:cNvPr id="4" name="TextBox 3"/>
          <p:cNvSpPr txBox="1"/>
          <p:nvPr/>
        </p:nvSpPr>
        <p:spPr>
          <a:xfrm>
            <a:off x="841248" y="877824"/>
            <a:ext cx="10515600" cy="548640"/>
          </a:xfrm>
          <a:prstGeom prst="rect">
            <a:avLst/>
          </a:prstGeom>
          <a:noFill/>
        </p:spPr>
        <p:txBody>
          <a:bodyPr wrap="none" anchor="t" lIns="0" rIns="0" tIns="0" bIns="0">
            <a:spAutoFit/>
          </a:bodyPr>
          <a:lstStyle/>
          <a:p>
            <a:pPr algn="l">
              <a:lnSpc>
                <a:spcPct val="100000"/>
              </a:lnSpc>
              <a:spcBef>
                <a:spcPts val="0"/>
              </a:spcBef>
              <a:spcAft>
                <a:spcPts val="0"/>
              </a:spcAft>
            </a:pPr>
            <a:r>
              <a:rPr sz="2500" b="1">
                <a:solidFill>
                  <a:srgbClr val="1A1A1A"/>
                </a:solidFill>
                <a:latin typeface="Red Hat Display"/>
              </a:rPr>
              <a:t>Enroll once, get three things free</a:t>
            </a:r>
          </a:p>
        </p:txBody>
      </p:sp>
      <p:cxnSp>
        <p:nvCxnSpPr>
          <p:cNvPr id="5" name="Connector 4"/>
          <p:cNvCxnSpPr/>
          <p:nvPr/>
        </p:nvCxnSpPr>
        <p:spPr>
          <a:xfrm>
            <a:off x="841248" y="1554480"/>
            <a:ext cx="1371600" cy="0"/>
          </a:xfrm>
          <a:prstGeom prst="bentConnector3">
            <a:avLst/>
          </a:prstGeom>
          <a:ln w="31750">
            <a:solidFill>
              <a:srgbClr val="EE0000"/>
            </a:solidFill>
          </a:ln>
          <a:effectLst/>
        </p:spPr>
        <p:style>
          <a:lnRef idx="2">
            <a:schemeClr val="accent1"/>
          </a:lnRef>
          <a:fillRef idx="0">
            <a:schemeClr val="accent1"/>
          </a:fillRef>
          <a:effectRef idx="1">
            <a:schemeClr val="accent1"/>
          </a:effectRef>
          <a:fontRef idx="minor">
            <a:schemeClr val="tx1"/>
          </a:fontRef>
        </p:style>
      </p:cxnSp>
      <p:sp>
        <p:nvSpPr>
          <p:cNvPr id="6" name="Rounded Rectangle 5"/>
          <p:cNvSpPr/>
          <p:nvPr/>
        </p:nvSpPr>
        <p:spPr>
          <a:xfrm>
            <a:off x="841248" y="2395728"/>
            <a:ext cx="5715000" cy="530352"/>
          </a:xfrm>
          <a:prstGeom prst="roundRect">
            <a:avLst>
              <a:gd name="adj" fmla="val 6000"/>
            </a:avLst>
          </a:prstGeom>
          <a:solidFill>
            <a:srgbClr val="F5F6F8"/>
          </a:solidFill>
          <a:ln w="12700">
            <a:solidFill>
              <a:srgbClr val="DDE1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check_steel.png"/>
          <p:cNvPicPr>
            <a:picLocks noChangeAspect="1"/>
          </p:cNvPicPr>
          <p:nvPr/>
        </p:nvPicPr>
        <p:blipFill>
          <a:blip r:embed="rId3"/>
          <a:stretch>
            <a:fillRect/>
          </a:stretch>
        </p:blipFill>
        <p:spPr>
          <a:xfrm>
            <a:off x="987552" y="2542032"/>
            <a:ext cx="237744" cy="237744"/>
          </a:xfrm>
          <a:prstGeom prst="rect">
            <a:avLst/>
          </a:prstGeom>
        </p:spPr>
      </p:pic>
      <p:sp>
        <p:nvSpPr>
          <p:cNvPr id="8" name="TextBox 7"/>
          <p:cNvSpPr txBox="1"/>
          <p:nvPr/>
        </p:nvSpPr>
        <p:spPr>
          <a:xfrm>
            <a:off x="1353312" y="2395728"/>
            <a:ext cx="5029200" cy="530352"/>
          </a:xfrm>
          <a:prstGeom prst="rect">
            <a:avLst/>
          </a:prstGeom>
          <a:noFill/>
        </p:spPr>
        <p:txBody>
          <a:bodyPr wrap="square" anchor="ctr" lIns="0" rIns="0" tIns="0" bIns="0">
            <a:spAutoFit/>
          </a:bodyPr>
          <a:lstStyle/>
          <a:p>
            <a:pPr algn="l">
              <a:lnSpc>
                <a:spcPct val="106000"/>
              </a:lnSpc>
              <a:spcBef>
                <a:spcPts val="0"/>
              </a:spcBef>
              <a:spcAft>
                <a:spcPts val="0"/>
              </a:spcAft>
            </a:pPr>
            <a:r>
              <a:rPr sz="1200" b="0">
                <a:solidFill>
                  <a:srgbClr val="1A1A1A"/>
                </a:solidFill>
                <a:latin typeface="Red Hat Text"/>
              </a:rPr>
              <a:t>Add one label (`sidecar.istio.io/inject: "true"`) → proxy appears</a:t>
            </a:r>
          </a:p>
        </p:txBody>
      </p:sp>
      <p:sp>
        <p:nvSpPr>
          <p:cNvPr id="9" name="Rounded Rectangle 8"/>
          <p:cNvSpPr/>
          <p:nvPr/>
        </p:nvSpPr>
        <p:spPr>
          <a:xfrm>
            <a:off x="841248" y="2999232"/>
            <a:ext cx="5715000" cy="530352"/>
          </a:xfrm>
          <a:prstGeom prst="roundRect">
            <a:avLst>
              <a:gd name="adj" fmla="val 6000"/>
            </a:avLst>
          </a:prstGeom>
          <a:solidFill>
            <a:srgbClr val="F5F6F8"/>
          </a:solidFill>
          <a:ln w="12700">
            <a:solidFill>
              <a:srgbClr val="DDE1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0" name="Picture 9" descr="check_steel.png"/>
          <p:cNvPicPr>
            <a:picLocks noChangeAspect="1"/>
          </p:cNvPicPr>
          <p:nvPr/>
        </p:nvPicPr>
        <p:blipFill>
          <a:blip r:embed="rId3"/>
          <a:stretch>
            <a:fillRect/>
          </a:stretch>
        </p:blipFill>
        <p:spPr>
          <a:xfrm>
            <a:off x="987552" y="3145536"/>
            <a:ext cx="237744" cy="237744"/>
          </a:xfrm>
          <a:prstGeom prst="rect">
            <a:avLst/>
          </a:prstGeom>
        </p:spPr>
      </p:pic>
      <p:sp>
        <p:nvSpPr>
          <p:cNvPr id="11" name="TextBox 10"/>
          <p:cNvSpPr txBox="1"/>
          <p:nvPr/>
        </p:nvSpPr>
        <p:spPr>
          <a:xfrm>
            <a:off x="1353312" y="2999232"/>
            <a:ext cx="5029200" cy="530352"/>
          </a:xfrm>
          <a:prstGeom prst="rect">
            <a:avLst/>
          </a:prstGeom>
          <a:noFill/>
        </p:spPr>
        <p:txBody>
          <a:bodyPr wrap="square" anchor="ctr" lIns="0" rIns="0" tIns="0" bIns="0">
            <a:spAutoFit/>
          </a:bodyPr>
          <a:lstStyle/>
          <a:p>
            <a:pPr algn="l">
              <a:lnSpc>
                <a:spcPct val="106000"/>
              </a:lnSpc>
              <a:spcBef>
                <a:spcPts val="0"/>
              </a:spcBef>
              <a:spcAft>
                <a:spcPts val="0"/>
              </a:spcAft>
            </a:pPr>
            <a:r>
              <a:rPr sz="1200" b="0">
                <a:solidFill>
                  <a:srgbClr val="1A1A1A"/>
                </a:solidFill>
                <a:latin typeface="Red Hat Text"/>
              </a:rPr>
              <a:t>Namespace tenant enrolls PER WORKLOAD (namespace label = cluster-admin)</a:t>
            </a:r>
          </a:p>
        </p:txBody>
      </p:sp>
      <p:sp>
        <p:nvSpPr>
          <p:cNvPr id="12" name="Rounded Rectangle 11"/>
          <p:cNvSpPr/>
          <p:nvPr/>
        </p:nvSpPr>
        <p:spPr>
          <a:xfrm>
            <a:off x="841248" y="3602736"/>
            <a:ext cx="5715000" cy="530352"/>
          </a:xfrm>
          <a:prstGeom prst="roundRect">
            <a:avLst>
              <a:gd name="adj" fmla="val 6000"/>
            </a:avLst>
          </a:prstGeom>
          <a:solidFill>
            <a:srgbClr val="F5F6F8"/>
          </a:solidFill>
          <a:ln w="12700">
            <a:solidFill>
              <a:srgbClr val="DDE1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3" name="Picture 12" descr="check_steel.png"/>
          <p:cNvPicPr>
            <a:picLocks noChangeAspect="1"/>
          </p:cNvPicPr>
          <p:nvPr/>
        </p:nvPicPr>
        <p:blipFill>
          <a:blip r:embed="rId3"/>
          <a:stretch>
            <a:fillRect/>
          </a:stretch>
        </p:blipFill>
        <p:spPr>
          <a:xfrm>
            <a:off x="987552" y="3749040"/>
            <a:ext cx="237744" cy="237744"/>
          </a:xfrm>
          <a:prstGeom prst="rect">
            <a:avLst/>
          </a:prstGeom>
        </p:spPr>
      </p:pic>
      <p:sp>
        <p:nvSpPr>
          <p:cNvPr id="14" name="TextBox 13"/>
          <p:cNvSpPr txBox="1"/>
          <p:nvPr/>
        </p:nvSpPr>
        <p:spPr>
          <a:xfrm>
            <a:off x="1353312" y="3602736"/>
            <a:ext cx="5029200" cy="530352"/>
          </a:xfrm>
          <a:prstGeom prst="rect">
            <a:avLst/>
          </a:prstGeom>
          <a:noFill/>
        </p:spPr>
        <p:txBody>
          <a:bodyPr wrap="square" anchor="ctr" lIns="0" rIns="0" tIns="0" bIns="0">
            <a:spAutoFit/>
          </a:bodyPr>
          <a:lstStyle/>
          <a:p>
            <a:pPr algn="l">
              <a:lnSpc>
                <a:spcPct val="106000"/>
              </a:lnSpc>
              <a:spcBef>
                <a:spcPts val="0"/>
              </a:spcBef>
              <a:spcAft>
                <a:spcPts val="0"/>
              </a:spcAft>
            </a:pPr>
            <a:r>
              <a:rPr sz="1200" b="0">
                <a:solidFill>
                  <a:srgbClr val="1A1A1A"/>
                </a:solidFill>
                <a:latin typeface="Red Hat Text"/>
              </a:rPr>
              <a:t>Mutual TLS between meshed workloads — automatic, identity-bound (SPIFFE)</a:t>
            </a:r>
          </a:p>
        </p:txBody>
      </p:sp>
      <p:sp>
        <p:nvSpPr>
          <p:cNvPr id="15" name="Rounded Rectangle 14"/>
          <p:cNvSpPr/>
          <p:nvPr/>
        </p:nvSpPr>
        <p:spPr>
          <a:xfrm>
            <a:off x="841248" y="4206240"/>
            <a:ext cx="5715000" cy="530352"/>
          </a:xfrm>
          <a:prstGeom prst="roundRect">
            <a:avLst>
              <a:gd name="adj" fmla="val 6000"/>
            </a:avLst>
          </a:prstGeom>
          <a:solidFill>
            <a:srgbClr val="F5F6F8"/>
          </a:solidFill>
          <a:ln w="12700">
            <a:solidFill>
              <a:srgbClr val="DDE1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6" name="Picture 15" descr="check_steel.png"/>
          <p:cNvPicPr>
            <a:picLocks noChangeAspect="1"/>
          </p:cNvPicPr>
          <p:nvPr/>
        </p:nvPicPr>
        <p:blipFill>
          <a:blip r:embed="rId3"/>
          <a:stretch>
            <a:fillRect/>
          </a:stretch>
        </p:blipFill>
        <p:spPr>
          <a:xfrm>
            <a:off x="987552" y="4352544"/>
            <a:ext cx="237744" cy="237744"/>
          </a:xfrm>
          <a:prstGeom prst="rect">
            <a:avLst/>
          </a:prstGeom>
        </p:spPr>
      </p:pic>
      <p:sp>
        <p:nvSpPr>
          <p:cNvPr id="17" name="TextBox 16"/>
          <p:cNvSpPr txBox="1"/>
          <p:nvPr/>
        </p:nvSpPr>
        <p:spPr>
          <a:xfrm>
            <a:off x="1353312" y="4206240"/>
            <a:ext cx="5029200" cy="530352"/>
          </a:xfrm>
          <a:prstGeom prst="rect">
            <a:avLst/>
          </a:prstGeom>
          <a:noFill/>
        </p:spPr>
        <p:txBody>
          <a:bodyPr wrap="square" anchor="ctr" lIns="0" rIns="0" tIns="0" bIns="0">
            <a:spAutoFit/>
          </a:bodyPr>
          <a:lstStyle/>
          <a:p>
            <a:pPr algn="l">
              <a:lnSpc>
                <a:spcPct val="106000"/>
              </a:lnSpc>
              <a:spcBef>
                <a:spcPts val="0"/>
              </a:spcBef>
              <a:spcAft>
                <a:spcPts val="0"/>
              </a:spcAft>
            </a:pPr>
            <a:r>
              <a:rPr sz="1200" b="0">
                <a:solidFill>
                  <a:srgbClr val="1A1A1A"/>
                </a:solidFill>
                <a:latin typeface="Red Hat Text"/>
              </a:rPr>
              <a:t>A live service graph + golden signals — no app instrumentation</a:t>
            </a:r>
          </a:p>
        </p:txBody>
      </p:sp>
      <p:sp>
        <p:nvSpPr>
          <p:cNvPr id="18" name="Rounded Rectangle 17"/>
          <p:cNvSpPr/>
          <p:nvPr/>
        </p:nvSpPr>
        <p:spPr>
          <a:xfrm>
            <a:off x="841248" y="4809744"/>
            <a:ext cx="5715000" cy="530352"/>
          </a:xfrm>
          <a:prstGeom prst="roundRect">
            <a:avLst>
              <a:gd name="adj" fmla="val 6000"/>
            </a:avLst>
          </a:prstGeom>
          <a:solidFill>
            <a:srgbClr val="F5F6F8"/>
          </a:solidFill>
          <a:ln w="12700">
            <a:solidFill>
              <a:srgbClr val="DDE1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9" name="Picture 18" descr="check_steel.png"/>
          <p:cNvPicPr>
            <a:picLocks noChangeAspect="1"/>
          </p:cNvPicPr>
          <p:nvPr/>
        </p:nvPicPr>
        <p:blipFill>
          <a:blip r:embed="rId3"/>
          <a:stretch>
            <a:fillRect/>
          </a:stretch>
        </p:blipFill>
        <p:spPr>
          <a:xfrm>
            <a:off x="987552" y="4956048"/>
            <a:ext cx="237744" cy="237744"/>
          </a:xfrm>
          <a:prstGeom prst="rect">
            <a:avLst/>
          </a:prstGeom>
        </p:spPr>
      </p:pic>
      <p:sp>
        <p:nvSpPr>
          <p:cNvPr id="20" name="TextBox 19"/>
          <p:cNvSpPr txBox="1"/>
          <p:nvPr/>
        </p:nvSpPr>
        <p:spPr>
          <a:xfrm>
            <a:off x="1353312" y="4809744"/>
            <a:ext cx="5029200" cy="530352"/>
          </a:xfrm>
          <a:prstGeom prst="rect">
            <a:avLst/>
          </a:prstGeom>
          <a:noFill/>
        </p:spPr>
        <p:txBody>
          <a:bodyPr wrap="square" anchor="ctr" lIns="0" rIns="0" tIns="0" bIns="0">
            <a:spAutoFit/>
          </a:bodyPr>
          <a:lstStyle/>
          <a:p>
            <a:pPr algn="l">
              <a:lnSpc>
                <a:spcPct val="106000"/>
              </a:lnSpc>
              <a:spcBef>
                <a:spcPts val="0"/>
              </a:spcBef>
              <a:spcAft>
                <a:spcPts val="0"/>
              </a:spcAft>
            </a:pPr>
            <a:r>
              <a:rPr sz="1200" b="0">
                <a:solidFill>
                  <a:srgbClr val="1A1A1A"/>
                </a:solidFill>
                <a:latin typeface="Red Hat Text"/>
              </a:rPr>
              <a:t>A control point: route/secure/slow/retry by applying a resource</a:t>
            </a:r>
          </a:p>
        </p:txBody>
      </p:sp>
      <p:sp>
        <p:nvSpPr>
          <p:cNvPr id="21" name="Rounded Rectangle 20"/>
          <p:cNvSpPr/>
          <p:nvPr/>
        </p:nvSpPr>
        <p:spPr>
          <a:xfrm>
            <a:off x="6812280" y="2395728"/>
            <a:ext cx="4538167" cy="2944368"/>
          </a:xfrm>
          <a:prstGeom prst="roundRect">
            <a:avLst>
              <a:gd name="adj" fmla="val 4000"/>
            </a:avLst>
          </a:prstGeom>
          <a:solidFill>
            <a:srgbClr val="FFFFFF"/>
          </a:solidFill>
          <a:ln w="15240">
            <a:solidFill>
              <a:srgbClr val="DDE1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ounded Rectangle 21"/>
          <p:cNvSpPr/>
          <p:nvPr/>
        </p:nvSpPr>
        <p:spPr>
          <a:xfrm>
            <a:off x="7013448" y="2596896"/>
            <a:ext cx="1298448" cy="310896"/>
          </a:xfrm>
          <a:prstGeom prst="roundRect">
            <a:avLst>
              <a:gd name="adj" fmla="val 50000"/>
            </a:avLst>
          </a:prstGeom>
          <a:solidFill>
            <a:srgbClr val="FCEC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7013448" y="2596896"/>
            <a:ext cx="1298448" cy="310896"/>
          </a:xfrm>
          <a:prstGeom prst="rect">
            <a:avLst/>
          </a:prstGeom>
          <a:noFill/>
        </p:spPr>
        <p:txBody>
          <a:bodyPr wrap="none" anchor="ctr" lIns="0" rIns="0" tIns="0" bIns="0">
            <a:spAutoFit/>
          </a:bodyPr>
          <a:lstStyle/>
          <a:p>
            <a:pPr algn="ctr">
              <a:lnSpc>
                <a:spcPct val="106000"/>
              </a:lnSpc>
              <a:spcBef>
                <a:spcPts val="0"/>
              </a:spcBef>
              <a:spcAft>
                <a:spcPts val="0"/>
              </a:spcAft>
            </a:pPr>
            <a:r>
              <a:rPr sz="850" b="1">
                <a:solidFill>
                  <a:srgbClr val="B80000"/>
                </a:solidFill>
                <a:latin typeface="Red Hat Display"/>
              </a:rPr>
              <a:t>MEDIA PASS</a:t>
            </a:r>
          </a:p>
        </p:txBody>
      </p:sp>
      <p:pic>
        <p:nvPicPr>
          <p:cNvPr id="24" name="Picture 23" descr="eye_slate.png"/>
          <p:cNvPicPr>
            <a:picLocks noChangeAspect="1"/>
          </p:cNvPicPr>
          <p:nvPr/>
        </p:nvPicPr>
        <p:blipFill>
          <a:blip r:embed="rId4"/>
          <a:stretch>
            <a:fillRect/>
          </a:stretch>
        </p:blipFill>
        <p:spPr>
          <a:xfrm>
            <a:off x="8843619" y="3108960"/>
            <a:ext cx="475488" cy="475488"/>
          </a:xfrm>
          <a:prstGeom prst="rect">
            <a:avLst/>
          </a:prstGeom>
        </p:spPr>
      </p:pic>
      <p:sp>
        <p:nvSpPr>
          <p:cNvPr id="25" name="TextBox 24"/>
          <p:cNvSpPr txBox="1"/>
          <p:nvPr/>
        </p:nvSpPr>
        <p:spPr>
          <a:xfrm>
            <a:off x="7050024" y="3721608"/>
            <a:ext cx="4062679" cy="1481328"/>
          </a:xfrm>
          <a:prstGeom prst="rect">
            <a:avLst/>
          </a:prstGeom>
          <a:noFill/>
        </p:spPr>
        <p:txBody>
          <a:bodyPr wrap="square" anchor="t" lIns="0" rIns="0" tIns="0" bIns="0">
            <a:spAutoFit/>
          </a:bodyPr>
          <a:lstStyle/>
          <a:p>
            <a:pPr algn="l">
              <a:lnSpc>
                <a:spcPct val="120000"/>
              </a:lnSpc>
              <a:spcBef>
                <a:spcPts val="0"/>
              </a:spcBef>
              <a:spcAft>
                <a:spcPts val="0"/>
              </a:spcAft>
            </a:pPr>
            <a:r>
              <a:rPr sz="950" b="0">
                <a:solidFill>
                  <a:srgbClr val="8A9099"/>
                </a:solidFill>
                <a:latin typeface="Red Hat Text"/>
              </a:rPr>
              <a:t>A pod going from one box to two (app + proxy), with three payoff chips flying out: a padlock (mTLS), a graph icon (Kiali), and a sliders icon (control) — plus a small "per-workload label, not namespace" callout.</a:t>
            </a:r>
          </a:p>
        </p:txBody>
      </p:sp>
      <p:cxnSp>
        <p:nvCxnSpPr>
          <p:cNvPr id="26" name="Connector 25"/>
          <p:cNvCxnSpPr/>
          <p:nvPr/>
        </p:nvCxnSpPr>
        <p:spPr>
          <a:xfrm>
            <a:off x="841248" y="6437376"/>
            <a:ext cx="10509199" cy="0"/>
          </a:xfrm>
          <a:prstGeom prst="bentConnector3">
            <a:avLst/>
          </a:prstGeom>
          <a:ln w="12700">
            <a:solidFill>
              <a:srgbClr val="DDE1E6"/>
            </a:solidFill>
          </a:ln>
          <a:effectLst/>
        </p:spPr>
        <p:style>
          <a:lnRef idx="2">
            <a:schemeClr val="accent1"/>
          </a:lnRef>
          <a:fillRef idx="0">
            <a:schemeClr val="accent1"/>
          </a:fillRef>
          <a:effectRef idx="1">
            <a:schemeClr val="accent1"/>
          </a:effectRef>
          <a:fontRef idx="minor">
            <a:schemeClr val="tx1"/>
          </a:fontRef>
        </p:style>
      </p:cxnSp>
      <p:sp>
        <p:nvSpPr>
          <p:cNvPr id="27" name="TextBox 26"/>
          <p:cNvSpPr txBox="1"/>
          <p:nvPr/>
        </p:nvSpPr>
        <p:spPr>
          <a:xfrm>
            <a:off x="841248" y="6473952"/>
            <a:ext cx="7315200" cy="274320"/>
          </a:xfrm>
          <a:prstGeom prst="rect">
            <a:avLst/>
          </a:prstGeom>
          <a:noFill/>
        </p:spPr>
        <p:txBody>
          <a:bodyPr wrap="square" anchor="t" lIns="0" rIns="0" tIns="0" bIns="0">
            <a:spAutoFit/>
          </a:bodyPr>
          <a:lstStyle/>
          <a:p>
            <a:pPr algn="l">
              <a:lnSpc>
                <a:spcPct val="106000"/>
              </a:lnSpc>
              <a:spcBef>
                <a:spcPts val="0"/>
              </a:spcBef>
              <a:spcAft>
                <a:spcPts val="0"/>
              </a:spcAft>
            </a:pPr>
            <a:r>
              <a:rPr sz="950" b="0">
                <a:solidFill>
                  <a:srgbClr val="8A9099"/>
                </a:solidFill>
                <a:latin typeface="Red Hat Text"/>
              </a:rPr>
              <a:t>CONFIDENTIAL</a:t>
            </a:r>
          </a:p>
        </p:txBody>
      </p:sp>
      <p:sp>
        <p:nvSpPr>
          <p:cNvPr id="28" name="TextBox 27"/>
          <p:cNvSpPr txBox="1"/>
          <p:nvPr/>
        </p:nvSpPr>
        <p:spPr>
          <a:xfrm>
            <a:off x="10801807" y="6473952"/>
            <a:ext cx="548640" cy="274320"/>
          </a:xfrm>
          <a:prstGeom prst="rect">
            <a:avLst/>
          </a:prstGeom>
          <a:noFill/>
        </p:spPr>
        <p:txBody>
          <a:bodyPr wrap="square" anchor="t" lIns="0" rIns="0" tIns="0" bIns="0">
            <a:spAutoFit/>
          </a:bodyPr>
          <a:lstStyle/>
          <a:p>
            <a:pPr algn="r">
              <a:lnSpc>
                <a:spcPct val="106000"/>
              </a:lnSpc>
              <a:spcBef>
                <a:spcPts val="0"/>
              </a:spcBef>
              <a:spcAft>
                <a:spcPts val="0"/>
              </a:spcAft>
            </a:pPr>
            <a:r>
              <a:rPr sz="950" b="0">
                <a:solidFill>
                  <a:srgbClr val="8A9099"/>
                </a:solidFill>
                <a:latin typeface="Red Hat Text"/>
              </a:rPr>
              <a:t>137</a:t>
            </a:r>
          </a:p>
        </p:txBody>
      </p:sp>
    </p:spTree>
  </p:cSld>
  <p:clrMapOvr>
    <a:masterClrMapping/>
  </p:clrMapOvr>
</p:sld>
</file>

<file path=ppt/slides/slide15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redhat_logo.jpg"/>
          <p:cNvPicPr>
            <a:picLocks noChangeAspect="1"/>
          </p:cNvPicPr>
          <p:nvPr/>
        </p:nvPicPr>
        <p:blipFill>
          <a:blip r:embed="rId2"/>
          <a:stretch>
            <a:fillRect/>
          </a:stretch>
        </p:blipFill>
        <p:spPr>
          <a:xfrm>
            <a:off x="10326319" y="475488"/>
            <a:ext cx="1024128" cy="242248"/>
          </a:xfrm>
          <a:prstGeom prst="rect">
            <a:avLst/>
          </a:prstGeom>
        </p:spPr>
      </p:pic>
      <p:sp>
        <p:nvSpPr>
          <p:cNvPr id="3" name="TextBox 2"/>
          <p:cNvSpPr txBox="1"/>
          <p:nvPr/>
        </p:nvSpPr>
        <p:spPr>
          <a:xfrm>
            <a:off x="841248" y="548640"/>
            <a:ext cx="8595360" cy="274320"/>
          </a:xfrm>
          <a:prstGeom prst="rect">
            <a:avLst/>
          </a:prstGeom>
          <a:noFill/>
        </p:spPr>
        <p:txBody>
          <a:bodyPr wrap="square" anchor="t" lIns="0" rIns="0" tIns="0" bIns="0">
            <a:spAutoFit/>
          </a:bodyPr>
          <a:lstStyle/>
          <a:p>
            <a:pPr algn="l">
              <a:lnSpc>
                <a:spcPct val="106000"/>
              </a:lnSpc>
              <a:spcBef>
                <a:spcPts val="0"/>
              </a:spcBef>
              <a:spcAft>
                <a:spcPts val="0"/>
              </a:spcAft>
            </a:pPr>
            <a:r>
              <a:rPr sz="1250" b="1" spc="220">
                <a:solidFill>
                  <a:srgbClr val="EE0000"/>
                </a:solidFill>
                <a:latin typeface="Red Hat Display"/>
              </a:rPr>
              <a:t>M19 · SERVICE MESH 3 &amp; ADVANCED GATEWAYS</a:t>
            </a:r>
          </a:p>
        </p:txBody>
      </p:sp>
      <p:sp>
        <p:nvSpPr>
          <p:cNvPr id="4" name="TextBox 3"/>
          <p:cNvSpPr txBox="1"/>
          <p:nvPr/>
        </p:nvSpPr>
        <p:spPr>
          <a:xfrm>
            <a:off x="841248" y="877824"/>
            <a:ext cx="10515600" cy="548640"/>
          </a:xfrm>
          <a:prstGeom prst="rect">
            <a:avLst/>
          </a:prstGeom>
          <a:noFill/>
        </p:spPr>
        <p:txBody>
          <a:bodyPr wrap="none" anchor="t" lIns="0" rIns="0" tIns="0" bIns="0">
            <a:spAutoFit/>
          </a:bodyPr>
          <a:lstStyle/>
          <a:p>
            <a:pPr algn="l">
              <a:lnSpc>
                <a:spcPct val="100000"/>
              </a:lnSpc>
              <a:spcBef>
                <a:spcPts val="0"/>
              </a:spcBef>
              <a:spcAft>
                <a:spcPts val="0"/>
              </a:spcAft>
            </a:pPr>
            <a:r>
              <a:rPr sz="2500" b="1">
                <a:solidFill>
                  <a:srgbClr val="1A1A1A"/>
                </a:solidFill>
                <a:latin typeface="Red Hat Display"/>
              </a:rPr>
              <a:t>OSSM 3 is upstream Istio — the 2.x question</a:t>
            </a:r>
          </a:p>
        </p:txBody>
      </p:sp>
      <p:cxnSp>
        <p:nvCxnSpPr>
          <p:cNvPr id="5" name="Connector 4"/>
          <p:cNvCxnSpPr/>
          <p:nvPr/>
        </p:nvCxnSpPr>
        <p:spPr>
          <a:xfrm>
            <a:off x="841248" y="1554480"/>
            <a:ext cx="1371600" cy="0"/>
          </a:xfrm>
          <a:prstGeom prst="bentConnector3">
            <a:avLst/>
          </a:prstGeom>
          <a:ln w="31750">
            <a:solidFill>
              <a:srgbClr val="EE0000"/>
            </a:solidFill>
          </a:ln>
          <a:effectLst/>
        </p:spPr>
        <p:style>
          <a:lnRef idx="2">
            <a:schemeClr val="accent1"/>
          </a:lnRef>
          <a:fillRef idx="0">
            <a:schemeClr val="accent1"/>
          </a:fillRef>
          <a:effectRef idx="1">
            <a:schemeClr val="accent1"/>
          </a:effectRef>
          <a:fontRef idx="minor">
            <a:schemeClr val="tx1"/>
          </a:fontRef>
        </p:style>
      </p:cxnSp>
      <p:sp>
        <p:nvSpPr>
          <p:cNvPr id="6" name="Rounded Rectangle 5"/>
          <p:cNvSpPr/>
          <p:nvPr/>
        </p:nvSpPr>
        <p:spPr>
          <a:xfrm>
            <a:off x="841248" y="2395728"/>
            <a:ext cx="5715000" cy="530352"/>
          </a:xfrm>
          <a:prstGeom prst="roundRect">
            <a:avLst>
              <a:gd name="adj" fmla="val 6000"/>
            </a:avLst>
          </a:prstGeom>
          <a:solidFill>
            <a:srgbClr val="F5F6F8"/>
          </a:solidFill>
          <a:ln w="12700">
            <a:solidFill>
              <a:srgbClr val="DDE1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check_steel.png"/>
          <p:cNvPicPr>
            <a:picLocks noChangeAspect="1"/>
          </p:cNvPicPr>
          <p:nvPr/>
        </p:nvPicPr>
        <p:blipFill>
          <a:blip r:embed="rId3"/>
          <a:stretch>
            <a:fillRect/>
          </a:stretch>
        </p:blipFill>
        <p:spPr>
          <a:xfrm>
            <a:off x="987552" y="2542032"/>
            <a:ext cx="237744" cy="237744"/>
          </a:xfrm>
          <a:prstGeom prst="rect">
            <a:avLst/>
          </a:prstGeom>
        </p:spPr>
      </p:pic>
      <p:sp>
        <p:nvSpPr>
          <p:cNvPr id="8" name="TextBox 7"/>
          <p:cNvSpPr txBox="1"/>
          <p:nvPr/>
        </p:nvSpPr>
        <p:spPr>
          <a:xfrm>
            <a:off x="1353312" y="2395728"/>
            <a:ext cx="5029200" cy="530352"/>
          </a:xfrm>
          <a:prstGeom prst="rect">
            <a:avLst/>
          </a:prstGeom>
          <a:noFill/>
        </p:spPr>
        <p:txBody>
          <a:bodyPr wrap="square" anchor="ctr" lIns="0" rIns="0" tIns="0" bIns="0">
            <a:spAutoFit/>
          </a:bodyPr>
          <a:lstStyle/>
          <a:p>
            <a:pPr algn="l">
              <a:lnSpc>
                <a:spcPct val="106000"/>
              </a:lnSpc>
              <a:spcBef>
                <a:spcPts val="0"/>
              </a:spcBef>
              <a:spcAft>
                <a:spcPts val="0"/>
              </a:spcAft>
            </a:pPr>
            <a:r>
              <a:rPr sz="1200" b="0">
                <a:solidFill>
                  <a:srgbClr val="1A1A1A"/>
                </a:solidFill>
                <a:latin typeface="Red Hat Text"/>
              </a:rPr>
              <a:t>Service Mesh 3 = upstream Istio, managed by the Sail operator</a:t>
            </a:r>
          </a:p>
        </p:txBody>
      </p:sp>
      <p:sp>
        <p:nvSpPr>
          <p:cNvPr id="9" name="Rounded Rectangle 8"/>
          <p:cNvSpPr/>
          <p:nvPr/>
        </p:nvSpPr>
        <p:spPr>
          <a:xfrm>
            <a:off x="841248" y="2999232"/>
            <a:ext cx="5715000" cy="530352"/>
          </a:xfrm>
          <a:prstGeom prst="roundRect">
            <a:avLst>
              <a:gd name="adj" fmla="val 6000"/>
            </a:avLst>
          </a:prstGeom>
          <a:solidFill>
            <a:srgbClr val="F5F6F8"/>
          </a:solidFill>
          <a:ln w="12700">
            <a:solidFill>
              <a:srgbClr val="DDE1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0" name="Picture 9" descr="check_steel.png"/>
          <p:cNvPicPr>
            <a:picLocks noChangeAspect="1"/>
          </p:cNvPicPr>
          <p:nvPr/>
        </p:nvPicPr>
        <p:blipFill>
          <a:blip r:embed="rId3"/>
          <a:stretch>
            <a:fillRect/>
          </a:stretch>
        </p:blipFill>
        <p:spPr>
          <a:xfrm>
            <a:off x="987552" y="3145536"/>
            <a:ext cx="237744" cy="237744"/>
          </a:xfrm>
          <a:prstGeom prst="rect">
            <a:avLst/>
          </a:prstGeom>
        </p:spPr>
      </p:pic>
      <p:sp>
        <p:nvSpPr>
          <p:cNvPr id="11" name="TextBox 10"/>
          <p:cNvSpPr txBox="1"/>
          <p:nvPr/>
        </p:nvSpPr>
        <p:spPr>
          <a:xfrm>
            <a:off x="1353312" y="2999232"/>
            <a:ext cx="5029200" cy="530352"/>
          </a:xfrm>
          <a:prstGeom prst="rect">
            <a:avLst/>
          </a:prstGeom>
          <a:noFill/>
        </p:spPr>
        <p:txBody>
          <a:bodyPr wrap="square" anchor="ctr" lIns="0" rIns="0" tIns="0" bIns="0">
            <a:spAutoFit/>
          </a:bodyPr>
          <a:lstStyle/>
          <a:p>
            <a:pPr algn="l">
              <a:lnSpc>
                <a:spcPct val="106000"/>
              </a:lnSpc>
              <a:spcBef>
                <a:spcPts val="0"/>
              </a:spcBef>
              <a:spcAft>
                <a:spcPts val="0"/>
              </a:spcAft>
            </a:pPr>
            <a:r>
              <a:rPr sz="1200" b="0">
                <a:solidFill>
                  <a:srgbClr val="1A1A1A"/>
                </a:solidFill>
                <a:latin typeface="Red Hat Text"/>
              </a:rPr>
              <a:t>The 2.x control-plane and member-roll CRs are GONE</a:t>
            </a:r>
          </a:p>
        </p:txBody>
      </p:sp>
      <p:sp>
        <p:nvSpPr>
          <p:cNvPr id="12" name="Rounded Rectangle 11"/>
          <p:cNvSpPr/>
          <p:nvPr/>
        </p:nvSpPr>
        <p:spPr>
          <a:xfrm>
            <a:off x="841248" y="3602736"/>
            <a:ext cx="5715000" cy="530352"/>
          </a:xfrm>
          <a:prstGeom prst="roundRect">
            <a:avLst>
              <a:gd name="adj" fmla="val 6000"/>
            </a:avLst>
          </a:prstGeom>
          <a:solidFill>
            <a:srgbClr val="F5F6F8"/>
          </a:solidFill>
          <a:ln w="12700">
            <a:solidFill>
              <a:srgbClr val="DDE1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3" name="Picture 12" descr="check_steel.png"/>
          <p:cNvPicPr>
            <a:picLocks noChangeAspect="1"/>
          </p:cNvPicPr>
          <p:nvPr/>
        </p:nvPicPr>
        <p:blipFill>
          <a:blip r:embed="rId3"/>
          <a:stretch>
            <a:fillRect/>
          </a:stretch>
        </p:blipFill>
        <p:spPr>
          <a:xfrm>
            <a:off x="987552" y="3749040"/>
            <a:ext cx="237744" cy="237744"/>
          </a:xfrm>
          <a:prstGeom prst="rect">
            <a:avLst/>
          </a:prstGeom>
        </p:spPr>
      </p:pic>
      <p:sp>
        <p:nvSpPr>
          <p:cNvPr id="14" name="TextBox 13"/>
          <p:cNvSpPr txBox="1"/>
          <p:nvPr/>
        </p:nvSpPr>
        <p:spPr>
          <a:xfrm>
            <a:off x="1353312" y="3602736"/>
            <a:ext cx="5029200" cy="530352"/>
          </a:xfrm>
          <a:prstGeom prst="rect">
            <a:avLst/>
          </a:prstGeom>
          <a:noFill/>
        </p:spPr>
        <p:txBody>
          <a:bodyPr wrap="square" anchor="ctr" lIns="0" rIns="0" tIns="0" bIns="0">
            <a:spAutoFit/>
          </a:bodyPr>
          <a:lstStyle/>
          <a:p>
            <a:pPr algn="l">
              <a:lnSpc>
                <a:spcPct val="106000"/>
              </a:lnSpc>
              <a:spcBef>
                <a:spcPts val="0"/>
              </a:spcBef>
              <a:spcAft>
                <a:spcPts val="0"/>
              </a:spcAft>
            </a:pPr>
            <a:r>
              <a:rPr sz="1200" b="0">
                <a:solidFill>
                  <a:srgbClr val="1A1A1A"/>
                </a:solidFill>
                <a:latin typeface="Red Hat Text"/>
              </a:rPr>
              <a:t>3.x: the standard `Istio` CR + discovery/injection labels</a:t>
            </a:r>
          </a:p>
        </p:txBody>
      </p:sp>
      <p:sp>
        <p:nvSpPr>
          <p:cNvPr id="15" name="Rounded Rectangle 14"/>
          <p:cNvSpPr/>
          <p:nvPr/>
        </p:nvSpPr>
        <p:spPr>
          <a:xfrm>
            <a:off x="841248" y="4206240"/>
            <a:ext cx="5715000" cy="530352"/>
          </a:xfrm>
          <a:prstGeom prst="roundRect">
            <a:avLst>
              <a:gd name="adj" fmla="val 6000"/>
            </a:avLst>
          </a:prstGeom>
          <a:solidFill>
            <a:srgbClr val="F5F6F8"/>
          </a:solidFill>
          <a:ln w="12700">
            <a:solidFill>
              <a:srgbClr val="DDE1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6" name="Picture 15" descr="check_steel.png"/>
          <p:cNvPicPr>
            <a:picLocks noChangeAspect="1"/>
          </p:cNvPicPr>
          <p:nvPr/>
        </p:nvPicPr>
        <p:blipFill>
          <a:blip r:embed="rId3"/>
          <a:stretch>
            <a:fillRect/>
          </a:stretch>
        </p:blipFill>
        <p:spPr>
          <a:xfrm>
            <a:off x="987552" y="4352544"/>
            <a:ext cx="237744" cy="237744"/>
          </a:xfrm>
          <a:prstGeom prst="rect">
            <a:avLst/>
          </a:prstGeom>
        </p:spPr>
      </p:pic>
      <p:sp>
        <p:nvSpPr>
          <p:cNvPr id="17" name="TextBox 16"/>
          <p:cNvSpPr txBox="1"/>
          <p:nvPr/>
        </p:nvSpPr>
        <p:spPr>
          <a:xfrm>
            <a:off x="1353312" y="4206240"/>
            <a:ext cx="5029200" cy="530352"/>
          </a:xfrm>
          <a:prstGeom prst="rect">
            <a:avLst/>
          </a:prstGeom>
          <a:noFill/>
        </p:spPr>
        <p:txBody>
          <a:bodyPr wrap="square" anchor="ctr" lIns="0" rIns="0" tIns="0" bIns="0">
            <a:spAutoFit/>
          </a:bodyPr>
          <a:lstStyle/>
          <a:p>
            <a:pPr algn="l">
              <a:lnSpc>
                <a:spcPct val="106000"/>
              </a:lnSpc>
              <a:spcBef>
                <a:spcPts val="0"/>
              </a:spcBef>
              <a:spcAft>
                <a:spcPts val="0"/>
              </a:spcAft>
            </a:pPr>
            <a:r>
              <a:rPr sz="1200" b="0">
                <a:solidFill>
                  <a:srgbClr val="1A1A1A"/>
                </a:solidFill>
                <a:latin typeface="Red Hat Text"/>
              </a:rPr>
              <a:t>Migration message: "your Istio knowledge transfers directly"</a:t>
            </a:r>
          </a:p>
        </p:txBody>
      </p:sp>
      <p:sp>
        <p:nvSpPr>
          <p:cNvPr id="18" name="Rounded Rectangle 17"/>
          <p:cNvSpPr/>
          <p:nvPr/>
        </p:nvSpPr>
        <p:spPr>
          <a:xfrm>
            <a:off x="841248" y="4809744"/>
            <a:ext cx="5715000" cy="530352"/>
          </a:xfrm>
          <a:prstGeom prst="roundRect">
            <a:avLst>
              <a:gd name="adj" fmla="val 6000"/>
            </a:avLst>
          </a:prstGeom>
          <a:solidFill>
            <a:srgbClr val="F5F6F8"/>
          </a:solidFill>
          <a:ln w="12700">
            <a:solidFill>
              <a:srgbClr val="DDE1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9" name="Picture 18" descr="check_steel.png"/>
          <p:cNvPicPr>
            <a:picLocks noChangeAspect="1"/>
          </p:cNvPicPr>
          <p:nvPr/>
        </p:nvPicPr>
        <p:blipFill>
          <a:blip r:embed="rId3"/>
          <a:stretch>
            <a:fillRect/>
          </a:stretch>
        </p:blipFill>
        <p:spPr>
          <a:xfrm>
            <a:off x="987552" y="4956048"/>
            <a:ext cx="237744" cy="237744"/>
          </a:xfrm>
          <a:prstGeom prst="rect">
            <a:avLst/>
          </a:prstGeom>
        </p:spPr>
      </p:pic>
      <p:sp>
        <p:nvSpPr>
          <p:cNvPr id="20" name="TextBox 19"/>
          <p:cNvSpPr txBox="1"/>
          <p:nvPr/>
        </p:nvSpPr>
        <p:spPr>
          <a:xfrm>
            <a:off x="1353312" y="4809744"/>
            <a:ext cx="5029200" cy="530352"/>
          </a:xfrm>
          <a:prstGeom prst="rect">
            <a:avLst/>
          </a:prstGeom>
          <a:noFill/>
        </p:spPr>
        <p:txBody>
          <a:bodyPr wrap="square" anchor="ctr" lIns="0" rIns="0" tIns="0" bIns="0">
            <a:spAutoFit/>
          </a:bodyPr>
          <a:lstStyle/>
          <a:p>
            <a:pPr algn="l">
              <a:lnSpc>
                <a:spcPct val="106000"/>
              </a:lnSpc>
              <a:spcBef>
                <a:spcPts val="0"/>
              </a:spcBef>
              <a:spcAft>
                <a:spcPts val="0"/>
              </a:spcAft>
            </a:pPr>
            <a:r>
              <a:rPr sz="1200" b="0">
                <a:solidFill>
                  <a:srgbClr val="1A1A1A"/>
                </a:solidFill>
                <a:latin typeface="Red Hat Text"/>
              </a:rPr>
              <a:t>On this cluster: Istio v1.28.6, reported by the `Istio` resource</a:t>
            </a:r>
          </a:p>
        </p:txBody>
      </p:sp>
      <p:sp>
        <p:nvSpPr>
          <p:cNvPr id="21" name="Rounded Rectangle 20"/>
          <p:cNvSpPr/>
          <p:nvPr/>
        </p:nvSpPr>
        <p:spPr>
          <a:xfrm>
            <a:off x="6812280" y="2395728"/>
            <a:ext cx="4538167" cy="2944368"/>
          </a:xfrm>
          <a:prstGeom prst="roundRect">
            <a:avLst>
              <a:gd name="adj" fmla="val 4000"/>
            </a:avLst>
          </a:prstGeom>
          <a:solidFill>
            <a:srgbClr val="FFFFFF"/>
          </a:solidFill>
          <a:ln w="15240">
            <a:solidFill>
              <a:srgbClr val="DDE1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ounded Rectangle 21"/>
          <p:cNvSpPr/>
          <p:nvPr/>
        </p:nvSpPr>
        <p:spPr>
          <a:xfrm>
            <a:off x="7013448" y="2596896"/>
            <a:ext cx="1298448" cy="310896"/>
          </a:xfrm>
          <a:prstGeom prst="roundRect">
            <a:avLst>
              <a:gd name="adj" fmla="val 50000"/>
            </a:avLst>
          </a:prstGeom>
          <a:solidFill>
            <a:srgbClr val="FCEC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7013448" y="2596896"/>
            <a:ext cx="1298448" cy="310896"/>
          </a:xfrm>
          <a:prstGeom prst="rect">
            <a:avLst/>
          </a:prstGeom>
          <a:noFill/>
        </p:spPr>
        <p:txBody>
          <a:bodyPr wrap="none" anchor="ctr" lIns="0" rIns="0" tIns="0" bIns="0">
            <a:spAutoFit/>
          </a:bodyPr>
          <a:lstStyle/>
          <a:p>
            <a:pPr algn="ctr">
              <a:lnSpc>
                <a:spcPct val="106000"/>
              </a:lnSpc>
              <a:spcBef>
                <a:spcPts val="0"/>
              </a:spcBef>
              <a:spcAft>
                <a:spcPts val="0"/>
              </a:spcAft>
            </a:pPr>
            <a:r>
              <a:rPr sz="850" b="1">
                <a:solidFill>
                  <a:srgbClr val="B80000"/>
                </a:solidFill>
                <a:latin typeface="Red Hat Display"/>
              </a:rPr>
              <a:t>MEDIA PASS</a:t>
            </a:r>
          </a:p>
        </p:txBody>
      </p:sp>
      <p:pic>
        <p:nvPicPr>
          <p:cNvPr id="24" name="Picture 23" descr="eye_slate.png"/>
          <p:cNvPicPr>
            <a:picLocks noChangeAspect="1"/>
          </p:cNvPicPr>
          <p:nvPr/>
        </p:nvPicPr>
        <p:blipFill>
          <a:blip r:embed="rId4"/>
          <a:stretch>
            <a:fillRect/>
          </a:stretch>
        </p:blipFill>
        <p:spPr>
          <a:xfrm>
            <a:off x="8843619" y="3108960"/>
            <a:ext cx="475488" cy="475488"/>
          </a:xfrm>
          <a:prstGeom prst="rect">
            <a:avLst/>
          </a:prstGeom>
        </p:spPr>
      </p:pic>
      <p:sp>
        <p:nvSpPr>
          <p:cNvPr id="25" name="TextBox 24"/>
          <p:cNvSpPr txBox="1"/>
          <p:nvPr/>
        </p:nvSpPr>
        <p:spPr>
          <a:xfrm>
            <a:off x="7050024" y="3721608"/>
            <a:ext cx="4062679" cy="1481328"/>
          </a:xfrm>
          <a:prstGeom prst="rect">
            <a:avLst/>
          </a:prstGeom>
          <a:noFill/>
        </p:spPr>
        <p:txBody>
          <a:bodyPr wrap="square" anchor="t" lIns="0" rIns="0" tIns="0" bIns="0">
            <a:spAutoFit/>
          </a:bodyPr>
          <a:lstStyle/>
          <a:p>
            <a:pPr algn="l">
              <a:lnSpc>
                <a:spcPct val="120000"/>
              </a:lnSpc>
              <a:spcBef>
                <a:spcPts val="0"/>
              </a:spcBef>
              <a:spcAft>
                <a:spcPts val="0"/>
              </a:spcAft>
            </a:pPr>
            <a:r>
              <a:rPr sz="950" b="0">
                <a:solidFill>
                  <a:srgbClr val="8A9099"/>
                </a:solidFill>
                <a:latin typeface="Red Hat Text"/>
              </a:rPr>
              <a:t>A before/after: left "2.x — Red Hat control-plane CR + member-roll" struck through; right "3.x — Sail operator + standard `Istio` CR + injection labels," with an "upstream Istio v1.28.6" badge.</a:t>
            </a:r>
          </a:p>
        </p:txBody>
      </p:sp>
      <p:cxnSp>
        <p:nvCxnSpPr>
          <p:cNvPr id="26" name="Connector 25"/>
          <p:cNvCxnSpPr/>
          <p:nvPr/>
        </p:nvCxnSpPr>
        <p:spPr>
          <a:xfrm>
            <a:off x="841248" y="6437376"/>
            <a:ext cx="10509199" cy="0"/>
          </a:xfrm>
          <a:prstGeom prst="bentConnector3">
            <a:avLst/>
          </a:prstGeom>
          <a:ln w="12700">
            <a:solidFill>
              <a:srgbClr val="DDE1E6"/>
            </a:solidFill>
          </a:ln>
          <a:effectLst/>
        </p:spPr>
        <p:style>
          <a:lnRef idx="2">
            <a:schemeClr val="accent1"/>
          </a:lnRef>
          <a:fillRef idx="0">
            <a:schemeClr val="accent1"/>
          </a:fillRef>
          <a:effectRef idx="1">
            <a:schemeClr val="accent1"/>
          </a:effectRef>
          <a:fontRef idx="minor">
            <a:schemeClr val="tx1"/>
          </a:fontRef>
        </p:style>
      </p:cxnSp>
      <p:sp>
        <p:nvSpPr>
          <p:cNvPr id="27" name="TextBox 26"/>
          <p:cNvSpPr txBox="1"/>
          <p:nvPr/>
        </p:nvSpPr>
        <p:spPr>
          <a:xfrm>
            <a:off x="841248" y="6473952"/>
            <a:ext cx="7315200" cy="274320"/>
          </a:xfrm>
          <a:prstGeom prst="rect">
            <a:avLst/>
          </a:prstGeom>
          <a:noFill/>
        </p:spPr>
        <p:txBody>
          <a:bodyPr wrap="square" anchor="t" lIns="0" rIns="0" tIns="0" bIns="0">
            <a:spAutoFit/>
          </a:bodyPr>
          <a:lstStyle/>
          <a:p>
            <a:pPr algn="l">
              <a:lnSpc>
                <a:spcPct val="106000"/>
              </a:lnSpc>
              <a:spcBef>
                <a:spcPts val="0"/>
              </a:spcBef>
              <a:spcAft>
                <a:spcPts val="0"/>
              </a:spcAft>
            </a:pPr>
            <a:r>
              <a:rPr sz="950" b="0">
                <a:solidFill>
                  <a:srgbClr val="8A9099"/>
                </a:solidFill>
                <a:latin typeface="Red Hat Text"/>
              </a:rPr>
              <a:t>CONFIDENTIAL</a:t>
            </a:r>
          </a:p>
        </p:txBody>
      </p:sp>
      <p:sp>
        <p:nvSpPr>
          <p:cNvPr id="28" name="TextBox 27"/>
          <p:cNvSpPr txBox="1"/>
          <p:nvPr/>
        </p:nvSpPr>
        <p:spPr>
          <a:xfrm>
            <a:off x="10801807" y="6473952"/>
            <a:ext cx="548640" cy="274320"/>
          </a:xfrm>
          <a:prstGeom prst="rect">
            <a:avLst/>
          </a:prstGeom>
          <a:noFill/>
        </p:spPr>
        <p:txBody>
          <a:bodyPr wrap="square" anchor="t" lIns="0" rIns="0" tIns="0" bIns="0">
            <a:spAutoFit/>
          </a:bodyPr>
          <a:lstStyle/>
          <a:p>
            <a:pPr algn="r">
              <a:lnSpc>
                <a:spcPct val="106000"/>
              </a:lnSpc>
              <a:spcBef>
                <a:spcPts val="0"/>
              </a:spcBef>
              <a:spcAft>
                <a:spcPts val="0"/>
              </a:spcAft>
            </a:pPr>
            <a:r>
              <a:rPr sz="950" b="0">
                <a:solidFill>
                  <a:srgbClr val="8A9099"/>
                </a:solidFill>
                <a:latin typeface="Red Hat Text"/>
              </a:rPr>
              <a:t>138</a:t>
            </a:r>
          </a:p>
        </p:txBody>
      </p:sp>
    </p:spTree>
  </p:cSld>
  <p:clrMapOvr>
    <a:masterClrMapping/>
  </p:clrMapOvr>
</p:sld>
</file>

<file path=ppt/slides/slide15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redhat_logo.jpg"/>
          <p:cNvPicPr>
            <a:picLocks noChangeAspect="1"/>
          </p:cNvPicPr>
          <p:nvPr/>
        </p:nvPicPr>
        <p:blipFill>
          <a:blip r:embed="rId2"/>
          <a:stretch>
            <a:fillRect/>
          </a:stretch>
        </p:blipFill>
        <p:spPr>
          <a:xfrm>
            <a:off x="10326319" y="475488"/>
            <a:ext cx="1024128" cy="242248"/>
          </a:xfrm>
          <a:prstGeom prst="rect">
            <a:avLst/>
          </a:prstGeom>
        </p:spPr>
      </p:pic>
      <p:sp>
        <p:nvSpPr>
          <p:cNvPr id="3" name="TextBox 2"/>
          <p:cNvSpPr txBox="1"/>
          <p:nvPr/>
        </p:nvSpPr>
        <p:spPr>
          <a:xfrm>
            <a:off x="841248" y="548640"/>
            <a:ext cx="8595360" cy="274320"/>
          </a:xfrm>
          <a:prstGeom prst="rect">
            <a:avLst/>
          </a:prstGeom>
          <a:noFill/>
        </p:spPr>
        <p:txBody>
          <a:bodyPr wrap="square" anchor="t" lIns="0" rIns="0" tIns="0" bIns="0">
            <a:spAutoFit/>
          </a:bodyPr>
          <a:lstStyle/>
          <a:p>
            <a:pPr algn="l">
              <a:lnSpc>
                <a:spcPct val="106000"/>
              </a:lnSpc>
              <a:spcBef>
                <a:spcPts val="0"/>
              </a:spcBef>
              <a:spcAft>
                <a:spcPts val="0"/>
              </a:spcAft>
            </a:pPr>
            <a:r>
              <a:rPr sz="1250" b="1" spc="220">
                <a:solidFill>
                  <a:srgbClr val="EE0000"/>
                </a:solidFill>
                <a:latin typeface="Red Hat Display"/>
              </a:rPr>
              <a:t>M19 · SERVICE MESH 3 &amp; ADVANCED GATEWAYS</a:t>
            </a:r>
          </a:p>
        </p:txBody>
      </p:sp>
      <p:sp>
        <p:nvSpPr>
          <p:cNvPr id="4" name="TextBox 3"/>
          <p:cNvSpPr txBox="1"/>
          <p:nvPr/>
        </p:nvSpPr>
        <p:spPr>
          <a:xfrm>
            <a:off x="841248" y="877824"/>
            <a:ext cx="10515600" cy="548640"/>
          </a:xfrm>
          <a:prstGeom prst="rect">
            <a:avLst/>
          </a:prstGeom>
          <a:noFill/>
        </p:spPr>
        <p:txBody>
          <a:bodyPr wrap="none" anchor="t" lIns="0" rIns="0" tIns="0" bIns="0">
            <a:spAutoFit/>
          </a:bodyPr>
          <a:lstStyle/>
          <a:p>
            <a:pPr algn="l">
              <a:lnSpc>
                <a:spcPct val="100000"/>
              </a:lnSpc>
              <a:spcBef>
                <a:spcPts val="0"/>
              </a:spcBef>
              <a:spcAft>
                <a:spcPts val="0"/>
              </a:spcAft>
            </a:pPr>
            <a:r>
              <a:rPr sz="2500" b="1">
                <a:solidFill>
                  <a:srgbClr val="1A1A1A"/>
                </a:solidFill>
                <a:latin typeface="Red Hat Display"/>
              </a:rPr>
              <a:t>Shift traffic between versions</a:t>
            </a:r>
          </a:p>
        </p:txBody>
      </p:sp>
      <p:cxnSp>
        <p:nvCxnSpPr>
          <p:cNvPr id="5" name="Connector 4"/>
          <p:cNvCxnSpPr/>
          <p:nvPr/>
        </p:nvCxnSpPr>
        <p:spPr>
          <a:xfrm>
            <a:off x="841248" y="1554480"/>
            <a:ext cx="1371600" cy="0"/>
          </a:xfrm>
          <a:prstGeom prst="bentConnector3">
            <a:avLst/>
          </a:prstGeom>
          <a:ln w="31750">
            <a:solidFill>
              <a:srgbClr val="EE0000"/>
            </a:solidFill>
          </a:ln>
          <a:effectLst/>
        </p:spPr>
        <p:style>
          <a:lnRef idx="2">
            <a:schemeClr val="accent1"/>
          </a:lnRef>
          <a:fillRef idx="0">
            <a:schemeClr val="accent1"/>
          </a:fillRef>
          <a:effectRef idx="1">
            <a:schemeClr val="accent1"/>
          </a:effectRef>
          <a:fontRef idx="minor">
            <a:schemeClr val="tx1"/>
          </a:fontRef>
        </p:style>
      </p:cxnSp>
      <p:sp>
        <p:nvSpPr>
          <p:cNvPr id="6" name="Rounded Rectangle 5"/>
          <p:cNvSpPr/>
          <p:nvPr/>
        </p:nvSpPr>
        <p:spPr>
          <a:xfrm>
            <a:off x="841248" y="2395728"/>
            <a:ext cx="5715000" cy="530352"/>
          </a:xfrm>
          <a:prstGeom prst="roundRect">
            <a:avLst>
              <a:gd name="adj" fmla="val 6000"/>
            </a:avLst>
          </a:prstGeom>
          <a:solidFill>
            <a:srgbClr val="F5F6F8"/>
          </a:solidFill>
          <a:ln w="12700">
            <a:solidFill>
              <a:srgbClr val="DDE1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check_steel.png"/>
          <p:cNvPicPr>
            <a:picLocks noChangeAspect="1"/>
          </p:cNvPicPr>
          <p:nvPr/>
        </p:nvPicPr>
        <p:blipFill>
          <a:blip r:embed="rId3"/>
          <a:stretch>
            <a:fillRect/>
          </a:stretch>
        </p:blipFill>
        <p:spPr>
          <a:xfrm>
            <a:off x="987552" y="2542032"/>
            <a:ext cx="237744" cy="237744"/>
          </a:xfrm>
          <a:prstGeom prst="rect">
            <a:avLst/>
          </a:prstGeom>
        </p:spPr>
      </p:pic>
      <p:sp>
        <p:nvSpPr>
          <p:cNvPr id="8" name="TextBox 7"/>
          <p:cNvSpPr txBox="1"/>
          <p:nvPr/>
        </p:nvSpPr>
        <p:spPr>
          <a:xfrm>
            <a:off x="1353312" y="2395728"/>
            <a:ext cx="5029200" cy="530352"/>
          </a:xfrm>
          <a:prstGeom prst="rect">
            <a:avLst/>
          </a:prstGeom>
          <a:noFill/>
        </p:spPr>
        <p:txBody>
          <a:bodyPr wrap="square" anchor="ctr" lIns="0" rIns="0" tIns="0" bIns="0">
            <a:spAutoFit/>
          </a:bodyPr>
          <a:lstStyle/>
          <a:p>
            <a:pPr algn="l">
              <a:lnSpc>
                <a:spcPct val="106000"/>
              </a:lnSpc>
              <a:spcBef>
                <a:spcPts val="0"/>
              </a:spcBef>
              <a:spcAft>
                <a:spcPts val="0"/>
              </a:spcAft>
            </a:pPr>
            <a:r>
              <a:rPr sz="1200" b="0">
                <a:solidFill>
                  <a:srgbClr val="1A1A1A"/>
                </a:solidFill>
                <a:latin typeface="Red Hat Text"/>
              </a:rPr>
              <a:t>DestinationRule = named subsets (v1, v2 pools)</a:t>
            </a:r>
          </a:p>
        </p:txBody>
      </p:sp>
      <p:sp>
        <p:nvSpPr>
          <p:cNvPr id="9" name="Rounded Rectangle 8"/>
          <p:cNvSpPr/>
          <p:nvPr/>
        </p:nvSpPr>
        <p:spPr>
          <a:xfrm>
            <a:off x="841248" y="2999232"/>
            <a:ext cx="5715000" cy="530352"/>
          </a:xfrm>
          <a:prstGeom prst="roundRect">
            <a:avLst>
              <a:gd name="adj" fmla="val 6000"/>
            </a:avLst>
          </a:prstGeom>
          <a:solidFill>
            <a:srgbClr val="F5F6F8"/>
          </a:solidFill>
          <a:ln w="12700">
            <a:solidFill>
              <a:srgbClr val="DDE1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0" name="Picture 9" descr="check_steel.png"/>
          <p:cNvPicPr>
            <a:picLocks noChangeAspect="1"/>
          </p:cNvPicPr>
          <p:nvPr/>
        </p:nvPicPr>
        <p:blipFill>
          <a:blip r:embed="rId3"/>
          <a:stretch>
            <a:fillRect/>
          </a:stretch>
        </p:blipFill>
        <p:spPr>
          <a:xfrm>
            <a:off x="987552" y="3145536"/>
            <a:ext cx="237744" cy="237744"/>
          </a:xfrm>
          <a:prstGeom prst="rect">
            <a:avLst/>
          </a:prstGeom>
        </p:spPr>
      </p:pic>
      <p:sp>
        <p:nvSpPr>
          <p:cNvPr id="11" name="TextBox 10"/>
          <p:cNvSpPr txBox="1"/>
          <p:nvPr/>
        </p:nvSpPr>
        <p:spPr>
          <a:xfrm>
            <a:off x="1353312" y="2999232"/>
            <a:ext cx="5029200" cy="530352"/>
          </a:xfrm>
          <a:prstGeom prst="rect">
            <a:avLst/>
          </a:prstGeom>
          <a:noFill/>
        </p:spPr>
        <p:txBody>
          <a:bodyPr wrap="square" anchor="ctr" lIns="0" rIns="0" tIns="0" bIns="0">
            <a:spAutoFit/>
          </a:bodyPr>
          <a:lstStyle/>
          <a:p>
            <a:pPr algn="l">
              <a:lnSpc>
                <a:spcPct val="106000"/>
              </a:lnSpc>
              <a:spcBef>
                <a:spcPts val="0"/>
              </a:spcBef>
              <a:spcAft>
                <a:spcPts val="0"/>
              </a:spcAft>
            </a:pPr>
            <a:r>
              <a:rPr sz="1200" b="0">
                <a:solidFill>
                  <a:srgbClr val="1A1A1A"/>
                </a:solidFill>
                <a:latin typeface="Red Hat Text"/>
              </a:rPr>
              <a:t>VirtualService = the route: 90/10 weighted split + header rule</a:t>
            </a:r>
          </a:p>
        </p:txBody>
      </p:sp>
      <p:sp>
        <p:nvSpPr>
          <p:cNvPr id="12" name="Rounded Rectangle 11"/>
          <p:cNvSpPr/>
          <p:nvPr/>
        </p:nvSpPr>
        <p:spPr>
          <a:xfrm>
            <a:off x="841248" y="3602736"/>
            <a:ext cx="5715000" cy="530352"/>
          </a:xfrm>
          <a:prstGeom prst="roundRect">
            <a:avLst>
              <a:gd name="adj" fmla="val 6000"/>
            </a:avLst>
          </a:prstGeom>
          <a:solidFill>
            <a:srgbClr val="F5F6F8"/>
          </a:solidFill>
          <a:ln w="12700">
            <a:solidFill>
              <a:srgbClr val="DDE1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3" name="Picture 12" descr="check_steel.png"/>
          <p:cNvPicPr>
            <a:picLocks noChangeAspect="1"/>
          </p:cNvPicPr>
          <p:nvPr/>
        </p:nvPicPr>
        <p:blipFill>
          <a:blip r:embed="rId3"/>
          <a:stretch>
            <a:fillRect/>
          </a:stretch>
        </p:blipFill>
        <p:spPr>
          <a:xfrm>
            <a:off x="987552" y="3749040"/>
            <a:ext cx="237744" cy="237744"/>
          </a:xfrm>
          <a:prstGeom prst="rect">
            <a:avLst/>
          </a:prstGeom>
        </p:spPr>
      </p:pic>
      <p:sp>
        <p:nvSpPr>
          <p:cNvPr id="14" name="TextBox 13"/>
          <p:cNvSpPr txBox="1"/>
          <p:nvPr/>
        </p:nvSpPr>
        <p:spPr>
          <a:xfrm>
            <a:off x="1353312" y="3602736"/>
            <a:ext cx="5029200" cy="530352"/>
          </a:xfrm>
          <a:prstGeom prst="rect">
            <a:avLst/>
          </a:prstGeom>
          <a:noFill/>
        </p:spPr>
        <p:txBody>
          <a:bodyPr wrap="square" anchor="ctr" lIns="0" rIns="0" tIns="0" bIns="0">
            <a:spAutoFit/>
          </a:bodyPr>
          <a:lstStyle/>
          <a:p>
            <a:pPr algn="l">
              <a:lnSpc>
                <a:spcPct val="106000"/>
              </a:lnSpc>
              <a:spcBef>
                <a:spcPts val="0"/>
              </a:spcBef>
              <a:spcAft>
                <a:spcPts val="0"/>
              </a:spcAft>
            </a:pPr>
            <a:r>
              <a:rPr sz="1200" b="0">
                <a:solidFill>
                  <a:srgbClr val="1A1A1A"/>
                </a:solidFill>
                <a:latin typeface="Red Hat Text"/>
              </a:rPr>
              <a:t>`x-parasol-test: true` → straight to v2 (pin test users)</a:t>
            </a:r>
          </a:p>
        </p:txBody>
      </p:sp>
      <p:sp>
        <p:nvSpPr>
          <p:cNvPr id="15" name="Rounded Rectangle 14"/>
          <p:cNvSpPr/>
          <p:nvPr/>
        </p:nvSpPr>
        <p:spPr>
          <a:xfrm>
            <a:off x="841248" y="4206240"/>
            <a:ext cx="5715000" cy="530352"/>
          </a:xfrm>
          <a:prstGeom prst="roundRect">
            <a:avLst>
              <a:gd name="adj" fmla="val 6000"/>
            </a:avLst>
          </a:prstGeom>
          <a:solidFill>
            <a:srgbClr val="F5F6F8"/>
          </a:solidFill>
          <a:ln w="12700">
            <a:solidFill>
              <a:srgbClr val="DDE1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6" name="Picture 15" descr="check_steel.png"/>
          <p:cNvPicPr>
            <a:picLocks noChangeAspect="1"/>
          </p:cNvPicPr>
          <p:nvPr/>
        </p:nvPicPr>
        <p:blipFill>
          <a:blip r:embed="rId3"/>
          <a:stretch>
            <a:fillRect/>
          </a:stretch>
        </p:blipFill>
        <p:spPr>
          <a:xfrm>
            <a:off x="987552" y="4352544"/>
            <a:ext cx="237744" cy="237744"/>
          </a:xfrm>
          <a:prstGeom prst="rect">
            <a:avLst/>
          </a:prstGeom>
        </p:spPr>
      </p:pic>
      <p:sp>
        <p:nvSpPr>
          <p:cNvPr id="17" name="TextBox 16"/>
          <p:cNvSpPr txBox="1"/>
          <p:nvPr/>
        </p:nvSpPr>
        <p:spPr>
          <a:xfrm>
            <a:off x="1353312" y="4206240"/>
            <a:ext cx="5029200" cy="530352"/>
          </a:xfrm>
          <a:prstGeom prst="rect">
            <a:avLst/>
          </a:prstGeom>
          <a:noFill/>
        </p:spPr>
        <p:txBody>
          <a:bodyPr wrap="square" anchor="ctr" lIns="0" rIns="0" tIns="0" bIns="0">
            <a:spAutoFit/>
          </a:bodyPr>
          <a:lstStyle/>
          <a:p>
            <a:pPr algn="l">
              <a:lnSpc>
                <a:spcPct val="106000"/>
              </a:lnSpc>
              <a:spcBef>
                <a:spcPts val="0"/>
              </a:spcBef>
              <a:spcAft>
                <a:spcPts val="0"/>
              </a:spcAft>
            </a:pPr>
            <a:r>
              <a:rPr sz="1200" b="0">
                <a:solidFill>
                  <a:srgbClr val="1A1A1A"/>
                </a:solidFill>
                <a:latin typeface="Red Hat Text"/>
              </a:rPr>
              <a:t>Routing follows the CALLER's sidecar (drive from a meshed pod)</a:t>
            </a:r>
          </a:p>
        </p:txBody>
      </p:sp>
      <p:sp>
        <p:nvSpPr>
          <p:cNvPr id="18" name="Rounded Rectangle 17"/>
          <p:cNvSpPr/>
          <p:nvPr/>
        </p:nvSpPr>
        <p:spPr>
          <a:xfrm>
            <a:off x="841248" y="4809744"/>
            <a:ext cx="5715000" cy="530352"/>
          </a:xfrm>
          <a:prstGeom prst="roundRect">
            <a:avLst>
              <a:gd name="adj" fmla="val 6000"/>
            </a:avLst>
          </a:prstGeom>
          <a:solidFill>
            <a:srgbClr val="F5F6F8"/>
          </a:solidFill>
          <a:ln w="12700">
            <a:solidFill>
              <a:srgbClr val="DDE1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9" name="Picture 18" descr="check_steel.png"/>
          <p:cNvPicPr>
            <a:picLocks noChangeAspect="1"/>
          </p:cNvPicPr>
          <p:nvPr/>
        </p:nvPicPr>
        <p:blipFill>
          <a:blip r:embed="rId3"/>
          <a:stretch>
            <a:fillRect/>
          </a:stretch>
        </p:blipFill>
        <p:spPr>
          <a:xfrm>
            <a:off x="987552" y="4956048"/>
            <a:ext cx="237744" cy="237744"/>
          </a:xfrm>
          <a:prstGeom prst="rect">
            <a:avLst/>
          </a:prstGeom>
        </p:spPr>
      </p:pic>
      <p:sp>
        <p:nvSpPr>
          <p:cNvPr id="20" name="TextBox 19"/>
          <p:cNvSpPr txBox="1"/>
          <p:nvPr/>
        </p:nvSpPr>
        <p:spPr>
          <a:xfrm>
            <a:off x="1353312" y="4809744"/>
            <a:ext cx="5029200" cy="530352"/>
          </a:xfrm>
          <a:prstGeom prst="rect">
            <a:avLst/>
          </a:prstGeom>
          <a:noFill/>
        </p:spPr>
        <p:txBody>
          <a:bodyPr wrap="square" anchor="ctr" lIns="0" rIns="0" tIns="0" bIns="0">
            <a:spAutoFit/>
          </a:bodyPr>
          <a:lstStyle/>
          <a:p>
            <a:pPr algn="l">
              <a:lnSpc>
                <a:spcPct val="106000"/>
              </a:lnSpc>
              <a:spcBef>
                <a:spcPts val="0"/>
              </a:spcBef>
              <a:spcAft>
                <a:spcPts val="0"/>
              </a:spcAft>
            </a:pPr>
            <a:r>
              <a:rPr sz="1200" b="0">
                <a:solidFill>
                  <a:srgbClr val="1A1A1A"/>
                </a:solidFill>
                <a:latin typeface="Red Hat Text"/>
              </a:rPr>
              <a:t>Read the split from mesh telemetry (identical bodies here)</a:t>
            </a:r>
          </a:p>
        </p:txBody>
      </p:sp>
      <p:sp>
        <p:nvSpPr>
          <p:cNvPr id="21" name="Rounded Rectangle 20"/>
          <p:cNvSpPr/>
          <p:nvPr/>
        </p:nvSpPr>
        <p:spPr>
          <a:xfrm>
            <a:off x="6812280" y="2395728"/>
            <a:ext cx="4538167" cy="2944368"/>
          </a:xfrm>
          <a:prstGeom prst="roundRect">
            <a:avLst>
              <a:gd name="adj" fmla="val 4000"/>
            </a:avLst>
          </a:prstGeom>
          <a:solidFill>
            <a:srgbClr val="FFFFFF"/>
          </a:solidFill>
          <a:ln w="15240">
            <a:solidFill>
              <a:srgbClr val="DDE1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ounded Rectangle 21"/>
          <p:cNvSpPr/>
          <p:nvPr/>
        </p:nvSpPr>
        <p:spPr>
          <a:xfrm>
            <a:off x="7013448" y="2596896"/>
            <a:ext cx="1298448" cy="310896"/>
          </a:xfrm>
          <a:prstGeom prst="roundRect">
            <a:avLst>
              <a:gd name="adj" fmla="val 50000"/>
            </a:avLst>
          </a:prstGeom>
          <a:solidFill>
            <a:srgbClr val="FCEC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7013448" y="2596896"/>
            <a:ext cx="1298448" cy="310896"/>
          </a:xfrm>
          <a:prstGeom prst="rect">
            <a:avLst/>
          </a:prstGeom>
          <a:noFill/>
        </p:spPr>
        <p:txBody>
          <a:bodyPr wrap="none" anchor="ctr" lIns="0" rIns="0" tIns="0" bIns="0">
            <a:spAutoFit/>
          </a:bodyPr>
          <a:lstStyle/>
          <a:p>
            <a:pPr algn="ctr">
              <a:lnSpc>
                <a:spcPct val="106000"/>
              </a:lnSpc>
              <a:spcBef>
                <a:spcPts val="0"/>
              </a:spcBef>
              <a:spcAft>
                <a:spcPts val="0"/>
              </a:spcAft>
            </a:pPr>
            <a:r>
              <a:rPr sz="850" b="1">
                <a:solidFill>
                  <a:srgbClr val="B80000"/>
                </a:solidFill>
                <a:latin typeface="Red Hat Display"/>
              </a:rPr>
              <a:t>MEDIA PASS</a:t>
            </a:r>
          </a:p>
        </p:txBody>
      </p:sp>
      <p:pic>
        <p:nvPicPr>
          <p:cNvPr id="24" name="Picture 23" descr="eye_slate.png"/>
          <p:cNvPicPr>
            <a:picLocks noChangeAspect="1"/>
          </p:cNvPicPr>
          <p:nvPr/>
        </p:nvPicPr>
        <p:blipFill>
          <a:blip r:embed="rId4"/>
          <a:stretch>
            <a:fillRect/>
          </a:stretch>
        </p:blipFill>
        <p:spPr>
          <a:xfrm>
            <a:off x="8843619" y="3108960"/>
            <a:ext cx="475488" cy="475488"/>
          </a:xfrm>
          <a:prstGeom prst="rect">
            <a:avLst/>
          </a:prstGeom>
        </p:spPr>
      </p:pic>
      <p:sp>
        <p:nvSpPr>
          <p:cNvPr id="25" name="TextBox 24"/>
          <p:cNvSpPr txBox="1"/>
          <p:nvPr/>
        </p:nvSpPr>
        <p:spPr>
          <a:xfrm>
            <a:off x="7050024" y="3721608"/>
            <a:ext cx="4062679" cy="1481328"/>
          </a:xfrm>
          <a:prstGeom prst="rect">
            <a:avLst/>
          </a:prstGeom>
          <a:noFill/>
        </p:spPr>
        <p:txBody>
          <a:bodyPr wrap="square" anchor="t" lIns="0" rIns="0" tIns="0" bIns="0">
            <a:spAutoFit/>
          </a:bodyPr>
          <a:lstStyle/>
          <a:p>
            <a:pPr algn="l">
              <a:lnSpc>
                <a:spcPct val="120000"/>
              </a:lnSpc>
              <a:spcBef>
                <a:spcPts val="0"/>
              </a:spcBef>
              <a:spcAft>
                <a:spcPts val="0"/>
              </a:spcAft>
            </a:pPr>
            <a:r>
              <a:rPr sz="950" b="0">
                <a:solidFill>
                  <a:srgbClr val="8A9099"/>
                </a:solidFill>
                <a:latin typeface="Red Hat Text"/>
              </a:rPr>
              <a:t>A weighted-split diagram: claims' sidecar fanning to a fat 90% arrow (v1) and a thin 10% arrow (v2), with a header-tagged request taking a dedicated line straight to v2; a small "read from istio_requests_total" telemetry chip.</a:t>
            </a:r>
          </a:p>
        </p:txBody>
      </p:sp>
      <p:cxnSp>
        <p:nvCxnSpPr>
          <p:cNvPr id="26" name="Connector 25"/>
          <p:cNvCxnSpPr/>
          <p:nvPr/>
        </p:nvCxnSpPr>
        <p:spPr>
          <a:xfrm>
            <a:off x="841248" y="6437376"/>
            <a:ext cx="10509199" cy="0"/>
          </a:xfrm>
          <a:prstGeom prst="bentConnector3">
            <a:avLst/>
          </a:prstGeom>
          <a:ln w="12700">
            <a:solidFill>
              <a:srgbClr val="DDE1E6"/>
            </a:solidFill>
          </a:ln>
          <a:effectLst/>
        </p:spPr>
        <p:style>
          <a:lnRef idx="2">
            <a:schemeClr val="accent1"/>
          </a:lnRef>
          <a:fillRef idx="0">
            <a:schemeClr val="accent1"/>
          </a:fillRef>
          <a:effectRef idx="1">
            <a:schemeClr val="accent1"/>
          </a:effectRef>
          <a:fontRef idx="minor">
            <a:schemeClr val="tx1"/>
          </a:fontRef>
        </p:style>
      </p:cxnSp>
      <p:sp>
        <p:nvSpPr>
          <p:cNvPr id="27" name="TextBox 26"/>
          <p:cNvSpPr txBox="1"/>
          <p:nvPr/>
        </p:nvSpPr>
        <p:spPr>
          <a:xfrm>
            <a:off x="841248" y="6473952"/>
            <a:ext cx="7315200" cy="274320"/>
          </a:xfrm>
          <a:prstGeom prst="rect">
            <a:avLst/>
          </a:prstGeom>
          <a:noFill/>
        </p:spPr>
        <p:txBody>
          <a:bodyPr wrap="square" anchor="t" lIns="0" rIns="0" tIns="0" bIns="0">
            <a:spAutoFit/>
          </a:bodyPr>
          <a:lstStyle/>
          <a:p>
            <a:pPr algn="l">
              <a:lnSpc>
                <a:spcPct val="106000"/>
              </a:lnSpc>
              <a:spcBef>
                <a:spcPts val="0"/>
              </a:spcBef>
              <a:spcAft>
                <a:spcPts val="0"/>
              </a:spcAft>
            </a:pPr>
            <a:r>
              <a:rPr sz="950" b="0">
                <a:solidFill>
                  <a:srgbClr val="8A9099"/>
                </a:solidFill>
                <a:latin typeface="Red Hat Text"/>
              </a:rPr>
              <a:t>CONFIDENTIAL</a:t>
            </a:r>
          </a:p>
        </p:txBody>
      </p:sp>
      <p:sp>
        <p:nvSpPr>
          <p:cNvPr id="28" name="TextBox 27"/>
          <p:cNvSpPr txBox="1"/>
          <p:nvPr/>
        </p:nvSpPr>
        <p:spPr>
          <a:xfrm>
            <a:off x="10801807" y="6473952"/>
            <a:ext cx="548640" cy="274320"/>
          </a:xfrm>
          <a:prstGeom prst="rect">
            <a:avLst/>
          </a:prstGeom>
          <a:noFill/>
        </p:spPr>
        <p:txBody>
          <a:bodyPr wrap="square" anchor="t" lIns="0" rIns="0" tIns="0" bIns="0">
            <a:spAutoFit/>
          </a:bodyPr>
          <a:lstStyle/>
          <a:p>
            <a:pPr algn="r">
              <a:lnSpc>
                <a:spcPct val="106000"/>
              </a:lnSpc>
              <a:spcBef>
                <a:spcPts val="0"/>
              </a:spcBef>
              <a:spcAft>
                <a:spcPts val="0"/>
              </a:spcAft>
            </a:pPr>
            <a:r>
              <a:rPr sz="950" b="0">
                <a:solidFill>
                  <a:srgbClr val="8A9099"/>
                </a:solidFill>
                <a:latin typeface="Red Hat Text"/>
              </a:rPr>
              <a:t>139</a:t>
            </a:r>
          </a:p>
        </p:txBody>
      </p:sp>
    </p:spTree>
  </p:cSld>
  <p:clrMapOvr>
    <a:masterClrMapping/>
  </p:clrMapOvr>
</p:sld>
</file>

<file path=ppt/slides/slide15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redhat_logo.jpg"/>
          <p:cNvPicPr>
            <a:picLocks noChangeAspect="1"/>
          </p:cNvPicPr>
          <p:nvPr/>
        </p:nvPicPr>
        <p:blipFill>
          <a:blip r:embed="rId2"/>
          <a:stretch>
            <a:fillRect/>
          </a:stretch>
        </p:blipFill>
        <p:spPr>
          <a:xfrm>
            <a:off x="10326319" y="475488"/>
            <a:ext cx="1024128" cy="242248"/>
          </a:xfrm>
          <a:prstGeom prst="rect">
            <a:avLst/>
          </a:prstGeom>
        </p:spPr>
      </p:pic>
      <p:sp>
        <p:nvSpPr>
          <p:cNvPr id="3" name="TextBox 2"/>
          <p:cNvSpPr txBox="1"/>
          <p:nvPr/>
        </p:nvSpPr>
        <p:spPr>
          <a:xfrm>
            <a:off x="841248" y="548640"/>
            <a:ext cx="8595360" cy="274320"/>
          </a:xfrm>
          <a:prstGeom prst="rect">
            <a:avLst/>
          </a:prstGeom>
          <a:noFill/>
        </p:spPr>
        <p:txBody>
          <a:bodyPr wrap="square" anchor="t" lIns="0" rIns="0" tIns="0" bIns="0">
            <a:spAutoFit/>
          </a:bodyPr>
          <a:lstStyle/>
          <a:p>
            <a:pPr algn="l">
              <a:lnSpc>
                <a:spcPct val="106000"/>
              </a:lnSpc>
              <a:spcBef>
                <a:spcPts val="0"/>
              </a:spcBef>
              <a:spcAft>
                <a:spcPts val="0"/>
              </a:spcAft>
            </a:pPr>
            <a:r>
              <a:rPr sz="1250" b="1" spc="220">
                <a:solidFill>
                  <a:srgbClr val="EE0000"/>
                </a:solidFill>
                <a:latin typeface="Red Hat Display"/>
              </a:rPr>
              <a:t>M19 · SERVICE MESH 3 &amp; ADVANCED GATEWAYS</a:t>
            </a:r>
          </a:p>
        </p:txBody>
      </p:sp>
      <p:sp>
        <p:nvSpPr>
          <p:cNvPr id="4" name="TextBox 3"/>
          <p:cNvSpPr txBox="1"/>
          <p:nvPr/>
        </p:nvSpPr>
        <p:spPr>
          <a:xfrm>
            <a:off x="841248" y="877824"/>
            <a:ext cx="10515600" cy="548640"/>
          </a:xfrm>
          <a:prstGeom prst="rect">
            <a:avLst/>
          </a:prstGeom>
          <a:noFill/>
        </p:spPr>
        <p:txBody>
          <a:bodyPr wrap="none" anchor="t" lIns="0" rIns="0" tIns="0" bIns="0">
            <a:spAutoFit/>
          </a:bodyPr>
          <a:lstStyle/>
          <a:p>
            <a:pPr algn="l">
              <a:lnSpc>
                <a:spcPct val="100000"/>
              </a:lnSpc>
              <a:spcBef>
                <a:spcPts val="0"/>
              </a:spcBef>
              <a:spcAft>
                <a:spcPts val="0"/>
              </a:spcAft>
            </a:pPr>
            <a:r>
              <a:rPr sz="2500" b="1">
                <a:solidFill>
                  <a:srgbClr val="1A1A1A"/>
                </a:solidFill>
                <a:latin typeface="Red Hat Display"/>
              </a:rPr>
              <a:t>Resilience — and the honest limits</a:t>
            </a:r>
          </a:p>
        </p:txBody>
      </p:sp>
      <p:cxnSp>
        <p:nvCxnSpPr>
          <p:cNvPr id="5" name="Connector 4"/>
          <p:cNvCxnSpPr/>
          <p:nvPr/>
        </p:nvCxnSpPr>
        <p:spPr>
          <a:xfrm>
            <a:off x="841248" y="1554480"/>
            <a:ext cx="1371600" cy="0"/>
          </a:xfrm>
          <a:prstGeom prst="bentConnector3">
            <a:avLst/>
          </a:prstGeom>
          <a:ln w="31750">
            <a:solidFill>
              <a:srgbClr val="EE0000"/>
            </a:solidFill>
          </a:ln>
          <a:effectLst/>
        </p:spPr>
        <p:style>
          <a:lnRef idx="2">
            <a:schemeClr val="accent1"/>
          </a:lnRef>
          <a:fillRef idx="0">
            <a:schemeClr val="accent1"/>
          </a:fillRef>
          <a:effectRef idx="1">
            <a:schemeClr val="accent1"/>
          </a:effectRef>
          <a:fontRef idx="minor">
            <a:schemeClr val="tx1"/>
          </a:fontRef>
        </p:style>
      </p:cxnSp>
      <p:sp>
        <p:nvSpPr>
          <p:cNvPr id="6" name="Rounded Rectangle 5"/>
          <p:cNvSpPr/>
          <p:nvPr/>
        </p:nvSpPr>
        <p:spPr>
          <a:xfrm>
            <a:off x="841248" y="2395728"/>
            <a:ext cx="5715000" cy="530352"/>
          </a:xfrm>
          <a:prstGeom prst="roundRect">
            <a:avLst>
              <a:gd name="adj" fmla="val 6000"/>
            </a:avLst>
          </a:prstGeom>
          <a:solidFill>
            <a:srgbClr val="F5F6F8"/>
          </a:solidFill>
          <a:ln w="12700">
            <a:solidFill>
              <a:srgbClr val="DDE1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check_steel.png"/>
          <p:cNvPicPr>
            <a:picLocks noChangeAspect="1"/>
          </p:cNvPicPr>
          <p:nvPr/>
        </p:nvPicPr>
        <p:blipFill>
          <a:blip r:embed="rId3"/>
          <a:stretch>
            <a:fillRect/>
          </a:stretch>
        </p:blipFill>
        <p:spPr>
          <a:xfrm>
            <a:off x="987552" y="2542032"/>
            <a:ext cx="237744" cy="237744"/>
          </a:xfrm>
          <a:prstGeom prst="rect">
            <a:avLst/>
          </a:prstGeom>
        </p:spPr>
      </p:pic>
      <p:sp>
        <p:nvSpPr>
          <p:cNvPr id="8" name="TextBox 7"/>
          <p:cNvSpPr txBox="1"/>
          <p:nvPr/>
        </p:nvSpPr>
        <p:spPr>
          <a:xfrm>
            <a:off x="1353312" y="2395728"/>
            <a:ext cx="5029200" cy="530352"/>
          </a:xfrm>
          <a:prstGeom prst="rect">
            <a:avLst/>
          </a:prstGeom>
          <a:noFill/>
        </p:spPr>
        <p:txBody>
          <a:bodyPr wrap="square" anchor="ctr" lIns="0" rIns="0" tIns="0" bIns="0">
            <a:spAutoFit/>
          </a:bodyPr>
          <a:lstStyle/>
          <a:p>
            <a:pPr algn="l">
              <a:lnSpc>
                <a:spcPct val="106000"/>
              </a:lnSpc>
              <a:spcBef>
                <a:spcPts val="0"/>
              </a:spcBef>
              <a:spcAft>
                <a:spcPts val="0"/>
              </a:spcAft>
            </a:pPr>
            <a:r>
              <a:rPr sz="1200" b="0">
                <a:solidFill>
                  <a:srgbClr val="1A1A1A"/>
                </a:solidFill>
                <a:latin typeface="Red Hat Text"/>
              </a:rPr>
              <a:t>Fault injection: simulate a slow/failing dependency</a:t>
            </a:r>
          </a:p>
        </p:txBody>
      </p:sp>
      <p:sp>
        <p:nvSpPr>
          <p:cNvPr id="9" name="Rounded Rectangle 8"/>
          <p:cNvSpPr/>
          <p:nvPr/>
        </p:nvSpPr>
        <p:spPr>
          <a:xfrm>
            <a:off x="841248" y="2999232"/>
            <a:ext cx="5715000" cy="530352"/>
          </a:xfrm>
          <a:prstGeom prst="roundRect">
            <a:avLst>
              <a:gd name="adj" fmla="val 6000"/>
            </a:avLst>
          </a:prstGeom>
          <a:solidFill>
            <a:srgbClr val="F5F6F8"/>
          </a:solidFill>
          <a:ln w="12700">
            <a:solidFill>
              <a:srgbClr val="DDE1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0" name="Picture 9" descr="check_steel.png"/>
          <p:cNvPicPr>
            <a:picLocks noChangeAspect="1"/>
          </p:cNvPicPr>
          <p:nvPr/>
        </p:nvPicPr>
        <p:blipFill>
          <a:blip r:embed="rId3"/>
          <a:stretch>
            <a:fillRect/>
          </a:stretch>
        </p:blipFill>
        <p:spPr>
          <a:xfrm>
            <a:off x="987552" y="3145536"/>
            <a:ext cx="237744" cy="237744"/>
          </a:xfrm>
          <a:prstGeom prst="rect">
            <a:avLst/>
          </a:prstGeom>
        </p:spPr>
      </p:pic>
      <p:sp>
        <p:nvSpPr>
          <p:cNvPr id="11" name="TextBox 10"/>
          <p:cNvSpPr txBox="1"/>
          <p:nvPr/>
        </p:nvSpPr>
        <p:spPr>
          <a:xfrm>
            <a:off x="1353312" y="2999232"/>
            <a:ext cx="5029200" cy="530352"/>
          </a:xfrm>
          <a:prstGeom prst="rect">
            <a:avLst/>
          </a:prstGeom>
          <a:noFill/>
        </p:spPr>
        <p:txBody>
          <a:bodyPr wrap="square" anchor="ctr" lIns="0" rIns="0" tIns="0" bIns="0">
            <a:spAutoFit/>
          </a:bodyPr>
          <a:lstStyle/>
          <a:p>
            <a:pPr algn="l">
              <a:lnSpc>
                <a:spcPct val="106000"/>
              </a:lnSpc>
              <a:spcBef>
                <a:spcPts val="0"/>
              </a:spcBef>
              <a:spcAft>
                <a:spcPts val="0"/>
              </a:spcAft>
            </a:pPr>
            <a:r>
              <a:rPr sz="1200" b="0">
                <a:solidFill>
                  <a:srgbClr val="1A1A1A"/>
                </a:solidFill>
                <a:latin typeface="Red Hat Text"/>
              </a:rPr>
              <a:t>Timeout + retries (VirtualService), circuit breaker (DestinationRule)</a:t>
            </a:r>
          </a:p>
        </p:txBody>
      </p:sp>
      <p:sp>
        <p:nvSpPr>
          <p:cNvPr id="12" name="Rounded Rectangle 11"/>
          <p:cNvSpPr/>
          <p:nvPr/>
        </p:nvSpPr>
        <p:spPr>
          <a:xfrm>
            <a:off x="841248" y="3602736"/>
            <a:ext cx="5715000" cy="530352"/>
          </a:xfrm>
          <a:prstGeom prst="roundRect">
            <a:avLst>
              <a:gd name="adj" fmla="val 6000"/>
            </a:avLst>
          </a:prstGeom>
          <a:solidFill>
            <a:srgbClr val="F5F6F8"/>
          </a:solidFill>
          <a:ln w="12700">
            <a:solidFill>
              <a:srgbClr val="DDE1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3" name="Picture 12" descr="check_steel.png"/>
          <p:cNvPicPr>
            <a:picLocks noChangeAspect="1"/>
          </p:cNvPicPr>
          <p:nvPr/>
        </p:nvPicPr>
        <p:blipFill>
          <a:blip r:embed="rId3"/>
          <a:stretch>
            <a:fillRect/>
          </a:stretch>
        </p:blipFill>
        <p:spPr>
          <a:xfrm>
            <a:off x="987552" y="3749040"/>
            <a:ext cx="237744" cy="237744"/>
          </a:xfrm>
          <a:prstGeom prst="rect">
            <a:avLst/>
          </a:prstGeom>
        </p:spPr>
      </p:pic>
      <p:sp>
        <p:nvSpPr>
          <p:cNvPr id="14" name="TextBox 13"/>
          <p:cNvSpPr txBox="1"/>
          <p:nvPr/>
        </p:nvSpPr>
        <p:spPr>
          <a:xfrm>
            <a:off x="1353312" y="3602736"/>
            <a:ext cx="5029200" cy="530352"/>
          </a:xfrm>
          <a:prstGeom prst="rect">
            <a:avLst/>
          </a:prstGeom>
          <a:noFill/>
        </p:spPr>
        <p:txBody>
          <a:bodyPr wrap="square" anchor="ctr" lIns="0" rIns="0" tIns="0" bIns="0">
            <a:spAutoFit/>
          </a:bodyPr>
          <a:lstStyle/>
          <a:p>
            <a:pPr algn="l">
              <a:lnSpc>
                <a:spcPct val="106000"/>
              </a:lnSpc>
              <a:spcBef>
                <a:spcPts val="0"/>
              </a:spcBef>
              <a:spcAft>
                <a:spcPts val="0"/>
              </a:spcAft>
            </a:pPr>
            <a:r>
              <a:rPr sz="1200" b="0">
                <a:solidFill>
                  <a:srgbClr val="1A1A1A"/>
                </a:solidFill>
                <a:latin typeface="Red Hat Text"/>
              </a:rPr>
              <a:t>Circuit breaker = eject a pod after N 5xx + cap connections</a:t>
            </a:r>
          </a:p>
        </p:txBody>
      </p:sp>
      <p:sp>
        <p:nvSpPr>
          <p:cNvPr id="15" name="Rounded Rectangle 14"/>
          <p:cNvSpPr/>
          <p:nvPr/>
        </p:nvSpPr>
        <p:spPr>
          <a:xfrm>
            <a:off x="841248" y="4206240"/>
            <a:ext cx="5715000" cy="530352"/>
          </a:xfrm>
          <a:prstGeom prst="roundRect">
            <a:avLst>
              <a:gd name="adj" fmla="val 6000"/>
            </a:avLst>
          </a:prstGeom>
          <a:solidFill>
            <a:srgbClr val="F5F6F8"/>
          </a:solidFill>
          <a:ln w="12700">
            <a:solidFill>
              <a:srgbClr val="DDE1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6" name="Picture 15" descr="check_steel.png"/>
          <p:cNvPicPr>
            <a:picLocks noChangeAspect="1"/>
          </p:cNvPicPr>
          <p:nvPr/>
        </p:nvPicPr>
        <p:blipFill>
          <a:blip r:embed="rId3"/>
          <a:stretch>
            <a:fillRect/>
          </a:stretch>
        </p:blipFill>
        <p:spPr>
          <a:xfrm>
            <a:off x="987552" y="4352544"/>
            <a:ext cx="237744" cy="237744"/>
          </a:xfrm>
          <a:prstGeom prst="rect">
            <a:avLst/>
          </a:prstGeom>
        </p:spPr>
      </p:pic>
      <p:sp>
        <p:nvSpPr>
          <p:cNvPr id="17" name="TextBox 16"/>
          <p:cNvSpPr txBox="1"/>
          <p:nvPr/>
        </p:nvSpPr>
        <p:spPr>
          <a:xfrm>
            <a:off x="1353312" y="4206240"/>
            <a:ext cx="5029200" cy="530352"/>
          </a:xfrm>
          <a:prstGeom prst="rect">
            <a:avLst/>
          </a:prstGeom>
          <a:noFill/>
        </p:spPr>
        <p:txBody>
          <a:bodyPr wrap="square" anchor="ctr" lIns="0" rIns="0" tIns="0" bIns="0">
            <a:spAutoFit/>
          </a:bodyPr>
          <a:lstStyle/>
          <a:p>
            <a:pPr algn="l">
              <a:lnSpc>
                <a:spcPct val="106000"/>
              </a:lnSpc>
              <a:spcBef>
                <a:spcPts val="0"/>
              </a:spcBef>
              <a:spcAft>
                <a:spcPts val="0"/>
              </a:spcAft>
            </a:pPr>
            <a:r>
              <a:rPr sz="1200" b="0">
                <a:solidFill>
                  <a:srgbClr val="1A1A1A"/>
                </a:solidFill>
                <a:latin typeface="Red Hat Text"/>
              </a:rPr>
              <a:t>Honest: Istio injects faults AHEAD of the router</a:t>
            </a:r>
          </a:p>
        </p:txBody>
      </p:sp>
      <p:sp>
        <p:nvSpPr>
          <p:cNvPr id="18" name="Rounded Rectangle 17"/>
          <p:cNvSpPr/>
          <p:nvPr/>
        </p:nvSpPr>
        <p:spPr>
          <a:xfrm>
            <a:off x="841248" y="4809744"/>
            <a:ext cx="5715000" cy="530352"/>
          </a:xfrm>
          <a:prstGeom prst="roundRect">
            <a:avLst>
              <a:gd name="adj" fmla="val 6000"/>
            </a:avLst>
          </a:prstGeom>
          <a:solidFill>
            <a:srgbClr val="F5F6F8"/>
          </a:solidFill>
          <a:ln w="12700">
            <a:solidFill>
              <a:srgbClr val="DDE1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9" name="Picture 18" descr="check_steel.png"/>
          <p:cNvPicPr>
            <a:picLocks noChangeAspect="1"/>
          </p:cNvPicPr>
          <p:nvPr/>
        </p:nvPicPr>
        <p:blipFill>
          <a:blip r:embed="rId3"/>
          <a:stretch>
            <a:fillRect/>
          </a:stretch>
        </p:blipFill>
        <p:spPr>
          <a:xfrm>
            <a:off x="987552" y="4956048"/>
            <a:ext cx="237744" cy="237744"/>
          </a:xfrm>
          <a:prstGeom prst="rect">
            <a:avLst/>
          </a:prstGeom>
        </p:spPr>
      </p:pic>
      <p:sp>
        <p:nvSpPr>
          <p:cNvPr id="20" name="TextBox 19"/>
          <p:cNvSpPr txBox="1"/>
          <p:nvPr/>
        </p:nvSpPr>
        <p:spPr>
          <a:xfrm>
            <a:off x="1353312" y="4809744"/>
            <a:ext cx="5029200" cy="530352"/>
          </a:xfrm>
          <a:prstGeom prst="rect">
            <a:avLst/>
          </a:prstGeom>
          <a:noFill/>
        </p:spPr>
        <p:txBody>
          <a:bodyPr wrap="square" anchor="ctr" lIns="0" rIns="0" tIns="0" bIns="0">
            <a:spAutoFit/>
          </a:bodyPr>
          <a:lstStyle/>
          <a:p>
            <a:pPr algn="l">
              <a:lnSpc>
                <a:spcPct val="106000"/>
              </a:lnSpc>
              <a:spcBef>
                <a:spcPts val="0"/>
              </a:spcBef>
              <a:spcAft>
                <a:spcPts val="0"/>
              </a:spcAft>
            </a:pPr>
            <a:r>
              <a:rPr sz="1200" b="0">
                <a:solidFill>
                  <a:srgbClr val="1A1A1A"/>
                </a:solidFill>
                <a:latin typeface="Red Hat Text"/>
              </a:rPr>
              <a:t>So an injected delay isn't clipped by that route's timeout</a:t>
            </a:r>
          </a:p>
        </p:txBody>
      </p:sp>
      <p:sp>
        <p:nvSpPr>
          <p:cNvPr id="21" name="Rounded Rectangle 20"/>
          <p:cNvSpPr/>
          <p:nvPr/>
        </p:nvSpPr>
        <p:spPr>
          <a:xfrm>
            <a:off x="6812280" y="2395728"/>
            <a:ext cx="4538167" cy="2944368"/>
          </a:xfrm>
          <a:prstGeom prst="roundRect">
            <a:avLst>
              <a:gd name="adj" fmla="val 4000"/>
            </a:avLst>
          </a:prstGeom>
          <a:solidFill>
            <a:srgbClr val="FFFFFF"/>
          </a:solidFill>
          <a:ln w="15240">
            <a:solidFill>
              <a:srgbClr val="DDE1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ounded Rectangle 21"/>
          <p:cNvSpPr/>
          <p:nvPr/>
        </p:nvSpPr>
        <p:spPr>
          <a:xfrm>
            <a:off x="7013448" y="2596896"/>
            <a:ext cx="1298448" cy="310896"/>
          </a:xfrm>
          <a:prstGeom prst="roundRect">
            <a:avLst>
              <a:gd name="adj" fmla="val 50000"/>
            </a:avLst>
          </a:prstGeom>
          <a:solidFill>
            <a:srgbClr val="FCEC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7013448" y="2596896"/>
            <a:ext cx="1298448" cy="310896"/>
          </a:xfrm>
          <a:prstGeom prst="rect">
            <a:avLst/>
          </a:prstGeom>
          <a:noFill/>
        </p:spPr>
        <p:txBody>
          <a:bodyPr wrap="none" anchor="ctr" lIns="0" rIns="0" tIns="0" bIns="0">
            <a:spAutoFit/>
          </a:bodyPr>
          <a:lstStyle/>
          <a:p>
            <a:pPr algn="ctr">
              <a:lnSpc>
                <a:spcPct val="106000"/>
              </a:lnSpc>
              <a:spcBef>
                <a:spcPts val="0"/>
              </a:spcBef>
              <a:spcAft>
                <a:spcPts val="0"/>
              </a:spcAft>
            </a:pPr>
            <a:r>
              <a:rPr sz="850" b="1">
                <a:solidFill>
                  <a:srgbClr val="B80000"/>
                </a:solidFill>
                <a:latin typeface="Red Hat Display"/>
              </a:rPr>
              <a:t>MEDIA PASS</a:t>
            </a:r>
          </a:p>
        </p:txBody>
      </p:sp>
      <p:pic>
        <p:nvPicPr>
          <p:cNvPr id="24" name="Picture 23" descr="eye_slate.png"/>
          <p:cNvPicPr>
            <a:picLocks noChangeAspect="1"/>
          </p:cNvPicPr>
          <p:nvPr/>
        </p:nvPicPr>
        <p:blipFill>
          <a:blip r:embed="rId4"/>
          <a:stretch>
            <a:fillRect/>
          </a:stretch>
        </p:blipFill>
        <p:spPr>
          <a:xfrm>
            <a:off x="8843619" y="3108960"/>
            <a:ext cx="475488" cy="475488"/>
          </a:xfrm>
          <a:prstGeom prst="rect">
            <a:avLst/>
          </a:prstGeom>
        </p:spPr>
      </p:pic>
      <p:sp>
        <p:nvSpPr>
          <p:cNvPr id="25" name="TextBox 24"/>
          <p:cNvSpPr txBox="1"/>
          <p:nvPr/>
        </p:nvSpPr>
        <p:spPr>
          <a:xfrm>
            <a:off x="7050024" y="3721608"/>
            <a:ext cx="4062679" cy="1481328"/>
          </a:xfrm>
          <a:prstGeom prst="rect">
            <a:avLst/>
          </a:prstGeom>
          <a:noFill/>
        </p:spPr>
        <p:txBody>
          <a:bodyPr wrap="square" anchor="t" lIns="0" rIns="0" tIns="0" bIns="0">
            <a:spAutoFit/>
          </a:bodyPr>
          <a:lstStyle/>
          <a:p>
            <a:pPr algn="l">
              <a:lnSpc>
                <a:spcPct val="120000"/>
              </a:lnSpc>
              <a:spcBef>
                <a:spcPts val="0"/>
              </a:spcBef>
              <a:spcAft>
                <a:spcPts val="0"/>
              </a:spcAft>
            </a:pPr>
            <a:r>
              <a:rPr sz="950" b="0">
                <a:solidFill>
                  <a:srgbClr val="8A9099"/>
                </a:solidFill>
                <a:latin typeface="Red Hat Text"/>
              </a:rPr>
              <a:t>A route with three guard icons (timeout, retry, circuit-breaker) and a fault "syringe" positioned BEFORE the router box — an arrow annotation "injected here, ahead of the timeout."</a:t>
            </a:r>
          </a:p>
        </p:txBody>
      </p:sp>
      <p:cxnSp>
        <p:nvCxnSpPr>
          <p:cNvPr id="26" name="Connector 25"/>
          <p:cNvCxnSpPr/>
          <p:nvPr/>
        </p:nvCxnSpPr>
        <p:spPr>
          <a:xfrm>
            <a:off x="841248" y="6437376"/>
            <a:ext cx="10509199" cy="0"/>
          </a:xfrm>
          <a:prstGeom prst="bentConnector3">
            <a:avLst/>
          </a:prstGeom>
          <a:ln w="12700">
            <a:solidFill>
              <a:srgbClr val="DDE1E6"/>
            </a:solidFill>
          </a:ln>
          <a:effectLst/>
        </p:spPr>
        <p:style>
          <a:lnRef idx="2">
            <a:schemeClr val="accent1"/>
          </a:lnRef>
          <a:fillRef idx="0">
            <a:schemeClr val="accent1"/>
          </a:fillRef>
          <a:effectRef idx="1">
            <a:schemeClr val="accent1"/>
          </a:effectRef>
          <a:fontRef idx="minor">
            <a:schemeClr val="tx1"/>
          </a:fontRef>
        </p:style>
      </p:cxnSp>
      <p:sp>
        <p:nvSpPr>
          <p:cNvPr id="27" name="TextBox 26"/>
          <p:cNvSpPr txBox="1"/>
          <p:nvPr/>
        </p:nvSpPr>
        <p:spPr>
          <a:xfrm>
            <a:off x="841248" y="6473952"/>
            <a:ext cx="7315200" cy="274320"/>
          </a:xfrm>
          <a:prstGeom prst="rect">
            <a:avLst/>
          </a:prstGeom>
          <a:noFill/>
        </p:spPr>
        <p:txBody>
          <a:bodyPr wrap="square" anchor="t" lIns="0" rIns="0" tIns="0" bIns="0">
            <a:spAutoFit/>
          </a:bodyPr>
          <a:lstStyle/>
          <a:p>
            <a:pPr algn="l">
              <a:lnSpc>
                <a:spcPct val="106000"/>
              </a:lnSpc>
              <a:spcBef>
                <a:spcPts val="0"/>
              </a:spcBef>
              <a:spcAft>
                <a:spcPts val="0"/>
              </a:spcAft>
            </a:pPr>
            <a:r>
              <a:rPr sz="950" b="0">
                <a:solidFill>
                  <a:srgbClr val="8A9099"/>
                </a:solidFill>
                <a:latin typeface="Red Hat Text"/>
              </a:rPr>
              <a:t>CONFIDENTIAL</a:t>
            </a:r>
          </a:p>
        </p:txBody>
      </p:sp>
      <p:sp>
        <p:nvSpPr>
          <p:cNvPr id="28" name="TextBox 27"/>
          <p:cNvSpPr txBox="1"/>
          <p:nvPr/>
        </p:nvSpPr>
        <p:spPr>
          <a:xfrm>
            <a:off x="10801807" y="6473952"/>
            <a:ext cx="548640" cy="274320"/>
          </a:xfrm>
          <a:prstGeom prst="rect">
            <a:avLst/>
          </a:prstGeom>
          <a:noFill/>
        </p:spPr>
        <p:txBody>
          <a:bodyPr wrap="square" anchor="t" lIns="0" rIns="0" tIns="0" bIns="0">
            <a:spAutoFit/>
          </a:bodyPr>
          <a:lstStyle/>
          <a:p>
            <a:pPr algn="r">
              <a:lnSpc>
                <a:spcPct val="106000"/>
              </a:lnSpc>
              <a:spcBef>
                <a:spcPts val="0"/>
              </a:spcBef>
              <a:spcAft>
                <a:spcPts val="0"/>
              </a:spcAft>
            </a:pPr>
            <a:r>
              <a:rPr sz="950" b="0">
                <a:solidFill>
                  <a:srgbClr val="8A9099"/>
                </a:solidFill>
                <a:latin typeface="Red Hat Text"/>
              </a:rPr>
              <a:t>140</a:t>
            </a:r>
          </a:p>
        </p:txBody>
      </p:sp>
    </p:spTree>
  </p:cSld>
  <p:clrMapOvr>
    <a:masterClrMapping/>
  </p:clrMapOvr>
</p:sld>
</file>

<file path=ppt/slides/slide16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redhat_logo.jpg"/>
          <p:cNvPicPr>
            <a:picLocks noChangeAspect="1"/>
          </p:cNvPicPr>
          <p:nvPr/>
        </p:nvPicPr>
        <p:blipFill>
          <a:blip r:embed="rId2"/>
          <a:stretch>
            <a:fillRect/>
          </a:stretch>
        </p:blipFill>
        <p:spPr>
          <a:xfrm>
            <a:off x="10326319" y="475488"/>
            <a:ext cx="1024128" cy="242248"/>
          </a:xfrm>
          <a:prstGeom prst="rect">
            <a:avLst/>
          </a:prstGeom>
        </p:spPr>
      </p:pic>
      <p:sp>
        <p:nvSpPr>
          <p:cNvPr id="3" name="TextBox 2"/>
          <p:cNvSpPr txBox="1"/>
          <p:nvPr/>
        </p:nvSpPr>
        <p:spPr>
          <a:xfrm>
            <a:off x="841248" y="548640"/>
            <a:ext cx="8595360" cy="274320"/>
          </a:xfrm>
          <a:prstGeom prst="rect">
            <a:avLst/>
          </a:prstGeom>
          <a:noFill/>
        </p:spPr>
        <p:txBody>
          <a:bodyPr wrap="square" anchor="t" lIns="0" rIns="0" tIns="0" bIns="0">
            <a:spAutoFit/>
          </a:bodyPr>
          <a:lstStyle/>
          <a:p>
            <a:pPr algn="l">
              <a:lnSpc>
                <a:spcPct val="106000"/>
              </a:lnSpc>
              <a:spcBef>
                <a:spcPts val="0"/>
              </a:spcBef>
              <a:spcAft>
                <a:spcPts val="0"/>
              </a:spcAft>
            </a:pPr>
            <a:r>
              <a:rPr sz="1250" b="1" spc="220">
                <a:solidFill>
                  <a:srgbClr val="EE0000"/>
                </a:solidFill>
                <a:latin typeface="Red Hat Display"/>
              </a:rPr>
              <a:t>M19 · SERVICE MESH 3 &amp; ADVANCED GATEWAYS</a:t>
            </a:r>
          </a:p>
        </p:txBody>
      </p:sp>
      <p:sp>
        <p:nvSpPr>
          <p:cNvPr id="4" name="TextBox 3"/>
          <p:cNvSpPr txBox="1"/>
          <p:nvPr/>
        </p:nvSpPr>
        <p:spPr>
          <a:xfrm>
            <a:off x="841248" y="877824"/>
            <a:ext cx="10515600" cy="548640"/>
          </a:xfrm>
          <a:prstGeom prst="rect">
            <a:avLst/>
          </a:prstGeom>
          <a:noFill/>
        </p:spPr>
        <p:txBody>
          <a:bodyPr wrap="none" anchor="t" lIns="0" rIns="0" tIns="0" bIns="0">
            <a:spAutoFit/>
          </a:bodyPr>
          <a:lstStyle/>
          <a:p>
            <a:pPr algn="l">
              <a:lnSpc>
                <a:spcPct val="100000"/>
              </a:lnSpc>
              <a:spcBef>
                <a:spcPts val="0"/>
              </a:spcBef>
              <a:spcAft>
                <a:spcPts val="0"/>
              </a:spcAft>
            </a:pPr>
            <a:r>
              <a:rPr sz="2500" b="1">
                <a:solidFill>
                  <a:srgbClr val="1A1A1A"/>
                </a:solidFill>
                <a:latin typeface="Red Hat Display"/>
              </a:rPr>
              <a:t>Lock the call path to identity</a:t>
            </a:r>
          </a:p>
        </p:txBody>
      </p:sp>
      <p:cxnSp>
        <p:nvCxnSpPr>
          <p:cNvPr id="5" name="Connector 4"/>
          <p:cNvCxnSpPr/>
          <p:nvPr/>
        </p:nvCxnSpPr>
        <p:spPr>
          <a:xfrm>
            <a:off x="841248" y="1554480"/>
            <a:ext cx="1371600" cy="0"/>
          </a:xfrm>
          <a:prstGeom prst="bentConnector3">
            <a:avLst/>
          </a:prstGeom>
          <a:ln w="31750">
            <a:solidFill>
              <a:srgbClr val="EE0000"/>
            </a:solidFill>
          </a:ln>
          <a:effectLst/>
        </p:spPr>
        <p:style>
          <a:lnRef idx="2">
            <a:schemeClr val="accent1"/>
          </a:lnRef>
          <a:fillRef idx="0">
            <a:schemeClr val="accent1"/>
          </a:fillRef>
          <a:effectRef idx="1">
            <a:schemeClr val="accent1"/>
          </a:effectRef>
          <a:fontRef idx="minor">
            <a:schemeClr val="tx1"/>
          </a:fontRef>
        </p:style>
      </p:cxnSp>
      <p:sp>
        <p:nvSpPr>
          <p:cNvPr id="6" name="Rounded Rectangle 5"/>
          <p:cNvSpPr/>
          <p:nvPr/>
        </p:nvSpPr>
        <p:spPr>
          <a:xfrm>
            <a:off x="841248" y="2395728"/>
            <a:ext cx="5715000" cy="530352"/>
          </a:xfrm>
          <a:prstGeom prst="roundRect">
            <a:avLst>
              <a:gd name="adj" fmla="val 6000"/>
            </a:avLst>
          </a:prstGeom>
          <a:solidFill>
            <a:srgbClr val="F5F6F8"/>
          </a:solidFill>
          <a:ln w="12700">
            <a:solidFill>
              <a:srgbClr val="DDE1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check_steel.png"/>
          <p:cNvPicPr>
            <a:picLocks noChangeAspect="1"/>
          </p:cNvPicPr>
          <p:nvPr/>
        </p:nvPicPr>
        <p:blipFill>
          <a:blip r:embed="rId3"/>
          <a:stretch>
            <a:fillRect/>
          </a:stretch>
        </p:blipFill>
        <p:spPr>
          <a:xfrm>
            <a:off x="987552" y="2542032"/>
            <a:ext cx="237744" cy="237744"/>
          </a:xfrm>
          <a:prstGeom prst="rect">
            <a:avLst/>
          </a:prstGeom>
        </p:spPr>
      </p:pic>
      <p:sp>
        <p:nvSpPr>
          <p:cNvPr id="8" name="TextBox 7"/>
          <p:cNvSpPr txBox="1"/>
          <p:nvPr/>
        </p:nvSpPr>
        <p:spPr>
          <a:xfrm>
            <a:off x="1353312" y="2395728"/>
            <a:ext cx="5029200" cy="530352"/>
          </a:xfrm>
          <a:prstGeom prst="rect">
            <a:avLst/>
          </a:prstGeom>
          <a:noFill/>
        </p:spPr>
        <p:txBody>
          <a:bodyPr wrap="square" anchor="ctr" lIns="0" rIns="0" tIns="0" bIns="0">
            <a:spAutoFit/>
          </a:bodyPr>
          <a:lstStyle/>
          <a:p>
            <a:pPr algn="l">
              <a:lnSpc>
                <a:spcPct val="106000"/>
              </a:lnSpc>
              <a:spcBef>
                <a:spcPts val="0"/>
              </a:spcBef>
              <a:spcAft>
                <a:spcPts val="0"/>
              </a:spcAft>
            </a:pPr>
            <a:r>
              <a:rPr sz="1200" b="0">
                <a:solidFill>
                  <a:srgbClr val="1A1A1A"/>
                </a:solidFill>
                <a:latin typeface="Red Hat Text"/>
              </a:rPr>
              <a:t>Under PERMISSIVE, any meshed workload can call fraud</a:t>
            </a:r>
          </a:p>
        </p:txBody>
      </p:sp>
      <p:sp>
        <p:nvSpPr>
          <p:cNvPr id="9" name="Rounded Rectangle 8"/>
          <p:cNvSpPr/>
          <p:nvPr/>
        </p:nvSpPr>
        <p:spPr>
          <a:xfrm>
            <a:off x="841248" y="2999232"/>
            <a:ext cx="5715000" cy="530352"/>
          </a:xfrm>
          <a:prstGeom prst="roundRect">
            <a:avLst>
              <a:gd name="adj" fmla="val 6000"/>
            </a:avLst>
          </a:prstGeom>
          <a:solidFill>
            <a:srgbClr val="F5F6F8"/>
          </a:solidFill>
          <a:ln w="12700">
            <a:solidFill>
              <a:srgbClr val="DDE1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0" name="Picture 9" descr="check_steel.png"/>
          <p:cNvPicPr>
            <a:picLocks noChangeAspect="1"/>
          </p:cNvPicPr>
          <p:nvPr/>
        </p:nvPicPr>
        <p:blipFill>
          <a:blip r:embed="rId3"/>
          <a:stretch>
            <a:fillRect/>
          </a:stretch>
        </p:blipFill>
        <p:spPr>
          <a:xfrm>
            <a:off x="987552" y="3145536"/>
            <a:ext cx="237744" cy="237744"/>
          </a:xfrm>
          <a:prstGeom prst="rect">
            <a:avLst/>
          </a:prstGeom>
        </p:spPr>
      </p:pic>
      <p:sp>
        <p:nvSpPr>
          <p:cNvPr id="11" name="TextBox 10"/>
          <p:cNvSpPr txBox="1"/>
          <p:nvPr/>
        </p:nvSpPr>
        <p:spPr>
          <a:xfrm>
            <a:off x="1353312" y="2999232"/>
            <a:ext cx="5029200" cy="530352"/>
          </a:xfrm>
          <a:prstGeom prst="rect">
            <a:avLst/>
          </a:prstGeom>
          <a:noFill/>
        </p:spPr>
        <p:txBody>
          <a:bodyPr wrap="square" anchor="ctr" lIns="0" rIns="0" tIns="0" bIns="0">
            <a:spAutoFit/>
          </a:bodyPr>
          <a:lstStyle/>
          <a:p>
            <a:pPr algn="l">
              <a:lnSpc>
                <a:spcPct val="106000"/>
              </a:lnSpc>
              <a:spcBef>
                <a:spcPts val="0"/>
              </a:spcBef>
              <a:spcAft>
                <a:spcPts val="0"/>
              </a:spcAft>
            </a:pPr>
            <a:r>
              <a:rPr sz="1200" b="0">
                <a:solidFill>
                  <a:srgbClr val="1A1A1A"/>
                </a:solidFill>
                <a:latin typeface="Red Hat Text"/>
              </a:rPr>
              <a:t>AuthorizationPolicy: ALLOW only `sa/parasol-claims`</a:t>
            </a:r>
          </a:p>
        </p:txBody>
      </p:sp>
      <p:sp>
        <p:nvSpPr>
          <p:cNvPr id="12" name="Rounded Rectangle 11"/>
          <p:cNvSpPr/>
          <p:nvPr/>
        </p:nvSpPr>
        <p:spPr>
          <a:xfrm>
            <a:off x="841248" y="3602736"/>
            <a:ext cx="5715000" cy="530352"/>
          </a:xfrm>
          <a:prstGeom prst="roundRect">
            <a:avLst>
              <a:gd name="adj" fmla="val 6000"/>
            </a:avLst>
          </a:prstGeom>
          <a:solidFill>
            <a:srgbClr val="F5F6F8"/>
          </a:solidFill>
          <a:ln w="12700">
            <a:solidFill>
              <a:srgbClr val="DDE1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3" name="Picture 12" descr="check_steel.png"/>
          <p:cNvPicPr>
            <a:picLocks noChangeAspect="1"/>
          </p:cNvPicPr>
          <p:nvPr/>
        </p:nvPicPr>
        <p:blipFill>
          <a:blip r:embed="rId3"/>
          <a:stretch>
            <a:fillRect/>
          </a:stretch>
        </p:blipFill>
        <p:spPr>
          <a:xfrm>
            <a:off x="987552" y="3749040"/>
            <a:ext cx="237744" cy="237744"/>
          </a:xfrm>
          <a:prstGeom prst="rect">
            <a:avLst/>
          </a:prstGeom>
        </p:spPr>
      </p:pic>
      <p:sp>
        <p:nvSpPr>
          <p:cNvPr id="14" name="TextBox 13"/>
          <p:cNvSpPr txBox="1"/>
          <p:nvPr/>
        </p:nvSpPr>
        <p:spPr>
          <a:xfrm>
            <a:off x="1353312" y="3602736"/>
            <a:ext cx="5029200" cy="530352"/>
          </a:xfrm>
          <a:prstGeom prst="rect">
            <a:avLst/>
          </a:prstGeom>
          <a:noFill/>
        </p:spPr>
        <p:txBody>
          <a:bodyPr wrap="square" anchor="ctr" lIns="0" rIns="0" tIns="0" bIns="0">
            <a:spAutoFit/>
          </a:bodyPr>
          <a:lstStyle/>
          <a:p>
            <a:pPr algn="l">
              <a:lnSpc>
                <a:spcPct val="106000"/>
              </a:lnSpc>
              <a:spcBef>
                <a:spcPts val="0"/>
              </a:spcBef>
              <a:spcAft>
                <a:spcPts val="0"/>
              </a:spcAft>
            </a:pPr>
            <a:r>
              <a:rPr sz="1200" b="0">
                <a:solidFill>
                  <a:srgbClr val="1A1A1A"/>
                </a:solidFill>
                <a:latin typeface="Red Hat Text"/>
              </a:rPr>
              <a:t>ALLOW list → implicit deny for everyone else</a:t>
            </a:r>
          </a:p>
        </p:txBody>
      </p:sp>
      <p:sp>
        <p:nvSpPr>
          <p:cNvPr id="15" name="Rounded Rectangle 14"/>
          <p:cNvSpPr/>
          <p:nvPr/>
        </p:nvSpPr>
        <p:spPr>
          <a:xfrm>
            <a:off x="841248" y="4206240"/>
            <a:ext cx="5715000" cy="530352"/>
          </a:xfrm>
          <a:prstGeom prst="roundRect">
            <a:avLst>
              <a:gd name="adj" fmla="val 6000"/>
            </a:avLst>
          </a:prstGeom>
          <a:solidFill>
            <a:srgbClr val="F5F6F8"/>
          </a:solidFill>
          <a:ln w="12700">
            <a:solidFill>
              <a:srgbClr val="DDE1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6" name="Picture 15" descr="check_steel.png"/>
          <p:cNvPicPr>
            <a:picLocks noChangeAspect="1"/>
          </p:cNvPicPr>
          <p:nvPr/>
        </p:nvPicPr>
        <p:blipFill>
          <a:blip r:embed="rId3"/>
          <a:stretch>
            <a:fillRect/>
          </a:stretch>
        </p:blipFill>
        <p:spPr>
          <a:xfrm>
            <a:off x="987552" y="4352544"/>
            <a:ext cx="237744" cy="237744"/>
          </a:xfrm>
          <a:prstGeom prst="rect">
            <a:avLst/>
          </a:prstGeom>
        </p:spPr>
      </p:pic>
      <p:sp>
        <p:nvSpPr>
          <p:cNvPr id="17" name="TextBox 16"/>
          <p:cNvSpPr txBox="1"/>
          <p:nvPr/>
        </p:nvSpPr>
        <p:spPr>
          <a:xfrm>
            <a:off x="1353312" y="4206240"/>
            <a:ext cx="5029200" cy="530352"/>
          </a:xfrm>
          <a:prstGeom prst="rect">
            <a:avLst/>
          </a:prstGeom>
          <a:noFill/>
        </p:spPr>
        <p:txBody>
          <a:bodyPr wrap="square" anchor="ctr" lIns="0" rIns="0" tIns="0" bIns="0">
            <a:spAutoFit/>
          </a:bodyPr>
          <a:lstStyle/>
          <a:p>
            <a:pPr algn="l">
              <a:lnSpc>
                <a:spcPct val="106000"/>
              </a:lnSpc>
              <a:spcBef>
                <a:spcPts val="0"/>
              </a:spcBef>
              <a:spcAft>
                <a:spcPts val="0"/>
              </a:spcAft>
            </a:pPr>
            <a:r>
              <a:rPr sz="1200" b="0">
                <a:solidFill>
                  <a:srgbClr val="1A1A1A"/>
                </a:solidFill>
                <a:latin typeface="Red Hat Text"/>
              </a:rPr>
              <a:t>Result: claims 200 · web tier 403 · un-meshed client 403</a:t>
            </a:r>
          </a:p>
        </p:txBody>
      </p:sp>
      <p:sp>
        <p:nvSpPr>
          <p:cNvPr id="18" name="Rounded Rectangle 17"/>
          <p:cNvSpPr/>
          <p:nvPr/>
        </p:nvSpPr>
        <p:spPr>
          <a:xfrm>
            <a:off x="841248" y="4809744"/>
            <a:ext cx="5715000" cy="530352"/>
          </a:xfrm>
          <a:prstGeom prst="roundRect">
            <a:avLst>
              <a:gd name="adj" fmla="val 6000"/>
            </a:avLst>
          </a:prstGeom>
          <a:solidFill>
            <a:srgbClr val="F5F6F8"/>
          </a:solidFill>
          <a:ln w="12700">
            <a:solidFill>
              <a:srgbClr val="DDE1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9" name="Picture 18" descr="check_steel.png"/>
          <p:cNvPicPr>
            <a:picLocks noChangeAspect="1"/>
          </p:cNvPicPr>
          <p:nvPr/>
        </p:nvPicPr>
        <p:blipFill>
          <a:blip r:embed="rId3"/>
          <a:stretch>
            <a:fillRect/>
          </a:stretch>
        </p:blipFill>
        <p:spPr>
          <a:xfrm>
            <a:off x="987552" y="4956048"/>
            <a:ext cx="237744" cy="237744"/>
          </a:xfrm>
          <a:prstGeom prst="rect">
            <a:avLst/>
          </a:prstGeom>
        </p:spPr>
      </p:pic>
      <p:sp>
        <p:nvSpPr>
          <p:cNvPr id="20" name="TextBox 19"/>
          <p:cNvSpPr txBox="1"/>
          <p:nvPr/>
        </p:nvSpPr>
        <p:spPr>
          <a:xfrm>
            <a:off x="1353312" y="4809744"/>
            <a:ext cx="5029200" cy="530352"/>
          </a:xfrm>
          <a:prstGeom prst="rect">
            <a:avLst/>
          </a:prstGeom>
          <a:noFill/>
        </p:spPr>
        <p:txBody>
          <a:bodyPr wrap="square" anchor="ctr" lIns="0" rIns="0" tIns="0" bIns="0">
            <a:spAutoFit/>
          </a:bodyPr>
          <a:lstStyle/>
          <a:p>
            <a:pPr algn="l">
              <a:lnSpc>
                <a:spcPct val="106000"/>
              </a:lnSpc>
              <a:spcBef>
                <a:spcPts val="0"/>
              </a:spcBef>
              <a:spcAft>
                <a:spcPts val="0"/>
              </a:spcAft>
            </a:pPr>
            <a:r>
              <a:rPr sz="1200" b="0">
                <a:solidFill>
                  <a:srgbClr val="1A1A1A"/>
                </a:solidFill>
                <a:latin typeface="Red Hat Text"/>
              </a:rPr>
              <a:t>Not by IP, not by namespace — by cryptographic identity</a:t>
            </a:r>
          </a:p>
        </p:txBody>
      </p:sp>
      <p:sp>
        <p:nvSpPr>
          <p:cNvPr id="21" name="Rounded Rectangle 20"/>
          <p:cNvSpPr/>
          <p:nvPr/>
        </p:nvSpPr>
        <p:spPr>
          <a:xfrm>
            <a:off x="6812280" y="2395728"/>
            <a:ext cx="4538167" cy="2944368"/>
          </a:xfrm>
          <a:prstGeom prst="roundRect">
            <a:avLst>
              <a:gd name="adj" fmla="val 4000"/>
            </a:avLst>
          </a:prstGeom>
          <a:solidFill>
            <a:srgbClr val="FFFFFF"/>
          </a:solidFill>
          <a:ln w="15240">
            <a:solidFill>
              <a:srgbClr val="DDE1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ounded Rectangle 21"/>
          <p:cNvSpPr/>
          <p:nvPr/>
        </p:nvSpPr>
        <p:spPr>
          <a:xfrm>
            <a:off x="7013448" y="2596896"/>
            <a:ext cx="1298448" cy="310896"/>
          </a:xfrm>
          <a:prstGeom prst="roundRect">
            <a:avLst>
              <a:gd name="adj" fmla="val 50000"/>
            </a:avLst>
          </a:prstGeom>
          <a:solidFill>
            <a:srgbClr val="FCEC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7013448" y="2596896"/>
            <a:ext cx="1298448" cy="310896"/>
          </a:xfrm>
          <a:prstGeom prst="rect">
            <a:avLst/>
          </a:prstGeom>
          <a:noFill/>
        </p:spPr>
        <p:txBody>
          <a:bodyPr wrap="none" anchor="ctr" lIns="0" rIns="0" tIns="0" bIns="0">
            <a:spAutoFit/>
          </a:bodyPr>
          <a:lstStyle/>
          <a:p>
            <a:pPr algn="ctr">
              <a:lnSpc>
                <a:spcPct val="106000"/>
              </a:lnSpc>
              <a:spcBef>
                <a:spcPts val="0"/>
              </a:spcBef>
              <a:spcAft>
                <a:spcPts val="0"/>
              </a:spcAft>
            </a:pPr>
            <a:r>
              <a:rPr sz="850" b="1">
                <a:solidFill>
                  <a:srgbClr val="B80000"/>
                </a:solidFill>
                <a:latin typeface="Red Hat Display"/>
              </a:rPr>
              <a:t>MEDIA PASS</a:t>
            </a:r>
          </a:p>
        </p:txBody>
      </p:sp>
      <p:pic>
        <p:nvPicPr>
          <p:cNvPr id="24" name="Picture 23" descr="eye_slate.png"/>
          <p:cNvPicPr>
            <a:picLocks noChangeAspect="1"/>
          </p:cNvPicPr>
          <p:nvPr/>
        </p:nvPicPr>
        <p:blipFill>
          <a:blip r:embed="rId4"/>
          <a:stretch>
            <a:fillRect/>
          </a:stretch>
        </p:blipFill>
        <p:spPr>
          <a:xfrm>
            <a:off x="8843619" y="3108960"/>
            <a:ext cx="475488" cy="475488"/>
          </a:xfrm>
          <a:prstGeom prst="rect">
            <a:avLst/>
          </a:prstGeom>
        </p:spPr>
      </p:pic>
      <p:sp>
        <p:nvSpPr>
          <p:cNvPr id="25" name="TextBox 24"/>
          <p:cNvSpPr txBox="1"/>
          <p:nvPr/>
        </p:nvSpPr>
        <p:spPr>
          <a:xfrm>
            <a:off x="7050024" y="3721608"/>
            <a:ext cx="4062679" cy="1481328"/>
          </a:xfrm>
          <a:prstGeom prst="rect">
            <a:avLst/>
          </a:prstGeom>
          <a:noFill/>
        </p:spPr>
        <p:txBody>
          <a:bodyPr wrap="square" anchor="t" lIns="0" rIns="0" tIns="0" bIns="0">
            <a:spAutoFit/>
          </a:bodyPr>
          <a:lstStyle/>
          <a:p>
            <a:pPr algn="l">
              <a:lnSpc>
                <a:spcPct val="120000"/>
              </a:lnSpc>
              <a:spcBef>
                <a:spcPts val="0"/>
              </a:spcBef>
              <a:spcAft>
                <a:spcPts val="0"/>
              </a:spcAft>
            </a:pPr>
            <a:r>
              <a:rPr sz="950" b="0">
                <a:solidFill>
                  <a:srgbClr val="8A9099"/>
                </a:solidFill>
                <a:latin typeface="Red Hat Text"/>
              </a:rPr>
              <a:t>Three arrows converging on the fraud service: a green check from claims (sa/parasol-claims), a red 403 from the web tier (sa/default), a red 403 from the un-meshed client — labelled "identity, not location."</a:t>
            </a:r>
          </a:p>
        </p:txBody>
      </p:sp>
      <p:cxnSp>
        <p:nvCxnSpPr>
          <p:cNvPr id="26" name="Connector 25"/>
          <p:cNvCxnSpPr/>
          <p:nvPr/>
        </p:nvCxnSpPr>
        <p:spPr>
          <a:xfrm>
            <a:off x="841248" y="6437376"/>
            <a:ext cx="10509199" cy="0"/>
          </a:xfrm>
          <a:prstGeom prst="bentConnector3">
            <a:avLst/>
          </a:prstGeom>
          <a:ln w="12700">
            <a:solidFill>
              <a:srgbClr val="DDE1E6"/>
            </a:solidFill>
          </a:ln>
          <a:effectLst/>
        </p:spPr>
        <p:style>
          <a:lnRef idx="2">
            <a:schemeClr val="accent1"/>
          </a:lnRef>
          <a:fillRef idx="0">
            <a:schemeClr val="accent1"/>
          </a:fillRef>
          <a:effectRef idx="1">
            <a:schemeClr val="accent1"/>
          </a:effectRef>
          <a:fontRef idx="minor">
            <a:schemeClr val="tx1"/>
          </a:fontRef>
        </p:style>
      </p:cxnSp>
      <p:sp>
        <p:nvSpPr>
          <p:cNvPr id="27" name="TextBox 26"/>
          <p:cNvSpPr txBox="1"/>
          <p:nvPr/>
        </p:nvSpPr>
        <p:spPr>
          <a:xfrm>
            <a:off x="841248" y="6473952"/>
            <a:ext cx="7315200" cy="274320"/>
          </a:xfrm>
          <a:prstGeom prst="rect">
            <a:avLst/>
          </a:prstGeom>
          <a:noFill/>
        </p:spPr>
        <p:txBody>
          <a:bodyPr wrap="square" anchor="t" lIns="0" rIns="0" tIns="0" bIns="0">
            <a:spAutoFit/>
          </a:bodyPr>
          <a:lstStyle/>
          <a:p>
            <a:pPr algn="l">
              <a:lnSpc>
                <a:spcPct val="106000"/>
              </a:lnSpc>
              <a:spcBef>
                <a:spcPts val="0"/>
              </a:spcBef>
              <a:spcAft>
                <a:spcPts val="0"/>
              </a:spcAft>
            </a:pPr>
            <a:r>
              <a:rPr sz="950" b="0">
                <a:solidFill>
                  <a:srgbClr val="8A9099"/>
                </a:solidFill>
                <a:latin typeface="Red Hat Text"/>
              </a:rPr>
              <a:t>CONFIDENTIAL</a:t>
            </a:r>
          </a:p>
        </p:txBody>
      </p:sp>
      <p:sp>
        <p:nvSpPr>
          <p:cNvPr id="28" name="TextBox 27"/>
          <p:cNvSpPr txBox="1"/>
          <p:nvPr/>
        </p:nvSpPr>
        <p:spPr>
          <a:xfrm>
            <a:off x="10801807" y="6473952"/>
            <a:ext cx="548640" cy="274320"/>
          </a:xfrm>
          <a:prstGeom prst="rect">
            <a:avLst/>
          </a:prstGeom>
          <a:noFill/>
        </p:spPr>
        <p:txBody>
          <a:bodyPr wrap="square" anchor="t" lIns="0" rIns="0" tIns="0" bIns="0">
            <a:spAutoFit/>
          </a:bodyPr>
          <a:lstStyle/>
          <a:p>
            <a:pPr algn="r">
              <a:lnSpc>
                <a:spcPct val="106000"/>
              </a:lnSpc>
              <a:spcBef>
                <a:spcPts val="0"/>
              </a:spcBef>
              <a:spcAft>
                <a:spcPts val="0"/>
              </a:spcAft>
            </a:pPr>
            <a:r>
              <a:rPr sz="950" b="0">
                <a:solidFill>
                  <a:srgbClr val="8A9099"/>
                </a:solidFill>
                <a:latin typeface="Red Hat Text"/>
              </a:rPr>
              <a:t>141</a:t>
            </a:r>
          </a:p>
        </p:txBody>
      </p:sp>
    </p:spTree>
  </p:cSld>
  <p:clrMapOvr>
    <a:masterClrMapping/>
  </p:clrMapOvr>
</p:sld>
</file>

<file path=ppt/slides/slide16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redhat_logo.jpg"/>
          <p:cNvPicPr>
            <a:picLocks noChangeAspect="1"/>
          </p:cNvPicPr>
          <p:nvPr/>
        </p:nvPicPr>
        <p:blipFill>
          <a:blip r:embed="rId2"/>
          <a:stretch>
            <a:fillRect/>
          </a:stretch>
        </p:blipFill>
        <p:spPr>
          <a:xfrm>
            <a:off x="10326319" y="475488"/>
            <a:ext cx="1024128" cy="242248"/>
          </a:xfrm>
          <a:prstGeom prst="rect">
            <a:avLst/>
          </a:prstGeom>
        </p:spPr>
      </p:pic>
      <p:sp>
        <p:nvSpPr>
          <p:cNvPr id="3" name="TextBox 2"/>
          <p:cNvSpPr txBox="1"/>
          <p:nvPr/>
        </p:nvSpPr>
        <p:spPr>
          <a:xfrm>
            <a:off x="841248" y="548640"/>
            <a:ext cx="8595360" cy="274320"/>
          </a:xfrm>
          <a:prstGeom prst="rect">
            <a:avLst/>
          </a:prstGeom>
          <a:noFill/>
        </p:spPr>
        <p:txBody>
          <a:bodyPr wrap="square" anchor="t" lIns="0" rIns="0" tIns="0" bIns="0">
            <a:spAutoFit/>
          </a:bodyPr>
          <a:lstStyle/>
          <a:p>
            <a:pPr algn="l">
              <a:lnSpc>
                <a:spcPct val="106000"/>
              </a:lnSpc>
              <a:spcBef>
                <a:spcPts val="0"/>
              </a:spcBef>
              <a:spcAft>
                <a:spcPts val="0"/>
              </a:spcAft>
            </a:pPr>
            <a:r>
              <a:rPr sz="1250" b="1" spc="220">
                <a:solidFill>
                  <a:srgbClr val="EE0000"/>
                </a:solidFill>
                <a:latin typeface="Red Hat Display"/>
              </a:rPr>
              <a:t>M19 · SERVICE MESH 3 &amp; ADVANCED GATEWAYS</a:t>
            </a:r>
          </a:p>
        </p:txBody>
      </p:sp>
      <p:sp>
        <p:nvSpPr>
          <p:cNvPr id="4" name="TextBox 3"/>
          <p:cNvSpPr txBox="1"/>
          <p:nvPr/>
        </p:nvSpPr>
        <p:spPr>
          <a:xfrm>
            <a:off x="841248" y="877824"/>
            <a:ext cx="10515600" cy="548640"/>
          </a:xfrm>
          <a:prstGeom prst="rect">
            <a:avLst/>
          </a:prstGeom>
          <a:noFill/>
        </p:spPr>
        <p:txBody>
          <a:bodyPr wrap="none" anchor="t" lIns="0" rIns="0" tIns="0" bIns="0">
            <a:spAutoFit/>
          </a:bodyPr>
          <a:lstStyle/>
          <a:p>
            <a:pPr algn="l">
              <a:lnSpc>
                <a:spcPct val="100000"/>
              </a:lnSpc>
              <a:spcBef>
                <a:spcPts val="0"/>
              </a:spcBef>
              <a:spcAft>
                <a:spcPts val="0"/>
              </a:spcAft>
            </a:pPr>
            <a:r>
              <a:rPr sz="2500" b="1">
                <a:solidFill>
                  <a:srgbClr val="1A1A1A"/>
                </a:solidFill>
                <a:latin typeface="Red Hat Display"/>
              </a:rPr>
              <a:t>The honest L4 boundary — and what you'll do</a:t>
            </a:r>
          </a:p>
        </p:txBody>
      </p:sp>
      <p:cxnSp>
        <p:nvCxnSpPr>
          <p:cNvPr id="5" name="Connector 4"/>
          <p:cNvCxnSpPr/>
          <p:nvPr/>
        </p:nvCxnSpPr>
        <p:spPr>
          <a:xfrm>
            <a:off x="841248" y="1554480"/>
            <a:ext cx="1371600" cy="0"/>
          </a:xfrm>
          <a:prstGeom prst="bentConnector3">
            <a:avLst/>
          </a:prstGeom>
          <a:ln w="31750">
            <a:solidFill>
              <a:srgbClr val="EE0000"/>
            </a:solidFill>
          </a:ln>
          <a:effectLst/>
        </p:spPr>
        <p:style>
          <a:lnRef idx="2">
            <a:schemeClr val="accent1"/>
          </a:lnRef>
          <a:fillRef idx="0">
            <a:schemeClr val="accent1"/>
          </a:fillRef>
          <a:effectRef idx="1">
            <a:schemeClr val="accent1"/>
          </a:effectRef>
          <a:fontRef idx="minor">
            <a:schemeClr val="tx1"/>
          </a:fontRef>
        </p:style>
      </p:cxnSp>
      <p:sp>
        <p:nvSpPr>
          <p:cNvPr id="6" name="Rounded Rectangle 5"/>
          <p:cNvSpPr/>
          <p:nvPr/>
        </p:nvSpPr>
        <p:spPr>
          <a:xfrm>
            <a:off x="841248" y="2395728"/>
            <a:ext cx="5715000" cy="530352"/>
          </a:xfrm>
          <a:prstGeom prst="roundRect">
            <a:avLst>
              <a:gd name="adj" fmla="val 6000"/>
            </a:avLst>
          </a:prstGeom>
          <a:solidFill>
            <a:srgbClr val="F5F6F8"/>
          </a:solidFill>
          <a:ln w="12700">
            <a:solidFill>
              <a:srgbClr val="DDE1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check_steel.png"/>
          <p:cNvPicPr>
            <a:picLocks noChangeAspect="1"/>
          </p:cNvPicPr>
          <p:nvPr/>
        </p:nvPicPr>
        <p:blipFill>
          <a:blip r:embed="rId3"/>
          <a:stretch>
            <a:fillRect/>
          </a:stretch>
        </p:blipFill>
        <p:spPr>
          <a:xfrm>
            <a:off x="987552" y="2542032"/>
            <a:ext cx="237744" cy="237744"/>
          </a:xfrm>
          <a:prstGeom prst="rect">
            <a:avLst/>
          </a:prstGeom>
        </p:spPr>
      </p:pic>
      <p:sp>
        <p:nvSpPr>
          <p:cNvPr id="8" name="TextBox 7"/>
          <p:cNvSpPr txBox="1"/>
          <p:nvPr/>
        </p:nvSpPr>
        <p:spPr>
          <a:xfrm>
            <a:off x="1353312" y="2395728"/>
            <a:ext cx="5029200" cy="530352"/>
          </a:xfrm>
          <a:prstGeom prst="rect">
            <a:avLst/>
          </a:prstGeom>
          <a:noFill/>
        </p:spPr>
        <p:txBody>
          <a:bodyPr wrap="square" anchor="ctr" lIns="0" rIns="0" tIns="0" bIns="0">
            <a:spAutoFit/>
          </a:bodyPr>
          <a:lstStyle/>
          <a:p>
            <a:pPr algn="l">
              <a:lnSpc>
                <a:spcPct val="106000"/>
              </a:lnSpc>
              <a:spcBef>
                <a:spcPts val="0"/>
              </a:spcBef>
              <a:spcAft>
                <a:spcPts val="0"/>
              </a:spcAft>
            </a:pPr>
            <a:r>
              <a:rPr sz="1200" b="0">
                <a:solidFill>
                  <a:srgbClr val="1A1A1A"/>
                </a:solidFill>
                <a:latin typeface="Red Hat Text"/>
              </a:rPr>
              <a:t>Routes / Gateway API: great for HTTP(S) ingress</a:t>
            </a:r>
          </a:p>
        </p:txBody>
      </p:sp>
      <p:sp>
        <p:nvSpPr>
          <p:cNvPr id="9" name="Rounded Rectangle 8"/>
          <p:cNvSpPr/>
          <p:nvPr/>
        </p:nvSpPr>
        <p:spPr>
          <a:xfrm>
            <a:off x="841248" y="2999232"/>
            <a:ext cx="5715000" cy="530352"/>
          </a:xfrm>
          <a:prstGeom prst="roundRect">
            <a:avLst>
              <a:gd name="adj" fmla="val 6000"/>
            </a:avLst>
          </a:prstGeom>
          <a:solidFill>
            <a:srgbClr val="F5F6F8"/>
          </a:solidFill>
          <a:ln w="12700">
            <a:solidFill>
              <a:srgbClr val="DDE1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0" name="Picture 9" descr="check_steel.png"/>
          <p:cNvPicPr>
            <a:picLocks noChangeAspect="1"/>
          </p:cNvPicPr>
          <p:nvPr/>
        </p:nvPicPr>
        <p:blipFill>
          <a:blip r:embed="rId3"/>
          <a:stretch>
            <a:fillRect/>
          </a:stretch>
        </p:blipFill>
        <p:spPr>
          <a:xfrm>
            <a:off x="987552" y="3145536"/>
            <a:ext cx="237744" cy="237744"/>
          </a:xfrm>
          <a:prstGeom prst="rect">
            <a:avLst/>
          </a:prstGeom>
        </p:spPr>
      </p:pic>
      <p:sp>
        <p:nvSpPr>
          <p:cNvPr id="11" name="TextBox 10"/>
          <p:cNvSpPr txBox="1"/>
          <p:nvPr/>
        </p:nvSpPr>
        <p:spPr>
          <a:xfrm>
            <a:off x="1353312" y="2999232"/>
            <a:ext cx="5029200" cy="530352"/>
          </a:xfrm>
          <a:prstGeom prst="rect">
            <a:avLst/>
          </a:prstGeom>
          <a:noFill/>
        </p:spPr>
        <p:txBody>
          <a:bodyPr wrap="square" anchor="ctr" lIns="0" rIns="0" tIns="0" bIns="0">
            <a:spAutoFit/>
          </a:bodyPr>
          <a:lstStyle/>
          <a:p>
            <a:pPr algn="l">
              <a:lnSpc>
                <a:spcPct val="106000"/>
              </a:lnSpc>
              <a:spcBef>
                <a:spcPts val="0"/>
              </a:spcBef>
              <a:spcAft>
                <a:spcPts val="0"/>
              </a:spcAft>
            </a:pPr>
            <a:r>
              <a:rPr sz="1200" b="0">
                <a:solidFill>
                  <a:srgbClr val="1A1A1A"/>
                </a:solidFill>
                <a:latin typeface="Red Hat Text"/>
              </a:rPr>
              <a:t>Raw TCP + TLS passthrough: Istio Gateway/VirtualService (today)</a:t>
            </a:r>
          </a:p>
        </p:txBody>
      </p:sp>
      <p:sp>
        <p:nvSpPr>
          <p:cNvPr id="12" name="Rounded Rectangle 11"/>
          <p:cNvSpPr/>
          <p:nvPr/>
        </p:nvSpPr>
        <p:spPr>
          <a:xfrm>
            <a:off x="841248" y="3602736"/>
            <a:ext cx="5715000" cy="530352"/>
          </a:xfrm>
          <a:prstGeom prst="roundRect">
            <a:avLst>
              <a:gd name="adj" fmla="val 6000"/>
            </a:avLst>
          </a:prstGeom>
          <a:solidFill>
            <a:srgbClr val="F5F6F8"/>
          </a:solidFill>
          <a:ln w="12700">
            <a:solidFill>
              <a:srgbClr val="DDE1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3" name="Picture 12" descr="check_steel.png"/>
          <p:cNvPicPr>
            <a:picLocks noChangeAspect="1"/>
          </p:cNvPicPr>
          <p:nvPr/>
        </p:nvPicPr>
        <p:blipFill>
          <a:blip r:embed="rId3"/>
          <a:stretch>
            <a:fillRect/>
          </a:stretch>
        </p:blipFill>
        <p:spPr>
          <a:xfrm>
            <a:off x="987552" y="3749040"/>
            <a:ext cx="237744" cy="237744"/>
          </a:xfrm>
          <a:prstGeom prst="rect">
            <a:avLst/>
          </a:prstGeom>
        </p:spPr>
      </p:pic>
      <p:sp>
        <p:nvSpPr>
          <p:cNvPr id="14" name="TextBox 13"/>
          <p:cNvSpPr txBox="1"/>
          <p:nvPr/>
        </p:nvSpPr>
        <p:spPr>
          <a:xfrm>
            <a:off x="1353312" y="3602736"/>
            <a:ext cx="5029200" cy="530352"/>
          </a:xfrm>
          <a:prstGeom prst="rect">
            <a:avLst/>
          </a:prstGeom>
          <a:noFill/>
        </p:spPr>
        <p:txBody>
          <a:bodyPr wrap="square" anchor="ctr" lIns="0" rIns="0" tIns="0" bIns="0">
            <a:spAutoFit/>
          </a:bodyPr>
          <a:lstStyle/>
          <a:p>
            <a:pPr algn="l">
              <a:lnSpc>
                <a:spcPct val="106000"/>
              </a:lnSpc>
              <a:spcBef>
                <a:spcPts val="0"/>
              </a:spcBef>
              <a:spcAft>
                <a:spcPts val="0"/>
              </a:spcAft>
            </a:pPr>
            <a:r>
              <a:rPr sz="1200" b="0">
                <a:solidFill>
                  <a:srgbClr val="1A1A1A"/>
                </a:solidFill>
                <a:latin typeface="Red Hat Text"/>
              </a:rPr>
              <a:t>Experimental L4 Gateway API (TCPRoute/TLSRoute): not available here</a:t>
            </a:r>
          </a:p>
        </p:txBody>
      </p:sp>
      <p:sp>
        <p:nvSpPr>
          <p:cNvPr id="15" name="Rounded Rectangle 14"/>
          <p:cNvSpPr/>
          <p:nvPr/>
        </p:nvSpPr>
        <p:spPr>
          <a:xfrm>
            <a:off x="841248" y="4206240"/>
            <a:ext cx="5715000" cy="530352"/>
          </a:xfrm>
          <a:prstGeom prst="roundRect">
            <a:avLst>
              <a:gd name="adj" fmla="val 6000"/>
            </a:avLst>
          </a:prstGeom>
          <a:solidFill>
            <a:srgbClr val="F5F6F8"/>
          </a:solidFill>
          <a:ln w="12700">
            <a:solidFill>
              <a:srgbClr val="DDE1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6" name="Picture 15" descr="check_steel.png"/>
          <p:cNvPicPr>
            <a:picLocks noChangeAspect="1"/>
          </p:cNvPicPr>
          <p:nvPr/>
        </p:nvPicPr>
        <p:blipFill>
          <a:blip r:embed="rId3"/>
          <a:stretch>
            <a:fillRect/>
          </a:stretch>
        </p:blipFill>
        <p:spPr>
          <a:xfrm>
            <a:off x="987552" y="4352544"/>
            <a:ext cx="237744" cy="237744"/>
          </a:xfrm>
          <a:prstGeom prst="rect">
            <a:avLst/>
          </a:prstGeom>
        </p:spPr>
      </p:pic>
      <p:sp>
        <p:nvSpPr>
          <p:cNvPr id="17" name="TextBox 16"/>
          <p:cNvSpPr txBox="1"/>
          <p:nvPr/>
        </p:nvSpPr>
        <p:spPr>
          <a:xfrm>
            <a:off x="1353312" y="4206240"/>
            <a:ext cx="5029200" cy="530352"/>
          </a:xfrm>
          <a:prstGeom prst="rect">
            <a:avLst/>
          </a:prstGeom>
          <a:noFill/>
        </p:spPr>
        <p:txBody>
          <a:bodyPr wrap="square" anchor="ctr" lIns="0" rIns="0" tIns="0" bIns="0">
            <a:spAutoFit/>
          </a:bodyPr>
          <a:lstStyle/>
          <a:p>
            <a:pPr algn="l">
              <a:lnSpc>
                <a:spcPct val="106000"/>
              </a:lnSpc>
              <a:spcBef>
                <a:spcPts val="0"/>
              </a:spcBef>
              <a:spcAft>
                <a:spcPts val="0"/>
              </a:spcAft>
            </a:pPr>
            <a:r>
              <a:rPr sz="1200" b="0">
                <a:solidFill>
                  <a:srgbClr val="1A1A1A"/>
                </a:solidFill>
                <a:latin typeface="Red Hat Text"/>
              </a:rPr>
              <a:t>Encore: serve a raw-TCP partner feed + EnvoyFilter rate limit (429)</a:t>
            </a:r>
          </a:p>
        </p:txBody>
      </p:sp>
      <p:sp>
        <p:nvSpPr>
          <p:cNvPr id="18" name="Rounded Rectangle 17"/>
          <p:cNvSpPr/>
          <p:nvPr/>
        </p:nvSpPr>
        <p:spPr>
          <a:xfrm>
            <a:off x="841248" y="4809744"/>
            <a:ext cx="5715000" cy="530352"/>
          </a:xfrm>
          <a:prstGeom prst="roundRect">
            <a:avLst>
              <a:gd name="adj" fmla="val 6000"/>
            </a:avLst>
          </a:prstGeom>
          <a:solidFill>
            <a:srgbClr val="F5F6F8"/>
          </a:solidFill>
          <a:ln w="12700">
            <a:solidFill>
              <a:srgbClr val="DDE1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9" name="Picture 18" descr="check_steel.png"/>
          <p:cNvPicPr>
            <a:picLocks noChangeAspect="1"/>
          </p:cNvPicPr>
          <p:nvPr/>
        </p:nvPicPr>
        <p:blipFill>
          <a:blip r:embed="rId3"/>
          <a:stretch>
            <a:fillRect/>
          </a:stretch>
        </p:blipFill>
        <p:spPr>
          <a:xfrm>
            <a:off x="987552" y="4956048"/>
            <a:ext cx="237744" cy="237744"/>
          </a:xfrm>
          <a:prstGeom prst="rect">
            <a:avLst/>
          </a:prstGeom>
        </p:spPr>
      </p:pic>
      <p:sp>
        <p:nvSpPr>
          <p:cNvPr id="20" name="TextBox 19"/>
          <p:cNvSpPr txBox="1"/>
          <p:nvPr/>
        </p:nvSpPr>
        <p:spPr>
          <a:xfrm>
            <a:off x="1353312" y="4809744"/>
            <a:ext cx="5029200" cy="530352"/>
          </a:xfrm>
          <a:prstGeom prst="rect">
            <a:avLst/>
          </a:prstGeom>
          <a:noFill/>
        </p:spPr>
        <p:txBody>
          <a:bodyPr wrap="square" anchor="ctr" lIns="0" rIns="0" tIns="0" bIns="0">
            <a:spAutoFit/>
          </a:bodyPr>
          <a:lstStyle/>
          <a:p>
            <a:pPr algn="l">
              <a:lnSpc>
                <a:spcPct val="106000"/>
              </a:lnSpc>
              <a:spcBef>
                <a:spcPts val="0"/>
              </a:spcBef>
              <a:spcAft>
                <a:spcPts val="0"/>
              </a:spcAft>
            </a:pPr>
            <a:r>
              <a:rPr sz="1200" b="0">
                <a:solidFill>
                  <a:srgbClr val="1A1A1A"/>
                </a:solidFill>
                <a:latin typeface="Red Hat Text"/>
              </a:rPr>
              <a:t>Map to org: is your east-west traffic provably encrypted and identity-gated?</a:t>
            </a:r>
          </a:p>
        </p:txBody>
      </p:sp>
      <p:sp>
        <p:nvSpPr>
          <p:cNvPr id="21" name="Rounded Rectangle 20"/>
          <p:cNvSpPr/>
          <p:nvPr/>
        </p:nvSpPr>
        <p:spPr>
          <a:xfrm>
            <a:off x="6812280" y="2395728"/>
            <a:ext cx="4538167" cy="2944368"/>
          </a:xfrm>
          <a:prstGeom prst="roundRect">
            <a:avLst>
              <a:gd name="adj" fmla="val 4000"/>
            </a:avLst>
          </a:prstGeom>
          <a:solidFill>
            <a:srgbClr val="FFFFFF"/>
          </a:solidFill>
          <a:ln w="15240">
            <a:solidFill>
              <a:srgbClr val="DDE1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ounded Rectangle 21"/>
          <p:cNvSpPr/>
          <p:nvPr/>
        </p:nvSpPr>
        <p:spPr>
          <a:xfrm>
            <a:off x="7013448" y="2596896"/>
            <a:ext cx="1298448" cy="310896"/>
          </a:xfrm>
          <a:prstGeom prst="roundRect">
            <a:avLst>
              <a:gd name="adj" fmla="val 50000"/>
            </a:avLst>
          </a:prstGeom>
          <a:solidFill>
            <a:srgbClr val="FCEC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7013448" y="2596896"/>
            <a:ext cx="1298448" cy="310896"/>
          </a:xfrm>
          <a:prstGeom prst="rect">
            <a:avLst/>
          </a:prstGeom>
          <a:noFill/>
        </p:spPr>
        <p:txBody>
          <a:bodyPr wrap="none" anchor="ctr" lIns="0" rIns="0" tIns="0" bIns="0">
            <a:spAutoFit/>
          </a:bodyPr>
          <a:lstStyle/>
          <a:p>
            <a:pPr algn="ctr">
              <a:lnSpc>
                <a:spcPct val="106000"/>
              </a:lnSpc>
              <a:spcBef>
                <a:spcPts val="0"/>
              </a:spcBef>
              <a:spcAft>
                <a:spcPts val="0"/>
              </a:spcAft>
            </a:pPr>
            <a:r>
              <a:rPr sz="850" b="1">
                <a:solidFill>
                  <a:srgbClr val="B80000"/>
                </a:solidFill>
                <a:latin typeface="Red Hat Display"/>
              </a:rPr>
              <a:t>MEDIA PASS</a:t>
            </a:r>
          </a:p>
        </p:txBody>
      </p:sp>
      <p:pic>
        <p:nvPicPr>
          <p:cNvPr id="24" name="Picture 23" descr="eye_slate.png"/>
          <p:cNvPicPr>
            <a:picLocks noChangeAspect="1"/>
          </p:cNvPicPr>
          <p:nvPr/>
        </p:nvPicPr>
        <p:blipFill>
          <a:blip r:embed="rId4"/>
          <a:stretch>
            <a:fillRect/>
          </a:stretch>
        </p:blipFill>
        <p:spPr>
          <a:xfrm>
            <a:off x="8843619" y="3108960"/>
            <a:ext cx="475488" cy="475488"/>
          </a:xfrm>
          <a:prstGeom prst="rect">
            <a:avLst/>
          </a:prstGeom>
        </p:spPr>
      </p:pic>
      <p:sp>
        <p:nvSpPr>
          <p:cNvPr id="25" name="TextBox 24"/>
          <p:cNvSpPr txBox="1"/>
          <p:nvPr/>
        </p:nvSpPr>
        <p:spPr>
          <a:xfrm>
            <a:off x="7050024" y="3721608"/>
            <a:ext cx="4062679" cy="1481328"/>
          </a:xfrm>
          <a:prstGeom prst="rect">
            <a:avLst/>
          </a:prstGeom>
          <a:noFill/>
        </p:spPr>
        <p:txBody>
          <a:bodyPr wrap="square" anchor="t" lIns="0" rIns="0" tIns="0" bIns="0">
            <a:spAutoFit/>
          </a:bodyPr>
          <a:lstStyle/>
          <a:p>
            <a:pPr algn="l">
              <a:lnSpc>
                <a:spcPct val="120000"/>
              </a:lnSpc>
              <a:spcBef>
                <a:spcPts val="0"/>
              </a:spcBef>
              <a:spcAft>
                <a:spcPts val="0"/>
              </a:spcAft>
            </a:pPr>
            <a:r>
              <a:rPr sz="950" b="0">
                <a:solidFill>
                  <a:srgbClr val="8A9099"/>
                </a:solidFill>
                <a:latin typeface="Red Hat Text"/>
              </a:rPr>
              <a:t>A decision fork — "HTTP(S)? → Route / Gateway API" vs "raw TCP / SNI passthrough? → Istio Gateway/VirtualService" — with an "EnvoyFilter rate limit → 429" chip on the gateway path and a footnote pointer to Networking for Dev &amp; DevOps (Routes / Gateway API) and Observability (tracing across the mesh).</a:t>
            </a:r>
          </a:p>
        </p:txBody>
      </p:sp>
      <p:cxnSp>
        <p:nvCxnSpPr>
          <p:cNvPr id="26" name="Connector 25"/>
          <p:cNvCxnSpPr/>
          <p:nvPr/>
        </p:nvCxnSpPr>
        <p:spPr>
          <a:xfrm>
            <a:off x="841248" y="6437376"/>
            <a:ext cx="10509199" cy="0"/>
          </a:xfrm>
          <a:prstGeom prst="bentConnector3">
            <a:avLst/>
          </a:prstGeom>
          <a:ln w="12700">
            <a:solidFill>
              <a:srgbClr val="DDE1E6"/>
            </a:solidFill>
          </a:ln>
          <a:effectLst/>
        </p:spPr>
        <p:style>
          <a:lnRef idx="2">
            <a:schemeClr val="accent1"/>
          </a:lnRef>
          <a:fillRef idx="0">
            <a:schemeClr val="accent1"/>
          </a:fillRef>
          <a:effectRef idx="1">
            <a:schemeClr val="accent1"/>
          </a:effectRef>
          <a:fontRef idx="minor">
            <a:schemeClr val="tx1"/>
          </a:fontRef>
        </p:style>
      </p:cxnSp>
      <p:sp>
        <p:nvSpPr>
          <p:cNvPr id="27" name="TextBox 26"/>
          <p:cNvSpPr txBox="1"/>
          <p:nvPr/>
        </p:nvSpPr>
        <p:spPr>
          <a:xfrm>
            <a:off x="841248" y="6473952"/>
            <a:ext cx="7315200" cy="274320"/>
          </a:xfrm>
          <a:prstGeom prst="rect">
            <a:avLst/>
          </a:prstGeom>
          <a:noFill/>
        </p:spPr>
        <p:txBody>
          <a:bodyPr wrap="square" anchor="t" lIns="0" rIns="0" tIns="0" bIns="0">
            <a:spAutoFit/>
          </a:bodyPr>
          <a:lstStyle/>
          <a:p>
            <a:pPr algn="l">
              <a:lnSpc>
                <a:spcPct val="106000"/>
              </a:lnSpc>
              <a:spcBef>
                <a:spcPts val="0"/>
              </a:spcBef>
              <a:spcAft>
                <a:spcPts val="0"/>
              </a:spcAft>
            </a:pPr>
            <a:r>
              <a:rPr sz="950" b="0">
                <a:solidFill>
                  <a:srgbClr val="8A9099"/>
                </a:solidFill>
                <a:latin typeface="Red Hat Text"/>
              </a:rPr>
              <a:t>CONFIDENTIAL</a:t>
            </a:r>
          </a:p>
        </p:txBody>
      </p:sp>
      <p:sp>
        <p:nvSpPr>
          <p:cNvPr id="28" name="TextBox 27"/>
          <p:cNvSpPr txBox="1"/>
          <p:nvPr/>
        </p:nvSpPr>
        <p:spPr>
          <a:xfrm>
            <a:off x="10801807" y="6473952"/>
            <a:ext cx="548640" cy="274320"/>
          </a:xfrm>
          <a:prstGeom prst="rect">
            <a:avLst/>
          </a:prstGeom>
          <a:noFill/>
        </p:spPr>
        <p:txBody>
          <a:bodyPr wrap="square" anchor="t" lIns="0" rIns="0" tIns="0" bIns="0">
            <a:spAutoFit/>
          </a:bodyPr>
          <a:lstStyle/>
          <a:p>
            <a:pPr algn="r">
              <a:lnSpc>
                <a:spcPct val="106000"/>
              </a:lnSpc>
              <a:spcBef>
                <a:spcPts val="0"/>
              </a:spcBef>
              <a:spcAft>
                <a:spcPts val="0"/>
              </a:spcAft>
            </a:pPr>
            <a:r>
              <a:rPr sz="950" b="0">
                <a:solidFill>
                  <a:srgbClr val="8A9099"/>
                </a:solidFill>
                <a:latin typeface="Red Hat Text"/>
              </a:rPr>
              <a:t>142</a:t>
            </a:r>
          </a:p>
        </p:txBody>
      </p:sp>
    </p:spTree>
  </p:cSld>
  <p:clrMapOvr>
    <a:masterClrMapping/>
  </p:clrMapOvr>
</p:sld>
</file>

<file path=ppt/slides/slide16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redhat_logo.jpg"/>
          <p:cNvPicPr>
            <a:picLocks noChangeAspect="1"/>
          </p:cNvPicPr>
          <p:nvPr/>
        </p:nvPicPr>
        <p:blipFill>
          <a:blip r:embed="rId2"/>
          <a:stretch>
            <a:fillRect/>
          </a:stretch>
        </p:blipFill>
        <p:spPr>
          <a:xfrm>
            <a:off x="841248" y="731520"/>
            <a:ext cx="1554480" cy="367699"/>
          </a:xfrm>
          <a:prstGeom prst="rect">
            <a:avLst/>
          </a:prstGeom>
        </p:spPr>
      </p:pic>
      <p:sp>
        <p:nvSpPr>
          <p:cNvPr id="3" name="TextBox 2"/>
          <p:cNvSpPr txBox="1"/>
          <p:nvPr/>
        </p:nvSpPr>
        <p:spPr>
          <a:xfrm>
            <a:off x="841248" y="2514600"/>
            <a:ext cx="9601200" cy="274320"/>
          </a:xfrm>
          <a:prstGeom prst="rect">
            <a:avLst/>
          </a:prstGeom>
          <a:noFill/>
        </p:spPr>
        <p:txBody>
          <a:bodyPr wrap="square" anchor="t" lIns="0" rIns="0" tIns="0" bIns="0">
            <a:spAutoFit/>
          </a:bodyPr>
          <a:lstStyle/>
          <a:p>
            <a:pPr algn="l">
              <a:lnSpc>
                <a:spcPct val="106000"/>
              </a:lnSpc>
              <a:spcBef>
                <a:spcPts val="0"/>
              </a:spcBef>
              <a:spcAft>
                <a:spcPts val="0"/>
              </a:spcAft>
            </a:pPr>
            <a:r>
              <a:rPr sz="1250" b="1" spc="180">
                <a:solidFill>
                  <a:srgbClr val="5B3E8E"/>
                </a:solidFill>
                <a:latin typeface="Red Hat Display"/>
              </a:rPr>
              <a:t>D · ADVANCED ELECTIVES</a:t>
            </a:r>
          </a:p>
        </p:txBody>
      </p:sp>
      <p:sp>
        <p:nvSpPr>
          <p:cNvPr id="4" name="TextBox 3"/>
          <p:cNvSpPr txBox="1"/>
          <p:nvPr/>
        </p:nvSpPr>
        <p:spPr>
          <a:xfrm>
            <a:off x="841248" y="2880360"/>
            <a:ext cx="2103120" cy="1188720"/>
          </a:xfrm>
          <a:prstGeom prst="rect">
            <a:avLst/>
          </a:prstGeom>
          <a:noFill/>
        </p:spPr>
        <p:txBody>
          <a:bodyPr wrap="none" anchor="t" lIns="0" rIns="0" tIns="0" bIns="0">
            <a:spAutoFit/>
          </a:bodyPr>
          <a:lstStyle/>
          <a:p>
            <a:pPr algn="l">
              <a:lnSpc>
                <a:spcPct val="90000"/>
              </a:lnSpc>
              <a:spcBef>
                <a:spcPts val="0"/>
              </a:spcBef>
              <a:spcAft>
                <a:spcPts val="0"/>
              </a:spcAft>
            </a:pPr>
            <a:r>
              <a:rPr sz="5200" b="1">
                <a:solidFill>
                  <a:srgbClr val="B80000"/>
                </a:solidFill>
                <a:latin typeface="Red Hat Display"/>
              </a:rPr>
              <a:t>M20</a:t>
            </a:r>
          </a:p>
        </p:txBody>
      </p:sp>
      <p:sp>
        <p:nvSpPr>
          <p:cNvPr id="5" name="TextBox 4"/>
          <p:cNvSpPr txBox="1"/>
          <p:nvPr/>
        </p:nvSpPr>
        <p:spPr>
          <a:xfrm>
            <a:off x="3127248" y="2971800"/>
            <a:ext cx="8412480" cy="1188720"/>
          </a:xfrm>
          <a:prstGeom prst="rect">
            <a:avLst/>
          </a:prstGeom>
          <a:noFill/>
        </p:spPr>
        <p:txBody>
          <a:bodyPr wrap="square" anchor="t" lIns="0" rIns="0" tIns="0" bIns="0">
            <a:spAutoFit/>
          </a:bodyPr>
          <a:lstStyle/>
          <a:p>
            <a:pPr algn="l">
              <a:lnSpc>
                <a:spcPct val="102000"/>
              </a:lnSpc>
              <a:spcBef>
                <a:spcPts val="0"/>
              </a:spcBef>
              <a:spcAft>
                <a:spcPts val="0"/>
              </a:spcAft>
            </a:pPr>
            <a:r>
              <a:rPr sz="3000" b="1">
                <a:solidFill>
                  <a:srgbClr val="1A1A1A"/>
                </a:solidFill>
                <a:latin typeface="Red Hat Display"/>
              </a:rPr>
              <a:t>Serverless Zero-to-Hero</a:t>
            </a:r>
          </a:p>
        </p:txBody>
      </p:sp>
      <p:cxnSp>
        <p:nvCxnSpPr>
          <p:cNvPr id="6" name="Connector 5"/>
          <p:cNvCxnSpPr/>
          <p:nvPr/>
        </p:nvCxnSpPr>
        <p:spPr>
          <a:xfrm>
            <a:off x="841248" y="4443984"/>
            <a:ext cx="1463040" cy="0"/>
          </a:xfrm>
          <a:prstGeom prst="bentConnector3">
            <a:avLst/>
          </a:prstGeom>
          <a:ln w="38100">
            <a:solidFill>
              <a:srgbClr val="EE0000"/>
            </a:solidFill>
          </a:ln>
          <a:effectLst/>
        </p:spPr>
        <p:style>
          <a:lnRef idx="2">
            <a:schemeClr val="accent1"/>
          </a:lnRef>
          <a:fillRef idx="0">
            <a:schemeClr val="accent1"/>
          </a:fillRef>
          <a:effectRef idx="1">
            <a:schemeClr val="accent1"/>
          </a:effectRef>
          <a:fontRef idx="minor">
            <a:schemeClr val="tx1"/>
          </a:fontRef>
        </p:style>
      </p:cxnSp>
    </p:spTree>
  </p:cSld>
  <p:clrMapOvr>
    <a:masterClrMapping/>
  </p:clrMapOvr>
</p:sld>
</file>

<file path=ppt/slides/slide16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redhat_logo.jpg"/>
          <p:cNvPicPr>
            <a:picLocks noChangeAspect="1"/>
          </p:cNvPicPr>
          <p:nvPr/>
        </p:nvPicPr>
        <p:blipFill>
          <a:blip r:embed="rId2"/>
          <a:stretch>
            <a:fillRect/>
          </a:stretch>
        </p:blipFill>
        <p:spPr>
          <a:xfrm>
            <a:off x="10326319" y="475488"/>
            <a:ext cx="1024128" cy="242248"/>
          </a:xfrm>
          <a:prstGeom prst="rect">
            <a:avLst/>
          </a:prstGeom>
        </p:spPr>
      </p:pic>
      <p:sp>
        <p:nvSpPr>
          <p:cNvPr id="3" name="TextBox 2"/>
          <p:cNvSpPr txBox="1"/>
          <p:nvPr/>
        </p:nvSpPr>
        <p:spPr>
          <a:xfrm>
            <a:off x="841248" y="548640"/>
            <a:ext cx="8595360" cy="274320"/>
          </a:xfrm>
          <a:prstGeom prst="rect">
            <a:avLst/>
          </a:prstGeom>
          <a:noFill/>
        </p:spPr>
        <p:txBody>
          <a:bodyPr wrap="square" anchor="t" lIns="0" rIns="0" tIns="0" bIns="0">
            <a:spAutoFit/>
          </a:bodyPr>
          <a:lstStyle/>
          <a:p>
            <a:pPr algn="l">
              <a:lnSpc>
                <a:spcPct val="106000"/>
              </a:lnSpc>
              <a:spcBef>
                <a:spcPts val="0"/>
              </a:spcBef>
              <a:spcAft>
                <a:spcPts val="0"/>
              </a:spcAft>
            </a:pPr>
            <a:r>
              <a:rPr sz="1250" b="1" spc="220">
                <a:solidFill>
                  <a:srgbClr val="EE0000"/>
                </a:solidFill>
                <a:latin typeface="Red Hat Display"/>
              </a:rPr>
              <a:t>M20 · SERVERLESS ZERO-TO-HERO</a:t>
            </a:r>
          </a:p>
        </p:txBody>
      </p:sp>
      <p:sp>
        <p:nvSpPr>
          <p:cNvPr id="4" name="TextBox 3"/>
          <p:cNvSpPr txBox="1"/>
          <p:nvPr/>
        </p:nvSpPr>
        <p:spPr>
          <a:xfrm>
            <a:off x="841248" y="877824"/>
            <a:ext cx="10515600" cy="548640"/>
          </a:xfrm>
          <a:prstGeom prst="rect">
            <a:avLst/>
          </a:prstGeom>
          <a:noFill/>
        </p:spPr>
        <p:txBody>
          <a:bodyPr wrap="none" anchor="t" lIns="0" rIns="0" tIns="0" bIns="0">
            <a:spAutoFit/>
          </a:bodyPr>
          <a:lstStyle/>
          <a:p>
            <a:pPr algn="l">
              <a:lnSpc>
                <a:spcPct val="100000"/>
              </a:lnSpc>
              <a:spcBef>
                <a:spcPts val="0"/>
              </a:spcBef>
              <a:spcAft>
                <a:spcPts val="0"/>
              </a:spcAft>
            </a:pPr>
            <a:r>
              <a:rPr sz="2500" b="1">
                <a:solidFill>
                  <a:srgbClr val="1A1A1A"/>
                </a:solidFill>
                <a:latin typeface="Red Hat Display"/>
              </a:rPr>
              <a:t>One idle service shouldn't cost you all</a:t>
            </a:r>
          </a:p>
        </p:txBody>
      </p:sp>
      <p:cxnSp>
        <p:nvCxnSpPr>
          <p:cNvPr id="5" name="Connector 4"/>
          <p:cNvCxnSpPr/>
          <p:nvPr/>
        </p:nvCxnSpPr>
        <p:spPr>
          <a:xfrm>
            <a:off x="841248" y="1554480"/>
            <a:ext cx="1371600" cy="0"/>
          </a:xfrm>
          <a:prstGeom prst="bentConnector3">
            <a:avLst/>
          </a:prstGeom>
          <a:ln w="31750">
            <a:solidFill>
              <a:srgbClr val="EE0000"/>
            </a:solidFill>
          </a:ln>
          <a:effectLst/>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841248" y="1664208"/>
            <a:ext cx="10515600" cy="365760"/>
          </a:xfrm>
          <a:prstGeom prst="rect">
            <a:avLst/>
          </a:prstGeom>
          <a:noFill/>
        </p:spPr>
        <p:txBody>
          <a:bodyPr wrap="square" anchor="t" lIns="0" rIns="0" tIns="0" bIns="0">
            <a:spAutoFit/>
          </a:bodyPr>
          <a:lstStyle/>
          <a:p>
            <a:pPr algn="l">
              <a:lnSpc>
                <a:spcPct val="106000"/>
              </a:lnSpc>
              <a:spcBef>
                <a:spcPts val="0"/>
              </a:spcBef>
              <a:spcAft>
                <a:spcPts val="0"/>
              </a:spcAft>
            </a:pPr>
            <a:r>
              <a:rPr sz="1350" b="0">
                <a:solidFill>
                  <a:srgbClr val="555960"/>
                </a:solidFill>
                <a:latin typeface="Red Hat Text"/>
              </a:rPr>
              <a:t>night</a:t>
            </a:r>
          </a:p>
        </p:txBody>
      </p:sp>
      <p:sp>
        <p:nvSpPr>
          <p:cNvPr id="7" name="Rounded Rectangle 6"/>
          <p:cNvSpPr/>
          <p:nvPr/>
        </p:nvSpPr>
        <p:spPr>
          <a:xfrm>
            <a:off x="841248" y="2670048"/>
            <a:ext cx="5715000" cy="530352"/>
          </a:xfrm>
          <a:prstGeom prst="roundRect">
            <a:avLst>
              <a:gd name="adj" fmla="val 6000"/>
            </a:avLst>
          </a:prstGeom>
          <a:solidFill>
            <a:srgbClr val="F5F6F8"/>
          </a:solidFill>
          <a:ln w="12700">
            <a:solidFill>
              <a:srgbClr val="DDE1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check_steel.png"/>
          <p:cNvPicPr>
            <a:picLocks noChangeAspect="1"/>
          </p:cNvPicPr>
          <p:nvPr/>
        </p:nvPicPr>
        <p:blipFill>
          <a:blip r:embed="rId3"/>
          <a:stretch>
            <a:fillRect/>
          </a:stretch>
        </p:blipFill>
        <p:spPr>
          <a:xfrm>
            <a:off x="987552" y="2816352"/>
            <a:ext cx="237744" cy="237744"/>
          </a:xfrm>
          <a:prstGeom prst="rect">
            <a:avLst/>
          </a:prstGeom>
        </p:spPr>
      </p:pic>
      <p:sp>
        <p:nvSpPr>
          <p:cNvPr id="9" name="TextBox 8"/>
          <p:cNvSpPr txBox="1"/>
          <p:nvPr/>
        </p:nvSpPr>
        <p:spPr>
          <a:xfrm>
            <a:off x="1353312" y="2670048"/>
            <a:ext cx="5029200" cy="530352"/>
          </a:xfrm>
          <a:prstGeom prst="rect">
            <a:avLst/>
          </a:prstGeom>
          <a:noFill/>
        </p:spPr>
        <p:txBody>
          <a:bodyPr wrap="square" anchor="ctr" lIns="0" rIns="0" tIns="0" bIns="0">
            <a:spAutoFit/>
          </a:bodyPr>
          <a:lstStyle/>
          <a:p>
            <a:pPr algn="l">
              <a:lnSpc>
                <a:spcPct val="106000"/>
              </a:lnSpc>
              <a:spcBef>
                <a:spcPts val="0"/>
              </a:spcBef>
              <a:spcAft>
                <a:spcPts val="0"/>
              </a:spcAft>
            </a:pPr>
            <a:r>
              <a:rPr sz="1200" b="0">
                <a:solidFill>
                  <a:srgbClr val="1A1A1A"/>
                </a:solidFill>
                <a:latin typeface="Red Hat Text"/>
              </a:rPr>
              <a:t>Parasol's claims-processor: busy at 9am, idle at 3am</a:t>
            </a:r>
          </a:p>
        </p:txBody>
      </p:sp>
      <p:sp>
        <p:nvSpPr>
          <p:cNvPr id="10" name="Rounded Rectangle 9"/>
          <p:cNvSpPr/>
          <p:nvPr/>
        </p:nvSpPr>
        <p:spPr>
          <a:xfrm>
            <a:off x="841248" y="3273552"/>
            <a:ext cx="5715000" cy="530352"/>
          </a:xfrm>
          <a:prstGeom prst="roundRect">
            <a:avLst>
              <a:gd name="adj" fmla="val 6000"/>
            </a:avLst>
          </a:prstGeom>
          <a:solidFill>
            <a:srgbClr val="F5F6F8"/>
          </a:solidFill>
          <a:ln w="12700">
            <a:solidFill>
              <a:srgbClr val="DDE1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1" name="Picture 10" descr="check_steel.png"/>
          <p:cNvPicPr>
            <a:picLocks noChangeAspect="1"/>
          </p:cNvPicPr>
          <p:nvPr/>
        </p:nvPicPr>
        <p:blipFill>
          <a:blip r:embed="rId3"/>
          <a:stretch>
            <a:fillRect/>
          </a:stretch>
        </p:blipFill>
        <p:spPr>
          <a:xfrm>
            <a:off x="987552" y="3419856"/>
            <a:ext cx="237744" cy="237744"/>
          </a:xfrm>
          <a:prstGeom prst="rect">
            <a:avLst/>
          </a:prstGeom>
        </p:spPr>
      </p:pic>
      <p:sp>
        <p:nvSpPr>
          <p:cNvPr id="12" name="TextBox 11"/>
          <p:cNvSpPr txBox="1"/>
          <p:nvPr/>
        </p:nvSpPr>
        <p:spPr>
          <a:xfrm>
            <a:off x="1353312" y="3273552"/>
            <a:ext cx="5029200" cy="530352"/>
          </a:xfrm>
          <a:prstGeom prst="rect">
            <a:avLst/>
          </a:prstGeom>
          <a:noFill/>
        </p:spPr>
        <p:txBody>
          <a:bodyPr wrap="square" anchor="ctr" lIns="0" rIns="0" tIns="0" bIns="0">
            <a:spAutoFit/>
          </a:bodyPr>
          <a:lstStyle/>
          <a:p>
            <a:pPr algn="l">
              <a:lnSpc>
                <a:spcPct val="106000"/>
              </a:lnSpc>
              <a:spcBef>
                <a:spcPts val="0"/>
              </a:spcBef>
              <a:spcAft>
                <a:spcPts val="0"/>
              </a:spcAft>
            </a:pPr>
            <a:r>
              <a:rPr sz="1200" b="0">
                <a:solidFill>
                  <a:srgbClr val="1A1A1A"/>
                </a:solidFill>
                <a:latin typeface="Red Hat Text"/>
              </a:rPr>
              <a:t>A normal Deployment holds its pods (CPU + memory) 24/7 — busy or not</a:t>
            </a:r>
          </a:p>
        </p:txBody>
      </p:sp>
      <p:sp>
        <p:nvSpPr>
          <p:cNvPr id="13" name="Rounded Rectangle 12"/>
          <p:cNvSpPr/>
          <p:nvPr/>
        </p:nvSpPr>
        <p:spPr>
          <a:xfrm>
            <a:off x="841248" y="3877056"/>
            <a:ext cx="5715000" cy="530352"/>
          </a:xfrm>
          <a:prstGeom prst="roundRect">
            <a:avLst>
              <a:gd name="adj" fmla="val 6000"/>
            </a:avLst>
          </a:prstGeom>
          <a:solidFill>
            <a:srgbClr val="F5F6F8"/>
          </a:solidFill>
          <a:ln w="12700">
            <a:solidFill>
              <a:srgbClr val="DDE1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4" name="Picture 13" descr="check_steel.png"/>
          <p:cNvPicPr>
            <a:picLocks noChangeAspect="1"/>
          </p:cNvPicPr>
          <p:nvPr/>
        </p:nvPicPr>
        <p:blipFill>
          <a:blip r:embed="rId3"/>
          <a:stretch>
            <a:fillRect/>
          </a:stretch>
        </p:blipFill>
        <p:spPr>
          <a:xfrm>
            <a:off x="987552" y="4023360"/>
            <a:ext cx="237744" cy="237744"/>
          </a:xfrm>
          <a:prstGeom prst="rect">
            <a:avLst/>
          </a:prstGeom>
        </p:spPr>
      </p:pic>
      <p:sp>
        <p:nvSpPr>
          <p:cNvPr id="15" name="TextBox 14"/>
          <p:cNvSpPr txBox="1"/>
          <p:nvPr/>
        </p:nvSpPr>
        <p:spPr>
          <a:xfrm>
            <a:off x="1353312" y="3877056"/>
            <a:ext cx="5029200" cy="530352"/>
          </a:xfrm>
          <a:prstGeom prst="rect">
            <a:avLst/>
          </a:prstGeom>
          <a:noFill/>
        </p:spPr>
        <p:txBody>
          <a:bodyPr wrap="square" anchor="ctr" lIns="0" rIns="0" tIns="0" bIns="0">
            <a:spAutoFit/>
          </a:bodyPr>
          <a:lstStyle/>
          <a:p>
            <a:pPr algn="l">
              <a:lnSpc>
                <a:spcPct val="106000"/>
              </a:lnSpc>
              <a:spcBef>
                <a:spcPts val="0"/>
              </a:spcBef>
              <a:spcAft>
                <a:spcPts val="0"/>
              </a:spcAft>
            </a:pPr>
            <a:r>
              <a:rPr sz="1200" b="0">
                <a:solidFill>
                  <a:srgbClr val="1A1A1A"/>
                </a:solidFill>
                <a:latin typeface="Red Hat Text"/>
              </a:rPr>
              <a:t>...and still has to be sized for the morning spike</a:t>
            </a:r>
          </a:p>
        </p:txBody>
      </p:sp>
      <p:sp>
        <p:nvSpPr>
          <p:cNvPr id="16" name="Rounded Rectangle 15"/>
          <p:cNvSpPr/>
          <p:nvPr/>
        </p:nvSpPr>
        <p:spPr>
          <a:xfrm>
            <a:off x="841248" y="4480560"/>
            <a:ext cx="5715000" cy="530352"/>
          </a:xfrm>
          <a:prstGeom prst="roundRect">
            <a:avLst>
              <a:gd name="adj" fmla="val 6000"/>
            </a:avLst>
          </a:prstGeom>
          <a:solidFill>
            <a:srgbClr val="F5F6F8"/>
          </a:solidFill>
          <a:ln w="12700">
            <a:solidFill>
              <a:srgbClr val="DDE1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7" name="Picture 16" descr="check_steel.png"/>
          <p:cNvPicPr>
            <a:picLocks noChangeAspect="1"/>
          </p:cNvPicPr>
          <p:nvPr/>
        </p:nvPicPr>
        <p:blipFill>
          <a:blip r:embed="rId3"/>
          <a:stretch>
            <a:fillRect/>
          </a:stretch>
        </p:blipFill>
        <p:spPr>
          <a:xfrm>
            <a:off x="987552" y="4626864"/>
            <a:ext cx="237744" cy="237744"/>
          </a:xfrm>
          <a:prstGeom prst="rect">
            <a:avLst/>
          </a:prstGeom>
        </p:spPr>
      </p:pic>
      <p:sp>
        <p:nvSpPr>
          <p:cNvPr id="18" name="TextBox 17"/>
          <p:cNvSpPr txBox="1"/>
          <p:nvPr/>
        </p:nvSpPr>
        <p:spPr>
          <a:xfrm>
            <a:off x="1353312" y="4480560"/>
            <a:ext cx="5029200" cy="530352"/>
          </a:xfrm>
          <a:prstGeom prst="rect">
            <a:avLst/>
          </a:prstGeom>
          <a:noFill/>
        </p:spPr>
        <p:txBody>
          <a:bodyPr wrap="square" anchor="ctr" lIns="0" rIns="0" tIns="0" bIns="0">
            <a:spAutoFit/>
          </a:bodyPr>
          <a:lstStyle/>
          <a:p>
            <a:pPr algn="l">
              <a:lnSpc>
                <a:spcPct val="106000"/>
              </a:lnSpc>
              <a:spcBef>
                <a:spcPts val="0"/>
              </a:spcBef>
              <a:spcAft>
                <a:spcPts val="0"/>
              </a:spcAft>
            </a:pPr>
            <a:r>
              <a:rPr sz="1200" b="0">
                <a:solidFill>
                  <a:srgbClr val="1A1A1A"/>
                </a:solidFill>
                <a:latin typeface="Red Hat Text"/>
              </a:rPr>
              <a:t>Serverless: scale TO ZERO when idle, BURST on traffic</a:t>
            </a:r>
          </a:p>
        </p:txBody>
      </p:sp>
      <p:sp>
        <p:nvSpPr>
          <p:cNvPr id="19" name="Rounded Rectangle 18"/>
          <p:cNvSpPr/>
          <p:nvPr/>
        </p:nvSpPr>
        <p:spPr>
          <a:xfrm>
            <a:off x="841248" y="5084064"/>
            <a:ext cx="5715000" cy="530352"/>
          </a:xfrm>
          <a:prstGeom prst="roundRect">
            <a:avLst>
              <a:gd name="adj" fmla="val 6000"/>
            </a:avLst>
          </a:prstGeom>
          <a:solidFill>
            <a:srgbClr val="F5F6F8"/>
          </a:solidFill>
          <a:ln w="12700">
            <a:solidFill>
              <a:srgbClr val="DDE1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0" name="Picture 19" descr="check_steel.png"/>
          <p:cNvPicPr>
            <a:picLocks noChangeAspect="1"/>
          </p:cNvPicPr>
          <p:nvPr/>
        </p:nvPicPr>
        <p:blipFill>
          <a:blip r:embed="rId3"/>
          <a:stretch>
            <a:fillRect/>
          </a:stretch>
        </p:blipFill>
        <p:spPr>
          <a:xfrm>
            <a:off x="987552" y="5230368"/>
            <a:ext cx="237744" cy="237744"/>
          </a:xfrm>
          <a:prstGeom prst="rect">
            <a:avLst/>
          </a:prstGeom>
        </p:spPr>
      </p:pic>
      <p:sp>
        <p:nvSpPr>
          <p:cNvPr id="21" name="TextBox 20"/>
          <p:cNvSpPr txBox="1"/>
          <p:nvPr/>
        </p:nvSpPr>
        <p:spPr>
          <a:xfrm>
            <a:off x="1353312" y="5084064"/>
            <a:ext cx="5029200" cy="530352"/>
          </a:xfrm>
          <a:prstGeom prst="rect">
            <a:avLst/>
          </a:prstGeom>
          <a:noFill/>
        </p:spPr>
        <p:txBody>
          <a:bodyPr wrap="square" anchor="ctr" lIns="0" rIns="0" tIns="0" bIns="0">
            <a:spAutoFit/>
          </a:bodyPr>
          <a:lstStyle/>
          <a:p>
            <a:pPr algn="l">
              <a:lnSpc>
                <a:spcPct val="106000"/>
              </a:lnSpc>
              <a:spcBef>
                <a:spcPts val="0"/>
              </a:spcBef>
              <a:spcAft>
                <a:spcPts val="0"/>
              </a:spcAft>
            </a:pPr>
            <a:r>
              <a:rPr sz="1200" b="0">
                <a:solidFill>
                  <a:srgbClr val="1A1A1A"/>
                </a:solidFill>
                <a:latin typeface="Red Hat Text"/>
              </a:rPr>
              <a:t>Pay for requests, not for reserved idle capacity</a:t>
            </a:r>
          </a:p>
        </p:txBody>
      </p:sp>
      <p:sp>
        <p:nvSpPr>
          <p:cNvPr id="22" name="Rounded Rectangle 21"/>
          <p:cNvSpPr/>
          <p:nvPr/>
        </p:nvSpPr>
        <p:spPr>
          <a:xfrm>
            <a:off x="6812280" y="2670048"/>
            <a:ext cx="4538167" cy="2944368"/>
          </a:xfrm>
          <a:prstGeom prst="roundRect">
            <a:avLst>
              <a:gd name="adj" fmla="val 4000"/>
            </a:avLst>
          </a:prstGeom>
          <a:solidFill>
            <a:srgbClr val="FFFFFF"/>
          </a:solidFill>
          <a:ln w="15240">
            <a:solidFill>
              <a:srgbClr val="DDE1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ounded Rectangle 22"/>
          <p:cNvSpPr/>
          <p:nvPr/>
        </p:nvSpPr>
        <p:spPr>
          <a:xfrm>
            <a:off x="7013448" y="2871216"/>
            <a:ext cx="1298448" cy="310896"/>
          </a:xfrm>
          <a:prstGeom prst="roundRect">
            <a:avLst>
              <a:gd name="adj" fmla="val 50000"/>
            </a:avLst>
          </a:prstGeom>
          <a:solidFill>
            <a:srgbClr val="FCEC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7013448" y="2871216"/>
            <a:ext cx="1298448" cy="310896"/>
          </a:xfrm>
          <a:prstGeom prst="rect">
            <a:avLst/>
          </a:prstGeom>
          <a:noFill/>
        </p:spPr>
        <p:txBody>
          <a:bodyPr wrap="none" anchor="ctr" lIns="0" rIns="0" tIns="0" bIns="0">
            <a:spAutoFit/>
          </a:bodyPr>
          <a:lstStyle/>
          <a:p>
            <a:pPr algn="ctr">
              <a:lnSpc>
                <a:spcPct val="106000"/>
              </a:lnSpc>
              <a:spcBef>
                <a:spcPts val="0"/>
              </a:spcBef>
              <a:spcAft>
                <a:spcPts val="0"/>
              </a:spcAft>
            </a:pPr>
            <a:r>
              <a:rPr sz="850" b="1">
                <a:solidFill>
                  <a:srgbClr val="B80000"/>
                </a:solidFill>
                <a:latin typeface="Red Hat Display"/>
              </a:rPr>
              <a:t>MEDIA PASS</a:t>
            </a:r>
          </a:p>
        </p:txBody>
      </p:sp>
      <p:pic>
        <p:nvPicPr>
          <p:cNvPr id="25" name="Picture 24" descr="eye_slate.png"/>
          <p:cNvPicPr>
            <a:picLocks noChangeAspect="1"/>
          </p:cNvPicPr>
          <p:nvPr/>
        </p:nvPicPr>
        <p:blipFill>
          <a:blip r:embed="rId4"/>
          <a:stretch>
            <a:fillRect/>
          </a:stretch>
        </p:blipFill>
        <p:spPr>
          <a:xfrm>
            <a:off x="8843619" y="3383280"/>
            <a:ext cx="475488" cy="475488"/>
          </a:xfrm>
          <a:prstGeom prst="rect">
            <a:avLst/>
          </a:prstGeom>
        </p:spPr>
      </p:pic>
      <p:sp>
        <p:nvSpPr>
          <p:cNvPr id="26" name="TextBox 25"/>
          <p:cNvSpPr txBox="1"/>
          <p:nvPr/>
        </p:nvSpPr>
        <p:spPr>
          <a:xfrm>
            <a:off x="7050024" y="3995928"/>
            <a:ext cx="4062679" cy="1481328"/>
          </a:xfrm>
          <a:prstGeom prst="rect">
            <a:avLst/>
          </a:prstGeom>
          <a:noFill/>
        </p:spPr>
        <p:txBody>
          <a:bodyPr wrap="square" anchor="t" lIns="0" rIns="0" tIns="0" bIns="0">
            <a:spAutoFit/>
          </a:bodyPr>
          <a:lstStyle/>
          <a:p>
            <a:pPr algn="l">
              <a:lnSpc>
                <a:spcPct val="120000"/>
              </a:lnSpc>
              <a:spcBef>
                <a:spcPts val="0"/>
              </a:spcBef>
              <a:spcAft>
                <a:spcPts val="0"/>
              </a:spcAft>
            </a:pPr>
            <a:r>
              <a:rPr sz="950" b="0">
                <a:solidFill>
                  <a:srgbClr val="8A9099"/>
                </a:solidFill>
                <a:latin typeface="Red Hat Text"/>
              </a:rPr>
              <a:t>A 24-hour load curve (spiky daytime, flat-zero overnight) with two overlays: a flat "Deployment: reserved capacity" band across the whole day, vs a "Serverless: pods track the curve, zero at night" shaded region — the gap between them labelled "what you stop paying for."</a:t>
            </a:r>
          </a:p>
        </p:txBody>
      </p:sp>
      <p:cxnSp>
        <p:nvCxnSpPr>
          <p:cNvPr id="27" name="Connector 26"/>
          <p:cNvCxnSpPr/>
          <p:nvPr/>
        </p:nvCxnSpPr>
        <p:spPr>
          <a:xfrm>
            <a:off x="841248" y="6437376"/>
            <a:ext cx="10509199" cy="0"/>
          </a:xfrm>
          <a:prstGeom prst="bentConnector3">
            <a:avLst/>
          </a:prstGeom>
          <a:ln w="12700">
            <a:solidFill>
              <a:srgbClr val="DDE1E6"/>
            </a:solidFill>
          </a:ln>
          <a:effectLst/>
        </p:spPr>
        <p:style>
          <a:lnRef idx="2">
            <a:schemeClr val="accent1"/>
          </a:lnRef>
          <a:fillRef idx="0">
            <a:schemeClr val="accent1"/>
          </a:fillRef>
          <a:effectRef idx="1">
            <a:schemeClr val="accent1"/>
          </a:effectRef>
          <a:fontRef idx="minor">
            <a:schemeClr val="tx1"/>
          </a:fontRef>
        </p:style>
      </p:cxnSp>
      <p:sp>
        <p:nvSpPr>
          <p:cNvPr id="28" name="TextBox 27"/>
          <p:cNvSpPr txBox="1"/>
          <p:nvPr/>
        </p:nvSpPr>
        <p:spPr>
          <a:xfrm>
            <a:off x="841248" y="6473952"/>
            <a:ext cx="7315200" cy="274320"/>
          </a:xfrm>
          <a:prstGeom prst="rect">
            <a:avLst/>
          </a:prstGeom>
          <a:noFill/>
        </p:spPr>
        <p:txBody>
          <a:bodyPr wrap="square" anchor="t" lIns="0" rIns="0" tIns="0" bIns="0">
            <a:spAutoFit/>
          </a:bodyPr>
          <a:lstStyle/>
          <a:p>
            <a:pPr algn="l">
              <a:lnSpc>
                <a:spcPct val="106000"/>
              </a:lnSpc>
              <a:spcBef>
                <a:spcPts val="0"/>
              </a:spcBef>
              <a:spcAft>
                <a:spcPts val="0"/>
              </a:spcAft>
            </a:pPr>
            <a:r>
              <a:rPr sz="950" b="0">
                <a:solidFill>
                  <a:srgbClr val="8A9099"/>
                </a:solidFill>
                <a:latin typeface="Red Hat Text"/>
              </a:rPr>
              <a:t>CONFIDENTIAL</a:t>
            </a:r>
          </a:p>
        </p:txBody>
      </p:sp>
      <p:sp>
        <p:nvSpPr>
          <p:cNvPr id="29" name="TextBox 28"/>
          <p:cNvSpPr txBox="1"/>
          <p:nvPr/>
        </p:nvSpPr>
        <p:spPr>
          <a:xfrm>
            <a:off x="10801807" y="6473952"/>
            <a:ext cx="548640" cy="274320"/>
          </a:xfrm>
          <a:prstGeom prst="rect">
            <a:avLst/>
          </a:prstGeom>
          <a:noFill/>
        </p:spPr>
        <p:txBody>
          <a:bodyPr wrap="square" anchor="t" lIns="0" rIns="0" tIns="0" bIns="0">
            <a:spAutoFit/>
          </a:bodyPr>
          <a:lstStyle/>
          <a:p>
            <a:pPr algn="r">
              <a:lnSpc>
                <a:spcPct val="106000"/>
              </a:lnSpc>
              <a:spcBef>
                <a:spcPts val="0"/>
              </a:spcBef>
              <a:spcAft>
                <a:spcPts val="0"/>
              </a:spcAft>
            </a:pPr>
            <a:r>
              <a:rPr sz="950" b="0">
                <a:solidFill>
                  <a:srgbClr val="8A9099"/>
                </a:solidFill>
                <a:latin typeface="Red Hat Text"/>
              </a:rPr>
              <a:t>143</a:t>
            </a:r>
          </a:p>
        </p:txBody>
      </p:sp>
    </p:spTree>
  </p:cSld>
  <p:clrMapOvr>
    <a:masterClrMapping/>
  </p:clrMapOvr>
</p:sld>
</file>

<file path=ppt/slides/slide16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redhat_logo.jpg"/>
          <p:cNvPicPr>
            <a:picLocks noChangeAspect="1"/>
          </p:cNvPicPr>
          <p:nvPr/>
        </p:nvPicPr>
        <p:blipFill>
          <a:blip r:embed="rId2"/>
          <a:stretch>
            <a:fillRect/>
          </a:stretch>
        </p:blipFill>
        <p:spPr>
          <a:xfrm>
            <a:off x="10326319" y="475488"/>
            <a:ext cx="1024128" cy="242248"/>
          </a:xfrm>
          <a:prstGeom prst="rect">
            <a:avLst/>
          </a:prstGeom>
        </p:spPr>
      </p:pic>
      <p:sp>
        <p:nvSpPr>
          <p:cNvPr id="3" name="TextBox 2"/>
          <p:cNvSpPr txBox="1"/>
          <p:nvPr/>
        </p:nvSpPr>
        <p:spPr>
          <a:xfrm>
            <a:off x="841248" y="548640"/>
            <a:ext cx="8595360" cy="274320"/>
          </a:xfrm>
          <a:prstGeom prst="rect">
            <a:avLst/>
          </a:prstGeom>
          <a:noFill/>
        </p:spPr>
        <p:txBody>
          <a:bodyPr wrap="square" anchor="t" lIns="0" rIns="0" tIns="0" bIns="0">
            <a:spAutoFit/>
          </a:bodyPr>
          <a:lstStyle/>
          <a:p>
            <a:pPr algn="l">
              <a:lnSpc>
                <a:spcPct val="106000"/>
              </a:lnSpc>
              <a:spcBef>
                <a:spcPts val="0"/>
              </a:spcBef>
              <a:spcAft>
                <a:spcPts val="0"/>
              </a:spcAft>
            </a:pPr>
            <a:r>
              <a:rPr sz="1250" b="1" spc="220">
                <a:solidFill>
                  <a:srgbClr val="EE0000"/>
                </a:solidFill>
                <a:latin typeface="Red Hat Display"/>
              </a:rPr>
              <a:t>M20 · SERVERLESS ZERO-TO-HERO</a:t>
            </a:r>
          </a:p>
        </p:txBody>
      </p:sp>
      <p:sp>
        <p:nvSpPr>
          <p:cNvPr id="4" name="TextBox 3"/>
          <p:cNvSpPr txBox="1"/>
          <p:nvPr/>
        </p:nvSpPr>
        <p:spPr>
          <a:xfrm>
            <a:off x="841248" y="877824"/>
            <a:ext cx="10515600" cy="548640"/>
          </a:xfrm>
          <a:prstGeom prst="rect">
            <a:avLst/>
          </a:prstGeom>
          <a:noFill/>
        </p:spPr>
        <p:txBody>
          <a:bodyPr wrap="none" anchor="t" lIns="0" rIns="0" tIns="0" bIns="0">
            <a:spAutoFit/>
          </a:bodyPr>
          <a:lstStyle/>
          <a:p>
            <a:pPr algn="l">
              <a:lnSpc>
                <a:spcPct val="100000"/>
              </a:lnSpc>
              <a:spcBef>
                <a:spcPts val="0"/>
              </a:spcBef>
              <a:spcAft>
                <a:spcPts val="0"/>
              </a:spcAft>
            </a:pPr>
            <a:r>
              <a:rPr sz="2500" b="1">
                <a:solidFill>
                  <a:srgbClr val="1A1A1A"/>
                </a:solidFill>
                <a:latin typeface="Red Hat Display"/>
              </a:rPr>
              <a:t>A Knative Service is not a Deployment</a:t>
            </a:r>
          </a:p>
        </p:txBody>
      </p:sp>
      <p:cxnSp>
        <p:nvCxnSpPr>
          <p:cNvPr id="5" name="Connector 4"/>
          <p:cNvCxnSpPr/>
          <p:nvPr/>
        </p:nvCxnSpPr>
        <p:spPr>
          <a:xfrm>
            <a:off x="841248" y="1554480"/>
            <a:ext cx="1371600" cy="0"/>
          </a:xfrm>
          <a:prstGeom prst="bentConnector3">
            <a:avLst/>
          </a:prstGeom>
          <a:ln w="31750">
            <a:solidFill>
              <a:srgbClr val="EE0000"/>
            </a:solidFill>
          </a:ln>
          <a:effectLst/>
        </p:spPr>
        <p:style>
          <a:lnRef idx="2">
            <a:schemeClr val="accent1"/>
          </a:lnRef>
          <a:fillRef idx="0">
            <a:schemeClr val="accent1"/>
          </a:fillRef>
          <a:effectRef idx="1">
            <a:schemeClr val="accent1"/>
          </a:effectRef>
          <a:fontRef idx="minor">
            <a:schemeClr val="tx1"/>
          </a:fontRef>
        </p:style>
      </p:cxnSp>
      <p:sp>
        <p:nvSpPr>
          <p:cNvPr id="6" name="Rounded Rectangle 5"/>
          <p:cNvSpPr/>
          <p:nvPr/>
        </p:nvSpPr>
        <p:spPr>
          <a:xfrm>
            <a:off x="841248" y="2395728"/>
            <a:ext cx="5715000" cy="530352"/>
          </a:xfrm>
          <a:prstGeom prst="roundRect">
            <a:avLst>
              <a:gd name="adj" fmla="val 6000"/>
            </a:avLst>
          </a:prstGeom>
          <a:solidFill>
            <a:srgbClr val="F5F6F8"/>
          </a:solidFill>
          <a:ln w="12700">
            <a:solidFill>
              <a:srgbClr val="DDE1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check_steel.png"/>
          <p:cNvPicPr>
            <a:picLocks noChangeAspect="1"/>
          </p:cNvPicPr>
          <p:nvPr/>
        </p:nvPicPr>
        <p:blipFill>
          <a:blip r:embed="rId3"/>
          <a:stretch>
            <a:fillRect/>
          </a:stretch>
        </p:blipFill>
        <p:spPr>
          <a:xfrm>
            <a:off x="987552" y="2542032"/>
            <a:ext cx="237744" cy="237744"/>
          </a:xfrm>
          <a:prstGeom prst="rect">
            <a:avLst/>
          </a:prstGeom>
        </p:spPr>
      </p:pic>
      <p:sp>
        <p:nvSpPr>
          <p:cNvPr id="8" name="TextBox 7"/>
          <p:cNvSpPr txBox="1"/>
          <p:nvPr/>
        </p:nvSpPr>
        <p:spPr>
          <a:xfrm>
            <a:off x="1353312" y="2395728"/>
            <a:ext cx="5029200" cy="530352"/>
          </a:xfrm>
          <a:prstGeom prst="rect">
            <a:avLst/>
          </a:prstGeom>
          <a:noFill/>
        </p:spPr>
        <p:txBody>
          <a:bodyPr wrap="square" anchor="ctr" lIns="0" rIns="0" tIns="0" bIns="0">
            <a:spAutoFit/>
          </a:bodyPr>
          <a:lstStyle/>
          <a:p>
            <a:pPr algn="l">
              <a:lnSpc>
                <a:spcPct val="106000"/>
              </a:lnSpc>
              <a:spcBef>
                <a:spcPts val="0"/>
              </a:spcBef>
              <a:spcAft>
                <a:spcPts val="0"/>
              </a:spcAft>
            </a:pPr>
            <a:r>
              <a:rPr sz="1200" b="0">
                <a:solidFill>
                  <a:srgbClr val="1A1A1A"/>
                </a:solidFill>
                <a:latin typeface="Red Hat Text"/>
              </a:rPr>
              <a:t>You create ONE object: a Knative Service (ksvc), serving.knative.dev/v1</a:t>
            </a:r>
          </a:p>
        </p:txBody>
      </p:sp>
      <p:sp>
        <p:nvSpPr>
          <p:cNvPr id="9" name="Rounded Rectangle 8"/>
          <p:cNvSpPr/>
          <p:nvPr/>
        </p:nvSpPr>
        <p:spPr>
          <a:xfrm>
            <a:off x="841248" y="2999232"/>
            <a:ext cx="5715000" cy="530352"/>
          </a:xfrm>
          <a:prstGeom prst="roundRect">
            <a:avLst>
              <a:gd name="adj" fmla="val 6000"/>
            </a:avLst>
          </a:prstGeom>
          <a:solidFill>
            <a:srgbClr val="F5F6F8"/>
          </a:solidFill>
          <a:ln w="12700">
            <a:solidFill>
              <a:srgbClr val="DDE1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0" name="Picture 9" descr="check_steel.png"/>
          <p:cNvPicPr>
            <a:picLocks noChangeAspect="1"/>
          </p:cNvPicPr>
          <p:nvPr/>
        </p:nvPicPr>
        <p:blipFill>
          <a:blip r:embed="rId3"/>
          <a:stretch>
            <a:fillRect/>
          </a:stretch>
        </p:blipFill>
        <p:spPr>
          <a:xfrm>
            <a:off x="987552" y="3145536"/>
            <a:ext cx="237744" cy="237744"/>
          </a:xfrm>
          <a:prstGeom prst="rect">
            <a:avLst/>
          </a:prstGeom>
        </p:spPr>
      </p:pic>
      <p:sp>
        <p:nvSpPr>
          <p:cNvPr id="11" name="TextBox 10"/>
          <p:cNvSpPr txBox="1"/>
          <p:nvPr/>
        </p:nvSpPr>
        <p:spPr>
          <a:xfrm>
            <a:off x="1353312" y="2999232"/>
            <a:ext cx="5029200" cy="530352"/>
          </a:xfrm>
          <a:prstGeom prst="rect">
            <a:avLst/>
          </a:prstGeom>
          <a:noFill/>
        </p:spPr>
        <p:txBody>
          <a:bodyPr wrap="square" anchor="ctr" lIns="0" rIns="0" tIns="0" bIns="0">
            <a:spAutoFit/>
          </a:bodyPr>
          <a:lstStyle/>
          <a:p>
            <a:pPr algn="l">
              <a:lnSpc>
                <a:spcPct val="106000"/>
              </a:lnSpc>
              <a:spcBef>
                <a:spcPts val="0"/>
              </a:spcBef>
              <a:spcAft>
                <a:spcPts val="0"/>
              </a:spcAft>
            </a:pPr>
            <a:r>
              <a:rPr sz="1200" b="0">
                <a:solidFill>
                  <a:srgbClr val="1A1A1A"/>
                </a:solidFill>
                <a:latin typeface="Red Hat Text"/>
              </a:rPr>
              <a:t>Knative builds the rest: Deployment + autoscaler, Service, Route, Configuration, Revision</a:t>
            </a:r>
          </a:p>
        </p:txBody>
      </p:sp>
      <p:sp>
        <p:nvSpPr>
          <p:cNvPr id="12" name="Rounded Rectangle 11"/>
          <p:cNvSpPr/>
          <p:nvPr/>
        </p:nvSpPr>
        <p:spPr>
          <a:xfrm>
            <a:off x="841248" y="3602736"/>
            <a:ext cx="5715000" cy="530352"/>
          </a:xfrm>
          <a:prstGeom prst="roundRect">
            <a:avLst>
              <a:gd name="adj" fmla="val 6000"/>
            </a:avLst>
          </a:prstGeom>
          <a:solidFill>
            <a:srgbClr val="F5F6F8"/>
          </a:solidFill>
          <a:ln w="12700">
            <a:solidFill>
              <a:srgbClr val="DDE1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3" name="Picture 12" descr="check_steel.png"/>
          <p:cNvPicPr>
            <a:picLocks noChangeAspect="1"/>
          </p:cNvPicPr>
          <p:nvPr/>
        </p:nvPicPr>
        <p:blipFill>
          <a:blip r:embed="rId3"/>
          <a:stretch>
            <a:fillRect/>
          </a:stretch>
        </p:blipFill>
        <p:spPr>
          <a:xfrm>
            <a:off x="987552" y="3749040"/>
            <a:ext cx="237744" cy="237744"/>
          </a:xfrm>
          <a:prstGeom prst="rect">
            <a:avLst/>
          </a:prstGeom>
        </p:spPr>
      </p:pic>
      <p:sp>
        <p:nvSpPr>
          <p:cNvPr id="14" name="TextBox 13"/>
          <p:cNvSpPr txBox="1"/>
          <p:nvPr/>
        </p:nvSpPr>
        <p:spPr>
          <a:xfrm>
            <a:off x="1353312" y="3602736"/>
            <a:ext cx="5029200" cy="530352"/>
          </a:xfrm>
          <a:prstGeom prst="rect">
            <a:avLst/>
          </a:prstGeom>
          <a:noFill/>
        </p:spPr>
        <p:txBody>
          <a:bodyPr wrap="square" anchor="ctr" lIns="0" rIns="0" tIns="0" bIns="0">
            <a:spAutoFit/>
          </a:bodyPr>
          <a:lstStyle/>
          <a:p>
            <a:pPr algn="l">
              <a:lnSpc>
                <a:spcPct val="106000"/>
              </a:lnSpc>
              <a:spcBef>
                <a:spcPts val="0"/>
              </a:spcBef>
              <a:spcAft>
                <a:spcPts val="0"/>
              </a:spcAft>
            </a:pPr>
            <a:r>
              <a:rPr sz="1200" b="0">
                <a:solidFill>
                  <a:srgbClr val="1A1A1A"/>
                </a:solidFill>
                <a:latin typeface="Red Hat Text"/>
              </a:rPr>
              <a:t>The Route is AUTO-CREATED (edge, via Kourier) → ksvc.status.url</a:t>
            </a:r>
          </a:p>
        </p:txBody>
      </p:sp>
      <p:sp>
        <p:nvSpPr>
          <p:cNvPr id="15" name="Rounded Rectangle 14"/>
          <p:cNvSpPr/>
          <p:nvPr/>
        </p:nvSpPr>
        <p:spPr>
          <a:xfrm>
            <a:off x="841248" y="4206240"/>
            <a:ext cx="5715000" cy="530352"/>
          </a:xfrm>
          <a:prstGeom prst="roundRect">
            <a:avLst>
              <a:gd name="adj" fmla="val 6000"/>
            </a:avLst>
          </a:prstGeom>
          <a:solidFill>
            <a:srgbClr val="F5F6F8"/>
          </a:solidFill>
          <a:ln w="12700">
            <a:solidFill>
              <a:srgbClr val="DDE1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6" name="Picture 15" descr="check_steel.png"/>
          <p:cNvPicPr>
            <a:picLocks noChangeAspect="1"/>
          </p:cNvPicPr>
          <p:nvPr/>
        </p:nvPicPr>
        <p:blipFill>
          <a:blip r:embed="rId3"/>
          <a:stretch>
            <a:fillRect/>
          </a:stretch>
        </p:blipFill>
        <p:spPr>
          <a:xfrm>
            <a:off x="987552" y="4352544"/>
            <a:ext cx="237744" cy="237744"/>
          </a:xfrm>
          <a:prstGeom prst="rect">
            <a:avLst/>
          </a:prstGeom>
        </p:spPr>
      </p:pic>
      <p:sp>
        <p:nvSpPr>
          <p:cNvPr id="17" name="TextBox 16"/>
          <p:cNvSpPr txBox="1"/>
          <p:nvPr/>
        </p:nvSpPr>
        <p:spPr>
          <a:xfrm>
            <a:off x="1353312" y="4206240"/>
            <a:ext cx="5029200" cy="530352"/>
          </a:xfrm>
          <a:prstGeom prst="rect">
            <a:avLst/>
          </a:prstGeom>
          <a:noFill/>
        </p:spPr>
        <p:txBody>
          <a:bodyPr wrap="square" anchor="ctr" lIns="0" rIns="0" tIns="0" bIns="0">
            <a:spAutoFit/>
          </a:bodyPr>
          <a:lstStyle/>
          <a:p>
            <a:pPr algn="l">
              <a:lnSpc>
                <a:spcPct val="106000"/>
              </a:lnSpc>
              <a:spcBef>
                <a:spcPts val="0"/>
              </a:spcBef>
              <a:spcAft>
                <a:spcPts val="0"/>
              </a:spcAft>
            </a:pPr>
            <a:r>
              <a:rPr sz="1200" b="0">
                <a:solidFill>
                  <a:srgbClr val="1A1A1A"/>
                </a:solidFill>
                <a:latin typeface="Red Hat Text"/>
              </a:rPr>
              <a:t>NEVER `oc create route edge` for a ksvc (it fights the operator)</a:t>
            </a:r>
          </a:p>
        </p:txBody>
      </p:sp>
      <p:sp>
        <p:nvSpPr>
          <p:cNvPr id="18" name="Rounded Rectangle 17"/>
          <p:cNvSpPr/>
          <p:nvPr/>
        </p:nvSpPr>
        <p:spPr>
          <a:xfrm>
            <a:off x="841248" y="4809744"/>
            <a:ext cx="5715000" cy="530352"/>
          </a:xfrm>
          <a:prstGeom prst="roundRect">
            <a:avLst>
              <a:gd name="adj" fmla="val 6000"/>
            </a:avLst>
          </a:prstGeom>
          <a:solidFill>
            <a:srgbClr val="F5F6F8"/>
          </a:solidFill>
          <a:ln w="12700">
            <a:solidFill>
              <a:srgbClr val="DDE1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9" name="Picture 18" descr="check_steel.png"/>
          <p:cNvPicPr>
            <a:picLocks noChangeAspect="1"/>
          </p:cNvPicPr>
          <p:nvPr/>
        </p:nvPicPr>
        <p:blipFill>
          <a:blip r:embed="rId3"/>
          <a:stretch>
            <a:fillRect/>
          </a:stretch>
        </p:blipFill>
        <p:spPr>
          <a:xfrm>
            <a:off x="987552" y="4956048"/>
            <a:ext cx="237744" cy="237744"/>
          </a:xfrm>
          <a:prstGeom prst="rect">
            <a:avLst/>
          </a:prstGeom>
        </p:spPr>
      </p:pic>
      <p:sp>
        <p:nvSpPr>
          <p:cNvPr id="20" name="TextBox 19"/>
          <p:cNvSpPr txBox="1"/>
          <p:nvPr/>
        </p:nvSpPr>
        <p:spPr>
          <a:xfrm>
            <a:off x="1353312" y="4809744"/>
            <a:ext cx="5029200" cy="530352"/>
          </a:xfrm>
          <a:prstGeom prst="rect">
            <a:avLst/>
          </a:prstGeom>
          <a:noFill/>
        </p:spPr>
        <p:txBody>
          <a:bodyPr wrap="square" anchor="ctr" lIns="0" rIns="0" tIns="0" bIns="0">
            <a:spAutoFit/>
          </a:bodyPr>
          <a:lstStyle/>
          <a:p>
            <a:pPr algn="l">
              <a:lnSpc>
                <a:spcPct val="106000"/>
              </a:lnSpc>
              <a:spcBef>
                <a:spcPts val="0"/>
              </a:spcBef>
              <a:spcAft>
                <a:spcPts val="0"/>
              </a:spcAft>
            </a:pPr>
            <a:r>
              <a:rPr sz="1200" b="0">
                <a:solidFill>
                  <a:srgbClr val="1A1A1A"/>
                </a:solidFill>
                <a:latin typeface="Red Hat Text"/>
              </a:rPr>
              <a:t>A running pod carries your app + a queue-proxy sidecar</a:t>
            </a:r>
          </a:p>
        </p:txBody>
      </p:sp>
      <p:sp>
        <p:nvSpPr>
          <p:cNvPr id="21" name="Rounded Rectangle 20"/>
          <p:cNvSpPr/>
          <p:nvPr/>
        </p:nvSpPr>
        <p:spPr>
          <a:xfrm>
            <a:off x="6812280" y="2395728"/>
            <a:ext cx="4538167" cy="2944368"/>
          </a:xfrm>
          <a:prstGeom prst="roundRect">
            <a:avLst>
              <a:gd name="adj" fmla="val 4000"/>
            </a:avLst>
          </a:prstGeom>
          <a:solidFill>
            <a:srgbClr val="FFFFFF"/>
          </a:solidFill>
          <a:ln w="15240">
            <a:solidFill>
              <a:srgbClr val="DDE1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ounded Rectangle 21"/>
          <p:cNvSpPr/>
          <p:nvPr/>
        </p:nvSpPr>
        <p:spPr>
          <a:xfrm>
            <a:off x="7013448" y="2596896"/>
            <a:ext cx="1298448" cy="310896"/>
          </a:xfrm>
          <a:prstGeom prst="roundRect">
            <a:avLst>
              <a:gd name="adj" fmla="val 50000"/>
            </a:avLst>
          </a:prstGeom>
          <a:solidFill>
            <a:srgbClr val="FCEC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7013448" y="2596896"/>
            <a:ext cx="1298448" cy="310896"/>
          </a:xfrm>
          <a:prstGeom prst="rect">
            <a:avLst/>
          </a:prstGeom>
          <a:noFill/>
        </p:spPr>
        <p:txBody>
          <a:bodyPr wrap="none" anchor="ctr" lIns="0" rIns="0" tIns="0" bIns="0">
            <a:spAutoFit/>
          </a:bodyPr>
          <a:lstStyle/>
          <a:p>
            <a:pPr algn="ctr">
              <a:lnSpc>
                <a:spcPct val="106000"/>
              </a:lnSpc>
              <a:spcBef>
                <a:spcPts val="0"/>
              </a:spcBef>
              <a:spcAft>
                <a:spcPts val="0"/>
              </a:spcAft>
            </a:pPr>
            <a:r>
              <a:rPr sz="850" b="1">
                <a:solidFill>
                  <a:srgbClr val="B80000"/>
                </a:solidFill>
                <a:latin typeface="Red Hat Display"/>
              </a:rPr>
              <a:t>MEDIA PASS</a:t>
            </a:r>
          </a:p>
        </p:txBody>
      </p:sp>
      <p:pic>
        <p:nvPicPr>
          <p:cNvPr id="24" name="Picture 23" descr="eye_slate.png"/>
          <p:cNvPicPr>
            <a:picLocks noChangeAspect="1"/>
          </p:cNvPicPr>
          <p:nvPr/>
        </p:nvPicPr>
        <p:blipFill>
          <a:blip r:embed="rId4"/>
          <a:stretch>
            <a:fillRect/>
          </a:stretch>
        </p:blipFill>
        <p:spPr>
          <a:xfrm>
            <a:off x="8843619" y="3108960"/>
            <a:ext cx="475488" cy="475488"/>
          </a:xfrm>
          <a:prstGeom prst="rect">
            <a:avLst/>
          </a:prstGeom>
        </p:spPr>
      </p:pic>
      <p:sp>
        <p:nvSpPr>
          <p:cNvPr id="25" name="TextBox 24"/>
          <p:cNvSpPr txBox="1"/>
          <p:nvPr/>
        </p:nvSpPr>
        <p:spPr>
          <a:xfrm>
            <a:off x="7050024" y="3721608"/>
            <a:ext cx="4062679" cy="1481328"/>
          </a:xfrm>
          <a:prstGeom prst="rect">
            <a:avLst/>
          </a:prstGeom>
          <a:noFill/>
        </p:spPr>
        <p:txBody>
          <a:bodyPr wrap="square" anchor="t" lIns="0" rIns="0" tIns="0" bIns="0">
            <a:spAutoFit/>
          </a:bodyPr>
          <a:lstStyle/>
          <a:p>
            <a:pPr algn="l">
              <a:lnSpc>
                <a:spcPct val="120000"/>
              </a:lnSpc>
              <a:spcBef>
                <a:spcPts val="0"/>
              </a:spcBef>
              <a:spcAft>
                <a:spcPts val="0"/>
              </a:spcAft>
            </a:pPr>
            <a:r>
              <a:rPr sz="950" b="0">
                <a:solidFill>
                  <a:srgbClr val="8A9099"/>
                </a:solidFill>
                <a:latin typeface="Red Hat Text"/>
              </a:rPr>
              <a:t>One "ksvc" card at the top fanning out to five boxes Knative creates (Deployment+KPA, Service, Route, Configuration, Revision), with the Route box flagged "auto-created (edge/Kourier) → status.url" and a red strike-through on a "oc create route edge" attempt.</a:t>
            </a:r>
          </a:p>
        </p:txBody>
      </p:sp>
      <p:cxnSp>
        <p:nvCxnSpPr>
          <p:cNvPr id="26" name="Connector 25"/>
          <p:cNvCxnSpPr/>
          <p:nvPr/>
        </p:nvCxnSpPr>
        <p:spPr>
          <a:xfrm>
            <a:off x="841248" y="6437376"/>
            <a:ext cx="10509199" cy="0"/>
          </a:xfrm>
          <a:prstGeom prst="bentConnector3">
            <a:avLst/>
          </a:prstGeom>
          <a:ln w="12700">
            <a:solidFill>
              <a:srgbClr val="DDE1E6"/>
            </a:solidFill>
          </a:ln>
          <a:effectLst/>
        </p:spPr>
        <p:style>
          <a:lnRef idx="2">
            <a:schemeClr val="accent1"/>
          </a:lnRef>
          <a:fillRef idx="0">
            <a:schemeClr val="accent1"/>
          </a:fillRef>
          <a:effectRef idx="1">
            <a:schemeClr val="accent1"/>
          </a:effectRef>
          <a:fontRef idx="minor">
            <a:schemeClr val="tx1"/>
          </a:fontRef>
        </p:style>
      </p:cxnSp>
      <p:sp>
        <p:nvSpPr>
          <p:cNvPr id="27" name="TextBox 26"/>
          <p:cNvSpPr txBox="1"/>
          <p:nvPr/>
        </p:nvSpPr>
        <p:spPr>
          <a:xfrm>
            <a:off x="841248" y="6473952"/>
            <a:ext cx="7315200" cy="274320"/>
          </a:xfrm>
          <a:prstGeom prst="rect">
            <a:avLst/>
          </a:prstGeom>
          <a:noFill/>
        </p:spPr>
        <p:txBody>
          <a:bodyPr wrap="square" anchor="t" lIns="0" rIns="0" tIns="0" bIns="0">
            <a:spAutoFit/>
          </a:bodyPr>
          <a:lstStyle/>
          <a:p>
            <a:pPr algn="l">
              <a:lnSpc>
                <a:spcPct val="106000"/>
              </a:lnSpc>
              <a:spcBef>
                <a:spcPts val="0"/>
              </a:spcBef>
              <a:spcAft>
                <a:spcPts val="0"/>
              </a:spcAft>
            </a:pPr>
            <a:r>
              <a:rPr sz="950" b="0">
                <a:solidFill>
                  <a:srgbClr val="8A9099"/>
                </a:solidFill>
                <a:latin typeface="Red Hat Text"/>
              </a:rPr>
              <a:t>CONFIDENTIAL</a:t>
            </a:r>
          </a:p>
        </p:txBody>
      </p:sp>
      <p:sp>
        <p:nvSpPr>
          <p:cNvPr id="28" name="TextBox 27"/>
          <p:cNvSpPr txBox="1"/>
          <p:nvPr/>
        </p:nvSpPr>
        <p:spPr>
          <a:xfrm>
            <a:off x="10801807" y="6473952"/>
            <a:ext cx="548640" cy="274320"/>
          </a:xfrm>
          <a:prstGeom prst="rect">
            <a:avLst/>
          </a:prstGeom>
          <a:noFill/>
        </p:spPr>
        <p:txBody>
          <a:bodyPr wrap="square" anchor="t" lIns="0" rIns="0" tIns="0" bIns="0">
            <a:spAutoFit/>
          </a:bodyPr>
          <a:lstStyle/>
          <a:p>
            <a:pPr algn="r">
              <a:lnSpc>
                <a:spcPct val="106000"/>
              </a:lnSpc>
              <a:spcBef>
                <a:spcPts val="0"/>
              </a:spcBef>
              <a:spcAft>
                <a:spcPts val="0"/>
              </a:spcAft>
            </a:pPr>
            <a:r>
              <a:rPr sz="950" b="0">
                <a:solidFill>
                  <a:srgbClr val="8A9099"/>
                </a:solidFill>
                <a:latin typeface="Red Hat Text"/>
              </a:rPr>
              <a:t>144</a:t>
            </a:r>
          </a:p>
        </p:txBody>
      </p:sp>
    </p:spTree>
  </p:cSld>
  <p:clrMapOvr>
    <a:masterClrMapping/>
  </p:clrMapOvr>
</p:sld>
</file>

<file path=ppt/slides/slide16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redhat_logo.jpg"/>
          <p:cNvPicPr>
            <a:picLocks noChangeAspect="1"/>
          </p:cNvPicPr>
          <p:nvPr/>
        </p:nvPicPr>
        <p:blipFill>
          <a:blip r:embed="rId2"/>
          <a:stretch>
            <a:fillRect/>
          </a:stretch>
        </p:blipFill>
        <p:spPr>
          <a:xfrm>
            <a:off x="10326319" y="475488"/>
            <a:ext cx="1024128" cy="242248"/>
          </a:xfrm>
          <a:prstGeom prst="rect">
            <a:avLst/>
          </a:prstGeom>
        </p:spPr>
      </p:pic>
      <p:sp>
        <p:nvSpPr>
          <p:cNvPr id="3" name="TextBox 2"/>
          <p:cNvSpPr txBox="1"/>
          <p:nvPr/>
        </p:nvSpPr>
        <p:spPr>
          <a:xfrm>
            <a:off x="841248" y="548640"/>
            <a:ext cx="8595360" cy="274320"/>
          </a:xfrm>
          <a:prstGeom prst="rect">
            <a:avLst/>
          </a:prstGeom>
          <a:noFill/>
        </p:spPr>
        <p:txBody>
          <a:bodyPr wrap="square" anchor="t" lIns="0" rIns="0" tIns="0" bIns="0">
            <a:spAutoFit/>
          </a:bodyPr>
          <a:lstStyle/>
          <a:p>
            <a:pPr algn="l">
              <a:lnSpc>
                <a:spcPct val="106000"/>
              </a:lnSpc>
              <a:spcBef>
                <a:spcPts val="0"/>
              </a:spcBef>
              <a:spcAft>
                <a:spcPts val="0"/>
              </a:spcAft>
            </a:pPr>
            <a:r>
              <a:rPr sz="1250" b="1" spc="220">
                <a:solidFill>
                  <a:srgbClr val="EE0000"/>
                </a:solidFill>
                <a:latin typeface="Red Hat Display"/>
              </a:rPr>
              <a:t>M20 · SERVERLESS ZERO-TO-HERO</a:t>
            </a:r>
          </a:p>
        </p:txBody>
      </p:sp>
      <p:sp>
        <p:nvSpPr>
          <p:cNvPr id="4" name="TextBox 3"/>
          <p:cNvSpPr txBox="1"/>
          <p:nvPr/>
        </p:nvSpPr>
        <p:spPr>
          <a:xfrm>
            <a:off x="841248" y="877824"/>
            <a:ext cx="10515600" cy="548640"/>
          </a:xfrm>
          <a:prstGeom prst="rect">
            <a:avLst/>
          </a:prstGeom>
          <a:noFill/>
        </p:spPr>
        <p:txBody>
          <a:bodyPr wrap="none" anchor="t" lIns="0" rIns="0" tIns="0" bIns="0">
            <a:spAutoFit/>
          </a:bodyPr>
          <a:lstStyle/>
          <a:p>
            <a:pPr algn="l">
              <a:lnSpc>
                <a:spcPct val="100000"/>
              </a:lnSpc>
              <a:spcBef>
                <a:spcPts val="0"/>
              </a:spcBef>
              <a:spcAft>
                <a:spcPts val="0"/>
              </a:spcAft>
            </a:pPr>
            <a:r>
              <a:rPr sz="2500" b="1">
                <a:solidFill>
                  <a:srgbClr val="1A1A1A"/>
                </a:solidFill>
                <a:latin typeface="Red Hat Display"/>
              </a:rPr>
              <a:t>The revision model</a:t>
            </a:r>
          </a:p>
        </p:txBody>
      </p:sp>
      <p:cxnSp>
        <p:nvCxnSpPr>
          <p:cNvPr id="5" name="Connector 4"/>
          <p:cNvCxnSpPr/>
          <p:nvPr/>
        </p:nvCxnSpPr>
        <p:spPr>
          <a:xfrm>
            <a:off x="841248" y="1554480"/>
            <a:ext cx="1371600" cy="0"/>
          </a:xfrm>
          <a:prstGeom prst="bentConnector3">
            <a:avLst/>
          </a:prstGeom>
          <a:ln w="31750">
            <a:solidFill>
              <a:srgbClr val="EE0000"/>
            </a:solidFill>
          </a:ln>
          <a:effectLst/>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841248" y="1664208"/>
            <a:ext cx="10515600" cy="365760"/>
          </a:xfrm>
          <a:prstGeom prst="rect">
            <a:avLst/>
          </a:prstGeom>
          <a:noFill/>
        </p:spPr>
        <p:txBody>
          <a:bodyPr wrap="square" anchor="t" lIns="0" rIns="0" tIns="0" bIns="0">
            <a:spAutoFit/>
          </a:bodyPr>
          <a:lstStyle/>
          <a:p>
            <a:pPr algn="l">
              <a:lnSpc>
                <a:spcPct val="106000"/>
              </a:lnSpc>
              <a:spcBef>
                <a:spcPts val="0"/>
              </a:spcBef>
              <a:spcAft>
                <a:spcPts val="0"/>
              </a:spcAft>
            </a:pPr>
            <a:r>
              <a:rPr sz="1350" b="0">
                <a:solidFill>
                  <a:srgbClr val="555960"/>
                </a:solidFill>
                <a:latin typeface="Red Hat Text"/>
              </a:rPr>
              <a:t>rollout and rollback are cheap</a:t>
            </a:r>
          </a:p>
        </p:txBody>
      </p:sp>
      <p:sp>
        <p:nvSpPr>
          <p:cNvPr id="7" name="Rounded Rectangle 6"/>
          <p:cNvSpPr/>
          <p:nvPr/>
        </p:nvSpPr>
        <p:spPr>
          <a:xfrm>
            <a:off x="841248" y="2670048"/>
            <a:ext cx="5715000" cy="530352"/>
          </a:xfrm>
          <a:prstGeom prst="roundRect">
            <a:avLst>
              <a:gd name="adj" fmla="val 6000"/>
            </a:avLst>
          </a:prstGeom>
          <a:solidFill>
            <a:srgbClr val="F5F6F8"/>
          </a:solidFill>
          <a:ln w="12700">
            <a:solidFill>
              <a:srgbClr val="DDE1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check_steel.png"/>
          <p:cNvPicPr>
            <a:picLocks noChangeAspect="1"/>
          </p:cNvPicPr>
          <p:nvPr/>
        </p:nvPicPr>
        <p:blipFill>
          <a:blip r:embed="rId3"/>
          <a:stretch>
            <a:fillRect/>
          </a:stretch>
        </p:blipFill>
        <p:spPr>
          <a:xfrm>
            <a:off x="987552" y="2816352"/>
            <a:ext cx="237744" cy="237744"/>
          </a:xfrm>
          <a:prstGeom prst="rect">
            <a:avLst/>
          </a:prstGeom>
        </p:spPr>
      </p:pic>
      <p:sp>
        <p:nvSpPr>
          <p:cNvPr id="9" name="TextBox 8"/>
          <p:cNvSpPr txBox="1"/>
          <p:nvPr/>
        </p:nvSpPr>
        <p:spPr>
          <a:xfrm>
            <a:off x="1353312" y="2670048"/>
            <a:ext cx="5029200" cy="530352"/>
          </a:xfrm>
          <a:prstGeom prst="rect">
            <a:avLst/>
          </a:prstGeom>
          <a:noFill/>
        </p:spPr>
        <p:txBody>
          <a:bodyPr wrap="square" anchor="ctr" lIns="0" rIns="0" tIns="0" bIns="0">
            <a:spAutoFit/>
          </a:bodyPr>
          <a:lstStyle/>
          <a:p>
            <a:pPr algn="l">
              <a:lnSpc>
                <a:spcPct val="106000"/>
              </a:lnSpc>
              <a:spcBef>
                <a:spcPts val="0"/>
              </a:spcBef>
              <a:spcAft>
                <a:spcPts val="0"/>
              </a:spcAft>
            </a:pPr>
            <a:r>
              <a:rPr sz="1200" b="0">
                <a:solidFill>
                  <a:srgbClr val="1A1A1A"/>
                </a:solidFill>
                <a:latin typeface="Red Hat Text"/>
              </a:rPr>
              <a:t>Every template change mints a new IMMUTABLE Revision; old ones stay</a:t>
            </a:r>
          </a:p>
        </p:txBody>
      </p:sp>
      <p:sp>
        <p:nvSpPr>
          <p:cNvPr id="10" name="Rounded Rectangle 9"/>
          <p:cNvSpPr/>
          <p:nvPr/>
        </p:nvSpPr>
        <p:spPr>
          <a:xfrm>
            <a:off x="841248" y="3273552"/>
            <a:ext cx="5715000" cy="530352"/>
          </a:xfrm>
          <a:prstGeom prst="roundRect">
            <a:avLst>
              <a:gd name="adj" fmla="val 6000"/>
            </a:avLst>
          </a:prstGeom>
          <a:solidFill>
            <a:srgbClr val="F5F6F8"/>
          </a:solidFill>
          <a:ln w="12700">
            <a:solidFill>
              <a:srgbClr val="DDE1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1" name="Picture 10" descr="check_steel.png"/>
          <p:cNvPicPr>
            <a:picLocks noChangeAspect="1"/>
          </p:cNvPicPr>
          <p:nvPr/>
        </p:nvPicPr>
        <p:blipFill>
          <a:blip r:embed="rId3"/>
          <a:stretch>
            <a:fillRect/>
          </a:stretch>
        </p:blipFill>
        <p:spPr>
          <a:xfrm>
            <a:off x="987552" y="3419856"/>
            <a:ext cx="237744" cy="237744"/>
          </a:xfrm>
          <a:prstGeom prst="rect">
            <a:avLst/>
          </a:prstGeom>
        </p:spPr>
      </p:pic>
      <p:sp>
        <p:nvSpPr>
          <p:cNvPr id="12" name="TextBox 11"/>
          <p:cNvSpPr txBox="1"/>
          <p:nvPr/>
        </p:nvSpPr>
        <p:spPr>
          <a:xfrm>
            <a:off x="1353312" y="3273552"/>
            <a:ext cx="5029200" cy="530352"/>
          </a:xfrm>
          <a:prstGeom prst="rect">
            <a:avLst/>
          </a:prstGeom>
          <a:noFill/>
        </p:spPr>
        <p:txBody>
          <a:bodyPr wrap="square" anchor="ctr" lIns="0" rIns="0" tIns="0" bIns="0">
            <a:spAutoFit/>
          </a:bodyPr>
          <a:lstStyle/>
          <a:p>
            <a:pPr algn="l">
              <a:lnSpc>
                <a:spcPct val="106000"/>
              </a:lnSpc>
              <a:spcBef>
                <a:spcPts val="0"/>
              </a:spcBef>
              <a:spcAft>
                <a:spcPts val="0"/>
              </a:spcAft>
            </a:pPr>
            <a:r>
              <a:rPr sz="1200" b="0">
                <a:solidFill>
                  <a:srgbClr val="1A1A1A"/>
                </a:solidFill>
                <a:latin typeface="Red Hat Text"/>
              </a:rPr>
              <a:t>Configuration = the latest desired version (editing the ksvc mints the next revision)</a:t>
            </a:r>
          </a:p>
        </p:txBody>
      </p:sp>
      <p:sp>
        <p:nvSpPr>
          <p:cNvPr id="13" name="Rounded Rectangle 12"/>
          <p:cNvSpPr/>
          <p:nvPr/>
        </p:nvSpPr>
        <p:spPr>
          <a:xfrm>
            <a:off x="841248" y="3877056"/>
            <a:ext cx="5715000" cy="530352"/>
          </a:xfrm>
          <a:prstGeom prst="roundRect">
            <a:avLst>
              <a:gd name="adj" fmla="val 6000"/>
            </a:avLst>
          </a:prstGeom>
          <a:solidFill>
            <a:srgbClr val="F5F6F8"/>
          </a:solidFill>
          <a:ln w="12700">
            <a:solidFill>
              <a:srgbClr val="DDE1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4" name="Picture 13" descr="check_steel.png"/>
          <p:cNvPicPr>
            <a:picLocks noChangeAspect="1"/>
          </p:cNvPicPr>
          <p:nvPr/>
        </p:nvPicPr>
        <p:blipFill>
          <a:blip r:embed="rId3"/>
          <a:stretch>
            <a:fillRect/>
          </a:stretch>
        </p:blipFill>
        <p:spPr>
          <a:xfrm>
            <a:off x="987552" y="4023360"/>
            <a:ext cx="237744" cy="237744"/>
          </a:xfrm>
          <a:prstGeom prst="rect">
            <a:avLst/>
          </a:prstGeom>
        </p:spPr>
      </p:pic>
      <p:sp>
        <p:nvSpPr>
          <p:cNvPr id="15" name="TextBox 14"/>
          <p:cNvSpPr txBox="1"/>
          <p:nvPr/>
        </p:nvSpPr>
        <p:spPr>
          <a:xfrm>
            <a:off x="1353312" y="3877056"/>
            <a:ext cx="5029200" cy="530352"/>
          </a:xfrm>
          <a:prstGeom prst="rect">
            <a:avLst/>
          </a:prstGeom>
          <a:noFill/>
        </p:spPr>
        <p:txBody>
          <a:bodyPr wrap="square" anchor="ctr" lIns="0" rIns="0" tIns="0" bIns="0">
            <a:spAutoFit/>
          </a:bodyPr>
          <a:lstStyle/>
          <a:p>
            <a:pPr algn="l">
              <a:lnSpc>
                <a:spcPct val="106000"/>
              </a:lnSpc>
              <a:spcBef>
                <a:spcPts val="0"/>
              </a:spcBef>
              <a:spcAft>
                <a:spcPts val="0"/>
              </a:spcAft>
            </a:pPr>
            <a:r>
              <a:rPr sz="1200" b="0">
                <a:solidFill>
                  <a:srgbClr val="1A1A1A"/>
                </a:solidFill>
                <a:latin typeface="Red Hat Text"/>
              </a:rPr>
              <a:t>Route = where traffic goes — by weight, over NAMED revisions, with tags</a:t>
            </a:r>
          </a:p>
        </p:txBody>
      </p:sp>
      <p:sp>
        <p:nvSpPr>
          <p:cNvPr id="16" name="Rounded Rectangle 15"/>
          <p:cNvSpPr/>
          <p:nvPr/>
        </p:nvSpPr>
        <p:spPr>
          <a:xfrm>
            <a:off x="841248" y="4480560"/>
            <a:ext cx="5715000" cy="530352"/>
          </a:xfrm>
          <a:prstGeom prst="roundRect">
            <a:avLst>
              <a:gd name="adj" fmla="val 6000"/>
            </a:avLst>
          </a:prstGeom>
          <a:solidFill>
            <a:srgbClr val="F5F6F8"/>
          </a:solidFill>
          <a:ln w="12700">
            <a:solidFill>
              <a:srgbClr val="DDE1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7" name="Picture 16" descr="check_steel.png"/>
          <p:cNvPicPr>
            <a:picLocks noChangeAspect="1"/>
          </p:cNvPicPr>
          <p:nvPr/>
        </p:nvPicPr>
        <p:blipFill>
          <a:blip r:embed="rId3"/>
          <a:stretch>
            <a:fillRect/>
          </a:stretch>
        </p:blipFill>
        <p:spPr>
          <a:xfrm>
            <a:off x="987552" y="4626864"/>
            <a:ext cx="237744" cy="237744"/>
          </a:xfrm>
          <a:prstGeom prst="rect">
            <a:avLst/>
          </a:prstGeom>
        </p:spPr>
      </p:pic>
      <p:sp>
        <p:nvSpPr>
          <p:cNvPr id="18" name="TextBox 17"/>
          <p:cNvSpPr txBox="1"/>
          <p:nvPr/>
        </p:nvSpPr>
        <p:spPr>
          <a:xfrm>
            <a:off x="1353312" y="4480560"/>
            <a:ext cx="5029200" cy="530352"/>
          </a:xfrm>
          <a:prstGeom prst="rect">
            <a:avLst/>
          </a:prstGeom>
          <a:noFill/>
        </p:spPr>
        <p:txBody>
          <a:bodyPr wrap="square" anchor="ctr" lIns="0" rIns="0" tIns="0" bIns="0">
            <a:spAutoFit/>
          </a:bodyPr>
          <a:lstStyle/>
          <a:p>
            <a:pPr algn="l">
              <a:lnSpc>
                <a:spcPct val="106000"/>
              </a:lnSpc>
              <a:spcBef>
                <a:spcPts val="0"/>
              </a:spcBef>
              <a:spcAft>
                <a:spcPts val="0"/>
              </a:spcAft>
            </a:pPr>
            <a:r>
              <a:rPr sz="1200" b="0">
                <a:solidFill>
                  <a:srgbClr val="1A1A1A"/>
                </a:solidFill>
                <a:latin typeface="Red Hat Text"/>
              </a:rPr>
              <a:t>Rollback isn't a redeploy: it's re-pointing a Route weight at a revision that already exists</a:t>
            </a:r>
          </a:p>
        </p:txBody>
      </p:sp>
      <p:sp>
        <p:nvSpPr>
          <p:cNvPr id="19" name="Rounded Rectangle 18"/>
          <p:cNvSpPr/>
          <p:nvPr/>
        </p:nvSpPr>
        <p:spPr>
          <a:xfrm>
            <a:off x="841248" y="5084064"/>
            <a:ext cx="5715000" cy="530352"/>
          </a:xfrm>
          <a:prstGeom prst="roundRect">
            <a:avLst>
              <a:gd name="adj" fmla="val 6000"/>
            </a:avLst>
          </a:prstGeom>
          <a:solidFill>
            <a:srgbClr val="F5F6F8"/>
          </a:solidFill>
          <a:ln w="12700">
            <a:solidFill>
              <a:srgbClr val="DDE1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0" name="Picture 19" descr="check_steel.png"/>
          <p:cNvPicPr>
            <a:picLocks noChangeAspect="1"/>
          </p:cNvPicPr>
          <p:nvPr/>
        </p:nvPicPr>
        <p:blipFill>
          <a:blip r:embed="rId3"/>
          <a:stretch>
            <a:fillRect/>
          </a:stretch>
        </p:blipFill>
        <p:spPr>
          <a:xfrm>
            <a:off x="987552" y="5230368"/>
            <a:ext cx="237744" cy="237744"/>
          </a:xfrm>
          <a:prstGeom prst="rect">
            <a:avLst/>
          </a:prstGeom>
        </p:spPr>
      </p:pic>
      <p:sp>
        <p:nvSpPr>
          <p:cNvPr id="21" name="TextBox 20"/>
          <p:cNvSpPr txBox="1"/>
          <p:nvPr/>
        </p:nvSpPr>
        <p:spPr>
          <a:xfrm>
            <a:off x="1353312" y="5084064"/>
            <a:ext cx="5029200" cy="530352"/>
          </a:xfrm>
          <a:prstGeom prst="rect">
            <a:avLst/>
          </a:prstGeom>
          <a:noFill/>
        </p:spPr>
        <p:txBody>
          <a:bodyPr wrap="square" anchor="ctr" lIns="0" rIns="0" tIns="0" bIns="0">
            <a:spAutoFit/>
          </a:bodyPr>
          <a:lstStyle/>
          <a:p>
            <a:pPr algn="l">
              <a:lnSpc>
                <a:spcPct val="106000"/>
              </a:lnSpc>
              <a:spcBef>
                <a:spcPts val="0"/>
              </a:spcBef>
              <a:spcAft>
                <a:spcPts val="0"/>
              </a:spcAft>
            </a:pPr>
            <a:r>
              <a:rPr sz="1200" b="0">
                <a:solidFill>
                  <a:srgbClr val="1A1A1A"/>
                </a:solidFill>
                <a:latin typeface="Red Hat Text"/>
              </a:rPr>
              <a:t>Same idea powers the traffic split later</a:t>
            </a:r>
          </a:p>
        </p:txBody>
      </p:sp>
      <p:sp>
        <p:nvSpPr>
          <p:cNvPr id="22" name="Rounded Rectangle 21"/>
          <p:cNvSpPr/>
          <p:nvPr/>
        </p:nvSpPr>
        <p:spPr>
          <a:xfrm>
            <a:off x="6812280" y="2670048"/>
            <a:ext cx="4538167" cy="2944368"/>
          </a:xfrm>
          <a:prstGeom prst="roundRect">
            <a:avLst>
              <a:gd name="adj" fmla="val 4000"/>
            </a:avLst>
          </a:prstGeom>
          <a:solidFill>
            <a:srgbClr val="FFFFFF"/>
          </a:solidFill>
          <a:ln w="15240">
            <a:solidFill>
              <a:srgbClr val="DDE1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ounded Rectangle 22"/>
          <p:cNvSpPr/>
          <p:nvPr/>
        </p:nvSpPr>
        <p:spPr>
          <a:xfrm>
            <a:off x="7013448" y="2871216"/>
            <a:ext cx="1298448" cy="310896"/>
          </a:xfrm>
          <a:prstGeom prst="roundRect">
            <a:avLst>
              <a:gd name="adj" fmla="val 50000"/>
            </a:avLst>
          </a:prstGeom>
          <a:solidFill>
            <a:srgbClr val="FCEC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7013448" y="2871216"/>
            <a:ext cx="1298448" cy="310896"/>
          </a:xfrm>
          <a:prstGeom prst="rect">
            <a:avLst/>
          </a:prstGeom>
          <a:noFill/>
        </p:spPr>
        <p:txBody>
          <a:bodyPr wrap="none" anchor="ctr" lIns="0" rIns="0" tIns="0" bIns="0">
            <a:spAutoFit/>
          </a:bodyPr>
          <a:lstStyle/>
          <a:p>
            <a:pPr algn="ctr">
              <a:lnSpc>
                <a:spcPct val="106000"/>
              </a:lnSpc>
              <a:spcBef>
                <a:spcPts val="0"/>
              </a:spcBef>
              <a:spcAft>
                <a:spcPts val="0"/>
              </a:spcAft>
            </a:pPr>
            <a:r>
              <a:rPr sz="850" b="1">
                <a:solidFill>
                  <a:srgbClr val="B80000"/>
                </a:solidFill>
                <a:latin typeface="Red Hat Display"/>
              </a:rPr>
              <a:t>MEDIA PASS</a:t>
            </a:r>
          </a:p>
        </p:txBody>
      </p:sp>
      <p:pic>
        <p:nvPicPr>
          <p:cNvPr id="25" name="Picture 24" descr="eye_slate.png"/>
          <p:cNvPicPr>
            <a:picLocks noChangeAspect="1"/>
          </p:cNvPicPr>
          <p:nvPr/>
        </p:nvPicPr>
        <p:blipFill>
          <a:blip r:embed="rId4"/>
          <a:stretch>
            <a:fillRect/>
          </a:stretch>
        </p:blipFill>
        <p:spPr>
          <a:xfrm>
            <a:off x="8843619" y="3383280"/>
            <a:ext cx="475488" cy="475488"/>
          </a:xfrm>
          <a:prstGeom prst="rect">
            <a:avLst/>
          </a:prstGeom>
        </p:spPr>
      </p:pic>
      <p:sp>
        <p:nvSpPr>
          <p:cNvPr id="26" name="TextBox 25"/>
          <p:cNvSpPr txBox="1"/>
          <p:nvPr/>
        </p:nvSpPr>
        <p:spPr>
          <a:xfrm>
            <a:off x="7050024" y="3995928"/>
            <a:ext cx="4062679" cy="1481328"/>
          </a:xfrm>
          <a:prstGeom prst="rect">
            <a:avLst/>
          </a:prstGeom>
          <a:noFill/>
        </p:spPr>
        <p:txBody>
          <a:bodyPr wrap="square" anchor="t" lIns="0" rIns="0" tIns="0" bIns="0">
            <a:spAutoFit/>
          </a:bodyPr>
          <a:lstStyle/>
          <a:p>
            <a:pPr algn="l">
              <a:lnSpc>
                <a:spcPct val="120000"/>
              </a:lnSpc>
              <a:spcBef>
                <a:spcPts val="0"/>
              </a:spcBef>
              <a:spcAft>
                <a:spcPts val="0"/>
              </a:spcAft>
            </a:pPr>
            <a:r>
              <a:rPr sz="950" b="0">
                <a:solidFill>
                  <a:srgbClr val="8A9099"/>
                </a:solidFill>
                <a:latin typeface="Red Hat Text"/>
              </a:rPr>
              <a:t>Reuse the concept diagram serverless-zero-to-hero-...-01-request-driven-compute.svg — the Configuration minting revisions, the Route splitting weight over v1 (#stable) and v2 (#candidate), the KPA scaling each 0..N.</a:t>
            </a:r>
          </a:p>
        </p:txBody>
      </p:sp>
      <p:cxnSp>
        <p:nvCxnSpPr>
          <p:cNvPr id="27" name="Connector 26"/>
          <p:cNvCxnSpPr/>
          <p:nvPr/>
        </p:nvCxnSpPr>
        <p:spPr>
          <a:xfrm>
            <a:off x="841248" y="6437376"/>
            <a:ext cx="10509199" cy="0"/>
          </a:xfrm>
          <a:prstGeom prst="bentConnector3">
            <a:avLst/>
          </a:prstGeom>
          <a:ln w="12700">
            <a:solidFill>
              <a:srgbClr val="DDE1E6"/>
            </a:solidFill>
          </a:ln>
          <a:effectLst/>
        </p:spPr>
        <p:style>
          <a:lnRef idx="2">
            <a:schemeClr val="accent1"/>
          </a:lnRef>
          <a:fillRef idx="0">
            <a:schemeClr val="accent1"/>
          </a:fillRef>
          <a:effectRef idx="1">
            <a:schemeClr val="accent1"/>
          </a:effectRef>
          <a:fontRef idx="minor">
            <a:schemeClr val="tx1"/>
          </a:fontRef>
        </p:style>
      </p:cxnSp>
      <p:sp>
        <p:nvSpPr>
          <p:cNvPr id="28" name="TextBox 27"/>
          <p:cNvSpPr txBox="1"/>
          <p:nvPr/>
        </p:nvSpPr>
        <p:spPr>
          <a:xfrm>
            <a:off x="841248" y="6473952"/>
            <a:ext cx="7315200" cy="274320"/>
          </a:xfrm>
          <a:prstGeom prst="rect">
            <a:avLst/>
          </a:prstGeom>
          <a:noFill/>
        </p:spPr>
        <p:txBody>
          <a:bodyPr wrap="square" anchor="t" lIns="0" rIns="0" tIns="0" bIns="0">
            <a:spAutoFit/>
          </a:bodyPr>
          <a:lstStyle/>
          <a:p>
            <a:pPr algn="l">
              <a:lnSpc>
                <a:spcPct val="106000"/>
              </a:lnSpc>
              <a:spcBef>
                <a:spcPts val="0"/>
              </a:spcBef>
              <a:spcAft>
                <a:spcPts val="0"/>
              </a:spcAft>
            </a:pPr>
            <a:r>
              <a:rPr sz="950" b="0">
                <a:solidFill>
                  <a:srgbClr val="8A9099"/>
                </a:solidFill>
                <a:latin typeface="Red Hat Text"/>
              </a:rPr>
              <a:t>CONFIDENTIAL</a:t>
            </a:r>
          </a:p>
        </p:txBody>
      </p:sp>
      <p:sp>
        <p:nvSpPr>
          <p:cNvPr id="29" name="TextBox 28"/>
          <p:cNvSpPr txBox="1"/>
          <p:nvPr/>
        </p:nvSpPr>
        <p:spPr>
          <a:xfrm>
            <a:off x="10801807" y="6473952"/>
            <a:ext cx="548640" cy="274320"/>
          </a:xfrm>
          <a:prstGeom prst="rect">
            <a:avLst/>
          </a:prstGeom>
          <a:noFill/>
        </p:spPr>
        <p:txBody>
          <a:bodyPr wrap="square" anchor="t" lIns="0" rIns="0" tIns="0" bIns="0">
            <a:spAutoFit/>
          </a:bodyPr>
          <a:lstStyle/>
          <a:p>
            <a:pPr algn="r">
              <a:lnSpc>
                <a:spcPct val="106000"/>
              </a:lnSpc>
              <a:spcBef>
                <a:spcPts val="0"/>
              </a:spcBef>
              <a:spcAft>
                <a:spcPts val="0"/>
              </a:spcAft>
            </a:pPr>
            <a:r>
              <a:rPr sz="950" b="0">
                <a:solidFill>
                  <a:srgbClr val="8A9099"/>
                </a:solidFill>
                <a:latin typeface="Red Hat Text"/>
              </a:rPr>
              <a:t>145</a:t>
            </a:r>
          </a:p>
        </p:txBody>
      </p:sp>
    </p:spTree>
  </p:cSld>
  <p:clrMapOvr>
    <a:masterClrMapping/>
  </p:clrMapOvr>
</p:sld>
</file>

<file path=ppt/slides/slide16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redhat_logo.jpg"/>
          <p:cNvPicPr>
            <a:picLocks noChangeAspect="1"/>
          </p:cNvPicPr>
          <p:nvPr/>
        </p:nvPicPr>
        <p:blipFill>
          <a:blip r:embed="rId2"/>
          <a:stretch>
            <a:fillRect/>
          </a:stretch>
        </p:blipFill>
        <p:spPr>
          <a:xfrm>
            <a:off x="10326319" y="475488"/>
            <a:ext cx="1024128" cy="242248"/>
          </a:xfrm>
          <a:prstGeom prst="rect">
            <a:avLst/>
          </a:prstGeom>
        </p:spPr>
      </p:pic>
      <p:sp>
        <p:nvSpPr>
          <p:cNvPr id="3" name="TextBox 2"/>
          <p:cNvSpPr txBox="1"/>
          <p:nvPr/>
        </p:nvSpPr>
        <p:spPr>
          <a:xfrm>
            <a:off x="841248" y="548640"/>
            <a:ext cx="8595360" cy="274320"/>
          </a:xfrm>
          <a:prstGeom prst="rect">
            <a:avLst/>
          </a:prstGeom>
          <a:noFill/>
        </p:spPr>
        <p:txBody>
          <a:bodyPr wrap="square" anchor="t" lIns="0" rIns="0" tIns="0" bIns="0">
            <a:spAutoFit/>
          </a:bodyPr>
          <a:lstStyle/>
          <a:p>
            <a:pPr algn="l">
              <a:lnSpc>
                <a:spcPct val="106000"/>
              </a:lnSpc>
              <a:spcBef>
                <a:spcPts val="0"/>
              </a:spcBef>
              <a:spcAft>
                <a:spcPts val="0"/>
              </a:spcAft>
            </a:pPr>
            <a:r>
              <a:rPr sz="1250" b="1" spc="220">
                <a:solidFill>
                  <a:srgbClr val="EE0000"/>
                </a:solidFill>
                <a:latin typeface="Red Hat Display"/>
              </a:rPr>
              <a:t>M20 · SERVERLESS ZERO-TO-HERO</a:t>
            </a:r>
          </a:p>
        </p:txBody>
      </p:sp>
      <p:sp>
        <p:nvSpPr>
          <p:cNvPr id="4" name="TextBox 3"/>
          <p:cNvSpPr txBox="1"/>
          <p:nvPr/>
        </p:nvSpPr>
        <p:spPr>
          <a:xfrm>
            <a:off x="841248" y="877824"/>
            <a:ext cx="10515600" cy="548640"/>
          </a:xfrm>
          <a:prstGeom prst="rect">
            <a:avLst/>
          </a:prstGeom>
          <a:noFill/>
        </p:spPr>
        <p:txBody>
          <a:bodyPr wrap="none" anchor="t" lIns="0" rIns="0" tIns="0" bIns="0">
            <a:spAutoFit/>
          </a:bodyPr>
          <a:lstStyle/>
          <a:p>
            <a:pPr algn="l">
              <a:lnSpc>
                <a:spcPct val="100000"/>
              </a:lnSpc>
              <a:spcBef>
                <a:spcPts val="0"/>
              </a:spcBef>
              <a:spcAft>
                <a:spcPts val="0"/>
              </a:spcAft>
            </a:pPr>
            <a:r>
              <a:rPr sz="2500" b="1">
                <a:solidFill>
                  <a:srgbClr val="1A1A1A"/>
                </a:solidFill>
                <a:latin typeface="Red Hat Display"/>
              </a:rPr>
              <a:t>The autoscaler</a:t>
            </a:r>
          </a:p>
        </p:txBody>
      </p:sp>
      <p:cxnSp>
        <p:nvCxnSpPr>
          <p:cNvPr id="5" name="Connector 4"/>
          <p:cNvCxnSpPr/>
          <p:nvPr/>
        </p:nvCxnSpPr>
        <p:spPr>
          <a:xfrm>
            <a:off x="841248" y="1554480"/>
            <a:ext cx="1371600" cy="0"/>
          </a:xfrm>
          <a:prstGeom prst="bentConnector3">
            <a:avLst/>
          </a:prstGeom>
          <a:ln w="31750">
            <a:solidFill>
              <a:srgbClr val="EE0000"/>
            </a:solidFill>
          </a:ln>
          <a:effectLst/>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841248" y="1664208"/>
            <a:ext cx="10515600" cy="365760"/>
          </a:xfrm>
          <a:prstGeom prst="rect">
            <a:avLst/>
          </a:prstGeom>
          <a:noFill/>
        </p:spPr>
        <p:txBody>
          <a:bodyPr wrap="square" anchor="t" lIns="0" rIns="0" tIns="0" bIns="0">
            <a:spAutoFit/>
          </a:bodyPr>
          <a:lstStyle/>
          <a:p>
            <a:pPr algn="l">
              <a:lnSpc>
                <a:spcPct val="106000"/>
              </a:lnSpc>
              <a:spcBef>
                <a:spcPts val="0"/>
              </a:spcBef>
              <a:spcAft>
                <a:spcPts val="0"/>
              </a:spcAft>
            </a:pPr>
            <a:r>
              <a:rPr sz="1350" b="0">
                <a:solidFill>
                  <a:srgbClr val="555960"/>
                </a:solidFill>
                <a:latin typeface="Red Hat Text"/>
              </a:rPr>
              <a:t>concurrency, scale-to-zero, and the honest cold start</a:t>
            </a:r>
          </a:p>
        </p:txBody>
      </p:sp>
      <p:sp>
        <p:nvSpPr>
          <p:cNvPr id="7" name="Rounded Rectangle 6"/>
          <p:cNvSpPr/>
          <p:nvPr/>
        </p:nvSpPr>
        <p:spPr>
          <a:xfrm>
            <a:off x="841248" y="2670048"/>
            <a:ext cx="5715000" cy="530352"/>
          </a:xfrm>
          <a:prstGeom prst="roundRect">
            <a:avLst>
              <a:gd name="adj" fmla="val 6000"/>
            </a:avLst>
          </a:prstGeom>
          <a:solidFill>
            <a:srgbClr val="F5F6F8"/>
          </a:solidFill>
          <a:ln w="12700">
            <a:solidFill>
              <a:srgbClr val="DDE1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check_steel.png"/>
          <p:cNvPicPr>
            <a:picLocks noChangeAspect="1"/>
          </p:cNvPicPr>
          <p:nvPr/>
        </p:nvPicPr>
        <p:blipFill>
          <a:blip r:embed="rId3"/>
          <a:stretch>
            <a:fillRect/>
          </a:stretch>
        </p:blipFill>
        <p:spPr>
          <a:xfrm>
            <a:off x="987552" y="2816352"/>
            <a:ext cx="237744" cy="237744"/>
          </a:xfrm>
          <a:prstGeom prst="rect">
            <a:avLst/>
          </a:prstGeom>
        </p:spPr>
      </p:pic>
      <p:sp>
        <p:nvSpPr>
          <p:cNvPr id="9" name="TextBox 8"/>
          <p:cNvSpPr txBox="1"/>
          <p:nvPr/>
        </p:nvSpPr>
        <p:spPr>
          <a:xfrm>
            <a:off x="1353312" y="2670048"/>
            <a:ext cx="5029200" cy="530352"/>
          </a:xfrm>
          <a:prstGeom prst="rect">
            <a:avLst/>
          </a:prstGeom>
          <a:noFill/>
        </p:spPr>
        <p:txBody>
          <a:bodyPr wrap="square" anchor="ctr" lIns="0" rIns="0" tIns="0" bIns="0">
            <a:spAutoFit/>
          </a:bodyPr>
          <a:lstStyle/>
          <a:p>
            <a:pPr algn="l">
              <a:lnSpc>
                <a:spcPct val="106000"/>
              </a:lnSpc>
              <a:spcBef>
                <a:spcPts val="0"/>
              </a:spcBef>
              <a:spcAft>
                <a:spcPts val="0"/>
              </a:spcAft>
            </a:pPr>
            <a:r>
              <a:rPr sz="1200" b="0">
                <a:solidFill>
                  <a:srgbClr val="1A1A1A"/>
                </a:solidFill>
                <a:latin typeface="Red Hat Text"/>
              </a:rPr>
              <a:t>KPA scales on CONCURRENCY (in-flight requests); HPA scales on CPU</a:t>
            </a:r>
          </a:p>
        </p:txBody>
      </p:sp>
      <p:sp>
        <p:nvSpPr>
          <p:cNvPr id="10" name="Rounded Rectangle 9"/>
          <p:cNvSpPr/>
          <p:nvPr/>
        </p:nvSpPr>
        <p:spPr>
          <a:xfrm>
            <a:off x="841248" y="3273552"/>
            <a:ext cx="5715000" cy="530352"/>
          </a:xfrm>
          <a:prstGeom prst="roundRect">
            <a:avLst>
              <a:gd name="adj" fmla="val 6000"/>
            </a:avLst>
          </a:prstGeom>
          <a:solidFill>
            <a:srgbClr val="F5F6F8"/>
          </a:solidFill>
          <a:ln w="12700">
            <a:solidFill>
              <a:srgbClr val="DDE1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1" name="Picture 10" descr="check_steel.png"/>
          <p:cNvPicPr>
            <a:picLocks noChangeAspect="1"/>
          </p:cNvPicPr>
          <p:nvPr/>
        </p:nvPicPr>
        <p:blipFill>
          <a:blip r:embed="rId3"/>
          <a:stretch>
            <a:fillRect/>
          </a:stretch>
        </p:blipFill>
        <p:spPr>
          <a:xfrm>
            <a:off x="987552" y="3419856"/>
            <a:ext cx="237744" cy="237744"/>
          </a:xfrm>
          <a:prstGeom prst="rect">
            <a:avLst/>
          </a:prstGeom>
        </p:spPr>
      </p:pic>
      <p:sp>
        <p:nvSpPr>
          <p:cNvPr id="12" name="TextBox 11"/>
          <p:cNvSpPr txBox="1"/>
          <p:nvPr/>
        </p:nvSpPr>
        <p:spPr>
          <a:xfrm>
            <a:off x="1353312" y="3273552"/>
            <a:ext cx="5029200" cy="530352"/>
          </a:xfrm>
          <a:prstGeom prst="rect">
            <a:avLst/>
          </a:prstGeom>
          <a:noFill/>
        </p:spPr>
        <p:txBody>
          <a:bodyPr wrap="square" anchor="ctr" lIns="0" rIns="0" tIns="0" bIns="0">
            <a:spAutoFit/>
          </a:bodyPr>
          <a:lstStyle/>
          <a:p>
            <a:pPr algn="l">
              <a:lnSpc>
                <a:spcPct val="106000"/>
              </a:lnSpc>
              <a:spcBef>
                <a:spcPts val="0"/>
              </a:spcBef>
              <a:spcAft>
                <a:spcPts val="0"/>
              </a:spcAft>
            </a:pPr>
            <a:r>
              <a:rPr sz="1200" b="0">
                <a:solidFill>
                  <a:srgbClr val="1A1A1A"/>
                </a:solidFill>
                <a:latin typeface="Red Hat Text"/>
              </a:rPr>
              <a:t>KPA can scale to ZERO; HPA floors at one pod</a:t>
            </a:r>
          </a:p>
        </p:txBody>
      </p:sp>
      <p:sp>
        <p:nvSpPr>
          <p:cNvPr id="13" name="Rounded Rectangle 12"/>
          <p:cNvSpPr/>
          <p:nvPr/>
        </p:nvSpPr>
        <p:spPr>
          <a:xfrm>
            <a:off x="841248" y="3877056"/>
            <a:ext cx="5715000" cy="530352"/>
          </a:xfrm>
          <a:prstGeom prst="roundRect">
            <a:avLst>
              <a:gd name="adj" fmla="val 6000"/>
            </a:avLst>
          </a:prstGeom>
          <a:solidFill>
            <a:srgbClr val="F5F6F8"/>
          </a:solidFill>
          <a:ln w="12700">
            <a:solidFill>
              <a:srgbClr val="DDE1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4" name="Picture 13" descr="check_steel.png"/>
          <p:cNvPicPr>
            <a:picLocks noChangeAspect="1"/>
          </p:cNvPicPr>
          <p:nvPr/>
        </p:nvPicPr>
        <p:blipFill>
          <a:blip r:embed="rId3"/>
          <a:stretch>
            <a:fillRect/>
          </a:stretch>
        </p:blipFill>
        <p:spPr>
          <a:xfrm>
            <a:off x="987552" y="4023360"/>
            <a:ext cx="237744" cy="237744"/>
          </a:xfrm>
          <a:prstGeom prst="rect">
            <a:avLst/>
          </a:prstGeom>
        </p:spPr>
      </p:pic>
      <p:sp>
        <p:nvSpPr>
          <p:cNvPr id="15" name="TextBox 14"/>
          <p:cNvSpPr txBox="1"/>
          <p:nvPr/>
        </p:nvSpPr>
        <p:spPr>
          <a:xfrm>
            <a:off x="1353312" y="3877056"/>
            <a:ext cx="5029200" cy="530352"/>
          </a:xfrm>
          <a:prstGeom prst="rect">
            <a:avLst/>
          </a:prstGeom>
          <a:noFill/>
        </p:spPr>
        <p:txBody>
          <a:bodyPr wrap="square" anchor="ctr" lIns="0" rIns="0" tIns="0" bIns="0">
            <a:spAutoFit/>
          </a:bodyPr>
          <a:lstStyle/>
          <a:p>
            <a:pPr algn="l">
              <a:lnSpc>
                <a:spcPct val="106000"/>
              </a:lnSpc>
              <a:spcBef>
                <a:spcPts val="0"/>
              </a:spcBef>
              <a:spcAft>
                <a:spcPts val="0"/>
              </a:spcAft>
            </a:pPr>
            <a:r>
              <a:rPr sz="1200" b="0">
                <a:solidFill>
                  <a:srgbClr val="1A1A1A"/>
                </a:solidFill>
                <a:latin typeface="Red Hat Text"/>
              </a:rPr>
              <a:t>Knobs: target (soft) / containerConcurrency (hard); min-scale / max-scale</a:t>
            </a:r>
          </a:p>
        </p:txBody>
      </p:sp>
      <p:sp>
        <p:nvSpPr>
          <p:cNvPr id="16" name="Rounded Rectangle 15"/>
          <p:cNvSpPr/>
          <p:nvPr/>
        </p:nvSpPr>
        <p:spPr>
          <a:xfrm>
            <a:off x="841248" y="4480560"/>
            <a:ext cx="5715000" cy="530352"/>
          </a:xfrm>
          <a:prstGeom prst="roundRect">
            <a:avLst>
              <a:gd name="adj" fmla="val 6000"/>
            </a:avLst>
          </a:prstGeom>
          <a:solidFill>
            <a:srgbClr val="F5F6F8"/>
          </a:solidFill>
          <a:ln w="12700">
            <a:solidFill>
              <a:srgbClr val="DDE1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7" name="Picture 16" descr="check_steel.png"/>
          <p:cNvPicPr>
            <a:picLocks noChangeAspect="1"/>
          </p:cNvPicPr>
          <p:nvPr/>
        </p:nvPicPr>
        <p:blipFill>
          <a:blip r:embed="rId3"/>
          <a:stretch>
            <a:fillRect/>
          </a:stretch>
        </p:blipFill>
        <p:spPr>
          <a:xfrm>
            <a:off x="987552" y="4626864"/>
            <a:ext cx="237744" cy="237744"/>
          </a:xfrm>
          <a:prstGeom prst="rect">
            <a:avLst/>
          </a:prstGeom>
        </p:spPr>
      </p:pic>
      <p:sp>
        <p:nvSpPr>
          <p:cNvPr id="18" name="TextBox 17"/>
          <p:cNvSpPr txBox="1"/>
          <p:nvPr/>
        </p:nvSpPr>
        <p:spPr>
          <a:xfrm>
            <a:off x="1353312" y="4480560"/>
            <a:ext cx="5029200" cy="530352"/>
          </a:xfrm>
          <a:prstGeom prst="rect">
            <a:avLst/>
          </a:prstGeom>
          <a:noFill/>
        </p:spPr>
        <p:txBody>
          <a:bodyPr wrap="square" anchor="ctr" lIns="0" rIns="0" tIns="0" bIns="0">
            <a:spAutoFit/>
          </a:bodyPr>
          <a:lstStyle/>
          <a:p>
            <a:pPr algn="l">
              <a:lnSpc>
                <a:spcPct val="106000"/>
              </a:lnSpc>
              <a:spcBef>
                <a:spcPts val="0"/>
              </a:spcBef>
              <a:spcAft>
                <a:spcPts val="0"/>
              </a:spcAft>
            </a:pPr>
            <a:r>
              <a:rPr sz="1200" b="0">
                <a:solidFill>
                  <a:srgbClr val="1A1A1A"/>
                </a:solidFill>
                <a:latin typeface="Red Hat Text"/>
              </a:rPr>
              <a:t>Cold start is REAL: measured ~15s (JVM) from zero; ~0.1s warm</a:t>
            </a:r>
          </a:p>
        </p:txBody>
      </p:sp>
      <p:sp>
        <p:nvSpPr>
          <p:cNvPr id="19" name="Rounded Rectangle 18"/>
          <p:cNvSpPr/>
          <p:nvPr/>
        </p:nvSpPr>
        <p:spPr>
          <a:xfrm>
            <a:off x="841248" y="5084064"/>
            <a:ext cx="5715000" cy="530352"/>
          </a:xfrm>
          <a:prstGeom prst="roundRect">
            <a:avLst>
              <a:gd name="adj" fmla="val 6000"/>
            </a:avLst>
          </a:prstGeom>
          <a:solidFill>
            <a:srgbClr val="F5F6F8"/>
          </a:solidFill>
          <a:ln w="12700">
            <a:solidFill>
              <a:srgbClr val="DDE1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0" name="Picture 19" descr="check_steel.png"/>
          <p:cNvPicPr>
            <a:picLocks noChangeAspect="1"/>
          </p:cNvPicPr>
          <p:nvPr/>
        </p:nvPicPr>
        <p:blipFill>
          <a:blip r:embed="rId3"/>
          <a:stretch>
            <a:fillRect/>
          </a:stretch>
        </p:blipFill>
        <p:spPr>
          <a:xfrm>
            <a:off x="987552" y="5230368"/>
            <a:ext cx="237744" cy="237744"/>
          </a:xfrm>
          <a:prstGeom prst="rect">
            <a:avLst/>
          </a:prstGeom>
        </p:spPr>
      </p:pic>
      <p:sp>
        <p:nvSpPr>
          <p:cNvPr id="21" name="TextBox 20"/>
          <p:cNvSpPr txBox="1"/>
          <p:nvPr/>
        </p:nvSpPr>
        <p:spPr>
          <a:xfrm>
            <a:off x="1353312" y="5084064"/>
            <a:ext cx="5029200" cy="530352"/>
          </a:xfrm>
          <a:prstGeom prst="rect">
            <a:avLst/>
          </a:prstGeom>
          <a:noFill/>
        </p:spPr>
        <p:txBody>
          <a:bodyPr wrap="square" anchor="ctr" lIns="0" rIns="0" tIns="0" bIns="0">
            <a:spAutoFit/>
          </a:bodyPr>
          <a:lstStyle/>
          <a:p>
            <a:pPr algn="l">
              <a:lnSpc>
                <a:spcPct val="106000"/>
              </a:lnSpc>
              <a:spcBef>
                <a:spcPts val="0"/>
              </a:spcBef>
              <a:spcAft>
                <a:spcPts val="0"/>
              </a:spcAft>
            </a:pPr>
            <a:r>
              <a:rPr sz="1200" b="0">
                <a:solidFill>
                  <a:srgbClr val="1A1A1A"/>
                </a:solidFill>
                <a:latin typeface="Red Hat Text"/>
              </a:rPr>
              <a:t>Plan for it: min-scale for a warm floor, or a native build (tens of ms)</a:t>
            </a:r>
          </a:p>
        </p:txBody>
      </p:sp>
      <p:sp>
        <p:nvSpPr>
          <p:cNvPr id="22" name="Rounded Rectangle 21"/>
          <p:cNvSpPr/>
          <p:nvPr/>
        </p:nvSpPr>
        <p:spPr>
          <a:xfrm>
            <a:off x="6812280" y="2670048"/>
            <a:ext cx="4538167" cy="2944368"/>
          </a:xfrm>
          <a:prstGeom prst="roundRect">
            <a:avLst>
              <a:gd name="adj" fmla="val 4000"/>
            </a:avLst>
          </a:prstGeom>
          <a:solidFill>
            <a:srgbClr val="FFFFFF"/>
          </a:solidFill>
          <a:ln w="15240">
            <a:solidFill>
              <a:srgbClr val="DDE1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ounded Rectangle 22"/>
          <p:cNvSpPr/>
          <p:nvPr/>
        </p:nvSpPr>
        <p:spPr>
          <a:xfrm>
            <a:off x="7013448" y="2871216"/>
            <a:ext cx="1298448" cy="310896"/>
          </a:xfrm>
          <a:prstGeom prst="roundRect">
            <a:avLst>
              <a:gd name="adj" fmla="val 50000"/>
            </a:avLst>
          </a:prstGeom>
          <a:solidFill>
            <a:srgbClr val="FCEC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7013448" y="2871216"/>
            <a:ext cx="1298448" cy="310896"/>
          </a:xfrm>
          <a:prstGeom prst="rect">
            <a:avLst/>
          </a:prstGeom>
          <a:noFill/>
        </p:spPr>
        <p:txBody>
          <a:bodyPr wrap="none" anchor="ctr" lIns="0" rIns="0" tIns="0" bIns="0">
            <a:spAutoFit/>
          </a:bodyPr>
          <a:lstStyle/>
          <a:p>
            <a:pPr algn="ctr">
              <a:lnSpc>
                <a:spcPct val="106000"/>
              </a:lnSpc>
              <a:spcBef>
                <a:spcPts val="0"/>
              </a:spcBef>
              <a:spcAft>
                <a:spcPts val="0"/>
              </a:spcAft>
            </a:pPr>
            <a:r>
              <a:rPr sz="850" b="1">
                <a:solidFill>
                  <a:srgbClr val="B80000"/>
                </a:solidFill>
                <a:latin typeface="Red Hat Display"/>
              </a:rPr>
              <a:t>MEDIA PASS</a:t>
            </a:r>
          </a:p>
        </p:txBody>
      </p:sp>
      <p:pic>
        <p:nvPicPr>
          <p:cNvPr id="25" name="Picture 24" descr="eye_slate.png"/>
          <p:cNvPicPr>
            <a:picLocks noChangeAspect="1"/>
          </p:cNvPicPr>
          <p:nvPr/>
        </p:nvPicPr>
        <p:blipFill>
          <a:blip r:embed="rId4"/>
          <a:stretch>
            <a:fillRect/>
          </a:stretch>
        </p:blipFill>
        <p:spPr>
          <a:xfrm>
            <a:off x="8843619" y="3383280"/>
            <a:ext cx="475488" cy="475488"/>
          </a:xfrm>
          <a:prstGeom prst="rect">
            <a:avLst/>
          </a:prstGeom>
        </p:spPr>
      </p:pic>
      <p:sp>
        <p:nvSpPr>
          <p:cNvPr id="26" name="TextBox 25"/>
          <p:cNvSpPr txBox="1"/>
          <p:nvPr/>
        </p:nvSpPr>
        <p:spPr>
          <a:xfrm>
            <a:off x="7050024" y="3995928"/>
            <a:ext cx="4062679" cy="1481328"/>
          </a:xfrm>
          <a:prstGeom prst="rect">
            <a:avLst/>
          </a:prstGeom>
          <a:noFill/>
        </p:spPr>
        <p:txBody>
          <a:bodyPr wrap="square" anchor="t" lIns="0" rIns="0" tIns="0" bIns="0">
            <a:spAutoFit/>
          </a:bodyPr>
          <a:lstStyle/>
          <a:p>
            <a:pPr algn="l">
              <a:lnSpc>
                <a:spcPct val="120000"/>
              </a:lnSpc>
              <a:spcBef>
                <a:spcPts val="0"/>
              </a:spcBef>
              <a:spcAft>
                <a:spcPts val="0"/>
              </a:spcAft>
            </a:pPr>
            <a:r>
              <a:rPr sz="950" b="0">
                <a:solidFill>
                  <a:srgbClr val="8A9099"/>
                </a:solidFill>
                <a:latin typeface="Red Hat Text"/>
              </a:rPr>
              <a:t>A timeline of one request hitting a zero-pod service: activator buffers → pod schedules → JVM boots → response, annotated "~15s cold" — beside a second, warm request annotated "~0.1s"; a callout "min-scale: 1 removes the cold start (gives up scale-to-zero)."</a:t>
            </a:r>
          </a:p>
        </p:txBody>
      </p:sp>
      <p:cxnSp>
        <p:nvCxnSpPr>
          <p:cNvPr id="27" name="Connector 26"/>
          <p:cNvCxnSpPr/>
          <p:nvPr/>
        </p:nvCxnSpPr>
        <p:spPr>
          <a:xfrm>
            <a:off x="841248" y="6437376"/>
            <a:ext cx="10509199" cy="0"/>
          </a:xfrm>
          <a:prstGeom prst="bentConnector3">
            <a:avLst/>
          </a:prstGeom>
          <a:ln w="12700">
            <a:solidFill>
              <a:srgbClr val="DDE1E6"/>
            </a:solidFill>
          </a:ln>
          <a:effectLst/>
        </p:spPr>
        <p:style>
          <a:lnRef idx="2">
            <a:schemeClr val="accent1"/>
          </a:lnRef>
          <a:fillRef idx="0">
            <a:schemeClr val="accent1"/>
          </a:fillRef>
          <a:effectRef idx="1">
            <a:schemeClr val="accent1"/>
          </a:effectRef>
          <a:fontRef idx="minor">
            <a:schemeClr val="tx1"/>
          </a:fontRef>
        </p:style>
      </p:cxnSp>
      <p:sp>
        <p:nvSpPr>
          <p:cNvPr id="28" name="TextBox 27"/>
          <p:cNvSpPr txBox="1"/>
          <p:nvPr/>
        </p:nvSpPr>
        <p:spPr>
          <a:xfrm>
            <a:off x="841248" y="6473952"/>
            <a:ext cx="7315200" cy="274320"/>
          </a:xfrm>
          <a:prstGeom prst="rect">
            <a:avLst/>
          </a:prstGeom>
          <a:noFill/>
        </p:spPr>
        <p:txBody>
          <a:bodyPr wrap="square" anchor="t" lIns="0" rIns="0" tIns="0" bIns="0">
            <a:spAutoFit/>
          </a:bodyPr>
          <a:lstStyle/>
          <a:p>
            <a:pPr algn="l">
              <a:lnSpc>
                <a:spcPct val="106000"/>
              </a:lnSpc>
              <a:spcBef>
                <a:spcPts val="0"/>
              </a:spcBef>
              <a:spcAft>
                <a:spcPts val="0"/>
              </a:spcAft>
            </a:pPr>
            <a:r>
              <a:rPr sz="950" b="0">
                <a:solidFill>
                  <a:srgbClr val="8A9099"/>
                </a:solidFill>
                <a:latin typeface="Red Hat Text"/>
              </a:rPr>
              <a:t>CONFIDENTIAL</a:t>
            </a:r>
          </a:p>
        </p:txBody>
      </p:sp>
      <p:sp>
        <p:nvSpPr>
          <p:cNvPr id="29" name="TextBox 28"/>
          <p:cNvSpPr txBox="1"/>
          <p:nvPr/>
        </p:nvSpPr>
        <p:spPr>
          <a:xfrm>
            <a:off x="10801807" y="6473952"/>
            <a:ext cx="548640" cy="274320"/>
          </a:xfrm>
          <a:prstGeom prst="rect">
            <a:avLst/>
          </a:prstGeom>
          <a:noFill/>
        </p:spPr>
        <p:txBody>
          <a:bodyPr wrap="square" anchor="t" lIns="0" rIns="0" tIns="0" bIns="0">
            <a:spAutoFit/>
          </a:bodyPr>
          <a:lstStyle/>
          <a:p>
            <a:pPr algn="r">
              <a:lnSpc>
                <a:spcPct val="106000"/>
              </a:lnSpc>
              <a:spcBef>
                <a:spcPts val="0"/>
              </a:spcBef>
              <a:spcAft>
                <a:spcPts val="0"/>
              </a:spcAft>
            </a:pPr>
            <a:r>
              <a:rPr sz="950" b="0">
                <a:solidFill>
                  <a:srgbClr val="8A9099"/>
                </a:solidFill>
                <a:latin typeface="Red Hat Text"/>
              </a:rPr>
              <a:t>146</a:t>
            </a:r>
          </a:p>
        </p:txBody>
      </p:sp>
    </p:spTree>
  </p:cSld>
  <p:clrMapOvr>
    <a:masterClrMapping/>
  </p:clrMapOvr>
</p:sld>
</file>

<file path=ppt/slides/slide16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redhat_logo.jpg"/>
          <p:cNvPicPr>
            <a:picLocks noChangeAspect="1"/>
          </p:cNvPicPr>
          <p:nvPr/>
        </p:nvPicPr>
        <p:blipFill>
          <a:blip r:embed="rId2"/>
          <a:stretch>
            <a:fillRect/>
          </a:stretch>
        </p:blipFill>
        <p:spPr>
          <a:xfrm>
            <a:off x="10326319" y="475488"/>
            <a:ext cx="1024128" cy="242248"/>
          </a:xfrm>
          <a:prstGeom prst="rect">
            <a:avLst/>
          </a:prstGeom>
        </p:spPr>
      </p:pic>
      <p:sp>
        <p:nvSpPr>
          <p:cNvPr id="3" name="TextBox 2"/>
          <p:cNvSpPr txBox="1"/>
          <p:nvPr/>
        </p:nvSpPr>
        <p:spPr>
          <a:xfrm>
            <a:off x="841248" y="548640"/>
            <a:ext cx="8595360" cy="274320"/>
          </a:xfrm>
          <a:prstGeom prst="rect">
            <a:avLst/>
          </a:prstGeom>
          <a:noFill/>
        </p:spPr>
        <p:txBody>
          <a:bodyPr wrap="square" anchor="t" lIns="0" rIns="0" tIns="0" bIns="0">
            <a:spAutoFit/>
          </a:bodyPr>
          <a:lstStyle/>
          <a:p>
            <a:pPr algn="l">
              <a:lnSpc>
                <a:spcPct val="106000"/>
              </a:lnSpc>
              <a:spcBef>
                <a:spcPts val="0"/>
              </a:spcBef>
              <a:spcAft>
                <a:spcPts val="0"/>
              </a:spcAft>
            </a:pPr>
            <a:r>
              <a:rPr sz="1250" b="1" spc="220">
                <a:solidFill>
                  <a:srgbClr val="EE0000"/>
                </a:solidFill>
                <a:latin typeface="Red Hat Display"/>
              </a:rPr>
              <a:t>M20 · SERVERLESS ZERO-TO-HERO</a:t>
            </a:r>
          </a:p>
        </p:txBody>
      </p:sp>
      <p:sp>
        <p:nvSpPr>
          <p:cNvPr id="4" name="TextBox 3"/>
          <p:cNvSpPr txBox="1"/>
          <p:nvPr/>
        </p:nvSpPr>
        <p:spPr>
          <a:xfrm>
            <a:off x="841248" y="877824"/>
            <a:ext cx="10515600" cy="548640"/>
          </a:xfrm>
          <a:prstGeom prst="rect">
            <a:avLst/>
          </a:prstGeom>
          <a:noFill/>
        </p:spPr>
        <p:txBody>
          <a:bodyPr wrap="none" anchor="t" lIns="0" rIns="0" tIns="0" bIns="0">
            <a:spAutoFit/>
          </a:bodyPr>
          <a:lstStyle/>
          <a:p>
            <a:pPr algn="l">
              <a:lnSpc>
                <a:spcPct val="100000"/>
              </a:lnSpc>
              <a:spcBef>
                <a:spcPts val="0"/>
              </a:spcBef>
              <a:spcAft>
                <a:spcPts val="0"/>
              </a:spcAft>
            </a:pPr>
            <a:r>
              <a:rPr sz="2500" b="1">
                <a:solidFill>
                  <a:srgbClr val="1A1A1A"/>
                </a:solidFill>
                <a:latin typeface="Red Hat Display"/>
              </a:rPr>
              <a:t>Shift traffic by revision — the third way</a:t>
            </a:r>
          </a:p>
        </p:txBody>
      </p:sp>
      <p:cxnSp>
        <p:nvCxnSpPr>
          <p:cNvPr id="5" name="Connector 4"/>
          <p:cNvCxnSpPr/>
          <p:nvPr/>
        </p:nvCxnSpPr>
        <p:spPr>
          <a:xfrm>
            <a:off x="841248" y="1554480"/>
            <a:ext cx="1371600" cy="0"/>
          </a:xfrm>
          <a:prstGeom prst="bentConnector3">
            <a:avLst/>
          </a:prstGeom>
          <a:ln w="31750">
            <a:solidFill>
              <a:srgbClr val="EE0000"/>
            </a:solidFill>
          </a:ln>
          <a:effectLst/>
        </p:spPr>
        <p:style>
          <a:lnRef idx="2">
            <a:schemeClr val="accent1"/>
          </a:lnRef>
          <a:fillRef idx="0">
            <a:schemeClr val="accent1"/>
          </a:fillRef>
          <a:effectRef idx="1">
            <a:schemeClr val="accent1"/>
          </a:effectRef>
          <a:fontRef idx="minor">
            <a:schemeClr val="tx1"/>
          </a:fontRef>
        </p:style>
      </p:cxnSp>
      <p:sp>
        <p:nvSpPr>
          <p:cNvPr id="6" name="Rounded Rectangle 5"/>
          <p:cNvSpPr/>
          <p:nvPr/>
        </p:nvSpPr>
        <p:spPr>
          <a:xfrm>
            <a:off x="841248" y="2395728"/>
            <a:ext cx="5715000" cy="530352"/>
          </a:xfrm>
          <a:prstGeom prst="roundRect">
            <a:avLst>
              <a:gd name="adj" fmla="val 6000"/>
            </a:avLst>
          </a:prstGeom>
          <a:solidFill>
            <a:srgbClr val="F5F6F8"/>
          </a:solidFill>
          <a:ln w="12700">
            <a:solidFill>
              <a:srgbClr val="DDE1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check_steel.png"/>
          <p:cNvPicPr>
            <a:picLocks noChangeAspect="1"/>
          </p:cNvPicPr>
          <p:nvPr/>
        </p:nvPicPr>
        <p:blipFill>
          <a:blip r:embed="rId3"/>
          <a:stretch>
            <a:fillRect/>
          </a:stretch>
        </p:blipFill>
        <p:spPr>
          <a:xfrm>
            <a:off x="987552" y="2542032"/>
            <a:ext cx="237744" cy="237744"/>
          </a:xfrm>
          <a:prstGeom prst="rect">
            <a:avLst/>
          </a:prstGeom>
        </p:spPr>
      </p:pic>
      <p:sp>
        <p:nvSpPr>
          <p:cNvPr id="8" name="TextBox 7"/>
          <p:cNvSpPr txBox="1"/>
          <p:nvPr/>
        </p:nvSpPr>
        <p:spPr>
          <a:xfrm>
            <a:off x="1353312" y="2395728"/>
            <a:ext cx="5029200" cy="530352"/>
          </a:xfrm>
          <a:prstGeom prst="rect">
            <a:avLst/>
          </a:prstGeom>
          <a:noFill/>
        </p:spPr>
        <p:txBody>
          <a:bodyPr wrap="square" anchor="ctr" lIns="0" rIns="0" tIns="0" bIns="0">
            <a:spAutoFit/>
          </a:bodyPr>
          <a:lstStyle/>
          <a:p>
            <a:pPr algn="l">
              <a:lnSpc>
                <a:spcPct val="106000"/>
              </a:lnSpc>
              <a:spcBef>
                <a:spcPts val="0"/>
              </a:spcBef>
              <a:spcAft>
                <a:spcPts val="0"/>
              </a:spcAft>
            </a:pPr>
            <a:r>
              <a:rPr sz="1200" b="0">
                <a:solidFill>
                  <a:srgbClr val="1A1A1A"/>
                </a:solidFill>
                <a:latin typeface="Red Hat Text"/>
              </a:rPr>
              <a:t>Tag v1 `stable` at 80%, v2 `candidate` at 20% — one object change on the Route</a:t>
            </a:r>
          </a:p>
        </p:txBody>
      </p:sp>
      <p:sp>
        <p:nvSpPr>
          <p:cNvPr id="9" name="Rounded Rectangle 8"/>
          <p:cNvSpPr/>
          <p:nvPr/>
        </p:nvSpPr>
        <p:spPr>
          <a:xfrm>
            <a:off x="841248" y="2999232"/>
            <a:ext cx="5715000" cy="530352"/>
          </a:xfrm>
          <a:prstGeom prst="roundRect">
            <a:avLst>
              <a:gd name="adj" fmla="val 6000"/>
            </a:avLst>
          </a:prstGeom>
          <a:solidFill>
            <a:srgbClr val="F5F6F8"/>
          </a:solidFill>
          <a:ln w="12700">
            <a:solidFill>
              <a:srgbClr val="DDE1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0" name="Picture 9" descr="check_steel.png"/>
          <p:cNvPicPr>
            <a:picLocks noChangeAspect="1"/>
          </p:cNvPicPr>
          <p:nvPr/>
        </p:nvPicPr>
        <p:blipFill>
          <a:blip r:embed="rId3"/>
          <a:stretch>
            <a:fillRect/>
          </a:stretch>
        </p:blipFill>
        <p:spPr>
          <a:xfrm>
            <a:off x="987552" y="3145536"/>
            <a:ext cx="237744" cy="237744"/>
          </a:xfrm>
          <a:prstGeom prst="rect">
            <a:avLst/>
          </a:prstGeom>
        </p:spPr>
      </p:pic>
      <p:sp>
        <p:nvSpPr>
          <p:cNvPr id="11" name="TextBox 10"/>
          <p:cNvSpPr txBox="1"/>
          <p:nvPr/>
        </p:nvSpPr>
        <p:spPr>
          <a:xfrm>
            <a:off x="1353312" y="2999232"/>
            <a:ext cx="5029200" cy="530352"/>
          </a:xfrm>
          <a:prstGeom prst="rect">
            <a:avLst/>
          </a:prstGeom>
          <a:noFill/>
        </p:spPr>
        <p:txBody>
          <a:bodyPr wrap="square" anchor="ctr" lIns="0" rIns="0" tIns="0" bIns="0">
            <a:spAutoFit/>
          </a:bodyPr>
          <a:lstStyle/>
          <a:p>
            <a:pPr algn="l">
              <a:lnSpc>
                <a:spcPct val="106000"/>
              </a:lnSpc>
              <a:spcBef>
                <a:spcPts val="0"/>
              </a:spcBef>
              <a:spcAft>
                <a:spcPts val="0"/>
              </a:spcAft>
            </a:pPr>
            <a:r>
              <a:rPr sz="1200" b="0">
                <a:solidFill>
                  <a:srgbClr val="1A1A1A"/>
                </a:solidFill>
                <a:latin typeface="Red Hat Text"/>
              </a:rPr>
              <a:t>Each tag also gets its OWN sub-route (stable-… / candidate-…) to hit a revision directly</a:t>
            </a:r>
          </a:p>
        </p:txBody>
      </p:sp>
      <p:sp>
        <p:nvSpPr>
          <p:cNvPr id="12" name="Rounded Rectangle 11"/>
          <p:cNvSpPr/>
          <p:nvPr/>
        </p:nvSpPr>
        <p:spPr>
          <a:xfrm>
            <a:off x="841248" y="3602736"/>
            <a:ext cx="5715000" cy="530352"/>
          </a:xfrm>
          <a:prstGeom prst="roundRect">
            <a:avLst>
              <a:gd name="adj" fmla="val 6000"/>
            </a:avLst>
          </a:prstGeom>
          <a:solidFill>
            <a:srgbClr val="F5F6F8"/>
          </a:solidFill>
          <a:ln w="12700">
            <a:solidFill>
              <a:srgbClr val="DDE1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3" name="Picture 12" descr="check_steel.png"/>
          <p:cNvPicPr>
            <a:picLocks noChangeAspect="1"/>
          </p:cNvPicPr>
          <p:nvPr/>
        </p:nvPicPr>
        <p:blipFill>
          <a:blip r:embed="rId3"/>
          <a:stretch>
            <a:fillRect/>
          </a:stretch>
        </p:blipFill>
        <p:spPr>
          <a:xfrm>
            <a:off x="987552" y="3749040"/>
            <a:ext cx="237744" cy="237744"/>
          </a:xfrm>
          <a:prstGeom prst="rect">
            <a:avLst/>
          </a:prstGeom>
        </p:spPr>
      </p:pic>
      <p:sp>
        <p:nvSpPr>
          <p:cNvPr id="14" name="TextBox 13"/>
          <p:cNvSpPr txBox="1"/>
          <p:nvPr/>
        </p:nvSpPr>
        <p:spPr>
          <a:xfrm>
            <a:off x="1353312" y="3602736"/>
            <a:ext cx="5029200" cy="530352"/>
          </a:xfrm>
          <a:prstGeom prst="rect">
            <a:avLst/>
          </a:prstGeom>
          <a:noFill/>
        </p:spPr>
        <p:txBody>
          <a:bodyPr wrap="square" anchor="ctr" lIns="0" rIns="0" tIns="0" bIns="0">
            <a:spAutoFit/>
          </a:bodyPr>
          <a:lstStyle/>
          <a:p>
            <a:pPr algn="l">
              <a:lnSpc>
                <a:spcPct val="106000"/>
              </a:lnSpc>
              <a:spcBef>
                <a:spcPts val="0"/>
              </a:spcBef>
              <a:spcAft>
                <a:spcPts val="0"/>
              </a:spcAft>
            </a:pPr>
            <a:r>
              <a:rPr sz="1200" b="0">
                <a:solidFill>
                  <a:srgbClr val="1A1A1A"/>
                </a:solidFill>
                <a:latin typeface="Red Hat Text"/>
              </a:rPr>
              <a:t>Rollback = send 100% back to stable, in one line (candidate stays, ready to re-weight)</a:t>
            </a:r>
          </a:p>
        </p:txBody>
      </p:sp>
      <p:sp>
        <p:nvSpPr>
          <p:cNvPr id="15" name="Rounded Rectangle 14"/>
          <p:cNvSpPr/>
          <p:nvPr/>
        </p:nvSpPr>
        <p:spPr>
          <a:xfrm>
            <a:off x="841248" y="4206240"/>
            <a:ext cx="5715000" cy="530352"/>
          </a:xfrm>
          <a:prstGeom prst="roundRect">
            <a:avLst>
              <a:gd name="adj" fmla="val 6000"/>
            </a:avLst>
          </a:prstGeom>
          <a:solidFill>
            <a:srgbClr val="F5F6F8"/>
          </a:solidFill>
          <a:ln w="12700">
            <a:solidFill>
              <a:srgbClr val="DDE1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6" name="Picture 15" descr="check_steel.png"/>
          <p:cNvPicPr>
            <a:picLocks noChangeAspect="1"/>
          </p:cNvPicPr>
          <p:nvPr/>
        </p:nvPicPr>
        <p:blipFill>
          <a:blip r:embed="rId3"/>
          <a:stretch>
            <a:fillRect/>
          </a:stretch>
        </p:blipFill>
        <p:spPr>
          <a:xfrm>
            <a:off x="987552" y="4352544"/>
            <a:ext cx="237744" cy="237744"/>
          </a:xfrm>
          <a:prstGeom prst="rect">
            <a:avLst/>
          </a:prstGeom>
        </p:spPr>
      </p:pic>
      <p:sp>
        <p:nvSpPr>
          <p:cNvPr id="17" name="TextBox 16"/>
          <p:cNvSpPr txBox="1"/>
          <p:nvPr/>
        </p:nvSpPr>
        <p:spPr>
          <a:xfrm>
            <a:off x="1353312" y="4206240"/>
            <a:ext cx="5029200" cy="530352"/>
          </a:xfrm>
          <a:prstGeom prst="rect">
            <a:avLst/>
          </a:prstGeom>
          <a:noFill/>
        </p:spPr>
        <p:txBody>
          <a:bodyPr wrap="square" anchor="ctr" lIns="0" rIns="0" tIns="0" bIns="0">
            <a:spAutoFit/>
          </a:bodyPr>
          <a:lstStyle/>
          <a:p>
            <a:pPr algn="l">
              <a:lnSpc>
                <a:spcPct val="106000"/>
              </a:lnSpc>
              <a:spcBef>
                <a:spcPts val="0"/>
              </a:spcBef>
              <a:spcAft>
                <a:spcPts val="0"/>
              </a:spcAft>
            </a:pPr>
            <a:r>
              <a:rPr sz="1200" b="0">
                <a:solidFill>
                  <a:srgbClr val="1A1A1A"/>
                </a:solidFill>
                <a:latin typeface="Red Hat Text"/>
              </a:rPr>
              <a:t>Third traffic-shift tool: Argo Rollouts (GitOps at Scale), service mesh (Service Mesh), Knative revisions (here)</a:t>
            </a:r>
          </a:p>
        </p:txBody>
      </p:sp>
      <p:sp>
        <p:nvSpPr>
          <p:cNvPr id="18" name="Rounded Rectangle 17"/>
          <p:cNvSpPr/>
          <p:nvPr/>
        </p:nvSpPr>
        <p:spPr>
          <a:xfrm>
            <a:off x="841248" y="4809744"/>
            <a:ext cx="5715000" cy="530352"/>
          </a:xfrm>
          <a:prstGeom prst="roundRect">
            <a:avLst>
              <a:gd name="adj" fmla="val 6000"/>
            </a:avLst>
          </a:prstGeom>
          <a:solidFill>
            <a:srgbClr val="F5F6F8"/>
          </a:solidFill>
          <a:ln w="12700">
            <a:solidFill>
              <a:srgbClr val="DDE1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9" name="Picture 18" descr="check_steel.png"/>
          <p:cNvPicPr>
            <a:picLocks noChangeAspect="1"/>
          </p:cNvPicPr>
          <p:nvPr/>
        </p:nvPicPr>
        <p:blipFill>
          <a:blip r:embed="rId3"/>
          <a:stretch>
            <a:fillRect/>
          </a:stretch>
        </p:blipFill>
        <p:spPr>
          <a:xfrm>
            <a:off x="987552" y="4956048"/>
            <a:ext cx="237744" cy="237744"/>
          </a:xfrm>
          <a:prstGeom prst="rect">
            <a:avLst/>
          </a:prstGeom>
        </p:spPr>
      </p:pic>
      <p:sp>
        <p:nvSpPr>
          <p:cNvPr id="20" name="TextBox 19"/>
          <p:cNvSpPr txBox="1"/>
          <p:nvPr/>
        </p:nvSpPr>
        <p:spPr>
          <a:xfrm>
            <a:off x="1353312" y="4809744"/>
            <a:ext cx="5029200" cy="530352"/>
          </a:xfrm>
          <a:prstGeom prst="rect">
            <a:avLst/>
          </a:prstGeom>
          <a:noFill/>
        </p:spPr>
        <p:txBody>
          <a:bodyPr wrap="square" anchor="ctr" lIns="0" rIns="0" tIns="0" bIns="0">
            <a:spAutoFit/>
          </a:bodyPr>
          <a:lstStyle/>
          <a:p>
            <a:pPr algn="l">
              <a:lnSpc>
                <a:spcPct val="106000"/>
              </a:lnSpc>
              <a:spcBef>
                <a:spcPts val="0"/>
              </a:spcBef>
              <a:spcAft>
                <a:spcPts val="0"/>
              </a:spcAft>
            </a:pPr>
            <a:r>
              <a:rPr sz="1200" b="0">
                <a:solidFill>
                  <a:srgbClr val="1A1A1A"/>
                </a:solidFill>
                <a:latin typeface="Red Hat Text"/>
              </a:rPr>
              <a:t>Reach for Knative's when the workload is already a ksvc</a:t>
            </a:r>
          </a:p>
        </p:txBody>
      </p:sp>
      <p:sp>
        <p:nvSpPr>
          <p:cNvPr id="21" name="Rounded Rectangle 20"/>
          <p:cNvSpPr/>
          <p:nvPr/>
        </p:nvSpPr>
        <p:spPr>
          <a:xfrm>
            <a:off x="6812280" y="2395728"/>
            <a:ext cx="4538167" cy="2944368"/>
          </a:xfrm>
          <a:prstGeom prst="roundRect">
            <a:avLst>
              <a:gd name="adj" fmla="val 4000"/>
            </a:avLst>
          </a:prstGeom>
          <a:solidFill>
            <a:srgbClr val="FFFFFF"/>
          </a:solidFill>
          <a:ln w="15240">
            <a:solidFill>
              <a:srgbClr val="DDE1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ounded Rectangle 21"/>
          <p:cNvSpPr/>
          <p:nvPr/>
        </p:nvSpPr>
        <p:spPr>
          <a:xfrm>
            <a:off x="7013448" y="2596896"/>
            <a:ext cx="1298448" cy="310896"/>
          </a:xfrm>
          <a:prstGeom prst="roundRect">
            <a:avLst>
              <a:gd name="adj" fmla="val 50000"/>
            </a:avLst>
          </a:prstGeom>
          <a:solidFill>
            <a:srgbClr val="FCEC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7013448" y="2596896"/>
            <a:ext cx="1298448" cy="310896"/>
          </a:xfrm>
          <a:prstGeom prst="rect">
            <a:avLst/>
          </a:prstGeom>
          <a:noFill/>
        </p:spPr>
        <p:txBody>
          <a:bodyPr wrap="none" anchor="ctr" lIns="0" rIns="0" tIns="0" bIns="0">
            <a:spAutoFit/>
          </a:bodyPr>
          <a:lstStyle/>
          <a:p>
            <a:pPr algn="ctr">
              <a:lnSpc>
                <a:spcPct val="106000"/>
              </a:lnSpc>
              <a:spcBef>
                <a:spcPts val="0"/>
              </a:spcBef>
              <a:spcAft>
                <a:spcPts val="0"/>
              </a:spcAft>
            </a:pPr>
            <a:r>
              <a:rPr sz="850" b="1">
                <a:solidFill>
                  <a:srgbClr val="B80000"/>
                </a:solidFill>
                <a:latin typeface="Red Hat Display"/>
              </a:rPr>
              <a:t>MEDIA PASS</a:t>
            </a:r>
          </a:p>
        </p:txBody>
      </p:sp>
      <p:pic>
        <p:nvPicPr>
          <p:cNvPr id="24" name="Picture 23" descr="eye_slate.png"/>
          <p:cNvPicPr>
            <a:picLocks noChangeAspect="1"/>
          </p:cNvPicPr>
          <p:nvPr/>
        </p:nvPicPr>
        <p:blipFill>
          <a:blip r:embed="rId4"/>
          <a:stretch>
            <a:fillRect/>
          </a:stretch>
        </p:blipFill>
        <p:spPr>
          <a:xfrm>
            <a:off x="8843619" y="3108960"/>
            <a:ext cx="475488" cy="475488"/>
          </a:xfrm>
          <a:prstGeom prst="rect">
            <a:avLst/>
          </a:prstGeom>
        </p:spPr>
      </p:pic>
      <p:sp>
        <p:nvSpPr>
          <p:cNvPr id="25" name="TextBox 24"/>
          <p:cNvSpPr txBox="1"/>
          <p:nvPr/>
        </p:nvSpPr>
        <p:spPr>
          <a:xfrm>
            <a:off x="7050024" y="3721608"/>
            <a:ext cx="4062679" cy="1481328"/>
          </a:xfrm>
          <a:prstGeom prst="rect">
            <a:avLst/>
          </a:prstGeom>
          <a:noFill/>
        </p:spPr>
        <p:txBody>
          <a:bodyPr wrap="square" anchor="t" lIns="0" rIns="0" tIns="0" bIns="0">
            <a:spAutoFit/>
          </a:bodyPr>
          <a:lstStyle/>
          <a:p>
            <a:pPr algn="l">
              <a:lnSpc>
                <a:spcPct val="120000"/>
              </a:lnSpc>
              <a:spcBef>
                <a:spcPts val="0"/>
              </a:spcBef>
              <a:spcAft>
                <a:spcPts val="0"/>
              </a:spcAft>
            </a:pPr>
            <a:r>
              <a:rPr sz="950" b="0">
                <a:solidFill>
                  <a:srgbClr val="8A9099"/>
                </a:solidFill>
                <a:latin typeface="Red Hat Text"/>
              </a:rPr>
              <a:t>The ksvc Route fanning to a fat 80% arrow (v1 #stable) and a thin 20% arrow (v2 #candidate), each tag with its own sub-route chip; a small "rollback: stable=100 (one line)" callout; a footnote comparing GitOps at Scale Rollouts / Service Mesh mesh / here.</a:t>
            </a:r>
          </a:p>
        </p:txBody>
      </p:sp>
      <p:cxnSp>
        <p:nvCxnSpPr>
          <p:cNvPr id="26" name="Connector 25"/>
          <p:cNvCxnSpPr/>
          <p:nvPr/>
        </p:nvCxnSpPr>
        <p:spPr>
          <a:xfrm>
            <a:off x="841248" y="6437376"/>
            <a:ext cx="10509199" cy="0"/>
          </a:xfrm>
          <a:prstGeom prst="bentConnector3">
            <a:avLst/>
          </a:prstGeom>
          <a:ln w="12700">
            <a:solidFill>
              <a:srgbClr val="DDE1E6"/>
            </a:solidFill>
          </a:ln>
          <a:effectLst/>
        </p:spPr>
        <p:style>
          <a:lnRef idx="2">
            <a:schemeClr val="accent1"/>
          </a:lnRef>
          <a:fillRef idx="0">
            <a:schemeClr val="accent1"/>
          </a:fillRef>
          <a:effectRef idx="1">
            <a:schemeClr val="accent1"/>
          </a:effectRef>
          <a:fontRef idx="minor">
            <a:schemeClr val="tx1"/>
          </a:fontRef>
        </p:style>
      </p:cxnSp>
      <p:sp>
        <p:nvSpPr>
          <p:cNvPr id="27" name="TextBox 26"/>
          <p:cNvSpPr txBox="1"/>
          <p:nvPr/>
        </p:nvSpPr>
        <p:spPr>
          <a:xfrm>
            <a:off x="841248" y="6473952"/>
            <a:ext cx="7315200" cy="274320"/>
          </a:xfrm>
          <a:prstGeom prst="rect">
            <a:avLst/>
          </a:prstGeom>
          <a:noFill/>
        </p:spPr>
        <p:txBody>
          <a:bodyPr wrap="square" anchor="t" lIns="0" rIns="0" tIns="0" bIns="0">
            <a:spAutoFit/>
          </a:bodyPr>
          <a:lstStyle/>
          <a:p>
            <a:pPr algn="l">
              <a:lnSpc>
                <a:spcPct val="106000"/>
              </a:lnSpc>
              <a:spcBef>
                <a:spcPts val="0"/>
              </a:spcBef>
              <a:spcAft>
                <a:spcPts val="0"/>
              </a:spcAft>
            </a:pPr>
            <a:r>
              <a:rPr sz="950" b="0">
                <a:solidFill>
                  <a:srgbClr val="8A9099"/>
                </a:solidFill>
                <a:latin typeface="Red Hat Text"/>
              </a:rPr>
              <a:t>CONFIDENTIAL</a:t>
            </a:r>
          </a:p>
        </p:txBody>
      </p:sp>
      <p:sp>
        <p:nvSpPr>
          <p:cNvPr id="28" name="TextBox 27"/>
          <p:cNvSpPr txBox="1"/>
          <p:nvPr/>
        </p:nvSpPr>
        <p:spPr>
          <a:xfrm>
            <a:off x="10801807" y="6473952"/>
            <a:ext cx="548640" cy="274320"/>
          </a:xfrm>
          <a:prstGeom prst="rect">
            <a:avLst/>
          </a:prstGeom>
          <a:noFill/>
        </p:spPr>
        <p:txBody>
          <a:bodyPr wrap="square" anchor="t" lIns="0" rIns="0" tIns="0" bIns="0">
            <a:spAutoFit/>
          </a:bodyPr>
          <a:lstStyle/>
          <a:p>
            <a:pPr algn="r">
              <a:lnSpc>
                <a:spcPct val="106000"/>
              </a:lnSpc>
              <a:spcBef>
                <a:spcPts val="0"/>
              </a:spcBef>
              <a:spcAft>
                <a:spcPts val="0"/>
              </a:spcAft>
            </a:pPr>
            <a:r>
              <a:rPr sz="950" b="0">
                <a:solidFill>
                  <a:srgbClr val="8A9099"/>
                </a:solidFill>
                <a:latin typeface="Red Hat Text"/>
              </a:rPr>
              <a:t>147</a:t>
            </a:r>
          </a:p>
        </p:txBody>
      </p:sp>
    </p:spTree>
  </p:cSld>
  <p:clrMapOvr>
    <a:masterClrMapping/>
  </p:clrMapOvr>
</p:sld>
</file>

<file path=ppt/slides/slide16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redhat_logo.jpg"/>
          <p:cNvPicPr>
            <a:picLocks noChangeAspect="1"/>
          </p:cNvPicPr>
          <p:nvPr/>
        </p:nvPicPr>
        <p:blipFill>
          <a:blip r:embed="rId2"/>
          <a:stretch>
            <a:fillRect/>
          </a:stretch>
        </p:blipFill>
        <p:spPr>
          <a:xfrm>
            <a:off x="10326319" y="475488"/>
            <a:ext cx="1024128" cy="242248"/>
          </a:xfrm>
          <a:prstGeom prst="rect">
            <a:avLst/>
          </a:prstGeom>
        </p:spPr>
      </p:pic>
      <p:sp>
        <p:nvSpPr>
          <p:cNvPr id="3" name="TextBox 2"/>
          <p:cNvSpPr txBox="1"/>
          <p:nvPr/>
        </p:nvSpPr>
        <p:spPr>
          <a:xfrm>
            <a:off x="841248" y="548640"/>
            <a:ext cx="8595360" cy="274320"/>
          </a:xfrm>
          <a:prstGeom prst="rect">
            <a:avLst/>
          </a:prstGeom>
          <a:noFill/>
        </p:spPr>
        <p:txBody>
          <a:bodyPr wrap="square" anchor="t" lIns="0" rIns="0" tIns="0" bIns="0">
            <a:spAutoFit/>
          </a:bodyPr>
          <a:lstStyle/>
          <a:p>
            <a:pPr algn="l">
              <a:lnSpc>
                <a:spcPct val="106000"/>
              </a:lnSpc>
              <a:spcBef>
                <a:spcPts val="0"/>
              </a:spcBef>
              <a:spcAft>
                <a:spcPts val="0"/>
              </a:spcAft>
            </a:pPr>
            <a:r>
              <a:rPr sz="1250" b="1" spc="220">
                <a:solidFill>
                  <a:srgbClr val="EE0000"/>
                </a:solidFill>
                <a:latin typeface="Red Hat Display"/>
              </a:rPr>
              <a:t>M20 · SERVERLESS ZERO-TO-HERO</a:t>
            </a:r>
          </a:p>
        </p:txBody>
      </p:sp>
      <p:sp>
        <p:nvSpPr>
          <p:cNvPr id="4" name="TextBox 3"/>
          <p:cNvSpPr txBox="1"/>
          <p:nvPr/>
        </p:nvSpPr>
        <p:spPr>
          <a:xfrm>
            <a:off x="841248" y="877824"/>
            <a:ext cx="10515600" cy="548640"/>
          </a:xfrm>
          <a:prstGeom prst="rect">
            <a:avLst/>
          </a:prstGeom>
          <a:noFill/>
        </p:spPr>
        <p:txBody>
          <a:bodyPr wrap="none" anchor="t" lIns="0" rIns="0" tIns="0" bIns="0">
            <a:spAutoFit/>
          </a:bodyPr>
          <a:lstStyle/>
          <a:p>
            <a:pPr algn="l">
              <a:lnSpc>
                <a:spcPct val="100000"/>
              </a:lnSpc>
              <a:spcBef>
                <a:spcPts val="0"/>
              </a:spcBef>
              <a:spcAft>
                <a:spcPts val="0"/>
              </a:spcAft>
            </a:pPr>
            <a:r>
              <a:rPr sz="2500" b="1">
                <a:solidFill>
                  <a:srgbClr val="1A1A1A"/>
                </a:solidFill>
                <a:latin typeface="Red Hat Display"/>
              </a:rPr>
              <a:t>A taste of eventing</a:t>
            </a:r>
          </a:p>
        </p:txBody>
      </p:sp>
      <p:cxnSp>
        <p:nvCxnSpPr>
          <p:cNvPr id="5" name="Connector 4"/>
          <p:cNvCxnSpPr/>
          <p:nvPr/>
        </p:nvCxnSpPr>
        <p:spPr>
          <a:xfrm>
            <a:off x="841248" y="1554480"/>
            <a:ext cx="1371600" cy="0"/>
          </a:xfrm>
          <a:prstGeom prst="bentConnector3">
            <a:avLst/>
          </a:prstGeom>
          <a:ln w="31750">
            <a:solidFill>
              <a:srgbClr val="EE0000"/>
            </a:solidFill>
          </a:ln>
          <a:effectLst/>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841248" y="1664208"/>
            <a:ext cx="10515600" cy="365760"/>
          </a:xfrm>
          <a:prstGeom prst="rect">
            <a:avLst/>
          </a:prstGeom>
          <a:noFill/>
        </p:spPr>
        <p:txBody>
          <a:bodyPr wrap="square" anchor="t" lIns="0" rIns="0" tIns="0" bIns="0">
            <a:spAutoFit/>
          </a:bodyPr>
          <a:lstStyle/>
          <a:p>
            <a:pPr algn="l">
              <a:lnSpc>
                <a:spcPct val="106000"/>
              </a:lnSpc>
              <a:spcBef>
                <a:spcPts val="0"/>
              </a:spcBef>
              <a:spcAft>
                <a:spcPts val="0"/>
              </a:spcAft>
            </a:pPr>
            <a:r>
              <a:rPr sz="1350" b="0">
                <a:solidFill>
                  <a:srgbClr val="555960"/>
                </a:solidFill>
                <a:latin typeface="Red Hat Text"/>
              </a:rPr>
              <a:t>source → broker → trigger</a:t>
            </a:r>
          </a:p>
        </p:txBody>
      </p:sp>
      <p:sp>
        <p:nvSpPr>
          <p:cNvPr id="7" name="Rounded Rectangle 6"/>
          <p:cNvSpPr/>
          <p:nvPr/>
        </p:nvSpPr>
        <p:spPr>
          <a:xfrm>
            <a:off x="841248" y="2670048"/>
            <a:ext cx="5715000" cy="530352"/>
          </a:xfrm>
          <a:prstGeom prst="roundRect">
            <a:avLst>
              <a:gd name="adj" fmla="val 6000"/>
            </a:avLst>
          </a:prstGeom>
          <a:solidFill>
            <a:srgbClr val="F5F6F8"/>
          </a:solidFill>
          <a:ln w="12700">
            <a:solidFill>
              <a:srgbClr val="DDE1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check_steel.png"/>
          <p:cNvPicPr>
            <a:picLocks noChangeAspect="1"/>
          </p:cNvPicPr>
          <p:nvPr/>
        </p:nvPicPr>
        <p:blipFill>
          <a:blip r:embed="rId3"/>
          <a:stretch>
            <a:fillRect/>
          </a:stretch>
        </p:blipFill>
        <p:spPr>
          <a:xfrm>
            <a:off x="987552" y="2816352"/>
            <a:ext cx="237744" cy="237744"/>
          </a:xfrm>
          <a:prstGeom prst="rect">
            <a:avLst/>
          </a:prstGeom>
        </p:spPr>
      </p:pic>
      <p:sp>
        <p:nvSpPr>
          <p:cNvPr id="9" name="TextBox 8"/>
          <p:cNvSpPr txBox="1"/>
          <p:nvPr/>
        </p:nvSpPr>
        <p:spPr>
          <a:xfrm>
            <a:off x="1353312" y="2670048"/>
            <a:ext cx="5029200" cy="530352"/>
          </a:xfrm>
          <a:prstGeom prst="rect">
            <a:avLst/>
          </a:prstGeom>
          <a:noFill/>
        </p:spPr>
        <p:txBody>
          <a:bodyPr wrap="square" anchor="ctr" lIns="0" rIns="0" tIns="0" bIns="0">
            <a:spAutoFit/>
          </a:bodyPr>
          <a:lstStyle/>
          <a:p>
            <a:pPr algn="l">
              <a:lnSpc>
                <a:spcPct val="106000"/>
              </a:lnSpc>
              <a:spcBef>
                <a:spcPts val="0"/>
              </a:spcBef>
              <a:spcAft>
                <a:spcPts val="0"/>
              </a:spcAft>
            </a:pPr>
            <a:r>
              <a:rPr sz="1200" b="0">
                <a:solidFill>
                  <a:srgbClr val="1A1A1A"/>
                </a:solidFill>
                <a:latin typeface="Red Hat Text"/>
              </a:rPr>
              <a:t>Request-driven so far; eventing adds EVENT-driven delivery</a:t>
            </a:r>
          </a:p>
        </p:txBody>
      </p:sp>
      <p:sp>
        <p:nvSpPr>
          <p:cNvPr id="10" name="Rounded Rectangle 9"/>
          <p:cNvSpPr/>
          <p:nvPr/>
        </p:nvSpPr>
        <p:spPr>
          <a:xfrm>
            <a:off x="841248" y="3273552"/>
            <a:ext cx="5715000" cy="530352"/>
          </a:xfrm>
          <a:prstGeom prst="roundRect">
            <a:avLst>
              <a:gd name="adj" fmla="val 6000"/>
            </a:avLst>
          </a:prstGeom>
          <a:solidFill>
            <a:srgbClr val="F5F6F8"/>
          </a:solidFill>
          <a:ln w="12700">
            <a:solidFill>
              <a:srgbClr val="DDE1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1" name="Picture 10" descr="check_steel.png"/>
          <p:cNvPicPr>
            <a:picLocks noChangeAspect="1"/>
          </p:cNvPicPr>
          <p:nvPr/>
        </p:nvPicPr>
        <p:blipFill>
          <a:blip r:embed="rId3"/>
          <a:stretch>
            <a:fillRect/>
          </a:stretch>
        </p:blipFill>
        <p:spPr>
          <a:xfrm>
            <a:off x="987552" y="3419856"/>
            <a:ext cx="237744" cy="237744"/>
          </a:xfrm>
          <a:prstGeom prst="rect">
            <a:avLst/>
          </a:prstGeom>
        </p:spPr>
      </p:pic>
      <p:sp>
        <p:nvSpPr>
          <p:cNvPr id="12" name="TextBox 11"/>
          <p:cNvSpPr txBox="1"/>
          <p:nvPr/>
        </p:nvSpPr>
        <p:spPr>
          <a:xfrm>
            <a:off x="1353312" y="3273552"/>
            <a:ext cx="5029200" cy="530352"/>
          </a:xfrm>
          <a:prstGeom prst="rect">
            <a:avLst/>
          </a:prstGeom>
          <a:noFill/>
        </p:spPr>
        <p:txBody>
          <a:bodyPr wrap="square" anchor="ctr" lIns="0" rIns="0" tIns="0" bIns="0">
            <a:spAutoFit/>
          </a:bodyPr>
          <a:lstStyle/>
          <a:p>
            <a:pPr algn="l">
              <a:lnSpc>
                <a:spcPct val="106000"/>
              </a:lnSpc>
              <a:spcBef>
                <a:spcPts val="0"/>
              </a:spcBef>
              <a:spcAft>
                <a:spcPts val="0"/>
              </a:spcAft>
            </a:pPr>
            <a:r>
              <a:rPr sz="1200" b="0">
                <a:solidFill>
                  <a:srgbClr val="1A1A1A"/>
                </a:solidFill>
                <a:latin typeface="Red Hat Text"/>
              </a:rPr>
              <a:t>Source (PingSource) → Broker (in-memory) → Trigger → ksvc sink</a:t>
            </a:r>
          </a:p>
        </p:txBody>
      </p:sp>
      <p:sp>
        <p:nvSpPr>
          <p:cNvPr id="13" name="Rounded Rectangle 12"/>
          <p:cNvSpPr/>
          <p:nvPr/>
        </p:nvSpPr>
        <p:spPr>
          <a:xfrm>
            <a:off x="841248" y="3877056"/>
            <a:ext cx="5715000" cy="530352"/>
          </a:xfrm>
          <a:prstGeom prst="roundRect">
            <a:avLst>
              <a:gd name="adj" fmla="val 6000"/>
            </a:avLst>
          </a:prstGeom>
          <a:solidFill>
            <a:srgbClr val="F5F6F8"/>
          </a:solidFill>
          <a:ln w="12700">
            <a:solidFill>
              <a:srgbClr val="DDE1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4" name="Picture 13" descr="check_steel.png"/>
          <p:cNvPicPr>
            <a:picLocks noChangeAspect="1"/>
          </p:cNvPicPr>
          <p:nvPr/>
        </p:nvPicPr>
        <p:blipFill>
          <a:blip r:embed="rId3"/>
          <a:stretch>
            <a:fillRect/>
          </a:stretch>
        </p:blipFill>
        <p:spPr>
          <a:xfrm>
            <a:off x="987552" y="4023360"/>
            <a:ext cx="237744" cy="237744"/>
          </a:xfrm>
          <a:prstGeom prst="rect">
            <a:avLst/>
          </a:prstGeom>
        </p:spPr>
      </p:pic>
      <p:sp>
        <p:nvSpPr>
          <p:cNvPr id="15" name="TextBox 14"/>
          <p:cNvSpPr txBox="1"/>
          <p:nvPr/>
        </p:nvSpPr>
        <p:spPr>
          <a:xfrm>
            <a:off x="1353312" y="3877056"/>
            <a:ext cx="5029200" cy="530352"/>
          </a:xfrm>
          <a:prstGeom prst="rect">
            <a:avLst/>
          </a:prstGeom>
          <a:noFill/>
        </p:spPr>
        <p:txBody>
          <a:bodyPr wrap="square" anchor="ctr" lIns="0" rIns="0" tIns="0" bIns="0">
            <a:spAutoFit/>
          </a:bodyPr>
          <a:lstStyle/>
          <a:p>
            <a:pPr algn="l">
              <a:lnSpc>
                <a:spcPct val="106000"/>
              </a:lnSpc>
              <a:spcBef>
                <a:spcPts val="0"/>
              </a:spcBef>
              <a:spcAft>
                <a:spcPts val="0"/>
              </a:spcAft>
            </a:pPr>
            <a:r>
              <a:rPr sz="1200" b="0">
                <a:solidFill>
                  <a:srgbClr val="1A1A1A"/>
                </a:solidFill>
                <a:latin typeface="Red Hat Text"/>
              </a:rPr>
              <a:t>The event WAKES the service from zero to receive it</a:t>
            </a:r>
          </a:p>
        </p:txBody>
      </p:sp>
      <p:sp>
        <p:nvSpPr>
          <p:cNvPr id="16" name="Rounded Rectangle 15"/>
          <p:cNvSpPr/>
          <p:nvPr/>
        </p:nvSpPr>
        <p:spPr>
          <a:xfrm>
            <a:off x="841248" y="4480560"/>
            <a:ext cx="5715000" cy="530352"/>
          </a:xfrm>
          <a:prstGeom prst="roundRect">
            <a:avLst>
              <a:gd name="adj" fmla="val 6000"/>
            </a:avLst>
          </a:prstGeom>
          <a:solidFill>
            <a:srgbClr val="F5F6F8"/>
          </a:solidFill>
          <a:ln w="12700">
            <a:solidFill>
              <a:srgbClr val="DDE1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7" name="Picture 16" descr="check_steel.png"/>
          <p:cNvPicPr>
            <a:picLocks noChangeAspect="1"/>
          </p:cNvPicPr>
          <p:nvPr/>
        </p:nvPicPr>
        <p:blipFill>
          <a:blip r:embed="rId3"/>
          <a:stretch>
            <a:fillRect/>
          </a:stretch>
        </p:blipFill>
        <p:spPr>
          <a:xfrm>
            <a:off x="987552" y="4626864"/>
            <a:ext cx="237744" cy="237744"/>
          </a:xfrm>
          <a:prstGeom prst="rect">
            <a:avLst/>
          </a:prstGeom>
        </p:spPr>
      </p:pic>
      <p:sp>
        <p:nvSpPr>
          <p:cNvPr id="18" name="TextBox 17"/>
          <p:cNvSpPr txBox="1"/>
          <p:nvPr/>
        </p:nvSpPr>
        <p:spPr>
          <a:xfrm>
            <a:off x="1353312" y="4480560"/>
            <a:ext cx="5029200" cy="530352"/>
          </a:xfrm>
          <a:prstGeom prst="rect">
            <a:avLst/>
          </a:prstGeom>
          <a:noFill/>
        </p:spPr>
        <p:txBody>
          <a:bodyPr wrap="square" anchor="ctr" lIns="0" rIns="0" tIns="0" bIns="0">
            <a:spAutoFit/>
          </a:bodyPr>
          <a:lstStyle/>
          <a:p>
            <a:pPr algn="l">
              <a:lnSpc>
                <a:spcPct val="106000"/>
              </a:lnSpc>
              <a:spcBef>
                <a:spcPts val="0"/>
              </a:spcBef>
              <a:spcAft>
                <a:spcPts val="0"/>
              </a:spcAft>
            </a:pPr>
            <a:r>
              <a:rPr sz="1200" b="0">
                <a:solidFill>
                  <a:srgbClr val="1A1A1A"/>
                </a:solidFill>
                <a:latin typeface="Red Hat Text"/>
              </a:rPr>
              <a:t>Honest boundary: the delivery returns 404 — the app has no CloudEvents handler yet</a:t>
            </a:r>
          </a:p>
        </p:txBody>
      </p:sp>
      <p:sp>
        <p:nvSpPr>
          <p:cNvPr id="19" name="Rounded Rectangle 18"/>
          <p:cNvSpPr/>
          <p:nvPr/>
        </p:nvSpPr>
        <p:spPr>
          <a:xfrm>
            <a:off x="841248" y="5084064"/>
            <a:ext cx="5715000" cy="530352"/>
          </a:xfrm>
          <a:prstGeom prst="roundRect">
            <a:avLst>
              <a:gd name="adj" fmla="val 6000"/>
            </a:avLst>
          </a:prstGeom>
          <a:solidFill>
            <a:srgbClr val="F5F6F8"/>
          </a:solidFill>
          <a:ln w="12700">
            <a:solidFill>
              <a:srgbClr val="DDE1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0" name="Picture 19" descr="check_steel.png"/>
          <p:cNvPicPr>
            <a:picLocks noChangeAspect="1"/>
          </p:cNvPicPr>
          <p:nvPr/>
        </p:nvPicPr>
        <p:blipFill>
          <a:blip r:embed="rId3"/>
          <a:stretch>
            <a:fillRect/>
          </a:stretch>
        </p:blipFill>
        <p:spPr>
          <a:xfrm>
            <a:off x="987552" y="5230368"/>
            <a:ext cx="237744" cy="237744"/>
          </a:xfrm>
          <a:prstGeom prst="rect">
            <a:avLst/>
          </a:prstGeom>
        </p:spPr>
      </p:pic>
      <p:sp>
        <p:nvSpPr>
          <p:cNvPr id="21" name="TextBox 20"/>
          <p:cNvSpPr txBox="1"/>
          <p:nvPr/>
        </p:nvSpPr>
        <p:spPr>
          <a:xfrm>
            <a:off x="1353312" y="5084064"/>
            <a:ext cx="5029200" cy="530352"/>
          </a:xfrm>
          <a:prstGeom prst="rect">
            <a:avLst/>
          </a:prstGeom>
          <a:noFill/>
        </p:spPr>
        <p:txBody>
          <a:bodyPr wrap="square" anchor="ctr" lIns="0" rIns="0" tIns="0" bIns="0">
            <a:spAutoFit/>
          </a:bodyPr>
          <a:lstStyle/>
          <a:p>
            <a:pPr algn="l">
              <a:lnSpc>
                <a:spcPct val="106000"/>
              </a:lnSpc>
              <a:spcBef>
                <a:spcPts val="0"/>
              </a:spcBef>
              <a:spcAft>
                <a:spcPts val="0"/>
              </a:spcAft>
            </a:pPr>
            <a:r>
              <a:rPr sz="1200" b="0">
                <a:solidFill>
                  <a:srgbClr val="1A1A1A"/>
                </a:solidFill>
                <a:latin typeface="Red Hat Text"/>
              </a:rPr>
              <a:t>Wiring + scale-up are REAL; processing the event is Eventing</a:t>
            </a:r>
          </a:p>
        </p:txBody>
      </p:sp>
      <p:sp>
        <p:nvSpPr>
          <p:cNvPr id="22" name="Rounded Rectangle 21"/>
          <p:cNvSpPr/>
          <p:nvPr/>
        </p:nvSpPr>
        <p:spPr>
          <a:xfrm>
            <a:off x="6812280" y="2670048"/>
            <a:ext cx="4538167" cy="2944368"/>
          </a:xfrm>
          <a:prstGeom prst="roundRect">
            <a:avLst>
              <a:gd name="adj" fmla="val 4000"/>
            </a:avLst>
          </a:prstGeom>
          <a:solidFill>
            <a:srgbClr val="FFFFFF"/>
          </a:solidFill>
          <a:ln w="15240">
            <a:solidFill>
              <a:srgbClr val="DDE1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ounded Rectangle 22"/>
          <p:cNvSpPr/>
          <p:nvPr/>
        </p:nvSpPr>
        <p:spPr>
          <a:xfrm>
            <a:off x="7013448" y="2871216"/>
            <a:ext cx="1298448" cy="310896"/>
          </a:xfrm>
          <a:prstGeom prst="roundRect">
            <a:avLst>
              <a:gd name="adj" fmla="val 50000"/>
            </a:avLst>
          </a:prstGeom>
          <a:solidFill>
            <a:srgbClr val="FCEC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7013448" y="2871216"/>
            <a:ext cx="1298448" cy="310896"/>
          </a:xfrm>
          <a:prstGeom prst="rect">
            <a:avLst/>
          </a:prstGeom>
          <a:noFill/>
        </p:spPr>
        <p:txBody>
          <a:bodyPr wrap="none" anchor="ctr" lIns="0" rIns="0" tIns="0" bIns="0">
            <a:spAutoFit/>
          </a:bodyPr>
          <a:lstStyle/>
          <a:p>
            <a:pPr algn="ctr">
              <a:lnSpc>
                <a:spcPct val="106000"/>
              </a:lnSpc>
              <a:spcBef>
                <a:spcPts val="0"/>
              </a:spcBef>
              <a:spcAft>
                <a:spcPts val="0"/>
              </a:spcAft>
            </a:pPr>
            <a:r>
              <a:rPr sz="850" b="1">
                <a:solidFill>
                  <a:srgbClr val="B80000"/>
                </a:solidFill>
                <a:latin typeface="Red Hat Display"/>
              </a:rPr>
              <a:t>MEDIA PASS</a:t>
            </a:r>
          </a:p>
        </p:txBody>
      </p:sp>
      <p:pic>
        <p:nvPicPr>
          <p:cNvPr id="25" name="Picture 24" descr="eye_slate.png"/>
          <p:cNvPicPr>
            <a:picLocks noChangeAspect="1"/>
          </p:cNvPicPr>
          <p:nvPr/>
        </p:nvPicPr>
        <p:blipFill>
          <a:blip r:embed="rId4"/>
          <a:stretch>
            <a:fillRect/>
          </a:stretch>
        </p:blipFill>
        <p:spPr>
          <a:xfrm>
            <a:off x="8843619" y="3383280"/>
            <a:ext cx="475488" cy="475488"/>
          </a:xfrm>
          <a:prstGeom prst="rect">
            <a:avLst/>
          </a:prstGeom>
        </p:spPr>
      </p:pic>
      <p:sp>
        <p:nvSpPr>
          <p:cNvPr id="26" name="TextBox 25"/>
          <p:cNvSpPr txBox="1"/>
          <p:nvPr/>
        </p:nvSpPr>
        <p:spPr>
          <a:xfrm>
            <a:off x="7050024" y="3995928"/>
            <a:ext cx="4062679" cy="1481328"/>
          </a:xfrm>
          <a:prstGeom prst="rect">
            <a:avLst/>
          </a:prstGeom>
          <a:noFill/>
        </p:spPr>
        <p:txBody>
          <a:bodyPr wrap="square" anchor="t" lIns="0" rIns="0" tIns="0" bIns="0">
            <a:spAutoFit/>
          </a:bodyPr>
          <a:lstStyle/>
          <a:p>
            <a:pPr algn="l">
              <a:lnSpc>
                <a:spcPct val="120000"/>
              </a:lnSpc>
              <a:spcBef>
                <a:spcPts val="0"/>
              </a:spcBef>
              <a:spcAft>
                <a:spcPts val="0"/>
              </a:spcAft>
            </a:pPr>
            <a:r>
              <a:rPr sz="950" b="0">
                <a:solidFill>
                  <a:srgbClr val="8A9099"/>
                </a:solidFill>
                <a:latin typeface="Red Hat Text"/>
              </a:rPr>
              <a:t>PingSource → Broker (in-memory) → Trigger → ksvc, with a lightning bolt on the ksvc "wakes from zero" and a callout on the delivery edge "HTTP 404 — no handler yet → Eventing"; the whole panel tinted as a "taste" with a forward-pointer to the eventing module.</a:t>
            </a:r>
          </a:p>
        </p:txBody>
      </p:sp>
      <p:cxnSp>
        <p:nvCxnSpPr>
          <p:cNvPr id="27" name="Connector 26"/>
          <p:cNvCxnSpPr/>
          <p:nvPr/>
        </p:nvCxnSpPr>
        <p:spPr>
          <a:xfrm>
            <a:off x="841248" y="6437376"/>
            <a:ext cx="10509199" cy="0"/>
          </a:xfrm>
          <a:prstGeom prst="bentConnector3">
            <a:avLst/>
          </a:prstGeom>
          <a:ln w="12700">
            <a:solidFill>
              <a:srgbClr val="DDE1E6"/>
            </a:solidFill>
          </a:ln>
          <a:effectLst/>
        </p:spPr>
        <p:style>
          <a:lnRef idx="2">
            <a:schemeClr val="accent1"/>
          </a:lnRef>
          <a:fillRef idx="0">
            <a:schemeClr val="accent1"/>
          </a:fillRef>
          <a:effectRef idx="1">
            <a:schemeClr val="accent1"/>
          </a:effectRef>
          <a:fontRef idx="minor">
            <a:schemeClr val="tx1"/>
          </a:fontRef>
        </p:style>
      </p:cxnSp>
      <p:sp>
        <p:nvSpPr>
          <p:cNvPr id="28" name="TextBox 27"/>
          <p:cNvSpPr txBox="1"/>
          <p:nvPr/>
        </p:nvSpPr>
        <p:spPr>
          <a:xfrm>
            <a:off x="841248" y="6473952"/>
            <a:ext cx="7315200" cy="274320"/>
          </a:xfrm>
          <a:prstGeom prst="rect">
            <a:avLst/>
          </a:prstGeom>
          <a:noFill/>
        </p:spPr>
        <p:txBody>
          <a:bodyPr wrap="square" anchor="t" lIns="0" rIns="0" tIns="0" bIns="0">
            <a:spAutoFit/>
          </a:bodyPr>
          <a:lstStyle/>
          <a:p>
            <a:pPr algn="l">
              <a:lnSpc>
                <a:spcPct val="106000"/>
              </a:lnSpc>
              <a:spcBef>
                <a:spcPts val="0"/>
              </a:spcBef>
              <a:spcAft>
                <a:spcPts val="0"/>
              </a:spcAft>
            </a:pPr>
            <a:r>
              <a:rPr sz="950" b="0">
                <a:solidFill>
                  <a:srgbClr val="8A9099"/>
                </a:solidFill>
                <a:latin typeface="Red Hat Text"/>
              </a:rPr>
              <a:t>CONFIDENTIAL</a:t>
            </a:r>
          </a:p>
        </p:txBody>
      </p:sp>
      <p:sp>
        <p:nvSpPr>
          <p:cNvPr id="29" name="TextBox 28"/>
          <p:cNvSpPr txBox="1"/>
          <p:nvPr/>
        </p:nvSpPr>
        <p:spPr>
          <a:xfrm>
            <a:off x="10801807" y="6473952"/>
            <a:ext cx="548640" cy="274320"/>
          </a:xfrm>
          <a:prstGeom prst="rect">
            <a:avLst/>
          </a:prstGeom>
          <a:noFill/>
        </p:spPr>
        <p:txBody>
          <a:bodyPr wrap="square" anchor="t" lIns="0" rIns="0" tIns="0" bIns="0">
            <a:spAutoFit/>
          </a:bodyPr>
          <a:lstStyle/>
          <a:p>
            <a:pPr algn="r">
              <a:lnSpc>
                <a:spcPct val="106000"/>
              </a:lnSpc>
              <a:spcBef>
                <a:spcPts val="0"/>
              </a:spcBef>
              <a:spcAft>
                <a:spcPts val="0"/>
              </a:spcAft>
            </a:pPr>
            <a:r>
              <a:rPr sz="950" b="0">
                <a:solidFill>
                  <a:srgbClr val="8A9099"/>
                </a:solidFill>
                <a:latin typeface="Red Hat Text"/>
              </a:rPr>
              <a:t>148</a:t>
            </a:r>
          </a:p>
        </p:txBody>
      </p:sp>
    </p:spTree>
  </p:cSld>
  <p:clrMapOvr>
    <a:masterClrMapping/>
  </p:clrMapOvr>
</p:sld>
</file>

<file path=ppt/slides/slide16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redhat_logo.jpg"/>
          <p:cNvPicPr>
            <a:picLocks noChangeAspect="1"/>
          </p:cNvPicPr>
          <p:nvPr/>
        </p:nvPicPr>
        <p:blipFill>
          <a:blip r:embed="rId2"/>
          <a:stretch>
            <a:fillRect/>
          </a:stretch>
        </p:blipFill>
        <p:spPr>
          <a:xfrm>
            <a:off x="10326319" y="475488"/>
            <a:ext cx="1024128" cy="242248"/>
          </a:xfrm>
          <a:prstGeom prst="rect">
            <a:avLst/>
          </a:prstGeom>
        </p:spPr>
      </p:pic>
      <p:sp>
        <p:nvSpPr>
          <p:cNvPr id="3" name="TextBox 2"/>
          <p:cNvSpPr txBox="1"/>
          <p:nvPr/>
        </p:nvSpPr>
        <p:spPr>
          <a:xfrm>
            <a:off x="841248" y="548640"/>
            <a:ext cx="8595360" cy="274320"/>
          </a:xfrm>
          <a:prstGeom prst="rect">
            <a:avLst/>
          </a:prstGeom>
          <a:noFill/>
        </p:spPr>
        <p:txBody>
          <a:bodyPr wrap="square" anchor="t" lIns="0" rIns="0" tIns="0" bIns="0">
            <a:spAutoFit/>
          </a:bodyPr>
          <a:lstStyle/>
          <a:p>
            <a:pPr algn="l">
              <a:lnSpc>
                <a:spcPct val="106000"/>
              </a:lnSpc>
              <a:spcBef>
                <a:spcPts val="0"/>
              </a:spcBef>
              <a:spcAft>
                <a:spcPts val="0"/>
              </a:spcAft>
            </a:pPr>
            <a:r>
              <a:rPr sz="1250" b="1" spc="220">
                <a:solidFill>
                  <a:srgbClr val="EE0000"/>
                </a:solidFill>
                <a:latin typeface="Red Hat Display"/>
              </a:rPr>
              <a:t>M20 · SERVERLESS ZERO-TO-HERO</a:t>
            </a:r>
          </a:p>
        </p:txBody>
      </p:sp>
      <p:sp>
        <p:nvSpPr>
          <p:cNvPr id="4" name="TextBox 3"/>
          <p:cNvSpPr txBox="1"/>
          <p:nvPr/>
        </p:nvSpPr>
        <p:spPr>
          <a:xfrm>
            <a:off x="841248" y="877824"/>
            <a:ext cx="10515600" cy="548640"/>
          </a:xfrm>
          <a:prstGeom prst="rect">
            <a:avLst/>
          </a:prstGeom>
          <a:noFill/>
        </p:spPr>
        <p:txBody>
          <a:bodyPr wrap="none" anchor="t" lIns="0" rIns="0" tIns="0" bIns="0">
            <a:spAutoFit/>
          </a:bodyPr>
          <a:lstStyle/>
          <a:p>
            <a:pPr algn="l">
              <a:lnSpc>
                <a:spcPct val="100000"/>
              </a:lnSpc>
              <a:spcBef>
                <a:spcPts val="0"/>
              </a:spcBef>
              <a:spcAft>
                <a:spcPts val="0"/>
              </a:spcAft>
            </a:pPr>
            <a:r>
              <a:rPr sz="2500" b="1">
                <a:solidFill>
                  <a:srgbClr val="1A1A1A"/>
                </a:solidFill>
                <a:latin typeface="Red Hat Display"/>
              </a:rPr>
              <a:t>Serverless vs Deployment</a:t>
            </a:r>
          </a:p>
        </p:txBody>
      </p:sp>
      <p:cxnSp>
        <p:nvCxnSpPr>
          <p:cNvPr id="5" name="Connector 4"/>
          <p:cNvCxnSpPr/>
          <p:nvPr/>
        </p:nvCxnSpPr>
        <p:spPr>
          <a:xfrm>
            <a:off x="841248" y="1554480"/>
            <a:ext cx="1371600" cy="0"/>
          </a:xfrm>
          <a:prstGeom prst="bentConnector3">
            <a:avLst/>
          </a:prstGeom>
          <a:ln w="31750">
            <a:solidFill>
              <a:srgbClr val="EE0000"/>
            </a:solidFill>
          </a:ln>
          <a:effectLst/>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841248" y="1664208"/>
            <a:ext cx="10515600" cy="365760"/>
          </a:xfrm>
          <a:prstGeom prst="rect">
            <a:avLst/>
          </a:prstGeom>
          <a:noFill/>
        </p:spPr>
        <p:txBody>
          <a:bodyPr wrap="square" anchor="t" lIns="0" rIns="0" tIns="0" bIns="0">
            <a:spAutoFit/>
          </a:bodyPr>
          <a:lstStyle/>
          <a:p>
            <a:pPr algn="l">
              <a:lnSpc>
                <a:spcPct val="106000"/>
              </a:lnSpc>
              <a:spcBef>
                <a:spcPts val="0"/>
              </a:spcBef>
              <a:spcAft>
                <a:spcPts val="0"/>
              </a:spcAft>
            </a:pPr>
            <a:r>
              <a:rPr sz="1350" b="0">
                <a:solidFill>
                  <a:srgbClr val="555960"/>
                </a:solidFill>
                <a:latin typeface="Red Hat Text"/>
              </a:rPr>
              <a:t>the honest decision</a:t>
            </a:r>
          </a:p>
        </p:txBody>
      </p:sp>
      <p:sp>
        <p:nvSpPr>
          <p:cNvPr id="7" name="Rounded Rectangle 6"/>
          <p:cNvSpPr/>
          <p:nvPr/>
        </p:nvSpPr>
        <p:spPr>
          <a:xfrm>
            <a:off x="841248" y="2670048"/>
            <a:ext cx="5715000" cy="530352"/>
          </a:xfrm>
          <a:prstGeom prst="roundRect">
            <a:avLst>
              <a:gd name="adj" fmla="val 6000"/>
            </a:avLst>
          </a:prstGeom>
          <a:solidFill>
            <a:srgbClr val="F5F6F8"/>
          </a:solidFill>
          <a:ln w="12700">
            <a:solidFill>
              <a:srgbClr val="DDE1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check_steel.png"/>
          <p:cNvPicPr>
            <a:picLocks noChangeAspect="1"/>
          </p:cNvPicPr>
          <p:nvPr/>
        </p:nvPicPr>
        <p:blipFill>
          <a:blip r:embed="rId3"/>
          <a:stretch>
            <a:fillRect/>
          </a:stretch>
        </p:blipFill>
        <p:spPr>
          <a:xfrm>
            <a:off x="987552" y="2816352"/>
            <a:ext cx="237744" cy="237744"/>
          </a:xfrm>
          <a:prstGeom prst="rect">
            <a:avLst/>
          </a:prstGeom>
        </p:spPr>
      </p:pic>
      <p:sp>
        <p:nvSpPr>
          <p:cNvPr id="9" name="TextBox 8"/>
          <p:cNvSpPr txBox="1"/>
          <p:nvPr/>
        </p:nvSpPr>
        <p:spPr>
          <a:xfrm>
            <a:off x="1353312" y="2670048"/>
            <a:ext cx="5029200" cy="530352"/>
          </a:xfrm>
          <a:prstGeom prst="rect">
            <a:avLst/>
          </a:prstGeom>
          <a:noFill/>
        </p:spPr>
        <p:txBody>
          <a:bodyPr wrap="square" anchor="ctr" lIns="0" rIns="0" tIns="0" bIns="0">
            <a:spAutoFit/>
          </a:bodyPr>
          <a:lstStyle/>
          <a:p>
            <a:pPr algn="l">
              <a:lnSpc>
                <a:spcPct val="106000"/>
              </a:lnSpc>
              <a:spcBef>
                <a:spcPts val="0"/>
              </a:spcBef>
              <a:spcAft>
                <a:spcPts val="0"/>
              </a:spcAft>
            </a:pPr>
            <a:r>
              <a:rPr sz="1200" b="0">
                <a:solidFill>
                  <a:srgbClr val="1A1A1A"/>
                </a:solidFill>
                <a:latin typeface="Red Hat Text"/>
              </a:rPr>
              <a:t>Lean serverless: bursty / idle sometimes / request- or event-driven / cold-start-tolerant</a:t>
            </a:r>
          </a:p>
        </p:txBody>
      </p:sp>
      <p:sp>
        <p:nvSpPr>
          <p:cNvPr id="10" name="Rounded Rectangle 9"/>
          <p:cNvSpPr/>
          <p:nvPr/>
        </p:nvSpPr>
        <p:spPr>
          <a:xfrm>
            <a:off x="841248" y="3273552"/>
            <a:ext cx="5715000" cy="530352"/>
          </a:xfrm>
          <a:prstGeom prst="roundRect">
            <a:avLst>
              <a:gd name="adj" fmla="val 6000"/>
            </a:avLst>
          </a:prstGeom>
          <a:solidFill>
            <a:srgbClr val="F5F6F8"/>
          </a:solidFill>
          <a:ln w="12700">
            <a:solidFill>
              <a:srgbClr val="DDE1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1" name="Picture 10" descr="check_steel.png"/>
          <p:cNvPicPr>
            <a:picLocks noChangeAspect="1"/>
          </p:cNvPicPr>
          <p:nvPr/>
        </p:nvPicPr>
        <p:blipFill>
          <a:blip r:embed="rId3"/>
          <a:stretch>
            <a:fillRect/>
          </a:stretch>
        </p:blipFill>
        <p:spPr>
          <a:xfrm>
            <a:off x="987552" y="3419856"/>
            <a:ext cx="237744" cy="237744"/>
          </a:xfrm>
          <a:prstGeom prst="rect">
            <a:avLst/>
          </a:prstGeom>
        </p:spPr>
      </p:pic>
      <p:sp>
        <p:nvSpPr>
          <p:cNvPr id="12" name="TextBox 11"/>
          <p:cNvSpPr txBox="1"/>
          <p:nvPr/>
        </p:nvSpPr>
        <p:spPr>
          <a:xfrm>
            <a:off x="1353312" y="3273552"/>
            <a:ext cx="5029200" cy="530352"/>
          </a:xfrm>
          <a:prstGeom prst="rect">
            <a:avLst/>
          </a:prstGeom>
          <a:noFill/>
        </p:spPr>
        <p:txBody>
          <a:bodyPr wrap="square" anchor="ctr" lIns="0" rIns="0" tIns="0" bIns="0">
            <a:spAutoFit/>
          </a:bodyPr>
          <a:lstStyle/>
          <a:p>
            <a:pPr algn="l">
              <a:lnSpc>
                <a:spcPct val="106000"/>
              </a:lnSpc>
              <a:spcBef>
                <a:spcPts val="0"/>
              </a:spcBef>
              <a:spcAft>
                <a:spcPts val="0"/>
              </a:spcAft>
            </a:pPr>
            <a:r>
              <a:rPr sz="1200" b="0">
                <a:solidFill>
                  <a:srgbClr val="1A1A1A"/>
                </a:solidFill>
                <a:latin typeface="Red Hat Text"/>
              </a:rPr>
              <a:t>Lean Deployment: steady &amp; always-busy / latency-critical no-warm-floor / long-running or stateful</a:t>
            </a:r>
          </a:p>
        </p:txBody>
      </p:sp>
      <p:sp>
        <p:nvSpPr>
          <p:cNvPr id="13" name="Rounded Rectangle 12"/>
          <p:cNvSpPr/>
          <p:nvPr/>
        </p:nvSpPr>
        <p:spPr>
          <a:xfrm>
            <a:off x="841248" y="3877056"/>
            <a:ext cx="5715000" cy="530352"/>
          </a:xfrm>
          <a:prstGeom prst="roundRect">
            <a:avLst>
              <a:gd name="adj" fmla="val 6000"/>
            </a:avLst>
          </a:prstGeom>
          <a:solidFill>
            <a:srgbClr val="F5F6F8"/>
          </a:solidFill>
          <a:ln w="12700">
            <a:solidFill>
              <a:srgbClr val="DDE1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4" name="Picture 13" descr="check_steel.png"/>
          <p:cNvPicPr>
            <a:picLocks noChangeAspect="1"/>
          </p:cNvPicPr>
          <p:nvPr/>
        </p:nvPicPr>
        <p:blipFill>
          <a:blip r:embed="rId3"/>
          <a:stretch>
            <a:fillRect/>
          </a:stretch>
        </p:blipFill>
        <p:spPr>
          <a:xfrm>
            <a:off x="987552" y="4023360"/>
            <a:ext cx="237744" cy="237744"/>
          </a:xfrm>
          <a:prstGeom prst="rect">
            <a:avLst/>
          </a:prstGeom>
        </p:spPr>
      </p:pic>
      <p:sp>
        <p:nvSpPr>
          <p:cNvPr id="15" name="TextBox 14"/>
          <p:cNvSpPr txBox="1"/>
          <p:nvPr/>
        </p:nvSpPr>
        <p:spPr>
          <a:xfrm>
            <a:off x="1353312" y="3877056"/>
            <a:ext cx="5029200" cy="530352"/>
          </a:xfrm>
          <a:prstGeom prst="rect">
            <a:avLst/>
          </a:prstGeom>
          <a:noFill/>
        </p:spPr>
        <p:txBody>
          <a:bodyPr wrap="square" anchor="ctr" lIns="0" rIns="0" tIns="0" bIns="0">
            <a:spAutoFit/>
          </a:bodyPr>
          <a:lstStyle/>
          <a:p>
            <a:pPr algn="l">
              <a:lnSpc>
                <a:spcPct val="106000"/>
              </a:lnSpc>
              <a:spcBef>
                <a:spcPts val="0"/>
              </a:spcBef>
              <a:spcAft>
                <a:spcPts val="0"/>
              </a:spcAft>
            </a:pPr>
            <a:r>
              <a:rPr sz="1200" b="0">
                <a:solidFill>
                  <a:srgbClr val="1A1A1A"/>
                </a:solidFill>
                <a:latin typeface="Red Hat Text"/>
              </a:rPr>
              <a:t>Rollout: Route-weight canary+rollback (ksvc) vs rolling update / Argo Rollouts</a:t>
            </a:r>
          </a:p>
        </p:txBody>
      </p:sp>
      <p:sp>
        <p:nvSpPr>
          <p:cNvPr id="16" name="Rounded Rectangle 15"/>
          <p:cNvSpPr/>
          <p:nvPr/>
        </p:nvSpPr>
        <p:spPr>
          <a:xfrm>
            <a:off x="841248" y="4480560"/>
            <a:ext cx="5715000" cy="530352"/>
          </a:xfrm>
          <a:prstGeom prst="roundRect">
            <a:avLst>
              <a:gd name="adj" fmla="val 6000"/>
            </a:avLst>
          </a:prstGeom>
          <a:solidFill>
            <a:srgbClr val="F5F6F8"/>
          </a:solidFill>
          <a:ln w="12700">
            <a:solidFill>
              <a:srgbClr val="DDE1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7" name="Picture 16" descr="check_steel.png"/>
          <p:cNvPicPr>
            <a:picLocks noChangeAspect="1"/>
          </p:cNvPicPr>
          <p:nvPr/>
        </p:nvPicPr>
        <p:blipFill>
          <a:blip r:embed="rId3"/>
          <a:stretch>
            <a:fillRect/>
          </a:stretch>
        </p:blipFill>
        <p:spPr>
          <a:xfrm>
            <a:off x="987552" y="4626864"/>
            <a:ext cx="237744" cy="237744"/>
          </a:xfrm>
          <a:prstGeom prst="rect">
            <a:avLst/>
          </a:prstGeom>
        </p:spPr>
      </p:pic>
      <p:sp>
        <p:nvSpPr>
          <p:cNvPr id="18" name="TextBox 17"/>
          <p:cNvSpPr txBox="1"/>
          <p:nvPr/>
        </p:nvSpPr>
        <p:spPr>
          <a:xfrm>
            <a:off x="1353312" y="4480560"/>
            <a:ext cx="5029200" cy="530352"/>
          </a:xfrm>
          <a:prstGeom prst="rect">
            <a:avLst/>
          </a:prstGeom>
          <a:noFill/>
        </p:spPr>
        <p:txBody>
          <a:bodyPr wrap="square" anchor="ctr" lIns="0" rIns="0" tIns="0" bIns="0">
            <a:spAutoFit/>
          </a:bodyPr>
          <a:lstStyle/>
          <a:p>
            <a:pPr algn="l">
              <a:lnSpc>
                <a:spcPct val="106000"/>
              </a:lnSpc>
              <a:spcBef>
                <a:spcPts val="0"/>
              </a:spcBef>
              <a:spcAft>
                <a:spcPts val="0"/>
              </a:spcAft>
            </a:pPr>
            <a:r>
              <a:rPr sz="1200" b="0">
                <a:solidFill>
                  <a:srgbClr val="1A1A1A"/>
                </a:solidFill>
                <a:latin typeface="Red Hat Text"/>
              </a:rPr>
              <a:t>Functions (kn func): a ksvc from a code template — concept + instructor demo here (build path)</a:t>
            </a:r>
          </a:p>
        </p:txBody>
      </p:sp>
      <p:sp>
        <p:nvSpPr>
          <p:cNvPr id="19" name="Rounded Rectangle 18"/>
          <p:cNvSpPr/>
          <p:nvPr/>
        </p:nvSpPr>
        <p:spPr>
          <a:xfrm>
            <a:off x="841248" y="5084064"/>
            <a:ext cx="5715000" cy="530352"/>
          </a:xfrm>
          <a:prstGeom prst="roundRect">
            <a:avLst>
              <a:gd name="adj" fmla="val 6000"/>
            </a:avLst>
          </a:prstGeom>
          <a:solidFill>
            <a:srgbClr val="F5F6F8"/>
          </a:solidFill>
          <a:ln w="12700">
            <a:solidFill>
              <a:srgbClr val="DDE1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0" name="Picture 19" descr="check_steel.png"/>
          <p:cNvPicPr>
            <a:picLocks noChangeAspect="1"/>
          </p:cNvPicPr>
          <p:nvPr/>
        </p:nvPicPr>
        <p:blipFill>
          <a:blip r:embed="rId3"/>
          <a:stretch>
            <a:fillRect/>
          </a:stretch>
        </p:blipFill>
        <p:spPr>
          <a:xfrm>
            <a:off x="987552" y="5230368"/>
            <a:ext cx="237744" cy="237744"/>
          </a:xfrm>
          <a:prstGeom prst="rect">
            <a:avLst/>
          </a:prstGeom>
        </p:spPr>
      </p:pic>
      <p:sp>
        <p:nvSpPr>
          <p:cNvPr id="21" name="TextBox 20"/>
          <p:cNvSpPr txBox="1"/>
          <p:nvPr/>
        </p:nvSpPr>
        <p:spPr>
          <a:xfrm>
            <a:off x="1353312" y="5084064"/>
            <a:ext cx="5029200" cy="530352"/>
          </a:xfrm>
          <a:prstGeom prst="rect">
            <a:avLst/>
          </a:prstGeom>
          <a:noFill/>
        </p:spPr>
        <p:txBody>
          <a:bodyPr wrap="square" anchor="ctr" lIns="0" rIns="0" tIns="0" bIns="0">
            <a:spAutoFit/>
          </a:bodyPr>
          <a:lstStyle/>
          <a:p>
            <a:pPr algn="l">
              <a:lnSpc>
                <a:spcPct val="106000"/>
              </a:lnSpc>
              <a:spcBef>
                <a:spcPts val="0"/>
              </a:spcBef>
              <a:spcAft>
                <a:spcPts val="0"/>
              </a:spcAft>
            </a:pPr>
            <a:r>
              <a:rPr sz="1200" b="0">
                <a:solidFill>
                  <a:srgbClr val="1A1A1A"/>
                </a:solidFill>
                <a:latin typeface="Red Hat Text"/>
              </a:rPr>
              <a:t>Map to org: which services sit idle, and what do the always-on pods cost?</a:t>
            </a:r>
          </a:p>
        </p:txBody>
      </p:sp>
      <p:sp>
        <p:nvSpPr>
          <p:cNvPr id="22" name="Rounded Rectangle 21"/>
          <p:cNvSpPr/>
          <p:nvPr/>
        </p:nvSpPr>
        <p:spPr>
          <a:xfrm>
            <a:off x="6812280" y="2670048"/>
            <a:ext cx="4538167" cy="2944368"/>
          </a:xfrm>
          <a:prstGeom prst="roundRect">
            <a:avLst>
              <a:gd name="adj" fmla="val 4000"/>
            </a:avLst>
          </a:prstGeom>
          <a:solidFill>
            <a:srgbClr val="FFFFFF"/>
          </a:solidFill>
          <a:ln w="15240">
            <a:solidFill>
              <a:srgbClr val="DDE1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ounded Rectangle 22"/>
          <p:cNvSpPr/>
          <p:nvPr/>
        </p:nvSpPr>
        <p:spPr>
          <a:xfrm>
            <a:off x="7013448" y="2871216"/>
            <a:ext cx="1298448" cy="310896"/>
          </a:xfrm>
          <a:prstGeom prst="roundRect">
            <a:avLst>
              <a:gd name="adj" fmla="val 50000"/>
            </a:avLst>
          </a:prstGeom>
          <a:solidFill>
            <a:srgbClr val="FCEC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7013448" y="2871216"/>
            <a:ext cx="1298448" cy="310896"/>
          </a:xfrm>
          <a:prstGeom prst="rect">
            <a:avLst/>
          </a:prstGeom>
          <a:noFill/>
        </p:spPr>
        <p:txBody>
          <a:bodyPr wrap="none" anchor="ctr" lIns="0" rIns="0" tIns="0" bIns="0">
            <a:spAutoFit/>
          </a:bodyPr>
          <a:lstStyle/>
          <a:p>
            <a:pPr algn="ctr">
              <a:lnSpc>
                <a:spcPct val="106000"/>
              </a:lnSpc>
              <a:spcBef>
                <a:spcPts val="0"/>
              </a:spcBef>
              <a:spcAft>
                <a:spcPts val="0"/>
              </a:spcAft>
            </a:pPr>
            <a:r>
              <a:rPr sz="850" b="1">
                <a:solidFill>
                  <a:srgbClr val="B80000"/>
                </a:solidFill>
                <a:latin typeface="Red Hat Display"/>
              </a:rPr>
              <a:t>MEDIA PASS</a:t>
            </a:r>
          </a:p>
        </p:txBody>
      </p:sp>
      <p:pic>
        <p:nvPicPr>
          <p:cNvPr id="25" name="Picture 24" descr="eye_slate.png"/>
          <p:cNvPicPr>
            <a:picLocks noChangeAspect="1"/>
          </p:cNvPicPr>
          <p:nvPr/>
        </p:nvPicPr>
        <p:blipFill>
          <a:blip r:embed="rId4"/>
          <a:stretch>
            <a:fillRect/>
          </a:stretch>
        </p:blipFill>
        <p:spPr>
          <a:xfrm>
            <a:off x="8843619" y="3383280"/>
            <a:ext cx="475488" cy="475488"/>
          </a:xfrm>
          <a:prstGeom prst="rect">
            <a:avLst/>
          </a:prstGeom>
        </p:spPr>
      </p:pic>
      <p:sp>
        <p:nvSpPr>
          <p:cNvPr id="26" name="TextBox 25"/>
          <p:cNvSpPr txBox="1"/>
          <p:nvPr/>
        </p:nvSpPr>
        <p:spPr>
          <a:xfrm>
            <a:off x="7050024" y="3995928"/>
            <a:ext cx="4062679" cy="1481328"/>
          </a:xfrm>
          <a:prstGeom prst="rect">
            <a:avLst/>
          </a:prstGeom>
          <a:noFill/>
        </p:spPr>
        <p:txBody>
          <a:bodyPr wrap="square" anchor="t" lIns="0" rIns="0" tIns="0" bIns="0">
            <a:spAutoFit/>
          </a:bodyPr>
          <a:lstStyle/>
          <a:p>
            <a:pPr algn="l">
              <a:lnSpc>
                <a:spcPct val="120000"/>
              </a:lnSpc>
              <a:spcBef>
                <a:spcPts val="0"/>
              </a:spcBef>
              <a:spcAft>
                <a:spcPts val="0"/>
              </a:spcAft>
            </a:pPr>
            <a:r>
              <a:rPr sz="950" b="0">
                <a:solidFill>
                  <a:srgbClr val="8A9099"/>
                </a:solidFill>
                <a:latin typeface="Red Hat Text"/>
              </a:rPr>
              <a:t>A two-column decision matrix (Lean serverless | Lean Deployment) across five rows (traffic shape, latency budget, invocation, rollout need, cost model), with a footnote pointer to Eventing (eventing depth + SonataFlow workflows) and Jobs, Batch &amp; Queued Workloads (batch/Jobs) for "not this tool."</a:t>
            </a:r>
          </a:p>
        </p:txBody>
      </p:sp>
      <p:cxnSp>
        <p:nvCxnSpPr>
          <p:cNvPr id="27" name="Connector 26"/>
          <p:cNvCxnSpPr/>
          <p:nvPr/>
        </p:nvCxnSpPr>
        <p:spPr>
          <a:xfrm>
            <a:off x="841248" y="6437376"/>
            <a:ext cx="10509199" cy="0"/>
          </a:xfrm>
          <a:prstGeom prst="bentConnector3">
            <a:avLst/>
          </a:prstGeom>
          <a:ln w="12700">
            <a:solidFill>
              <a:srgbClr val="DDE1E6"/>
            </a:solidFill>
          </a:ln>
          <a:effectLst/>
        </p:spPr>
        <p:style>
          <a:lnRef idx="2">
            <a:schemeClr val="accent1"/>
          </a:lnRef>
          <a:fillRef idx="0">
            <a:schemeClr val="accent1"/>
          </a:fillRef>
          <a:effectRef idx="1">
            <a:schemeClr val="accent1"/>
          </a:effectRef>
          <a:fontRef idx="minor">
            <a:schemeClr val="tx1"/>
          </a:fontRef>
        </p:style>
      </p:cxnSp>
      <p:sp>
        <p:nvSpPr>
          <p:cNvPr id="28" name="TextBox 27"/>
          <p:cNvSpPr txBox="1"/>
          <p:nvPr/>
        </p:nvSpPr>
        <p:spPr>
          <a:xfrm>
            <a:off x="841248" y="6473952"/>
            <a:ext cx="7315200" cy="274320"/>
          </a:xfrm>
          <a:prstGeom prst="rect">
            <a:avLst/>
          </a:prstGeom>
          <a:noFill/>
        </p:spPr>
        <p:txBody>
          <a:bodyPr wrap="square" anchor="t" lIns="0" rIns="0" tIns="0" bIns="0">
            <a:spAutoFit/>
          </a:bodyPr>
          <a:lstStyle/>
          <a:p>
            <a:pPr algn="l">
              <a:lnSpc>
                <a:spcPct val="106000"/>
              </a:lnSpc>
              <a:spcBef>
                <a:spcPts val="0"/>
              </a:spcBef>
              <a:spcAft>
                <a:spcPts val="0"/>
              </a:spcAft>
            </a:pPr>
            <a:r>
              <a:rPr sz="950" b="0">
                <a:solidFill>
                  <a:srgbClr val="8A9099"/>
                </a:solidFill>
                <a:latin typeface="Red Hat Text"/>
              </a:rPr>
              <a:t>CONFIDENTIAL</a:t>
            </a:r>
          </a:p>
        </p:txBody>
      </p:sp>
      <p:sp>
        <p:nvSpPr>
          <p:cNvPr id="29" name="TextBox 28"/>
          <p:cNvSpPr txBox="1"/>
          <p:nvPr/>
        </p:nvSpPr>
        <p:spPr>
          <a:xfrm>
            <a:off x="10801807" y="6473952"/>
            <a:ext cx="548640" cy="274320"/>
          </a:xfrm>
          <a:prstGeom prst="rect">
            <a:avLst/>
          </a:prstGeom>
          <a:noFill/>
        </p:spPr>
        <p:txBody>
          <a:bodyPr wrap="square" anchor="t" lIns="0" rIns="0" tIns="0" bIns="0">
            <a:spAutoFit/>
          </a:bodyPr>
          <a:lstStyle/>
          <a:p>
            <a:pPr algn="r">
              <a:lnSpc>
                <a:spcPct val="106000"/>
              </a:lnSpc>
              <a:spcBef>
                <a:spcPts val="0"/>
              </a:spcBef>
              <a:spcAft>
                <a:spcPts val="0"/>
              </a:spcAft>
            </a:pPr>
            <a:r>
              <a:rPr sz="950" b="0">
                <a:solidFill>
                  <a:srgbClr val="8A9099"/>
                </a:solidFill>
                <a:latin typeface="Red Hat Text"/>
              </a:rPr>
              <a:t>149</a:t>
            </a:r>
          </a:p>
        </p:txBody>
      </p:sp>
    </p:spTree>
  </p:cSld>
  <p:clrMapOvr>
    <a:masterClrMapping/>
  </p:clrMapOvr>
</p:sld>
</file>

<file path=ppt/slides/slide17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redhat_logo.jpg"/>
          <p:cNvPicPr>
            <a:picLocks noChangeAspect="1"/>
          </p:cNvPicPr>
          <p:nvPr/>
        </p:nvPicPr>
        <p:blipFill>
          <a:blip r:embed="rId2"/>
          <a:stretch>
            <a:fillRect/>
          </a:stretch>
        </p:blipFill>
        <p:spPr>
          <a:xfrm>
            <a:off x="841248" y="731520"/>
            <a:ext cx="1554480" cy="367699"/>
          </a:xfrm>
          <a:prstGeom prst="rect">
            <a:avLst/>
          </a:prstGeom>
        </p:spPr>
      </p:pic>
      <p:sp>
        <p:nvSpPr>
          <p:cNvPr id="3" name="TextBox 2"/>
          <p:cNvSpPr txBox="1"/>
          <p:nvPr/>
        </p:nvSpPr>
        <p:spPr>
          <a:xfrm>
            <a:off x="841248" y="2514600"/>
            <a:ext cx="9601200" cy="274320"/>
          </a:xfrm>
          <a:prstGeom prst="rect">
            <a:avLst/>
          </a:prstGeom>
          <a:noFill/>
        </p:spPr>
        <p:txBody>
          <a:bodyPr wrap="square" anchor="t" lIns="0" rIns="0" tIns="0" bIns="0">
            <a:spAutoFit/>
          </a:bodyPr>
          <a:lstStyle/>
          <a:p>
            <a:pPr algn="l">
              <a:lnSpc>
                <a:spcPct val="106000"/>
              </a:lnSpc>
              <a:spcBef>
                <a:spcPts val="0"/>
              </a:spcBef>
              <a:spcAft>
                <a:spcPts val="0"/>
              </a:spcAft>
            </a:pPr>
            <a:r>
              <a:rPr sz="1250" b="1" spc="180">
                <a:solidFill>
                  <a:srgbClr val="5B3E8E"/>
                </a:solidFill>
                <a:latin typeface="Red Hat Display"/>
              </a:rPr>
              <a:t>D · ADVANCED ELECTIVES</a:t>
            </a:r>
          </a:p>
        </p:txBody>
      </p:sp>
      <p:sp>
        <p:nvSpPr>
          <p:cNvPr id="4" name="TextBox 3"/>
          <p:cNvSpPr txBox="1"/>
          <p:nvPr/>
        </p:nvSpPr>
        <p:spPr>
          <a:xfrm>
            <a:off x="841248" y="2880360"/>
            <a:ext cx="2103120" cy="1188720"/>
          </a:xfrm>
          <a:prstGeom prst="rect">
            <a:avLst/>
          </a:prstGeom>
          <a:noFill/>
        </p:spPr>
        <p:txBody>
          <a:bodyPr wrap="none" anchor="t" lIns="0" rIns="0" tIns="0" bIns="0">
            <a:spAutoFit/>
          </a:bodyPr>
          <a:lstStyle/>
          <a:p>
            <a:pPr algn="l">
              <a:lnSpc>
                <a:spcPct val="90000"/>
              </a:lnSpc>
              <a:spcBef>
                <a:spcPts val="0"/>
              </a:spcBef>
              <a:spcAft>
                <a:spcPts val="0"/>
              </a:spcAft>
            </a:pPr>
            <a:r>
              <a:rPr sz="5200" b="1">
                <a:solidFill>
                  <a:srgbClr val="B80000"/>
                </a:solidFill>
                <a:latin typeface="Red Hat Display"/>
              </a:rPr>
              <a:t>M21</a:t>
            </a:r>
          </a:p>
        </p:txBody>
      </p:sp>
      <p:sp>
        <p:nvSpPr>
          <p:cNvPr id="5" name="TextBox 4"/>
          <p:cNvSpPr txBox="1"/>
          <p:nvPr/>
        </p:nvSpPr>
        <p:spPr>
          <a:xfrm>
            <a:off x="3127248" y="2971800"/>
            <a:ext cx="8412480" cy="1188720"/>
          </a:xfrm>
          <a:prstGeom prst="rect">
            <a:avLst/>
          </a:prstGeom>
          <a:noFill/>
        </p:spPr>
        <p:txBody>
          <a:bodyPr wrap="square" anchor="t" lIns="0" rIns="0" tIns="0" bIns="0">
            <a:spAutoFit/>
          </a:bodyPr>
          <a:lstStyle/>
          <a:p>
            <a:pPr algn="l">
              <a:lnSpc>
                <a:spcPct val="102000"/>
              </a:lnSpc>
              <a:spcBef>
                <a:spcPts val="0"/>
              </a:spcBef>
              <a:spcAft>
                <a:spcPts val="0"/>
              </a:spcAft>
            </a:pPr>
            <a:r>
              <a:rPr sz="3000" b="1">
                <a:solidFill>
                  <a:srgbClr val="1A1A1A"/>
                </a:solidFill>
                <a:latin typeface="Red Hat Display"/>
              </a:rPr>
              <a:t>Eventing Deep-Dive &amp; Serverless</a:t>
            </a:r>
          </a:p>
        </p:txBody>
      </p:sp>
      <p:cxnSp>
        <p:nvCxnSpPr>
          <p:cNvPr id="6" name="Connector 5"/>
          <p:cNvCxnSpPr/>
          <p:nvPr/>
        </p:nvCxnSpPr>
        <p:spPr>
          <a:xfrm>
            <a:off x="841248" y="4443984"/>
            <a:ext cx="1463040" cy="0"/>
          </a:xfrm>
          <a:prstGeom prst="bentConnector3">
            <a:avLst/>
          </a:prstGeom>
          <a:ln w="38100">
            <a:solidFill>
              <a:srgbClr val="EE0000"/>
            </a:solidFill>
          </a:ln>
          <a:effectLst/>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841248" y="4617720"/>
            <a:ext cx="9692640" cy="457200"/>
          </a:xfrm>
          <a:prstGeom prst="rect">
            <a:avLst/>
          </a:prstGeom>
          <a:noFill/>
        </p:spPr>
        <p:txBody>
          <a:bodyPr wrap="square" anchor="t" lIns="0" rIns="0" tIns="0" bIns="0">
            <a:spAutoFit/>
          </a:bodyPr>
          <a:lstStyle/>
          <a:p>
            <a:pPr algn="l">
              <a:lnSpc>
                <a:spcPct val="106000"/>
              </a:lnSpc>
              <a:spcBef>
                <a:spcPts val="0"/>
              </a:spcBef>
              <a:spcAft>
                <a:spcPts val="0"/>
              </a:spcAft>
            </a:pPr>
            <a:r>
              <a:rPr sz="1500" b="0">
                <a:solidFill>
                  <a:srgbClr val="555960"/>
                </a:solidFill>
                <a:latin typeface="Red Hat Text"/>
              </a:rPr>
              <a:t>Workflows</a:t>
            </a:r>
          </a:p>
        </p:txBody>
      </p:sp>
    </p:spTree>
  </p:cSld>
  <p:clrMapOvr>
    <a:masterClrMapping/>
  </p:clrMapOvr>
</p:sld>
</file>

<file path=ppt/slides/slide17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redhat_logo.jpg"/>
          <p:cNvPicPr>
            <a:picLocks noChangeAspect="1"/>
          </p:cNvPicPr>
          <p:nvPr/>
        </p:nvPicPr>
        <p:blipFill>
          <a:blip r:embed="rId2"/>
          <a:stretch>
            <a:fillRect/>
          </a:stretch>
        </p:blipFill>
        <p:spPr>
          <a:xfrm>
            <a:off x="10326319" y="475488"/>
            <a:ext cx="1024128" cy="242248"/>
          </a:xfrm>
          <a:prstGeom prst="rect">
            <a:avLst/>
          </a:prstGeom>
        </p:spPr>
      </p:pic>
      <p:sp>
        <p:nvSpPr>
          <p:cNvPr id="3" name="TextBox 2"/>
          <p:cNvSpPr txBox="1"/>
          <p:nvPr/>
        </p:nvSpPr>
        <p:spPr>
          <a:xfrm>
            <a:off x="841248" y="548640"/>
            <a:ext cx="8595360" cy="274320"/>
          </a:xfrm>
          <a:prstGeom prst="rect">
            <a:avLst/>
          </a:prstGeom>
          <a:noFill/>
        </p:spPr>
        <p:txBody>
          <a:bodyPr wrap="square" anchor="t" lIns="0" rIns="0" tIns="0" bIns="0">
            <a:spAutoFit/>
          </a:bodyPr>
          <a:lstStyle/>
          <a:p>
            <a:pPr algn="l">
              <a:lnSpc>
                <a:spcPct val="106000"/>
              </a:lnSpc>
              <a:spcBef>
                <a:spcPts val="0"/>
              </a:spcBef>
              <a:spcAft>
                <a:spcPts val="0"/>
              </a:spcAft>
            </a:pPr>
            <a:r>
              <a:rPr sz="1250" b="1" spc="220">
                <a:solidFill>
                  <a:srgbClr val="EE0000"/>
                </a:solidFill>
                <a:latin typeface="Red Hat Display"/>
              </a:rPr>
              <a:t>M21 · EVENTING DEEP-DIVE &amp; SERVERLESS WORKFLOWS</a:t>
            </a:r>
          </a:p>
        </p:txBody>
      </p:sp>
      <p:sp>
        <p:nvSpPr>
          <p:cNvPr id="4" name="TextBox 3"/>
          <p:cNvSpPr txBox="1"/>
          <p:nvPr/>
        </p:nvSpPr>
        <p:spPr>
          <a:xfrm>
            <a:off x="841248" y="877824"/>
            <a:ext cx="10515600" cy="548640"/>
          </a:xfrm>
          <a:prstGeom prst="rect">
            <a:avLst/>
          </a:prstGeom>
          <a:noFill/>
        </p:spPr>
        <p:txBody>
          <a:bodyPr wrap="none" anchor="t" lIns="0" rIns="0" tIns="0" bIns="0">
            <a:spAutoFit/>
          </a:bodyPr>
          <a:lstStyle/>
          <a:p>
            <a:pPr algn="l">
              <a:lnSpc>
                <a:spcPct val="100000"/>
              </a:lnSpc>
              <a:spcBef>
                <a:spcPts val="0"/>
              </a:spcBef>
              <a:spcAft>
                <a:spcPts val="0"/>
              </a:spcAft>
            </a:pPr>
            <a:r>
              <a:rPr sz="2500" b="1">
                <a:solidFill>
                  <a:srgbClr val="1A1A1A"/>
                </a:solidFill>
                <a:latin typeface="Red Hat Display"/>
              </a:rPr>
              <a:t>Stop calling services — emit a fact</a:t>
            </a:r>
          </a:p>
        </p:txBody>
      </p:sp>
      <p:cxnSp>
        <p:nvCxnSpPr>
          <p:cNvPr id="5" name="Connector 4"/>
          <p:cNvCxnSpPr/>
          <p:nvPr/>
        </p:nvCxnSpPr>
        <p:spPr>
          <a:xfrm>
            <a:off x="841248" y="1554480"/>
            <a:ext cx="1371600" cy="0"/>
          </a:xfrm>
          <a:prstGeom prst="bentConnector3">
            <a:avLst/>
          </a:prstGeom>
          <a:ln w="31750">
            <a:solidFill>
              <a:srgbClr val="EE0000"/>
            </a:solidFill>
          </a:ln>
          <a:effectLst/>
        </p:spPr>
        <p:style>
          <a:lnRef idx="2">
            <a:schemeClr val="accent1"/>
          </a:lnRef>
          <a:fillRef idx="0">
            <a:schemeClr val="accent1"/>
          </a:fillRef>
          <a:effectRef idx="1">
            <a:schemeClr val="accent1"/>
          </a:effectRef>
          <a:fontRef idx="minor">
            <a:schemeClr val="tx1"/>
          </a:fontRef>
        </p:style>
      </p:cxnSp>
      <p:sp>
        <p:nvSpPr>
          <p:cNvPr id="6" name="Rounded Rectangle 5"/>
          <p:cNvSpPr/>
          <p:nvPr/>
        </p:nvSpPr>
        <p:spPr>
          <a:xfrm>
            <a:off x="841248" y="2395728"/>
            <a:ext cx="5715000" cy="530352"/>
          </a:xfrm>
          <a:prstGeom prst="roundRect">
            <a:avLst>
              <a:gd name="adj" fmla="val 6000"/>
            </a:avLst>
          </a:prstGeom>
          <a:solidFill>
            <a:srgbClr val="F5F6F8"/>
          </a:solidFill>
          <a:ln w="12700">
            <a:solidFill>
              <a:srgbClr val="DDE1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check_steel.png"/>
          <p:cNvPicPr>
            <a:picLocks noChangeAspect="1"/>
          </p:cNvPicPr>
          <p:nvPr/>
        </p:nvPicPr>
        <p:blipFill>
          <a:blip r:embed="rId3"/>
          <a:stretch>
            <a:fillRect/>
          </a:stretch>
        </p:blipFill>
        <p:spPr>
          <a:xfrm>
            <a:off x="987552" y="2542032"/>
            <a:ext cx="237744" cy="237744"/>
          </a:xfrm>
          <a:prstGeom prst="rect">
            <a:avLst/>
          </a:prstGeom>
        </p:spPr>
      </p:pic>
      <p:sp>
        <p:nvSpPr>
          <p:cNvPr id="8" name="TextBox 7"/>
          <p:cNvSpPr txBox="1"/>
          <p:nvPr/>
        </p:nvSpPr>
        <p:spPr>
          <a:xfrm>
            <a:off x="1353312" y="2395728"/>
            <a:ext cx="5029200" cy="530352"/>
          </a:xfrm>
          <a:prstGeom prst="rect">
            <a:avLst/>
          </a:prstGeom>
          <a:noFill/>
        </p:spPr>
        <p:txBody>
          <a:bodyPr wrap="square" anchor="ctr" lIns="0" rIns="0" tIns="0" bIns="0">
            <a:spAutoFit/>
          </a:bodyPr>
          <a:lstStyle/>
          <a:p>
            <a:pPr algn="l">
              <a:lnSpc>
                <a:spcPct val="106000"/>
              </a:lnSpc>
              <a:spcBef>
                <a:spcPts val="0"/>
              </a:spcBef>
              <a:spcAft>
                <a:spcPts val="0"/>
              </a:spcAft>
            </a:pPr>
            <a:r>
              <a:rPr sz="1200" b="0">
                <a:solidFill>
                  <a:srgbClr val="1A1A1A"/>
                </a:solidFill>
                <a:latin typeface="Red Hat Text"/>
              </a:rPr>
              <a:t>Parasol's claim → fraud-scoring + audit + notification + investigations</a:t>
            </a:r>
          </a:p>
        </p:txBody>
      </p:sp>
      <p:sp>
        <p:nvSpPr>
          <p:cNvPr id="9" name="Rounded Rectangle 8"/>
          <p:cNvSpPr/>
          <p:nvPr/>
        </p:nvSpPr>
        <p:spPr>
          <a:xfrm>
            <a:off x="841248" y="2999232"/>
            <a:ext cx="5715000" cy="530352"/>
          </a:xfrm>
          <a:prstGeom prst="roundRect">
            <a:avLst>
              <a:gd name="adj" fmla="val 6000"/>
            </a:avLst>
          </a:prstGeom>
          <a:solidFill>
            <a:srgbClr val="F5F6F8"/>
          </a:solidFill>
          <a:ln w="12700">
            <a:solidFill>
              <a:srgbClr val="DDE1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0" name="Picture 9" descr="check_steel.png"/>
          <p:cNvPicPr>
            <a:picLocks noChangeAspect="1"/>
          </p:cNvPicPr>
          <p:nvPr/>
        </p:nvPicPr>
        <p:blipFill>
          <a:blip r:embed="rId3"/>
          <a:stretch>
            <a:fillRect/>
          </a:stretch>
        </p:blipFill>
        <p:spPr>
          <a:xfrm>
            <a:off x="987552" y="3145536"/>
            <a:ext cx="237744" cy="237744"/>
          </a:xfrm>
          <a:prstGeom prst="rect">
            <a:avLst/>
          </a:prstGeom>
        </p:spPr>
      </p:pic>
      <p:sp>
        <p:nvSpPr>
          <p:cNvPr id="11" name="TextBox 10"/>
          <p:cNvSpPr txBox="1"/>
          <p:nvPr/>
        </p:nvSpPr>
        <p:spPr>
          <a:xfrm>
            <a:off x="1353312" y="2999232"/>
            <a:ext cx="5029200" cy="530352"/>
          </a:xfrm>
          <a:prstGeom prst="rect">
            <a:avLst/>
          </a:prstGeom>
          <a:noFill/>
        </p:spPr>
        <p:txBody>
          <a:bodyPr wrap="square" anchor="ctr" lIns="0" rIns="0" tIns="0" bIns="0">
            <a:spAutoFit/>
          </a:bodyPr>
          <a:lstStyle/>
          <a:p>
            <a:pPr algn="l">
              <a:lnSpc>
                <a:spcPct val="106000"/>
              </a:lnSpc>
              <a:spcBef>
                <a:spcPts val="0"/>
              </a:spcBef>
              <a:spcAft>
                <a:spcPts val="0"/>
              </a:spcAft>
            </a:pPr>
            <a:r>
              <a:rPr sz="1200" b="0">
                <a:solidFill>
                  <a:srgbClr val="1A1A1A"/>
                </a:solidFill>
                <a:latin typeface="Red Hat Text"/>
              </a:rPr>
              <a:t>Direct calls WELD the app to all four: their addresses, their health, their latency</a:t>
            </a:r>
          </a:p>
        </p:txBody>
      </p:sp>
      <p:sp>
        <p:nvSpPr>
          <p:cNvPr id="12" name="Rounded Rectangle 11"/>
          <p:cNvSpPr/>
          <p:nvPr/>
        </p:nvSpPr>
        <p:spPr>
          <a:xfrm>
            <a:off x="841248" y="3602736"/>
            <a:ext cx="5715000" cy="530352"/>
          </a:xfrm>
          <a:prstGeom prst="roundRect">
            <a:avLst>
              <a:gd name="adj" fmla="val 6000"/>
            </a:avLst>
          </a:prstGeom>
          <a:solidFill>
            <a:srgbClr val="F5F6F8"/>
          </a:solidFill>
          <a:ln w="12700">
            <a:solidFill>
              <a:srgbClr val="DDE1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3" name="Picture 12" descr="check_steel.png"/>
          <p:cNvPicPr>
            <a:picLocks noChangeAspect="1"/>
          </p:cNvPicPr>
          <p:nvPr/>
        </p:nvPicPr>
        <p:blipFill>
          <a:blip r:embed="rId3"/>
          <a:stretch>
            <a:fillRect/>
          </a:stretch>
        </p:blipFill>
        <p:spPr>
          <a:xfrm>
            <a:off x="987552" y="3749040"/>
            <a:ext cx="237744" cy="237744"/>
          </a:xfrm>
          <a:prstGeom prst="rect">
            <a:avLst/>
          </a:prstGeom>
        </p:spPr>
      </p:pic>
      <p:sp>
        <p:nvSpPr>
          <p:cNvPr id="14" name="TextBox 13"/>
          <p:cNvSpPr txBox="1"/>
          <p:nvPr/>
        </p:nvSpPr>
        <p:spPr>
          <a:xfrm>
            <a:off x="1353312" y="3602736"/>
            <a:ext cx="5029200" cy="530352"/>
          </a:xfrm>
          <a:prstGeom prst="rect">
            <a:avLst/>
          </a:prstGeom>
          <a:noFill/>
        </p:spPr>
        <p:txBody>
          <a:bodyPr wrap="square" anchor="ctr" lIns="0" rIns="0" tIns="0" bIns="0">
            <a:spAutoFit/>
          </a:bodyPr>
          <a:lstStyle/>
          <a:p>
            <a:pPr algn="l">
              <a:lnSpc>
                <a:spcPct val="106000"/>
              </a:lnSpc>
              <a:spcBef>
                <a:spcPts val="0"/>
              </a:spcBef>
              <a:spcAft>
                <a:spcPts val="0"/>
              </a:spcAft>
            </a:pPr>
            <a:r>
              <a:rPr sz="1200" b="0">
                <a:solidFill>
                  <a:srgbClr val="1A1A1A"/>
                </a:solidFill>
                <a:latin typeface="Red Hat Text"/>
              </a:rPr>
              <a:t>A slow fraud service stalls claim submission; a new listener = a producer change</a:t>
            </a:r>
          </a:p>
        </p:txBody>
      </p:sp>
      <p:sp>
        <p:nvSpPr>
          <p:cNvPr id="15" name="Rounded Rectangle 14"/>
          <p:cNvSpPr/>
          <p:nvPr/>
        </p:nvSpPr>
        <p:spPr>
          <a:xfrm>
            <a:off x="841248" y="4206240"/>
            <a:ext cx="5715000" cy="530352"/>
          </a:xfrm>
          <a:prstGeom prst="roundRect">
            <a:avLst>
              <a:gd name="adj" fmla="val 6000"/>
            </a:avLst>
          </a:prstGeom>
          <a:solidFill>
            <a:srgbClr val="F5F6F8"/>
          </a:solidFill>
          <a:ln w="12700">
            <a:solidFill>
              <a:srgbClr val="DDE1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6" name="Picture 15" descr="check_steel.png"/>
          <p:cNvPicPr>
            <a:picLocks noChangeAspect="1"/>
          </p:cNvPicPr>
          <p:nvPr/>
        </p:nvPicPr>
        <p:blipFill>
          <a:blip r:embed="rId3"/>
          <a:stretch>
            <a:fillRect/>
          </a:stretch>
        </p:blipFill>
        <p:spPr>
          <a:xfrm>
            <a:off x="987552" y="4352544"/>
            <a:ext cx="237744" cy="237744"/>
          </a:xfrm>
          <a:prstGeom prst="rect">
            <a:avLst/>
          </a:prstGeom>
        </p:spPr>
      </p:pic>
      <p:sp>
        <p:nvSpPr>
          <p:cNvPr id="17" name="TextBox 16"/>
          <p:cNvSpPr txBox="1"/>
          <p:nvPr/>
        </p:nvSpPr>
        <p:spPr>
          <a:xfrm>
            <a:off x="1353312" y="4206240"/>
            <a:ext cx="5029200" cy="530352"/>
          </a:xfrm>
          <a:prstGeom prst="rect">
            <a:avLst/>
          </a:prstGeom>
          <a:noFill/>
        </p:spPr>
        <p:txBody>
          <a:bodyPr wrap="square" anchor="ctr" lIns="0" rIns="0" tIns="0" bIns="0">
            <a:spAutoFit/>
          </a:bodyPr>
          <a:lstStyle/>
          <a:p>
            <a:pPr algn="l">
              <a:lnSpc>
                <a:spcPct val="106000"/>
              </a:lnSpc>
              <a:spcBef>
                <a:spcPts val="0"/>
              </a:spcBef>
              <a:spcAft>
                <a:spcPts val="0"/>
              </a:spcAft>
            </a:pPr>
            <a:r>
              <a:rPr sz="1200" b="0">
                <a:solidFill>
                  <a:srgbClr val="1A1A1A"/>
                </a:solidFill>
                <a:latin typeface="Red Hat Text"/>
              </a:rPr>
              <a:t>Eventing: the app emits ONE fact ("claim.submitted") and moves on</a:t>
            </a:r>
          </a:p>
        </p:txBody>
      </p:sp>
      <p:sp>
        <p:nvSpPr>
          <p:cNvPr id="18" name="Rounded Rectangle 17"/>
          <p:cNvSpPr/>
          <p:nvPr/>
        </p:nvSpPr>
        <p:spPr>
          <a:xfrm>
            <a:off x="841248" y="4809744"/>
            <a:ext cx="5715000" cy="530352"/>
          </a:xfrm>
          <a:prstGeom prst="roundRect">
            <a:avLst>
              <a:gd name="adj" fmla="val 6000"/>
            </a:avLst>
          </a:prstGeom>
          <a:solidFill>
            <a:srgbClr val="F5F6F8"/>
          </a:solidFill>
          <a:ln w="12700">
            <a:solidFill>
              <a:srgbClr val="DDE1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9" name="Picture 18" descr="check_steel.png"/>
          <p:cNvPicPr>
            <a:picLocks noChangeAspect="1"/>
          </p:cNvPicPr>
          <p:nvPr/>
        </p:nvPicPr>
        <p:blipFill>
          <a:blip r:embed="rId3"/>
          <a:stretch>
            <a:fillRect/>
          </a:stretch>
        </p:blipFill>
        <p:spPr>
          <a:xfrm>
            <a:off x="987552" y="4956048"/>
            <a:ext cx="237744" cy="237744"/>
          </a:xfrm>
          <a:prstGeom prst="rect">
            <a:avLst/>
          </a:prstGeom>
        </p:spPr>
      </p:pic>
      <p:sp>
        <p:nvSpPr>
          <p:cNvPr id="20" name="TextBox 19"/>
          <p:cNvSpPr txBox="1"/>
          <p:nvPr/>
        </p:nvSpPr>
        <p:spPr>
          <a:xfrm>
            <a:off x="1353312" y="4809744"/>
            <a:ext cx="5029200" cy="530352"/>
          </a:xfrm>
          <a:prstGeom prst="rect">
            <a:avLst/>
          </a:prstGeom>
          <a:noFill/>
        </p:spPr>
        <p:txBody>
          <a:bodyPr wrap="square" anchor="ctr" lIns="0" rIns="0" tIns="0" bIns="0">
            <a:spAutoFit/>
          </a:bodyPr>
          <a:lstStyle/>
          <a:p>
            <a:pPr algn="l">
              <a:lnSpc>
                <a:spcPct val="106000"/>
              </a:lnSpc>
              <a:spcBef>
                <a:spcPts val="0"/>
              </a:spcBef>
              <a:spcAft>
                <a:spcPts val="0"/>
              </a:spcAft>
            </a:pPr>
            <a:r>
              <a:rPr sz="1200" b="0">
                <a:solidFill>
                  <a:srgbClr val="1A1A1A"/>
                </a:solidFill>
                <a:latin typeface="Red Hat Text"/>
              </a:rPr>
              <a:t>Consumers SUBSCRIBE; the producer never learns who's listening</a:t>
            </a:r>
          </a:p>
        </p:txBody>
      </p:sp>
      <p:sp>
        <p:nvSpPr>
          <p:cNvPr id="21" name="Rounded Rectangle 20"/>
          <p:cNvSpPr/>
          <p:nvPr/>
        </p:nvSpPr>
        <p:spPr>
          <a:xfrm>
            <a:off x="6812280" y="2395728"/>
            <a:ext cx="4538167" cy="2944368"/>
          </a:xfrm>
          <a:prstGeom prst="roundRect">
            <a:avLst>
              <a:gd name="adj" fmla="val 4000"/>
            </a:avLst>
          </a:prstGeom>
          <a:solidFill>
            <a:srgbClr val="FFFFFF"/>
          </a:solidFill>
          <a:ln w="15240">
            <a:solidFill>
              <a:srgbClr val="DDE1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ounded Rectangle 21"/>
          <p:cNvSpPr/>
          <p:nvPr/>
        </p:nvSpPr>
        <p:spPr>
          <a:xfrm>
            <a:off x="7013448" y="2596896"/>
            <a:ext cx="1298448" cy="310896"/>
          </a:xfrm>
          <a:prstGeom prst="roundRect">
            <a:avLst>
              <a:gd name="adj" fmla="val 50000"/>
            </a:avLst>
          </a:prstGeom>
          <a:solidFill>
            <a:srgbClr val="FCEC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7013448" y="2596896"/>
            <a:ext cx="1298448" cy="310896"/>
          </a:xfrm>
          <a:prstGeom prst="rect">
            <a:avLst/>
          </a:prstGeom>
          <a:noFill/>
        </p:spPr>
        <p:txBody>
          <a:bodyPr wrap="none" anchor="ctr" lIns="0" rIns="0" tIns="0" bIns="0">
            <a:spAutoFit/>
          </a:bodyPr>
          <a:lstStyle/>
          <a:p>
            <a:pPr algn="ctr">
              <a:lnSpc>
                <a:spcPct val="106000"/>
              </a:lnSpc>
              <a:spcBef>
                <a:spcPts val="0"/>
              </a:spcBef>
              <a:spcAft>
                <a:spcPts val="0"/>
              </a:spcAft>
            </a:pPr>
            <a:r>
              <a:rPr sz="850" b="1">
                <a:solidFill>
                  <a:srgbClr val="B80000"/>
                </a:solidFill>
                <a:latin typeface="Red Hat Display"/>
              </a:rPr>
              <a:t>MEDIA PASS</a:t>
            </a:r>
          </a:p>
        </p:txBody>
      </p:sp>
      <p:pic>
        <p:nvPicPr>
          <p:cNvPr id="24" name="Picture 23" descr="eye_slate.png"/>
          <p:cNvPicPr>
            <a:picLocks noChangeAspect="1"/>
          </p:cNvPicPr>
          <p:nvPr/>
        </p:nvPicPr>
        <p:blipFill>
          <a:blip r:embed="rId4"/>
          <a:stretch>
            <a:fillRect/>
          </a:stretch>
        </p:blipFill>
        <p:spPr>
          <a:xfrm>
            <a:off x="8843619" y="3108960"/>
            <a:ext cx="475488" cy="475488"/>
          </a:xfrm>
          <a:prstGeom prst="rect">
            <a:avLst/>
          </a:prstGeom>
        </p:spPr>
      </p:pic>
      <p:sp>
        <p:nvSpPr>
          <p:cNvPr id="25" name="TextBox 24"/>
          <p:cNvSpPr txBox="1"/>
          <p:nvPr/>
        </p:nvSpPr>
        <p:spPr>
          <a:xfrm>
            <a:off x="7050024" y="3721608"/>
            <a:ext cx="4062679" cy="1481328"/>
          </a:xfrm>
          <a:prstGeom prst="rect">
            <a:avLst/>
          </a:prstGeom>
          <a:noFill/>
        </p:spPr>
        <p:txBody>
          <a:bodyPr wrap="square" anchor="t" lIns="0" rIns="0" tIns="0" bIns="0">
            <a:spAutoFit/>
          </a:bodyPr>
          <a:lstStyle/>
          <a:p>
            <a:pPr algn="l">
              <a:lnSpc>
                <a:spcPct val="120000"/>
              </a:lnSpc>
              <a:spcBef>
                <a:spcPts val="0"/>
              </a:spcBef>
              <a:spcAft>
                <a:spcPts val="0"/>
              </a:spcAft>
            </a:pPr>
            <a:r>
              <a:rPr sz="950" b="0">
                <a:solidFill>
                  <a:srgbClr val="8A9099"/>
                </a:solidFill>
                <a:latin typeface="Red Hat Text"/>
              </a:rPr>
              <a:t>Left panel "Direct calls": a claims box with four arrows fanning out to fraud/audit/notify/investigations, each arrow labeled with an address, the whole thing tangled and tinted red ("coupled: producer knows every consumer"). Right panel "Eventing": the claims box emits one arrow to a Broker hub; four consumers hang off the broker via labeled triggers, green ("decoupled: producer knows nothing"). A big equals-sign-turned-arrow between the panels.</a:t>
            </a:r>
          </a:p>
        </p:txBody>
      </p:sp>
      <p:cxnSp>
        <p:nvCxnSpPr>
          <p:cNvPr id="26" name="Connector 25"/>
          <p:cNvCxnSpPr/>
          <p:nvPr/>
        </p:nvCxnSpPr>
        <p:spPr>
          <a:xfrm>
            <a:off x="841248" y="6437376"/>
            <a:ext cx="10509199" cy="0"/>
          </a:xfrm>
          <a:prstGeom prst="bentConnector3">
            <a:avLst/>
          </a:prstGeom>
          <a:ln w="12700">
            <a:solidFill>
              <a:srgbClr val="DDE1E6"/>
            </a:solidFill>
          </a:ln>
          <a:effectLst/>
        </p:spPr>
        <p:style>
          <a:lnRef idx="2">
            <a:schemeClr val="accent1"/>
          </a:lnRef>
          <a:fillRef idx="0">
            <a:schemeClr val="accent1"/>
          </a:fillRef>
          <a:effectRef idx="1">
            <a:schemeClr val="accent1"/>
          </a:effectRef>
          <a:fontRef idx="minor">
            <a:schemeClr val="tx1"/>
          </a:fontRef>
        </p:style>
      </p:cxnSp>
      <p:sp>
        <p:nvSpPr>
          <p:cNvPr id="27" name="TextBox 26"/>
          <p:cNvSpPr txBox="1"/>
          <p:nvPr/>
        </p:nvSpPr>
        <p:spPr>
          <a:xfrm>
            <a:off x="841248" y="6473952"/>
            <a:ext cx="7315200" cy="274320"/>
          </a:xfrm>
          <a:prstGeom prst="rect">
            <a:avLst/>
          </a:prstGeom>
          <a:noFill/>
        </p:spPr>
        <p:txBody>
          <a:bodyPr wrap="square" anchor="t" lIns="0" rIns="0" tIns="0" bIns="0">
            <a:spAutoFit/>
          </a:bodyPr>
          <a:lstStyle/>
          <a:p>
            <a:pPr algn="l">
              <a:lnSpc>
                <a:spcPct val="106000"/>
              </a:lnSpc>
              <a:spcBef>
                <a:spcPts val="0"/>
              </a:spcBef>
              <a:spcAft>
                <a:spcPts val="0"/>
              </a:spcAft>
            </a:pPr>
            <a:r>
              <a:rPr sz="950" b="0">
                <a:solidFill>
                  <a:srgbClr val="8A9099"/>
                </a:solidFill>
                <a:latin typeface="Red Hat Text"/>
              </a:rPr>
              <a:t>CONFIDENTIAL</a:t>
            </a:r>
          </a:p>
        </p:txBody>
      </p:sp>
      <p:sp>
        <p:nvSpPr>
          <p:cNvPr id="28" name="TextBox 27"/>
          <p:cNvSpPr txBox="1"/>
          <p:nvPr/>
        </p:nvSpPr>
        <p:spPr>
          <a:xfrm>
            <a:off x="10801807" y="6473952"/>
            <a:ext cx="548640" cy="274320"/>
          </a:xfrm>
          <a:prstGeom prst="rect">
            <a:avLst/>
          </a:prstGeom>
          <a:noFill/>
        </p:spPr>
        <p:txBody>
          <a:bodyPr wrap="square" anchor="t" lIns="0" rIns="0" tIns="0" bIns="0">
            <a:spAutoFit/>
          </a:bodyPr>
          <a:lstStyle/>
          <a:p>
            <a:pPr algn="r">
              <a:lnSpc>
                <a:spcPct val="106000"/>
              </a:lnSpc>
              <a:spcBef>
                <a:spcPts val="0"/>
              </a:spcBef>
              <a:spcAft>
                <a:spcPts val="0"/>
              </a:spcAft>
            </a:pPr>
            <a:r>
              <a:rPr sz="950" b="0">
                <a:solidFill>
                  <a:srgbClr val="8A9099"/>
                </a:solidFill>
                <a:latin typeface="Red Hat Text"/>
              </a:rPr>
              <a:t>150</a:t>
            </a:r>
          </a:p>
        </p:txBody>
      </p:sp>
    </p:spTree>
  </p:cSld>
  <p:clrMapOvr>
    <a:masterClrMapping/>
  </p:clrMapOvr>
</p:sld>
</file>

<file path=ppt/slides/slide17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redhat_logo.jpg"/>
          <p:cNvPicPr>
            <a:picLocks noChangeAspect="1"/>
          </p:cNvPicPr>
          <p:nvPr/>
        </p:nvPicPr>
        <p:blipFill>
          <a:blip r:embed="rId2"/>
          <a:stretch>
            <a:fillRect/>
          </a:stretch>
        </p:blipFill>
        <p:spPr>
          <a:xfrm>
            <a:off x="10326319" y="475488"/>
            <a:ext cx="1024128" cy="242248"/>
          </a:xfrm>
          <a:prstGeom prst="rect">
            <a:avLst/>
          </a:prstGeom>
        </p:spPr>
      </p:pic>
      <p:sp>
        <p:nvSpPr>
          <p:cNvPr id="3" name="TextBox 2"/>
          <p:cNvSpPr txBox="1"/>
          <p:nvPr/>
        </p:nvSpPr>
        <p:spPr>
          <a:xfrm>
            <a:off x="841248" y="548640"/>
            <a:ext cx="8595360" cy="274320"/>
          </a:xfrm>
          <a:prstGeom prst="rect">
            <a:avLst/>
          </a:prstGeom>
          <a:noFill/>
        </p:spPr>
        <p:txBody>
          <a:bodyPr wrap="square" anchor="t" lIns="0" rIns="0" tIns="0" bIns="0">
            <a:spAutoFit/>
          </a:bodyPr>
          <a:lstStyle/>
          <a:p>
            <a:pPr algn="l">
              <a:lnSpc>
                <a:spcPct val="106000"/>
              </a:lnSpc>
              <a:spcBef>
                <a:spcPts val="0"/>
              </a:spcBef>
              <a:spcAft>
                <a:spcPts val="0"/>
              </a:spcAft>
            </a:pPr>
            <a:r>
              <a:rPr sz="1250" b="1" spc="220">
                <a:solidFill>
                  <a:srgbClr val="EE0000"/>
                </a:solidFill>
                <a:latin typeface="Red Hat Display"/>
              </a:rPr>
              <a:t>M21 · EVENTING DEEP-DIVE &amp; SERVERLESS WORKFLOWS</a:t>
            </a:r>
          </a:p>
        </p:txBody>
      </p:sp>
      <p:sp>
        <p:nvSpPr>
          <p:cNvPr id="4" name="TextBox 3"/>
          <p:cNvSpPr txBox="1"/>
          <p:nvPr/>
        </p:nvSpPr>
        <p:spPr>
          <a:xfrm>
            <a:off x="841248" y="877824"/>
            <a:ext cx="10515600" cy="548640"/>
          </a:xfrm>
          <a:prstGeom prst="rect">
            <a:avLst/>
          </a:prstGeom>
          <a:noFill/>
        </p:spPr>
        <p:txBody>
          <a:bodyPr wrap="none" anchor="t" lIns="0" rIns="0" tIns="0" bIns="0">
            <a:spAutoFit/>
          </a:bodyPr>
          <a:lstStyle/>
          <a:p>
            <a:pPr algn="l">
              <a:lnSpc>
                <a:spcPct val="100000"/>
              </a:lnSpc>
              <a:spcBef>
                <a:spcPts val="0"/>
              </a:spcBef>
              <a:spcAft>
                <a:spcPts val="0"/>
              </a:spcAft>
            </a:pPr>
            <a:r>
              <a:rPr sz="2500" b="1">
                <a:solidFill>
                  <a:srgbClr val="1A1A1A"/>
                </a:solidFill>
                <a:latin typeface="Red Hat Display"/>
              </a:rPr>
              <a:t>Four primitives</a:t>
            </a:r>
          </a:p>
        </p:txBody>
      </p:sp>
      <p:cxnSp>
        <p:nvCxnSpPr>
          <p:cNvPr id="5" name="Connector 4"/>
          <p:cNvCxnSpPr/>
          <p:nvPr/>
        </p:nvCxnSpPr>
        <p:spPr>
          <a:xfrm>
            <a:off x="841248" y="1554480"/>
            <a:ext cx="1371600" cy="0"/>
          </a:xfrm>
          <a:prstGeom prst="bentConnector3">
            <a:avLst/>
          </a:prstGeom>
          <a:ln w="31750">
            <a:solidFill>
              <a:srgbClr val="EE0000"/>
            </a:solidFill>
          </a:ln>
          <a:effectLst/>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841248" y="1664208"/>
            <a:ext cx="10515600" cy="365760"/>
          </a:xfrm>
          <a:prstGeom prst="rect">
            <a:avLst/>
          </a:prstGeom>
          <a:noFill/>
        </p:spPr>
        <p:txBody>
          <a:bodyPr wrap="square" anchor="t" lIns="0" rIns="0" tIns="0" bIns="0">
            <a:spAutoFit/>
          </a:bodyPr>
          <a:lstStyle/>
          <a:p>
            <a:pPr algn="l">
              <a:lnSpc>
                <a:spcPct val="106000"/>
              </a:lnSpc>
              <a:spcBef>
                <a:spcPts val="0"/>
              </a:spcBef>
              <a:spcAft>
                <a:spcPts val="0"/>
              </a:spcAft>
            </a:pPr>
            <a:r>
              <a:rPr sz="1350" b="0">
                <a:solidFill>
                  <a:srgbClr val="555960"/>
                </a:solidFill>
                <a:latin typeface="Red Hat Text"/>
              </a:rPr>
              <a:t>source, broker, trigger, sink</a:t>
            </a:r>
          </a:p>
        </p:txBody>
      </p:sp>
      <p:sp>
        <p:nvSpPr>
          <p:cNvPr id="7" name="Rounded Rectangle 6"/>
          <p:cNvSpPr/>
          <p:nvPr/>
        </p:nvSpPr>
        <p:spPr>
          <a:xfrm>
            <a:off x="841248" y="2670048"/>
            <a:ext cx="5715000" cy="530352"/>
          </a:xfrm>
          <a:prstGeom prst="roundRect">
            <a:avLst>
              <a:gd name="adj" fmla="val 6000"/>
            </a:avLst>
          </a:prstGeom>
          <a:solidFill>
            <a:srgbClr val="F5F6F8"/>
          </a:solidFill>
          <a:ln w="12700">
            <a:solidFill>
              <a:srgbClr val="DDE1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check_steel.png"/>
          <p:cNvPicPr>
            <a:picLocks noChangeAspect="1"/>
          </p:cNvPicPr>
          <p:nvPr/>
        </p:nvPicPr>
        <p:blipFill>
          <a:blip r:embed="rId3"/>
          <a:stretch>
            <a:fillRect/>
          </a:stretch>
        </p:blipFill>
        <p:spPr>
          <a:xfrm>
            <a:off x="987552" y="2816352"/>
            <a:ext cx="237744" cy="237744"/>
          </a:xfrm>
          <a:prstGeom prst="rect">
            <a:avLst/>
          </a:prstGeom>
        </p:spPr>
      </p:pic>
      <p:sp>
        <p:nvSpPr>
          <p:cNvPr id="9" name="TextBox 8"/>
          <p:cNvSpPr txBox="1"/>
          <p:nvPr/>
        </p:nvSpPr>
        <p:spPr>
          <a:xfrm>
            <a:off x="1353312" y="2670048"/>
            <a:ext cx="5029200" cy="530352"/>
          </a:xfrm>
          <a:prstGeom prst="rect">
            <a:avLst/>
          </a:prstGeom>
          <a:noFill/>
        </p:spPr>
        <p:txBody>
          <a:bodyPr wrap="square" anchor="ctr" lIns="0" rIns="0" tIns="0" bIns="0">
            <a:spAutoFit/>
          </a:bodyPr>
          <a:lstStyle/>
          <a:p>
            <a:pPr algn="l">
              <a:lnSpc>
                <a:spcPct val="106000"/>
              </a:lnSpc>
              <a:spcBef>
                <a:spcPts val="0"/>
              </a:spcBef>
              <a:spcAft>
                <a:spcPts val="0"/>
              </a:spcAft>
            </a:pPr>
            <a:r>
              <a:rPr sz="1200" b="0">
                <a:solidFill>
                  <a:srgbClr val="1A1A1A"/>
                </a:solidFill>
                <a:latin typeface="Red Hat Text"/>
              </a:rPr>
              <a:t>Source emits events (here: a seeded PingSource ticker)</a:t>
            </a:r>
          </a:p>
        </p:txBody>
      </p:sp>
      <p:sp>
        <p:nvSpPr>
          <p:cNvPr id="10" name="Rounded Rectangle 9"/>
          <p:cNvSpPr/>
          <p:nvPr/>
        </p:nvSpPr>
        <p:spPr>
          <a:xfrm>
            <a:off x="841248" y="3273552"/>
            <a:ext cx="5715000" cy="530352"/>
          </a:xfrm>
          <a:prstGeom prst="roundRect">
            <a:avLst>
              <a:gd name="adj" fmla="val 6000"/>
            </a:avLst>
          </a:prstGeom>
          <a:solidFill>
            <a:srgbClr val="F5F6F8"/>
          </a:solidFill>
          <a:ln w="12700">
            <a:solidFill>
              <a:srgbClr val="DDE1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1" name="Picture 10" descr="check_steel.png"/>
          <p:cNvPicPr>
            <a:picLocks noChangeAspect="1"/>
          </p:cNvPicPr>
          <p:nvPr/>
        </p:nvPicPr>
        <p:blipFill>
          <a:blip r:embed="rId3"/>
          <a:stretch>
            <a:fillRect/>
          </a:stretch>
        </p:blipFill>
        <p:spPr>
          <a:xfrm>
            <a:off x="987552" y="3419856"/>
            <a:ext cx="237744" cy="237744"/>
          </a:xfrm>
          <a:prstGeom prst="rect">
            <a:avLst/>
          </a:prstGeom>
        </p:spPr>
      </p:pic>
      <p:sp>
        <p:nvSpPr>
          <p:cNvPr id="12" name="TextBox 11"/>
          <p:cNvSpPr txBox="1"/>
          <p:nvPr/>
        </p:nvSpPr>
        <p:spPr>
          <a:xfrm>
            <a:off x="1353312" y="3273552"/>
            <a:ext cx="5029200" cy="530352"/>
          </a:xfrm>
          <a:prstGeom prst="rect">
            <a:avLst/>
          </a:prstGeom>
          <a:noFill/>
        </p:spPr>
        <p:txBody>
          <a:bodyPr wrap="square" anchor="ctr" lIns="0" rIns="0" tIns="0" bIns="0">
            <a:spAutoFit/>
          </a:bodyPr>
          <a:lstStyle/>
          <a:p>
            <a:pPr algn="l">
              <a:lnSpc>
                <a:spcPct val="106000"/>
              </a:lnSpc>
              <a:spcBef>
                <a:spcPts val="0"/>
              </a:spcBef>
              <a:spcAft>
                <a:spcPts val="0"/>
              </a:spcAft>
            </a:pPr>
            <a:r>
              <a:rPr sz="1200" b="0">
                <a:solidFill>
                  <a:srgbClr val="1A1A1A"/>
                </a:solidFill>
                <a:latin typeface="Red Hat Text"/>
              </a:rPr>
              <a:t>Broker = the hub; producers POST CloudEvents to it, get HTTP 202</a:t>
            </a:r>
          </a:p>
        </p:txBody>
      </p:sp>
      <p:sp>
        <p:nvSpPr>
          <p:cNvPr id="13" name="Rounded Rectangle 12"/>
          <p:cNvSpPr/>
          <p:nvPr/>
        </p:nvSpPr>
        <p:spPr>
          <a:xfrm>
            <a:off x="841248" y="3877056"/>
            <a:ext cx="5715000" cy="530352"/>
          </a:xfrm>
          <a:prstGeom prst="roundRect">
            <a:avLst>
              <a:gd name="adj" fmla="val 6000"/>
            </a:avLst>
          </a:prstGeom>
          <a:solidFill>
            <a:srgbClr val="F5F6F8"/>
          </a:solidFill>
          <a:ln w="12700">
            <a:solidFill>
              <a:srgbClr val="DDE1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4" name="Picture 13" descr="check_steel.png"/>
          <p:cNvPicPr>
            <a:picLocks noChangeAspect="1"/>
          </p:cNvPicPr>
          <p:nvPr/>
        </p:nvPicPr>
        <p:blipFill>
          <a:blip r:embed="rId3"/>
          <a:stretch>
            <a:fillRect/>
          </a:stretch>
        </p:blipFill>
        <p:spPr>
          <a:xfrm>
            <a:off x="987552" y="4023360"/>
            <a:ext cx="237744" cy="237744"/>
          </a:xfrm>
          <a:prstGeom prst="rect">
            <a:avLst/>
          </a:prstGeom>
        </p:spPr>
      </p:pic>
      <p:sp>
        <p:nvSpPr>
          <p:cNvPr id="15" name="TextBox 14"/>
          <p:cNvSpPr txBox="1"/>
          <p:nvPr/>
        </p:nvSpPr>
        <p:spPr>
          <a:xfrm>
            <a:off x="1353312" y="3877056"/>
            <a:ext cx="5029200" cy="530352"/>
          </a:xfrm>
          <a:prstGeom prst="rect">
            <a:avLst/>
          </a:prstGeom>
          <a:noFill/>
        </p:spPr>
        <p:txBody>
          <a:bodyPr wrap="square" anchor="ctr" lIns="0" rIns="0" tIns="0" bIns="0">
            <a:spAutoFit/>
          </a:bodyPr>
          <a:lstStyle/>
          <a:p>
            <a:pPr algn="l">
              <a:lnSpc>
                <a:spcPct val="106000"/>
              </a:lnSpc>
              <a:spcBef>
                <a:spcPts val="0"/>
              </a:spcBef>
              <a:spcAft>
                <a:spcPts val="0"/>
              </a:spcAft>
            </a:pPr>
            <a:r>
              <a:rPr sz="1200" b="0">
                <a:solidFill>
                  <a:srgbClr val="1A1A1A"/>
                </a:solidFill>
                <a:latin typeface="Red Hat Text"/>
              </a:rPr>
              <a:t>Trigger = a subscription WITH A FILTER: "deliver matching events to this sink"</a:t>
            </a:r>
          </a:p>
        </p:txBody>
      </p:sp>
      <p:sp>
        <p:nvSpPr>
          <p:cNvPr id="16" name="Rounded Rectangle 15"/>
          <p:cNvSpPr/>
          <p:nvPr/>
        </p:nvSpPr>
        <p:spPr>
          <a:xfrm>
            <a:off x="841248" y="4480560"/>
            <a:ext cx="5715000" cy="530352"/>
          </a:xfrm>
          <a:prstGeom prst="roundRect">
            <a:avLst>
              <a:gd name="adj" fmla="val 6000"/>
            </a:avLst>
          </a:prstGeom>
          <a:solidFill>
            <a:srgbClr val="F5F6F8"/>
          </a:solidFill>
          <a:ln w="12700">
            <a:solidFill>
              <a:srgbClr val="DDE1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7" name="Picture 16" descr="check_steel.png"/>
          <p:cNvPicPr>
            <a:picLocks noChangeAspect="1"/>
          </p:cNvPicPr>
          <p:nvPr/>
        </p:nvPicPr>
        <p:blipFill>
          <a:blip r:embed="rId3"/>
          <a:stretch>
            <a:fillRect/>
          </a:stretch>
        </p:blipFill>
        <p:spPr>
          <a:xfrm>
            <a:off x="987552" y="4626864"/>
            <a:ext cx="237744" cy="237744"/>
          </a:xfrm>
          <a:prstGeom prst="rect">
            <a:avLst/>
          </a:prstGeom>
        </p:spPr>
      </p:pic>
      <p:sp>
        <p:nvSpPr>
          <p:cNvPr id="18" name="TextBox 17"/>
          <p:cNvSpPr txBox="1"/>
          <p:nvPr/>
        </p:nvSpPr>
        <p:spPr>
          <a:xfrm>
            <a:off x="1353312" y="4480560"/>
            <a:ext cx="5029200" cy="530352"/>
          </a:xfrm>
          <a:prstGeom prst="rect">
            <a:avLst/>
          </a:prstGeom>
          <a:noFill/>
        </p:spPr>
        <p:txBody>
          <a:bodyPr wrap="square" anchor="ctr" lIns="0" rIns="0" tIns="0" bIns="0">
            <a:spAutoFit/>
          </a:bodyPr>
          <a:lstStyle/>
          <a:p>
            <a:pPr algn="l">
              <a:lnSpc>
                <a:spcPct val="106000"/>
              </a:lnSpc>
              <a:spcBef>
                <a:spcPts val="0"/>
              </a:spcBef>
              <a:spcAft>
                <a:spcPts val="0"/>
              </a:spcAft>
            </a:pPr>
            <a:r>
              <a:rPr sz="1200" b="0">
                <a:solidFill>
                  <a:srgbClr val="1A1A1A"/>
                </a:solidFill>
                <a:latin typeface="Red Hat Text"/>
              </a:rPr>
              <a:t>Sink = anything addressable — here a ksvc consumer that scales 0→N on an event</a:t>
            </a:r>
          </a:p>
        </p:txBody>
      </p:sp>
      <p:sp>
        <p:nvSpPr>
          <p:cNvPr id="19" name="Rounded Rectangle 18"/>
          <p:cNvSpPr/>
          <p:nvPr/>
        </p:nvSpPr>
        <p:spPr>
          <a:xfrm>
            <a:off x="841248" y="5084064"/>
            <a:ext cx="5715000" cy="530352"/>
          </a:xfrm>
          <a:prstGeom prst="roundRect">
            <a:avLst>
              <a:gd name="adj" fmla="val 6000"/>
            </a:avLst>
          </a:prstGeom>
          <a:solidFill>
            <a:srgbClr val="F5F6F8"/>
          </a:solidFill>
          <a:ln w="12700">
            <a:solidFill>
              <a:srgbClr val="DDE1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0" name="Picture 19" descr="check_steel.png"/>
          <p:cNvPicPr>
            <a:picLocks noChangeAspect="1"/>
          </p:cNvPicPr>
          <p:nvPr/>
        </p:nvPicPr>
        <p:blipFill>
          <a:blip r:embed="rId3"/>
          <a:stretch>
            <a:fillRect/>
          </a:stretch>
        </p:blipFill>
        <p:spPr>
          <a:xfrm>
            <a:off x="987552" y="5230368"/>
            <a:ext cx="237744" cy="237744"/>
          </a:xfrm>
          <a:prstGeom prst="rect">
            <a:avLst/>
          </a:prstGeom>
        </p:spPr>
      </p:pic>
      <p:sp>
        <p:nvSpPr>
          <p:cNvPr id="21" name="TextBox 20"/>
          <p:cNvSpPr txBox="1"/>
          <p:nvPr/>
        </p:nvSpPr>
        <p:spPr>
          <a:xfrm>
            <a:off x="1353312" y="5084064"/>
            <a:ext cx="5029200" cy="530352"/>
          </a:xfrm>
          <a:prstGeom prst="rect">
            <a:avLst/>
          </a:prstGeom>
          <a:noFill/>
        </p:spPr>
        <p:txBody>
          <a:bodyPr wrap="square" anchor="ctr" lIns="0" rIns="0" tIns="0" bIns="0">
            <a:spAutoFit/>
          </a:bodyPr>
          <a:lstStyle/>
          <a:p>
            <a:pPr algn="l">
              <a:lnSpc>
                <a:spcPct val="106000"/>
              </a:lnSpc>
              <a:spcBef>
                <a:spcPts val="0"/>
              </a:spcBef>
              <a:spcAft>
                <a:spcPts val="0"/>
              </a:spcAft>
            </a:pPr>
            <a:r>
              <a:rPr sz="1200" b="0">
                <a:solidFill>
                  <a:srgbClr val="1A1A1A"/>
                </a:solidFill>
                <a:latin typeface="Red Hat Text"/>
              </a:rPr>
              <a:t>The CloudEvents envelope (type/source/id + your extension attributes) makes it routable</a:t>
            </a:r>
          </a:p>
        </p:txBody>
      </p:sp>
      <p:sp>
        <p:nvSpPr>
          <p:cNvPr id="22" name="Rounded Rectangle 21"/>
          <p:cNvSpPr/>
          <p:nvPr/>
        </p:nvSpPr>
        <p:spPr>
          <a:xfrm>
            <a:off x="6812280" y="2670048"/>
            <a:ext cx="4538167" cy="2944368"/>
          </a:xfrm>
          <a:prstGeom prst="roundRect">
            <a:avLst>
              <a:gd name="adj" fmla="val 4000"/>
            </a:avLst>
          </a:prstGeom>
          <a:solidFill>
            <a:srgbClr val="FFFFFF"/>
          </a:solidFill>
          <a:ln w="15240">
            <a:solidFill>
              <a:srgbClr val="DDE1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ounded Rectangle 22"/>
          <p:cNvSpPr/>
          <p:nvPr/>
        </p:nvSpPr>
        <p:spPr>
          <a:xfrm>
            <a:off x="7013448" y="2871216"/>
            <a:ext cx="1298448" cy="310896"/>
          </a:xfrm>
          <a:prstGeom prst="roundRect">
            <a:avLst>
              <a:gd name="adj" fmla="val 50000"/>
            </a:avLst>
          </a:prstGeom>
          <a:solidFill>
            <a:srgbClr val="FCEC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7013448" y="2871216"/>
            <a:ext cx="1298448" cy="310896"/>
          </a:xfrm>
          <a:prstGeom prst="rect">
            <a:avLst/>
          </a:prstGeom>
          <a:noFill/>
        </p:spPr>
        <p:txBody>
          <a:bodyPr wrap="none" anchor="ctr" lIns="0" rIns="0" tIns="0" bIns="0">
            <a:spAutoFit/>
          </a:bodyPr>
          <a:lstStyle/>
          <a:p>
            <a:pPr algn="ctr">
              <a:lnSpc>
                <a:spcPct val="106000"/>
              </a:lnSpc>
              <a:spcBef>
                <a:spcPts val="0"/>
              </a:spcBef>
              <a:spcAft>
                <a:spcPts val="0"/>
              </a:spcAft>
            </a:pPr>
            <a:r>
              <a:rPr sz="850" b="1">
                <a:solidFill>
                  <a:srgbClr val="B80000"/>
                </a:solidFill>
                <a:latin typeface="Red Hat Display"/>
              </a:rPr>
              <a:t>MEDIA PASS</a:t>
            </a:r>
          </a:p>
        </p:txBody>
      </p:sp>
      <p:pic>
        <p:nvPicPr>
          <p:cNvPr id="25" name="Picture 24" descr="eye_slate.png"/>
          <p:cNvPicPr>
            <a:picLocks noChangeAspect="1"/>
          </p:cNvPicPr>
          <p:nvPr/>
        </p:nvPicPr>
        <p:blipFill>
          <a:blip r:embed="rId4"/>
          <a:stretch>
            <a:fillRect/>
          </a:stretch>
        </p:blipFill>
        <p:spPr>
          <a:xfrm>
            <a:off x="8843619" y="3383280"/>
            <a:ext cx="475488" cy="475488"/>
          </a:xfrm>
          <a:prstGeom prst="rect">
            <a:avLst/>
          </a:prstGeom>
        </p:spPr>
      </p:pic>
      <p:sp>
        <p:nvSpPr>
          <p:cNvPr id="26" name="TextBox 25"/>
          <p:cNvSpPr txBox="1"/>
          <p:nvPr/>
        </p:nvSpPr>
        <p:spPr>
          <a:xfrm>
            <a:off x="7050024" y="3995928"/>
            <a:ext cx="4062679" cy="1481328"/>
          </a:xfrm>
          <a:prstGeom prst="rect">
            <a:avLst/>
          </a:prstGeom>
          <a:noFill/>
        </p:spPr>
        <p:txBody>
          <a:bodyPr wrap="square" anchor="t" lIns="0" rIns="0" tIns="0" bIns="0">
            <a:spAutoFit/>
          </a:bodyPr>
          <a:lstStyle/>
          <a:p>
            <a:pPr algn="l">
              <a:lnSpc>
                <a:spcPct val="120000"/>
              </a:lnSpc>
              <a:spcBef>
                <a:spcPts val="0"/>
              </a:spcBef>
              <a:spcAft>
                <a:spcPts val="0"/>
              </a:spcAft>
            </a:pPr>
            <a:r>
              <a:rPr sz="950" b="0">
                <a:solidFill>
                  <a:srgbClr val="8A9099"/>
                </a:solidFill>
                <a:latin typeface="Red Hat Text"/>
              </a:rPr>
              <a:t>The concept diagram eventing-deep-dive-...-01-eventing-model.svg — amber PingSource + a "you: POST" actor both feeding a blue Broker; three green triggers (catch-all, filter type, filter claimpriority) each to the light-blue consumer; a dashed edge to the dead-letter sink. Inset card: the CloudEvents envelope (type/source/id/specversion + Data), with `claimpriority: high` flagged as an "extension attribute → routable."</a:t>
            </a:r>
          </a:p>
        </p:txBody>
      </p:sp>
      <p:cxnSp>
        <p:nvCxnSpPr>
          <p:cNvPr id="27" name="Connector 26"/>
          <p:cNvCxnSpPr/>
          <p:nvPr/>
        </p:nvCxnSpPr>
        <p:spPr>
          <a:xfrm>
            <a:off x="841248" y="6437376"/>
            <a:ext cx="10509199" cy="0"/>
          </a:xfrm>
          <a:prstGeom prst="bentConnector3">
            <a:avLst/>
          </a:prstGeom>
          <a:ln w="12700">
            <a:solidFill>
              <a:srgbClr val="DDE1E6"/>
            </a:solidFill>
          </a:ln>
          <a:effectLst/>
        </p:spPr>
        <p:style>
          <a:lnRef idx="2">
            <a:schemeClr val="accent1"/>
          </a:lnRef>
          <a:fillRef idx="0">
            <a:schemeClr val="accent1"/>
          </a:fillRef>
          <a:effectRef idx="1">
            <a:schemeClr val="accent1"/>
          </a:effectRef>
          <a:fontRef idx="minor">
            <a:schemeClr val="tx1"/>
          </a:fontRef>
        </p:style>
      </p:cxnSp>
      <p:sp>
        <p:nvSpPr>
          <p:cNvPr id="28" name="TextBox 27"/>
          <p:cNvSpPr txBox="1"/>
          <p:nvPr/>
        </p:nvSpPr>
        <p:spPr>
          <a:xfrm>
            <a:off x="841248" y="6473952"/>
            <a:ext cx="7315200" cy="274320"/>
          </a:xfrm>
          <a:prstGeom prst="rect">
            <a:avLst/>
          </a:prstGeom>
          <a:noFill/>
        </p:spPr>
        <p:txBody>
          <a:bodyPr wrap="square" anchor="t" lIns="0" rIns="0" tIns="0" bIns="0">
            <a:spAutoFit/>
          </a:bodyPr>
          <a:lstStyle/>
          <a:p>
            <a:pPr algn="l">
              <a:lnSpc>
                <a:spcPct val="106000"/>
              </a:lnSpc>
              <a:spcBef>
                <a:spcPts val="0"/>
              </a:spcBef>
              <a:spcAft>
                <a:spcPts val="0"/>
              </a:spcAft>
            </a:pPr>
            <a:r>
              <a:rPr sz="950" b="0">
                <a:solidFill>
                  <a:srgbClr val="8A9099"/>
                </a:solidFill>
                <a:latin typeface="Red Hat Text"/>
              </a:rPr>
              <a:t>CONFIDENTIAL</a:t>
            </a:r>
          </a:p>
        </p:txBody>
      </p:sp>
      <p:sp>
        <p:nvSpPr>
          <p:cNvPr id="29" name="TextBox 28"/>
          <p:cNvSpPr txBox="1"/>
          <p:nvPr/>
        </p:nvSpPr>
        <p:spPr>
          <a:xfrm>
            <a:off x="10801807" y="6473952"/>
            <a:ext cx="548640" cy="274320"/>
          </a:xfrm>
          <a:prstGeom prst="rect">
            <a:avLst/>
          </a:prstGeom>
          <a:noFill/>
        </p:spPr>
        <p:txBody>
          <a:bodyPr wrap="square" anchor="t" lIns="0" rIns="0" tIns="0" bIns="0">
            <a:spAutoFit/>
          </a:bodyPr>
          <a:lstStyle/>
          <a:p>
            <a:pPr algn="r">
              <a:lnSpc>
                <a:spcPct val="106000"/>
              </a:lnSpc>
              <a:spcBef>
                <a:spcPts val="0"/>
              </a:spcBef>
              <a:spcAft>
                <a:spcPts val="0"/>
              </a:spcAft>
            </a:pPr>
            <a:r>
              <a:rPr sz="950" b="0">
                <a:solidFill>
                  <a:srgbClr val="8A9099"/>
                </a:solidFill>
                <a:latin typeface="Red Hat Text"/>
              </a:rPr>
              <a:t>151</a:t>
            </a:r>
          </a:p>
        </p:txBody>
      </p:sp>
    </p:spTree>
  </p:cSld>
  <p:clrMapOvr>
    <a:masterClrMapping/>
  </p:clrMapOvr>
</p:sld>
</file>

<file path=ppt/slides/slide17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redhat_logo.jpg"/>
          <p:cNvPicPr>
            <a:picLocks noChangeAspect="1"/>
          </p:cNvPicPr>
          <p:nvPr/>
        </p:nvPicPr>
        <p:blipFill>
          <a:blip r:embed="rId2"/>
          <a:stretch>
            <a:fillRect/>
          </a:stretch>
        </p:blipFill>
        <p:spPr>
          <a:xfrm>
            <a:off x="10326319" y="475488"/>
            <a:ext cx="1024128" cy="242248"/>
          </a:xfrm>
          <a:prstGeom prst="rect">
            <a:avLst/>
          </a:prstGeom>
        </p:spPr>
      </p:pic>
      <p:sp>
        <p:nvSpPr>
          <p:cNvPr id="3" name="TextBox 2"/>
          <p:cNvSpPr txBox="1"/>
          <p:nvPr/>
        </p:nvSpPr>
        <p:spPr>
          <a:xfrm>
            <a:off x="841248" y="548640"/>
            <a:ext cx="8595360" cy="274320"/>
          </a:xfrm>
          <a:prstGeom prst="rect">
            <a:avLst/>
          </a:prstGeom>
          <a:noFill/>
        </p:spPr>
        <p:txBody>
          <a:bodyPr wrap="square" anchor="t" lIns="0" rIns="0" tIns="0" bIns="0">
            <a:spAutoFit/>
          </a:bodyPr>
          <a:lstStyle/>
          <a:p>
            <a:pPr algn="l">
              <a:lnSpc>
                <a:spcPct val="106000"/>
              </a:lnSpc>
              <a:spcBef>
                <a:spcPts val="0"/>
              </a:spcBef>
              <a:spcAft>
                <a:spcPts val="0"/>
              </a:spcAft>
            </a:pPr>
            <a:r>
              <a:rPr sz="1250" b="1" spc="220">
                <a:solidFill>
                  <a:srgbClr val="EE0000"/>
                </a:solidFill>
                <a:latin typeface="Red Hat Display"/>
              </a:rPr>
              <a:t>M21 · EVENTING DEEP-DIVE &amp; SERVERLESS WORKFLOWS</a:t>
            </a:r>
          </a:p>
        </p:txBody>
      </p:sp>
      <p:sp>
        <p:nvSpPr>
          <p:cNvPr id="4" name="TextBox 3"/>
          <p:cNvSpPr txBox="1"/>
          <p:nvPr/>
        </p:nvSpPr>
        <p:spPr>
          <a:xfrm>
            <a:off x="841248" y="877824"/>
            <a:ext cx="10515600" cy="548640"/>
          </a:xfrm>
          <a:prstGeom prst="rect">
            <a:avLst/>
          </a:prstGeom>
          <a:noFill/>
        </p:spPr>
        <p:txBody>
          <a:bodyPr wrap="none" anchor="t" lIns="0" rIns="0" tIns="0" bIns="0">
            <a:spAutoFit/>
          </a:bodyPr>
          <a:lstStyle/>
          <a:p>
            <a:pPr algn="l">
              <a:lnSpc>
                <a:spcPct val="100000"/>
              </a:lnSpc>
              <a:spcBef>
                <a:spcPts val="0"/>
              </a:spcBef>
              <a:spcAft>
                <a:spcPts val="0"/>
              </a:spcAft>
            </a:pPr>
            <a:r>
              <a:rPr sz="2500" b="1">
                <a:solidFill>
                  <a:srgbClr val="1A1A1A"/>
                </a:solidFill>
                <a:latin typeface="Red Hat Display"/>
              </a:rPr>
              <a:t>Broker + Trigger vs Channel + Subscription</a:t>
            </a:r>
          </a:p>
        </p:txBody>
      </p:sp>
      <p:cxnSp>
        <p:nvCxnSpPr>
          <p:cNvPr id="5" name="Connector 4"/>
          <p:cNvCxnSpPr/>
          <p:nvPr/>
        </p:nvCxnSpPr>
        <p:spPr>
          <a:xfrm>
            <a:off x="841248" y="1554480"/>
            <a:ext cx="1371600" cy="0"/>
          </a:xfrm>
          <a:prstGeom prst="bentConnector3">
            <a:avLst/>
          </a:prstGeom>
          <a:ln w="31750">
            <a:solidFill>
              <a:srgbClr val="EE0000"/>
            </a:solidFill>
          </a:ln>
          <a:effectLst/>
        </p:spPr>
        <p:style>
          <a:lnRef idx="2">
            <a:schemeClr val="accent1"/>
          </a:lnRef>
          <a:fillRef idx="0">
            <a:schemeClr val="accent1"/>
          </a:fillRef>
          <a:effectRef idx="1">
            <a:schemeClr val="accent1"/>
          </a:effectRef>
          <a:fontRef idx="minor">
            <a:schemeClr val="tx1"/>
          </a:fontRef>
        </p:style>
      </p:cxnSp>
      <p:sp>
        <p:nvSpPr>
          <p:cNvPr id="6" name="Rounded Rectangle 5"/>
          <p:cNvSpPr/>
          <p:nvPr/>
        </p:nvSpPr>
        <p:spPr>
          <a:xfrm>
            <a:off x="841248" y="2395728"/>
            <a:ext cx="5715000" cy="530352"/>
          </a:xfrm>
          <a:prstGeom prst="roundRect">
            <a:avLst>
              <a:gd name="adj" fmla="val 6000"/>
            </a:avLst>
          </a:prstGeom>
          <a:solidFill>
            <a:srgbClr val="F5F6F8"/>
          </a:solidFill>
          <a:ln w="12700">
            <a:solidFill>
              <a:srgbClr val="DDE1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check_steel.png"/>
          <p:cNvPicPr>
            <a:picLocks noChangeAspect="1"/>
          </p:cNvPicPr>
          <p:nvPr/>
        </p:nvPicPr>
        <p:blipFill>
          <a:blip r:embed="rId3"/>
          <a:stretch>
            <a:fillRect/>
          </a:stretch>
        </p:blipFill>
        <p:spPr>
          <a:xfrm>
            <a:off x="987552" y="2542032"/>
            <a:ext cx="237744" cy="237744"/>
          </a:xfrm>
          <a:prstGeom prst="rect">
            <a:avLst/>
          </a:prstGeom>
        </p:spPr>
      </p:pic>
      <p:sp>
        <p:nvSpPr>
          <p:cNvPr id="8" name="TextBox 7"/>
          <p:cNvSpPr txBox="1"/>
          <p:nvPr/>
        </p:nvSpPr>
        <p:spPr>
          <a:xfrm>
            <a:off x="1353312" y="2395728"/>
            <a:ext cx="5029200" cy="530352"/>
          </a:xfrm>
          <a:prstGeom prst="rect">
            <a:avLst/>
          </a:prstGeom>
          <a:noFill/>
        </p:spPr>
        <p:txBody>
          <a:bodyPr wrap="square" anchor="ctr" lIns="0" rIns="0" tIns="0" bIns="0">
            <a:spAutoFit/>
          </a:bodyPr>
          <a:lstStyle/>
          <a:p>
            <a:pPr algn="l">
              <a:lnSpc>
                <a:spcPct val="106000"/>
              </a:lnSpc>
              <a:spcBef>
                <a:spcPts val="0"/>
              </a:spcBef>
              <a:spcAft>
                <a:spcPts val="0"/>
              </a:spcAft>
            </a:pPr>
            <a:r>
              <a:rPr sz="1200" b="0">
                <a:solidFill>
                  <a:srgbClr val="1A1A1A"/>
                </a:solidFill>
                <a:latin typeface="Red Hat Text"/>
              </a:rPr>
              <a:t>Broker + Trigger = a HUB with per-trigger attribute FILTERING → fan-out to the right consumers</a:t>
            </a:r>
          </a:p>
        </p:txBody>
      </p:sp>
      <p:sp>
        <p:nvSpPr>
          <p:cNvPr id="9" name="Rounded Rectangle 8"/>
          <p:cNvSpPr/>
          <p:nvPr/>
        </p:nvSpPr>
        <p:spPr>
          <a:xfrm>
            <a:off x="841248" y="2999232"/>
            <a:ext cx="5715000" cy="530352"/>
          </a:xfrm>
          <a:prstGeom prst="roundRect">
            <a:avLst>
              <a:gd name="adj" fmla="val 6000"/>
            </a:avLst>
          </a:prstGeom>
          <a:solidFill>
            <a:srgbClr val="F5F6F8"/>
          </a:solidFill>
          <a:ln w="12700">
            <a:solidFill>
              <a:srgbClr val="DDE1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0" name="Picture 9" descr="check_steel.png"/>
          <p:cNvPicPr>
            <a:picLocks noChangeAspect="1"/>
          </p:cNvPicPr>
          <p:nvPr/>
        </p:nvPicPr>
        <p:blipFill>
          <a:blip r:embed="rId3"/>
          <a:stretch>
            <a:fillRect/>
          </a:stretch>
        </p:blipFill>
        <p:spPr>
          <a:xfrm>
            <a:off x="987552" y="3145536"/>
            <a:ext cx="237744" cy="237744"/>
          </a:xfrm>
          <a:prstGeom prst="rect">
            <a:avLst/>
          </a:prstGeom>
        </p:spPr>
      </p:pic>
      <p:sp>
        <p:nvSpPr>
          <p:cNvPr id="11" name="TextBox 10"/>
          <p:cNvSpPr txBox="1"/>
          <p:nvPr/>
        </p:nvSpPr>
        <p:spPr>
          <a:xfrm>
            <a:off x="1353312" y="2999232"/>
            <a:ext cx="5029200" cy="530352"/>
          </a:xfrm>
          <a:prstGeom prst="rect">
            <a:avLst/>
          </a:prstGeom>
          <a:noFill/>
        </p:spPr>
        <p:txBody>
          <a:bodyPr wrap="square" anchor="ctr" lIns="0" rIns="0" tIns="0" bIns="0">
            <a:spAutoFit/>
          </a:bodyPr>
          <a:lstStyle/>
          <a:p>
            <a:pPr algn="l">
              <a:lnSpc>
                <a:spcPct val="106000"/>
              </a:lnSpc>
              <a:spcBef>
                <a:spcPts val="0"/>
              </a:spcBef>
              <a:spcAft>
                <a:spcPts val="0"/>
              </a:spcAft>
            </a:pPr>
            <a:r>
              <a:rPr sz="1200" b="0">
                <a:solidFill>
                  <a:srgbClr val="1A1A1A"/>
                </a:solidFill>
                <a:latin typeface="Red Hat Text"/>
              </a:rPr>
              <a:t>Channel + Subscription = a linear PIPE, no filter, every subscriber gets everything</a:t>
            </a:r>
          </a:p>
        </p:txBody>
      </p:sp>
      <p:sp>
        <p:nvSpPr>
          <p:cNvPr id="12" name="Rounded Rectangle 11"/>
          <p:cNvSpPr/>
          <p:nvPr/>
        </p:nvSpPr>
        <p:spPr>
          <a:xfrm>
            <a:off x="841248" y="3602736"/>
            <a:ext cx="5715000" cy="530352"/>
          </a:xfrm>
          <a:prstGeom prst="roundRect">
            <a:avLst>
              <a:gd name="adj" fmla="val 6000"/>
            </a:avLst>
          </a:prstGeom>
          <a:solidFill>
            <a:srgbClr val="F5F6F8"/>
          </a:solidFill>
          <a:ln w="12700">
            <a:solidFill>
              <a:srgbClr val="DDE1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3" name="Picture 12" descr="check_steel.png"/>
          <p:cNvPicPr>
            <a:picLocks noChangeAspect="1"/>
          </p:cNvPicPr>
          <p:nvPr/>
        </p:nvPicPr>
        <p:blipFill>
          <a:blip r:embed="rId3"/>
          <a:stretch>
            <a:fillRect/>
          </a:stretch>
        </p:blipFill>
        <p:spPr>
          <a:xfrm>
            <a:off x="987552" y="3749040"/>
            <a:ext cx="237744" cy="237744"/>
          </a:xfrm>
          <a:prstGeom prst="rect">
            <a:avLst/>
          </a:prstGeom>
        </p:spPr>
      </p:pic>
      <p:sp>
        <p:nvSpPr>
          <p:cNvPr id="14" name="TextBox 13"/>
          <p:cNvSpPr txBox="1"/>
          <p:nvPr/>
        </p:nvSpPr>
        <p:spPr>
          <a:xfrm>
            <a:off x="1353312" y="3602736"/>
            <a:ext cx="5029200" cy="530352"/>
          </a:xfrm>
          <a:prstGeom prst="rect">
            <a:avLst/>
          </a:prstGeom>
          <a:noFill/>
        </p:spPr>
        <p:txBody>
          <a:bodyPr wrap="square" anchor="ctr" lIns="0" rIns="0" tIns="0" bIns="0">
            <a:spAutoFit/>
          </a:bodyPr>
          <a:lstStyle/>
          <a:p>
            <a:pPr algn="l">
              <a:lnSpc>
                <a:spcPct val="106000"/>
              </a:lnSpc>
              <a:spcBef>
                <a:spcPts val="0"/>
              </a:spcBef>
              <a:spcAft>
                <a:spcPts val="0"/>
              </a:spcAft>
            </a:pPr>
            <a:r>
              <a:rPr sz="1200" b="0">
                <a:solidFill>
                  <a:srgbClr val="1A1A1A"/>
                </a:solidFill>
                <a:latin typeface="Red Hat Text"/>
              </a:rPr>
              <a:t>Reach for Broker+Trigger for event DISTRIBUTION (the app-integration case)</a:t>
            </a:r>
          </a:p>
        </p:txBody>
      </p:sp>
      <p:sp>
        <p:nvSpPr>
          <p:cNvPr id="15" name="Rounded Rectangle 14"/>
          <p:cNvSpPr/>
          <p:nvPr/>
        </p:nvSpPr>
        <p:spPr>
          <a:xfrm>
            <a:off x="841248" y="4206240"/>
            <a:ext cx="5715000" cy="530352"/>
          </a:xfrm>
          <a:prstGeom prst="roundRect">
            <a:avLst>
              <a:gd name="adj" fmla="val 6000"/>
            </a:avLst>
          </a:prstGeom>
          <a:solidFill>
            <a:srgbClr val="F5F6F8"/>
          </a:solidFill>
          <a:ln w="12700">
            <a:solidFill>
              <a:srgbClr val="DDE1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6" name="Picture 15" descr="check_steel.png"/>
          <p:cNvPicPr>
            <a:picLocks noChangeAspect="1"/>
          </p:cNvPicPr>
          <p:nvPr/>
        </p:nvPicPr>
        <p:blipFill>
          <a:blip r:embed="rId3"/>
          <a:stretch>
            <a:fillRect/>
          </a:stretch>
        </p:blipFill>
        <p:spPr>
          <a:xfrm>
            <a:off x="987552" y="4352544"/>
            <a:ext cx="237744" cy="237744"/>
          </a:xfrm>
          <a:prstGeom prst="rect">
            <a:avLst/>
          </a:prstGeom>
        </p:spPr>
      </p:pic>
      <p:sp>
        <p:nvSpPr>
          <p:cNvPr id="17" name="TextBox 16"/>
          <p:cNvSpPr txBox="1"/>
          <p:nvPr/>
        </p:nvSpPr>
        <p:spPr>
          <a:xfrm>
            <a:off x="1353312" y="4206240"/>
            <a:ext cx="5029200" cy="530352"/>
          </a:xfrm>
          <a:prstGeom prst="rect">
            <a:avLst/>
          </a:prstGeom>
          <a:noFill/>
        </p:spPr>
        <p:txBody>
          <a:bodyPr wrap="square" anchor="ctr" lIns="0" rIns="0" tIns="0" bIns="0">
            <a:spAutoFit/>
          </a:bodyPr>
          <a:lstStyle/>
          <a:p>
            <a:pPr algn="l">
              <a:lnSpc>
                <a:spcPct val="106000"/>
              </a:lnSpc>
              <a:spcBef>
                <a:spcPts val="0"/>
              </a:spcBef>
              <a:spcAft>
                <a:spcPts val="0"/>
              </a:spcAft>
            </a:pPr>
            <a:r>
              <a:rPr sz="1200" b="0">
                <a:solidFill>
                  <a:srgbClr val="1A1A1A"/>
                </a:solidFill>
                <a:latin typeface="Red Hat Text"/>
              </a:rPr>
              <a:t>Reach for Channel+Subscription for an ORDERED processing pipeline</a:t>
            </a:r>
          </a:p>
        </p:txBody>
      </p:sp>
      <p:sp>
        <p:nvSpPr>
          <p:cNvPr id="18" name="Rounded Rectangle 17"/>
          <p:cNvSpPr/>
          <p:nvPr/>
        </p:nvSpPr>
        <p:spPr>
          <a:xfrm>
            <a:off x="841248" y="4809744"/>
            <a:ext cx="5715000" cy="530352"/>
          </a:xfrm>
          <a:prstGeom prst="roundRect">
            <a:avLst>
              <a:gd name="adj" fmla="val 6000"/>
            </a:avLst>
          </a:prstGeom>
          <a:solidFill>
            <a:srgbClr val="F5F6F8"/>
          </a:solidFill>
          <a:ln w="12700">
            <a:solidFill>
              <a:srgbClr val="DDE1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9" name="Picture 18" descr="check_steel.png"/>
          <p:cNvPicPr>
            <a:picLocks noChangeAspect="1"/>
          </p:cNvPicPr>
          <p:nvPr/>
        </p:nvPicPr>
        <p:blipFill>
          <a:blip r:embed="rId3"/>
          <a:stretch>
            <a:fillRect/>
          </a:stretch>
        </p:blipFill>
        <p:spPr>
          <a:xfrm>
            <a:off x="987552" y="4956048"/>
            <a:ext cx="237744" cy="237744"/>
          </a:xfrm>
          <a:prstGeom prst="rect">
            <a:avLst/>
          </a:prstGeom>
        </p:spPr>
      </p:pic>
      <p:sp>
        <p:nvSpPr>
          <p:cNvPr id="20" name="TextBox 19"/>
          <p:cNvSpPr txBox="1"/>
          <p:nvPr/>
        </p:nvSpPr>
        <p:spPr>
          <a:xfrm>
            <a:off x="1353312" y="4809744"/>
            <a:ext cx="5029200" cy="530352"/>
          </a:xfrm>
          <a:prstGeom prst="rect">
            <a:avLst/>
          </a:prstGeom>
          <a:noFill/>
        </p:spPr>
        <p:txBody>
          <a:bodyPr wrap="square" anchor="ctr" lIns="0" rIns="0" tIns="0" bIns="0">
            <a:spAutoFit/>
          </a:bodyPr>
          <a:lstStyle/>
          <a:p>
            <a:pPr algn="l">
              <a:lnSpc>
                <a:spcPct val="106000"/>
              </a:lnSpc>
              <a:spcBef>
                <a:spcPts val="0"/>
              </a:spcBef>
              <a:spcAft>
                <a:spcPts val="0"/>
              </a:spcAft>
            </a:pPr>
            <a:r>
              <a:rPr sz="1200" b="0">
                <a:solidFill>
                  <a:srgbClr val="1A1A1A"/>
                </a:solidFill>
                <a:latin typeface="Red Hat Text"/>
              </a:rPr>
              <a:t>A broker is built ON a channel — it's a choice of abstraction, not two systems</a:t>
            </a:r>
          </a:p>
        </p:txBody>
      </p:sp>
      <p:sp>
        <p:nvSpPr>
          <p:cNvPr id="21" name="Rounded Rectangle 20"/>
          <p:cNvSpPr/>
          <p:nvPr/>
        </p:nvSpPr>
        <p:spPr>
          <a:xfrm>
            <a:off x="6812280" y="2395728"/>
            <a:ext cx="4538167" cy="2944368"/>
          </a:xfrm>
          <a:prstGeom prst="roundRect">
            <a:avLst>
              <a:gd name="adj" fmla="val 4000"/>
            </a:avLst>
          </a:prstGeom>
          <a:solidFill>
            <a:srgbClr val="FFFFFF"/>
          </a:solidFill>
          <a:ln w="15240">
            <a:solidFill>
              <a:srgbClr val="DDE1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ounded Rectangle 21"/>
          <p:cNvSpPr/>
          <p:nvPr/>
        </p:nvSpPr>
        <p:spPr>
          <a:xfrm>
            <a:off x="7013448" y="2596896"/>
            <a:ext cx="1298448" cy="310896"/>
          </a:xfrm>
          <a:prstGeom prst="roundRect">
            <a:avLst>
              <a:gd name="adj" fmla="val 50000"/>
            </a:avLst>
          </a:prstGeom>
          <a:solidFill>
            <a:srgbClr val="FCEC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7013448" y="2596896"/>
            <a:ext cx="1298448" cy="310896"/>
          </a:xfrm>
          <a:prstGeom prst="rect">
            <a:avLst/>
          </a:prstGeom>
          <a:noFill/>
        </p:spPr>
        <p:txBody>
          <a:bodyPr wrap="none" anchor="ctr" lIns="0" rIns="0" tIns="0" bIns="0">
            <a:spAutoFit/>
          </a:bodyPr>
          <a:lstStyle/>
          <a:p>
            <a:pPr algn="ctr">
              <a:lnSpc>
                <a:spcPct val="106000"/>
              </a:lnSpc>
              <a:spcBef>
                <a:spcPts val="0"/>
              </a:spcBef>
              <a:spcAft>
                <a:spcPts val="0"/>
              </a:spcAft>
            </a:pPr>
            <a:r>
              <a:rPr sz="850" b="1">
                <a:solidFill>
                  <a:srgbClr val="B80000"/>
                </a:solidFill>
                <a:latin typeface="Red Hat Display"/>
              </a:rPr>
              <a:t>MEDIA PASS</a:t>
            </a:r>
          </a:p>
        </p:txBody>
      </p:sp>
      <p:pic>
        <p:nvPicPr>
          <p:cNvPr id="24" name="Picture 23" descr="eye_slate.png"/>
          <p:cNvPicPr>
            <a:picLocks noChangeAspect="1"/>
          </p:cNvPicPr>
          <p:nvPr/>
        </p:nvPicPr>
        <p:blipFill>
          <a:blip r:embed="rId4"/>
          <a:stretch>
            <a:fillRect/>
          </a:stretch>
        </p:blipFill>
        <p:spPr>
          <a:xfrm>
            <a:off x="8843619" y="3108960"/>
            <a:ext cx="475488" cy="475488"/>
          </a:xfrm>
          <a:prstGeom prst="rect">
            <a:avLst/>
          </a:prstGeom>
        </p:spPr>
      </p:pic>
      <p:sp>
        <p:nvSpPr>
          <p:cNvPr id="25" name="TextBox 24"/>
          <p:cNvSpPr txBox="1"/>
          <p:nvPr/>
        </p:nvSpPr>
        <p:spPr>
          <a:xfrm>
            <a:off x="7050024" y="3721608"/>
            <a:ext cx="4062679" cy="1481328"/>
          </a:xfrm>
          <a:prstGeom prst="rect">
            <a:avLst/>
          </a:prstGeom>
          <a:noFill/>
        </p:spPr>
        <p:txBody>
          <a:bodyPr wrap="square" anchor="t" lIns="0" rIns="0" tIns="0" bIns="0">
            <a:spAutoFit/>
          </a:bodyPr>
          <a:lstStyle/>
          <a:p>
            <a:pPr algn="l">
              <a:lnSpc>
                <a:spcPct val="120000"/>
              </a:lnSpc>
              <a:spcBef>
                <a:spcPts val="0"/>
              </a:spcBef>
              <a:spcAft>
                <a:spcPts val="0"/>
              </a:spcAft>
            </a:pPr>
            <a:r>
              <a:rPr sz="950" b="0">
                <a:solidFill>
                  <a:srgbClr val="8A9099"/>
                </a:solidFill>
                <a:latin typeface="Red Hat Text"/>
              </a:rPr>
              <a:t>Two side-by-side diagrams. Left "Broker + Trigger": a hub with three triggers, each labeled with a different filter, fanning to three distinct consumers ("filtered fan-out"). Right "Channel + Subscription": a straight pipe with three inline subscribers in sequence ("ordered, no filter"). A footer decision line: "distributing to many, filtered → Broker · linear pipeline → Channel."</a:t>
            </a:r>
          </a:p>
        </p:txBody>
      </p:sp>
      <p:cxnSp>
        <p:nvCxnSpPr>
          <p:cNvPr id="26" name="Connector 25"/>
          <p:cNvCxnSpPr/>
          <p:nvPr/>
        </p:nvCxnSpPr>
        <p:spPr>
          <a:xfrm>
            <a:off x="841248" y="6437376"/>
            <a:ext cx="10509199" cy="0"/>
          </a:xfrm>
          <a:prstGeom prst="bentConnector3">
            <a:avLst/>
          </a:prstGeom>
          <a:ln w="12700">
            <a:solidFill>
              <a:srgbClr val="DDE1E6"/>
            </a:solidFill>
          </a:ln>
          <a:effectLst/>
        </p:spPr>
        <p:style>
          <a:lnRef idx="2">
            <a:schemeClr val="accent1"/>
          </a:lnRef>
          <a:fillRef idx="0">
            <a:schemeClr val="accent1"/>
          </a:fillRef>
          <a:effectRef idx="1">
            <a:schemeClr val="accent1"/>
          </a:effectRef>
          <a:fontRef idx="minor">
            <a:schemeClr val="tx1"/>
          </a:fontRef>
        </p:style>
      </p:cxnSp>
      <p:sp>
        <p:nvSpPr>
          <p:cNvPr id="27" name="TextBox 26"/>
          <p:cNvSpPr txBox="1"/>
          <p:nvPr/>
        </p:nvSpPr>
        <p:spPr>
          <a:xfrm>
            <a:off x="841248" y="6473952"/>
            <a:ext cx="7315200" cy="274320"/>
          </a:xfrm>
          <a:prstGeom prst="rect">
            <a:avLst/>
          </a:prstGeom>
          <a:noFill/>
        </p:spPr>
        <p:txBody>
          <a:bodyPr wrap="square" anchor="t" lIns="0" rIns="0" tIns="0" bIns="0">
            <a:spAutoFit/>
          </a:bodyPr>
          <a:lstStyle/>
          <a:p>
            <a:pPr algn="l">
              <a:lnSpc>
                <a:spcPct val="106000"/>
              </a:lnSpc>
              <a:spcBef>
                <a:spcPts val="0"/>
              </a:spcBef>
              <a:spcAft>
                <a:spcPts val="0"/>
              </a:spcAft>
            </a:pPr>
            <a:r>
              <a:rPr sz="950" b="0">
                <a:solidFill>
                  <a:srgbClr val="8A9099"/>
                </a:solidFill>
                <a:latin typeface="Red Hat Text"/>
              </a:rPr>
              <a:t>CONFIDENTIAL</a:t>
            </a:r>
          </a:p>
        </p:txBody>
      </p:sp>
      <p:sp>
        <p:nvSpPr>
          <p:cNvPr id="28" name="TextBox 27"/>
          <p:cNvSpPr txBox="1"/>
          <p:nvPr/>
        </p:nvSpPr>
        <p:spPr>
          <a:xfrm>
            <a:off x="10801807" y="6473952"/>
            <a:ext cx="548640" cy="274320"/>
          </a:xfrm>
          <a:prstGeom prst="rect">
            <a:avLst/>
          </a:prstGeom>
          <a:noFill/>
        </p:spPr>
        <p:txBody>
          <a:bodyPr wrap="square" anchor="t" lIns="0" rIns="0" tIns="0" bIns="0">
            <a:spAutoFit/>
          </a:bodyPr>
          <a:lstStyle/>
          <a:p>
            <a:pPr algn="r">
              <a:lnSpc>
                <a:spcPct val="106000"/>
              </a:lnSpc>
              <a:spcBef>
                <a:spcPts val="0"/>
              </a:spcBef>
              <a:spcAft>
                <a:spcPts val="0"/>
              </a:spcAft>
            </a:pPr>
            <a:r>
              <a:rPr sz="950" b="0">
                <a:solidFill>
                  <a:srgbClr val="8A9099"/>
                </a:solidFill>
                <a:latin typeface="Red Hat Text"/>
              </a:rPr>
              <a:t>152</a:t>
            </a:r>
          </a:p>
        </p:txBody>
      </p:sp>
    </p:spTree>
  </p:cSld>
  <p:clrMapOvr>
    <a:masterClrMapping/>
  </p:clrMapOvr>
</p:sld>
</file>

<file path=ppt/slides/slide17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redhat_logo.jpg"/>
          <p:cNvPicPr>
            <a:picLocks noChangeAspect="1"/>
          </p:cNvPicPr>
          <p:nvPr/>
        </p:nvPicPr>
        <p:blipFill>
          <a:blip r:embed="rId2"/>
          <a:stretch>
            <a:fillRect/>
          </a:stretch>
        </p:blipFill>
        <p:spPr>
          <a:xfrm>
            <a:off x="10326319" y="475488"/>
            <a:ext cx="1024128" cy="242248"/>
          </a:xfrm>
          <a:prstGeom prst="rect">
            <a:avLst/>
          </a:prstGeom>
        </p:spPr>
      </p:pic>
      <p:sp>
        <p:nvSpPr>
          <p:cNvPr id="3" name="TextBox 2"/>
          <p:cNvSpPr txBox="1"/>
          <p:nvPr/>
        </p:nvSpPr>
        <p:spPr>
          <a:xfrm>
            <a:off x="841248" y="548640"/>
            <a:ext cx="8595360" cy="274320"/>
          </a:xfrm>
          <a:prstGeom prst="rect">
            <a:avLst/>
          </a:prstGeom>
          <a:noFill/>
        </p:spPr>
        <p:txBody>
          <a:bodyPr wrap="square" anchor="t" lIns="0" rIns="0" tIns="0" bIns="0">
            <a:spAutoFit/>
          </a:bodyPr>
          <a:lstStyle/>
          <a:p>
            <a:pPr algn="l">
              <a:lnSpc>
                <a:spcPct val="106000"/>
              </a:lnSpc>
              <a:spcBef>
                <a:spcPts val="0"/>
              </a:spcBef>
              <a:spcAft>
                <a:spcPts val="0"/>
              </a:spcAft>
            </a:pPr>
            <a:r>
              <a:rPr sz="1250" b="1" spc="220">
                <a:solidFill>
                  <a:srgbClr val="EE0000"/>
                </a:solidFill>
                <a:latin typeface="Red Hat Display"/>
              </a:rPr>
              <a:t>M21 · EVENTING DEEP-DIVE &amp; SERVERLESS WORKFLOWS</a:t>
            </a:r>
          </a:p>
        </p:txBody>
      </p:sp>
      <p:sp>
        <p:nvSpPr>
          <p:cNvPr id="4" name="TextBox 3"/>
          <p:cNvSpPr txBox="1"/>
          <p:nvPr/>
        </p:nvSpPr>
        <p:spPr>
          <a:xfrm>
            <a:off x="841248" y="877824"/>
            <a:ext cx="10515600" cy="548640"/>
          </a:xfrm>
          <a:prstGeom prst="rect">
            <a:avLst/>
          </a:prstGeom>
          <a:noFill/>
        </p:spPr>
        <p:txBody>
          <a:bodyPr wrap="none" anchor="t" lIns="0" rIns="0" tIns="0" bIns="0">
            <a:spAutoFit/>
          </a:bodyPr>
          <a:lstStyle/>
          <a:p>
            <a:pPr algn="l">
              <a:lnSpc>
                <a:spcPct val="100000"/>
              </a:lnSpc>
              <a:spcBef>
                <a:spcPts val="0"/>
              </a:spcBef>
              <a:spcAft>
                <a:spcPts val="0"/>
              </a:spcAft>
            </a:pPr>
            <a:r>
              <a:rPr sz="2500" b="1">
                <a:solidFill>
                  <a:srgbClr val="1A1A1A"/>
                </a:solidFill>
                <a:latin typeface="Red Hat Display"/>
              </a:rPr>
              <a:t>Route by attribute</a:t>
            </a:r>
          </a:p>
        </p:txBody>
      </p:sp>
      <p:cxnSp>
        <p:nvCxnSpPr>
          <p:cNvPr id="5" name="Connector 4"/>
          <p:cNvCxnSpPr/>
          <p:nvPr/>
        </p:nvCxnSpPr>
        <p:spPr>
          <a:xfrm>
            <a:off x="841248" y="1554480"/>
            <a:ext cx="1371600" cy="0"/>
          </a:xfrm>
          <a:prstGeom prst="bentConnector3">
            <a:avLst/>
          </a:prstGeom>
          <a:ln w="31750">
            <a:solidFill>
              <a:srgbClr val="EE0000"/>
            </a:solidFill>
          </a:ln>
          <a:effectLst/>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841248" y="1664208"/>
            <a:ext cx="10515600" cy="365760"/>
          </a:xfrm>
          <a:prstGeom prst="rect">
            <a:avLst/>
          </a:prstGeom>
          <a:noFill/>
        </p:spPr>
        <p:txBody>
          <a:bodyPr wrap="square" anchor="t" lIns="0" rIns="0" tIns="0" bIns="0">
            <a:spAutoFit/>
          </a:bodyPr>
          <a:lstStyle/>
          <a:p>
            <a:pPr algn="l">
              <a:lnSpc>
                <a:spcPct val="106000"/>
              </a:lnSpc>
              <a:spcBef>
                <a:spcPts val="0"/>
              </a:spcBef>
              <a:spcAft>
                <a:spcPts val="0"/>
              </a:spcAft>
            </a:pPr>
            <a:r>
              <a:rPr sz="1350" b="0">
                <a:solidFill>
                  <a:srgbClr val="555960"/>
                </a:solidFill>
                <a:latin typeface="Red Hat Text"/>
              </a:rPr>
              <a:t>the filter is the routing</a:t>
            </a:r>
          </a:p>
        </p:txBody>
      </p:sp>
      <p:sp>
        <p:nvSpPr>
          <p:cNvPr id="7" name="Rounded Rectangle 6"/>
          <p:cNvSpPr/>
          <p:nvPr/>
        </p:nvSpPr>
        <p:spPr>
          <a:xfrm>
            <a:off x="841248" y="2670048"/>
            <a:ext cx="5715000" cy="530352"/>
          </a:xfrm>
          <a:prstGeom prst="roundRect">
            <a:avLst>
              <a:gd name="adj" fmla="val 6000"/>
            </a:avLst>
          </a:prstGeom>
          <a:solidFill>
            <a:srgbClr val="F5F6F8"/>
          </a:solidFill>
          <a:ln w="12700">
            <a:solidFill>
              <a:srgbClr val="DDE1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check_steel.png"/>
          <p:cNvPicPr>
            <a:picLocks noChangeAspect="1"/>
          </p:cNvPicPr>
          <p:nvPr/>
        </p:nvPicPr>
        <p:blipFill>
          <a:blip r:embed="rId3"/>
          <a:stretch>
            <a:fillRect/>
          </a:stretch>
        </p:blipFill>
        <p:spPr>
          <a:xfrm>
            <a:off x="987552" y="2816352"/>
            <a:ext cx="237744" cy="237744"/>
          </a:xfrm>
          <a:prstGeom prst="rect">
            <a:avLst/>
          </a:prstGeom>
        </p:spPr>
      </p:pic>
      <p:sp>
        <p:nvSpPr>
          <p:cNvPr id="9" name="TextBox 8"/>
          <p:cNvSpPr txBox="1"/>
          <p:nvPr/>
        </p:nvSpPr>
        <p:spPr>
          <a:xfrm>
            <a:off x="1353312" y="2670048"/>
            <a:ext cx="5029200" cy="530352"/>
          </a:xfrm>
          <a:prstGeom prst="rect">
            <a:avLst/>
          </a:prstGeom>
          <a:noFill/>
        </p:spPr>
        <p:txBody>
          <a:bodyPr wrap="square" anchor="ctr" lIns="0" rIns="0" tIns="0" bIns="0">
            <a:spAutoFit/>
          </a:bodyPr>
          <a:lstStyle/>
          <a:p>
            <a:pPr algn="l">
              <a:lnSpc>
                <a:spcPct val="106000"/>
              </a:lnSpc>
              <a:spcBef>
                <a:spcPts val="0"/>
              </a:spcBef>
              <a:spcAft>
                <a:spcPts val="0"/>
              </a:spcAft>
            </a:pPr>
            <a:r>
              <a:rPr sz="1200" b="0">
                <a:solidFill>
                  <a:srgbClr val="1A1A1A"/>
                </a:solidFill>
                <a:latin typeface="Red Hat Text"/>
              </a:rPr>
              <a:t>A Trigger filter is an INCLUDE rule: matching delivered, non-matching DROPPED</a:t>
            </a:r>
          </a:p>
        </p:txBody>
      </p:sp>
      <p:sp>
        <p:nvSpPr>
          <p:cNvPr id="10" name="Rounded Rectangle 9"/>
          <p:cNvSpPr/>
          <p:nvPr/>
        </p:nvSpPr>
        <p:spPr>
          <a:xfrm>
            <a:off x="841248" y="3273552"/>
            <a:ext cx="5715000" cy="530352"/>
          </a:xfrm>
          <a:prstGeom prst="roundRect">
            <a:avLst>
              <a:gd name="adj" fmla="val 6000"/>
            </a:avLst>
          </a:prstGeom>
          <a:solidFill>
            <a:srgbClr val="F5F6F8"/>
          </a:solidFill>
          <a:ln w="12700">
            <a:solidFill>
              <a:srgbClr val="DDE1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1" name="Picture 10" descr="check_steel.png"/>
          <p:cNvPicPr>
            <a:picLocks noChangeAspect="1"/>
          </p:cNvPicPr>
          <p:nvPr/>
        </p:nvPicPr>
        <p:blipFill>
          <a:blip r:embed="rId3"/>
          <a:stretch>
            <a:fillRect/>
          </a:stretch>
        </p:blipFill>
        <p:spPr>
          <a:xfrm>
            <a:off x="987552" y="3419856"/>
            <a:ext cx="237744" cy="237744"/>
          </a:xfrm>
          <a:prstGeom prst="rect">
            <a:avLst/>
          </a:prstGeom>
        </p:spPr>
      </p:pic>
      <p:sp>
        <p:nvSpPr>
          <p:cNvPr id="12" name="TextBox 11"/>
          <p:cNvSpPr txBox="1"/>
          <p:nvPr/>
        </p:nvSpPr>
        <p:spPr>
          <a:xfrm>
            <a:off x="1353312" y="3273552"/>
            <a:ext cx="5029200" cy="530352"/>
          </a:xfrm>
          <a:prstGeom prst="rect">
            <a:avLst/>
          </a:prstGeom>
          <a:noFill/>
        </p:spPr>
        <p:txBody>
          <a:bodyPr wrap="square" anchor="ctr" lIns="0" rIns="0" tIns="0" bIns="0">
            <a:spAutoFit/>
          </a:bodyPr>
          <a:lstStyle/>
          <a:p>
            <a:pPr algn="l">
              <a:lnSpc>
                <a:spcPct val="106000"/>
              </a:lnSpc>
              <a:spcBef>
                <a:spcPts val="0"/>
              </a:spcBef>
              <a:spcAft>
                <a:spcPts val="0"/>
              </a:spcAft>
            </a:pPr>
            <a:r>
              <a:rPr sz="1200" b="0">
                <a:solidFill>
                  <a:srgbClr val="1A1A1A"/>
                </a:solidFill>
                <a:latin typeface="Red Hat Text"/>
              </a:rPr>
              <a:t>Filter on `type` (what happened) or a business extension attr (`claimpriority=high`)</a:t>
            </a:r>
          </a:p>
        </p:txBody>
      </p:sp>
      <p:sp>
        <p:nvSpPr>
          <p:cNvPr id="13" name="Rounded Rectangle 12"/>
          <p:cNvSpPr/>
          <p:nvPr/>
        </p:nvSpPr>
        <p:spPr>
          <a:xfrm>
            <a:off x="841248" y="3877056"/>
            <a:ext cx="5715000" cy="530352"/>
          </a:xfrm>
          <a:prstGeom prst="roundRect">
            <a:avLst>
              <a:gd name="adj" fmla="val 6000"/>
            </a:avLst>
          </a:prstGeom>
          <a:solidFill>
            <a:srgbClr val="F5F6F8"/>
          </a:solidFill>
          <a:ln w="12700">
            <a:solidFill>
              <a:srgbClr val="DDE1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4" name="Picture 13" descr="check_steel.png"/>
          <p:cNvPicPr>
            <a:picLocks noChangeAspect="1"/>
          </p:cNvPicPr>
          <p:nvPr/>
        </p:nvPicPr>
        <p:blipFill>
          <a:blip r:embed="rId3"/>
          <a:stretch>
            <a:fillRect/>
          </a:stretch>
        </p:blipFill>
        <p:spPr>
          <a:xfrm>
            <a:off x="987552" y="4023360"/>
            <a:ext cx="237744" cy="237744"/>
          </a:xfrm>
          <a:prstGeom prst="rect">
            <a:avLst/>
          </a:prstGeom>
        </p:spPr>
      </p:pic>
      <p:sp>
        <p:nvSpPr>
          <p:cNvPr id="15" name="TextBox 14"/>
          <p:cNvSpPr txBox="1"/>
          <p:nvPr/>
        </p:nvSpPr>
        <p:spPr>
          <a:xfrm>
            <a:off x="1353312" y="3877056"/>
            <a:ext cx="5029200" cy="530352"/>
          </a:xfrm>
          <a:prstGeom prst="rect">
            <a:avLst/>
          </a:prstGeom>
          <a:noFill/>
        </p:spPr>
        <p:txBody>
          <a:bodyPr wrap="square" anchor="ctr" lIns="0" rIns="0" tIns="0" bIns="0">
            <a:spAutoFit/>
          </a:bodyPr>
          <a:lstStyle/>
          <a:p>
            <a:pPr algn="l">
              <a:lnSpc>
                <a:spcPct val="106000"/>
              </a:lnSpc>
              <a:spcBef>
                <a:spcPts val="0"/>
              </a:spcBef>
              <a:spcAft>
                <a:spcPts val="0"/>
              </a:spcAft>
            </a:pPr>
            <a:r>
              <a:rPr sz="1200" b="0">
                <a:solidFill>
                  <a:srgbClr val="1A1A1A"/>
                </a:solidFill>
                <a:latin typeface="Red Hat Text"/>
              </a:rPr>
              <a:t>Triggers filter INDEPENDENTLY — one event can match several (fan-out) or none (dropped)</a:t>
            </a:r>
          </a:p>
        </p:txBody>
      </p:sp>
      <p:sp>
        <p:nvSpPr>
          <p:cNvPr id="16" name="Rounded Rectangle 15"/>
          <p:cNvSpPr/>
          <p:nvPr/>
        </p:nvSpPr>
        <p:spPr>
          <a:xfrm>
            <a:off x="841248" y="4480560"/>
            <a:ext cx="5715000" cy="530352"/>
          </a:xfrm>
          <a:prstGeom prst="roundRect">
            <a:avLst>
              <a:gd name="adj" fmla="val 6000"/>
            </a:avLst>
          </a:prstGeom>
          <a:solidFill>
            <a:srgbClr val="F5F6F8"/>
          </a:solidFill>
          <a:ln w="12700">
            <a:solidFill>
              <a:srgbClr val="DDE1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7" name="Picture 16" descr="check_steel.png"/>
          <p:cNvPicPr>
            <a:picLocks noChangeAspect="1"/>
          </p:cNvPicPr>
          <p:nvPr/>
        </p:nvPicPr>
        <p:blipFill>
          <a:blip r:embed="rId3"/>
          <a:stretch>
            <a:fillRect/>
          </a:stretch>
        </p:blipFill>
        <p:spPr>
          <a:xfrm>
            <a:off x="987552" y="4626864"/>
            <a:ext cx="237744" cy="237744"/>
          </a:xfrm>
          <a:prstGeom prst="rect">
            <a:avLst/>
          </a:prstGeom>
        </p:spPr>
      </p:pic>
      <p:sp>
        <p:nvSpPr>
          <p:cNvPr id="18" name="TextBox 17"/>
          <p:cNvSpPr txBox="1"/>
          <p:nvPr/>
        </p:nvSpPr>
        <p:spPr>
          <a:xfrm>
            <a:off x="1353312" y="4480560"/>
            <a:ext cx="5029200" cy="530352"/>
          </a:xfrm>
          <a:prstGeom prst="rect">
            <a:avLst/>
          </a:prstGeom>
          <a:noFill/>
        </p:spPr>
        <p:txBody>
          <a:bodyPr wrap="square" anchor="ctr" lIns="0" rIns="0" tIns="0" bIns="0">
            <a:spAutoFit/>
          </a:bodyPr>
          <a:lstStyle/>
          <a:p>
            <a:pPr algn="l">
              <a:lnSpc>
                <a:spcPct val="106000"/>
              </a:lnSpc>
              <a:spcBef>
                <a:spcPts val="0"/>
              </a:spcBef>
              <a:spcAft>
                <a:spcPts val="0"/>
              </a:spcAft>
            </a:pPr>
            <a:r>
              <a:rPr sz="1200" b="0">
                <a:solidFill>
                  <a:srgbClr val="1A1A1A"/>
                </a:solidFill>
                <a:latin typeface="Red Hat Text"/>
              </a:rPr>
              <a:t>Proven by match-count: submitted → 2×, rejected → 1× (both filters dropped it), high-value → 3×</a:t>
            </a:r>
          </a:p>
        </p:txBody>
      </p:sp>
      <p:sp>
        <p:nvSpPr>
          <p:cNvPr id="19" name="Rounded Rectangle 18"/>
          <p:cNvSpPr/>
          <p:nvPr/>
        </p:nvSpPr>
        <p:spPr>
          <a:xfrm>
            <a:off x="841248" y="5084064"/>
            <a:ext cx="5715000" cy="530352"/>
          </a:xfrm>
          <a:prstGeom prst="roundRect">
            <a:avLst>
              <a:gd name="adj" fmla="val 6000"/>
            </a:avLst>
          </a:prstGeom>
          <a:solidFill>
            <a:srgbClr val="F5F6F8"/>
          </a:solidFill>
          <a:ln w="12700">
            <a:solidFill>
              <a:srgbClr val="DDE1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0" name="Picture 19" descr="check_steel.png"/>
          <p:cNvPicPr>
            <a:picLocks noChangeAspect="1"/>
          </p:cNvPicPr>
          <p:nvPr/>
        </p:nvPicPr>
        <p:blipFill>
          <a:blip r:embed="rId3"/>
          <a:stretch>
            <a:fillRect/>
          </a:stretch>
        </p:blipFill>
        <p:spPr>
          <a:xfrm>
            <a:off x="987552" y="5230368"/>
            <a:ext cx="237744" cy="237744"/>
          </a:xfrm>
          <a:prstGeom prst="rect">
            <a:avLst/>
          </a:prstGeom>
        </p:spPr>
      </p:pic>
      <p:sp>
        <p:nvSpPr>
          <p:cNvPr id="21" name="TextBox 20"/>
          <p:cNvSpPr txBox="1"/>
          <p:nvPr/>
        </p:nvSpPr>
        <p:spPr>
          <a:xfrm>
            <a:off x="1353312" y="5084064"/>
            <a:ext cx="5029200" cy="530352"/>
          </a:xfrm>
          <a:prstGeom prst="rect">
            <a:avLst/>
          </a:prstGeom>
          <a:noFill/>
        </p:spPr>
        <p:txBody>
          <a:bodyPr wrap="square" anchor="ctr" lIns="0" rIns="0" tIns="0" bIns="0">
            <a:spAutoFit/>
          </a:bodyPr>
          <a:lstStyle/>
          <a:p>
            <a:pPr algn="l">
              <a:lnSpc>
                <a:spcPct val="106000"/>
              </a:lnSpc>
              <a:spcBef>
                <a:spcPts val="0"/>
              </a:spcBef>
              <a:spcAft>
                <a:spcPts val="0"/>
              </a:spcAft>
            </a:pPr>
            <a:r>
              <a:rPr sz="1200" b="0">
                <a:solidFill>
                  <a:srgbClr val="1A1A1A"/>
                </a:solidFill>
                <a:latin typeface="Red Hat Text"/>
              </a:rPr>
              <a:t>Change routing by editing a trigger — never by redeploying an app</a:t>
            </a:r>
          </a:p>
        </p:txBody>
      </p:sp>
      <p:sp>
        <p:nvSpPr>
          <p:cNvPr id="22" name="Rounded Rectangle 21"/>
          <p:cNvSpPr/>
          <p:nvPr/>
        </p:nvSpPr>
        <p:spPr>
          <a:xfrm>
            <a:off x="6812280" y="2670048"/>
            <a:ext cx="4538167" cy="2944368"/>
          </a:xfrm>
          <a:prstGeom prst="roundRect">
            <a:avLst>
              <a:gd name="adj" fmla="val 4000"/>
            </a:avLst>
          </a:prstGeom>
          <a:solidFill>
            <a:srgbClr val="FFFFFF"/>
          </a:solidFill>
          <a:ln w="15240">
            <a:solidFill>
              <a:srgbClr val="DDE1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ounded Rectangle 22"/>
          <p:cNvSpPr/>
          <p:nvPr/>
        </p:nvSpPr>
        <p:spPr>
          <a:xfrm>
            <a:off x="7013448" y="2871216"/>
            <a:ext cx="1298448" cy="310896"/>
          </a:xfrm>
          <a:prstGeom prst="roundRect">
            <a:avLst>
              <a:gd name="adj" fmla="val 50000"/>
            </a:avLst>
          </a:prstGeom>
          <a:solidFill>
            <a:srgbClr val="FCEC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7013448" y="2871216"/>
            <a:ext cx="1298448" cy="310896"/>
          </a:xfrm>
          <a:prstGeom prst="rect">
            <a:avLst/>
          </a:prstGeom>
          <a:noFill/>
        </p:spPr>
        <p:txBody>
          <a:bodyPr wrap="none" anchor="ctr" lIns="0" rIns="0" tIns="0" bIns="0">
            <a:spAutoFit/>
          </a:bodyPr>
          <a:lstStyle/>
          <a:p>
            <a:pPr algn="ctr">
              <a:lnSpc>
                <a:spcPct val="106000"/>
              </a:lnSpc>
              <a:spcBef>
                <a:spcPts val="0"/>
              </a:spcBef>
              <a:spcAft>
                <a:spcPts val="0"/>
              </a:spcAft>
            </a:pPr>
            <a:r>
              <a:rPr sz="850" b="1">
                <a:solidFill>
                  <a:srgbClr val="B80000"/>
                </a:solidFill>
                <a:latin typeface="Red Hat Display"/>
              </a:rPr>
              <a:t>MEDIA PASS</a:t>
            </a:r>
          </a:p>
        </p:txBody>
      </p:sp>
      <p:pic>
        <p:nvPicPr>
          <p:cNvPr id="25" name="Picture 24" descr="eye_slate.png"/>
          <p:cNvPicPr>
            <a:picLocks noChangeAspect="1"/>
          </p:cNvPicPr>
          <p:nvPr/>
        </p:nvPicPr>
        <p:blipFill>
          <a:blip r:embed="rId4"/>
          <a:stretch>
            <a:fillRect/>
          </a:stretch>
        </p:blipFill>
        <p:spPr>
          <a:xfrm>
            <a:off x="8843619" y="3383280"/>
            <a:ext cx="475488" cy="475488"/>
          </a:xfrm>
          <a:prstGeom prst="rect">
            <a:avLst/>
          </a:prstGeom>
        </p:spPr>
      </p:pic>
      <p:sp>
        <p:nvSpPr>
          <p:cNvPr id="26" name="TextBox 25"/>
          <p:cNvSpPr txBox="1"/>
          <p:nvPr/>
        </p:nvSpPr>
        <p:spPr>
          <a:xfrm>
            <a:off x="7050024" y="3995928"/>
            <a:ext cx="4062679" cy="1481328"/>
          </a:xfrm>
          <a:prstGeom prst="rect">
            <a:avLst/>
          </a:prstGeom>
          <a:noFill/>
        </p:spPr>
        <p:txBody>
          <a:bodyPr wrap="square" anchor="t" lIns="0" rIns="0" tIns="0" bIns="0">
            <a:spAutoFit/>
          </a:bodyPr>
          <a:lstStyle/>
          <a:p>
            <a:pPr algn="l">
              <a:lnSpc>
                <a:spcPct val="120000"/>
              </a:lnSpc>
              <a:spcBef>
                <a:spcPts val="0"/>
              </a:spcBef>
              <a:spcAft>
                <a:spcPts val="0"/>
              </a:spcAft>
            </a:pPr>
            <a:r>
              <a:rPr sz="950" b="0">
                <a:solidFill>
                  <a:srgbClr val="8A9099"/>
                </a:solidFill>
                <a:latin typeface="Red Hat Text"/>
              </a:rPr>
              <a:t>One broker with three triggers (catch-all / filter:type / filter:claimpriority) to one consumer. Three event chips drop in — "submitted" (lights 2 triggers), "rejected" (lights 1), "submitted+high" (lights 3) — each annotated with its display count. A callout on the rejected chip: "202 from the broker, but DROPPED by both filters."</a:t>
            </a:r>
          </a:p>
        </p:txBody>
      </p:sp>
      <p:cxnSp>
        <p:nvCxnSpPr>
          <p:cNvPr id="27" name="Connector 26"/>
          <p:cNvCxnSpPr/>
          <p:nvPr/>
        </p:nvCxnSpPr>
        <p:spPr>
          <a:xfrm>
            <a:off x="841248" y="6437376"/>
            <a:ext cx="10509199" cy="0"/>
          </a:xfrm>
          <a:prstGeom prst="bentConnector3">
            <a:avLst/>
          </a:prstGeom>
          <a:ln w="12700">
            <a:solidFill>
              <a:srgbClr val="DDE1E6"/>
            </a:solidFill>
          </a:ln>
          <a:effectLst/>
        </p:spPr>
        <p:style>
          <a:lnRef idx="2">
            <a:schemeClr val="accent1"/>
          </a:lnRef>
          <a:fillRef idx="0">
            <a:schemeClr val="accent1"/>
          </a:fillRef>
          <a:effectRef idx="1">
            <a:schemeClr val="accent1"/>
          </a:effectRef>
          <a:fontRef idx="minor">
            <a:schemeClr val="tx1"/>
          </a:fontRef>
        </p:style>
      </p:cxnSp>
      <p:sp>
        <p:nvSpPr>
          <p:cNvPr id="28" name="TextBox 27"/>
          <p:cNvSpPr txBox="1"/>
          <p:nvPr/>
        </p:nvSpPr>
        <p:spPr>
          <a:xfrm>
            <a:off x="841248" y="6473952"/>
            <a:ext cx="7315200" cy="274320"/>
          </a:xfrm>
          <a:prstGeom prst="rect">
            <a:avLst/>
          </a:prstGeom>
          <a:noFill/>
        </p:spPr>
        <p:txBody>
          <a:bodyPr wrap="square" anchor="t" lIns="0" rIns="0" tIns="0" bIns="0">
            <a:spAutoFit/>
          </a:bodyPr>
          <a:lstStyle/>
          <a:p>
            <a:pPr algn="l">
              <a:lnSpc>
                <a:spcPct val="106000"/>
              </a:lnSpc>
              <a:spcBef>
                <a:spcPts val="0"/>
              </a:spcBef>
              <a:spcAft>
                <a:spcPts val="0"/>
              </a:spcAft>
            </a:pPr>
            <a:r>
              <a:rPr sz="950" b="0">
                <a:solidFill>
                  <a:srgbClr val="8A9099"/>
                </a:solidFill>
                <a:latin typeface="Red Hat Text"/>
              </a:rPr>
              <a:t>CONFIDENTIAL</a:t>
            </a:r>
          </a:p>
        </p:txBody>
      </p:sp>
      <p:sp>
        <p:nvSpPr>
          <p:cNvPr id="29" name="TextBox 28"/>
          <p:cNvSpPr txBox="1"/>
          <p:nvPr/>
        </p:nvSpPr>
        <p:spPr>
          <a:xfrm>
            <a:off x="10801807" y="6473952"/>
            <a:ext cx="548640" cy="274320"/>
          </a:xfrm>
          <a:prstGeom prst="rect">
            <a:avLst/>
          </a:prstGeom>
          <a:noFill/>
        </p:spPr>
        <p:txBody>
          <a:bodyPr wrap="square" anchor="t" lIns="0" rIns="0" tIns="0" bIns="0">
            <a:spAutoFit/>
          </a:bodyPr>
          <a:lstStyle/>
          <a:p>
            <a:pPr algn="r">
              <a:lnSpc>
                <a:spcPct val="106000"/>
              </a:lnSpc>
              <a:spcBef>
                <a:spcPts val="0"/>
              </a:spcBef>
              <a:spcAft>
                <a:spcPts val="0"/>
              </a:spcAft>
            </a:pPr>
            <a:r>
              <a:rPr sz="950" b="0">
                <a:solidFill>
                  <a:srgbClr val="8A9099"/>
                </a:solidFill>
                <a:latin typeface="Red Hat Text"/>
              </a:rPr>
              <a:t>153</a:t>
            </a:r>
          </a:p>
        </p:txBody>
      </p:sp>
    </p:spTree>
  </p:cSld>
  <p:clrMapOvr>
    <a:masterClrMapping/>
  </p:clrMapOvr>
</p:sld>
</file>

<file path=ppt/slides/slide17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redhat_logo.jpg"/>
          <p:cNvPicPr>
            <a:picLocks noChangeAspect="1"/>
          </p:cNvPicPr>
          <p:nvPr/>
        </p:nvPicPr>
        <p:blipFill>
          <a:blip r:embed="rId2"/>
          <a:stretch>
            <a:fillRect/>
          </a:stretch>
        </p:blipFill>
        <p:spPr>
          <a:xfrm>
            <a:off x="10326319" y="475488"/>
            <a:ext cx="1024128" cy="242248"/>
          </a:xfrm>
          <a:prstGeom prst="rect">
            <a:avLst/>
          </a:prstGeom>
        </p:spPr>
      </p:pic>
      <p:sp>
        <p:nvSpPr>
          <p:cNvPr id="3" name="TextBox 2"/>
          <p:cNvSpPr txBox="1"/>
          <p:nvPr/>
        </p:nvSpPr>
        <p:spPr>
          <a:xfrm>
            <a:off x="841248" y="548640"/>
            <a:ext cx="8595360" cy="274320"/>
          </a:xfrm>
          <a:prstGeom prst="rect">
            <a:avLst/>
          </a:prstGeom>
          <a:noFill/>
        </p:spPr>
        <p:txBody>
          <a:bodyPr wrap="square" anchor="t" lIns="0" rIns="0" tIns="0" bIns="0">
            <a:spAutoFit/>
          </a:bodyPr>
          <a:lstStyle/>
          <a:p>
            <a:pPr algn="l">
              <a:lnSpc>
                <a:spcPct val="106000"/>
              </a:lnSpc>
              <a:spcBef>
                <a:spcPts val="0"/>
              </a:spcBef>
              <a:spcAft>
                <a:spcPts val="0"/>
              </a:spcAft>
            </a:pPr>
            <a:r>
              <a:rPr sz="1250" b="1" spc="220">
                <a:solidFill>
                  <a:srgbClr val="EE0000"/>
                </a:solidFill>
                <a:latin typeface="Red Hat Display"/>
              </a:rPr>
              <a:t>M21 · EVENTING DEEP-DIVE &amp; SERVERLESS WORKFLOWS</a:t>
            </a:r>
          </a:p>
        </p:txBody>
      </p:sp>
      <p:sp>
        <p:nvSpPr>
          <p:cNvPr id="4" name="TextBox 3"/>
          <p:cNvSpPr txBox="1"/>
          <p:nvPr/>
        </p:nvSpPr>
        <p:spPr>
          <a:xfrm>
            <a:off x="841248" y="877824"/>
            <a:ext cx="10515600" cy="548640"/>
          </a:xfrm>
          <a:prstGeom prst="rect">
            <a:avLst/>
          </a:prstGeom>
          <a:noFill/>
        </p:spPr>
        <p:txBody>
          <a:bodyPr wrap="none" anchor="t" lIns="0" rIns="0" tIns="0" bIns="0">
            <a:spAutoFit/>
          </a:bodyPr>
          <a:lstStyle/>
          <a:p>
            <a:pPr algn="l">
              <a:lnSpc>
                <a:spcPct val="100000"/>
              </a:lnSpc>
              <a:spcBef>
                <a:spcPts val="0"/>
              </a:spcBef>
              <a:spcAft>
                <a:spcPts val="0"/>
              </a:spcAft>
            </a:pPr>
            <a:r>
              <a:rPr sz="2500" b="1">
                <a:solidFill>
                  <a:srgbClr val="1A1A1A"/>
                </a:solidFill>
                <a:latin typeface="Red Hat Display"/>
              </a:rPr>
              <a:t>Survive a failing consumer</a:t>
            </a:r>
          </a:p>
        </p:txBody>
      </p:sp>
      <p:cxnSp>
        <p:nvCxnSpPr>
          <p:cNvPr id="5" name="Connector 4"/>
          <p:cNvCxnSpPr/>
          <p:nvPr/>
        </p:nvCxnSpPr>
        <p:spPr>
          <a:xfrm>
            <a:off x="841248" y="1554480"/>
            <a:ext cx="1371600" cy="0"/>
          </a:xfrm>
          <a:prstGeom prst="bentConnector3">
            <a:avLst/>
          </a:prstGeom>
          <a:ln w="31750">
            <a:solidFill>
              <a:srgbClr val="EE0000"/>
            </a:solidFill>
          </a:ln>
          <a:effectLst/>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841248" y="1664208"/>
            <a:ext cx="10515600" cy="365760"/>
          </a:xfrm>
          <a:prstGeom prst="rect">
            <a:avLst/>
          </a:prstGeom>
          <a:noFill/>
        </p:spPr>
        <p:txBody>
          <a:bodyPr wrap="square" anchor="t" lIns="0" rIns="0" tIns="0" bIns="0">
            <a:spAutoFit/>
          </a:bodyPr>
          <a:lstStyle/>
          <a:p>
            <a:pPr algn="l">
              <a:lnSpc>
                <a:spcPct val="106000"/>
              </a:lnSpc>
              <a:spcBef>
                <a:spcPts val="0"/>
              </a:spcBef>
              <a:spcAft>
                <a:spcPts val="0"/>
              </a:spcAft>
            </a:pPr>
            <a:r>
              <a:rPr sz="1350" b="0">
                <a:solidFill>
                  <a:srgbClr val="555960"/>
                </a:solidFill>
                <a:latin typeface="Red Hat Text"/>
              </a:rPr>
              <a:t>retries + dead-letter sink</a:t>
            </a:r>
          </a:p>
        </p:txBody>
      </p:sp>
      <p:sp>
        <p:nvSpPr>
          <p:cNvPr id="7" name="Rounded Rectangle 6"/>
          <p:cNvSpPr/>
          <p:nvPr/>
        </p:nvSpPr>
        <p:spPr>
          <a:xfrm>
            <a:off x="841248" y="2670048"/>
            <a:ext cx="5715000" cy="530352"/>
          </a:xfrm>
          <a:prstGeom prst="roundRect">
            <a:avLst>
              <a:gd name="adj" fmla="val 6000"/>
            </a:avLst>
          </a:prstGeom>
          <a:solidFill>
            <a:srgbClr val="F5F6F8"/>
          </a:solidFill>
          <a:ln w="12700">
            <a:solidFill>
              <a:srgbClr val="DDE1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check_steel.png"/>
          <p:cNvPicPr>
            <a:picLocks noChangeAspect="1"/>
          </p:cNvPicPr>
          <p:nvPr/>
        </p:nvPicPr>
        <p:blipFill>
          <a:blip r:embed="rId3"/>
          <a:stretch>
            <a:fillRect/>
          </a:stretch>
        </p:blipFill>
        <p:spPr>
          <a:xfrm>
            <a:off x="987552" y="2816352"/>
            <a:ext cx="237744" cy="237744"/>
          </a:xfrm>
          <a:prstGeom prst="rect">
            <a:avLst/>
          </a:prstGeom>
        </p:spPr>
      </p:pic>
      <p:sp>
        <p:nvSpPr>
          <p:cNvPr id="9" name="TextBox 8"/>
          <p:cNvSpPr txBox="1"/>
          <p:nvPr/>
        </p:nvSpPr>
        <p:spPr>
          <a:xfrm>
            <a:off x="1353312" y="2670048"/>
            <a:ext cx="5029200" cy="530352"/>
          </a:xfrm>
          <a:prstGeom prst="rect">
            <a:avLst/>
          </a:prstGeom>
          <a:noFill/>
        </p:spPr>
        <p:txBody>
          <a:bodyPr wrap="square" anchor="ctr" lIns="0" rIns="0" tIns="0" bIns="0">
            <a:spAutoFit/>
          </a:bodyPr>
          <a:lstStyle/>
          <a:p>
            <a:pPr algn="l">
              <a:lnSpc>
                <a:spcPct val="106000"/>
              </a:lnSpc>
              <a:spcBef>
                <a:spcPts val="0"/>
              </a:spcBef>
              <a:spcAft>
                <a:spcPts val="0"/>
              </a:spcAft>
            </a:pPr>
            <a:r>
              <a:rPr sz="1200" b="0">
                <a:solidFill>
                  <a:srgbClr val="1A1A1A"/>
                </a:solidFill>
                <a:latin typeface="Red Hat Text"/>
              </a:rPr>
              <a:t>Default: a failed delivery is retried a few times then DROPPED (silently)</a:t>
            </a:r>
          </a:p>
        </p:txBody>
      </p:sp>
      <p:sp>
        <p:nvSpPr>
          <p:cNvPr id="10" name="Rounded Rectangle 9"/>
          <p:cNvSpPr/>
          <p:nvPr/>
        </p:nvSpPr>
        <p:spPr>
          <a:xfrm>
            <a:off x="841248" y="3273552"/>
            <a:ext cx="5715000" cy="530352"/>
          </a:xfrm>
          <a:prstGeom prst="roundRect">
            <a:avLst>
              <a:gd name="adj" fmla="val 6000"/>
            </a:avLst>
          </a:prstGeom>
          <a:solidFill>
            <a:srgbClr val="F5F6F8"/>
          </a:solidFill>
          <a:ln w="12700">
            <a:solidFill>
              <a:srgbClr val="DDE1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1" name="Picture 10" descr="check_steel.png"/>
          <p:cNvPicPr>
            <a:picLocks noChangeAspect="1"/>
          </p:cNvPicPr>
          <p:nvPr/>
        </p:nvPicPr>
        <p:blipFill>
          <a:blip r:embed="rId3"/>
          <a:stretch>
            <a:fillRect/>
          </a:stretch>
        </p:blipFill>
        <p:spPr>
          <a:xfrm>
            <a:off x="987552" y="3419856"/>
            <a:ext cx="237744" cy="237744"/>
          </a:xfrm>
          <a:prstGeom prst="rect">
            <a:avLst/>
          </a:prstGeom>
        </p:spPr>
      </p:pic>
      <p:sp>
        <p:nvSpPr>
          <p:cNvPr id="12" name="TextBox 11"/>
          <p:cNvSpPr txBox="1"/>
          <p:nvPr/>
        </p:nvSpPr>
        <p:spPr>
          <a:xfrm>
            <a:off x="1353312" y="3273552"/>
            <a:ext cx="5029200" cy="530352"/>
          </a:xfrm>
          <a:prstGeom prst="rect">
            <a:avLst/>
          </a:prstGeom>
          <a:noFill/>
        </p:spPr>
        <p:txBody>
          <a:bodyPr wrap="square" anchor="ctr" lIns="0" rIns="0" tIns="0" bIns="0">
            <a:spAutoFit/>
          </a:bodyPr>
          <a:lstStyle/>
          <a:p>
            <a:pPr algn="l">
              <a:lnSpc>
                <a:spcPct val="106000"/>
              </a:lnSpc>
              <a:spcBef>
                <a:spcPts val="0"/>
              </a:spcBef>
              <a:spcAft>
                <a:spcPts val="0"/>
              </a:spcAft>
            </a:pPr>
            <a:r>
              <a:rPr sz="1200" b="0">
                <a:solidFill>
                  <a:srgbClr val="1A1A1A"/>
                </a:solidFill>
                <a:latin typeface="Red Hat Text"/>
              </a:rPr>
              <a:t>delivery: retry N with backoff (exp: 1s, 2s, 4s) — give a flaky consumer time to recover</a:t>
            </a:r>
          </a:p>
        </p:txBody>
      </p:sp>
      <p:sp>
        <p:nvSpPr>
          <p:cNvPr id="13" name="Rounded Rectangle 12"/>
          <p:cNvSpPr/>
          <p:nvPr/>
        </p:nvSpPr>
        <p:spPr>
          <a:xfrm>
            <a:off x="841248" y="3877056"/>
            <a:ext cx="5715000" cy="530352"/>
          </a:xfrm>
          <a:prstGeom prst="roundRect">
            <a:avLst>
              <a:gd name="adj" fmla="val 6000"/>
            </a:avLst>
          </a:prstGeom>
          <a:solidFill>
            <a:srgbClr val="F5F6F8"/>
          </a:solidFill>
          <a:ln w="12700">
            <a:solidFill>
              <a:srgbClr val="DDE1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4" name="Picture 13" descr="check_steel.png"/>
          <p:cNvPicPr>
            <a:picLocks noChangeAspect="1"/>
          </p:cNvPicPr>
          <p:nvPr/>
        </p:nvPicPr>
        <p:blipFill>
          <a:blip r:embed="rId3"/>
          <a:stretch>
            <a:fillRect/>
          </a:stretch>
        </p:blipFill>
        <p:spPr>
          <a:xfrm>
            <a:off x="987552" y="4023360"/>
            <a:ext cx="237744" cy="237744"/>
          </a:xfrm>
          <a:prstGeom prst="rect">
            <a:avLst/>
          </a:prstGeom>
        </p:spPr>
      </p:pic>
      <p:sp>
        <p:nvSpPr>
          <p:cNvPr id="15" name="TextBox 14"/>
          <p:cNvSpPr txBox="1"/>
          <p:nvPr/>
        </p:nvSpPr>
        <p:spPr>
          <a:xfrm>
            <a:off x="1353312" y="3877056"/>
            <a:ext cx="5029200" cy="530352"/>
          </a:xfrm>
          <a:prstGeom prst="rect">
            <a:avLst/>
          </a:prstGeom>
          <a:noFill/>
        </p:spPr>
        <p:txBody>
          <a:bodyPr wrap="square" anchor="ctr" lIns="0" rIns="0" tIns="0" bIns="0">
            <a:spAutoFit/>
          </a:bodyPr>
          <a:lstStyle/>
          <a:p>
            <a:pPr algn="l">
              <a:lnSpc>
                <a:spcPct val="106000"/>
              </a:lnSpc>
              <a:spcBef>
                <a:spcPts val="0"/>
              </a:spcBef>
              <a:spcAft>
                <a:spcPts val="0"/>
              </a:spcAft>
            </a:pPr>
            <a:r>
              <a:rPr sz="1200" b="0">
                <a:solidFill>
                  <a:srgbClr val="1A1A1A"/>
                </a:solidFill>
                <a:latin typeface="Red Hat Text"/>
              </a:rPr>
              <a:t>deadLetterSink (DLQ): exhausted events land in a separate sink, NOT dropped</a:t>
            </a:r>
          </a:p>
        </p:txBody>
      </p:sp>
      <p:sp>
        <p:nvSpPr>
          <p:cNvPr id="16" name="Rounded Rectangle 15"/>
          <p:cNvSpPr/>
          <p:nvPr/>
        </p:nvSpPr>
        <p:spPr>
          <a:xfrm>
            <a:off x="841248" y="4480560"/>
            <a:ext cx="5715000" cy="530352"/>
          </a:xfrm>
          <a:prstGeom prst="roundRect">
            <a:avLst>
              <a:gd name="adj" fmla="val 6000"/>
            </a:avLst>
          </a:prstGeom>
          <a:solidFill>
            <a:srgbClr val="F5F6F8"/>
          </a:solidFill>
          <a:ln w="12700">
            <a:solidFill>
              <a:srgbClr val="DDE1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7" name="Picture 16" descr="check_steel.png"/>
          <p:cNvPicPr>
            <a:picLocks noChangeAspect="1"/>
          </p:cNvPicPr>
          <p:nvPr/>
        </p:nvPicPr>
        <p:blipFill>
          <a:blip r:embed="rId3"/>
          <a:stretch>
            <a:fillRect/>
          </a:stretch>
        </p:blipFill>
        <p:spPr>
          <a:xfrm>
            <a:off x="987552" y="4626864"/>
            <a:ext cx="237744" cy="237744"/>
          </a:xfrm>
          <a:prstGeom prst="rect">
            <a:avLst/>
          </a:prstGeom>
        </p:spPr>
      </p:pic>
      <p:sp>
        <p:nvSpPr>
          <p:cNvPr id="18" name="TextBox 17"/>
          <p:cNvSpPr txBox="1"/>
          <p:nvPr/>
        </p:nvSpPr>
        <p:spPr>
          <a:xfrm>
            <a:off x="1353312" y="4480560"/>
            <a:ext cx="5029200" cy="530352"/>
          </a:xfrm>
          <a:prstGeom prst="rect">
            <a:avLst/>
          </a:prstGeom>
          <a:noFill/>
        </p:spPr>
        <p:txBody>
          <a:bodyPr wrap="square" anchor="ctr" lIns="0" rIns="0" tIns="0" bIns="0">
            <a:spAutoFit/>
          </a:bodyPr>
          <a:lstStyle/>
          <a:p>
            <a:pPr algn="l">
              <a:lnSpc>
                <a:spcPct val="106000"/>
              </a:lnSpc>
              <a:spcBef>
                <a:spcPts val="0"/>
              </a:spcBef>
              <a:spcAft>
                <a:spcPts val="0"/>
              </a:spcAft>
            </a:pPr>
            <a:r>
              <a:rPr sz="1200" b="0">
                <a:solidFill>
                  <a:srgbClr val="1A1A1A"/>
                </a:solidFill>
                <a:latin typeface="Red Hat Text"/>
              </a:rPr>
              <a:t>The dead event is STAMPED: knativeerrorcode=404, knativeerrordest=the failing address</a:t>
            </a:r>
          </a:p>
        </p:txBody>
      </p:sp>
      <p:sp>
        <p:nvSpPr>
          <p:cNvPr id="19" name="Rounded Rectangle 18"/>
          <p:cNvSpPr/>
          <p:nvPr/>
        </p:nvSpPr>
        <p:spPr>
          <a:xfrm>
            <a:off x="841248" y="5084064"/>
            <a:ext cx="5715000" cy="530352"/>
          </a:xfrm>
          <a:prstGeom prst="roundRect">
            <a:avLst>
              <a:gd name="adj" fmla="val 6000"/>
            </a:avLst>
          </a:prstGeom>
          <a:solidFill>
            <a:srgbClr val="F5F6F8"/>
          </a:solidFill>
          <a:ln w="12700">
            <a:solidFill>
              <a:srgbClr val="DDE1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0" name="Picture 19" descr="check_steel.png"/>
          <p:cNvPicPr>
            <a:picLocks noChangeAspect="1"/>
          </p:cNvPicPr>
          <p:nvPr/>
        </p:nvPicPr>
        <p:blipFill>
          <a:blip r:embed="rId3"/>
          <a:stretch>
            <a:fillRect/>
          </a:stretch>
        </p:blipFill>
        <p:spPr>
          <a:xfrm>
            <a:off x="987552" y="5230368"/>
            <a:ext cx="237744" cy="237744"/>
          </a:xfrm>
          <a:prstGeom prst="rect">
            <a:avLst/>
          </a:prstGeom>
        </p:spPr>
      </p:pic>
      <p:sp>
        <p:nvSpPr>
          <p:cNvPr id="21" name="TextBox 20"/>
          <p:cNvSpPr txBox="1"/>
          <p:nvPr/>
        </p:nvSpPr>
        <p:spPr>
          <a:xfrm>
            <a:off x="1353312" y="5084064"/>
            <a:ext cx="5029200" cy="530352"/>
          </a:xfrm>
          <a:prstGeom prst="rect">
            <a:avLst/>
          </a:prstGeom>
          <a:noFill/>
        </p:spPr>
        <p:txBody>
          <a:bodyPr wrap="square" anchor="ctr" lIns="0" rIns="0" tIns="0" bIns="0">
            <a:spAutoFit/>
          </a:bodyPr>
          <a:lstStyle/>
          <a:p>
            <a:pPr algn="l">
              <a:lnSpc>
                <a:spcPct val="106000"/>
              </a:lnSpc>
              <a:spcBef>
                <a:spcPts val="0"/>
              </a:spcBef>
              <a:spcAft>
                <a:spcPts val="0"/>
              </a:spcAft>
            </a:pPr>
            <a:r>
              <a:rPr sz="1200" b="0">
                <a:solidFill>
                  <a:srgbClr val="1A1A1A"/>
                </a:solidFill>
                <a:latin typeface="Red Hat Text"/>
              </a:rPr>
              <a:t>A DLQ is a diagnosable record — "here are the events we couldn't deliver, and why"</a:t>
            </a:r>
          </a:p>
        </p:txBody>
      </p:sp>
      <p:sp>
        <p:nvSpPr>
          <p:cNvPr id="22" name="Rounded Rectangle 21"/>
          <p:cNvSpPr/>
          <p:nvPr/>
        </p:nvSpPr>
        <p:spPr>
          <a:xfrm>
            <a:off x="6812280" y="2670048"/>
            <a:ext cx="4538167" cy="2944368"/>
          </a:xfrm>
          <a:prstGeom prst="roundRect">
            <a:avLst>
              <a:gd name="adj" fmla="val 4000"/>
            </a:avLst>
          </a:prstGeom>
          <a:solidFill>
            <a:srgbClr val="FFFFFF"/>
          </a:solidFill>
          <a:ln w="15240">
            <a:solidFill>
              <a:srgbClr val="DDE1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ounded Rectangle 22"/>
          <p:cNvSpPr/>
          <p:nvPr/>
        </p:nvSpPr>
        <p:spPr>
          <a:xfrm>
            <a:off x="7013448" y="2871216"/>
            <a:ext cx="1298448" cy="310896"/>
          </a:xfrm>
          <a:prstGeom prst="roundRect">
            <a:avLst>
              <a:gd name="adj" fmla="val 50000"/>
            </a:avLst>
          </a:prstGeom>
          <a:solidFill>
            <a:srgbClr val="FCEC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7013448" y="2871216"/>
            <a:ext cx="1298448" cy="310896"/>
          </a:xfrm>
          <a:prstGeom prst="rect">
            <a:avLst/>
          </a:prstGeom>
          <a:noFill/>
        </p:spPr>
        <p:txBody>
          <a:bodyPr wrap="none" anchor="ctr" lIns="0" rIns="0" tIns="0" bIns="0">
            <a:spAutoFit/>
          </a:bodyPr>
          <a:lstStyle/>
          <a:p>
            <a:pPr algn="ctr">
              <a:lnSpc>
                <a:spcPct val="106000"/>
              </a:lnSpc>
              <a:spcBef>
                <a:spcPts val="0"/>
              </a:spcBef>
              <a:spcAft>
                <a:spcPts val="0"/>
              </a:spcAft>
            </a:pPr>
            <a:r>
              <a:rPr sz="850" b="1">
                <a:solidFill>
                  <a:srgbClr val="B80000"/>
                </a:solidFill>
                <a:latin typeface="Red Hat Display"/>
              </a:rPr>
              <a:t>MEDIA PASS</a:t>
            </a:r>
          </a:p>
        </p:txBody>
      </p:sp>
      <p:pic>
        <p:nvPicPr>
          <p:cNvPr id="25" name="Picture 24" descr="eye_slate.png"/>
          <p:cNvPicPr>
            <a:picLocks noChangeAspect="1"/>
          </p:cNvPicPr>
          <p:nvPr/>
        </p:nvPicPr>
        <p:blipFill>
          <a:blip r:embed="rId4"/>
          <a:stretch>
            <a:fillRect/>
          </a:stretch>
        </p:blipFill>
        <p:spPr>
          <a:xfrm>
            <a:off x="8843619" y="3383280"/>
            <a:ext cx="475488" cy="475488"/>
          </a:xfrm>
          <a:prstGeom prst="rect">
            <a:avLst/>
          </a:prstGeom>
        </p:spPr>
      </p:pic>
      <p:sp>
        <p:nvSpPr>
          <p:cNvPr id="26" name="TextBox 25"/>
          <p:cNvSpPr txBox="1"/>
          <p:nvPr/>
        </p:nvSpPr>
        <p:spPr>
          <a:xfrm>
            <a:off x="7050024" y="3995928"/>
            <a:ext cx="4062679" cy="1481328"/>
          </a:xfrm>
          <a:prstGeom prst="rect">
            <a:avLst/>
          </a:prstGeom>
          <a:noFill/>
        </p:spPr>
        <p:txBody>
          <a:bodyPr wrap="square" anchor="t" lIns="0" rIns="0" tIns="0" bIns="0">
            <a:spAutoFit/>
          </a:bodyPr>
          <a:lstStyle/>
          <a:p>
            <a:pPr algn="l">
              <a:lnSpc>
                <a:spcPct val="120000"/>
              </a:lnSpc>
              <a:spcBef>
                <a:spcPts val="0"/>
              </a:spcBef>
              <a:spcAft>
                <a:spcPts val="0"/>
              </a:spcAft>
            </a:pPr>
            <a:r>
              <a:rPr sz="950" b="0">
                <a:solidFill>
                  <a:srgbClr val="8A9099"/>
                </a:solidFill>
                <a:latin typeface="Red Hat Text"/>
              </a:rPr>
              <a:t>A trigger→consumer edge with the consumer marked broken (red X). The event bounces: attempt 0, retry 1 (1s), retry 2 (2s), retry 3 (4s), each a small arrow, total "~8s." Then a fat arrow to the dead-letter sink showing the dead event card with `knativeerrorcode: 404` and `knativeerrordest: …/process` highlighted. Caption: "not dropped — dead-lettered, with why."</a:t>
            </a:r>
          </a:p>
        </p:txBody>
      </p:sp>
      <p:cxnSp>
        <p:nvCxnSpPr>
          <p:cNvPr id="27" name="Connector 26"/>
          <p:cNvCxnSpPr/>
          <p:nvPr/>
        </p:nvCxnSpPr>
        <p:spPr>
          <a:xfrm>
            <a:off x="841248" y="6437376"/>
            <a:ext cx="10509199" cy="0"/>
          </a:xfrm>
          <a:prstGeom prst="bentConnector3">
            <a:avLst/>
          </a:prstGeom>
          <a:ln w="12700">
            <a:solidFill>
              <a:srgbClr val="DDE1E6"/>
            </a:solidFill>
          </a:ln>
          <a:effectLst/>
        </p:spPr>
        <p:style>
          <a:lnRef idx="2">
            <a:schemeClr val="accent1"/>
          </a:lnRef>
          <a:fillRef idx="0">
            <a:schemeClr val="accent1"/>
          </a:fillRef>
          <a:effectRef idx="1">
            <a:schemeClr val="accent1"/>
          </a:effectRef>
          <a:fontRef idx="minor">
            <a:schemeClr val="tx1"/>
          </a:fontRef>
        </p:style>
      </p:cxnSp>
      <p:sp>
        <p:nvSpPr>
          <p:cNvPr id="28" name="TextBox 27"/>
          <p:cNvSpPr txBox="1"/>
          <p:nvPr/>
        </p:nvSpPr>
        <p:spPr>
          <a:xfrm>
            <a:off x="841248" y="6473952"/>
            <a:ext cx="7315200" cy="274320"/>
          </a:xfrm>
          <a:prstGeom prst="rect">
            <a:avLst/>
          </a:prstGeom>
          <a:noFill/>
        </p:spPr>
        <p:txBody>
          <a:bodyPr wrap="square" anchor="t" lIns="0" rIns="0" tIns="0" bIns="0">
            <a:spAutoFit/>
          </a:bodyPr>
          <a:lstStyle/>
          <a:p>
            <a:pPr algn="l">
              <a:lnSpc>
                <a:spcPct val="106000"/>
              </a:lnSpc>
              <a:spcBef>
                <a:spcPts val="0"/>
              </a:spcBef>
              <a:spcAft>
                <a:spcPts val="0"/>
              </a:spcAft>
            </a:pPr>
            <a:r>
              <a:rPr sz="950" b="0">
                <a:solidFill>
                  <a:srgbClr val="8A9099"/>
                </a:solidFill>
                <a:latin typeface="Red Hat Text"/>
              </a:rPr>
              <a:t>CONFIDENTIAL</a:t>
            </a:r>
          </a:p>
        </p:txBody>
      </p:sp>
      <p:sp>
        <p:nvSpPr>
          <p:cNvPr id="29" name="TextBox 28"/>
          <p:cNvSpPr txBox="1"/>
          <p:nvPr/>
        </p:nvSpPr>
        <p:spPr>
          <a:xfrm>
            <a:off x="10801807" y="6473952"/>
            <a:ext cx="548640" cy="274320"/>
          </a:xfrm>
          <a:prstGeom prst="rect">
            <a:avLst/>
          </a:prstGeom>
          <a:noFill/>
        </p:spPr>
        <p:txBody>
          <a:bodyPr wrap="square" anchor="t" lIns="0" rIns="0" tIns="0" bIns="0">
            <a:spAutoFit/>
          </a:bodyPr>
          <a:lstStyle/>
          <a:p>
            <a:pPr algn="r">
              <a:lnSpc>
                <a:spcPct val="106000"/>
              </a:lnSpc>
              <a:spcBef>
                <a:spcPts val="0"/>
              </a:spcBef>
              <a:spcAft>
                <a:spcPts val="0"/>
              </a:spcAft>
            </a:pPr>
            <a:r>
              <a:rPr sz="950" b="0">
                <a:solidFill>
                  <a:srgbClr val="8A9099"/>
                </a:solidFill>
                <a:latin typeface="Red Hat Text"/>
              </a:rPr>
              <a:t>154</a:t>
            </a:r>
          </a:p>
        </p:txBody>
      </p:sp>
    </p:spTree>
  </p:cSld>
  <p:clrMapOvr>
    <a:masterClrMapping/>
  </p:clrMapOvr>
</p:sld>
</file>

<file path=ppt/slides/slide17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redhat_logo.jpg"/>
          <p:cNvPicPr>
            <a:picLocks noChangeAspect="1"/>
          </p:cNvPicPr>
          <p:nvPr/>
        </p:nvPicPr>
        <p:blipFill>
          <a:blip r:embed="rId2"/>
          <a:stretch>
            <a:fillRect/>
          </a:stretch>
        </p:blipFill>
        <p:spPr>
          <a:xfrm>
            <a:off x="10326319" y="475488"/>
            <a:ext cx="1024128" cy="242248"/>
          </a:xfrm>
          <a:prstGeom prst="rect">
            <a:avLst/>
          </a:prstGeom>
        </p:spPr>
      </p:pic>
      <p:sp>
        <p:nvSpPr>
          <p:cNvPr id="3" name="TextBox 2"/>
          <p:cNvSpPr txBox="1"/>
          <p:nvPr/>
        </p:nvSpPr>
        <p:spPr>
          <a:xfrm>
            <a:off x="841248" y="548640"/>
            <a:ext cx="8595360" cy="274320"/>
          </a:xfrm>
          <a:prstGeom prst="rect">
            <a:avLst/>
          </a:prstGeom>
          <a:noFill/>
        </p:spPr>
        <p:txBody>
          <a:bodyPr wrap="square" anchor="t" lIns="0" rIns="0" tIns="0" bIns="0">
            <a:spAutoFit/>
          </a:bodyPr>
          <a:lstStyle/>
          <a:p>
            <a:pPr algn="l">
              <a:lnSpc>
                <a:spcPct val="106000"/>
              </a:lnSpc>
              <a:spcBef>
                <a:spcPts val="0"/>
              </a:spcBef>
              <a:spcAft>
                <a:spcPts val="0"/>
              </a:spcAft>
            </a:pPr>
            <a:r>
              <a:rPr sz="1250" b="1" spc="220">
                <a:solidFill>
                  <a:srgbClr val="EE0000"/>
                </a:solidFill>
                <a:latin typeface="Red Hat Display"/>
              </a:rPr>
              <a:t>M21 · EVENTING DEEP-DIVE &amp; SERVERLESS WORKFLOWS</a:t>
            </a:r>
          </a:p>
        </p:txBody>
      </p:sp>
      <p:sp>
        <p:nvSpPr>
          <p:cNvPr id="4" name="TextBox 3"/>
          <p:cNvSpPr txBox="1"/>
          <p:nvPr/>
        </p:nvSpPr>
        <p:spPr>
          <a:xfrm>
            <a:off x="841248" y="877824"/>
            <a:ext cx="10515600" cy="548640"/>
          </a:xfrm>
          <a:prstGeom prst="rect">
            <a:avLst/>
          </a:prstGeom>
          <a:noFill/>
        </p:spPr>
        <p:txBody>
          <a:bodyPr wrap="none" anchor="t" lIns="0" rIns="0" tIns="0" bIns="0">
            <a:spAutoFit/>
          </a:bodyPr>
          <a:lstStyle/>
          <a:p>
            <a:pPr algn="l">
              <a:lnSpc>
                <a:spcPct val="100000"/>
              </a:lnSpc>
              <a:spcBef>
                <a:spcPts val="0"/>
              </a:spcBef>
              <a:spcAft>
                <a:spcPts val="0"/>
              </a:spcAft>
            </a:pPr>
            <a:r>
              <a:rPr sz="2500" b="1">
                <a:solidFill>
                  <a:srgbClr val="1A1A1A"/>
                </a:solidFill>
                <a:latin typeface="Red Hat Display"/>
              </a:rPr>
              <a:t>Choose the broker backing</a:t>
            </a:r>
          </a:p>
        </p:txBody>
      </p:sp>
      <p:cxnSp>
        <p:nvCxnSpPr>
          <p:cNvPr id="5" name="Connector 4"/>
          <p:cNvCxnSpPr/>
          <p:nvPr/>
        </p:nvCxnSpPr>
        <p:spPr>
          <a:xfrm>
            <a:off x="841248" y="1554480"/>
            <a:ext cx="1371600" cy="0"/>
          </a:xfrm>
          <a:prstGeom prst="bentConnector3">
            <a:avLst/>
          </a:prstGeom>
          <a:ln w="31750">
            <a:solidFill>
              <a:srgbClr val="EE0000"/>
            </a:solidFill>
          </a:ln>
          <a:effectLst/>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841248" y="1664208"/>
            <a:ext cx="10515600" cy="365760"/>
          </a:xfrm>
          <a:prstGeom prst="rect">
            <a:avLst/>
          </a:prstGeom>
          <a:noFill/>
        </p:spPr>
        <p:txBody>
          <a:bodyPr wrap="square" anchor="t" lIns="0" rIns="0" tIns="0" bIns="0">
            <a:spAutoFit/>
          </a:bodyPr>
          <a:lstStyle/>
          <a:p>
            <a:pPr algn="l">
              <a:lnSpc>
                <a:spcPct val="106000"/>
              </a:lnSpc>
              <a:spcBef>
                <a:spcPts val="0"/>
              </a:spcBef>
              <a:spcAft>
                <a:spcPts val="0"/>
              </a:spcAft>
            </a:pPr>
            <a:r>
              <a:rPr sz="1350" b="0">
                <a:solidFill>
                  <a:srgbClr val="555960"/>
                </a:solidFill>
                <a:latin typeface="Red Hat Text"/>
              </a:rPr>
              <a:t>in-memory vs Kafka [ADD-ON]</a:t>
            </a:r>
          </a:p>
        </p:txBody>
      </p:sp>
      <p:sp>
        <p:nvSpPr>
          <p:cNvPr id="7" name="Rounded Rectangle 6"/>
          <p:cNvSpPr/>
          <p:nvPr/>
        </p:nvSpPr>
        <p:spPr>
          <a:xfrm>
            <a:off x="841248" y="2670048"/>
            <a:ext cx="5715000" cy="530352"/>
          </a:xfrm>
          <a:prstGeom prst="roundRect">
            <a:avLst>
              <a:gd name="adj" fmla="val 6000"/>
            </a:avLst>
          </a:prstGeom>
          <a:solidFill>
            <a:srgbClr val="F5F6F8"/>
          </a:solidFill>
          <a:ln w="12700">
            <a:solidFill>
              <a:srgbClr val="DDE1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check_steel.png"/>
          <p:cNvPicPr>
            <a:picLocks noChangeAspect="1"/>
          </p:cNvPicPr>
          <p:nvPr/>
        </p:nvPicPr>
        <p:blipFill>
          <a:blip r:embed="rId3"/>
          <a:stretch>
            <a:fillRect/>
          </a:stretch>
        </p:blipFill>
        <p:spPr>
          <a:xfrm>
            <a:off x="987552" y="2816352"/>
            <a:ext cx="237744" cy="237744"/>
          </a:xfrm>
          <a:prstGeom prst="rect">
            <a:avLst/>
          </a:prstGeom>
        </p:spPr>
      </p:pic>
      <p:sp>
        <p:nvSpPr>
          <p:cNvPr id="9" name="TextBox 8"/>
          <p:cNvSpPr txBox="1"/>
          <p:nvPr/>
        </p:nvSpPr>
        <p:spPr>
          <a:xfrm>
            <a:off x="1353312" y="2670048"/>
            <a:ext cx="5029200" cy="530352"/>
          </a:xfrm>
          <a:prstGeom prst="rect">
            <a:avLst/>
          </a:prstGeom>
          <a:noFill/>
        </p:spPr>
        <p:txBody>
          <a:bodyPr wrap="square" anchor="ctr" lIns="0" rIns="0" tIns="0" bIns="0">
            <a:spAutoFit/>
          </a:bodyPr>
          <a:lstStyle/>
          <a:p>
            <a:pPr algn="l">
              <a:lnSpc>
                <a:spcPct val="106000"/>
              </a:lnSpc>
              <a:spcBef>
                <a:spcPts val="0"/>
              </a:spcBef>
              <a:spcAft>
                <a:spcPts val="0"/>
              </a:spcAft>
            </a:pPr>
            <a:r>
              <a:rPr sz="1200" b="0">
                <a:solidFill>
                  <a:srgbClr val="1A1A1A"/>
                </a:solidFill>
                <a:latin typeface="Red Hat Text"/>
              </a:rPr>
              <a:t>Default in-memory broker (MTChannelBasedBroker): free with Serverless, SYNCHRONOUS, NOT durable</a:t>
            </a:r>
          </a:p>
        </p:txBody>
      </p:sp>
      <p:sp>
        <p:nvSpPr>
          <p:cNvPr id="10" name="Rounded Rectangle 9"/>
          <p:cNvSpPr/>
          <p:nvPr/>
        </p:nvSpPr>
        <p:spPr>
          <a:xfrm>
            <a:off x="841248" y="3273552"/>
            <a:ext cx="5715000" cy="530352"/>
          </a:xfrm>
          <a:prstGeom prst="roundRect">
            <a:avLst>
              <a:gd name="adj" fmla="val 6000"/>
            </a:avLst>
          </a:prstGeom>
          <a:solidFill>
            <a:srgbClr val="F5F6F8"/>
          </a:solidFill>
          <a:ln w="12700">
            <a:solidFill>
              <a:srgbClr val="DDE1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1" name="Picture 10" descr="check_steel.png"/>
          <p:cNvPicPr>
            <a:picLocks noChangeAspect="1"/>
          </p:cNvPicPr>
          <p:nvPr/>
        </p:nvPicPr>
        <p:blipFill>
          <a:blip r:embed="rId3"/>
          <a:stretch>
            <a:fillRect/>
          </a:stretch>
        </p:blipFill>
        <p:spPr>
          <a:xfrm>
            <a:off x="987552" y="3419856"/>
            <a:ext cx="237744" cy="237744"/>
          </a:xfrm>
          <a:prstGeom prst="rect">
            <a:avLst/>
          </a:prstGeom>
        </p:spPr>
      </p:pic>
      <p:sp>
        <p:nvSpPr>
          <p:cNvPr id="12" name="TextBox 11"/>
          <p:cNvSpPr txBox="1"/>
          <p:nvPr/>
        </p:nvSpPr>
        <p:spPr>
          <a:xfrm>
            <a:off x="1353312" y="3273552"/>
            <a:ext cx="5029200" cy="530352"/>
          </a:xfrm>
          <a:prstGeom prst="rect">
            <a:avLst/>
          </a:prstGeom>
          <a:noFill/>
        </p:spPr>
        <p:txBody>
          <a:bodyPr wrap="square" anchor="ctr" lIns="0" rIns="0" tIns="0" bIns="0">
            <a:spAutoFit/>
          </a:bodyPr>
          <a:lstStyle/>
          <a:p>
            <a:pPr algn="l">
              <a:lnSpc>
                <a:spcPct val="106000"/>
              </a:lnSpc>
              <a:spcBef>
                <a:spcPts val="0"/>
              </a:spcBef>
              <a:spcAft>
                <a:spcPts val="0"/>
              </a:spcAft>
            </a:pPr>
            <a:r>
              <a:rPr sz="1200" b="0">
                <a:solidFill>
                  <a:srgbClr val="1A1A1A"/>
                </a:solidFill>
                <a:latin typeface="Red Hat Text"/>
              </a:rPr>
              <a:t>Synchronous = the producer's 202 waits for delivery; a cold consumer makes the first POST ~14s</a:t>
            </a:r>
          </a:p>
        </p:txBody>
      </p:sp>
      <p:sp>
        <p:nvSpPr>
          <p:cNvPr id="13" name="Rounded Rectangle 12"/>
          <p:cNvSpPr/>
          <p:nvPr/>
        </p:nvSpPr>
        <p:spPr>
          <a:xfrm>
            <a:off x="841248" y="3877056"/>
            <a:ext cx="5715000" cy="530352"/>
          </a:xfrm>
          <a:prstGeom prst="roundRect">
            <a:avLst>
              <a:gd name="adj" fmla="val 6000"/>
            </a:avLst>
          </a:prstGeom>
          <a:solidFill>
            <a:srgbClr val="F5F6F8"/>
          </a:solidFill>
          <a:ln w="12700">
            <a:solidFill>
              <a:srgbClr val="DDE1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4" name="Picture 13" descr="check_steel.png"/>
          <p:cNvPicPr>
            <a:picLocks noChangeAspect="1"/>
          </p:cNvPicPr>
          <p:nvPr/>
        </p:nvPicPr>
        <p:blipFill>
          <a:blip r:embed="rId3"/>
          <a:stretch>
            <a:fillRect/>
          </a:stretch>
        </p:blipFill>
        <p:spPr>
          <a:xfrm>
            <a:off x="987552" y="4023360"/>
            <a:ext cx="237744" cy="237744"/>
          </a:xfrm>
          <a:prstGeom prst="rect">
            <a:avLst/>
          </a:prstGeom>
        </p:spPr>
      </p:pic>
      <p:sp>
        <p:nvSpPr>
          <p:cNvPr id="15" name="TextBox 14"/>
          <p:cNvSpPr txBox="1"/>
          <p:nvPr/>
        </p:nvSpPr>
        <p:spPr>
          <a:xfrm>
            <a:off x="1353312" y="3877056"/>
            <a:ext cx="5029200" cy="530352"/>
          </a:xfrm>
          <a:prstGeom prst="rect">
            <a:avLst/>
          </a:prstGeom>
          <a:noFill/>
        </p:spPr>
        <p:txBody>
          <a:bodyPr wrap="square" anchor="ctr" lIns="0" rIns="0" tIns="0" bIns="0">
            <a:spAutoFit/>
          </a:bodyPr>
          <a:lstStyle/>
          <a:p>
            <a:pPr algn="l">
              <a:lnSpc>
                <a:spcPct val="106000"/>
              </a:lnSpc>
              <a:spcBef>
                <a:spcPts val="0"/>
              </a:spcBef>
              <a:spcAft>
                <a:spcPts val="0"/>
              </a:spcAft>
            </a:pPr>
            <a:r>
              <a:rPr sz="1200" b="0">
                <a:solidFill>
                  <a:srgbClr val="1A1A1A"/>
                </a:solidFill>
                <a:latin typeface="Red Hat Text"/>
              </a:rPr>
              <a:t>In-memory = lost on broker restart → fine for dev / best-effort internal events</a:t>
            </a:r>
          </a:p>
        </p:txBody>
      </p:sp>
      <p:sp>
        <p:nvSpPr>
          <p:cNvPr id="16" name="Rounded Rectangle 15"/>
          <p:cNvSpPr/>
          <p:nvPr/>
        </p:nvSpPr>
        <p:spPr>
          <a:xfrm>
            <a:off x="841248" y="4480560"/>
            <a:ext cx="5715000" cy="530352"/>
          </a:xfrm>
          <a:prstGeom prst="roundRect">
            <a:avLst>
              <a:gd name="adj" fmla="val 6000"/>
            </a:avLst>
          </a:prstGeom>
          <a:solidFill>
            <a:srgbClr val="F5F6F8"/>
          </a:solidFill>
          <a:ln w="12700">
            <a:solidFill>
              <a:srgbClr val="DDE1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7" name="Picture 16" descr="check_steel.png"/>
          <p:cNvPicPr>
            <a:picLocks noChangeAspect="1"/>
          </p:cNvPicPr>
          <p:nvPr/>
        </p:nvPicPr>
        <p:blipFill>
          <a:blip r:embed="rId3"/>
          <a:stretch>
            <a:fillRect/>
          </a:stretch>
        </p:blipFill>
        <p:spPr>
          <a:xfrm>
            <a:off x="987552" y="4626864"/>
            <a:ext cx="237744" cy="237744"/>
          </a:xfrm>
          <a:prstGeom prst="rect">
            <a:avLst/>
          </a:prstGeom>
        </p:spPr>
      </p:pic>
      <p:sp>
        <p:nvSpPr>
          <p:cNvPr id="18" name="TextBox 17"/>
          <p:cNvSpPr txBox="1"/>
          <p:nvPr/>
        </p:nvSpPr>
        <p:spPr>
          <a:xfrm>
            <a:off x="1353312" y="4480560"/>
            <a:ext cx="5029200" cy="530352"/>
          </a:xfrm>
          <a:prstGeom prst="rect">
            <a:avLst/>
          </a:prstGeom>
          <a:noFill/>
        </p:spPr>
        <p:txBody>
          <a:bodyPr wrap="square" anchor="ctr" lIns="0" rIns="0" tIns="0" bIns="0">
            <a:spAutoFit/>
          </a:bodyPr>
          <a:lstStyle/>
          <a:p>
            <a:pPr algn="l">
              <a:lnSpc>
                <a:spcPct val="106000"/>
              </a:lnSpc>
              <a:spcBef>
                <a:spcPts val="0"/>
              </a:spcBef>
              <a:spcAft>
                <a:spcPts val="0"/>
              </a:spcAft>
            </a:pPr>
            <a:r>
              <a:rPr sz="1200" b="0">
                <a:solidFill>
                  <a:srgbClr val="1A1A1A"/>
                </a:solidFill>
                <a:latin typeface="Red Hat Text"/>
              </a:rPr>
              <a:t>Kafka broker [ADD-ON] (Streams subscription): durable, replayable, ordered — events you can't lose</a:t>
            </a:r>
          </a:p>
        </p:txBody>
      </p:sp>
      <p:sp>
        <p:nvSpPr>
          <p:cNvPr id="19" name="Rounded Rectangle 18"/>
          <p:cNvSpPr/>
          <p:nvPr/>
        </p:nvSpPr>
        <p:spPr>
          <a:xfrm>
            <a:off x="841248" y="5084064"/>
            <a:ext cx="5715000" cy="530352"/>
          </a:xfrm>
          <a:prstGeom prst="roundRect">
            <a:avLst>
              <a:gd name="adj" fmla="val 6000"/>
            </a:avLst>
          </a:prstGeom>
          <a:solidFill>
            <a:srgbClr val="F5F6F8"/>
          </a:solidFill>
          <a:ln w="12700">
            <a:solidFill>
              <a:srgbClr val="DDE1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0" name="Picture 19" descr="check_steel.png"/>
          <p:cNvPicPr>
            <a:picLocks noChangeAspect="1"/>
          </p:cNvPicPr>
          <p:nvPr/>
        </p:nvPicPr>
        <p:blipFill>
          <a:blip r:embed="rId3"/>
          <a:stretch>
            <a:fillRect/>
          </a:stretch>
        </p:blipFill>
        <p:spPr>
          <a:xfrm>
            <a:off x="987552" y="5230368"/>
            <a:ext cx="237744" cy="237744"/>
          </a:xfrm>
          <a:prstGeom prst="rect">
            <a:avLst/>
          </a:prstGeom>
        </p:spPr>
      </p:pic>
      <p:sp>
        <p:nvSpPr>
          <p:cNvPr id="21" name="TextBox 20"/>
          <p:cNvSpPr txBox="1"/>
          <p:nvPr/>
        </p:nvSpPr>
        <p:spPr>
          <a:xfrm>
            <a:off x="1353312" y="5084064"/>
            <a:ext cx="5029200" cy="530352"/>
          </a:xfrm>
          <a:prstGeom prst="rect">
            <a:avLst/>
          </a:prstGeom>
          <a:noFill/>
        </p:spPr>
        <p:txBody>
          <a:bodyPr wrap="square" anchor="ctr" lIns="0" rIns="0" tIns="0" bIns="0">
            <a:spAutoFit/>
          </a:bodyPr>
          <a:lstStyle/>
          <a:p>
            <a:pPr algn="l">
              <a:lnSpc>
                <a:spcPct val="106000"/>
              </a:lnSpc>
              <a:spcBef>
                <a:spcPts val="0"/>
              </a:spcBef>
              <a:spcAft>
                <a:spcPts val="0"/>
              </a:spcAft>
            </a:pPr>
            <a:r>
              <a:rPr sz="1200" b="0">
                <a:solidFill>
                  <a:srgbClr val="1A1A1A"/>
                </a:solidFill>
                <a:latin typeface="Red Hat Text"/>
              </a:rPr>
              <a:t>Swapping is a broker-class change; triggers/filters/consumers UNCHANGED</a:t>
            </a:r>
          </a:p>
        </p:txBody>
      </p:sp>
      <p:sp>
        <p:nvSpPr>
          <p:cNvPr id="22" name="Rounded Rectangle 21"/>
          <p:cNvSpPr/>
          <p:nvPr/>
        </p:nvSpPr>
        <p:spPr>
          <a:xfrm>
            <a:off x="6812280" y="2670048"/>
            <a:ext cx="4538167" cy="2944368"/>
          </a:xfrm>
          <a:prstGeom prst="roundRect">
            <a:avLst>
              <a:gd name="adj" fmla="val 4000"/>
            </a:avLst>
          </a:prstGeom>
          <a:solidFill>
            <a:srgbClr val="FFFFFF"/>
          </a:solidFill>
          <a:ln w="15240">
            <a:solidFill>
              <a:srgbClr val="DDE1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ounded Rectangle 22"/>
          <p:cNvSpPr/>
          <p:nvPr/>
        </p:nvSpPr>
        <p:spPr>
          <a:xfrm>
            <a:off x="7013448" y="2871216"/>
            <a:ext cx="1298448" cy="310896"/>
          </a:xfrm>
          <a:prstGeom prst="roundRect">
            <a:avLst>
              <a:gd name="adj" fmla="val 50000"/>
            </a:avLst>
          </a:prstGeom>
          <a:solidFill>
            <a:srgbClr val="FCEC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7013448" y="2871216"/>
            <a:ext cx="1298448" cy="310896"/>
          </a:xfrm>
          <a:prstGeom prst="rect">
            <a:avLst/>
          </a:prstGeom>
          <a:noFill/>
        </p:spPr>
        <p:txBody>
          <a:bodyPr wrap="none" anchor="ctr" lIns="0" rIns="0" tIns="0" bIns="0">
            <a:spAutoFit/>
          </a:bodyPr>
          <a:lstStyle/>
          <a:p>
            <a:pPr algn="ctr">
              <a:lnSpc>
                <a:spcPct val="106000"/>
              </a:lnSpc>
              <a:spcBef>
                <a:spcPts val="0"/>
              </a:spcBef>
              <a:spcAft>
                <a:spcPts val="0"/>
              </a:spcAft>
            </a:pPr>
            <a:r>
              <a:rPr sz="850" b="1">
                <a:solidFill>
                  <a:srgbClr val="B80000"/>
                </a:solidFill>
                <a:latin typeface="Red Hat Display"/>
              </a:rPr>
              <a:t>MEDIA PASS</a:t>
            </a:r>
          </a:p>
        </p:txBody>
      </p:sp>
      <p:pic>
        <p:nvPicPr>
          <p:cNvPr id="25" name="Picture 24" descr="eye_slate.png"/>
          <p:cNvPicPr>
            <a:picLocks noChangeAspect="1"/>
          </p:cNvPicPr>
          <p:nvPr/>
        </p:nvPicPr>
        <p:blipFill>
          <a:blip r:embed="rId4"/>
          <a:stretch>
            <a:fillRect/>
          </a:stretch>
        </p:blipFill>
        <p:spPr>
          <a:xfrm>
            <a:off x="8843619" y="3383280"/>
            <a:ext cx="475488" cy="475488"/>
          </a:xfrm>
          <a:prstGeom prst="rect">
            <a:avLst/>
          </a:prstGeom>
        </p:spPr>
      </p:pic>
      <p:sp>
        <p:nvSpPr>
          <p:cNvPr id="26" name="TextBox 25"/>
          <p:cNvSpPr txBox="1"/>
          <p:nvPr/>
        </p:nvSpPr>
        <p:spPr>
          <a:xfrm>
            <a:off x="7050024" y="3995928"/>
            <a:ext cx="4062679" cy="1481328"/>
          </a:xfrm>
          <a:prstGeom prst="rect">
            <a:avLst/>
          </a:prstGeom>
          <a:noFill/>
        </p:spPr>
        <p:txBody>
          <a:bodyPr wrap="square" anchor="t" lIns="0" rIns="0" tIns="0" bIns="0">
            <a:spAutoFit/>
          </a:bodyPr>
          <a:lstStyle/>
          <a:p>
            <a:pPr algn="l">
              <a:lnSpc>
                <a:spcPct val="120000"/>
              </a:lnSpc>
              <a:spcBef>
                <a:spcPts val="0"/>
              </a:spcBef>
              <a:spcAft>
                <a:spcPts val="0"/>
              </a:spcAft>
            </a:pPr>
            <a:r>
              <a:rPr sz="950" b="0">
                <a:solidFill>
                  <a:srgbClr val="8A9099"/>
                </a:solidFill>
                <a:latin typeface="Red Hat Text"/>
              </a:rPr>
              <a:t>A two-column table (In-memory | Kafka [ADD-ON]) across rows durability (none | persistent), replay (no | yes), ordering (best-effort | per-partition), cost (free | Streams subscription), reach-for-it-when (dev/best-effort | can't-lose/replay/throughput). A callout arrow between them: "swap = broker class only; triggers + consumers unchanged." A small footnote: "[ADD-ON] = separate Streams subscription."</a:t>
            </a:r>
          </a:p>
        </p:txBody>
      </p:sp>
      <p:cxnSp>
        <p:nvCxnSpPr>
          <p:cNvPr id="27" name="Connector 26"/>
          <p:cNvCxnSpPr/>
          <p:nvPr/>
        </p:nvCxnSpPr>
        <p:spPr>
          <a:xfrm>
            <a:off x="841248" y="6437376"/>
            <a:ext cx="10509199" cy="0"/>
          </a:xfrm>
          <a:prstGeom prst="bentConnector3">
            <a:avLst/>
          </a:prstGeom>
          <a:ln w="12700">
            <a:solidFill>
              <a:srgbClr val="DDE1E6"/>
            </a:solidFill>
          </a:ln>
          <a:effectLst/>
        </p:spPr>
        <p:style>
          <a:lnRef idx="2">
            <a:schemeClr val="accent1"/>
          </a:lnRef>
          <a:fillRef idx="0">
            <a:schemeClr val="accent1"/>
          </a:fillRef>
          <a:effectRef idx="1">
            <a:schemeClr val="accent1"/>
          </a:effectRef>
          <a:fontRef idx="minor">
            <a:schemeClr val="tx1"/>
          </a:fontRef>
        </p:style>
      </p:cxnSp>
      <p:sp>
        <p:nvSpPr>
          <p:cNvPr id="28" name="TextBox 27"/>
          <p:cNvSpPr txBox="1"/>
          <p:nvPr/>
        </p:nvSpPr>
        <p:spPr>
          <a:xfrm>
            <a:off x="841248" y="6473952"/>
            <a:ext cx="7315200" cy="274320"/>
          </a:xfrm>
          <a:prstGeom prst="rect">
            <a:avLst/>
          </a:prstGeom>
          <a:noFill/>
        </p:spPr>
        <p:txBody>
          <a:bodyPr wrap="square" anchor="t" lIns="0" rIns="0" tIns="0" bIns="0">
            <a:spAutoFit/>
          </a:bodyPr>
          <a:lstStyle/>
          <a:p>
            <a:pPr algn="l">
              <a:lnSpc>
                <a:spcPct val="106000"/>
              </a:lnSpc>
              <a:spcBef>
                <a:spcPts val="0"/>
              </a:spcBef>
              <a:spcAft>
                <a:spcPts val="0"/>
              </a:spcAft>
            </a:pPr>
            <a:r>
              <a:rPr sz="950" b="0">
                <a:solidFill>
                  <a:srgbClr val="8A9099"/>
                </a:solidFill>
                <a:latin typeface="Red Hat Text"/>
              </a:rPr>
              <a:t>CONFIDENTIAL</a:t>
            </a:r>
          </a:p>
        </p:txBody>
      </p:sp>
      <p:sp>
        <p:nvSpPr>
          <p:cNvPr id="29" name="TextBox 28"/>
          <p:cNvSpPr txBox="1"/>
          <p:nvPr/>
        </p:nvSpPr>
        <p:spPr>
          <a:xfrm>
            <a:off x="10801807" y="6473952"/>
            <a:ext cx="548640" cy="274320"/>
          </a:xfrm>
          <a:prstGeom prst="rect">
            <a:avLst/>
          </a:prstGeom>
          <a:noFill/>
        </p:spPr>
        <p:txBody>
          <a:bodyPr wrap="square" anchor="t" lIns="0" rIns="0" tIns="0" bIns="0">
            <a:spAutoFit/>
          </a:bodyPr>
          <a:lstStyle/>
          <a:p>
            <a:pPr algn="r">
              <a:lnSpc>
                <a:spcPct val="106000"/>
              </a:lnSpc>
              <a:spcBef>
                <a:spcPts val="0"/>
              </a:spcBef>
              <a:spcAft>
                <a:spcPts val="0"/>
              </a:spcAft>
            </a:pPr>
            <a:r>
              <a:rPr sz="950" b="0">
                <a:solidFill>
                  <a:srgbClr val="8A9099"/>
                </a:solidFill>
                <a:latin typeface="Red Hat Text"/>
              </a:rPr>
              <a:t>155</a:t>
            </a:r>
          </a:p>
        </p:txBody>
      </p:sp>
    </p:spTree>
  </p:cSld>
  <p:clrMapOvr>
    <a:masterClrMapping/>
  </p:clrMapOvr>
</p:sld>
</file>

<file path=ppt/slides/slide17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redhat_logo.jpg"/>
          <p:cNvPicPr>
            <a:picLocks noChangeAspect="1"/>
          </p:cNvPicPr>
          <p:nvPr/>
        </p:nvPicPr>
        <p:blipFill>
          <a:blip r:embed="rId2"/>
          <a:stretch>
            <a:fillRect/>
          </a:stretch>
        </p:blipFill>
        <p:spPr>
          <a:xfrm>
            <a:off x="10326319" y="475488"/>
            <a:ext cx="1024128" cy="242248"/>
          </a:xfrm>
          <a:prstGeom prst="rect">
            <a:avLst/>
          </a:prstGeom>
        </p:spPr>
      </p:pic>
      <p:sp>
        <p:nvSpPr>
          <p:cNvPr id="3" name="TextBox 2"/>
          <p:cNvSpPr txBox="1"/>
          <p:nvPr/>
        </p:nvSpPr>
        <p:spPr>
          <a:xfrm>
            <a:off x="841248" y="548640"/>
            <a:ext cx="8595360" cy="274320"/>
          </a:xfrm>
          <a:prstGeom prst="rect">
            <a:avLst/>
          </a:prstGeom>
          <a:noFill/>
        </p:spPr>
        <p:txBody>
          <a:bodyPr wrap="square" anchor="t" lIns="0" rIns="0" tIns="0" bIns="0">
            <a:spAutoFit/>
          </a:bodyPr>
          <a:lstStyle/>
          <a:p>
            <a:pPr algn="l">
              <a:lnSpc>
                <a:spcPct val="106000"/>
              </a:lnSpc>
              <a:spcBef>
                <a:spcPts val="0"/>
              </a:spcBef>
              <a:spcAft>
                <a:spcPts val="0"/>
              </a:spcAft>
            </a:pPr>
            <a:r>
              <a:rPr sz="1250" b="1" spc="220">
                <a:solidFill>
                  <a:srgbClr val="EE0000"/>
                </a:solidFill>
                <a:latin typeface="Red Hat Display"/>
              </a:rPr>
              <a:t>M21 · EVENTING DEEP-DIVE &amp; SERVERLESS WORKFLOWS</a:t>
            </a:r>
          </a:p>
        </p:txBody>
      </p:sp>
      <p:sp>
        <p:nvSpPr>
          <p:cNvPr id="4" name="TextBox 3"/>
          <p:cNvSpPr txBox="1"/>
          <p:nvPr/>
        </p:nvSpPr>
        <p:spPr>
          <a:xfrm>
            <a:off x="841248" y="877824"/>
            <a:ext cx="10515600" cy="548640"/>
          </a:xfrm>
          <a:prstGeom prst="rect">
            <a:avLst/>
          </a:prstGeom>
          <a:noFill/>
        </p:spPr>
        <p:txBody>
          <a:bodyPr wrap="none" anchor="t" lIns="0" rIns="0" tIns="0" bIns="0">
            <a:spAutoFit/>
          </a:bodyPr>
          <a:lstStyle/>
          <a:p>
            <a:pPr algn="l">
              <a:lnSpc>
                <a:spcPct val="100000"/>
              </a:lnSpc>
              <a:spcBef>
                <a:spcPts val="0"/>
              </a:spcBef>
              <a:spcAft>
                <a:spcPts val="0"/>
              </a:spcAft>
            </a:pPr>
            <a:r>
              <a:rPr sz="2500" b="1">
                <a:solidFill>
                  <a:srgbClr val="1A1A1A"/>
                </a:solidFill>
                <a:latin typeface="Red Hat Display"/>
              </a:rPr>
              <a:t>Choreography vs orchestration</a:t>
            </a:r>
          </a:p>
        </p:txBody>
      </p:sp>
      <p:cxnSp>
        <p:nvCxnSpPr>
          <p:cNvPr id="5" name="Connector 4"/>
          <p:cNvCxnSpPr/>
          <p:nvPr/>
        </p:nvCxnSpPr>
        <p:spPr>
          <a:xfrm>
            <a:off x="841248" y="1554480"/>
            <a:ext cx="1371600" cy="0"/>
          </a:xfrm>
          <a:prstGeom prst="bentConnector3">
            <a:avLst/>
          </a:prstGeom>
          <a:ln w="31750">
            <a:solidFill>
              <a:srgbClr val="EE0000"/>
            </a:solidFill>
          </a:ln>
          <a:effectLst/>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841248" y="1664208"/>
            <a:ext cx="10515600" cy="365760"/>
          </a:xfrm>
          <a:prstGeom prst="rect">
            <a:avLst/>
          </a:prstGeom>
          <a:noFill/>
        </p:spPr>
        <p:txBody>
          <a:bodyPr wrap="square" anchor="t" lIns="0" rIns="0" tIns="0" bIns="0">
            <a:spAutoFit/>
          </a:bodyPr>
          <a:lstStyle/>
          <a:p>
            <a:pPr algn="l">
              <a:lnSpc>
                <a:spcPct val="106000"/>
              </a:lnSpc>
              <a:spcBef>
                <a:spcPts val="0"/>
              </a:spcBef>
              <a:spcAft>
                <a:spcPts val="0"/>
              </a:spcAft>
            </a:pPr>
            <a:r>
              <a:rPr sz="1350" b="0">
                <a:solidFill>
                  <a:srgbClr val="555960"/>
                </a:solidFill>
                <a:latin typeface="Red Hat Text"/>
              </a:rPr>
              <a:t>workflows with SonataFlow [ADD-ON]</a:t>
            </a:r>
          </a:p>
        </p:txBody>
      </p:sp>
      <p:sp>
        <p:nvSpPr>
          <p:cNvPr id="7" name="Rounded Rectangle 6"/>
          <p:cNvSpPr/>
          <p:nvPr/>
        </p:nvSpPr>
        <p:spPr>
          <a:xfrm>
            <a:off x="841248" y="2670048"/>
            <a:ext cx="5715000" cy="530352"/>
          </a:xfrm>
          <a:prstGeom prst="roundRect">
            <a:avLst>
              <a:gd name="adj" fmla="val 6000"/>
            </a:avLst>
          </a:prstGeom>
          <a:solidFill>
            <a:srgbClr val="F5F6F8"/>
          </a:solidFill>
          <a:ln w="12700">
            <a:solidFill>
              <a:srgbClr val="DDE1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check_steel.png"/>
          <p:cNvPicPr>
            <a:picLocks noChangeAspect="1"/>
          </p:cNvPicPr>
          <p:nvPr/>
        </p:nvPicPr>
        <p:blipFill>
          <a:blip r:embed="rId3"/>
          <a:stretch>
            <a:fillRect/>
          </a:stretch>
        </p:blipFill>
        <p:spPr>
          <a:xfrm>
            <a:off x="987552" y="2816352"/>
            <a:ext cx="237744" cy="237744"/>
          </a:xfrm>
          <a:prstGeom prst="rect">
            <a:avLst/>
          </a:prstGeom>
        </p:spPr>
      </p:pic>
      <p:sp>
        <p:nvSpPr>
          <p:cNvPr id="9" name="TextBox 8"/>
          <p:cNvSpPr txBox="1"/>
          <p:nvPr/>
        </p:nvSpPr>
        <p:spPr>
          <a:xfrm>
            <a:off x="1353312" y="2670048"/>
            <a:ext cx="5029200" cy="530352"/>
          </a:xfrm>
          <a:prstGeom prst="rect">
            <a:avLst/>
          </a:prstGeom>
          <a:noFill/>
        </p:spPr>
        <p:txBody>
          <a:bodyPr wrap="square" anchor="ctr" lIns="0" rIns="0" tIns="0" bIns="0">
            <a:spAutoFit/>
          </a:bodyPr>
          <a:lstStyle/>
          <a:p>
            <a:pPr algn="l">
              <a:lnSpc>
                <a:spcPct val="106000"/>
              </a:lnSpc>
              <a:spcBef>
                <a:spcPts val="0"/>
              </a:spcBef>
              <a:spcAft>
                <a:spcPts val="0"/>
              </a:spcAft>
            </a:pPr>
            <a:r>
              <a:rPr sz="1200" b="0">
                <a:solidFill>
                  <a:srgbClr val="1A1A1A"/>
                </a:solidFill>
                <a:latin typeface="Red Hat Text"/>
              </a:rPr>
              <a:t>What you built is CHOREOGRAPHY: each consumer reacts on its own, no conductor</a:t>
            </a:r>
          </a:p>
        </p:txBody>
      </p:sp>
      <p:sp>
        <p:nvSpPr>
          <p:cNvPr id="10" name="Rounded Rectangle 9"/>
          <p:cNvSpPr/>
          <p:nvPr/>
        </p:nvSpPr>
        <p:spPr>
          <a:xfrm>
            <a:off x="841248" y="3273552"/>
            <a:ext cx="5715000" cy="530352"/>
          </a:xfrm>
          <a:prstGeom prst="roundRect">
            <a:avLst>
              <a:gd name="adj" fmla="val 6000"/>
            </a:avLst>
          </a:prstGeom>
          <a:solidFill>
            <a:srgbClr val="F5F6F8"/>
          </a:solidFill>
          <a:ln w="12700">
            <a:solidFill>
              <a:srgbClr val="DDE1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1" name="Picture 10" descr="check_steel.png"/>
          <p:cNvPicPr>
            <a:picLocks noChangeAspect="1"/>
          </p:cNvPicPr>
          <p:nvPr/>
        </p:nvPicPr>
        <p:blipFill>
          <a:blip r:embed="rId3"/>
          <a:stretch>
            <a:fillRect/>
          </a:stretch>
        </p:blipFill>
        <p:spPr>
          <a:xfrm>
            <a:off x="987552" y="3419856"/>
            <a:ext cx="237744" cy="237744"/>
          </a:xfrm>
          <a:prstGeom prst="rect">
            <a:avLst/>
          </a:prstGeom>
        </p:spPr>
      </p:pic>
      <p:sp>
        <p:nvSpPr>
          <p:cNvPr id="12" name="TextBox 11"/>
          <p:cNvSpPr txBox="1"/>
          <p:nvPr/>
        </p:nvSpPr>
        <p:spPr>
          <a:xfrm>
            <a:off x="1353312" y="3273552"/>
            <a:ext cx="5029200" cy="530352"/>
          </a:xfrm>
          <a:prstGeom prst="rect">
            <a:avLst/>
          </a:prstGeom>
          <a:noFill/>
        </p:spPr>
        <p:txBody>
          <a:bodyPr wrap="square" anchor="ctr" lIns="0" rIns="0" tIns="0" bIns="0">
            <a:spAutoFit/>
          </a:bodyPr>
          <a:lstStyle/>
          <a:p>
            <a:pPr algn="l">
              <a:lnSpc>
                <a:spcPct val="106000"/>
              </a:lnSpc>
              <a:spcBef>
                <a:spcPts val="0"/>
              </a:spcBef>
              <a:spcAft>
                <a:spcPts val="0"/>
              </a:spcAft>
            </a:pPr>
            <a:r>
              <a:rPr sz="1200" b="0">
                <a:solidFill>
                  <a:srgbClr val="1A1A1A"/>
                </a:solidFill>
                <a:latin typeface="Red Hat Text"/>
              </a:rPr>
              <a:t>Great for decoupled fan-out; HARD to reason about with branches, cross-step retries, timeouts</a:t>
            </a:r>
          </a:p>
        </p:txBody>
      </p:sp>
      <p:sp>
        <p:nvSpPr>
          <p:cNvPr id="13" name="Rounded Rectangle 12"/>
          <p:cNvSpPr/>
          <p:nvPr/>
        </p:nvSpPr>
        <p:spPr>
          <a:xfrm>
            <a:off x="841248" y="3877056"/>
            <a:ext cx="5715000" cy="530352"/>
          </a:xfrm>
          <a:prstGeom prst="roundRect">
            <a:avLst>
              <a:gd name="adj" fmla="val 6000"/>
            </a:avLst>
          </a:prstGeom>
          <a:solidFill>
            <a:srgbClr val="F5F6F8"/>
          </a:solidFill>
          <a:ln w="12700">
            <a:solidFill>
              <a:srgbClr val="DDE1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4" name="Picture 13" descr="check_steel.png"/>
          <p:cNvPicPr>
            <a:picLocks noChangeAspect="1"/>
          </p:cNvPicPr>
          <p:nvPr/>
        </p:nvPicPr>
        <p:blipFill>
          <a:blip r:embed="rId3"/>
          <a:stretch>
            <a:fillRect/>
          </a:stretch>
        </p:blipFill>
        <p:spPr>
          <a:xfrm>
            <a:off x="987552" y="4023360"/>
            <a:ext cx="237744" cy="237744"/>
          </a:xfrm>
          <a:prstGeom prst="rect">
            <a:avLst/>
          </a:prstGeom>
        </p:spPr>
      </p:pic>
      <p:sp>
        <p:nvSpPr>
          <p:cNvPr id="15" name="TextBox 14"/>
          <p:cNvSpPr txBox="1"/>
          <p:nvPr/>
        </p:nvSpPr>
        <p:spPr>
          <a:xfrm>
            <a:off x="1353312" y="3877056"/>
            <a:ext cx="5029200" cy="530352"/>
          </a:xfrm>
          <a:prstGeom prst="rect">
            <a:avLst/>
          </a:prstGeom>
          <a:noFill/>
        </p:spPr>
        <p:txBody>
          <a:bodyPr wrap="square" anchor="ctr" lIns="0" rIns="0" tIns="0" bIns="0">
            <a:spAutoFit/>
          </a:bodyPr>
          <a:lstStyle/>
          <a:p>
            <a:pPr algn="l">
              <a:lnSpc>
                <a:spcPct val="106000"/>
              </a:lnSpc>
              <a:spcBef>
                <a:spcPts val="0"/>
              </a:spcBef>
              <a:spcAft>
                <a:spcPts val="0"/>
              </a:spcAft>
            </a:pPr>
            <a:r>
              <a:rPr sz="1200" b="0">
                <a:solidFill>
                  <a:srgbClr val="1A1A1A"/>
                </a:solidFill>
                <a:latin typeface="Red Hat Text"/>
              </a:rPr>
              <a:t>ORCHESTRATION: one workflow conducts — branch on data, call services, timeout branch</a:t>
            </a:r>
          </a:p>
        </p:txBody>
      </p:sp>
      <p:sp>
        <p:nvSpPr>
          <p:cNvPr id="16" name="Rounded Rectangle 15"/>
          <p:cNvSpPr/>
          <p:nvPr/>
        </p:nvSpPr>
        <p:spPr>
          <a:xfrm>
            <a:off x="841248" y="4480560"/>
            <a:ext cx="5715000" cy="530352"/>
          </a:xfrm>
          <a:prstGeom prst="roundRect">
            <a:avLst>
              <a:gd name="adj" fmla="val 6000"/>
            </a:avLst>
          </a:prstGeom>
          <a:solidFill>
            <a:srgbClr val="F5F6F8"/>
          </a:solidFill>
          <a:ln w="12700">
            <a:solidFill>
              <a:srgbClr val="DDE1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7" name="Picture 16" descr="check_steel.png"/>
          <p:cNvPicPr>
            <a:picLocks noChangeAspect="1"/>
          </p:cNvPicPr>
          <p:nvPr/>
        </p:nvPicPr>
        <p:blipFill>
          <a:blip r:embed="rId3"/>
          <a:stretch>
            <a:fillRect/>
          </a:stretch>
        </p:blipFill>
        <p:spPr>
          <a:xfrm>
            <a:off x="987552" y="4626864"/>
            <a:ext cx="237744" cy="237744"/>
          </a:xfrm>
          <a:prstGeom prst="rect">
            <a:avLst/>
          </a:prstGeom>
        </p:spPr>
      </p:pic>
      <p:sp>
        <p:nvSpPr>
          <p:cNvPr id="18" name="TextBox 17"/>
          <p:cNvSpPr txBox="1"/>
          <p:nvPr/>
        </p:nvSpPr>
        <p:spPr>
          <a:xfrm>
            <a:off x="1353312" y="4480560"/>
            <a:ext cx="5029200" cy="530352"/>
          </a:xfrm>
          <a:prstGeom prst="rect">
            <a:avLst/>
          </a:prstGeom>
          <a:noFill/>
        </p:spPr>
        <p:txBody>
          <a:bodyPr wrap="square" anchor="ctr" lIns="0" rIns="0" tIns="0" bIns="0">
            <a:spAutoFit/>
          </a:bodyPr>
          <a:lstStyle/>
          <a:p>
            <a:pPr algn="l">
              <a:lnSpc>
                <a:spcPct val="106000"/>
              </a:lnSpc>
              <a:spcBef>
                <a:spcPts val="0"/>
              </a:spcBef>
              <a:spcAft>
                <a:spcPts val="0"/>
              </a:spcAft>
            </a:pPr>
            <a:r>
              <a:rPr sz="1200" b="0">
                <a:solidFill>
                  <a:srgbClr val="1A1A1A"/>
                </a:solidFill>
                <a:latin typeface="Red Hat Text"/>
              </a:rPr>
              <a:t>OpenShift Serverless Logic (SonataFlow) on Knative — GA; console + kn-workflow CLI</a:t>
            </a:r>
          </a:p>
        </p:txBody>
      </p:sp>
      <p:sp>
        <p:nvSpPr>
          <p:cNvPr id="19" name="Rounded Rectangle 18"/>
          <p:cNvSpPr/>
          <p:nvPr/>
        </p:nvSpPr>
        <p:spPr>
          <a:xfrm>
            <a:off x="841248" y="5084064"/>
            <a:ext cx="5715000" cy="530352"/>
          </a:xfrm>
          <a:prstGeom prst="roundRect">
            <a:avLst>
              <a:gd name="adj" fmla="val 6000"/>
            </a:avLst>
          </a:prstGeom>
          <a:solidFill>
            <a:srgbClr val="F5F6F8"/>
          </a:solidFill>
          <a:ln w="12700">
            <a:solidFill>
              <a:srgbClr val="DDE1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0" name="Picture 19" descr="check_steel.png"/>
          <p:cNvPicPr>
            <a:picLocks noChangeAspect="1"/>
          </p:cNvPicPr>
          <p:nvPr/>
        </p:nvPicPr>
        <p:blipFill>
          <a:blip r:embed="rId3"/>
          <a:stretch>
            <a:fillRect/>
          </a:stretch>
        </p:blipFill>
        <p:spPr>
          <a:xfrm>
            <a:off x="987552" y="5230368"/>
            <a:ext cx="237744" cy="237744"/>
          </a:xfrm>
          <a:prstGeom prst="rect">
            <a:avLst/>
          </a:prstGeom>
        </p:spPr>
      </p:pic>
      <p:sp>
        <p:nvSpPr>
          <p:cNvPr id="21" name="TextBox 20"/>
          <p:cNvSpPr txBox="1"/>
          <p:nvPr/>
        </p:nvSpPr>
        <p:spPr>
          <a:xfrm>
            <a:off x="1353312" y="5084064"/>
            <a:ext cx="5029200" cy="530352"/>
          </a:xfrm>
          <a:prstGeom prst="rect">
            <a:avLst/>
          </a:prstGeom>
          <a:noFill/>
        </p:spPr>
        <p:txBody>
          <a:bodyPr wrap="square" anchor="ctr" lIns="0" rIns="0" tIns="0" bIns="0">
            <a:spAutoFit/>
          </a:bodyPr>
          <a:lstStyle/>
          <a:p>
            <a:pPr algn="l">
              <a:lnSpc>
                <a:spcPct val="106000"/>
              </a:lnSpc>
              <a:spcBef>
                <a:spcPts val="0"/>
              </a:spcBef>
              <a:spcAft>
                <a:spcPts val="0"/>
              </a:spcAft>
            </a:pPr>
            <a:r>
              <a:rPr sz="1200" b="0">
                <a:solidFill>
                  <a:srgbClr val="1A1A1A"/>
                </a:solidFill>
                <a:latin typeface="Red Hat Text"/>
              </a:rPr>
              <a:t>Concept + [ADD-ON] here (a per-user workflow runtime + state DB is real footprint)</a:t>
            </a:r>
          </a:p>
        </p:txBody>
      </p:sp>
      <p:sp>
        <p:nvSpPr>
          <p:cNvPr id="22" name="Rounded Rectangle 21"/>
          <p:cNvSpPr/>
          <p:nvPr/>
        </p:nvSpPr>
        <p:spPr>
          <a:xfrm>
            <a:off x="6812280" y="2670048"/>
            <a:ext cx="4538167" cy="2944368"/>
          </a:xfrm>
          <a:prstGeom prst="roundRect">
            <a:avLst>
              <a:gd name="adj" fmla="val 4000"/>
            </a:avLst>
          </a:prstGeom>
          <a:solidFill>
            <a:srgbClr val="FFFFFF"/>
          </a:solidFill>
          <a:ln w="15240">
            <a:solidFill>
              <a:srgbClr val="DDE1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ounded Rectangle 22"/>
          <p:cNvSpPr/>
          <p:nvPr/>
        </p:nvSpPr>
        <p:spPr>
          <a:xfrm>
            <a:off x="7013448" y="2871216"/>
            <a:ext cx="1298448" cy="310896"/>
          </a:xfrm>
          <a:prstGeom prst="roundRect">
            <a:avLst>
              <a:gd name="adj" fmla="val 50000"/>
            </a:avLst>
          </a:prstGeom>
          <a:solidFill>
            <a:srgbClr val="FCEC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7013448" y="2871216"/>
            <a:ext cx="1298448" cy="310896"/>
          </a:xfrm>
          <a:prstGeom prst="rect">
            <a:avLst/>
          </a:prstGeom>
          <a:noFill/>
        </p:spPr>
        <p:txBody>
          <a:bodyPr wrap="none" anchor="ctr" lIns="0" rIns="0" tIns="0" bIns="0">
            <a:spAutoFit/>
          </a:bodyPr>
          <a:lstStyle/>
          <a:p>
            <a:pPr algn="ctr">
              <a:lnSpc>
                <a:spcPct val="106000"/>
              </a:lnSpc>
              <a:spcBef>
                <a:spcPts val="0"/>
              </a:spcBef>
              <a:spcAft>
                <a:spcPts val="0"/>
              </a:spcAft>
            </a:pPr>
            <a:r>
              <a:rPr sz="850" b="1">
                <a:solidFill>
                  <a:srgbClr val="B80000"/>
                </a:solidFill>
                <a:latin typeface="Red Hat Display"/>
              </a:rPr>
              <a:t>MEDIA PASS</a:t>
            </a:r>
          </a:p>
        </p:txBody>
      </p:sp>
      <p:pic>
        <p:nvPicPr>
          <p:cNvPr id="25" name="Picture 24" descr="eye_slate.png"/>
          <p:cNvPicPr>
            <a:picLocks noChangeAspect="1"/>
          </p:cNvPicPr>
          <p:nvPr/>
        </p:nvPicPr>
        <p:blipFill>
          <a:blip r:embed="rId4"/>
          <a:stretch>
            <a:fillRect/>
          </a:stretch>
        </p:blipFill>
        <p:spPr>
          <a:xfrm>
            <a:off x="8843619" y="3383280"/>
            <a:ext cx="475488" cy="475488"/>
          </a:xfrm>
          <a:prstGeom prst="rect">
            <a:avLst/>
          </a:prstGeom>
        </p:spPr>
      </p:pic>
      <p:sp>
        <p:nvSpPr>
          <p:cNvPr id="26" name="TextBox 25"/>
          <p:cNvSpPr txBox="1"/>
          <p:nvPr/>
        </p:nvSpPr>
        <p:spPr>
          <a:xfrm>
            <a:off x="7050024" y="3995928"/>
            <a:ext cx="4062679" cy="1481328"/>
          </a:xfrm>
          <a:prstGeom prst="rect">
            <a:avLst/>
          </a:prstGeom>
          <a:noFill/>
        </p:spPr>
        <p:txBody>
          <a:bodyPr wrap="square" anchor="t" lIns="0" rIns="0" tIns="0" bIns="0">
            <a:spAutoFit/>
          </a:bodyPr>
          <a:lstStyle/>
          <a:p>
            <a:pPr algn="l">
              <a:lnSpc>
                <a:spcPct val="120000"/>
              </a:lnSpc>
              <a:spcBef>
                <a:spcPts val="0"/>
              </a:spcBef>
              <a:spcAft>
                <a:spcPts val="0"/>
              </a:spcAft>
            </a:pPr>
            <a:r>
              <a:rPr sz="950" b="0">
                <a:solidFill>
                  <a:srgbClr val="8A9099"/>
                </a:solidFill>
                <a:latin typeface="Red Hat Text"/>
              </a:rPr>
              <a:t>Left "Choreography": three services reacting to a broker independently, no center, labeled "decoupled, but who's tracking the process?" Right "Orchestration": a central SonataFlow workflow node with a flowchart inside (threshold check → auto-approve / → review → timeout branch) calling out to services, labeled "one conductor, queryable per-claim state." Footer: "[ADD-ON] concept — decision &gt; deployment."</a:t>
            </a:r>
          </a:p>
        </p:txBody>
      </p:sp>
      <p:cxnSp>
        <p:nvCxnSpPr>
          <p:cNvPr id="27" name="Connector 26"/>
          <p:cNvCxnSpPr/>
          <p:nvPr/>
        </p:nvCxnSpPr>
        <p:spPr>
          <a:xfrm>
            <a:off x="841248" y="6437376"/>
            <a:ext cx="10509199" cy="0"/>
          </a:xfrm>
          <a:prstGeom prst="bentConnector3">
            <a:avLst/>
          </a:prstGeom>
          <a:ln w="12700">
            <a:solidFill>
              <a:srgbClr val="DDE1E6"/>
            </a:solidFill>
          </a:ln>
          <a:effectLst/>
        </p:spPr>
        <p:style>
          <a:lnRef idx="2">
            <a:schemeClr val="accent1"/>
          </a:lnRef>
          <a:fillRef idx="0">
            <a:schemeClr val="accent1"/>
          </a:fillRef>
          <a:effectRef idx="1">
            <a:schemeClr val="accent1"/>
          </a:effectRef>
          <a:fontRef idx="minor">
            <a:schemeClr val="tx1"/>
          </a:fontRef>
        </p:style>
      </p:cxnSp>
      <p:sp>
        <p:nvSpPr>
          <p:cNvPr id="28" name="TextBox 27"/>
          <p:cNvSpPr txBox="1"/>
          <p:nvPr/>
        </p:nvSpPr>
        <p:spPr>
          <a:xfrm>
            <a:off x="841248" y="6473952"/>
            <a:ext cx="7315200" cy="274320"/>
          </a:xfrm>
          <a:prstGeom prst="rect">
            <a:avLst/>
          </a:prstGeom>
          <a:noFill/>
        </p:spPr>
        <p:txBody>
          <a:bodyPr wrap="square" anchor="t" lIns="0" rIns="0" tIns="0" bIns="0">
            <a:spAutoFit/>
          </a:bodyPr>
          <a:lstStyle/>
          <a:p>
            <a:pPr algn="l">
              <a:lnSpc>
                <a:spcPct val="106000"/>
              </a:lnSpc>
              <a:spcBef>
                <a:spcPts val="0"/>
              </a:spcBef>
              <a:spcAft>
                <a:spcPts val="0"/>
              </a:spcAft>
            </a:pPr>
            <a:r>
              <a:rPr sz="950" b="0">
                <a:solidFill>
                  <a:srgbClr val="8A9099"/>
                </a:solidFill>
                <a:latin typeface="Red Hat Text"/>
              </a:rPr>
              <a:t>CONFIDENTIAL</a:t>
            </a:r>
          </a:p>
        </p:txBody>
      </p:sp>
      <p:sp>
        <p:nvSpPr>
          <p:cNvPr id="29" name="TextBox 28"/>
          <p:cNvSpPr txBox="1"/>
          <p:nvPr/>
        </p:nvSpPr>
        <p:spPr>
          <a:xfrm>
            <a:off x="10801807" y="6473952"/>
            <a:ext cx="548640" cy="274320"/>
          </a:xfrm>
          <a:prstGeom prst="rect">
            <a:avLst/>
          </a:prstGeom>
          <a:noFill/>
        </p:spPr>
        <p:txBody>
          <a:bodyPr wrap="square" anchor="t" lIns="0" rIns="0" tIns="0" bIns="0">
            <a:spAutoFit/>
          </a:bodyPr>
          <a:lstStyle/>
          <a:p>
            <a:pPr algn="r">
              <a:lnSpc>
                <a:spcPct val="106000"/>
              </a:lnSpc>
              <a:spcBef>
                <a:spcPts val="0"/>
              </a:spcBef>
              <a:spcAft>
                <a:spcPts val="0"/>
              </a:spcAft>
            </a:pPr>
            <a:r>
              <a:rPr sz="950" b="0">
                <a:solidFill>
                  <a:srgbClr val="8A9099"/>
                </a:solidFill>
                <a:latin typeface="Red Hat Text"/>
              </a:rPr>
              <a:t>156</a:t>
            </a:r>
          </a:p>
        </p:txBody>
      </p:sp>
    </p:spTree>
  </p:cSld>
  <p:clrMapOvr>
    <a:masterClrMapping/>
  </p:clrMapOvr>
</p:sld>
</file>

<file path=ppt/slides/slide17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redhat_logo.jpg"/>
          <p:cNvPicPr>
            <a:picLocks noChangeAspect="1"/>
          </p:cNvPicPr>
          <p:nvPr/>
        </p:nvPicPr>
        <p:blipFill>
          <a:blip r:embed="rId2"/>
          <a:stretch>
            <a:fillRect/>
          </a:stretch>
        </p:blipFill>
        <p:spPr>
          <a:xfrm>
            <a:off x="10326319" y="475488"/>
            <a:ext cx="1024128" cy="242248"/>
          </a:xfrm>
          <a:prstGeom prst="rect">
            <a:avLst/>
          </a:prstGeom>
        </p:spPr>
      </p:pic>
      <p:sp>
        <p:nvSpPr>
          <p:cNvPr id="3" name="TextBox 2"/>
          <p:cNvSpPr txBox="1"/>
          <p:nvPr/>
        </p:nvSpPr>
        <p:spPr>
          <a:xfrm>
            <a:off x="841248" y="548640"/>
            <a:ext cx="8595360" cy="274320"/>
          </a:xfrm>
          <a:prstGeom prst="rect">
            <a:avLst/>
          </a:prstGeom>
          <a:noFill/>
        </p:spPr>
        <p:txBody>
          <a:bodyPr wrap="square" anchor="t" lIns="0" rIns="0" tIns="0" bIns="0">
            <a:spAutoFit/>
          </a:bodyPr>
          <a:lstStyle/>
          <a:p>
            <a:pPr algn="l">
              <a:lnSpc>
                <a:spcPct val="106000"/>
              </a:lnSpc>
              <a:spcBef>
                <a:spcPts val="0"/>
              </a:spcBef>
              <a:spcAft>
                <a:spcPts val="0"/>
              </a:spcAft>
            </a:pPr>
            <a:r>
              <a:rPr sz="1250" b="1" spc="220">
                <a:solidFill>
                  <a:srgbClr val="EE0000"/>
                </a:solidFill>
                <a:latin typeface="Red Hat Display"/>
              </a:rPr>
              <a:t>M21 · EVENTING DEEP-DIVE &amp; SERVERLESS WORKFLOWS</a:t>
            </a:r>
          </a:p>
        </p:txBody>
      </p:sp>
      <p:sp>
        <p:nvSpPr>
          <p:cNvPr id="4" name="TextBox 3"/>
          <p:cNvSpPr txBox="1"/>
          <p:nvPr/>
        </p:nvSpPr>
        <p:spPr>
          <a:xfrm>
            <a:off x="841248" y="877824"/>
            <a:ext cx="10515600" cy="548640"/>
          </a:xfrm>
          <a:prstGeom prst="rect">
            <a:avLst/>
          </a:prstGeom>
          <a:noFill/>
        </p:spPr>
        <p:txBody>
          <a:bodyPr wrap="none" anchor="t" lIns="0" rIns="0" tIns="0" bIns="0">
            <a:spAutoFit/>
          </a:bodyPr>
          <a:lstStyle/>
          <a:p>
            <a:pPr algn="l">
              <a:lnSpc>
                <a:spcPct val="100000"/>
              </a:lnSpc>
              <a:spcBef>
                <a:spcPts val="0"/>
              </a:spcBef>
              <a:spcAft>
                <a:spcPts val="0"/>
              </a:spcAft>
            </a:pPr>
            <a:r>
              <a:rPr sz="2500" b="1">
                <a:solidFill>
                  <a:srgbClr val="1A1A1A"/>
                </a:solidFill>
                <a:latin typeface="Red Hat Display"/>
              </a:rPr>
              <a:t>Eventing decision guide</a:t>
            </a:r>
          </a:p>
        </p:txBody>
      </p:sp>
      <p:cxnSp>
        <p:nvCxnSpPr>
          <p:cNvPr id="5" name="Connector 4"/>
          <p:cNvCxnSpPr/>
          <p:nvPr/>
        </p:nvCxnSpPr>
        <p:spPr>
          <a:xfrm>
            <a:off x="841248" y="1554480"/>
            <a:ext cx="1371600" cy="0"/>
          </a:xfrm>
          <a:prstGeom prst="bentConnector3">
            <a:avLst/>
          </a:prstGeom>
          <a:ln w="31750">
            <a:solidFill>
              <a:srgbClr val="EE0000"/>
            </a:solidFill>
          </a:ln>
          <a:effectLst/>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841248" y="1664208"/>
            <a:ext cx="10515600" cy="365760"/>
          </a:xfrm>
          <a:prstGeom prst="rect">
            <a:avLst/>
          </a:prstGeom>
          <a:noFill/>
        </p:spPr>
        <p:txBody>
          <a:bodyPr wrap="square" anchor="t" lIns="0" rIns="0" tIns="0" bIns="0">
            <a:spAutoFit/>
          </a:bodyPr>
          <a:lstStyle/>
          <a:p>
            <a:pPr algn="l">
              <a:lnSpc>
                <a:spcPct val="106000"/>
              </a:lnSpc>
              <a:spcBef>
                <a:spcPts val="0"/>
              </a:spcBef>
              <a:spcAft>
                <a:spcPts val="0"/>
              </a:spcAft>
            </a:pPr>
            <a:r>
              <a:rPr sz="1350" b="0">
                <a:solidFill>
                  <a:srgbClr val="555960"/>
                </a:solidFill>
                <a:latin typeface="Red Hat Text"/>
              </a:rPr>
              <a:t>what each tool is FOR</a:t>
            </a:r>
          </a:p>
        </p:txBody>
      </p:sp>
      <p:sp>
        <p:nvSpPr>
          <p:cNvPr id="7" name="Rounded Rectangle 6"/>
          <p:cNvSpPr/>
          <p:nvPr/>
        </p:nvSpPr>
        <p:spPr>
          <a:xfrm>
            <a:off x="841248" y="2670048"/>
            <a:ext cx="5715000" cy="530352"/>
          </a:xfrm>
          <a:prstGeom prst="roundRect">
            <a:avLst>
              <a:gd name="adj" fmla="val 6000"/>
            </a:avLst>
          </a:prstGeom>
          <a:solidFill>
            <a:srgbClr val="F5F6F8"/>
          </a:solidFill>
          <a:ln w="12700">
            <a:solidFill>
              <a:srgbClr val="DDE1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check_steel.png"/>
          <p:cNvPicPr>
            <a:picLocks noChangeAspect="1"/>
          </p:cNvPicPr>
          <p:nvPr/>
        </p:nvPicPr>
        <p:blipFill>
          <a:blip r:embed="rId3"/>
          <a:stretch>
            <a:fillRect/>
          </a:stretch>
        </p:blipFill>
        <p:spPr>
          <a:xfrm>
            <a:off x="987552" y="2816352"/>
            <a:ext cx="237744" cy="237744"/>
          </a:xfrm>
          <a:prstGeom prst="rect">
            <a:avLst/>
          </a:prstGeom>
        </p:spPr>
      </p:pic>
      <p:sp>
        <p:nvSpPr>
          <p:cNvPr id="9" name="TextBox 8"/>
          <p:cNvSpPr txBox="1"/>
          <p:nvPr/>
        </p:nvSpPr>
        <p:spPr>
          <a:xfrm>
            <a:off x="1353312" y="2670048"/>
            <a:ext cx="5029200" cy="530352"/>
          </a:xfrm>
          <a:prstGeom prst="rect">
            <a:avLst/>
          </a:prstGeom>
          <a:noFill/>
        </p:spPr>
        <p:txBody>
          <a:bodyPr wrap="square" anchor="ctr" lIns="0" rIns="0" tIns="0" bIns="0">
            <a:spAutoFit/>
          </a:bodyPr>
          <a:lstStyle/>
          <a:p>
            <a:pPr algn="l">
              <a:lnSpc>
                <a:spcPct val="106000"/>
              </a:lnSpc>
              <a:spcBef>
                <a:spcPts val="0"/>
              </a:spcBef>
              <a:spcAft>
                <a:spcPts val="0"/>
              </a:spcAft>
            </a:pPr>
            <a:r>
              <a:rPr sz="1200" b="0">
                <a:solidFill>
                  <a:srgbClr val="1A1A1A"/>
                </a:solidFill>
                <a:latin typeface="Red Hat Text"/>
              </a:rPr>
              <a:t>React to a fact, fan out to many, filter per consumer → Broker + Triggers (this module)</a:t>
            </a:r>
          </a:p>
        </p:txBody>
      </p:sp>
      <p:sp>
        <p:nvSpPr>
          <p:cNvPr id="10" name="Rounded Rectangle 9"/>
          <p:cNvSpPr/>
          <p:nvPr/>
        </p:nvSpPr>
        <p:spPr>
          <a:xfrm>
            <a:off x="841248" y="3273552"/>
            <a:ext cx="5715000" cy="530352"/>
          </a:xfrm>
          <a:prstGeom prst="roundRect">
            <a:avLst>
              <a:gd name="adj" fmla="val 6000"/>
            </a:avLst>
          </a:prstGeom>
          <a:solidFill>
            <a:srgbClr val="F5F6F8"/>
          </a:solidFill>
          <a:ln w="12700">
            <a:solidFill>
              <a:srgbClr val="DDE1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1" name="Picture 10" descr="check_steel.png"/>
          <p:cNvPicPr>
            <a:picLocks noChangeAspect="1"/>
          </p:cNvPicPr>
          <p:nvPr/>
        </p:nvPicPr>
        <p:blipFill>
          <a:blip r:embed="rId3"/>
          <a:stretch>
            <a:fillRect/>
          </a:stretch>
        </p:blipFill>
        <p:spPr>
          <a:xfrm>
            <a:off x="987552" y="3419856"/>
            <a:ext cx="237744" cy="237744"/>
          </a:xfrm>
          <a:prstGeom prst="rect">
            <a:avLst/>
          </a:prstGeom>
        </p:spPr>
      </p:pic>
      <p:sp>
        <p:nvSpPr>
          <p:cNvPr id="12" name="TextBox 11"/>
          <p:cNvSpPr txBox="1"/>
          <p:nvPr/>
        </p:nvSpPr>
        <p:spPr>
          <a:xfrm>
            <a:off x="1353312" y="3273552"/>
            <a:ext cx="5029200" cy="530352"/>
          </a:xfrm>
          <a:prstGeom prst="rect">
            <a:avLst/>
          </a:prstGeom>
          <a:noFill/>
        </p:spPr>
        <p:txBody>
          <a:bodyPr wrap="square" anchor="ctr" lIns="0" rIns="0" tIns="0" bIns="0">
            <a:spAutoFit/>
          </a:bodyPr>
          <a:lstStyle/>
          <a:p>
            <a:pPr algn="l">
              <a:lnSpc>
                <a:spcPct val="106000"/>
              </a:lnSpc>
              <a:spcBef>
                <a:spcPts val="0"/>
              </a:spcBef>
              <a:spcAft>
                <a:spcPts val="0"/>
              </a:spcAft>
            </a:pPr>
            <a:r>
              <a:rPr sz="1200" b="0">
                <a:solidFill>
                  <a:srgbClr val="1A1A1A"/>
                </a:solidFill>
                <a:latin typeface="Red Hat Text"/>
              </a:rPr>
              <a:t>Ordered linear pipeline → Channel + Subscriptions</a:t>
            </a:r>
          </a:p>
        </p:txBody>
      </p:sp>
      <p:sp>
        <p:nvSpPr>
          <p:cNvPr id="13" name="Rounded Rectangle 12"/>
          <p:cNvSpPr/>
          <p:nvPr/>
        </p:nvSpPr>
        <p:spPr>
          <a:xfrm>
            <a:off x="841248" y="3877056"/>
            <a:ext cx="5715000" cy="530352"/>
          </a:xfrm>
          <a:prstGeom prst="roundRect">
            <a:avLst>
              <a:gd name="adj" fmla="val 6000"/>
            </a:avLst>
          </a:prstGeom>
          <a:solidFill>
            <a:srgbClr val="F5F6F8"/>
          </a:solidFill>
          <a:ln w="12700">
            <a:solidFill>
              <a:srgbClr val="DDE1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4" name="Picture 13" descr="check_steel.png"/>
          <p:cNvPicPr>
            <a:picLocks noChangeAspect="1"/>
          </p:cNvPicPr>
          <p:nvPr/>
        </p:nvPicPr>
        <p:blipFill>
          <a:blip r:embed="rId3"/>
          <a:stretch>
            <a:fillRect/>
          </a:stretch>
        </p:blipFill>
        <p:spPr>
          <a:xfrm>
            <a:off x="987552" y="4023360"/>
            <a:ext cx="237744" cy="237744"/>
          </a:xfrm>
          <a:prstGeom prst="rect">
            <a:avLst/>
          </a:prstGeom>
        </p:spPr>
      </p:pic>
      <p:sp>
        <p:nvSpPr>
          <p:cNvPr id="15" name="TextBox 14"/>
          <p:cNvSpPr txBox="1"/>
          <p:nvPr/>
        </p:nvSpPr>
        <p:spPr>
          <a:xfrm>
            <a:off x="1353312" y="3877056"/>
            <a:ext cx="5029200" cy="530352"/>
          </a:xfrm>
          <a:prstGeom prst="rect">
            <a:avLst/>
          </a:prstGeom>
          <a:noFill/>
        </p:spPr>
        <p:txBody>
          <a:bodyPr wrap="square" anchor="ctr" lIns="0" rIns="0" tIns="0" bIns="0">
            <a:spAutoFit/>
          </a:bodyPr>
          <a:lstStyle/>
          <a:p>
            <a:pPr algn="l">
              <a:lnSpc>
                <a:spcPct val="106000"/>
              </a:lnSpc>
              <a:spcBef>
                <a:spcPts val="0"/>
              </a:spcBef>
              <a:spcAft>
                <a:spcPts val="0"/>
              </a:spcAft>
            </a:pPr>
            <a:r>
              <a:rPr sz="1200" b="0">
                <a:solidFill>
                  <a:srgbClr val="1A1A1A"/>
                </a:solidFill>
                <a:latin typeface="Red Hat Text"/>
              </a:rPr>
              <a:t>Events you can't lose → Kafka broker [ADD-ON]; multi-step process w/ branches → SonataFlow [ADD-ON]</a:t>
            </a:r>
          </a:p>
        </p:txBody>
      </p:sp>
      <p:sp>
        <p:nvSpPr>
          <p:cNvPr id="16" name="Rounded Rectangle 15"/>
          <p:cNvSpPr/>
          <p:nvPr/>
        </p:nvSpPr>
        <p:spPr>
          <a:xfrm>
            <a:off x="841248" y="4480560"/>
            <a:ext cx="5715000" cy="530352"/>
          </a:xfrm>
          <a:prstGeom prst="roundRect">
            <a:avLst>
              <a:gd name="adj" fmla="val 6000"/>
            </a:avLst>
          </a:prstGeom>
          <a:solidFill>
            <a:srgbClr val="F5F6F8"/>
          </a:solidFill>
          <a:ln w="12700">
            <a:solidFill>
              <a:srgbClr val="DDE1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7" name="Picture 16" descr="check_steel.png"/>
          <p:cNvPicPr>
            <a:picLocks noChangeAspect="1"/>
          </p:cNvPicPr>
          <p:nvPr/>
        </p:nvPicPr>
        <p:blipFill>
          <a:blip r:embed="rId3"/>
          <a:stretch>
            <a:fillRect/>
          </a:stretch>
        </p:blipFill>
        <p:spPr>
          <a:xfrm>
            <a:off x="987552" y="4626864"/>
            <a:ext cx="237744" cy="237744"/>
          </a:xfrm>
          <a:prstGeom prst="rect">
            <a:avLst/>
          </a:prstGeom>
        </p:spPr>
      </p:pic>
      <p:sp>
        <p:nvSpPr>
          <p:cNvPr id="18" name="TextBox 17"/>
          <p:cNvSpPr txBox="1"/>
          <p:nvPr/>
        </p:nvSpPr>
        <p:spPr>
          <a:xfrm>
            <a:off x="1353312" y="4480560"/>
            <a:ext cx="5029200" cy="530352"/>
          </a:xfrm>
          <a:prstGeom prst="rect">
            <a:avLst/>
          </a:prstGeom>
          <a:noFill/>
        </p:spPr>
        <p:txBody>
          <a:bodyPr wrap="square" anchor="ctr" lIns="0" rIns="0" tIns="0" bIns="0">
            <a:spAutoFit/>
          </a:bodyPr>
          <a:lstStyle/>
          <a:p>
            <a:pPr algn="l">
              <a:lnSpc>
                <a:spcPct val="106000"/>
              </a:lnSpc>
              <a:spcBef>
                <a:spcPts val="0"/>
              </a:spcBef>
              <a:spcAft>
                <a:spcPts val="0"/>
              </a:spcAft>
            </a:pPr>
            <a:r>
              <a:rPr sz="1200" b="0">
                <a:solidFill>
                  <a:srgbClr val="1A1A1A"/>
                </a:solidFill>
                <a:latin typeface="Red Hat Text"/>
              </a:rPr>
              <a:t>Wrong tools: CI/CD build → Pipelines (Pipelines Fundamentals); bulk work → Jobs+Kueue (Jobs, Batch &amp; Queued Workloads); answer-now → direct call</a:t>
            </a:r>
          </a:p>
        </p:txBody>
      </p:sp>
      <p:sp>
        <p:nvSpPr>
          <p:cNvPr id="19" name="Rounded Rectangle 18"/>
          <p:cNvSpPr/>
          <p:nvPr/>
        </p:nvSpPr>
        <p:spPr>
          <a:xfrm>
            <a:off x="841248" y="5084064"/>
            <a:ext cx="5715000" cy="530352"/>
          </a:xfrm>
          <a:prstGeom prst="roundRect">
            <a:avLst>
              <a:gd name="adj" fmla="val 6000"/>
            </a:avLst>
          </a:prstGeom>
          <a:solidFill>
            <a:srgbClr val="F5F6F8"/>
          </a:solidFill>
          <a:ln w="12700">
            <a:solidFill>
              <a:srgbClr val="DDE1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0" name="Picture 19" descr="check_steel.png"/>
          <p:cNvPicPr>
            <a:picLocks noChangeAspect="1"/>
          </p:cNvPicPr>
          <p:nvPr/>
        </p:nvPicPr>
        <p:blipFill>
          <a:blip r:embed="rId3"/>
          <a:stretch>
            <a:fillRect/>
          </a:stretch>
        </p:blipFill>
        <p:spPr>
          <a:xfrm>
            <a:off x="987552" y="5230368"/>
            <a:ext cx="237744" cy="237744"/>
          </a:xfrm>
          <a:prstGeom prst="rect">
            <a:avLst/>
          </a:prstGeom>
        </p:spPr>
      </p:pic>
      <p:sp>
        <p:nvSpPr>
          <p:cNvPr id="21" name="TextBox 20"/>
          <p:cNvSpPr txBox="1"/>
          <p:nvPr/>
        </p:nvSpPr>
        <p:spPr>
          <a:xfrm>
            <a:off x="1353312" y="5084064"/>
            <a:ext cx="5029200" cy="530352"/>
          </a:xfrm>
          <a:prstGeom prst="rect">
            <a:avLst/>
          </a:prstGeom>
          <a:noFill/>
        </p:spPr>
        <p:txBody>
          <a:bodyPr wrap="square" anchor="ctr" lIns="0" rIns="0" tIns="0" bIns="0">
            <a:spAutoFit/>
          </a:bodyPr>
          <a:lstStyle/>
          <a:p>
            <a:pPr algn="l">
              <a:lnSpc>
                <a:spcPct val="106000"/>
              </a:lnSpc>
              <a:spcBef>
                <a:spcPts val="0"/>
              </a:spcBef>
              <a:spcAft>
                <a:spcPts val="0"/>
              </a:spcAft>
            </a:pPr>
            <a:r>
              <a:rPr sz="1200" b="0">
                <a:solidFill>
                  <a:srgbClr val="1A1A1A"/>
                </a:solidFill>
                <a:latin typeface="Red Hat Text"/>
              </a:rPr>
              <a:t>Map to your org: where does adding a consumer force a producer change? where's a DLQ + alert?</a:t>
            </a:r>
          </a:p>
        </p:txBody>
      </p:sp>
      <p:sp>
        <p:nvSpPr>
          <p:cNvPr id="22" name="Rounded Rectangle 21"/>
          <p:cNvSpPr/>
          <p:nvPr/>
        </p:nvSpPr>
        <p:spPr>
          <a:xfrm>
            <a:off x="6812280" y="2670048"/>
            <a:ext cx="4538167" cy="2944368"/>
          </a:xfrm>
          <a:prstGeom prst="roundRect">
            <a:avLst>
              <a:gd name="adj" fmla="val 4000"/>
            </a:avLst>
          </a:prstGeom>
          <a:solidFill>
            <a:srgbClr val="FFFFFF"/>
          </a:solidFill>
          <a:ln w="15240">
            <a:solidFill>
              <a:srgbClr val="DDE1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ounded Rectangle 22"/>
          <p:cNvSpPr/>
          <p:nvPr/>
        </p:nvSpPr>
        <p:spPr>
          <a:xfrm>
            <a:off x="7013448" y="2871216"/>
            <a:ext cx="1298448" cy="310896"/>
          </a:xfrm>
          <a:prstGeom prst="roundRect">
            <a:avLst>
              <a:gd name="adj" fmla="val 50000"/>
            </a:avLst>
          </a:prstGeom>
          <a:solidFill>
            <a:srgbClr val="FCEC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7013448" y="2871216"/>
            <a:ext cx="1298448" cy="310896"/>
          </a:xfrm>
          <a:prstGeom prst="rect">
            <a:avLst/>
          </a:prstGeom>
          <a:noFill/>
        </p:spPr>
        <p:txBody>
          <a:bodyPr wrap="none" anchor="ctr" lIns="0" rIns="0" tIns="0" bIns="0">
            <a:spAutoFit/>
          </a:bodyPr>
          <a:lstStyle/>
          <a:p>
            <a:pPr algn="ctr">
              <a:lnSpc>
                <a:spcPct val="106000"/>
              </a:lnSpc>
              <a:spcBef>
                <a:spcPts val="0"/>
              </a:spcBef>
              <a:spcAft>
                <a:spcPts val="0"/>
              </a:spcAft>
            </a:pPr>
            <a:r>
              <a:rPr sz="850" b="1">
                <a:solidFill>
                  <a:srgbClr val="B80000"/>
                </a:solidFill>
                <a:latin typeface="Red Hat Display"/>
              </a:rPr>
              <a:t>MEDIA PASS</a:t>
            </a:r>
          </a:p>
        </p:txBody>
      </p:sp>
      <p:pic>
        <p:nvPicPr>
          <p:cNvPr id="25" name="Picture 24" descr="eye_slate.png"/>
          <p:cNvPicPr>
            <a:picLocks noChangeAspect="1"/>
          </p:cNvPicPr>
          <p:nvPr/>
        </p:nvPicPr>
        <p:blipFill>
          <a:blip r:embed="rId4"/>
          <a:stretch>
            <a:fillRect/>
          </a:stretch>
        </p:blipFill>
        <p:spPr>
          <a:xfrm>
            <a:off x="8843619" y="3383280"/>
            <a:ext cx="475488" cy="475488"/>
          </a:xfrm>
          <a:prstGeom prst="rect">
            <a:avLst/>
          </a:prstGeom>
        </p:spPr>
      </p:pic>
      <p:sp>
        <p:nvSpPr>
          <p:cNvPr id="26" name="TextBox 25"/>
          <p:cNvSpPr txBox="1"/>
          <p:nvPr/>
        </p:nvSpPr>
        <p:spPr>
          <a:xfrm>
            <a:off x="7050024" y="3995928"/>
            <a:ext cx="4062679" cy="1481328"/>
          </a:xfrm>
          <a:prstGeom prst="rect">
            <a:avLst/>
          </a:prstGeom>
          <a:noFill/>
        </p:spPr>
        <p:txBody>
          <a:bodyPr wrap="square" anchor="t" lIns="0" rIns="0" tIns="0" bIns="0">
            <a:spAutoFit/>
          </a:bodyPr>
          <a:lstStyle/>
          <a:p>
            <a:pPr algn="l">
              <a:lnSpc>
                <a:spcPct val="120000"/>
              </a:lnSpc>
              <a:spcBef>
                <a:spcPts val="0"/>
              </a:spcBef>
              <a:spcAft>
                <a:spcPts val="0"/>
              </a:spcAft>
            </a:pPr>
            <a:r>
              <a:rPr sz="950" b="0">
                <a:solidFill>
                  <a:srgbClr val="8A9099"/>
                </a:solidFill>
                <a:latin typeface="Red Hat Text"/>
              </a:rPr>
              <a:t>A "what's it FOR" matrix: rows = need (react+fan-out+filter / ordered pipeline / can't-lose / multi-step process / CI-CD build / bulk work / answer-now), columns = Reach for | Not. Right rail "Map to your org" with the five prompts as check-boxes. Bottom banner pointer: "Pipelines Fundamentals Pipelines · Jobs, Batch &amp; Queued Workloads Jobs+Kueue · Serverless Serverless (the source→broker→trigger taste this module deepened)."</a:t>
            </a:r>
          </a:p>
        </p:txBody>
      </p:sp>
      <p:cxnSp>
        <p:nvCxnSpPr>
          <p:cNvPr id="27" name="Connector 26"/>
          <p:cNvCxnSpPr/>
          <p:nvPr/>
        </p:nvCxnSpPr>
        <p:spPr>
          <a:xfrm>
            <a:off x="841248" y="6437376"/>
            <a:ext cx="10509199" cy="0"/>
          </a:xfrm>
          <a:prstGeom prst="bentConnector3">
            <a:avLst/>
          </a:prstGeom>
          <a:ln w="12700">
            <a:solidFill>
              <a:srgbClr val="DDE1E6"/>
            </a:solidFill>
          </a:ln>
          <a:effectLst/>
        </p:spPr>
        <p:style>
          <a:lnRef idx="2">
            <a:schemeClr val="accent1"/>
          </a:lnRef>
          <a:fillRef idx="0">
            <a:schemeClr val="accent1"/>
          </a:fillRef>
          <a:effectRef idx="1">
            <a:schemeClr val="accent1"/>
          </a:effectRef>
          <a:fontRef idx="minor">
            <a:schemeClr val="tx1"/>
          </a:fontRef>
        </p:style>
      </p:cxnSp>
      <p:sp>
        <p:nvSpPr>
          <p:cNvPr id="28" name="TextBox 27"/>
          <p:cNvSpPr txBox="1"/>
          <p:nvPr/>
        </p:nvSpPr>
        <p:spPr>
          <a:xfrm>
            <a:off x="841248" y="6473952"/>
            <a:ext cx="7315200" cy="274320"/>
          </a:xfrm>
          <a:prstGeom prst="rect">
            <a:avLst/>
          </a:prstGeom>
          <a:noFill/>
        </p:spPr>
        <p:txBody>
          <a:bodyPr wrap="square" anchor="t" lIns="0" rIns="0" tIns="0" bIns="0">
            <a:spAutoFit/>
          </a:bodyPr>
          <a:lstStyle/>
          <a:p>
            <a:pPr algn="l">
              <a:lnSpc>
                <a:spcPct val="106000"/>
              </a:lnSpc>
              <a:spcBef>
                <a:spcPts val="0"/>
              </a:spcBef>
              <a:spcAft>
                <a:spcPts val="0"/>
              </a:spcAft>
            </a:pPr>
            <a:r>
              <a:rPr sz="950" b="0">
                <a:solidFill>
                  <a:srgbClr val="8A9099"/>
                </a:solidFill>
                <a:latin typeface="Red Hat Text"/>
              </a:rPr>
              <a:t>CONFIDENTIAL</a:t>
            </a:r>
          </a:p>
        </p:txBody>
      </p:sp>
      <p:sp>
        <p:nvSpPr>
          <p:cNvPr id="29" name="TextBox 28"/>
          <p:cNvSpPr txBox="1"/>
          <p:nvPr/>
        </p:nvSpPr>
        <p:spPr>
          <a:xfrm>
            <a:off x="10801807" y="6473952"/>
            <a:ext cx="548640" cy="274320"/>
          </a:xfrm>
          <a:prstGeom prst="rect">
            <a:avLst/>
          </a:prstGeom>
          <a:noFill/>
        </p:spPr>
        <p:txBody>
          <a:bodyPr wrap="square" anchor="t" lIns="0" rIns="0" tIns="0" bIns="0">
            <a:spAutoFit/>
          </a:bodyPr>
          <a:lstStyle/>
          <a:p>
            <a:pPr algn="r">
              <a:lnSpc>
                <a:spcPct val="106000"/>
              </a:lnSpc>
              <a:spcBef>
                <a:spcPts val="0"/>
              </a:spcBef>
              <a:spcAft>
                <a:spcPts val="0"/>
              </a:spcAft>
            </a:pPr>
            <a:r>
              <a:rPr sz="950" b="0">
                <a:solidFill>
                  <a:srgbClr val="8A9099"/>
                </a:solidFill>
                <a:latin typeface="Red Hat Text"/>
              </a:rPr>
              <a:t>157</a:t>
            </a:r>
          </a:p>
        </p:txBody>
      </p:sp>
    </p:spTree>
  </p:cSld>
  <p:clrMapOvr>
    <a:masterClrMapping/>
  </p:clrMapOvr>
</p:sld>
</file>

<file path=ppt/slides/slide17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redhat_logo.jpg"/>
          <p:cNvPicPr>
            <a:picLocks noChangeAspect="1"/>
          </p:cNvPicPr>
          <p:nvPr/>
        </p:nvPicPr>
        <p:blipFill>
          <a:blip r:embed="rId2"/>
          <a:stretch>
            <a:fillRect/>
          </a:stretch>
        </p:blipFill>
        <p:spPr>
          <a:xfrm>
            <a:off x="841248" y="731520"/>
            <a:ext cx="1554480" cy="367699"/>
          </a:xfrm>
          <a:prstGeom prst="rect">
            <a:avLst/>
          </a:prstGeom>
        </p:spPr>
      </p:pic>
      <p:sp>
        <p:nvSpPr>
          <p:cNvPr id="3" name="TextBox 2"/>
          <p:cNvSpPr txBox="1"/>
          <p:nvPr/>
        </p:nvSpPr>
        <p:spPr>
          <a:xfrm>
            <a:off x="841248" y="2514600"/>
            <a:ext cx="9601200" cy="274320"/>
          </a:xfrm>
          <a:prstGeom prst="rect">
            <a:avLst/>
          </a:prstGeom>
          <a:noFill/>
        </p:spPr>
        <p:txBody>
          <a:bodyPr wrap="square" anchor="t" lIns="0" rIns="0" tIns="0" bIns="0">
            <a:spAutoFit/>
          </a:bodyPr>
          <a:lstStyle/>
          <a:p>
            <a:pPr algn="l">
              <a:lnSpc>
                <a:spcPct val="106000"/>
              </a:lnSpc>
              <a:spcBef>
                <a:spcPts val="0"/>
              </a:spcBef>
              <a:spcAft>
                <a:spcPts val="0"/>
              </a:spcAft>
            </a:pPr>
            <a:r>
              <a:rPr sz="1250" b="1" spc="180">
                <a:solidFill>
                  <a:srgbClr val="5B3E8E"/>
                </a:solidFill>
                <a:latin typeface="Red Hat Display"/>
              </a:rPr>
              <a:t>D · ADVANCED ELECTIVES</a:t>
            </a:r>
          </a:p>
        </p:txBody>
      </p:sp>
      <p:sp>
        <p:nvSpPr>
          <p:cNvPr id="4" name="TextBox 3"/>
          <p:cNvSpPr txBox="1"/>
          <p:nvPr/>
        </p:nvSpPr>
        <p:spPr>
          <a:xfrm>
            <a:off x="841248" y="2880360"/>
            <a:ext cx="2103120" cy="1188720"/>
          </a:xfrm>
          <a:prstGeom prst="rect">
            <a:avLst/>
          </a:prstGeom>
          <a:noFill/>
        </p:spPr>
        <p:txBody>
          <a:bodyPr wrap="none" anchor="t" lIns="0" rIns="0" tIns="0" bIns="0">
            <a:spAutoFit/>
          </a:bodyPr>
          <a:lstStyle/>
          <a:p>
            <a:pPr algn="l">
              <a:lnSpc>
                <a:spcPct val="90000"/>
              </a:lnSpc>
              <a:spcBef>
                <a:spcPts val="0"/>
              </a:spcBef>
              <a:spcAft>
                <a:spcPts val="0"/>
              </a:spcAft>
            </a:pPr>
            <a:r>
              <a:rPr sz="5200" b="1">
                <a:solidFill>
                  <a:srgbClr val="B80000"/>
                </a:solidFill>
                <a:latin typeface="Red Hat Display"/>
              </a:rPr>
              <a:t>M22</a:t>
            </a:r>
          </a:p>
        </p:txBody>
      </p:sp>
      <p:sp>
        <p:nvSpPr>
          <p:cNvPr id="5" name="TextBox 4"/>
          <p:cNvSpPr txBox="1"/>
          <p:nvPr/>
        </p:nvSpPr>
        <p:spPr>
          <a:xfrm>
            <a:off x="3127248" y="2971800"/>
            <a:ext cx="8412480" cy="1188720"/>
          </a:xfrm>
          <a:prstGeom prst="rect">
            <a:avLst/>
          </a:prstGeom>
          <a:noFill/>
        </p:spPr>
        <p:txBody>
          <a:bodyPr wrap="square" anchor="t" lIns="0" rIns="0" tIns="0" bIns="0">
            <a:spAutoFit/>
          </a:bodyPr>
          <a:lstStyle/>
          <a:p>
            <a:pPr algn="l">
              <a:lnSpc>
                <a:spcPct val="102000"/>
              </a:lnSpc>
              <a:spcBef>
                <a:spcPts val="0"/>
              </a:spcBef>
              <a:spcAft>
                <a:spcPts val="0"/>
              </a:spcAft>
            </a:pPr>
            <a:r>
              <a:rPr sz="3000" b="1">
                <a:solidFill>
                  <a:srgbClr val="1A1A1A"/>
                </a:solidFill>
                <a:latin typeface="Red Hat Display"/>
              </a:rPr>
              <a:t>Resilience, Multi-Cluster &amp; DR</a:t>
            </a:r>
          </a:p>
        </p:txBody>
      </p:sp>
      <p:cxnSp>
        <p:nvCxnSpPr>
          <p:cNvPr id="6" name="Connector 5"/>
          <p:cNvCxnSpPr/>
          <p:nvPr/>
        </p:nvCxnSpPr>
        <p:spPr>
          <a:xfrm>
            <a:off x="841248" y="4443984"/>
            <a:ext cx="1463040" cy="0"/>
          </a:xfrm>
          <a:prstGeom prst="bentConnector3">
            <a:avLst/>
          </a:prstGeom>
          <a:ln w="38100">
            <a:solidFill>
              <a:srgbClr val="EE0000"/>
            </a:solidFill>
          </a:ln>
          <a:effectLst/>
        </p:spPr>
        <p:style>
          <a:lnRef idx="2">
            <a:schemeClr val="accent1"/>
          </a:lnRef>
          <a:fillRef idx="0">
            <a:schemeClr val="accent1"/>
          </a:fillRef>
          <a:effectRef idx="1">
            <a:schemeClr val="accent1"/>
          </a:effectRef>
          <a:fontRef idx="minor">
            <a:schemeClr val="tx1"/>
          </a:fontRef>
        </p:style>
      </p:cxnSp>
    </p:spTree>
  </p:cSld>
  <p:clrMapOvr>
    <a:masterClrMapping/>
  </p:clrMapOvr>
</p:sld>
</file>

<file path=ppt/slides/slide18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redhat_logo.jpg"/>
          <p:cNvPicPr>
            <a:picLocks noChangeAspect="1"/>
          </p:cNvPicPr>
          <p:nvPr/>
        </p:nvPicPr>
        <p:blipFill>
          <a:blip r:embed="rId2"/>
          <a:stretch>
            <a:fillRect/>
          </a:stretch>
        </p:blipFill>
        <p:spPr>
          <a:xfrm>
            <a:off x="10326319" y="475488"/>
            <a:ext cx="1024128" cy="242248"/>
          </a:xfrm>
          <a:prstGeom prst="rect">
            <a:avLst/>
          </a:prstGeom>
        </p:spPr>
      </p:pic>
      <p:sp>
        <p:nvSpPr>
          <p:cNvPr id="3" name="TextBox 2"/>
          <p:cNvSpPr txBox="1"/>
          <p:nvPr/>
        </p:nvSpPr>
        <p:spPr>
          <a:xfrm>
            <a:off x="841248" y="548640"/>
            <a:ext cx="8595360" cy="274320"/>
          </a:xfrm>
          <a:prstGeom prst="rect">
            <a:avLst/>
          </a:prstGeom>
          <a:noFill/>
        </p:spPr>
        <p:txBody>
          <a:bodyPr wrap="square" anchor="t" lIns="0" rIns="0" tIns="0" bIns="0">
            <a:spAutoFit/>
          </a:bodyPr>
          <a:lstStyle/>
          <a:p>
            <a:pPr algn="l">
              <a:lnSpc>
                <a:spcPct val="106000"/>
              </a:lnSpc>
              <a:spcBef>
                <a:spcPts val="0"/>
              </a:spcBef>
              <a:spcAft>
                <a:spcPts val="0"/>
              </a:spcAft>
            </a:pPr>
            <a:r>
              <a:rPr sz="1250" b="1" spc="220">
                <a:solidFill>
                  <a:srgbClr val="EE0000"/>
                </a:solidFill>
                <a:latin typeface="Red Hat Display"/>
              </a:rPr>
              <a:t>M22 · RESILIENCE, MULTI-CLUSTER &amp; DR</a:t>
            </a:r>
          </a:p>
        </p:txBody>
      </p:sp>
      <p:sp>
        <p:nvSpPr>
          <p:cNvPr id="4" name="TextBox 3"/>
          <p:cNvSpPr txBox="1"/>
          <p:nvPr/>
        </p:nvSpPr>
        <p:spPr>
          <a:xfrm>
            <a:off x="841248" y="877824"/>
            <a:ext cx="10515600" cy="548640"/>
          </a:xfrm>
          <a:prstGeom prst="rect">
            <a:avLst/>
          </a:prstGeom>
          <a:noFill/>
        </p:spPr>
        <p:txBody>
          <a:bodyPr wrap="none" anchor="t" lIns="0" rIns="0" tIns="0" bIns="0">
            <a:spAutoFit/>
          </a:bodyPr>
          <a:lstStyle/>
          <a:p>
            <a:pPr algn="l">
              <a:lnSpc>
                <a:spcPct val="100000"/>
              </a:lnSpc>
              <a:spcBef>
                <a:spcPts val="0"/>
              </a:spcBef>
              <a:spcAft>
                <a:spcPts val="0"/>
              </a:spcAft>
            </a:pPr>
            <a:r>
              <a:rPr sz="2500" b="1">
                <a:solidFill>
                  <a:srgbClr val="1A1A1A"/>
                </a:solidFill>
                <a:latin typeface="Red Hat Display"/>
              </a:rPr>
              <a:t>Resilience keeps a site up</a:t>
            </a:r>
          </a:p>
        </p:txBody>
      </p:sp>
      <p:cxnSp>
        <p:nvCxnSpPr>
          <p:cNvPr id="5" name="Connector 4"/>
          <p:cNvCxnSpPr/>
          <p:nvPr/>
        </p:nvCxnSpPr>
        <p:spPr>
          <a:xfrm>
            <a:off x="841248" y="1554480"/>
            <a:ext cx="1371600" cy="0"/>
          </a:xfrm>
          <a:prstGeom prst="bentConnector3">
            <a:avLst/>
          </a:prstGeom>
          <a:ln w="31750">
            <a:solidFill>
              <a:srgbClr val="EE0000"/>
            </a:solidFill>
          </a:ln>
          <a:effectLst/>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841248" y="1664208"/>
            <a:ext cx="10515600" cy="365760"/>
          </a:xfrm>
          <a:prstGeom prst="rect">
            <a:avLst/>
          </a:prstGeom>
          <a:noFill/>
        </p:spPr>
        <p:txBody>
          <a:bodyPr wrap="square" anchor="t" lIns="0" rIns="0" tIns="0" bIns="0">
            <a:spAutoFit/>
          </a:bodyPr>
          <a:lstStyle/>
          <a:p>
            <a:pPr algn="l">
              <a:lnSpc>
                <a:spcPct val="106000"/>
              </a:lnSpc>
              <a:spcBef>
                <a:spcPts val="0"/>
              </a:spcBef>
              <a:spcAft>
                <a:spcPts val="0"/>
              </a:spcAft>
            </a:pPr>
            <a:r>
              <a:rPr sz="1350" b="0">
                <a:solidFill>
                  <a:srgbClr val="555960"/>
                </a:solidFill>
                <a:latin typeface="Red Hat Text"/>
              </a:rPr>
              <a:t>failover keeps the service up</a:t>
            </a:r>
          </a:p>
        </p:txBody>
      </p:sp>
      <p:sp>
        <p:nvSpPr>
          <p:cNvPr id="7" name="Rounded Rectangle 6"/>
          <p:cNvSpPr/>
          <p:nvPr/>
        </p:nvSpPr>
        <p:spPr>
          <a:xfrm>
            <a:off x="841248" y="2670048"/>
            <a:ext cx="5715000" cy="530352"/>
          </a:xfrm>
          <a:prstGeom prst="roundRect">
            <a:avLst>
              <a:gd name="adj" fmla="val 6000"/>
            </a:avLst>
          </a:prstGeom>
          <a:solidFill>
            <a:srgbClr val="F5F6F8"/>
          </a:solidFill>
          <a:ln w="12700">
            <a:solidFill>
              <a:srgbClr val="DDE1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check_steel.png"/>
          <p:cNvPicPr>
            <a:picLocks noChangeAspect="1"/>
          </p:cNvPicPr>
          <p:nvPr/>
        </p:nvPicPr>
        <p:blipFill>
          <a:blip r:embed="rId3"/>
          <a:stretch>
            <a:fillRect/>
          </a:stretch>
        </p:blipFill>
        <p:spPr>
          <a:xfrm>
            <a:off x="987552" y="2816352"/>
            <a:ext cx="237744" cy="237744"/>
          </a:xfrm>
          <a:prstGeom prst="rect">
            <a:avLst/>
          </a:prstGeom>
        </p:spPr>
      </p:pic>
      <p:sp>
        <p:nvSpPr>
          <p:cNvPr id="9" name="TextBox 8"/>
          <p:cNvSpPr txBox="1"/>
          <p:nvPr/>
        </p:nvSpPr>
        <p:spPr>
          <a:xfrm>
            <a:off x="1353312" y="2670048"/>
            <a:ext cx="5029200" cy="530352"/>
          </a:xfrm>
          <a:prstGeom prst="rect">
            <a:avLst/>
          </a:prstGeom>
          <a:noFill/>
        </p:spPr>
        <p:txBody>
          <a:bodyPr wrap="square" anchor="ctr" lIns="0" rIns="0" tIns="0" bIns="0">
            <a:spAutoFit/>
          </a:bodyPr>
          <a:lstStyle/>
          <a:p>
            <a:pPr algn="l">
              <a:lnSpc>
                <a:spcPct val="106000"/>
              </a:lnSpc>
              <a:spcBef>
                <a:spcPts val="0"/>
              </a:spcBef>
              <a:spcAft>
                <a:spcPts val="0"/>
              </a:spcAft>
            </a:pPr>
            <a:r>
              <a:rPr sz="1200" b="0">
                <a:solidFill>
                  <a:srgbClr val="1A1A1A"/>
                </a:solidFill>
                <a:latin typeface="Red Hat Text"/>
              </a:rPr>
              <a:t>Parasol's claims service survives a pod crash and a node drain — replicas, PDB, spread, HPA (Platform Orientation/Observability/Deployment Targets &amp; Scheduling)</a:t>
            </a:r>
          </a:p>
        </p:txBody>
      </p:sp>
      <p:sp>
        <p:nvSpPr>
          <p:cNvPr id="10" name="Rounded Rectangle 9"/>
          <p:cNvSpPr/>
          <p:nvPr/>
        </p:nvSpPr>
        <p:spPr>
          <a:xfrm>
            <a:off x="841248" y="3273552"/>
            <a:ext cx="5715000" cy="530352"/>
          </a:xfrm>
          <a:prstGeom prst="roundRect">
            <a:avLst>
              <a:gd name="adj" fmla="val 6000"/>
            </a:avLst>
          </a:prstGeom>
          <a:solidFill>
            <a:srgbClr val="F5F6F8"/>
          </a:solidFill>
          <a:ln w="12700">
            <a:solidFill>
              <a:srgbClr val="DDE1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1" name="Picture 10" descr="check_steel.png"/>
          <p:cNvPicPr>
            <a:picLocks noChangeAspect="1"/>
          </p:cNvPicPr>
          <p:nvPr/>
        </p:nvPicPr>
        <p:blipFill>
          <a:blip r:embed="rId3"/>
          <a:stretch>
            <a:fillRect/>
          </a:stretch>
        </p:blipFill>
        <p:spPr>
          <a:xfrm>
            <a:off x="987552" y="3419856"/>
            <a:ext cx="237744" cy="237744"/>
          </a:xfrm>
          <a:prstGeom prst="rect">
            <a:avLst/>
          </a:prstGeom>
        </p:spPr>
      </p:pic>
      <p:sp>
        <p:nvSpPr>
          <p:cNvPr id="12" name="TextBox 11"/>
          <p:cNvSpPr txBox="1"/>
          <p:nvPr/>
        </p:nvSpPr>
        <p:spPr>
          <a:xfrm>
            <a:off x="1353312" y="3273552"/>
            <a:ext cx="5029200" cy="530352"/>
          </a:xfrm>
          <a:prstGeom prst="rect">
            <a:avLst/>
          </a:prstGeom>
          <a:noFill/>
        </p:spPr>
        <p:txBody>
          <a:bodyPr wrap="square" anchor="ctr" lIns="0" rIns="0" tIns="0" bIns="0">
            <a:spAutoFit/>
          </a:bodyPr>
          <a:lstStyle/>
          <a:p>
            <a:pPr algn="l">
              <a:lnSpc>
                <a:spcPct val="106000"/>
              </a:lnSpc>
              <a:spcBef>
                <a:spcPts val="0"/>
              </a:spcBef>
              <a:spcAft>
                <a:spcPts val="0"/>
              </a:spcAft>
            </a:pPr>
            <a:r>
              <a:rPr sz="1200" b="0">
                <a:solidFill>
                  <a:srgbClr val="1A1A1A"/>
                </a:solidFill>
                <a:latin typeface="Red Hat Text"/>
              </a:rPr>
              <a:t>That does NOTHING when a WHOLE SITE goes down — a data center, a cluster, a region</a:t>
            </a:r>
          </a:p>
        </p:txBody>
      </p:sp>
      <p:sp>
        <p:nvSpPr>
          <p:cNvPr id="13" name="Rounded Rectangle 12"/>
          <p:cNvSpPr/>
          <p:nvPr/>
        </p:nvSpPr>
        <p:spPr>
          <a:xfrm>
            <a:off x="841248" y="3877056"/>
            <a:ext cx="5715000" cy="530352"/>
          </a:xfrm>
          <a:prstGeom prst="roundRect">
            <a:avLst>
              <a:gd name="adj" fmla="val 6000"/>
            </a:avLst>
          </a:prstGeom>
          <a:solidFill>
            <a:srgbClr val="F5F6F8"/>
          </a:solidFill>
          <a:ln w="12700">
            <a:solidFill>
              <a:srgbClr val="DDE1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4" name="Picture 13" descr="check_steel.png"/>
          <p:cNvPicPr>
            <a:picLocks noChangeAspect="1"/>
          </p:cNvPicPr>
          <p:nvPr/>
        </p:nvPicPr>
        <p:blipFill>
          <a:blip r:embed="rId3"/>
          <a:stretch>
            <a:fillRect/>
          </a:stretch>
        </p:blipFill>
        <p:spPr>
          <a:xfrm>
            <a:off x="987552" y="4023360"/>
            <a:ext cx="237744" cy="237744"/>
          </a:xfrm>
          <a:prstGeom prst="rect">
            <a:avLst/>
          </a:prstGeom>
        </p:spPr>
      </p:pic>
      <p:sp>
        <p:nvSpPr>
          <p:cNvPr id="15" name="TextBox 14"/>
          <p:cNvSpPr txBox="1"/>
          <p:nvPr/>
        </p:nvSpPr>
        <p:spPr>
          <a:xfrm>
            <a:off x="1353312" y="3877056"/>
            <a:ext cx="5029200" cy="530352"/>
          </a:xfrm>
          <a:prstGeom prst="rect">
            <a:avLst/>
          </a:prstGeom>
          <a:noFill/>
        </p:spPr>
        <p:txBody>
          <a:bodyPr wrap="square" anchor="ctr" lIns="0" rIns="0" tIns="0" bIns="0">
            <a:spAutoFit/>
          </a:bodyPr>
          <a:lstStyle/>
          <a:p>
            <a:pPr algn="l">
              <a:lnSpc>
                <a:spcPct val="106000"/>
              </a:lnSpc>
              <a:spcBef>
                <a:spcPts val="0"/>
              </a:spcBef>
              <a:spcAft>
                <a:spcPts val="0"/>
              </a:spcAft>
            </a:pPr>
            <a:r>
              <a:rPr sz="1200" b="0">
                <a:solidFill>
                  <a:srgbClr val="1A1A1A"/>
                </a:solidFill>
                <a:latin typeface="Red Hat Text"/>
              </a:rPr>
              <a:t>The resilience LADDER: pod → node → zone → SITE → region</a:t>
            </a:r>
          </a:p>
        </p:txBody>
      </p:sp>
      <p:sp>
        <p:nvSpPr>
          <p:cNvPr id="16" name="Rounded Rectangle 15"/>
          <p:cNvSpPr/>
          <p:nvPr/>
        </p:nvSpPr>
        <p:spPr>
          <a:xfrm>
            <a:off x="841248" y="4480560"/>
            <a:ext cx="5715000" cy="530352"/>
          </a:xfrm>
          <a:prstGeom prst="roundRect">
            <a:avLst>
              <a:gd name="adj" fmla="val 6000"/>
            </a:avLst>
          </a:prstGeom>
          <a:solidFill>
            <a:srgbClr val="F5F6F8"/>
          </a:solidFill>
          <a:ln w="12700">
            <a:solidFill>
              <a:srgbClr val="DDE1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7" name="Picture 16" descr="check_steel.png"/>
          <p:cNvPicPr>
            <a:picLocks noChangeAspect="1"/>
          </p:cNvPicPr>
          <p:nvPr/>
        </p:nvPicPr>
        <p:blipFill>
          <a:blip r:embed="rId3"/>
          <a:stretch>
            <a:fillRect/>
          </a:stretch>
        </p:blipFill>
        <p:spPr>
          <a:xfrm>
            <a:off x="987552" y="4626864"/>
            <a:ext cx="237744" cy="237744"/>
          </a:xfrm>
          <a:prstGeom prst="rect">
            <a:avLst/>
          </a:prstGeom>
        </p:spPr>
      </p:pic>
      <p:sp>
        <p:nvSpPr>
          <p:cNvPr id="18" name="TextBox 17"/>
          <p:cNvSpPr txBox="1"/>
          <p:nvPr/>
        </p:nvSpPr>
        <p:spPr>
          <a:xfrm>
            <a:off x="1353312" y="4480560"/>
            <a:ext cx="5029200" cy="530352"/>
          </a:xfrm>
          <a:prstGeom prst="rect">
            <a:avLst/>
          </a:prstGeom>
          <a:noFill/>
        </p:spPr>
        <p:txBody>
          <a:bodyPr wrap="square" anchor="ctr" lIns="0" rIns="0" tIns="0" bIns="0">
            <a:spAutoFit/>
          </a:bodyPr>
          <a:lstStyle/>
          <a:p>
            <a:pPr algn="l">
              <a:lnSpc>
                <a:spcPct val="106000"/>
              </a:lnSpc>
              <a:spcBef>
                <a:spcPts val="0"/>
              </a:spcBef>
              <a:spcAft>
                <a:spcPts val="0"/>
              </a:spcAft>
            </a:pPr>
            <a:r>
              <a:rPr sz="1200" b="0">
                <a:solidFill>
                  <a:srgbClr val="1A1A1A"/>
                </a:solidFill>
                <a:latin typeface="Red Hat Text"/>
              </a:rPr>
              <a:t>In-site resilience owns the bottom rungs; cross-site FAILOVER owns the site rung</a:t>
            </a:r>
          </a:p>
        </p:txBody>
      </p:sp>
      <p:sp>
        <p:nvSpPr>
          <p:cNvPr id="19" name="Rounded Rectangle 18"/>
          <p:cNvSpPr/>
          <p:nvPr/>
        </p:nvSpPr>
        <p:spPr>
          <a:xfrm>
            <a:off x="841248" y="5084064"/>
            <a:ext cx="5715000" cy="530352"/>
          </a:xfrm>
          <a:prstGeom prst="roundRect">
            <a:avLst>
              <a:gd name="adj" fmla="val 6000"/>
            </a:avLst>
          </a:prstGeom>
          <a:solidFill>
            <a:srgbClr val="F5F6F8"/>
          </a:solidFill>
          <a:ln w="12700">
            <a:solidFill>
              <a:srgbClr val="DDE1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0" name="Picture 19" descr="check_steel.png"/>
          <p:cNvPicPr>
            <a:picLocks noChangeAspect="1"/>
          </p:cNvPicPr>
          <p:nvPr/>
        </p:nvPicPr>
        <p:blipFill>
          <a:blip r:embed="rId3"/>
          <a:stretch>
            <a:fillRect/>
          </a:stretch>
        </p:blipFill>
        <p:spPr>
          <a:xfrm>
            <a:off x="987552" y="5230368"/>
            <a:ext cx="237744" cy="237744"/>
          </a:xfrm>
          <a:prstGeom prst="rect">
            <a:avLst/>
          </a:prstGeom>
        </p:spPr>
      </p:pic>
      <p:sp>
        <p:nvSpPr>
          <p:cNvPr id="21" name="TextBox 20"/>
          <p:cNvSpPr txBox="1"/>
          <p:nvPr/>
        </p:nvSpPr>
        <p:spPr>
          <a:xfrm>
            <a:off x="1353312" y="5084064"/>
            <a:ext cx="5029200" cy="530352"/>
          </a:xfrm>
          <a:prstGeom prst="rect">
            <a:avLst/>
          </a:prstGeom>
          <a:noFill/>
        </p:spPr>
        <p:txBody>
          <a:bodyPr wrap="square" anchor="ctr" lIns="0" rIns="0" tIns="0" bIns="0">
            <a:spAutoFit/>
          </a:bodyPr>
          <a:lstStyle/>
          <a:p>
            <a:pPr algn="l">
              <a:lnSpc>
                <a:spcPct val="106000"/>
              </a:lnSpc>
              <a:spcBef>
                <a:spcPts val="0"/>
              </a:spcBef>
              <a:spcAft>
                <a:spcPts val="0"/>
              </a:spcAft>
            </a:pPr>
            <a:r>
              <a:rPr sz="1200" b="0">
                <a:solidFill>
                  <a:srgbClr val="1A1A1A"/>
                </a:solidFill>
                <a:latin typeface="Red Hat Text"/>
              </a:rPr>
              <a:t>This module: fail over to another site automatically (mesh), connect real sites (RHSI), and the DR net underneath (OADP + GitOps, concept)</a:t>
            </a:r>
          </a:p>
        </p:txBody>
      </p:sp>
      <p:sp>
        <p:nvSpPr>
          <p:cNvPr id="22" name="Rounded Rectangle 21"/>
          <p:cNvSpPr/>
          <p:nvPr/>
        </p:nvSpPr>
        <p:spPr>
          <a:xfrm>
            <a:off x="6812280" y="2670048"/>
            <a:ext cx="4538167" cy="2944368"/>
          </a:xfrm>
          <a:prstGeom prst="roundRect">
            <a:avLst>
              <a:gd name="adj" fmla="val 4000"/>
            </a:avLst>
          </a:prstGeom>
          <a:solidFill>
            <a:srgbClr val="FFFFFF"/>
          </a:solidFill>
          <a:ln w="15240">
            <a:solidFill>
              <a:srgbClr val="DDE1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ounded Rectangle 22"/>
          <p:cNvSpPr/>
          <p:nvPr/>
        </p:nvSpPr>
        <p:spPr>
          <a:xfrm>
            <a:off x="7013448" y="2871216"/>
            <a:ext cx="1298448" cy="310896"/>
          </a:xfrm>
          <a:prstGeom prst="roundRect">
            <a:avLst>
              <a:gd name="adj" fmla="val 50000"/>
            </a:avLst>
          </a:prstGeom>
          <a:solidFill>
            <a:srgbClr val="FCEC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7013448" y="2871216"/>
            <a:ext cx="1298448" cy="310896"/>
          </a:xfrm>
          <a:prstGeom prst="rect">
            <a:avLst/>
          </a:prstGeom>
          <a:noFill/>
        </p:spPr>
        <p:txBody>
          <a:bodyPr wrap="none" anchor="ctr" lIns="0" rIns="0" tIns="0" bIns="0">
            <a:spAutoFit/>
          </a:bodyPr>
          <a:lstStyle/>
          <a:p>
            <a:pPr algn="ctr">
              <a:lnSpc>
                <a:spcPct val="106000"/>
              </a:lnSpc>
              <a:spcBef>
                <a:spcPts val="0"/>
              </a:spcBef>
              <a:spcAft>
                <a:spcPts val="0"/>
              </a:spcAft>
            </a:pPr>
            <a:r>
              <a:rPr sz="850" b="1">
                <a:solidFill>
                  <a:srgbClr val="B80000"/>
                </a:solidFill>
                <a:latin typeface="Red Hat Display"/>
              </a:rPr>
              <a:t>MEDIA PASS</a:t>
            </a:r>
          </a:p>
        </p:txBody>
      </p:sp>
      <p:pic>
        <p:nvPicPr>
          <p:cNvPr id="25" name="Picture 24" descr="eye_slate.png"/>
          <p:cNvPicPr>
            <a:picLocks noChangeAspect="1"/>
          </p:cNvPicPr>
          <p:nvPr/>
        </p:nvPicPr>
        <p:blipFill>
          <a:blip r:embed="rId4"/>
          <a:stretch>
            <a:fillRect/>
          </a:stretch>
        </p:blipFill>
        <p:spPr>
          <a:xfrm>
            <a:off x="8843619" y="3383280"/>
            <a:ext cx="475488" cy="475488"/>
          </a:xfrm>
          <a:prstGeom prst="rect">
            <a:avLst/>
          </a:prstGeom>
        </p:spPr>
      </p:pic>
      <p:sp>
        <p:nvSpPr>
          <p:cNvPr id="26" name="TextBox 25"/>
          <p:cNvSpPr txBox="1"/>
          <p:nvPr/>
        </p:nvSpPr>
        <p:spPr>
          <a:xfrm>
            <a:off x="7050024" y="3995928"/>
            <a:ext cx="4062679" cy="1481328"/>
          </a:xfrm>
          <a:prstGeom prst="rect">
            <a:avLst/>
          </a:prstGeom>
          <a:noFill/>
        </p:spPr>
        <p:txBody>
          <a:bodyPr wrap="square" anchor="t" lIns="0" rIns="0" tIns="0" bIns="0">
            <a:spAutoFit/>
          </a:bodyPr>
          <a:lstStyle/>
          <a:p>
            <a:pPr algn="l">
              <a:lnSpc>
                <a:spcPct val="120000"/>
              </a:lnSpc>
              <a:spcBef>
                <a:spcPts val="0"/>
              </a:spcBef>
              <a:spcAft>
                <a:spcPts val="0"/>
              </a:spcAft>
            </a:pPr>
            <a:r>
              <a:rPr sz="950" b="0">
                <a:solidFill>
                  <a:srgbClr val="8A9099"/>
                </a:solidFill>
                <a:latin typeface="Red Hat Text"/>
              </a:rPr>
              <a:t>A vertical ladder, five rungs bottom-to-top: "① pod fails," "② node fails," "③ zone fails," "④ a whole SITE fails," "⑤ region fails." Bottom three tinted green with a bracket "in-site resilience: replicas · PDB · spread · HPA (you own this)"; the SITE rung amber with a bracket "cross-site failover: Service Mesh · RHSI (THIS lab)"; the region rung blue with a bracket "platform DR net: OADP · GitOps (concept)." Each rung's edge annotated with the mechanism that absorbs it.</a:t>
            </a:r>
          </a:p>
        </p:txBody>
      </p:sp>
      <p:cxnSp>
        <p:nvCxnSpPr>
          <p:cNvPr id="27" name="Connector 26"/>
          <p:cNvCxnSpPr/>
          <p:nvPr/>
        </p:nvCxnSpPr>
        <p:spPr>
          <a:xfrm>
            <a:off x="841248" y="6437376"/>
            <a:ext cx="10509199" cy="0"/>
          </a:xfrm>
          <a:prstGeom prst="bentConnector3">
            <a:avLst/>
          </a:prstGeom>
          <a:ln w="12700">
            <a:solidFill>
              <a:srgbClr val="DDE1E6"/>
            </a:solidFill>
          </a:ln>
          <a:effectLst/>
        </p:spPr>
        <p:style>
          <a:lnRef idx="2">
            <a:schemeClr val="accent1"/>
          </a:lnRef>
          <a:fillRef idx="0">
            <a:schemeClr val="accent1"/>
          </a:fillRef>
          <a:effectRef idx="1">
            <a:schemeClr val="accent1"/>
          </a:effectRef>
          <a:fontRef idx="minor">
            <a:schemeClr val="tx1"/>
          </a:fontRef>
        </p:style>
      </p:cxnSp>
      <p:sp>
        <p:nvSpPr>
          <p:cNvPr id="28" name="TextBox 27"/>
          <p:cNvSpPr txBox="1"/>
          <p:nvPr/>
        </p:nvSpPr>
        <p:spPr>
          <a:xfrm>
            <a:off x="841248" y="6473952"/>
            <a:ext cx="7315200" cy="274320"/>
          </a:xfrm>
          <a:prstGeom prst="rect">
            <a:avLst/>
          </a:prstGeom>
          <a:noFill/>
        </p:spPr>
        <p:txBody>
          <a:bodyPr wrap="square" anchor="t" lIns="0" rIns="0" tIns="0" bIns="0">
            <a:spAutoFit/>
          </a:bodyPr>
          <a:lstStyle/>
          <a:p>
            <a:pPr algn="l">
              <a:lnSpc>
                <a:spcPct val="106000"/>
              </a:lnSpc>
              <a:spcBef>
                <a:spcPts val="0"/>
              </a:spcBef>
              <a:spcAft>
                <a:spcPts val="0"/>
              </a:spcAft>
            </a:pPr>
            <a:r>
              <a:rPr sz="950" b="0">
                <a:solidFill>
                  <a:srgbClr val="8A9099"/>
                </a:solidFill>
                <a:latin typeface="Red Hat Text"/>
              </a:rPr>
              <a:t>CONFIDENTIAL</a:t>
            </a:r>
          </a:p>
        </p:txBody>
      </p:sp>
      <p:sp>
        <p:nvSpPr>
          <p:cNvPr id="29" name="TextBox 28"/>
          <p:cNvSpPr txBox="1"/>
          <p:nvPr/>
        </p:nvSpPr>
        <p:spPr>
          <a:xfrm>
            <a:off x="10801807" y="6473952"/>
            <a:ext cx="548640" cy="274320"/>
          </a:xfrm>
          <a:prstGeom prst="rect">
            <a:avLst/>
          </a:prstGeom>
          <a:noFill/>
        </p:spPr>
        <p:txBody>
          <a:bodyPr wrap="square" anchor="t" lIns="0" rIns="0" tIns="0" bIns="0">
            <a:spAutoFit/>
          </a:bodyPr>
          <a:lstStyle/>
          <a:p>
            <a:pPr algn="r">
              <a:lnSpc>
                <a:spcPct val="106000"/>
              </a:lnSpc>
              <a:spcBef>
                <a:spcPts val="0"/>
              </a:spcBef>
              <a:spcAft>
                <a:spcPts val="0"/>
              </a:spcAft>
            </a:pPr>
            <a:r>
              <a:rPr sz="950" b="0">
                <a:solidFill>
                  <a:srgbClr val="8A9099"/>
                </a:solidFill>
                <a:latin typeface="Red Hat Text"/>
              </a:rPr>
              <a:t>158</a:t>
            </a:r>
          </a:p>
        </p:txBody>
      </p:sp>
    </p:spTree>
  </p:cSld>
  <p:clrMapOvr>
    <a:masterClrMapping/>
  </p:clrMapOvr>
</p:sld>
</file>

<file path=ppt/slides/slide18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redhat_logo.jpg"/>
          <p:cNvPicPr>
            <a:picLocks noChangeAspect="1"/>
          </p:cNvPicPr>
          <p:nvPr/>
        </p:nvPicPr>
        <p:blipFill>
          <a:blip r:embed="rId2"/>
          <a:stretch>
            <a:fillRect/>
          </a:stretch>
        </p:blipFill>
        <p:spPr>
          <a:xfrm>
            <a:off x="10326319" y="475488"/>
            <a:ext cx="1024128" cy="242248"/>
          </a:xfrm>
          <a:prstGeom prst="rect">
            <a:avLst/>
          </a:prstGeom>
        </p:spPr>
      </p:pic>
      <p:sp>
        <p:nvSpPr>
          <p:cNvPr id="3" name="TextBox 2"/>
          <p:cNvSpPr txBox="1"/>
          <p:nvPr/>
        </p:nvSpPr>
        <p:spPr>
          <a:xfrm>
            <a:off x="841248" y="548640"/>
            <a:ext cx="8595360" cy="274320"/>
          </a:xfrm>
          <a:prstGeom prst="rect">
            <a:avLst/>
          </a:prstGeom>
          <a:noFill/>
        </p:spPr>
        <p:txBody>
          <a:bodyPr wrap="square" anchor="t" lIns="0" rIns="0" tIns="0" bIns="0">
            <a:spAutoFit/>
          </a:bodyPr>
          <a:lstStyle/>
          <a:p>
            <a:pPr algn="l">
              <a:lnSpc>
                <a:spcPct val="106000"/>
              </a:lnSpc>
              <a:spcBef>
                <a:spcPts val="0"/>
              </a:spcBef>
              <a:spcAft>
                <a:spcPts val="0"/>
              </a:spcAft>
            </a:pPr>
            <a:r>
              <a:rPr sz="1250" b="1" spc="220">
                <a:solidFill>
                  <a:srgbClr val="EE0000"/>
                </a:solidFill>
                <a:latin typeface="Red Hat Display"/>
              </a:rPr>
              <a:t>M22 · RESILIENCE, MULTI-CLUSTER &amp; DR</a:t>
            </a:r>
          </a:p>
        </p:txBody>
      </p:sp>
      <p:sp>
        <p:nvSpPr>
          <p:cNvPr id="4" name="TextBox 3"/>
          <p:cNvSpPr txBox="1"/>
          <p:nvPr/>
        </p:nvSpPr>
        <p:spPr>
          <a:xfrm>
            <a:off x="841248" y="877824"/>
            <a:ext cx="10515600" cy="548640"/>
          </a:xfrm>
          <a:prstGeom prst="rect">
            <a:avLst/>
          </a:prstGeom>
          <a:noFill/>
        </p:spPr>
        <p:txBody>
          <a:bodyPr wrap="none" anchor="t" lIns="0" rIns="0" tIns="0" bIns="0">
            <a:spAutoFit/>
          </a:bodyPr>
          <a:lstStyle/>
          <a:p>
            <a:pPr algn="l">
              <a:lnSpc>
                <a:spcPct val="100000"/>
              </a:lnSpc>
              <a:spcBef>
                <a:spcPts val="0"/>
              </a:spcBef>
              <a:spcAft>
                <a:spcPts val="0"/>
              </a:spcAft>
            </a:pPr>
            <a:r>
              <a:rPr sz="2500" b="1">
                <a:solidFill>
                  <a:srgbClr val="1A1A1A"/>
                </a:solidFill>
                <a:latin typeface="Red Hat Display"/>
              </a:rPr>
              <a:t>Design a service to survive</a:t>
            </a:r>
          </a:p>
        </p:txBody>
      </p:sp>
      <p:cxnSp>
        <p:nvCxnSpPr>
          <p:cNvPr id="5" name="Connector 4"/>
          <p:cNvCxnSpPr/>
          <p:nvPr/>
        </p:nvCxnSpPr>
        <p:spPr>
          <a:xfrm>
            <a:off x="841248" y="1554480"/>
            <a:ext cx="1371600" cy="0"/>
          </a:xfrm>
          <a:prstGeom prst="bentConnector3">
            <a:avLst/>
          </a:prstGeom>
          <a:ln w="31750">
            <a:solidFill>
              <a:srgbClr val="EE0000"/>
            </a:solidFill>
          </a:ln>
          <a:effectLst/>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841248" y="1664208"/>
            <a:ext cx="10515600" cy="365760"/>
          </a:xfrm>
          <a:prstGeom prst="rect">
            <a:avLst/>
          </a:prstGeom>
          <a:noFill/>
        </p:spPr>
        <p:txBody>
          <a:bodyPr wrap="square" anchor="t" lIns="0" rIns="0" tIns="0" bIns="0">
            <a:spAutoFit/>
          </a:bodyPr>
          <a:lstStyle/>
          <a:p>
            <a:pPr algn="l">
              <a:lnSpc>
                <a:spcPct val="106000"/>
              </a:lnSpc>
              <a:spcBef>
                <a:spcPts val="0"/>
              </a:spcBef>
              <a:spcAft>
                <a:spcPts val="0"/>
              </a:spcAft>
            </a:pPr>
            <a:r>
              <a:rPr sz="1350" b="0">
                <a:solidFill>
                  <a:srgbClr val="555960"/>
                </a:solidFill>
                <a:latin typeface="Red Hat Text"/>
              </a:rPr>
              <a:t>in-site resiliency</a:t>
            </a:r>
          </a:p>
        </p:txBody>
      </p:sp>
      <p:sp>
        <p:nvSpPr>
          <p:cNvPr id="7" name="Rounded Rectangle 6"/>
          <p:cNvSpPr/>
          <p:nvPr/>
        </p:nvSpPr>
        <p:spPr>
          <a:xfrm>
            <a:off x="841248" y="2670048"/>
            <a:ext cx="5715000" cy="530352"/>
          </a:xfrm>
          <a:prstGeom prst="roundRect">
            <a:avLst>
              <a:gd name="adj" fmla="val 6000"/>
            </a:avLst>
          </a:prstGeom>
          <a:solidFill>
            <a:srgbClr val="F5F6F8"/>
          </a:solidFill>
          <a:ln w="12700">
            <a:solidFill>
              <a:srgbClr val="DDE1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check_steel.png"/>
          <p:cNvPicPr>
            <a:picLocks noChangeAspect="1"/>
          </p:cNvPicPr>
          <p:nvPr/>
        </p:nvPicPr>
        <p:blipFill>
          <a:blip r:embed="rId3"/>
          <a:stretch>
            <a:fillRect/>
          </a:stretch>
        </p:blipFill>
        <p:spPr>
          <a:xfrm>
            <a:off x="987552" y="2816352"/>
            <a:ext cx="237744" cy="237744"/>
          </a:xfrm>
          <a:prstGeom prst="rect">
            <a:avLst/>
          </a:prstGeom>
        </p:spPr>
      </p:pic>
      <p:sp>
        <p:nvSpPr>
          <p:cNvPr id="9" name="TextBox 8"/>
          <p:cNvSpPr txBox="1"/>
          <p:nvPr/>
        </p:nvSpPr>
        <p:spPr>
          <a:xfrm>
            <a:off x="1353312" y="2670048"/>
            <a:ext cx="5029200" cy="530352"/>
          </a:xfrm>
          <a:prstGeom prst="rect">
            <a:avLst/>
          </a:prstGeom>
          <a:noFill/>
        </p:spPr>
        <p:txBody>
          <a:bodyPr wrap="square" anchor="ctr" lIns="0" rIns="0" tIns="0" bIns="0">
            <a:spAutoFit/>
          </a:bodyPr>
          <a:lstStyle/>
          <a:p>
            <a:pPr algn="l">
              <a:lnSpc>
                <a:spcPct val="106000"/>
              </a:lnSpc>
              <a:spcBef>
                <a:spcPts val="0"/>
              </a:spcBef>
              <a:spcAft>
                <a:spcPts val="0"/>
              </a:spcAft>
            </a:pPr>
            <a:r>
              <a:rPr sz="1200" b="0">
                <a:solidFill>
                  <a:srgbClr val="1A1A1A"/>
                </a:solidFill>
                <a:latin typeface="Red Hat Text"/>
              </a:rPr>
              <a:t>Before a service can fail OVER, it has to be resilient WHERE it lives</a:t>
            </a:r>
          </a:p>
        </p:txBody>
      </p:sp>
      <p:sp>
        <p:nvSpPr>
          <p:cNvPr id="10" name="Rounded Rectangle 9"/>
          <p:cNvSpPr/>
          <p:nvPr/>
        </p:nvSpPr>
        <p:spPr>
          <a:xfrm>
            <a:off x="841248" y="3273552"/>
            <a:ext cx="5715000" cy="530352"/>
          </a:xfrm>
          <a:prstGeom prst="roundRect">
            <a:avLst>
              <a:gd name="adj" fmla="val 6000"/>
            </a:avLst>
          </a:prstGeom>
          <a:solidFill>
            <a:srgbClr val="F5F6F8"/>
          </a:solidFill>
          <a:ln w="12700">
            <a:solidFill>
              <a:srgbClr val="DDE1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1" name="Picture 10" descr="check_steel.png"/>
          <p:cNvPicPr>
            <a:picLocks noChangeAspect="1"/>
          </p:cNvPicPr>
          <p:nvPr/>
        </p:nvPicPr>
        <p:blipFill>
          <a:blip r:embed="rId3"/>
          <a:stretch>
            <a:fillRect/>
          </a:stretch>
        </p:blipFill>
        <p:spPr>
          <a:xfrm>
            <a:off x="987552" y="3419856"/>
            <a:ext cx="237744" cy="237744"/>
          </a:xfrm>
          <a:prstGeom prst="rect">
            <a:avLst/>
          </a:prstGeom>
        </p:spPr>
      </p:pic>
      <p:sp>
        <p:nvSpPr>
          <p:cNvPr id="12" name="TextBox 11"/>
          <p:cNvSpPr txBox="1"/>
          <p:nvPr/>
        </p:nvSpPr>
        <p:spPr>
          <a:xfrm>
            <a:off x="1353312" y="3273552"/>
            <a:ext cx="5029200" cy="530352"/>
          </a:xfrm>
          <a:prstGeom prst="rect">
            <a:avLst/>
          </a:prstGeom>
          <a:noFill/>
        </p:spPr>
        <p:txBody>
          <a:bodyPr wrap="square" anchor="ctr" lIns="0" rIns="0" tIns="0" bIns="0">
            <a:spAutoFit/>
          </a:bodyPr>
          <a:lstStyle/>
          <a:p>
            <a:pPr algn="l">
              <a:lnSpc>
                <a:spcPct val="106000"/>
              </a:lnSpc>
              <a:spcBef>
                <a:spcPts val="0"/>
              </a:spcBef>
              <a:spcAft>
                <a:spcPts val="0"/>
              </a:spcAft>
            </a:pPr>
            <a:r>
              <a:rPr sz="1200" b="0">
                <a:solidFill>
                  <a:srgbClr val="1A1A1A"/>
                </a:solidFill>
                <a:latin typeface="Red Hat Text"/>
              </a:rPr>
              <a:t>Multiple replicas → losing one pod is a non-event (the Deployment replaces it)</a:t>
            </a:r>
          </a:p>
        </p:txBody>
      </p:sp>
      <p:sp>
        <p:nvSpPr>
          <p:cNvPr id="13" name="Rounded Rectangle 12"/>
          <p:cNvSpPr/>
          <p:nvPr/>
        </p:nvSpPr>
        <p:spPr>
          <a:xfrm>
            <a:off x="841248" y="3877056"/>
            <a:ext cx="5715000" cy="530352"/>
          </a:xfrm>
          <a:prstGeom prst="roundRect">
            <a:avLst>
              <a:gd name="adj" fmla="val 6000"/>
            </a:avLst>
          </a:prstGeom>
          <a:solidFill>
            <a:srgbClr val="F5F6F8"/>
          </a:solidFill>
          <a:ln w="12700">
            <a:solidFill>
              <a:srgbClr val="DDE1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4" name="Picture 13" descr="check_steel.png"/>
          <p:cNvPicPr>
            <a:picLocks noChangeAspect="1"/>
          </p:cNvPicPr>
          <p:nvPr/>
        </p:nvPicPr>
        <p:blipFill>
          <a:blip r:embed="rId3"/>
          <a:stretch>
            <a:fillRect/>
          </a:stretch>
        </p:blipFill>
        <p:spPr>
          <a:xfrm>
            <a:off x="987552" y="4023360"/>
            <a:ext cx="237744" cy="237744"/>
          </a:xfrm>
          <a:prstGeom prst="rect">
            <a:avLst/>
          </a:prstGeom>
        </p:spPr>
      </p:pic>
      <p:sp>
        <p:nvSpPr>
          <p:cNvPr id="15" name="TextBox 14"/>
          <p:cNvSpPr txBox="1"/>
          <p:nvPr/>
        </p:nvSpPr>
        <p:spPr>
          <a:xfrm>
            <a:off x="1353312" y="3877056"/>
            <a:ext cx="5029200" cy="530352"/>
          </a:xfrm>
          <a:prstGeom prst="rect">
            <a:avLst/>
          </a:prstGeom>
          <a:noFill/>
        </p:spPr>
        <p:txBody>
          <a:bodyPr wrap="square" anchor="ctr" lIns="0" rIns="0" tIns="0" bIns="0">
            <a:spAutoFit/>
          </a:bodyPr>
          <a:lstStyle/>
          <a:p>
            <a:pPr algn="l">
              <a:lnSpc>
                <a:spcPct val="106000"/>
              </a:lnSpc>
              <a:spcBef>
                <a:spcPts val="0"/>
              </a:spcBef>
              <a:spcAft>
                <a:spcPts val="0"/>
              </a:spcAft>
            </a:pPr>
            <a:r>
              <a:rPr sz="1200" b="0">
                <a:solidFill>
                  <a:srgbClr val="1A1A1A"/>
                </a:solidFill>
                <a:latin typeface="Red Hat Text"/>
              </a:rPr>
              <a:t>PodDisruptionBudget → a quorum stays up through a node drain (evict one at a time)</a:t>
            </a:r>
          </a:p>
        </p:txBody>
      </p:sp>
      <p:sp>
        <p:nvSpPr>
          <p:cNvPr id="16" name="Rounded Rectangle 15"/>
          <p:cNvSpPr/>
          <p:nvPr/>
        </p:nvSpPr>
        <p:spPr>
          <a:xfrm>
            <a:off x="841248" y="4480560"/>
            <a:ext cx="5715000" cy="530352"/>
          </a:xfrm>
          <a:prstGeom prst="roundRect">
            <a:avLst>
              <a:gd name="adj" fmla="val 6000"/>
            </a:avLst>
          </a:prstGeom>
          <a:solidFill>
            <a:srgbClr val="F5F6F8"/>
          </a:solidFill>
          <a:ln w="12700">
            <a:solidFill>
              <a:srgbClr val="DDE1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7" name="Picture 16" descr="check_steel.png"/>
          <p:cNvPicPr>
            <a:picLocks noChangeAspect="1"/>
          </p:cNvPicPr>
          <p:nvPr/>
        </p:nvPicPr>
        <p:blipFill>
          <a:blip r:embed="rId3"/>
          <a:stretch>
            <a:fillRect/>
          </a:stretch>
        </p:blipFill>
        <p:spPr>
          <a:xfrm>
            <a:off x="987552" y="4626864"/>
            <a:ext cx="237744" cy="237744"/>
          </a:xfrm>
          <a:prstGeom prst="rect">
            <a:avLst/>
          </a:prstGeom>
        </p:spPr>
      </p:pic>
      <p:sp>
        <p:nvSpPr>
          <p:cNvPr id="18" name="TextBox 17"/>
          <p:cNvSpPr txBox="1"/>
          <p:nvPr/>
        </p:nvSpPr>
        <p:spPr>
          <a:xfrm>
            <a:off x="1353312" y="4480560"/>
            <a:ext cx="5029200" cy="530352"/>
          </a:xfrm>
          <a:prstGeom prst="rect">
            <a:avLst/>
          </a:prstGeom>
          <a:noFill/>
        </p:spPr>
        <p:txBody>
          <a:bodyPr wrap="square" anchor="ctr" lIns="0" rIns="0" tIns="0" bIns="0">
            <a:spAutoFit/>
          </a:bodyPr>
          <a:lstStyle/>
          <a:p>
            <a:pPr algn="l">
              <a:lnSpc>
                <a:spcPct val="106000"/>
              </a:lnSpc>
              <a:spcBef>
                <a:spcPts val="0"/>
              </a:spcBef>
              <a:spcAft>
                <a:spcPts val="0"/>
              </a:spcAft>
            </a:pPr>
            <a:r>
              <a:rPr sz="1200" b="0">
                <a:solidFill>
                  <a:srgbClr val="1A1A1A"/>
                </a:solidFill>
                <a:latin typeface="Red Hat Text"/>
              </a:rPr>
              <a:t>topologySpreadConstraints + anti-affinity → replicas on DIFFERENT nodes</a:t>
            </a:r>
          </a:p>
        </p:txBody>
      </p:sp>
      <p:sp>
        <p:nvSpPr>
          <p:cNvPr id="19" name="Rounded Rectangle 18"/>
          <p:cNvSpPr/>
          <p:nvPr/>
        </p:nvSpPr>
        <p:spPr>
          <a:xfrm>
            <a:off x="841248" y="5084064"/>
            <a:ext cx="5715000" cy="530352"/>
          </a:xfrm>
          <a:prstGeom prst="roundRect">
            <a:avLst>
              <a:gd name="adj" fmla="val 6000"/>
            </a:avLst>
          </a:prstGeom>
          <a:solidFill>
            <a:srgbClr val="F5F6F8"/>
          </a:solidFill>
          <a:ln w="12700">
            <a:solidFill>
              <a:srgbClr val="DDE1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0" name="Picture 19" descr="check_steel.png"/>
          <p:cNvPicPr>
            <a:picLocks noChangeAspect="1"/>
          </p:cNvPicPr>
          <p:nvPr/>
        </p:nvPicPr>
        <p:blipFill>
          <a:blip r:embed="rId3"/>
          <a:stretch>
            <a:fillRect/>
          </a:stretch>
        </p:blipFill>
        <p:spPr>
          <a:xfrm>
            <a:off x="987552" y="5230368"/>
            <a:ext cx="237744" cy="237744"/>
          </a:xfrm>
          <a:prstGeom prst="rect">
            <a:avLst/>
          </a:prstGeom>
        </p:spPr>
      </p:pic>
      <p:sp>
        <p:nvSpPr>
          <p:cNvPr id="21" name="TextBox 20"/>
          <p:cNvSpPr txBox="1"/>
          <p:nvPr/>
        </p:nvSpPr>
        <p:spPr>
          <a:xfrm>
            <a:off x="1353312" y="5084064"/>
            <a:ext cx="5029200" cy="530352"/>
          </a:xfrm>
          <a:prstGeom prst="rect">
            <a:avLst/>
          </a:prstGeom>
          <a:noFill/>
        </p:spPr>
        <p:txBody>
          <a:bodyPr wrap="square" anchor="ctr" lIns="0" rIns="0" tIns="0" bIns="0">
            <a:spAutoFit/>
          </a:bodyPr>
          <a:lstStyle/>
          <a:p>
            <a:pPr algn="l">
              <a:lnSpc>
                <a:spcPct val="106000"/>
              </a:lnSpc>
              <a:spcBef>
                <a:spcPts val="0"/>
              </a:spcBef>
              <a:spcAft>
                <a:spcPts val="0"/>
              </a:spcAft>
            </a:pPr>
            <a:r>
              <a:rPr sz="1200" b="0">
                <a:solidFill>
                  <a:srgbClr val="1A1A1A"/>
                </a:solidFill>
                <a:latin typeface="Red Hat Text"/>
              </a:rPr>
              <a:t>HorizontalPodAutoscaler → holds the floor, bursts under load — the lab proves it with a pod kill</a:t>
            </a:r>
          </a:p>
        </p:txBody>
      </p:sp>
      <p:sp>
        <p:nvSpPr>
          <p:cNvPr id="22" name="Rounded Rectangle 21"/>
          <p:cNvSpPr/>
          <p:nvPr/>
        </p:nvSpPr>
        <p:spPr>
          <a:xfrm>
            <a:off x="6812280" y="2670048"/>
            <a:ext cx="4538167" cy="2944368"/>
          </a:xfrm>
          <a:prstGeom prst="roundRect">
            <a:avLst>
              <a:gd name="adj" fmla="val 4000"/>
            </a:avLst>
          </a:prstGeom>
          <a:solidFill>
            <a:srgbClr val="FFFFFF"/>
          </a:solidFill>
          <a:ln w="15240">
            <a:solidFill>
              <a:srgbClr val="DDE1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ounded Rectangle 22"/>
          <p:cNvSpPr/>
          <p:nvPr/>
        </p:nvSpPr>
        <p:spPr>
          <a:xfrm>
            <a:off x="7013448" y="2871216"/>
            <a:ext cx="1298448" cy="310896"/>
          </a:xfrm>
          <a:prstGeom prst="roundRect">
            <a:avLst>
              <a:gd name="adj" fmla="val 50000"/>
            </a:avLst>
          </a:prstGeom>
          <a:solidFill>
            <a:srgbClr val="FCEC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7013448" y="2871216"/>
            <a:ext cx="1298448" cy="310896"/>
          </a:xfrm>
          <a:prstGeom prst="rect">
            <a:avLst/>
          </a:prstGeom>
          <a:noFill/>
        </p:spPr>
        <p:txBody>
          <a:bodyPr wrap="none" anchor="ctr" lIns="0" rIns="0" tIns="0" bIns="0">
            <a:spAutoFit/>
          </a:bodyPr>
          <a:lstStyle/>
          <a:p>
            <a:pPr algn="ctr">
              <a:lnSpc>
                <a:spcPct val="106000"/>
              </a:lnSpc>
              <a:spcBef>
                <a:spcPts val="0"/>
              </a:spcBef>
              <a:spcAft>
                <a:spcPts val="0"/>
              </a:spcAft>
            </a:pPr>
            <a:r>
              <a:rPr sz="850" b="1">
                <a:solidFill>
                  <a:srgbClr val="B80000"/>
                </a:solidFill>
                <a:latin typeface="Red Hat Display"/>
              </a:rPr>
              <a:t>MEDIA PASS</a:t>
            </a:r>
          </a:p>
        </p:txBody>
      </p:sp>
      <p:pic>
        <p:nvPicPr>
          <p:cNvPr id="25" name="Picture 24" descr="eye_slate.png"/>
          <p:cNvPicPr>
            <a:picLocks noChangeAspect="1"/>
          </p:cNvPicPr>
          <p:nvPr/>
        </p:nvPicPr>
        <p:blipFill>
          <a:blip r:embed="rId4"/>
          <a:stretch>
            <a:fillRect/>
          </a:stretch>
        </p:blipFill>
        <p:spPr>
          <a:xfrm>
            <a:off x="8843619" y="3383280"/>
            <a:ext cx="475488" cy="475488"/>
          </a:xfrm>
          <a:prstGeom prst="rect">
            <a:avLst/>
          </a:prstGeom>
        </p:spPr>
      </p:pic>
      <p:sp>
        <p:nvSpPr>
          <p:cNvPr id="26" name="TextBox 25"/>
          <p:cNvSpPr txBox="1"/>
          <p:nvPr/>
        </p:nvSpPr>
        <p:spPr>
          <a:xfrm>
            <a:off x="7050024" y="3995928"/>
            <a:ext cx="4062679" cy="1481328"/>
          </a:xfrm>
          <a:prstGeom prst="rect">
            <a:avLst/>
          </a:prstGeom>
          <a:noFill/>
        </p:spPr>
        <p:txBody>
          <a:bodyPr wrap="square" anchor="t" lIns="0" rIns="0" tIns="0" bIns="0">
            <a:spAutoFit/>
          </a:bodyPr>
          <a:lstStyle/>
          <a:p>
            <a:pPr algn="l">
              <a:lnSpc>
                <a:spcPct val="120000"/>
              </a:lnSpc>
              <a:spcBef>
                <a:spcPts val="0"/>
              </a:spcBef>
              <a:spcAft>
                <a:spcPts val="0"/>
              </a:spcAft>
            </a:pPr>
            <a:r>
              <a:rPr sz="950" b="0">
                <a:solidFill>
                  <a:srgbClr val="8A9099"/>
                </a:solidFill>
                <a:latin typeface="Red Hat Text"/>
              </a:rPr>
              <a:t>The primary site as a box with three claims pods on three distinct node-strips, a "PDB: min available 2" chip, an "HPA 3→6" chip. One pod struck through (killed) with a fresh pod fading in beside it and a caption "service never dipped — replaced in ~6 s." A footer bracket labels the whole box "in-site resiliency — survives pod/node/zone, NOT a whole-site loss."</a:t>
            </a:r>
          </a:p>
        </p:txBody>
      </p:sp>
      <p:cxnSp>
        <p:nvCxnSpPr>
          <p:cNvPr id="27" name="Connector 26"/>
          <p:cNvCxnSpPr/>
          <p:nvPr/>
        </p:nvCxnSpPr>
        <p:spPr>
          <a:xfrm>
            <a:off x="841248" y="6437376"/>
            <a:ext cx="10509199" cy="0"/>
          </a:xfrm>
          <a:prstGeom prst="bentConnector3">
            <a:avLst/>
          </a:prstGeom>
          <a:ln w="12700">
            <a:solidFill>
              <a:srgbClr val="DDE1E6"/>
            </a:solidFill>
          </a:ln>
          <a:effectLst/>
        </p:spPr>
        <p:style>
          <a:lnRef idx="2">
            <a:schemeClr val="accent1"/>
          </a:lnRef>
          <a:fillRef idx="0">
            <a:schemeClr val="accent1"/>
          </a:fillRef>
          <a:effectRef idx="1">
            <a:schemeClr val="accent1"/>
          </a:effectRef>
          <a:fontRef idx="minor">
            <a:schemeClr val="tx1"/>
          </a:fontRef>
        </p:style>
      </p:cxnSp>
      <p:sp>
        <p:nvSpPr>
          <p:cNvPr id="28" name="TextBox 27"/>
          <p:cNvSpPr txBox="1"/>
          <p:nvPr/>
        </p:nvSpPr>
        <p:spPr>
          <a:xfrm>
            <a:off x="841248" y="6473952"/>
            <a:ext cx="7315200" cy="274320"/>
          </a:xfrm>
          <a:prstGeom prst="rect">
            <a:avLst/>
          </a:prstGeom>
          <a:noFill/>
        </p:spPr>
        <p:txBody>
          <a:bodyPr wrap="square" anchor="t" lIns="0" rIns="0" tIns="0" bIns="0">
            <a:spAutoFit/>
          </a:bodyPr>
          <a:lstStyle/>
          <a:p>
            <a:pPr algn="l">
              <a:lnSpc>
                <a:spcPct val="106000"/>
              </a:lnSpc>
              <a:spcBef>
                <a:spcPts val="0"/>
              </a:spcBef>
              <a:spcAft>
                <a:spcPts val="0"/>
              </a:spcAft>
            </a:pPr>
            <a:r>
              <a:rPr sz="950" b="0">
                <a:solidFill>
                  <a:srgbClr val="8A9099"/>
                </a:solidFill>
                <a:latin typeface="Red Hat Text"/>
              </a:rPr>
              <a:t>CONFIDENTIAL</a:t>
            </a:r>
          </a:p>
        </p:txBody>
      </p:sp>
      <p:sp>
        <p:nvSpPr>
          <p:cNvPr id="29" name="TextBox 28"/>
          <p:cNvSpPr txBox="1"/>
          <p:nvPr/>
        </p:nvSpPr>
        <p:spPr>
          <a:xfrm>
            <a:off x="10801807" y="6473952"/>
            <a:ext cx="548640" cy="274320"/>
          </a:xfrm>
          <a:prstGeom prst="rect">
            <a:avLst/>
          </a:prstGeom>
          <a:noFill/>
        </p:spPr>
        <p:txBody>
          <a:bodyPr wrap="square" anchor="t" lIns="0" rIns="0" tIns="0" bIns="0">
            <a:spAutoFit/>
          </a:bodyPr>
          <a:lstStyle/>
          <a:p>
            <a:pPr algn="r">
              <a:lnSpc>
                <a:spcPct val="106000"/>
              </a:lnSpc>
              <a:spcBef>
                <a:spcPts val="0"/>
              </a:spcBef>
              <a:spcAft>
                <a:spcPts val="0"/>
              </a:spcAft>
            </a:pPr>
            <a:r>
              <a:rPr sz="950" b="0">
                <a:solidFill>
                  <a:srgbClr val="8A9099"/>
                </a:solidFill>
                <a:latin typeface="Red Hat Text"/>
              </a:rPr>
              <a:t>159</a:t>
            </a:r>
          </a:p>
        </p:txBody>
      </p:sp>
    </p:spTree>
  </p:cSld>
  <p:clrMapOvr>
    <a:masterClrMapping/>
  </p:clrMapOvr>
</p:sld>
</file>

<file path=ppt/slides/slide18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redhat_logo.jpg"/>
          <p:cNvPicPr>
            <a:picLocks noChangeAspect="1"/>
          </p:cNvPicPr>
          <p:nvPr/>
        </p:nvPicPr>
        <p:blipFill>
          <a:blip r:embed="rId2"/>
          <a:stretch>
            <a:fillRect/>
          </a:stretch>
        </p:blipFill>
        <p:spPr>
          <a:xfrm>
            <a:off x="10326319" y="475488"/>
            <a:ext cx="1024128" cy="242248"/>
          </a:xfrm>
          <a:prstGeom prst="rect">
            <a:avLst/>
          </a:prstGeom>
        </p:spPr>
      </p:pic>
      <p:sp>
        <p:nvSpPr>
          <p:cNvPr id="3" name="TextBox 2"/>
          <p:cNvSpPr txBox="1"/>
          <p:nvPr/>
        </p:nvSpPr>
        <p:spPr>
          <a:xfrm>
            <a:off x="841248" y="548640"/>
            <a:ext cx="8595360" cy="274320"/>
          </a:xfrm>
          <a:prstGeom prst="rect">
            <a:avLst/>
          </a:prstGeom>
          <a:noFill/>
        </p:spPr>
        <p:txBody>
          <a:bodyPr wrap="square" anchor="t" lIns="0" rIns="0" tIns="0" bIns="0">
            <a:spAutoFit/>
          </a:bodyPr>
          <a:lstStyle/>
          <a:p>
            <a:pPr algn="l">
              <a:lnSpc>
                <a:spcPct val="106000"/>
              </a:lnSpc>
              <a:spcBef>
                <a:spcPts val="0"/>
              </a:spcBef>
              <a:spcAft>
                <a:spcPts val="0"/>
              </a:spcAft>
            </a:pPr>
            <a:r>
              <a:rPr sz="1250" b="1" spc="220">
                <a:solidFill>
                  <a:srgbClr val="EE0000"/>
                </a:solidFill>
                <a:latin typeface="Red Hat Display"/>
              </a:rPr>
              <a:t>M22 · RESILIENCE, MULTI-CLUSTER &amp; DR</a:t>
            </a:r>
          </a:p>
        </p:txBody>
      </p:sp>
      <p:sp>
        <p:nvSpPr>
          <p:cNvPr id="4" name="TextBox 3"/>
          <p:cNvSpPr txBox="1"/>
          <p:nvPr/>
        </p:nvSpPr>
        <p:spPr>
          <a:xfrm>
            <a:off x="841248" y="877824"/>
            <a:ext cx="10515600" cy="548640"/>
          </a:xfrm>
          <a:prstGeom prst="rect">
            <a:avLst/>
          </a:prstGeom>
          <a:noFill/>
        </p:spPr>
        <p:txBody>
          <a:bodyPr wrap="none" anchor="t" lIns="0" rIns="0" tIns="0" bIns="0">
            <a:spAutoFit/>
          </a:bodyPr>
          <a:lstStyle/>
          <a:p>
            <a:pPr algn="l">
              <a:lnSpc>
                <a:spcPct val="100000"/>
              </a:lnSpc>
              <a:spcBef>
                <a:spcPts val="0"/>
              </a:spcBef>
              <a:spcAft>
                <a:spcPts val="0"/>
              </a:spcAft>
            </a:pPr>
            <a:r>
              <a:rPr sz="2500" b="1">
                <a:solidFill>
                  <a:srgbClr val="1A1A1A"/>
                </a:solidFill>
                <a:latin typeface="Red Hat Display"/>
              </a:rPr>
              <a:t>Cross-site failover with Service Mesh</a:t>
            </a:r>
          </a:p>
        </p:txBody>
      </p:sp>
      <p:cxnSp>
        <p:nvCxnSpPr>
          <p:cNvPr id="5" name="Connector 4"/>
          <p:cNvCxnSpPr/>
          <p:nvPr/>
        </p:nvCxnSpPr>
        <p:spPr>
          <a:xfrm>
            <a:off x="841248" y="1554480"/>
            <a:ext cx="1371600" cy="0"/>
          </a:xfrm>
          <a:prstGeom prst="bentConnector3">
            <a:avLst/>
          </a:prstGeom>
          <a:ln w="31750">
            <a:solidFill>
              <a:srgbClr val="EE0000"/>
            </a:solidFill>
          </a:ln>
          <a:effectLst/>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841248" y="1664208"/>
            <a:ext cx="10515600" cy="365760"/>
          </a:xfrm>
          <a:prstGeom prst="rect">
            <a:avLst/>
          </a:prstGeom>
          <a:noFill/>
        </p:spPr>
        <p:txBody>
          <a:bodyPr wrap="square" anchor="t" lIns="0" rIns="0" tIns="0" bIns="0">
            <a:spAutoFit/>
          </a:bodyPr>
          <a:lstStyle/>
          <a:p>
            <a:pPr algn="l">
              <a:lnSpc>
                <a:spcPct val="106000"/>
              </a:lnSpc>
              <a:spcBef>
                <a:spcPts val="0"/>
              </a:spcBef>
              <a:spcAft>
                <a:spcPts val="0"/>
              </a:spcAft>
            </a:pPr>
            <a:r>
              <a:rPr sz="1350" b="0">
                <a:solidFill>
                  <a:srgbClr val="555960"/>
                </a:solidFill>
                <a:latin typeface="Red Hat Text"/>
              </a:rPr>
              <a:t>the centerpiece</a:t>
            </a:r>
          </a:p>
        </p:txBody>
      </p:sp>
      <p:sp>
        <p:nvSpPr>
          <p:cNvPr id="7" name="Rounded Rectangle 6"/>
          <p:cNvSpPr/>
          <p:nvPr/>
        </p:nvSpPr>
        <p:spPr>
          <a:xfrm>
            <a:off x="841248" y="2670048"/>
            <a:ext cx="5715000" cy="530352"/>
          </a:xfrm>
          <a:prstGeom prst="roundRect">
            <a:avLst>
              <a:gd name="adj" fmla="val 6000"/>
            </a:avLst>
          </a:prstGeom>
          <a:solidFill>
            <a:srgbClr val="F5F6F8"/>
          </a:solidFill>
          <a:ln w="12700">
            <a:solidFill>
              <a:srgbClr val="DDE1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check_steel.png"/>
          <p:cNvPicPr>
            <a:picLocks noChangeAspect="1"/>
          </p:cNvPicPr>
          <p:nvPr/>
        </p:nvPicPr>
        <p:blipFill>
          <a:blip r:embed="rId3"/>
          <a:stretch>
            <a:fillRect/>
          </a:stretch>
        </p:blipFill>
        <p:spPr>
          <a:xfrm>
            <a:off x="987552" y="2816352"/>
            <a:ext cx="237744" cy="237744"/>
          </a:xfrm>
          <a:prstGeom prst="rect">
            <a:avLst/>
          </a:prstGeom>
        </p:spPr>
      </p:pic>
      <p:sp>
        <p:nvSpPr>
          <p:cNvPr id="9" name="TextBox 8"/>
          <p:cNvSpPr txBox="1"/>
          <p:nvPr/>
        </p:nvSpPr>
        <p:spPr>
          <a:xfrm>
            <a:off x="1353312" y="2670048"/>
            <a:ext cx="5029200" cy="530352"/>
          </a:xfrm>
          <a:prstGeom prst="rect">
            <a:avLst/>
          </a:prstGeom>
          <a:noFill/>
        </p:spPr>
        <p:txBody>
          <a:bodyPr wrap="square" anchor="ctr" lIns="0" rIns="0" tIns="0" bIns="0">
            <a:spAutoFit/>
          </a:bodyPr>
          <a:lstStyle/>
          <a:p>
            <a:pPr algn="l">
              <a:lnSpc>
                <a:spcPct val="106000"/>
              </a:lnSpc>
              <a:spcBef>
                <a:spcPts val="0"/>
              </a:spcBef>
              <a:spcAft>
                <a:spcPts val="0"/>
              </a:spcAft>
            </a:pPr>
            <a:r>
              <a:rPr sz="1200" b="0">
                <a:solidFill>
                  <a:srgbClr val="1A1A1A"/>
                </a:solidFill>
                <a:latin typeface="Red Hat Text"/>
              </a:rPr>
              <a:t>Two sites — A (primary) and B (secondary) — behind ONE stable endpoint (a mesh ingress gateway)</a:t>
            </a:r>
          </a:p>
        </p:txBody>
      </p:sp>
      <p:sp>
        <p:nvSpPr>
          <p:cNvPr id="10" name="Rounded Rectangle 9"/>
          <p:cNvSpPr/>
          <p:nvPr/>
        </p:nvSpPr>
        <p:spPr>
          <a:xfrm>
            <a:off x="841248" y="3273552"/>
            <a:ext cx="5715000" cy="530352"/>
          </a:xfrm>
          <a:prstGeom prst="roundRect">
            <a:avLst>
              <a:gd name="adj" fmla="val 6000"/>
            </a:avLst>
          </a:prstGeom>
          <a:solidFill>
            <a:srgbClr val="F5F6F8"/>
          </a:solidFill>
          <a:ln w="12700">
            <a:solidFill>
              <a:srgbClr val="DDE1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1" name="Picture 10" descr="check_steel.png"/>
          <p:cNvPicPr>
            <a:picLocks noChangeAspect="1"/>
          </p:cNvPicPr>
          <p:nvPr/>
        </p:nvPicPr>
        <p:blipFill>
          <a:blip r:embed="rId3"/>
          <a:stretch>
            <a:fillRect/>
          </a:stretch>
        </p:blipFill>
        <p:spPr>
          <a:xfrm>
            <a:off x="987552" y="3419856"/>
            <a:ext cx="237744" cy="237744"/>
          </a:xfrm>
          <a:prstGeom prst="rect">
            <a:avLst/>
          </a:prstGeom>
        </p:spPr>
      </p:pic>
      <p:sp>
        <p:nvSpPr>
          <p:cNvPr id="12" name="TextBox 11"/>
          <p:cNvSpPr txBox="1"/>
          <p:nvPr/>
        </p:nvSpPr>
        <p:spPr>
          <a:xfrm>
            <a:off x="1353312" y="3273552"/>
            <a:ext cx="5029200" cy="530352"/>
          </a:xfrm>
          <a:prstGeom prst="rect">
            <a:avLst/>
          </a:prstGeom>
          <a:noFill/>
        </p:spPr>
        <p:txBody>
          <a:bodyPr wrap="square" anchor="ctr" lIns="0" rIns="0" tIns="0" bIns="0">
            <a:spAutoFit/>
          </a:bodyPr>
          <a:lstStyle/>
          <a:p>
            <a:pPr algn="l">
              <a:lnSpc>
                <a:spcPct val="106000"/>
              </a:lnSpc>
              <a:spcBef>
                <a:spcPts val="0"/>
              </a:spcBef>
              <a:spcAft>
                <a:spcPts val="0"/>
              </a:spcAft>
            </a:pPr>
            <a:r>
              <a:rPr sz="1200" b="0">
                <a:solidFill>
                  <a:srgbClr val="1A1A1A"/>
                </a:solidFill>
                <a:latin typeface="Red Hat Text"/>
              </a:rPr>
              <a:t>ServiceEntry: one logical claims host, two endpoints (site A, site B) tagged with localities</a:t>
            </a:r>
          </a:p>
        </p:txBody>
      </p:sp>
      <p:sp>
        <p:nvSpPr>
          <p:cNvPr id="13" name="Rounded Rectangle 12"/>
          <p:cNvSpPr/>
          <p:nvPr/>
        </p:nvSpPr>
        <p:spPr>
          <a:xfrm>
            <a:off x="841248" y="3877056"/>
            <a:ext cx="5715000" cy="530352"/>
          </a:xfrm>
          <a:prstGeom prst="roundRect">
            <a:avLst>
              <a:gd name="adj" fmla="val 6000"/>
            </a:avLst>
          </a:prstGeom>
          <a:solidFill>
            <a:srgbClr val="F5F6F8"/>
          </a:solidFill>
          <a:ln w="12700">
            <a:solidFill>
              <a:srgbClr val="DDE1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4" name="Picture 13" descr="check_steel.png"/>
          <p:cNvPicPr>
            <a:picLocks noChangeAspect="1"/>
          </p:cNvPicPr>
          <p:nvPr/>
        </p:nvPicPr>
        <p:blipFill>
          <a:blip r:embed="rId3"/>
          <a:stretch>
            <a:fillRect/>
          </a:stretch>
        </p:blipFill>
        <p:spPr>
          <a:xfrm>
            <a:off x="987552" y="4023360"/>
            <a:ext cx="237744" cy="237744"/>
          </a:xfrm>
          <a:prstGeom prst="rect">
            <a:avLst/>
          </a:prstGeom>
        </p:spPr>
      </p:pic>
      <p:sp>
        <p:nvSpPr>
          <p:cNvPr id="15" name="TextBox 14"/>
          <p:cNvSpPr txBox="1"/>
          <p:nvPr/>
        </p:nvSpPr>
        <p:spPr>
          <a:xfrm>
            <a:off x="1353312" y="3877056"/>
            <a:ext cx="5029200" cy="530352"/>
          </a:xfrm>
          <a:prstGeom prst="rect">
            <a:avLst/>
          </a:prstGeom>
          <a:noFill/>
        </p:spPr>
        <p:txBody>
          <a:bodyPr wrap="square" anchor="ctr" lIns="0" rIns="0" tIns="0" bIns="0">
            <a:spAutoFit/>
          </a:bodyPr>
          <a:lstStyle/>
          <a:p>
            <a:pPr algn="l">
              <a:lnSpc>
                <a:spcPct val="106000"/>
              </a:lnSpc>
              <a:spcBef>
                <a:spcPts val="0"/>
              </a:spcBef>
              <a:spcAft>
                <a:spcPts val="0"/>
              </a:spcAft>
            </a:pPr>
            <a:r>
              <a:rPr sz="1200" b="0">
                <a:solidFill>
                  <a:srgbClr val="1A1A1A"/>
                </a:solidFill>
                <a:latin typeface="Red Hat Text"/>
              </a:rPr>
              <a:t>DestinationRule: locality-aware LB (prefer the primary) + outlier detection (eject a failing site)</a:t>
            </a:r>
          </a:p>
        </p:txBody>
      </p:sp>
      <p:sp>
        <p:nvSpPr>
          <p:cNvPr id="16" name="Rounded Rectangle 15"/>
          <p:cNvSpPr/>
          <p:nvPr/>
        </p:nvSpPr>
        <p:spPr>
          <a:xfrm>
            <a:off x="841248" y="4480560"/>
            <a:ext cx="5715000" cy="530352"/>
          </a:xfrm>
          <a:prstGeom prst="roundRect">
            <a:avLst>
              <a:gd name="adj" fmla="val 6000"/>
            </a:avLst>
          </a:prstGeom>
          <a:solidFill>
            <a:srgbClr val="F5F6F8"/>
          </a:solidFill>
          <a:ln w="12700">
            <a:solidFill>
              <a:srgbClr val="DDE1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7" name="Picture 16" descr="check_steel.png"/>
          <p:cNvPicPr>
            <a:picLocks noChangeAspect="1"/>
          </p:cNvPicPr>
          <p:nvPr/>
        </p:nvPicPr>
        <p:blipFill>
          <a:blip r:embed="rId3"/>
          <a:stretch>
            <a:fillRect/>
          </a:stretch>
        </p:blipFill>
        <p:spPr>
          <a:xfrm>
            <a:off x="987552" y="4626864"/>
            <a:ext cx="237744" cy="237744"/>
          </a:xfrm>
          <a:prstGeom prst="rect">
            <a:avLst/>
          </a:prstGeom>
        </p:spPr>
      </p:pic>
      <p:sp>
        <p:nvSpPr>
          <p:cNvPr id="18" name="TextBox 17"/>
          <p:cNvSpPr txBox="1"/>
          <p:nvPr/>
        </p:nvSpPr>
        <p:spPr>
          <a:xfrm>
            <a:off x="1353312" y="4480560"/>
            <a:ext cx="5029200" cy="530352"/>
          </a:xfrm>
          <a:prstGeom prst="rect">
            <a:avLst/>
          </a:prstGeom>
          <a:noFill/>
        </p:spPr>
        <p:txBody>
          <a:bodyPr wrap="square" anchor="ctr" lIns="0" rIns="0" tIns="0" bIns="0">
            <a:spAutoFit/>
          </a:bodyPr>
          <a:lstStyle/>
          <a:p>
            <a:pPr algn="l">
              <a:lnSpc>
                <a:spcPct val="106000"/>
              </a:lnSpc>
              <a:spcBef>
                <a:spcPts val="0"/>
              </a:spcBef>
              <a:spcAft>
                <a:spcPts val="0"/>
              </a:spcAft>
            </a:pPr>
            <a:r>
              <a:rPr sz="1200" b="0">
                <a:solidFill>
                  <a:srgbClr val="1A1A1A"/>
                </a:solidFill>
                <a:latin typeface="Red Hat Text"/>
              </a:rPr>
              <a:t>VirtualService on the gateway: routes the endpoint to the host, with RETRIES so failover is seamless</a:t>
            </a:r>
          </a:p>
        </p:txBody>
      </p:sp>
      <p:sp>
        <p:nvSpPr>
          <p:cNvPr id="19" name="Rounded Rectangle 18"/>
          <p:cNvSpPr/>
          <p:nvPr/>
        </p:nvSpPr>
        <p:spPr>
          <a:xfrm>
            <a:off x="841248" y="5084064"/>
            <a:ext cx="5715000" cy="530352"/>
          </a:xfrm>
          <a:prstGeom prst="roundRect">
            <a:avLst>
              <a:gd name="adj" fmla="val 6000"/>
            </a:avLst>
          </a:prstGeom>
          <a:solidFill>
            <a:srgbClr val="F5F6F8"/>
          </a:solidFill>
          <a:ln w="12700">
            <a:solidFill>
              <a:srgbClr val="DDE1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0" name="Picture 19" descr="check_steel.png"/>
          <p:cNvPicPr>
            <a:picLocks noChangeAspect="1"/>
          </p:cNvPicPr>
          <p:nvPr/>
        </p:nvPicPr>
        <p:blipFill>
          <a:blip r:embed="rId3"/>
          <a:stretch>
            <a:fillRect/>
          </a:stretch>
        </p:blipFill>
        <p:spPr>
          <a:xfrm>
            <a:off x="987552" y="5230368"/>
            <a:ext cx="237744" cy="237744"/>
          </a:xfrm>
          <a:prstGeom prst="rect">
            <a:avLst/>
          </a:prstGeom>
        </p:spPr>
      </p:pic>
      <p:sp>
        <p:nvSpPr>
          <p:cNvPr id="21" name="TextBox 20"/>
          <p:cNvSpPr txBox="1"/>
          <p:nvPr/>
        </p:nvSpPr>
        <p:spPr>
          <a:xfrm>
            <a:off x="1353312" y="5084064"/>
            <a:ext cx="5029200" cy="530352"/>
          </a:xfrm>
          <a:prstGeom prst="rect">
            <a:avLst/>
          </a:prstGeom>
          <a:noFill/>
        </p:spPr>
        <p:txBody>
          <a:bodyPr wrap="square" anchor="ctr" lIns="0" rIns="0" tIns="0" bIns="0">
            <a:spAutoFit/>
          </a:bodyPr>
          <a:lstStyle/>
          <a:p>
            <a:pPr algn="l">
              <a:lnSpc>
                <a:spcPct val="106000"/>
              </a:lnSpc>
              <a:spcBef>
                <a:spcPts val="0"/>
              </a:spcBef>
              <a:spcAft>
                <a:spcPts val="0"/>
              </a:spcAft>
            </a:pPr>
            <a:r>
              <a:rPr sz="1200" b="0">
                <a:solidFill>
                  <a:srgbClr val="1A1A1A"/>
                </a:solidFill>
                <a:latin typeface="Red Hat Text"/>
              </a:rPr>
              <a:t>Three small resources, ZERO application code — the client never changes its address</a:t>
            </a:r>
          </a:p>
        </p:txBody>
      </p:sp>
      <p:sp>
        <p:nvSpPr>
          <p:cNvPr id="22" name="Rounded Rectangle 21"/>
          <p:cNvSpPr/>
          <p:nvPr/>
        </p:nvSpPr>
        <p:spPr>
          <a:xfrm>
            <a:off x="6812280" y="2670048"/>
            <a:ext cx="4538167" cy="2944368"/>
          </a:xfrm>
          <a:prstGeom prst="roundRect">
            <a:avLst>
              <a:gd name="adj" fmla="val 4000"/>
            </a:avLst>
          </a:prstGeom>
          <a:solidFill>
            <a:srgbClr val="FFFFFF"/>
          </a:solidFill>
          <a:ln w="15240">
            <a:solidFill>
              <a:srgbClr val="DDE1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ounded Rectangle 22"/>
          <p:cNvSpPr/>
          <p:nvPr/>
        </p:nvSpPr>
        <p:spPr>
          <a:xfrm>
            <a:off x="7013448" y="2871216"/>
            <a:ext cx="1298448" cy="310896"/>
          </a:xfrm>
          <a:prstGeom prst="roundRect">
            <a:avLst>
              <a:gd name="adj" fmla="val 50000"/>
            </a:avLst>
          </a:prstGeom>
          <a:solidFill>
            <a:srgbClr val="FCEC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7013448" y="2871216"/>
            <a:ext cx="1298448" cy="310896"/>
          </a:xfrm>
          <a:prstGeom prst="rect">
            <a:avLst/>
          </a:prstGeom>
          <a:noFill/>
        </p:spPr>
        <p:txBody>
          <a:bodyPr wrap="none" anchor="ctr" lIns="0" rIns="0" tIns="0" bIns="0">
            <a:spAutoFit/>
          </a:bodyPr>
          <a:lstStyle/>
          <a:p>
            <a:pPr algn="ctr">
              <a:lnSpc>
                <a:spcPct val="106000"/>
              </a:lnSpc>
              <a:spcBef>
                <a:spcPts val="0"/>
              </a:spcBef>
              <a:spcAft>
                <a:spcPts val="0"/>
              </a:spcAft>
            </a:pPr>
            <a:r>
              <a:rPr sz="850" b="1">
                <a:solidFill>
                  <a:srgbClr val="B80000"/>
                </a:solidFill>
                <a:latin typeface="Red Hat Display"/>
              </a:rPr>
              <a:t>MEDIA PASS</a:t>
            </a:r>
          </a:p>
        </p:txBody>
      </p:sp>
      <p:pic>
        <p:nvPicPr>
          <p:cNvPr id="25" name="Picture 24" descr="eye_slate.png"/>
          <p:cNvPicPr>
            <a:picLocks noChangeAspect="1"/>
          </p:cNvPicPr>
          <p:nvPr/>
        </p:nvPicPr>
        <p:blipFill>
          <a:blip r:embed="rId4"/>
          <a:stretch>
            <a:fillRect/>
          </a:stretch>
        </p:blipFill>
        <p:spPr>
          <a:xfrm>
            <a:off x="8843619" y="3383280"/>
            <a:ext cx="475488" cy="475488"/>
          </a:xfrm>
          <a:prstGeom prst="rect">
            <a:avLst/>
          </a:prstGeom>
        </p:spPr>
      </p:pic>
      <p:sp>
        <p:nvSpPr>
          <p:cNvPr id="26" name="TextBox 25"/>
          <p:cNvSpPr txBox="1"/>
          <p:nvPr/>
        </p:nvSpPr>
        <p:spPr>
          <a:xfrm>
            <a:off x="7050024" y="3995928"/>
            <a:ext cx="4062679" cy="1481328"/>
          </a:xfrm>
          <a:prstGeom prst="rect">
            <a:avLst/>
          </a:prstGeom>
          <a:noFill/>
        </p:spPr>
        <p:txBody>
          <a:bodyPr wrap="square" anchor="t" lIns="0" rIns="0" tIns="0" bIns="0">
            <a:spAutoFit/>
          </a:bodyPr>
          <a:lstStyle/>
          <a:p>
            <a:pPr algn="l">
              <a:lnSpc>
                <a:spcPct val="120000"/>
              </a:lnSpc>
              <a:spcBef>
                <a:spcPts val="0"/>
              </a:spcBef>
              <a:spcAft>
                <a:spcPts val="0"/>
              </a:spcAft>
            </a:pPr>
            <a:r>
              <a:rPr sz="950" b="0">
                <a:solidFill>
                  <a:srgbClr val="8A9099"/>
                </a:solidFill>
                <a:latin typeface="Red Hat Text"/>
              </a:rPr>
              <a:t>The mesh-failover diagram (concept slide 3 asset): a client → an ingress Gateway ("pinned to site A's locality") → two site boxes, "Site A — PRIMARY (3 replicas)" with a solid bold arrow "normal: locality prefers A," and "Site B — SECONDARY (3 replicas)" with a dashed arrow "on A failure: outlier ejects A, retries flip to B." Three CR chips under the gateway: ServiceEntry · DestinationRule · VirtualService.</a:t>
            </a:r>
          </a:p>
        </p:txBody>
      </p:sp>
      <p:cxnSp>
        <p:nvCxnSpPr>
          <p:cNvPr id="27" name="Connector 26"/>
          <p:cNvCxnSpPr/>
          <p:nvPr/>
        </p:nvCxnSpPr>
        <p:spPr>
          <a:xfrm>
            <a:off x="841248" y="6437376"/>
            <a:ext cx="10509199" cy="0"/>
          </a:xfrm>
          <a:prstGeom prst="bentConnector3">
            <a:avLst/>
          </a:prstGeom>
          <a:ln w="12700">
            <a:solidFill>
              <a:srgbClr val="DDE1E6"/>
            </a:solidFill>
          </a:ln>
          <a:effectLst/>
        </p:spPr>
        <p:style>
          <a:lnRef idx="2">
            <a:schemeClr val="accent1"/>
          </a:lnRef>
          <a:fillRef idx="0">
            <a:schemeClr val="accent1"/>
          </a:fillRef>
          <a:effectRef idx="1">
            <a:schemeClr val="accent1"/>
          </a:effectRef>
          <a:fontRef idx="minor">
            <a:schemeClr val="tx1"/>
          </a:fontRef>
        </p:style>
      </p:cxnSp>
      <p:sp>
        <p:nvSpPr>
          <p:cNvPr id="28" name="TextBox 27"/>
          <p:cNvSpPr txBox="1"/>
          <p:nvPr/>
        </p:nvSpPr>
        <p:spPr>
          <a:xfrm>
            <a:off x="841248" y="6473952"/>
            <a:ext cx="7315200" cy="274320"/>
          </a:xfrm>
          <a:prstGeom prst="rect">
            <a:avLst/>
          </a:prstGeom>
          <a:noFill/>
        </p:spPr>
        <p:txBody>
          <a:bodyPr wrap="square" anchor="t" lIns="0" rIns="0" tIns="0" bIns="0">
            <a:spAutoFit/>
          </a:bodyPr>
          <a:lstStyle/>
          <a:p>
            <a:pPr algn="l">
              <a:lnSpc>
                <a:spcPct val="106000"/>
              </a:lnSpc>
              <a:spcBef>
                <a:spcPts val="0"/>
              </a:spcBef>
              <a:spcAft>
                <a:spcPts val="0"/>
              </a:spcAft>
            </a:pPr>
            <a:r>
              <a:rPr sz="950" b="0">
                <a:solidFill>
                  <a:srgbClr val="8A9099"/>
                </a:solidFill>
                <a:latin typeface="Red Hat Text"/>
              </a:rPr>
              <a:t>CONFIDENTIAL</a:t>
            </a:r>
          </a:p>
        </p:txBody>
      </p:sp>
      <p:sp>
        <p:nvSpPr>
          <p:cNvPr id="29" name="TextBox 28"/>
          <p:cNvSpPr txBox="1"/>
          <p:nvPr/>
        </p:nvSpPr>
        <p:spPr>
          <a:xfrm>
            <a:off x="10801807" y="6473952"/>
            <a:ext cx="548640" cy="274320"/>
          </a:xfrm>
          <a:prstGeom prst="rect">
            <a:avLst/>
          </a:prstGeom>
          <a:noFill/>
        </p:spPr>
        <p:txBody>
          <a:bodyPr wrap="square" anchor="t" lIns="0" rIns="0" tIns="0" bIns="0">
            <a:spAutoFit/>
          </a:bodyPr>
          <a:lstStyle/>
          <a:p>
            <a:pPr algn="r">
              <a:lnSpc>
                <a:spcPct val="106000"/>
              </a:lnSpc>
              <a:spcBef>
                <a:spcPts val="0"/>
              </a:spcBef>
              <a:spcAft>
                <a:spcPts val="0"/>
              </a:spcAft>
            </a:pPr>
            <a:r>
              <a:rPr sz="950" b="0">
                <a:solidFill>
                  <a:srgbClr val="8A9099"/>
                </a:solidFill>
                <a:latin typeface="Red Hat Text"/>
              </a:rPr>
              <a:t>160</a:t>
            </a:r>
          </a:p>
        </p:txBody>
      </p:sp>
    </p:spTree>
  </p:cSld>
  <p:clrMapOvr>
    <a:masterClrMapping/>
  </p:clrMapOvr>
</p:sld>
</file>

<file path=ppt/slides/slide18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redhat_logo.jpg"/>
          <p:cNvPicPr>
            <a:picLocks noChangeAspect="1"/>
          </p:cNvPicPr>
          <p:nvPr/>
        </p:nvPicPr>
        <p:blipFill>
          <a:blip r:embed="rId2"/>
          <a:stretch>
            <a:fillRect/>
          </a:stretch>
        </p:blipFill>
        <p:spPr>
          <a:xfrm>
            <a:off x="10326319" y="475488"/>
            <a:ext cx="1024128" cy="242248"/>
          </a:xfrm>
          <a:prstGeom prst="rect">
            <a:avLst/>
          </a:prstGeom>
        </p:spPr>
      </p:pic>
      <p:sp>
        <p:nvSpPr>
          <p:cNvPr id="3" name="TextBox 2"/>
          <p:cNvSpPr txBox="1"/>
          <p:nvPr/>
        </p:nvSpPr>
        <p:spPr>
          <a:xfrm>
            <a:off x="841248" y="548640"/>
            <a:ext cx="8595360" cy="274320"/>
          </a:xfrm>
          <a:prstGeom prst="rect">
            <a:avLst/>
          </a:prstGeom>
          <a:noFill/>
        </p:spPr>
        <p:txBody>
          <a:bodyPr wrap="square" anchor="t" lIns="0" rIns="0" tIns="0" bIns="0">
            <a:spAutoFit/>
          </a:bodyPr>
          <a:lstStyle/>
          <a:p>
            <a:pPr algn="l">
              <a:lnSpc>
                <a:spcPct val="106000"/>
              </a:lnSpc>
              <a:spcBef>
                <a:spcPts val="0"/>
              </a:spcBef>
              <a:spcAft>
                <a:spcPts val="0"/>
              </a:spcAft>
            </a:pPr>
            <a:r>
              <a:rPr sz="1250" b="1" spc="220">
                <a:solidFill>
                  <a:srgbClr val="EE0000"/>
                </a:solidFill>
                <a:latin typeface="Red Hat Display"/>
              </a:rPr>
              <a:t>M22 · RESILIENCE, MULTI-CLUSTER &amp; DR</a:t>
            </a:r>
          </a:p>
        </p:txBody>
      </p:sp>
      <p:sp>
        <p:nvSpPr>
          <p:cNvPr id="4" name="TextBox 3"/>
          <p:cNvSpPr txBox="1"/>
          <p:nvPr/>
        </p:nvSpPr>
        <p:spPr>
          <a:xfrm>
            <a:off x="841248" y="877824"/>
            <a:ext cx="10515600" cy="548640"/>
          </a:xfrm>
          <a:prstGeom prst="rect">
            <a:avLst/>
          </a:prstGeom>
          <a:noFill/>
        </p:spPr>
        <p:txBody>
          <a:bodyPr wrap="none" anchor="t" lIns="0" rIns="0" tIns="0" bIns="0">
            <a:spAutoFit/>
          </a:bodyPr>
          <a:lstStyle/>
          <a:p>
            <a:pPr algn="l">
              <a:lnSpc>
                <a:spcPct val="100000"/>
              </a:lnSpc>
              <a:spcBef>
                <a:spcPts val="0"/>
              </a:spcBef>
              <a:spcAft>
                <a:spcPts val="0"/>
              </a:spcAft>
            </a:pPr>
            <a:r>
              <a:rPr sz="2500" b="1">
                <a:solidFill>
                  <a:srgbClr val="1A1A1A"/>
                </a:solidFill>
                <a:latin typeface="Red Hat Display"/>
              </a:rPr>
              <a:t>Fail an entire site</a:t>
            </a:r>
          </a:p>
        </p:txBody>
      </p:sp>
      <p:cxnSp>
        <p:nvCxnSpPr>
          <p:cNvPr id="5" name="Connector 4"/>
          <p:cNvCxnSpPr/>
          <p:nvPr/>
        </p:nvCxnSpPr>
        <p:spPr>
          <a:xfrm>
            <a:off x="841248" y="1554480"/>
            <a:ext cx="1371600" cy="0"/>
          </a:xfrm>
          <a:prstGeom prst="bentConnector3">
            <a:avLst/>
          </a:prstGeom>
          <a:ln w="31750">
            <a:solidFill>
              <a:srgbClr val="EE0000"/>
            </a:solidFill>
          </a:ln>
          <a:effectLst/>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841248" y="1664208"/>
            <a:ext cx="10515600" cy="365760"/>
          </a:xfrm>
          <a:prstGeom prst="rect">
            <a:avLst/>
          </a:prstGeom>
          <a:noFill/>
        </p:spPr>
        <p:txBody>
          <a:bodyPr wrap="square" anchor="t" lIns="0" rIns="0" tIns="0" bIns="0">
            <a:spAutoFit/>
          </a:bodyPr>
          <a:lstStyle/>
          <a:p>
            <a:pPr algn="l">
              <a:lnSpc>
                <a:spcPct val="106000"/>
              </a:lnSpc>
              <a:spcBef>
                <a:spcPts val="0"/>
              </a:spcBef>
              <a:spcAft>
                <a:spcPts val="0"/>
              </a:spcAft>
            </a:pPr>
            <a:r>
              <a:rPr sz="1350" b="0">
                <a:solidFill>
                  <a:srgbClr val="555960"/>
                </a:solidFill>
                <a:latin typeface="Red Hat Text"/>
              </a:rPr>
              <a:t>the client never notices</a:t>
            </a:r>
          </a:p>
        </p:txBody>
      </p:sp>
      <p:sp>
        <p:nvSpPr>
          <p:cNvPr id="7" name="Rounded Rectangle 6"/>
          <p:cNvSpPr/>
          <p:nvPr/>
        </p:nvSpPr>
        <p:spPr>
          <a:xfrm>
            <a:off x="841248" y="2670048"/>
            <a:ext cx="5715000" cy="530352"/>
          </a:xfrm>
          <a:prstGeom prst="roundRect">
            <a:avLst>
              <a:gd name="adj" fmla="val 6000"/>
            </a:avLst>
          </a:prstGeom>
          <a:solidFill>
            <a:srgbClr val="F5F6F8"/>
          </a:solidFill>
          <a:ln w="12700">
            <a:solidFill>
              <a:srgbClr val="DDE1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check_steel.png"/>
          <p:cNvPicPr>
            <a:picLocks noChangeAspect="1"/>
          </p:cNvPicPr>
          <p:nvPr/>
        </p:nvPicPr>
        <p:blipFill>
          <a:blip r:embed="rId3"/>
          <a:stretch>
            <a:fillRect/>
          </a:stretch>
        </p:blipFill>
        <p:spPr>
          <a:xfrm>
            <a:off x="987552" y="2816352"/>
            <a:ext cx="237744" cy="237744"/>
          </a:xfrm>
          <a:prstGeom prst="rect">
            <a:avLst/>
          </a:prstGeom>
        </p:spPr>
      </p:pic>
      <p:sp>
        <p:nvSpPr>
          <p:cNvPr id="9" name="TextBox 8"/>
          <p:cNvSpPr txBox="1"/>
          <p:nvPr/>
        </p:nvSpPr>
        <p:spPr>
          <a:xfrm>
            <a:off x="1353312" y="2670048"/>
            <a:ext cx="5029200" cy="530352"/>
          </a:xfrm>
          <a:prstGeom prst="rect">
            <a:avLst/>
          </a:prstGeom>
          <a:noFill/>
        </p:spPr>
        <p:txBody>
          <a:bodyPr wrap="square" anchor="ctr" lIns="0" rIns="0" tIns="0" bIns="0">
            <a:spAutoFit/>
          </a:bodyPr>
          <a:lstStyle/>
          <a:p>
            <a:pPr algn="l">
              <a:lnSpc>
                <a:spcPct val="106000"/>
              </a:lnSpc>
              <a:spcBef>
                <a:spcPts val="0"/>
              </a:spcBef>
              <a:spcAft>
                <a:spcPts val="0"/>
              </a:spcAft>
            </a:pPr>
            <a:r>
              <a:rPr sz="1200" b="0">
                <a:solidFill>
                  <a:srgbClr val="1A1A1A"/>
                </a:solidFill>
                <a:latin typeface="Red Hat Text"/>
              </a:rPr>
              <a:t>The disaster: scale site A to ZERO — the entire primary site is gone (a power cut, a bad deploy, a lost cluster)</a:t>
            </a:r>
          </a:p>
        </p:txBody>
      </p:sp>
      <p:sp>
        <p:nvSpPr>
          <p:cNvPr id="10" name="Rounded Rectangle 9"/>
          <p:cNvSpPr/>
          <p:nvPr/>
        </p:nvSpPr>
        <p:spPr>
          <a:xfrm>
            <a:off x="841248" y="3273552"/>
            <a:ext cx="5715000" cy="530352"/>
          </a:xfrm>
          <a:prstGeom prst="roundRect">
            <a:avLst>
              <a:gd name="adj" fmla="val 6000"/>
            </a:avLst>
          </a:prstGeom>
          <a:solidFill>
            <a:srgbClr val="F5F6F8"/>
          </a:solidFill>
          <a:ln w="12700">
            <a:solidFill>
              <a:srgbClr val="DDE1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1" name="Picture 10" descr="check_steel.png"/>
          <p:cNvPicPr>
            <a:picLocks noChangeAspect="1"/>
          </p:cNvPicPr>
          <p:nvPr/>
        </p:nvPicPr>
        <p:blipFill>
          <a:blip r:embed="rId3"/>
          <a:stretch>
            <a:fillRect/>
          </a:stretch>
        </p:blipFill>
        <p:spPr>
          <a:xfrm>
            <a:off x="987552" y="3419856"/>
            <a:ext cx="237744" cy="237744"/>
          </a:xfrm>
          <a:prstGeom prst="rect">
            <a:avLst/>
          </a:prstGeom>
        </p:spPr>
      </p:pic>
      <p:sp>
        <p:nvSpPr>
          <p:cNvPr id="12" name="TextBox 11"/>
          <p:cNvSpPr txBox="1"/>
          <p:nvPr/>
        </p:nvSpPr>
        <p:spPr>
          <a:xfrm>
            <a:off x="1353312" y="3273552"/>
            <a:ext cx="5029200" cy="530352"/>
          </a:xfrm>
          <a:prstGeom prst="rect">
            <a:avLst/>
          </a:prstGeom>
          <a:noFill/>
        </p:spPr>
        <p:txBody>
          <a:bodyPr wrap="square" anchor="ctr" lIns="0" rIns="0" tIns="0" bIns="0">
            <a:spAutoFit/>
          </a:bodyPr>
          <a:lstStyle/>
          <a:p>
            <a:pPr algn="l">
              <a:lnSpc>
                <a:spcPct val="106000"/>
              </a:lnSpc>
              <a:spcBef>
                <a:spcPts val="0"/>
              </a:spcBef>
              <a:spcAft>
                <a:spcPts val="0"/>
              </a:spcAft>
            </a:pPr>
            <a:r>
              <a:rPr sz="1200" b="0">
                <a:solidFill>
                  <a:srgbClr val="1A1A1A"/>
                </a:solidFill>
                <a:latin typeface="Red Hat Text"/>
              </a:rPr>
              <a:t>The client is hitting the stable endpoint once a second, logging which site served it</a:t>
            </a:r>
          </a:p>
        </p:txBody>
      </p:sp>
      <p:sp>
        <p:nvSpPr>
          <p:cNvPr id="13" name="Rounded Rectangle 12"/>
          <p:cNvSpPr/>
          <p:nvPr/>
        </p:nvSpPr>
        <p:spPr>
          <a:xfrm>
            <a:off x="841248" y="3877056"/>
            <a:ext cx="5715000" cy="530352"/>
          </a:xfrm>
          <a:prstGeom prst="roundRect">
            <a:avLst>
              <a:gd name="adj" fmla="val 6000"/>
            </a:avLst>
          </a:prstGeom>
          <a:solidFill>
            <a:srgbClr val="F5F6F8"/>
          </a:solidFill>
          <a:ln w="12700">
            <a:solidFill>
              <a:srgbClr val="DDE1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4" name="Picture 13" descr="check_steel.png"/>
          <p:cNvPicPr>
            <a:picLocks noChangeAspect="1"/>
          </p:cNvPicPr>
          <p:nvPr/>
        </p:nvPicPr>
        <p:blipFill>
          <a:blip r:embed="rId3"/>
          <a:stretch>
            <a:fillRect/>
          </a:stretch>
        </p:blipFill>
        <p:spPr>
          <a:xfrm>
            <a:off x="987552" y="4023360"/>
            <a:ext cx="237744" cy="237744"/>
          </a:xfrm>
          <a:prstGeom prst="rect">
            <a:avLst/>
          </a:prstGeom>
        </p:spPr>
      </p:pic>
      <p:sp>
        <p:nvSpPr>
          <p:cNvPr id="15" name="TextBox 14"/>
          <p:cNvSpPr txBox="1"/>
          <p:nvPr/>
        </p:nvSpPr>
        <p:spPr>
          <a:xfrm>
            <a:off x="1353312" y="3877056"/>
            <a:ext cx="5029200" cy="530352"/>
          </a:xfrm>
          <a:prstGeom prst="rect">
            <a:avLst/>
          </a:prstGeom>
          <a:noFill/>
        </p:spPr>
        <p:txBody>
          <a:bodyPr wrap="square" anchor="ctr" lIns="0" rIns="0" tIns="0" bIns="0">
            <a:spAutoFit/>
          </a:bodyPr>
          <a:lstStyle/>
          <a:p>
            <a:pPr algn="l">
              <a:lnSpc>
                <a:spcPct val="106000"/>
              </a:lnSpc>
              <a:spcBef>
                <a:spcPts val="0"/>
              </a:spcBef>
              <a:spcAft>
                <a:spcPts val="0"/>
              </a:spcAft>
            </a:pPr>
            <a:r>
              <a:rPr sz="1200" b="0">
                <a:solidFill>
                  <a:srgbClr val="1A1A1A"/>
                </a:solidFill>
                <a:latin typeface="Red Hat Text"/>
              </a:rPr>
              <a:t>Within ~4 s the log flips `SITE=A` → `SITE=B` — and EVERY line is still `HTTP 200`</a:t>
            </a:r>
          </a:p>
        </p:txBody>
      </p:sp>
      <p:sp>
        <p:nvSpPr>
          <p:cNvPr id="16" name="Rounded Rectangle 15"/>
          <p:cNvSpPr/>
          <p:nvPr/>
        </p:nvSpPr>
        <p:spPr>
          <a:xfrm>
            <a:off x="841248" y="4480560"/>
            <a:ext cx="5715000" cy="530352"/>
          </a:xfrm>
          <a:prstGeom prst="roundRect">
            <a:avLst>
              <a:gd name="adj" fmla="val 6000"/>
            </a:avLst>
          </a:prstGeom>
          <a:solidFill>
            <a:srgbClr val="F5F6F8"/>
          </a:solidFill>
          <a:ln w="12700">
            <a:solidFill>
              <a:srgbClr val="DDE1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7" name="Picture 16" descr="check_steel.png"/>
          <p:cNvPicPr>
            <a:picLocks noChangeAspect="1"/>
          </p:cNvPicPr>
          <p:nvPr/>
        </p:nvPicPr>
        <p:blipFill>
          <a:blip r:embed="rId3"/>
          <a:stretch>
            <a:fillRect/>
          </a:stretch>
        </p:blipFill>
        <p:spPr>
          <a:xfrm>
            <a:off x="987552" y="4626864"/>
            <a:ext cx="237744" cy="237744"/>
          </a:xfrm>
          <a:prstGeom prst="rect">
            <a:avLst/>
          </a:prstGeom>
        </p:spPr>
      </p:pic>
      <p:sp>
        <p:nvSpPr>
          <p:cNvPr id="18" name="TextBox 17"/>
          <p:cNvSpPr txBox="1"/>
          <p:nvPr/>
        </p:nvSpPr>
        <p:spPr>
          <a:xfrm>
            <a:off x="1353312" y="4480560"/>
            <a:ext cx="5029200" cy="530352"/>
          </a:xfrm>
          <a:prstGeom prst="rect">
            <a:avLst/>
          </a:prstGeom>
          <a:noFill/>
        </p:spPr>
        <p:txBody>
          <a:bodyPr wrap="square" anchor="ctr" lIns="0" rIns="0" tIns="0" bIns="0">
            <a:spAutoFit/>
          </a:bodyPr>
          <a:lstStyle/>
          <a:p>
            <a:pPr algn="l">
              <a:lnSpc>
                <a:spcPct val="106000"/>
              </a:lnSpc>
              <a:spcBef>
                <a:spcPts val="0"/>
              </a:spcBef>
              <a:spcAft>
                <a:spcPts val="0"/>
              </a:spcAft>
            </a:pPr>
            <a:r>
              <a:rPr sz="1200" b="0">
                <a:solidFill>
                  <a:srgbClr val="1A1A1A"/>
                </a:solidFill>
                <a:latin typeface="Red Hat Text"/>
              </a:rPr>
              <a:t>No client change, no dropped request — outlier detection ejected A, retries flipped it to B</a:t>
            </a:r>
          </a:p>
        </p:txBody>
      </p:sp>
      <p:sp>
        <p:nvSpPr>
          <p:cNvPr id="19" name="Rounded Rectangle 18"/>
          <p:cNvSpPr/>
          <p:nvPr/>
        </p:nvSpPr>
        <p:spPr>
          <a:xfrm>
            <a:off x="841248" y="5084064"/>
            <a:ext cx="5715000" cy="530352"/>
          </a:xfrm>
          <a:prstGeom prst="roundRect">
            <a:avLst>
              <a:gd name="adj" fmla="val 6000"/>
            </a:avLst>
          </a:prstGeom>
          <a:solidFill>
            <a:srgbClr val="F5F6F8"/>
          </a:solidFill>
          <a:ln w="12700">
            <a:solidFill>
              <a:srgbClr val="DDE1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0" name="Picture 19" descr="check_steel.png"/>
          <p:cNvPicPr>
            <a:picLocks noChangeAspect="1"/>
          </p:cNvPicPr>
          <p:nvPr/>
        </p:nvPicPr>
        <p:blipFill>
          <a:blip r:embed="rId3"/>
          <a:stretch>
            <a:fillRect/>
          </a:stretch>
        </p:blipFill>
        <p:spPr>
          <a:xfrm>
            <a:off x="987552" y="5230368"/>
            <a:ext cx="237744" cy="237744"/>
          </a:xfrm>
          <a:prstGeom prst="rect">
            <a:avLst/>
          </a:prstGeom>
        </p:spPr>
      </p:pic>
      <p:sp>
        <p:nvSpPr>
          <p:cNvPr id="21" name="TextBox 20"/>
          <p:cNvSpPr txBox="1"/>
          <p:nvPr/>
        </p:nvSpPr>
        <p:spPr>
          <a:xfrm>
            <a:off x="1353312" y="5084064"/>
            <a:ext cx="5029200" cy="530352"/>
          </a:xfrm>
          <a:prstGeom prst="rect">
            <a:avLst/>
          </a:prstGeom>
          <a:noFill/>
        </p:spPr>
        <p:txBody>
          <a:bodyPr wrap="square" anchor="ctr" lIns="0" rIns="0" tIns="0" bIns="0">
            <a:spAutoFit/>
          </a:bodyPr>
          <a:lstStyle/>
          <a:p>
            <a:pPr algn="l">
              <a:lnSpc>
                <a:spcPct val="106000"/>
              </a:lnSpc>
              <a:spcBef>
                <a:spcPts val="0"/>
              </a:spcBef>
              <a:spcAft>
                <a:spcPts val="0"/>
              </a:spcAft>
            </a:pPr>
            <a:r>
              <a:rPr sz="1200" b="0">
                <a:solidFill>
                  <a:srgbClr val="1A1A1A"/>
                </a:solidFill>
                <a:latin typeface="Red Hat Text"/>
              </a:rPr>
              <a:t>Recover site A → traffic RETURNS to the primary automatically. Failover AND failback</a:t>
            </a:r>
          </a:p>
        </p:txBody>
      </p:sp>
      <p:sp>
        <p:nvSpPr>
          <p:cNvPr id="22" name="Rounded Rectangle 21"/>
          <p:cNvSpPr/>
          <p:nvPr/>
        </p:nvSpPr>
        <p:spPr>
          <a:xfrm>
            <a:off x="6812280" y="2670048"/>
            <a:ext cx="4538167" cy="2944368"/>
          </a:xfrm>
          <a:prstGeom prst="roundRect">
            <a:avLst>
              <a:gd name="adj" fmla="val 4000"/>
            </a:avLst>
          </a:prstGeom>
          <a:solidFill>
            <a:srgbClr val="FFFFFF"/>
          </a:solidFill>
          <a:ln w="15240">
            <a:solidFill>
              <a:srgbClr val="DDE1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ounded Rectangle 22"/>
          <p:cNvSpPr/>
          <p:nvPr/>
        </p:nvSpPr>
        <p:spPr>
          <a:xfrm>
            <a:off x="7013448" y="2871216"/>
            <a:ext cx="1298448" cy="310896"/>
          </a:xfrm>
          <a:prstGeom prst="roundRect">
            <a:avLst>
              <a:gd name="adj" fmla="val 50000"/>
            </a:avLst>
          </a:prstGeom>
          <a:solidFill>
            <a:srgbClr val="FCEC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7013448" y="2871216"/>
            <a:ext cx="1298448" cy="310896"/>
          </a:xfrm>
          <a:prstGeom prst="rect">
            <a:avLst/>
          </a:prstGeom>
          <a:noFill/>
        </p:spPr>
        <p:txBody>
          <a:bodyPr wrap="none" anchor="ctr" lIns="0" rIns="0" tIns="0" bIns="0">
            <a:spAutoFit/>
          </a:bodyPr>
          <a:lstStyle/>
          <a:p>
            <a:pPr algn="ctr">
              <a:lnSpc>
                <a:spcPct val="106000"/>
              </a:lnSpc>
              <a:spcBef>
                <a:spcPts val="0"/>
              </a:spcBef>
              <a:spcAft>
                <a:spcPts val="0"/>
              </a:spcAft>
            </a:pPr>
            <a:r>
              <a:rPr sz="850" b="1">
                <a:solidFill>
                  <a:srgbClr val="B80000"/>
                </a:solidFill>
                <a:latin typeface="Red Hat Display"/>
              </a:rPr>
              <a:t>MEDIA PASS</a:t>
            </a:r>
          </a:p>
        </p:txBody>
      </p:sp>
      <p:pic>
        <p:nvPicPr>
          <p:cNvPr id="25" name="Picture 24" descr="eye_slate.png"/>
          <p:cNvPicPr>
            <a:picLocks noChangeAspect="1"/>
          </p:cNvPicPr>
          <p:nvPr/>
        </p:nvPicPr>
        <p:blipFill>
          <a:blip r:embed="rId4"/>
          <a:stretch>
            <a:fillRect/>
          </a:stretch>
        </p:blipFill>
        <p:spPr>
          <a:xfrm>
            <a:off x="8843619" y="3383280"/>
            <a:ext cx="475488" cy="475488"/>
          </a:xfrm>
          <a:prstGeom prst="rect">
            <a:avLst/>
          </a:prstGeom>
        </p:spPr>
      </p:pic>
      <p:sp>
        <p:nvSpPr>
          <p:cNvPr id="26" name="TextBox 25"/>
          <p:cNvSpPr txBox="1"/>
          <p:nvPr/>
        </p:nvSpPr>
        <p:spPr>
          <a:xfrm>
            <a:off x="7050024" y="3995928"/>
            <a:ext cx="4062679" cy="1481328"/>
          </a:xfrm>
          <a:prstGeom prst="rect">
            <a:avLst/>
          </a:prstGeom>
          <a:noFill/>
        </p:spPr>
        <p:txBody>
          <a:bodyPr wrap="square" anchor="t" lIns="0" rIns="0" tIns="0" bIns="0">
            <a:spAutoFit/>
          </a:bodyPr>
          <a:lstStyle/>
          <a:p>
            <a:pPr algn="l">
              <a:lnSpc>
                <a:spcPct val="120000"/>
              </a:lnSpc>
              <a:spcBef>
                <a:spcPts val="0"/>
              </a:spcBef>
              <a:spcAft>
                <a:spcPts val="0"/>
              </a:spcAft>
            </a:pPr>
            <a:r>
              <a:rPr sz="950" b="0">
                <a:solidFill>
                  <a:srgbClr val="8A9099"/>
                </a:solidFill>
                <a:latin typeface="Red Hat Text"/>
              </a:rPr>
              <a:t>A live-log filmstrip, three panels. Panel 1: green log lines "HTTP 200 served-by-site=A" repeating, with an arrow "site A scaled to 0 →." Panel 2: the log continuing, one line highlighted where it flips to "HTTP 200 served-by-site=B," a big label "FAILOVER · ~4 s · zero dropped requests." Panel 3: after "site A recovered →," the log flipping back to "served-by-site=A," label "FAILBACK · automatic." A ribbon across the top: "the whole primary site vanished — the client kept getting 200s."</a:t>
            </a:r>
          </a:p>
        </p:txBody>
      </p:sp>
      <p:cxnSp>
        <p:nvCxnSpPr>
          <p:cNvPr id="27" name="Connector 26"/>
          <p:cNvCxnSpPr/>
          <p:nvPr/>
        </p:nvCxnSpPr>
        <p:spPr>
          <a:xfrm>
            <a:off x="841248" y="6437376"/>
            <a:ext cx="10509199" cy="0"/>
          </a:xfrm>
          <a:prstGeom prst="bentConnector3">
            <a:avLst/>
          </a:prstGeom>
          <a:ln w="12700">
            <a:solidFill>
              <a:srgbClr val="DDE1E6"/>
            </a:solidFill>
          </a:ln>
          <a:effectLst/>
        </p:spPr>
        <p:style>
          <a:lnRef idx="2">
            <a:schemeClr val="accent1"/>
          </a:lnRef>
          <a:fillRef idx="0">
            <a:schemeClr val="accent1"/>
          </a:fillRef>
          <a:effectRef idx="1">
            <a:schemeClr val="accent1"/>
          </a:effectRef>
          <a:fontRef idx="minor">
            <a:schemeClr val="tx1"/>
          </a:fontRef>
        </p:style>
      </p:cxnSp>
      <p:sp>
        <p:nvSpPr>
          <p:cNvPr id="28" name="TextBox 27"/>
          <p:cNvSpPr txBox="1"/>
          <p:nvPr/>
        </p:nvSpPr>
        <p:spPr>
          <a:xfrm>
            <a:off x="841248" y="6473952"/>
            <a:ext cx="7315200" cy="274320"/>
          </a:xfrm>
          <a:prstGeom prst="rect">
            <a:avLst/>
          </a:prstGeom>
          <a:noFill/>
        </p:spPr>
        <p:txBody>
          <a:bodyPr wrap="square" anchor="t" lIns="0" rIns="0" tIns="0" bIns="0">
            <a:spAutoFit/>
          </a:bodyPr>
          <a:lstStyle/>
          <a:p>
            <a:pPr algn="l">
              <a:lnSpc>
                <a:spcPct val="106000"/>
              </a:lnSpc>
              <a:spcBef>
                <a:spcPts val="0"/>
              </a:spcBef>
              <a:spcAft>
                <a:spcPts val="0"/>
              </a:spcAft>
            </a:pPr>
            <a:r>
              <a:rPr sz="950" b="0">
                <a:solidFill>
                  <a:srgbClr val="8A9099"/>
                </a:solidFill>
                <a:latin typeface="Red Hat Text"/>
              </a:rPr>
              <a:t>CONFIDENTIAL</a:t>
            </a:r>
          </a:p>
        </p:txBody>
      </p:sp>
      <p:sp>
        <p:nvSpPr>
          <p:cNvPr id="29" name="TextBox 28"/>
          <p:cNvSpPr txBox="1"/>
          <p:nvPr/>
        </p:nvSpPr>
        <p:spPr>
          <a:xfrm>
            <a:off x="10801807" y="6473952"/>
            <a:ext cx="548640" cy="274320"/>
          </a:xfrm>
          <a:prstGeom prst="rect">
            <a:avLst/>
          </a:prstGeom>
          <a:noFill/>
        </p:spPr>
        <p:txBody>
          <a:bodyPr wrap="square" anchor="t" lIns="0" rIns="0" tIns="0" bIns="0">
            <a:spAutoFit/>
          </a:bodyPr>
          <a:lstStyle/>
          <a:p>
            <a:pPr algn="r">
              <a:lnSpc>
                <a:spcPct val="106000"/>
              </a:lnSpc>
              <a:spcBef>
                <a:spcPts val="0"/>
              </a:spcBef>
              <a:spcAft>
                <a:spcPts val="0"/>
              </a:spcAft>
            </a:pPr>
            <a:r>
              <a:rPr sz="950" b="0">
                <a:solidFill>
                  <a:srgbClr val="8A9099"/>
                </a:solidFill>
                <a:latin typeface="Red Hat Text"/>
              </a:rPr>
              <a:t>161</a:t>
            </a:r>
          </a:p>
        </p:txBody>
      </p:sp>
    </p:spTree>
  </p:cSld>
  <p:clrMapOvr>
    <a:masterClrMapping/>
  </p:clrMapOvr>
</p:sld>
</file>

<file path=ppt/slides/slide18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redhat_logo.jpg"/>
          <p:cNvPicPr>
            <a:picLocks noChangeAspect="1"/>
          </p:cNvPicPr>
          <p:nvPr/>
        </p:nvPicPr>
        <p:blipFill>
          <a:blip r:embed="rId2"/>
          <a:stretch>
            <a:fillRect/>
          </a:stretch>
        </p:blipFill>
        <p:spPr>
          <a:xfrm>
            <a:off x="10326319" y="475488"/>
            <a:ext cx="1024128" cy="242248"/>
          </a:xfrm>
          <a:prstGeom prst="rect">
            <a:avLst/>
          </a:prstGeom>
        </p:spPr>
      </p:pic>
      <p:sp>
        <p:nvSpPr>
          <p:cNvPr id="3" name="TextBox 2"/>
          <p:cNvSpPr txBox="1"/>
          <p:nvPr/>
        </p:nvSpPr>
        <p:spPr>
          <a:xfrm>
            <a:off x="841248" y="548640"/>
            <a:ext cx="8595360" cy="274320"/>
          </a:xfrm>
          <a:prstGeom prst="rect">
            <a:avLst/>
          </a:prstGeom>
          <a:noFill/>
        </p:spPr>
        <p:txBody>
          <a:bodyPr wrap="square" anchor="t" lIns="0" rIns="0" tIns="0" bIns="0">
            <a:spAutoFit/>
          </a:bodyPr>
          <a:lstStyle/>
          <a:p>
            <a:pPr algn="l">
              <a:lnSpc>
                <a:spcPct val="106000"/>
              </a:lnSpc>
              <a:spcBef>
                <a:spcPts val="0"/>
              </a:spcBef>
              <a:spcAft>
                <a:spcPts val="0"/>
              </a:spcAft>
            </a:pPr>
            <a:r>
              <a:rPr sz="1250" b="1" spc="220">
                <a:solidFill>
                  <a:srgbClr val="EE0000"/>
                </a:solidFill>
                <a:latin typeface="Red Hat Display"/>
              </a:rPr>
              <a:t>M22 · RESILIENCE, MULTI-CLUSTER &amp; DR</a:t>
            </a:r>
          </a:p>
        </p:txBody>
      </p:sp>
      <p:sp>
        <p:nvSpPr>
          <p:cNvPr id="4" name="TextBox 3"/>
          <p:cNvSpPr txBox="1"/>
          <p:nvPr/>
        </p:nvSpPr>
        <p:spPr>
          <a:xfrm>
            <a:off x="841248" y="877824"/>
            <a:ext cx="10515600" cy="548640"/>
          </a:xfrm>
          <a:prstGeom prst="rect">
            <a:avLst/>
          </a:prstGeom>
          <a:noFill/>
        </p:spPr>
        <p:txBody>
          <a:bodyPr wrap="none" anchor="t" lIns="0" rIns="0" tIns="0" bIns="0">
            <a:spAutoFit/>
          </a:bodyPr>
          <a:lstStyle/>
          <a:p>
            <a:pPr algn="l">
              <a:lnSpc>
                <a:spcPct val="100000"/>
              </a:lnSpc>
              <a:spcBef>
                <a:spcPts val="0"/>
              </a:spcBef>
              <a:spcAft>
                <a:spcPts val="0"/>
              </a:spcAft>
            </a:pPr>
            <a:r>
              <a:rPr sz="2500" b="1">
                <a:solidFill>
                  <a:srgbClr val="1A1A1A"/>
                </a:solidFill>
                <a:latin typeface="Red Hat Display"/>
              </a:rPr>
              <a:t>Connect the sites</a:t>
            </a:r>
          </a:p>
        </p:txBody>
      </p:sp>
      <p:cxnSp>
        <p:nvCxnSpPr>
          <p:cNvPr id="5" name="Connector 4"/>
          <p:cNvCxnSpPr/>
          <p:nvPr/>
        </p:nvCxnSpPr>
        <p:spPr>
          <a:xfrm>
            <a:off x="841248" y="1554480"/>
            <a:ext cx="1371600" cy="0"/>
          </a:xfrm>
          <a:prstGeom prst="bentConnector3">
            <a:avLst/>
          </a:prstGeom>
          <a:ln w="31750">
            <a:solidFill>
              <a:srgbClr val="EE0000"/>
            </a:solidFill>
          </a:ln>
          <a:effectLst/>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841248" y="1664208"/>
            <a:ext cx="10515600" cy="365760"/>
          </a:xfrm>
          <a:prstGeom prst="rect">
            <a:avLst/>
          </a:prstGeom>
          <a:noFill/>
        </p:spPr>
        <p:txBody>
          <a:bodyPr wrap="square" anchor="t" lIns="0" rIns="0" tIns="0" bIns="0">
            <a:spAutoFit/>
          </a:bodyPr>
          <a:lstStyle/>
          <a:p>
            <a:pPr algn="l">
              <a:lnSpc>
                <a:spcPct val="106000"/>
              </a:lnSpc>
              <a:spcBef>
                <a:spcPts val="0"/>
              </a:spcBef>
              <a:spcAft>
                <a:spcPts val="0"/>
              </a:spcAft>
            </a:pPr>
            <a:r>
              <a:rPr sz="1350" b="0">
                <a:solidFill>
                  <a:srgbClr val="555960"/>
                </a:solidFill>
                <a:latin typeface="Red Hat Text"/>
              </a:rPr>
              <a:t>RHSI Virtual Application Network [ADD-ON]</a:t>
            </a:r>
          </a:p>
        </p:txBody>
      </p:sp>
      <p:sp>
        <p:nvSpPr>
          <p:cNvPr id="7" name="Rounded Rectangle 6"/>
          <p:cNvSpPr/>
          <p:nvPr/>
        </p:nvSpPr>
        <p:spPr>
          <a:xfrm>
            <a:off x="841248" y="2670048"/>
            <a:ext cx="5715000" cy="530352"/>
          </a:xfrm>
          <a:prstGeom prst="roundRect">
            <a:avLst>
              <a:gd name="adj" fmla="val 6000"/>
            </a:avLst>
          </a:prstGeom>
          <a:solidFill>
            <a:srgbClr val="F5F6F8"/>
          </a:solidFill>
          <a:ln w="12700">
            <a:solidFill>
              <a:srgbClr val="DDE1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check_steel.png"/>
          <p:cNvPicPr>
            <a:picLocks noChangeAspect="1"/>
          </p:cNvPicPr>
          <p:nvPr/>
        </p:nvPicPr>
        <p:blipFill>
          <a:blip r:embed="rId3"/>
          <a:stretch>
            <a:fillRect/>
          </a:stretch>
        </p:blipFill>
        <p:spPr>
          <a:xfrm>
            <a:off x="987552" y="2816352"/>
            <a:ext cx="237744" cy="237744"/>
          </a:xfrm>
          <a:prstGeom prst="rect">
            <a:avLst/>
          </a:prstGeom>
        </p:spPr>
      </p:pic>
      <p:sp>
        <p:nvSpPr>
          <p:cNvPr id="9" name="TextBox 8"/>
          <p:cNvSpPr txBox="1"/>
          <p:nvPr/>
        </p:nvSpPr>
        <p:spPr>
          <a:xfrm>
            <a:off x="1353312" y="2670048"/>
            <a:ext cx="5029200" cy="530352"/>
          </a:xfrm>
          <a:prstGeom prst="rect">
            <a:avLst/>
          </a:prstGeom>
          <a:noFill/>
        </p:spPr>
        <p:txBody>
          <a:bodyPr wrap="square" anchor="ctr" lIns="0" rIns="0" tIns="0" bIns="0">
            <a:spAutoFit/>
          </a:bodyPr>
          <a:lstStyle/>
          <a:p>
            <a:pPr algn="l">
              <a:lnSpc>
                <a:spcPct val="106000"/>
              </a:lnSpc>
              <a:spcBef>
                <a:spcPts val="0"/>
              </a:spcBef>
              <a:spcAft>
                <a:spcPts val="0"/>
              </a:spcAft>
            </a:pPr>
            <a:r>
              <a:rPr sz="1200" b="0">
                <a:solidFill>
                  <a:srgbClr val="1A1A1A"/>
                </a:solidFill>
                <a:latin typeface="Red Hat Text"/>
              </a:rPr>
              <a:t>Failover assumes the two sites can REACH each other — free on one cluster, hard across real DCs</a:t>
            </a:r>
          </a:p>
        </p:txBody>
      </p:sp>
      <p:sp>
        <p:nvSpPr>
          <p:cNvPr id="10" name="Rounded Rectangle 9"/>
          <p:cNvSpPr/>
          <p:nvPr/>
        </p:nvSpPr>
        <p:spPr>
          <a:xfrm>
            <a:off x="841248" y="3273552"/>
            <a:ext cx="5715000" cy="530352"/>
          </a:xfrm>
          <a:prstGeom prst="roundRect">
            <a:avLst>
              <a:gd name="adj" fmla="val 6000"/>
            </a:avLst>
          </a:prstGeom>
          <a:solidFill>
            <a:srgbClr val="F5F6F8"/>
          </a:solidFill>
          <a:ln w="12700">
            <a:solidFill>
              <a:srgbClr val="DDE1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1" name="Picture 10" descr="check_steel.png"/>
          <p:cNvPicPr>
            <a:picLocks noChangeAspect="1"/>
          </p:cNvPicPr>
          <p:nvPr/>
        </p:nvPicPr>
        <p:blipFill>
          <a:blip r:embed="rId3"/>
          <a:stretch>
            <a:fillRect/>
          </a:stretch>
        </p:blipFill>
        <p:spPr>
          <a:xfrm>
            <a:off x="987552" y="3419856"/>
            <a:ext cx="237744" cy="237744"/>
          </a:xfrm>
          <a:prstGeom prst="rect">
            <a:avLst/>
          </a:prstGeom>
        </p:spPr>
      </p:pic>
      <p:sp>
        <p:nvSpPr>
          <p:cNvPr id="12" name="TextBox 11"/>
          <p:cNvSpPr txBox="1"/>
          <p:nvPr/>
        </p:nvSpPr>
        <p:spPr>
          <a:xfrm>
            <a:off x="1353312" y="3273552"/>
            <a:ext cx="5029200" cy="530352"/>
          </a:xfrm>
          <a:prstGeom prst="rect">
            <a:avLst/>
          </a:prstGeom>
          <a:noFill/>
        </p:spPr>
        <p:txBody>
          <a:bodyPr wrap="square" anchor="ctr" lIns="0" rIns="0" tIns="0" bIns="0">
            <a:spAutoFit/>
          </a:bodyPr>
          <a:lstStyle/>
          <a:p>
            <a:pPr algn="l">
              <a:lnSpc>
                <a:spcPct val="106000"/>
              </a:lnSpc>
              <a:spcBef>
                <a:spcPts val="0"/>
              </a:spcBef>
              <a:spcAft>
                <a:spcPts val="0"/>
              </a:spcAft>
            </a:pPr>
            <a:r>
              <a:rPr sz="1200" b="0">
                <a:solidFill>
                  <a:srgbClr val="1A1A1A"/>
                </a:solidFill>
                <a:latin typeface="Red Hat Text"/>
              </a:rPr>
              <a:t>Old answer: a VPN or a flattened network (heavy, security-owned, cross-boundary-hostile)</a:t>
            </a:r>
          </a:p>
        </p:txBody>
      </p:sp>
      <p:sp>
        <p:nvSpPr>
          <p:cNvPr id="13" name="Rounded Rectangle 12"/>
          <p:cNvSpPr/>
          <p:nvPr/>
        </p:nvSpPr>
        <p:spPr>
          <a:xfrm>
            <a:off x="841248" y="3877056"/>
            <a:ext cx="5715000" cy="530352"/>
          </a:xfrm>
          <a:prstGeom prst="roundRect">
            <a:avLst>
              <a:gd name="adj" fmla="val 6000"/>
            </a:avLst>
          </a:prstGeom>
          <a:solidFill>
            <a:srgbClr val="F5F6F8"/>
          </a:solidFill>
          <a:ln w="12700">
            <a:solidFill>
              <a:srgbClr val="DDE1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4" name="Picture 13" descr="check_steel.png"/>
          <p:cNvPicPr>
            <a:picLocks noChangeAspect="1"/>
          </p:cNvPicPr>
          <p:nvPr/>
        </p:nvPicPr>
        <p:blipFill>
          <a:blip r:embed="rId3"/>
          <a:stretch>
            <a:fillRect/>
          </a:stretch>
        </p:blipFill>
        <p:spPr>
          <a:xfrm>
            <a:off x="987552" y="4023360"/>
            <a:ext cx="237744" cy="237744"/>
          </a:xfrm>
          <a:prstGeom prst="rect">
            <a:avLst/>
          </a:prstGeom>
        </p:spPr>
      </p:pic>
      <p:sp>
        <p:nvSpPr>
          <p:cNvPr id="15" name="TextBox 14"/>
          <p:cNvSpPr txBox="1"/>
          <p:nvPr/>
        </p:nvSpPr>
        <p:spPr>
          <a:xfrm>
            <a:off x="1353312" y="3877056"/>
            <a:ext cx="5029200" cy="530352"/>
          </a:xfrm>
          <a:prstGeom prst="rect">
            <a:avLst/>
          </a:prstGeom>
          <a:noFill/>
        </p:spPr>
        <p:txBody>
          <a:bodyPr wrap="square" anchor="ctr" lIns="0" rIns="0" tIns="0" bIns="0">
            <a:spAutoFit/>
          </a:bodyPr>
          <a:lstStyle/>
          <a:p>
            <a:pPr algn="l">
              <a:lnSpc>
                <a:spcPct val="106000"/>
              </a:lnSpc>
              <a:spcBef>
                <a:spcPts val="0"/>
              </a:spcBef>
              <a:spcAft>
                <a:spcPts val="0"/>
              </a:spcAft>
            </a:pPr>
            <a:r>
              <a:rPr sz="1200" b="0">
                <a:solidFill>
                  <a:srgbClr val="1A1A1A"/>
                </a:solidFill>
                <a:latin typeface="Red Hat Text"/>
              </a:rPr>
              <a:t>RHSI / Skupper v2 builds a Virtual Application Network — mutual-TLS L7, links SPECIFIC services</a:t>
            </a:r>
          </a:p>
        </p:txBody>
      </p:sp>
      <p:sp>
        <p:nvSpPr>
          <p:cNvPr id="16" name="Rounded Rectangle 15"/>
          <p:cNvSpPr/>
          <p:nvPr/>
        </p:nvSpPr>
        <p:spPr>
          <a:xfrm>
            <a:off x="841248" y="4480560"/>
            <a:ext cx="5715000" cy="530352"/>
          </a:xfrm>
          <a:prstGeom prst="roundRect">
            <a:avLst>
              <a:gd name="adj" fmla="val 6000"/>
            </a:avLst>
          </a:prstGeom>
          <a:solidFill>
            <a:srgbClr val="F5F6F8"/>
          </a:solidFill>
          <a:ln w="12700">
            <a:solidFill>
              <a:srgbClr val="DDE1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7" name="Picture 16" descr="check_steel.png"/>
          <p:cNvPicPr>
            <a:picLocks noChangeAspect="1"/>
          </p:cNvPicPr>
          <p:nvPr/>
        </p:nvPicPr>
        <p:blipFill>
          <a:blip r:embed="rId3"/>
          <a:stretch>
            <a:fillRect/>
          </a:stretch>
        </p:blipFill>
        <p:spPr>
          <a:xfrm>
            <a:off x="987552" y="4626864"/>
            <a:ext cx="237744" cy="237744"/>
          </a:xfrm>
          <a:prstGeom prst="rect">
            <a:avLst/>
          </a:prstGeom>
        </p:spPr>
      </p:pic>
      <p:sp>
        <p:nvSpPr>
          <p:cNvPr id="18" name="TextBox 17"/>
          <p:cNvSpPr txBox="1"/>
          <p:nvPr/>
        </p:nvSpPr>
        <p:spPr>
          <a:xfrm>
            <a:off x="1353312" y="4480560"/>
            <a:ext cx="5029200" cy="530352"/>
          </a:xfrm>
          <a:prstGeom prst="rect">
            <a:avLst/>
          </a:prstGeom>
          <a:noFill/>
        </p:spPr>
        <p:txBody>
          <a:bodyPr wrap="square" anchor="ctr" lIns="0" rIns="0" tIns="0" bIns="0">
            <a:spAutoFit/>
          </a:bodyPr>
          <a:lstStyle/>
          <a:p>
            <a:pPr algn="l">
              <a:lnSpc>
                <a:spcPct val="106000"/>
              </a:lnSpc>
              <a:spcBef>
                <a:spcPts val="0"/>
              </a:spcBef>
              <a:spcAft>
                <a:spcPts val="0"/>
              </a:spcAft>
            </a:pPr>
            <a:r>
              <a:rPr sz="1200" b="0">
                <a:solidFill>
                  <a:srgbClr val="1A1A1A"/>
                </a:solidFill>
                <a:latin typeface="Red Hat Text"/>
              </a:rPr>
              <a:t>Site → expose with a Connector → consume with a Listener → link via AccessGrant→AccessToken</a:t>
            </a:r>
          </a:p>
        </p:txBody>
      </p:sp>
      <p:sp>
        <p:nvSpPr>
          <p:cNvPr id="19" name="Rounded Rectangle 18"/>
          <p:cNvSpPr/>
          <p:nvPr/>
        </p:nvSpPr>
        <p:spPr>
          <a:xfrm>
            <a:off x="841248" y="5084064"/>
            <a:ext cx="5715000" cy="530352"/>
          </a:xfrm>
          <a:prstGeom prst="roundRect">
            <a:avLst>
              <a:gd name="adj" fmla="val 6000"/>
            </a:avLst>
          </a:prstGeom>
          <a:solidFill>
            <a:srgbClr val="F5F6F8"/>
          </a:solidFill>
          <a:ln w="12700">
            <a:solidFill>
              <a:srgbClr val="DDE1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0" name="Picture 19" descr="check_steel.png"/>
          <p:cNvPicPr>
            <a:picLocks noChangeAspect="1"/>
          </p:cNvPicPr>
          <p:nvPr/>
        </p:nvPicPr>
        <p:blipFill>
          <a:blip r:embed="rId3"/>
          <a:stretch>
            <a:fillRect/>
          </a:stretch>
        </p:blipFill>
        <p:spPr>
          <a:xfrm>
            <a:off x="987552" y="5230368"/>
            <a:ext cx="237744" cy="237744"/>
          </a:xfrm>
          <a:prstGeom prst="rect">
            <a:avLst/>
          </a:prstGeom>
        </p:spPr>
      </p:pic>
      <p:sp>
        <p:nvSpPr>
          <p:cNvPr id="21" name="TextBox 20"/>
          <p:cNvSpPr txBox="1"/>
          <p:nvPr/>
        </p:nvSpPr>
        <p:spPr>
          <a:xfrm>
            <a:off x="1353312" y="5084064"/>
            <a:ext cx="5029200" cy="530352"/>
          </a:xfrm>
          <a:prstGeom prst="rect">
            <a:avLst/>
          </a:prstGeom>
          <a:noFill/>
        </p:spPr>
        <p:txBody>
          <a:bodyPr wrap="square" anchor="ctr" lIns="0" rIns="0" tIns="0" bIns="0">
            <a:spAutoFit/>
          </a:bodyPr>
          <a:lstStyle/>
          <a:p>
            <a:pPr algn="l">
              <a:lnSpc>
                <a:spcPct val="106000"/>
              </a:lnSpc>
              <a:spcBef>
                <a:spcPts val="0"/>
              </a:spcBef>
              <a:spcAft>
                <a:spcPts val="0"/>
              </a:spcAft>
            </a:pPr>
            <a:r>
              <a:rPr sz="1200" b="0">
                <a:solidFill>
                  <a:srgbClr val="1A1A1A"/>
                </a:solidFill>
                <a:latin typeface="Red Hat Text"/>
              </a:rPr>
              <a:t>The app is UNCHANGED: it reads a remote site's service through a LOCAL name; same CRs link two clusters</a:t>
            </a:r>
          </a:p>
        </p:txBody>
      </p:sp>
      <p:sp>
        <p:nvSpPr>
          <p:cNvPr id="22" name="Rounded Rectangle 21"/>
          <p:cNvSpPr/>
          <p:nvPr/>
        </p:nvSpPr>
        <p:spPr>
          <a:xfrm>
            <a:off x="6812280" y="2670048"/>
            <a:ext cx="4538167" cy="2944368"/>
          </a:xfrm>
          <a:prstGeom prst="roundRect">
            <a:avLst>
              <a:gd name="adj" fmla="val 4000"/>
            </a:avLst>
          </a:prstGeom>
          <a:solidFill>
            <a:srgbClr val="FFFFFF"/>
          </a:solidFill>
          <a:ln w="15240">
            <a:solidFill>
              <a:srgbClr val="DDE1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ounded Rectangle 22"/>
          <p:cNvSpPr/>
          <p:nvPr/>
        </p:nvSpPr>
        <p:spPr>
          <a:xfrm>
            <a:off x="7013448" y="2871216"/>
            <a:ext cx="1298448" cy="310896"/>
          </a:xfrm>
          <a:prstGeom prst="roundRect">
            <a:avLst>
              <a:gd name="adj" fmla="val 50000"/>
            </a:avLst>
          </a:prstGeom>
          <a:solidFill>
            <a:srgbClr val="FCEC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7013448" y="2871216"/>
            <a:ext cx="1298448" cy="310896"/>
          </a:xfrm>
          <a:prstGeom prst="rect">
            <a:avLst/>
          </a:prstGeom>
          <a:noFill/>
        </p:spPr>
        <p:txBody>
          <a:bodyPr wrap="none" anchor="ctr" lIns="0" rIns="0" tIns="0" bIns="0">
            <a:spAutoFit/>
          </a:bodyPr>
          <a:lstStyle/>
          <a:p>
            <a:pPr algn="ctr">
              <a:lnSpc>
                <a:spcPct val="106000"/>
              </a:lnSpc>
              <a:spcBef>
                <a:spcPts val="0"/>
              </a:spcBef>
              <a:spcAft>
                <a:spcPts val="0"/>
              </a:spcAft>
            </a:pPr>
            <a:r>
              <a:rPr sz="850" b="1">
                <a:solidFill>
                  <a:srgbClr val="B80000"/>
                </a:solidFill>
                <a:latin typeface="Red Hat Display"/>
              </a:rPr>
              <a:t>MEDIA PASS</a:t>
            </a:r>
          </a:p>
        </p:txBody>
      </p:sp>
      <p:pic>
        <p:nvPicPr>
          <p:cNvPr id="25" name="Picture 24" descr="eye_slate.png"/>
          <p:cNvPicPr>
            <a:picLocks noChangeAspect="1"/>
          </p:cNvPicPr>
          <p:nvPr/>
        </p:nvPicPr>
        <p:blipFill>
          <a:blip r:embed="rId4"/>
          <a:stretch>
            <a:fillRect/>
          </a:stretch>
        </p:blipFill>
        <p:spPr>
          <a:xfrm>
            <a:off x="8843619" y="3383280"/>
            <a:ext cx="475488" cy="475488"/>
          </a:xfrm>
          <a:prstGeom prst="rect">
            <a:avLst/>
          </a:prstGeom>
        </p:spPr>
      </p:pic>
      <p:sp>
        <p:nvSpPr>
          <p:cNvPr id="26" name="TextBox 25"/>
          <p:cNvSpPr txBox="1"/>
          <p:nvPr/>
        </p:nvSpPr>
        <p:spPr>
          <a:xfrm>
            <a:off x="7050024" y="3995928"/>
            <a:ext cx="4062679" cy="1481328"/>
          </a:xfrm>
          <a:prstGeom prst="rect">
            <a:avLst/>
          </a:prstGeom>
          <a:noFill/>
        </p:spPr>
        <p:txBody>
          <a:bodyPr wrap="square" anchor="t" lIns="0" rIns="0" tIns="0" bIns="0">
            <a:spAutoFit/>
          </a:bodyPr>
          <a:lstStyle/>
          <a:p>
            <a:pPr algn="l">
              <a:lnSpc>
                <a:spcPct val="120000"/>
              </a:lnSpc>
              <a:spcBef>
                <a:spcPts val="0"/>
              </a:spcBef>
              <a:spcAft>
                <a:spcPts val="0"/>
              </a:spcAft>
            </a:pPr>
            <a:r>
              <a:rPr sz="950" b="0">
                <a:solidFill>
                  <a:srgbClr val="8A9099"/>
                </a:solidFill>
                <a:latin typeface="Red Hat Text"/>
              </a:rPr>
              <a:t>The RHSI VAN diagram (concept slide 4 asset): left "Site: DC-A" with a claims client → a Listener chip "claims-remote:8080"; center a "Virtual Application Network (mutual-TLS L7)" cloud with a Link token "AccessGrant→AccessToken"; right "Site: DC-B" with a Connector chip "selector app=parasol-claims" → a claims cylinder "SITE=B." A [ADD-ON] ribbon corner-tag. Footer: "DC-A reads DC-B's service through a local address — app unchanged, no VPN."</a:t>
            </a:r>
          </a:p>
        </p:txBody>
      </p:sp>
      <p:cxnSp>
        <p:nvCxnSpPr>
          <p:cNvPr id="27" name="Connector 26"/>
          <p:cNvCxnSpPr/>
          <p:nvPr/>
        </p:nvCxnSpPr>
        <p:spPr>
          <a:xfrm>
            <a:off x="841248" y="6437376"/>
            <a:ext cx="10509199" cy="0"/>
          </a:xfrm>
          <a:prstGeom prst="bentConnector3">
            <a:avLst/>
          </a:prstGeom>
          <a:ln w="12700">
            <a:solidFill>
              <a:srgbClr val="DDE1E6"/>
            </a:solidFill>
          </a:ln>
          <a:effectLst/>
        </p:spPr>
        <p:style>
          <a:lnRef idx="2">
            <a:schemeClr val="accent1"/>
          </a:lnRef>
          <a:fillRef idx="0">
            <a:schemeClr val="accent1"/>
          </a:fillRef>
          <a:effectRef idx="1">
            <a:schemeClr val="accent1"/>
          </a:effectRef>
          <a:fontRef idx="minor">
            <a:schemeClr val="tx1"/>
          </a:fontRef>
        </p:style>
      </p:cxnSp>
      <p:sp>
        <p:nvSpPr>
          <p:cNvPr id="28" name="TextBox 27"/>
          <p:cNvSpPr txBox="1"/>
          <p:nvPr/>
        </p:nvSpPr>
        <p:spPr>
          <a:xfrm>
            <a:off x="841248" y="6473952"/>
            <a:ext cx="7315200" cy="274320"/>
          </a:xfrm>
          <a:prstGeom prst="rect">
            <a:avLst/>
          </a:prstGeom>
          <a:noFill/>
        </p:spPr>
        <p:txBody>
          <a:bodyPr wrap="square" anchor="t" lIns="0" rIns="0" tIns="0" bIns="0">
            <a:spAutoFit/>
          </a:bodyPr>
          <a:lstStyle/>
          <a:p>
            <a:pPr algn="l">
              <a:lnSpc>
                <a:spcPct val="106000"/>
              </a:lnSpc>
              <a:spcBef>
                <a:spcPts val="0"/>
              </a:spcBef>
              <a:spcAft>
                <a:spcPts val="0"/>
              </a:spcAft>
            </a:pPr>
            <a:r>
              <a:rPr sz="950" b="0">
                <a:solidFill>
                  <a:srgbClr val="8A9099"/>
                </a:solidFill>
                <a:latin typeface="Red Hat Text"/>
              </a:rPr>
              <a:t>CONFIDENTIAL</a:t>
            </a:r>
          </a:p>
        </p:txBody>
      </p:sp>
      <p:sp>
        <p:nvSpPr>
          <p:cNvPr id="29" name="TextBox 28"/>
          <p:cNvSpPr txBox="1"/>
          <p:nvPr/>
        </p:nvSpPr>
        <p:spPr>
          <a:xfrm>
            <a:off x="10801807" y="6473952"/>
            <a:ext cx="548640" cy="274320"/>
          </a:xfrm>
          <a:prstGeom prst="rect">
            <a:avLst/>
          </a:prstGeom>
          <a:noFill/>
        </p:spPr>
        <p:txBody>
          <a:bodyPr wrap="square" anchor="t" lIns="0" rIns="0" tIns="0" bIns="0">
            <a:spAutoFit/>
          </a:bodyPr>
          <a:lstStyle/>
          <a:p>
            <a:pPr algn="r">
              <a:lnSpc>
                <a:spcPct val="106000"/>
              </a:lnSpc>
              <a:spcBef>
                <a:spcPts val="0"/>
              </a:spcBef>
              <a:spcAft>
                <a:spcPts val="0"/>
              </a:spcAft>
            </a:pPr>
            <a:r>
              <a:rPr sz="950" b="0">
                <a:solidFill>
                  <a:srgbClr val="8A9099"/>
                </a:solidFill>
                <a:latin typeface="Red Hat Text"/>
              </a:rPr>
              <a:t>162</a:t>
            </a:r>
          </a:p>
        </p:txBody>
      </p:sp>
    </p:spTree>
  </p:cSld>
  <p:clrMapOvr>
    <a:masterClrMapping/>
  </p:clrMapOvr>
</p:sld>
</file>

<file path=ppt/slides/slide18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redhat_logo.jpg"/>
          <p:cNvPicPr>
            <a:picLocks noChangeAspect="1"/>
          </p:cNvPicPr>
          <p:nvPr/>
        </p:nvPicPr>
        <p:blipFill>
          <a:blip r:embed="rId2"/>
          <a:stretch>
            <a:fillRect/>
          </a:stretch>
        </p:blipFill>
        <p:spPr>
          <a:xfrm>
            <a:off x="10326319" y="475488"/>
            <a:ext cx="1024128" cy="242248"/>
          </a:xfrm>
          <a:prstGeom prst="rect">
            <a:avLst/>
          </a:prstGeom>
        </p:spPr>
      </p:pic>
      <p:sp>
        <p:nvSpPr>
          <p:cNvPr id="3" name="TextBox 2"/>
          <p:cNvSpPr txBox="1"/>
          <p:nvPr/>
        </p:nvSpPr>
        <p:spPr>
          <a:xfrm>
            <a:off x="841248" y="548640"/>
            <a:ext cx="8595360" cy="274320"/>
          </a:xfrm>
          <a:prstGeom prst="rect">
            <a:avLst/>
          </a:prstGeom>
          <a:noFill/>
        </p:spPr>
        <p:txBody>
          <a:bodyPr wrap="square" anchor="t" lIns="0" rIns="0" tIns="0" bIns="0">
            <a:spAutoFit/>
          </a:bodyPr>
          <a:lstStyle/>
          <a:p>
            <a:pPr algn="l">
              <a:lnSpc>
                <a:spcPct val="106000"/>
              </a:lnSpc>
              <a:spcBef>
                <a:spcPts val="0"/>
              </a:spcBef>
              <a:spcAft>
                <a:spcPts val="0"/>
              </a:spcAft>
            </a:pPr>
            <a:r>
              <a:rPr sz="1250" b="1" spc="220">
                <a:solidFill>
                  <a:srgbClr val="EE0000"/>
                </a:solidFill>
                <a:latin typeface="Red Hat Display"/>
              </a:rPr>
              <a:t>M22 · RESILIENCE, MULTI-CLUSTER &amp; DR</a:t>
            </a:r>
          </a:p>
        </p:txBody>
      </p:sp>
      <p:sp>
        <p:nvSpPr>
          <p:cNvPr id="4" name="TextBox 3"/>
          <p:cNvSpPr txBox="1"/>
          <p:nvPr/>
        </p:nvSpPr>
        <p:spPr>
          <a:xfrm>
            <a:off x="841248" y="877824"/>
            <a:ext cx="10515600" cy="548640"/>
          </a:xfrm>
          <a:prstGeom prst="rect">
            <a:avLst/>
          </a:prstGeom>
          <a:noFill/>
        </p:spPr>
        <p:txBody>
          <a:bodyPr wrap="none" anchor="t" lIns="0" rIns="0" tIns="0" bIns="0">
            <a:spAutoFit/>
          </a:bodyPr>
          <a:lstStyle/>
          <a:p>
            <a:pPr algn="l">
              <a:lnSpc>
                <a:spcPct val="100000"/>
              </a:lnSpc>
              <a:spcBef>
                <a:spcPts val="0"/>
              </a:spcBef>
              <a:spcAft>
                <a:spcPts val="0"/>
              </a:spcAft>
            </a:pPr>
            <a:r>
              <a:rPr sz="2500" b="1">
                <a:solidFill>
                  <a:srgbClr val="1A1A1A"/>
                </a:solidFill>
                <a:latin typeface="Red Hat Display"/>
              </a:rPr>
              <a:t>Mesh vs RHSI + the platform's DR safety net</a:t>
            </a:r>
          </a:p>
        </p:txBody>
      </p:sp>
      <p:cxnSp>
        <p:nvCxnSpPr>
          <p:cNvPr id="5" name="Connector 4"/>
          <p:cNvCxnSpPr/>
          <p:nvPr/>
        </p:nvCxnSpPr>
        <p:spPr>
          <a:xfrm>
            <a:off x="841248" y="1554480"/>
            <a:ext cx="1371600" cy="0"/>
          </a:xfrm>
          <a:prstGeom prst="bentConnector3">
            <a:avLst/>
          </a:prstGeom>
          <a:ln w="31750">
            <a:solidFill>
              <a:srgbClr val="EE0000"/>
            </a:solidFill>
          </a:ln>
          <a:effectLst/>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841248" y="1664208"/>
            <a:ext cx="10515600" cy="365760"/>
          </a:xfrm>
          <a:prstGeom prst="rect">
            <a:avLst/>
          </a:prstGeom>
          <a:noFill/>
        </p:spPr>
        <p:txBody>
          <a:bodyPr wrap="square" anchor="t" lIns="0" rIns="0" tIns="0" bIns="0">
            <a:spAutoFit/>
          </a:bodyPr>
          <a:lstStyle/>
          <a:p>
            <a:pPr algn="l">
              <a:lnSpc>
                <a:spcPct val="106000"/>
              </a:lnSpc>
              <a:spcBef>
                <a:spcPts val="0"/>
              </a:spcBef>
              <a:spcAft>
                <a:spcPts val="0"/>
              </a:spcAft>
            </a:pPr>
            <a:r>
              <a:rPr sz="1350" b="0">
                <a:solidFill>
                  <a:srgbClr val="555960"/>
                </a:solidFill>
                <a:latin typeface="Red Hat Text"/>
              </a:rPr>
              <a:t>(OADP + GitOps)</a:t>
            </a:r>
          </a:p>
        </p:txBody>
      </p:sp>
      <p:sp>
        <p:nvSpPr>
          <p:cNvPr id="7" name="Rounded Rectangle 6"/>
          <p:cNvSpPr/>
          <p:nvPr/>
        </p:nvSpPr>
        <p:spPr>
          <a:xfrm>
            <a:off x="841248" y="2670048"/>
            <a:ext cx="5715000" cy="530352"/>
          </a:xfrm>
          <a:prstGeom prst="roundRect">
            <a:avLst>
              <a:gd name="adj" fmla="val 6000"/>
            </a:avLst>
          </a:prstGeom>
          <a:solidFill>
            <a:srgbClr val="F5F6F8"/>
          </a:solidFill>
          <a:ln w="12700">
            <a:solidFill>
              <a:srgbClr val="DDE1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check_steel.png"/>
          <p:cNvPicPr>
            <a:picLocks noChangeAspect="1"/>
          </p:cNvPicPr>
          <p:nvPr/>
        </p:nvPicPr>
        <p:blipFill>
          <a:blip r:embed="rId3"/>
          <a:stretch>
            <a:fillRect/>
          </a:stretch>
        </p:blipFill>
        <p:spPr>
          <a:xfrm>
            <a:off x="987552" y="2816352"/>
            <a:ext cx="237744" cy="237744"/>
          </a:xfrm>
          <a:prstGeom prst="rect">
            <a:avLst/>
          </a:prstGeom>
        </p:spPr>
      </p:pic>
      <p:sp>
        <p:nvSpPr>
          <p:cNvPr id="9" name="TextBox 8"/>
          <p:cNvSpPr txBox="1"/>
          <p:nvPr/>
        </p:nvSpPr>
        <p:spPr>
          <a:xfrm>
            <a:off x="1353312" y="2670048"/>
            <a:ext cx="5029200" cy="530352"/>
          </a:xfrm>
          <a:prstGeom prst="rect">
            <a:avLst/>
          </a:prstGeom>
          <a:noFill/>
        </p:spPr>
        <p:txBody>
          <a:bodyPr wrap="square" anchor="ctr" lIns="0" rIns="0" tIns="0" bIns="0">
            <a:spAutoFit/>
          </a:bodyPr>
          <a:lstStyle/>
          <a:p>
            <a:pPr algn="l">
              <a:lnSpc>
                <a:spcPct val="106000"/>
              </a:lnSpc>
              <a:spcBef>
                <a:spcPts val="0"/>
              </a:spcBef>
              <a:spcAft>
                <a:spcPts val="0"/>
              </a:spcAft>
            </a:pPr>
            <a:r>
              <a:rPr sz="1200" b="0">
                <a:solidFill>
                  <a:srgbClr val="1A1A1A"/>
                </a:solidFill>
                <a:latin typeface="Red Hat Text"/>
              </a:rPr>
              <a:t>MESH = in-cluster traffic policy + cross-site FAILOVER (your job) · RHSI = cross-site CONNECTIVITY fabric (your job)</a:t>
            </a:r>
          </a:p>
        </p:txBody>
      </p:sp>
      <p:sp>
        <p:nvSpPr>
          <p:cNvPr id="10" name="Rounded Rectangle 9"/>
          <p:cNvSpPr/>
          <p:nvPr/>
        </p:nvSpPr>
        <p:spPr>
          <a:xfrm>
            <a:off x="841248" y="3273552"/>
            <a:ext cx="5715000" cy="530352"/>
          </a:xfrm>
          <a:prstGeom prst="roundRect">
            <a:avLst>
              <a:gd name="adj" fmla="val 6000"/>
            </a:avLst>
          </a:prstGeom>
          <a:solidFill>
            <a:srgbClr val="F5F6F8"/>
          </a:solidFill>
          <a:ln w="12700">
            <a:solidFill>
              <a:srgbClr val="DDE1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1" name="Picture 10" descr="check_steel.png"/>
          <p:cNvPicPr>
            <a:picLocks noChangeAspect="1"/>
          </p:cNvPicPr>
          <p:nvPr/>
        </p:nvPicPr>
        <p:blipFill>
          <a:blip r:embed="rId3"/>
          <a:stretch>
            <a:fillRect/>
          </a:stretch>
        </p:blipFill>
        <p:spPr>
          <a:xfrm>
            <a:off x="987552" y="3419856"/>
            <a:ext cx="237744" cy="237744"/>
          </a:xfrm>
          <a:prstGeom prst="rect">
            <a:avLst/>
          </a:prstGeom>
        </p:spPr>
      </p:pic>
      <p:sp>
        <p:nvSpPr>
          <p:cNvPr id="12" name="TextBox 11"/>
          <p:cNvSpPr txBox="1"/>
          <p:nvPr/>
        </p:nvSpPr>
        <p:spPr>
          <a:xfrm>
            <a:off x="1353312" y="3273552"/>
            <a:ext cx="5029200" cy="530352"/>
          </a:xfrm>
          <a:prstGeom prst="rect">
            <a:avLst/>
          </a:prstGeom>
          <a:noFill/>
        </p:spPr>
        <p:txBody>
          <a:bodyPr wrap="square" anchor="ctr" lIns="0" rIns="0" tIns="0" bIns="0">
            <a:spAutoFit/>
          </a:bodyPr>
          <a:lstStyle/>
          <a:p>
            <a:pPr algn="l">
              <a:lnSpc>
                <a:spcPct val="106000"/>
              </a:lnSpc>
              <a:spcBef>
                <a:spcPts val="0"/>
              </a:spcBef>
              <a:spcAft>
                <a:spcPts val="0"/>
              </a:spcAft>
            </a:pPr>
            <a:r>
              <a:rPr sz="1200" b="0">
                <a:solidFill>
                  <a:srgbClr val="1A1A1A"/>
                </a:solidFill>
                <a:latin typeface="Red Hat Text"/>
              </a:rPr>
              <a:t>Underneath: the platform's DR NET for catastrophes even failover can't cover</a:t>
            </a:r>
          </a:p>
        </p:txBody>
      </p:sp>
      <p:sp>
        <p:nvSpPr>
          <p:cNvPr id="13" name="Rounded Rectangle 12"/>
          <p:cNvSpPr/>
          <p:nvPr/>
        </p:nvSpPr>
        <p:spPr>
          <a:xfrm>
            <a:off x="841248" y="3877056"/>
            <a:ext cx="5715000" cy="530352"/>
          </a:xfrm>
          <a:prstGeom prst="roundRect">
            <a:avLst>
              <a:gd name="adj" fmla="val 6000"/>
            </a:avLst>
          </a:prstGeom>
          <a:solidFill>
            <a:srgbClr val="F5F6F8"/>
          </a:solidFill>
          <a:ln w="12700">
            <a:solidFill>
              <a:srgbClr val="DDE1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4" name="Picture 13" descr="check_steel.png"/>
          <p:cNvPicPr>
            <a:picLocks noChangeAspect="1"/>
          </p:cNvPicPr>
          <p:nvPr/>
        </p:nvPicPr>
        <p:blipFill>
          <a:blip r:embed="rId3"/>
          <a:stretch>
            <a:fillRect/>
          </a:stretch>
        </p:blipFill>
        <p:spPr>
          <a:xfrm>
            <a:off x="987552" y="4023360"/>
            <a:ext cx="237744" cy="237744"/>
          </a:xfrm>
          <a:prstGeom prst="rect">
            <a:avLst/>
          </a:prstGeom>
        </p:spPr>
      </p:pic>
      <p:sp>
        <p:nvSpPr>
          <p:cNvPr id="15" name="TextBox 14"/>
          <p:cNvSpPr txBox="1"/>
          <p:nvPr/>
        </p:nvSpPr>
        <p:spPr>
          <a:xfrm>
            <a:off x="1353312" y="3877056"/>
            <a:ext cx="5029200" cy="530352"/>
          </a:xfrm>
          <a:prstGeom prst="rect">
            <a:avLst/>
          </a:prstGeom>
          <a:noFill/>
        </p:spPr>
        <p:txBody>
          <a:bodyPr wrap="square" anchor="ctr" lIns="0" rIns="0" tIns="0" bIns="0">
            <a:spAutoFit/>
          </a:bodyPr>
          <a:lstStyle/>
          <a:p>
            <a:pPr algn="l">
              <a:lnSpc>
                <a:spcPct val="106000"/>
              </a:lnSpc>
              <a:spcBef>
                <a:spcPts val="0"/>
              </a:spcBef>
              <a:spcAft>
                <a:spcPts val="0"/>
              </a:spcAft>
            </a:pPr>
            <a:r>
              <a:rPr sz="1200" b="0">
                <a:solidFill>
                  <a:srgbClr val="1A1A1A"/>
                </a:solidFill>
                <a:latin typeface="Red Hat Text"/>
              </a:rPr>
              <a:t>OADP (OpenShift API for Data Protection): backup/restore of objects AND persistent-volume DATA — a platform op</a:t>
            </a:r>
          </a:p>
        </p:txBody>
      </p:sp>
      <p:sp>
        <p:nvSpPr>
          <p:cNvPr id="16" name="Rounded Rectangle 15"/>
          <p:cNvSpPr/>
          <p:nvPr/>
        </p:nvSpPr>
        <p:spPr>
          <a:xfrm>
            <a:off x="841248" y="4480560"/>
            <a:ext cx="5715000" cy="530352"/>
          </a:xfrm>
          <a:prstGeom prst="roundRect">
            <a:avLst>
              <a:gd name="adj" fmla="val 6000"/>
            </a:avLst>
          </a:prstGeom>
          <a:solidFill>
            <a:srgbClr val="F5F6F8"/>
          </a:solidFill>
          <a:ln w="12700">
            <a:solidFill>
              <a:srgbClr val="DDE1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7" name="Picture 16" descr="check_steel.png"/>
          <p:cNvPicPr>
            <a:picLocks noChangeAspect="1"/>
          </p:cNvPicPr>
          <p:nvPr/>
        </p:nvPicPr>
        <p:blipFill>
          <a:blip r:embed="rId3"/>
          <a:stretch>
            <a:fillRect/>
          </a:stretch>
        </p:blipFill>
        <p:spPr>
          <a:xfrm>
            <a:off x="987552" y="4626864"/>
            <a:ext cx="237744" cy="237744"/>
          </a:xfrm>
          <a:prstGeom prst="rect">
            <a:avLst/>
          </a:prstGeom>
        </p:spPr>
      </p:pic>
      <p:sp>
        <p:nvSpPr>
          <p:cNvPr id="18" name="TextBox 17"/>
          <p:cNvSpPr txBox="1"/>
          <p:nvPr/>
        </p:nvSpPr>
        <p:spPr>
          <a:xfrm>
            <a:off x="1353312" y="4480560"/>
            <a:ext cx="5029200" cy="530352"/>
          </a:xfrm>
          <a:prstGeom prst="rect">
            <a:avLst/>
          </a:prstGeom>
          <a:noFill/>
        </p:spPr>
        <p:txBody>
          <a:bodyPr wrap="square" anchor="ctr" lIns="0" rIns="0" tIns="0" bIns="0">
            <a:spAutoFit/>
          </a:bodyPr>
          <a:lstStyle/>
          <a:p>
            <a:pPr algn="l">
              <a:lnSpc>
                <a:spcPct val="106000"/>
              </a:lnSpc>
              <a:spcBef>
                <a:spcPts val="0"/>
              </a:spcBef>
              <a:spcAft>
                <a:spcPts val="0"/>
              </a:spcAft>
            </a:pPr>
            <a:r>
              <a:rPr sz="1200" b="0">
                <a:solidFill>
                  <a:srgbClr val="1A1A1A"/>
                </a:solidFill>
                <a:latin typeface="Red Hat Text"/>
              </a:rPr>
              <a:t>GitOps re-materialization (GitOps at Scale): declare the platform in Git → Argo rebuilds it anywhere in minutes</a:t>
            </a:r>
          </a:p>
        </p:txBody>
      </p:sp>
      <p:sp>
        <p:nvSpPr>
          <p:cNvPr id="19" name="Rounded Rectangle 18"/>
          <p:cNvSpPr/>
          <p:nvPr/>
        </p:nvSpPr>
        <p:spPr>
          <a:xfrm>
            <a:off x="841248" y="5084064"/>
            <a:ext cx="5715000" cy="530352"/>
          </a:xfrm>
          <a:prstGeom prst="roundRect">
            <a:avLst>
              <a:gd name="adj" fmla="val 6000"/>
            </a:avLst>
          </a:prstGeom>
          <a:solidFill>
            <a:srgbClr val="F5F6F8"/>
          </a:solidFill>
          <a:ln w="12700">
            <a:solidFill>
              <a:srgbClr val="DDE1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0" name="Picture 19" descr="check_steel.png"/>
          <p:cNvPicPr>
            <a:picLocks noChangeAspect="1"/>
          </p:cNvPicPr>
          <p:nvPr/>
        </p:nvPicPr>
        <p:blipFill>
          <a:blip r:embed="rId3"/>
          <a:stretch>
            <a:fillRect/>
          </a:stretch>
        </p:blipFill>
        <p:spPr>
          <a:xfrm>
            <a:off x="987552" y="5230368"/>
            <a:ext cx="237744" cy="237744"/>
          </a:xfrm>
          <a:prstGeom prst="rect">
            <a:avLst/>
          </a:prstGeom>
        </p:spPr>
      </p:pic>
      <p:sp>
        <p:nvSpPr>
          <p:cNvPr id="21" name="TextBox 20"/>
          <p:cNvSpPr txBox="1"/>
          <p:nvPr/>
        </p:nvSpPr>
        <p:spPr>
          <a:xfrm>
            <a:off x="1353312" y="5084064"/>
            <a:ext cx="5029200" cy="530352"/>
          </a:xfrm>
          <a:prstGeom prst="rect">
            <a:avLst/>
          </a:prstGeom>
          <a:noFill/>
        </p:spPr>
        <p:txBody>
          <a:bodyPr wrap="square" anchor="ctr" lIns="0" rIns="0" tIns="0" bIns="0">
            <a:spAutoFit/>
          </a:bodyPr>
          <a:lstStyle/>
          <a:p>
            <a:pPr algn="l">
              <a:lnSpc>
                <a:spcPct val="106000"/>
              </a:lnSpc>
              <a:spcBef>
                <a:spcPts val="0"/>
              </a:spcBef>
              <a:spcAft>
                <a:spcPts val="0"/>
              </a:spcAft>
            </a:pPr>
            <a:r>
              <a:rPr sz="1200" b="0">
                <a:solidFill>
                  <a:srgbClr val="1A1A1A"/>
                </a:solidFill>
                <a:latin typeface="Red Hat Text"/>
              </a:rPr>
              <a:t>The honest split: the platform HAS YOUR BACK for DR; YOUR job is to design for resiliency + failover</a:t>
            </a:r>
          </a:p>
        </p:txBody>
      </p:sp>
      <p:sp>
        <p:nvSpPr>
          <p:cNvPr id="22" name="Rounded Rectangle 21"/>
          <p:cNvSpPr/>
          <p:nvPr/>
        </p:nvSpPr>
        <p:spPr>
          <a:xfrm>
            <a:off x="6812280" y="2670048"/>
            <a:ext cx="4538167" cy="2944368"/>
          </a:xfrm>
          <a:prstGeom prst="roundRect">
            <a:avLst>
              <a:gd name="adj" fmla="val 4000"/>
            </a:avLst>
          </a:prstGeom>
          <a:solidFill>
            <a:srgbClr val="FFFFFF"/>
          </a:solidFill>
          <a:ln w="15240">
            <a:solidFill>
              <a:srgbClr val="DDE1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ounded Rectangle 22"/>
          <p:cNvSpPr/>
          <p:nvPr/>
        </p:nvSpPr>
        <p:spPr>
          <a:xfrm>
            <a:off x="7013448" y="2871216"/>
            <a:ext cx="1298448" cy="310896"/>
          </a:xfrm>
          <a:prstGeom prst="roundRect">
            <a:avLst>
              <a:gd name="adj" fmla="val 50000"/>
            </a:avLst>
          </a:prstGeom>
          <a:solidFill>
            <a:srgbClr val="FCEC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7013448" y="2871216"/>
            <a:ext cx="1298448" cy="310896"/>
          </a:xfrm>
          <a:prstGeom prst="rect">
            <a:avLst/>
          </a:prstGeom>
          <a:noFill/>
        </p:spPr>
        <p:txBody>
          <a:bodyPr wrap="none" anchor="ctr" lIns="0" rIns="0" tIns="0" bIns="0">
            <a:spAutoFit/>
          </a:bodyPr>
          <a:lstStyle/>
          <a:p>
            <a:pPr algn="ctr">
              <a:lnSpc>
                <a:spcPct val="106000"/>
              </a:lnSpc>
              <a:spcBef>
                <a:spcPts val="0"/>
              </a:spcBef>
              <a:spcAft>
                <a:spcPts val="0"/>
              </a:spcAft>
            </a:pPr>
            <a:r>
              <a:rPr sz="850" b="1">
                <a:solidFill>
                  <a:srgbClr val="B80000"/>
                </a:solidFill>
                <a:latin typeface="Red Hat Display"/>
              </a:rPr>
              <a:t>MEDIA PASS</a:t>
            </a:r>
          </a:p>
        </p:txBody>
      </p:sp>
      <p:pic>
        <p:nvPicPr>
          <p:cNvPr id="25" name="Picture 24" descr="eye_slate.png"/>
          <p:cNvPicPr>
            <a:picLocks noChangeAspect="1"/>
          </p:cNvPicPr>
          <p:nvPr/>
        </p:nvPicPr>
        <p:blipFill>
          <a:blip r:embed="rId4"/>
          <a:stretch>
            <a:fillRect/>
          </a:stretch>
        </p:blipFill>
        <p:spPr>
          <a:xfrm>
            <a:off x="8843619" y="3383280"/>
            <a:ext cx="475488" cy="475488"/>
          </a:xfrm>
          <a:prstGeom prst="rect">
            <a:avLst/>
          </a:prstGeom>
        </p:spPr>
      </p:pic>
      <p:sp>
        <p:nvSpPr>
          <p:cNvPr id="26" name="TextBox 25"/>
          <p:cNvSpPr txBox="1"/>
          <p:nvPr/>
        </p:nvSpPr>
        <p:spPr>
          <a:xfrm>
            <a:off x="7050024" y="3995928"/>
            <a:ext cx="4062679" cy="1481328"/>
          </a:xfrm>
          <a:prstGeom prst="rect">
            <a:avLst/>
          </a:prstGeom>
          <a:noFill/>
        </p:spPr>
        <p:txBody>
          <a:bodyPr wrap="square" anchor="t" lIns="0" rIns="0" tIns="0" bIns="0">
            <a:spAutoFit/>
          </a:bodyPr>
          <a:lstStyle/>
          <a:p>
            <a:pPr algn="l">
              <a:lnSpc>
                <a:spcPct val="120000"/>
              </a:lnSpc>
              <a:spcBef>
                <a:spcPts val="0"/>
              </a:spcBef>
              <a:spcAft>
                <a:spcPts val="0"/>
              </a:spcAft>
            </a:pPr>
            <a:r>
              <a:rPr sz="950" b="0">
                <a:solidFill>
                  <a:srgbClr val="8A9099"/>
                </a:solidFill>
                <a:latin typeface="Red Hat Text"/>
              </a:rPr>
              <a:t>Two stacked bands. Top band "YOUR job (this lab)": two chips side by side — "Service Mesh: in-cluster policy + failover" and "RHSI: cross-site connectivity" — with a small "vs, but complementary" bracket. Bottom band "PLATFORM's job (concept — the DR net)": three chips — "OADP: restore the DATA," "GitOps: re-materialize the PLATFORM (GitOps at Scale)," "ACM: fleet-scale (mention)." A dashed arrow from the top band down to the bottom labeled "catastrophe beyond failover → the net catches it."</a:t>
            </a:r>
          </a:p>
        </p:txBody>
      </p:sp>
      <p:cxnSp>
        <p:nvCxnSpPr>
          <p:cNvPr id="27" name="Connector 26"/>
          <p:cNvCxnSpPr/>
          <p:nvPr/>
        </p:nvCxnSpPr>
        <p:spPr>
          <a:xfrm>
            <a:off x="841248" y="6437376"/>
            <a:ext cx="10509199" cy="0"/>
          </a:xfrm>
          <a:prstGeom prst="bentConnector3">
            <a:avLst/>
          </a:prstGeom>
          <a:ln w="12700">
            <a:solidFill>
              <a:srgbClr val="DDE1E6"/>
            </a:solidFill>
          </a:ln>
          <a:effectLst/>
        </p:spPr>
        <p:style>
          <a:lnRef idx="2">
            <a:schemeClr val="accent1"/>
          </a:lnRef>
          <a:fillRef idx="0">
            <a:schemeClr val="accent1"/>
          </a:fillRef>
          <a:effectRef idx="1">
            <a:schemeClr val="accent1"/>
          </a:effectRef>
          <a:fontRef idx="minor">
            <a:schemeClr val="tx1"/>
          </a:fontRef>
        </p:style>
      </p:cxnSp>
      <p:sp>
        <p:nvSpPr>
          <p:cNvPr id="28" name="TextBox 27"/>
          <p:cNvSpPr txBox="1"/>
          <p:nvPr/>
        </p:nvSpPr>
        <p:spPr>
          <a:xfrm>
            <a:off x="841248" y="6473952"/>
            <a:ext cx="7315200" cy="274320"/>
          </a:xfrm>
          <a:prstGeom prst="rect">
            <a:avLst/>
          </a:prstGeom>
          <a:noFill/>
        </p:spPr>
        <p:txBody>
          <a:bodyPr wrap="square" anchor="t" lIns="0" rIns="0" tIns="0" bIns="0">
            <a:spAutoFit/>
          </a:bodyPr>
          <a:lstStyle/>
          <a:p>
            <a:pPr algn="l">
              <a:lnSpc>
                <a:spcPct val="106000"/>
              </a:lnSpc>
              <a:spcBef>
                <a:spcPts val="0"/>
              </a:spcBef>
              <a:spcAft>
                <a:spcPts val="0"/>
              </a:spcAft>
            </a:pPr>
            <a:r>
              <a:rPr sz="950" b="0">
                <a:solidFill>
                  <a:srgbClr val="8A9099"/>
                </a:solidFill>
                <a:latin typeface="Red Hat Text"/>
              </a:rPr>
              <a:t>CONFIDENTIAL</a:t>
            </a:r>
          </a:p>
        </p:txBody>
      </p:sp>
      <p:sp>
        <p:nvSpPr>
          <p:cNvPr id="29" name="TextBox 28"/>
          <p:cNvSpPr txBox="1"/>
          <p:nvPr/>
        </p:nvSpPr>
        <p:spPr>
          <a:xfrm>
            <a:off x="10801807" y="6473952"/>
            <a:ext cx="548640" cy="274320"/>
          </a:xfrm>
          <a:prstGeom prst="rect">
            <a:avLst/>
          </a:prstGeom>
          <a:noFill/>
        </p:spPr>
        <p:txBody>
          <a:bodyPr wrap="square" anchor="t" lIns="0" rIns="0" tIns="0" bIns="0">
            <a:spAutoFit/>
          </a:bodyPr>
          <a:lstStyle/>
          <a:p>
            <a:pPr algn="r">
              <a:lnSpc>
                <a:spcPct val="106000"/>
              </a:lnSpc>
              <a:spcBef>
                <a:spcPts val="0"/>
              </a:spcBef>
              <a:spcAft>
                <a:spcPts val="0"/>
              </a:spcAft>
            </a:pPr>
            <a:r>
              <a:rPr sz="950" b="0">
                <a:solidFill>
                  <a:srgbClr val="8A9099"/>
                </a:solidFill>
                <a:latin typeface="Red Hat Text"/>
              </a:rPr>
              <a:t>163</a:t>
            </a:r>
          </a:p>
        </p:txBody>
      </p:sp>
    </p:spTree>
  </p:cSld>
  <p:clrMapOvr>
    <a:masterClrMapping/>
  </p:clrMapOvr>
</p:sld>
</file>

<file path=ppt/slides/slide18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redhat_logo.jpg"/>
          <p:cNvPicPr>
            <a:picLocks noChangeAspect="1"/>
          </p:cNvPicPr>
          <p:nvPr/>
        </p:nvPicPr>
        <p:blipFill>
          <a:blip r:embed="rId2"/>
          <a:stretch>
            <a:fillRect/>
          </a:stretch>
        </p:blipFill>
        <p:spPr>
          <a:xfrm>
            <a:off x="10326319" y="475488"/>
            <a:ext cx="1024128" cy="242248"/>
          </a:xfrm>
          <a:prstGeom prst="rect">
            <a:avLst/>
          </a:prstGeom>
        </p:spPr>
      </p:pic>
      <p:sp>
        <p:nvSpPr>
          <p:cNvPr id="3" name="TextBox 2"/>
          <p:cNvSpPr txBox="1"/>
          <p:nvPr/>
        </p:nvSpPr>
        <p:spPr>
          <a:xfrm>
            <a:off x="841248" y="548640"/>
            <a:ext cx="8595360" cy="274320"/>
          </a:xfrm>
          <a:prstGeom prst="rect">
            <a:avLst/>
          </a:prstGeom>
          <a:noFill/>
        </p:spPr>
        <p:txBody>
          <a:bodyPr wrap="square" anchor="t" lIns="0" rIns="0" tIns="0" bIns="0">
            <a:spAutoFit/>
          </a:bodyPr>
          <a:lstStyle/>
          <a:p>
            <a:pPr algn="l">
              <a:lnSpc>
                <a:spcPct val="106000"/>
              </a:lnSpc>
              <a:spcBef>
                <a:spcPts val="0"/>
              </a:spcBef>
              <a:spcAft>
                <a:spcPts val="0"/>
              </a:spcAft>
            </a:pPr>
            <a:r>
              <a:rPr sz="1250" b="1" spc="220">
                <a:solidFill>
                  <a:srgbClr val="EE0000"/>
                </a:solidFill>
                <a:latin typeface="Red Hat Display"/>
              </a:rPr>
              <a:t>M22 · RESILIENCE, MULTI-CLUSTER &amp; DR</a:t>
            </a:r>
          </a:p>
        </p:txBody>
      </p:sp>
      <p:sp>
        <p:nvSpPr>
          <p:cNvPr id="4" name="TextBox 3"/>
          <p:cNvSpPr txBox="1"/>
          <p:nvPr/>
        </p:nvSpPr>
        <p:spPr>
          <a:xfrm>
            <a:off x="841248" y="877824"/>
            <a:ext cx="10515600" cy="548640"/>
          </a:xfrm>
          <a:prstGeom prst="rect">
            <a:avLst/>
          </a:prstGeom>
          <a:noFill/>
        </p:spPr>
        <p:txBody>
          <a:bodyPr wrap="none" anchor="t" lIns="0" rIns="0" tIns="0" bIns="0">
            <a:spAutoFit/>
          </a:bodyPr>
          <a:lstStyle/>
          <a:p>
            <a:pPr algn="l">
              <a:lnSpc>
                <a:spcPct val="100000"/>
              </a:lnSpc>
              <a:spcBef>
                <a:spcPts val="0"/>
              </a:spcBef>
              <a:spcAft>
                <a:spcPts val="0"/>
              </a:spcAft>
            </a:pPr>
            <a:r>
              <a:rPr sz="2500" b="1">
                <a:solidFill>
                  <a:srgbClr val="1A1A1A"/>
                </a:solidFill>
                <a:latin typeface="Red Hat Display"/>
              </a:rPr>
              <a:t>Decision guide + map to your org</a:t>
            </a:r>
          </a:p>
        </p:txBody>
      </p:sp>
      <p:cxnSp>
        <p:nvCxnSpPr>
          <p:cNvPr id="5" name="Connector 4"/>
          <p:cNvCxnSpPr/>
          <p:nvPr/>
        </p:nvCxnSpPr>
        <p:spPr>
          <a:xfrm>
            <a:off x="841248" y="1554480"/>
            <a:ext cx="1371600" cy="0"/>
          </a:xfrm>
          <a:prstGeom prst="bentConnector3">
            <a:avLst/>
          </a:prstGeom>
          <a:ln w="31750">
            <a:solidFill>
              <a:srgbClr val="EE0000"/>
            </a:solidFill>
          </a:ln>
          <a:effectLst/>
        </p:spPr>
        <p:style>
          <a:lnRef idx="2">
            <a:schemeClr val="accent1"/>
          </a:lnRef>
          <a:fillRef idx="0">
            <a:schemeClr val="accent1"/>
          </a:fillRef>
          <a:effectRef idx="1">
            <a:schemeClr val="accent1"/>
          </a:effectRef>
          <a:fontRef idx="minor">
            <a:schemeClr val="tx1"/>
          </a:fontRef>
        </p:style>
      </p:cxnSp>
      <p:sp>
        <p:nvSpPr>
          <p:cNvPr id="6" name="Rounded Rectangle 5"/>
          <p:cNvSpPr/>
          <p:nvPr/>
        </p:nvSpPr>
        <p:spPr>
          <a:xfrm>
            <a:off x="841248" y="2395728"/>
            <a:ext cx="5715000" cy="530352"/>
          </a:xfrm>
          <a:prstGeom prst="roundRect">
            <a:avLst>
              <a:gd name="adj" fmla="val 6000"/>
            </a:avLst>
          </a:prstGeom>
          <a:solidFill>
            <a:srgbClr val="F5F6F8"/>
          </a:solidFill>
          <a:ln w="12700">
            <a:solidFill>
              <a:srgbClr val="DDE1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check_steel.png"/>
          <p:cNvPicPr>
            <a:picLocks noChangeAspect="1"/>
          </p:cNvPicPr>
          <p:nvPr/>
        </p:nvPicPr>
        <p:blipFill>
          <a:blip r:embed="rId3"/>
          <a:stretch>
            <a:fillRect/>
          </a:stretch>
        </p:blipFill>
        <p:spPr>
          <a:xfrm>
            <a:off x="987552" y="2542032"/>
            <a:ext cx="237744" cy="237744"/>
          </a:xfrm>
          <a:prstGeom prst="rect">
            <a:avLst/>
          </a:prstGeom>
        </p:spPr>
      </p:pic>
      <p:sp>
        <p:nvSpPr>
          <p:cNvPr id="8" name="TextBox 7"/>
          <p:cNvSpPr txBox="1"/>
          <p:nvPr/>
        </p:nvSpPr>
        <p:spPr>
          <a:xfrm>
            <a:off x="1353312" y="2395728"/>
            <a:ext cx="5029200" cy="530352"/>
          </a:xfrm>
          <a:prstGeom prst="rect">
            <a:avLst/>
          </a:prstGeom>
          <a:noFill/>
        </p:spPr>
        <p:txBody>
          <a:bodyPr wrap="square" anchor="ctr" lIns="0" rIns="0" tIns="0" bIns="0">
            <a:spAutoFit/>
          </a:bodyPr>
          <a:lstStyle/>
          <a:p>
            <a:pPr algn="l">
              <a:lnSpc>
                <a:spcPct val="106000"/>
              </a:lnSpc>
              <a:spcBef>
                <a:spcPts val="0"/>
              </a:spcBef>
              <a:spcAft>
                <a:spcPts val="0"/>
              </a:spcAft>
            </a:pPr>
            <a:r>
              <a:rPr sz="1200" b="0">
                <a:solidFill>
                  <a:srgbClr val="1A1A1A"/>
                </a:solidFill>
                <a:latin typeface="Red Hat Text"/>
              </a:rPr>
              <a:t>Pod/node/zone loss → replicas + PDB + spread (Observability/Deployment Targets &amp; Scheduling), NOT a second site</a:t>
            </a:r>
          </a:p>
        </p:txBody>
      </p:sp>
      <p:sp>
        <p:nvSpPr>
          <p:cNvPr id="9" name="Rounded Rectangle 8"/>
          <p:cNvSpPr/>
          <p:nvPr/>
        </p:nvSpPr>
        <p:spPr>
          <a:xfrm>
            <a:off x="841248" y="2999232"/>
            <a:ext cx="5715000" cy="530352"/>
          </a:xfrm>
          <a:prstGeom prst="roundRect">
            <a:avLst>
              <a:gd name="adj" fmla="val 6000"/>
            </a:avLst>
          </a:prstGeom>
          <a:solidFill>
            <a:srgbClr val="F5F6F8"/>
          </a:solidFill>
          <a:ln w="12700">
            <a:solidFill>
              <a:srgbClr val="DDE1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0" name="Picture 9" descr="check_steel.png"/>
          <p:cNvPicPr>
            <a:picLocks noChangeAspect="1"/>
          </p:cNvPicPr>
          <p:nvPr/>
        </p:nvPicPr>
        <p:blipFill>
          <a:blip r:embed="rId3"/>
          <a:stretch>
            <a:fillRect/>
          </a:stretch>
        </p:blipFill>
        <p:spPr>
          <a:xfrm>
            <a:off x="987552" y="3145536"/>
            <a:ext cx="237744" cy="237744"/>
          </a:xfrm>
          <a:prstGeom prst="rect">
            <a:avLst/>
          </a:prstGeom>
        </p:spPr>
      </p:pic>
      <p:sp>
        <p:nvSpPr>
          <p:cNvPr id="11" name="TextBox 10"/>
          <p:cNvSpPr txBox="1"/>
          <p:nvPr/>
        </p:nvSpPr>
        <p:spPr>
          <a:xfrm>
            <a:off x="1353312" y="2999232"/>
            <a:ext cx="5029200" cy="530352"/>
          </a:xfrm>
          <a:prstGeom prst="rect">
            <a:avLst/>
          </a:prstGeom>
          <a:noFill/>
        </p:spPr>
        <p:txBody>
          <a:bodyPr wrap="square" anchor="ctr" lIns="0" rIns="0" tIns="0" bIns="0">
            <a:spAutoFit/>
          </a:bodyPr>
          <a:lstStyle/>
          <a:p>
            <a:pPr algn="l">
              <a:lnSpc>
                <a:spcPct val="106000"/>
              </a:lnSpc>
              <a:spcBef>
                <a:spcPts val="0"/>
              </a:spcBef>
              <a:spcAft>
                <a:spcPts val="0"/>
              </a:spcAft>
            </a:pPr>
            <a:r>
              <a:rPr sz="1200" b="0">
                <a:solidFill>
                  <a:srgbClr val="1A1A1A"/>
                </a:solidFill>
                <a:latin typeface="Red Hat Text"/>
              </a:rPr>
              <a:t>A whole site/cluster lost → mesh cross-site FAILOVER, NOT more replicas in the same site</a:t>
            </a:r>
          </a:p>
        </p:txBody>
      </p:sp>
      <p:sp>
        <p:nvSpPr>
          <p:cNvPr id="12" name="Rounded Rectangle 11"/>
          <p:cNvSpPr/>
          <p:nvPr/>
        </p:nvSpPr>
        <p:spPr>
          <a:xfrm>
            <a:off x="841248" y="3602736"/>
            <a:ext cx="5715000" cy="530352"/>
          </a:xfrm>
          <a:prstGeom prst="roundRect">
            <a:avLst>
              <a:gd name="adj" fmla="val 6000"/>
            </a:avLst>
          </a:prstGeom>
          <a:solidFill>
            <a:srgbClr val="F5F6F8"/>
          </a:solidFill>
          <a:ln w="12700">
            <a:solidFill>
              <a:srgbClr val="DDE1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3" name="Picture 12" descr="check_steel.png"/>
          <p:cNvPicPr>
            <a:picLocks noChangeAspect="1"/>
          </p:cNvPicPr>
          <p:nvPr/>
        </p:nvPicPr>
        <p:blipFill>
          <a:blip r:embed="rId3"/>
          <a:stretch>
            <a:fillRect/>
          </a:stretch>
        </p:blipFill>
        <p:spPr>
          <a:xfrm>
            <a:off x="987552" y="3749040"/>
            <a:ext cx="237744" cy="237744"/>
          </a:xfrm>
          <a:prstGeom prst="rect">
            <a:avLst/>
          </a:prstGeom>
        </p:spPr>
      </p:pic>
      <p:sp>
        <p:nvSpPr>
          <p:cNvPr id="14" name="TextBox 13"/>
          <p:cNvSpPr txBox="1"/>
          <p:nvPr/>
        </p:nvSpPr>
        <p:spPr>
          <a:xfrm>
            <a:off x="1353312" y="3602736"/>
            <a:ext cx="5029200" cy="530352"/>
          </a:xfrm>
          <a:prstGeom prst="rect">
            <a:avLst/>
          </a:prstGeom>
          <a:noFill/>
        </p:spPr>
        <p:txBody>
          <a:bodyPr wrap="square" anchor="ctr" lIns="0" rIns="0" tIns="0" bIns="0">
            <a:spAutoFit/>
          </a:bodyPr>
          <a:lstStyle/>
          <a:p>
            <a:pPr algn="l">
              <a:lnSpc>
                <a:spcPct val="106000"/>
              </a:lnSpc>
              <a:spcBef>
                <a:spcPts val="0"/>
              </a:spcBef>
              <a:spcAft>
                <a:spcPts val="0"/>
              </a:spcAft>
            </a:pPr>
            <a:r>
              <a:rPr sz="1200" b="0">
                <a:solidFill>
                  <a:srgbClr val="1A1A1A"/>
                </a:solidFill>
                <a:latin typeface="Red Hat Text"/>
              </a:rPr>
              <a:t>Connect real sites/DCs with no flat network → RHSI [ADD-ON], NOT a VPN</a:t>
            </a:r>
          </a:p>
        </p:txBody>
      </p:sp>
      <p:sp>
        <p:nvSpPr>
          <p:cNvPr id="15" name="Rounded Rectangle 14"/>
          <p:cNvSpPr/>
          <p:nvPr/>
        </p:nvSpPr>
        <p:spPr>
          <a:xfrm>
            <a:off x="841248" y="4206240"/>
            <a:ext cx="5715000" cy="530352"/>
          </a:xfrm>
          <a:prstGeom prst="roundRect">
            <a:avLst>
              <a:gd name="adj" fmla="val 6000"/>
            </a:avLst>
          </a:prstGeom>
          <a:solidFill>
            <a:srgbClr val="F5F6F8"/>
          </a:solidFill>
          <a:ln w="12700">
            <a:solidFill>
              <a:srgbClr val="DDE1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6" name="Picture 15" descr="check_steel.png"/>
          <p:cNvPicPr>
            <a:picLocks noChangeAspect="1"/>
          </p:cNvPicPr>
          <p:nvPr/>
        </p:nvPicPr>
        <p:blipFill>
          <a:blip r:embed="rId3"/>
          <a:stretch>
            <a:fillRect/>
          </a:stretch>
        </p:blipFill>
        <p:spPr>
          <a:xfrm>
            <a:off x="987552" y="4352544"/>
            <a:ext cx="237744" cy="237744"/>
          </a:xfrm>
          <a:prstGeom prst="rect">
            <a:avLst/>
          </a:prstGeom>
        </p:spPr>
      </p:pic>
      <p:sp>
        <p:nvSpPr>
          <p:cNvPr id="17" name="TextBox 16"/>
          <p:cNvSpPr txBox="1"/>
          <p:nvPr/>
        </p:nvSpPr>
        <p:spPr>
          <a:xfrm>
            <a:off x="1353312" y="4206240"/>
            <a:ext cx="5029200" cy="530352"/>
          </a:xfrm>
          <a:prstGeom prst="rect">
            <a:avLst/>
          </a:prstGeom>
          <a:noFill/>
        </p:spPr>
        <p:txBody>
          <a:bodyPr wrap="square" anchor="ctr" lIns="0" rIns="0" tIns="0" bIns="0">
            <a:spAutoFit/>
          </a:bodyPr>
          <a:lstStyle/>
          <a:p>
            <a:pPr algn="l">
              <a:lnSpc>
                <a:spcPct val="106000"/>
              </a:lnSpc>
              <a:spcBef>
                <a:spcPts val="0"/>
              </a:spcBef>
              <a:spcAft>
                <a:spcPts val="0"/>
              </a:spcAft>
            </a:pPr>
            <a:r>
              <a:rPr sz="1200" b="0">
                <a:solidFill>
                  <a:srgbClr val="1A1A1A"/>
                </a:solidFill>
                <a:latin typeface="Red Hat Text"/>
              </a:rPr>
              <a:t>Destroyed/corrupt DATA → OADP restore · stand a platform up elsewhere → GitOps + OADP (GitOps at Scale)</a:t>
            </a:r>
          </a:p>
        </p:txBody>
      </p:sp>
      <p:sp>
        <p:nvSpPr>
          <p:cNvPr id="18" name="Rounded Rectangle 17"/>
          <p:cNvSpPr/>
          <p:nvPr/>
        </p:nvSpPr>
        <p:spPr>
          <a:xfrm>
            <a:off x="841248" y="4809744"/>
            <a:ext cx="5715000" cy="530352"/>
          </a:xfrm>
          <a:prstGeom prst="roundRect">
            <a:avLst>
              <a:gd name="adj" fmla="val 6000"/>
            </a:avLst>
          </a:prstGeom>
          <a:solidFill>
            <a:srgbClr val="F5F6F8"/>
          </a:solidFill>
          <a:ln w="12700">
            <a:solidFill>
              <a:srgbClr val="DDE1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9" name="Picture 18" descr="check_steel.png"/>
          <p:cNvPicPr>
            <a:picLocks noChangeAspect="1"/>
          </p:cNvPicPr>
          <p:nvPr/>
        </p:nvPicPr>
        <p:blipFill>
          <a:blip r:embed="rId3"/>
          <a:stretch>
            <a:fillRect/>
          </a:stretch>
        </p:blipFill>
        <p:spPr>
          <a:xfrm>
            <a:off x="987552" y="4956048"/>
            <a:ext cx="237744" cy="237744"/>
          </a:xfrm>
          <a:prstGeom prst="rect">
            <a:avLst/>
          </a:prstGeom>
        </p:spPr>
      </p:pic>
      <p:sp>
        <p:nvSpPr>
          <p:cNvPr id="20" name="TextBox 19"/>
          <p:cNvSpPr txBox="1"/>
          <p:nvPr/>
        </p:nvSpPr>
        <p:spPr>
          <a:xfrm>
            <a:off x="1353312" y="4809744"/>
            <a:ext cx="5029200" cy="530352"/>
          </a:xfrm>
          <a:prstGeom prst="rect">
            <a:avLst/>
          </a:prstGeom>
          <a:noFill/>
        </p:spPr>
        <p:txBody>
          <a:bodyPr wrap="square" anchor="ctr" lIns="0" rIns="0" tIns="0" bIns="0">
            <a:spAutoFit/>
          </a:bodyPr>
          <a:lstStyle/>
          <a:p>
            <a:pPr algn="l">
              <a:lnSpc>
                <a:spcPct val="106000"/>
              </a:lnSpc>
              <a:spcBef>
                <a:spcPts val="0"/>
              </a:spcBef>
              <a:spcAft>
                <a:spcPts val="0"/>
              </a:spcAft>
            </a:pPr>
            <a:r>
              <a:rPr sz="1200" b="0">
                <a:solidFill>
                  <a:srgbClr val="1A1A1A"/>
                </a:solidFill>
                <a:latin typeface="Red Hat Text"/>
              </a:rPr>
              <a:t>Map to your org: do you fail over AUTOMATICALLY? which rung does each measure absorb? where's the app/platform line?</a:t>
            </a:r>
          </a:p>
        </p:txBody>
      </p:sp>
      <p:sp>
        <p:nvSpPr>
          <p:cNvPr id="21" name="Rounded Rectangle 20"/>
          <p:cNvSpPr/>
          <p:nvPr/>
        </p:nvSpPr>
        <p:spPr>
          <a:xfrm>
            <a:off x="6812280" y="2395728"/>
            <a:ext cx="4538167" cy="2944368"/>
          </a:xfrm>
          <a:prstGeom prst="roundRect">
            <a:avLst>
              <a:gd name="adj" fmla="val 4000"/>
            </a:avLst>
          </a:prstGeom>
          <a:solidFill>
            <a:srgbClr val="FFFFFF"/>
          </a:solidFill>
          <a:ln w="15240">
            <a:solidFill>
              <a:srgbClr val="DDE1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ounded Rectangle 21"/>
          <p:cNvSpPr/>
          <p:nvPr/>
        </p:nvSpPr>
        <p:spPr>
          <a:xfrm>
            <a:off x="7013448" y="2596896"/>
            <a:ext cx="1298448" cy="310896"/>
          </a:xfrm>
          <a:prstGeom prst="roundRect">
            <a:avLst>
              <a:gd name="adj" fmla="val 50000"/>
            </a:avLst>
          </a:prstGeom>
          <a:solidFill>
            <a:srgbClr val="FCEC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7013448" y="2596896"/>
            <a:ext cx="1298448" cy="310896"/>
          </a:xfrm>
          <a:prstGeom prst="rect">
            <a:avLst/>
          </a:prstGeom>
          <a:noFill/>
        </p:spPr>
        <p:txBody>
          <a:bodyPr wrap="none" anchor="ctr" lIns="0" rIns="0" tIns="0" bIns="0">
            <a:spAutoFit/>
          </a:bodyPr>
          <a:lstStyle/>
          <a:p>
            <a:pPr algn="ctr">
              <a:lnSpc>
                <a:spcPct val="106000"/>
              </a:lnSpc>
              <a:spcBef>
                <a:spcPts val="0"/>
              </a:spcBef>
              <a:spcAft>
                <a:spcPts val="0"/>
              </a:spcAft>
            </a:pPr>
            <a:r>
              <a:rPr sz="850" b="1">
                <a:solidFill>
                  <a:srgbClr val="B80000"/>
                </a:solidFill>
                <a:latin typeface="Red Hat Display"/>
              </a:rPr>
              <a:t>MEDIA PASS</a:t>
            </a:r>
          </a:p>
        </p:txBody>
      </p:sp>
      <p:pic>
        <p:nvPicPr>
          <p:cNvPr id="24" name="Picture 23" descr="eye_slate.png"/>
          <p:cNvPicPr>
            <a:picLocks noChangeAspect="1"/>
          </p:cNvPicPr>
          <p:nvPr/>
        </p:nvPicPr>
        <p:blipFill>
          <a:blip r:embed="rId4"/>
          <a:stretch>
            <a:fillRect/>
          </a:stretch>
        </p:blipFill>
        <p:spPr>
          <a:xfrm>
            <a:off x="8843619" y="3108960"/>
            <a:ext cx="475488" cy="475488"/>
          </a:xfrm>
          <a:prstGeom prst="rect">
            <a:avLst/>
          </a:prstGeom>
        </p:spPr>
      </p:pic>
      <p:sp>
        <p:nvSpPr>
          <p:cNvPr id="25" name="TextBox 24"/>
          <p:cNvSpPr txBox="1"/>
          <p:nvPr/>
        </p:nvSpPr>
        <p:spPr>
          <a:xfrm>
            <a:off x="7050024" y="3721608"/>
            <a:ext cx="4062679" cy="1481328"/>
          </a:xfrm>
          <a:prstGeom prst="rect">
            <a:avLst/>
          </a:prstGeom>
          <a:noFill/>
        </p:spPr>
        <p:txBody>
          <a:bodyPr wrap="square" anchor="t" lIns="0" rIns="0" tIns="0" bIns="0">
            <a:spAutoFit/>
          </a:bodyPr>
          <a:lstStyle/>
          <a:p>
            <a:pPr algn="l">
              <a:lnSpc>
                <a:spcPct val="120000"/>
              </a:lnSpc>
              <a:spcBef>
                <a:spcPts val="0"/>
              </a:spcBef>
              <a:spcAft>
                <a:spcPts val="0"/>
              </a:spcAft>
            </a:pPr>
            <a:r>
              <a:rPr sz="950" b="0">
                <a:solidFill>
                  <a:srgbClr val="8A9099"/>
                </a:solidFill>
                <a:latin typeface="Red Hat Text"/>
              </a:rPr>
              <a:t>A "what's it FOR" matrix: rows = failure/need (pod-node-zone / whole site lost / connect real sites / destroyed data / lost cluster / fleet-scale), columns = "Reach for" and "Not." Right rail "Map to your org" with the three prompts as check-boxes (automatic failover? which rung? app-vs-platform line?). Bottom banner pointer: "Observability/Deployment Targets &amp; Scheduling resilience · GitOps at Scale GitOps · builds toward ACM (fleet DR)."</a:t>
            </a:r>
          </a:p>
        </p:txBody>
      </p:sp>
      <p:cxnSp>
        <p:nvCxnSpPr>
          <p:cNvPr id="26" name="Connector 25"/>
          <p:cNvCxnSpPr/>
          <p:nvPr/>
        </p:nvCxnSpPr>
        <p:spPr>
          <a:xfrm>
            <a:off x="841248" y="6437376"/>
            <a:ext cx="10509199" cy="0"/>
          </a:xfrm>
          <a:prstGeom prst="bentConnector3">
            <a:avLst/>
          </a:prstGeom>
          <a:ln w="12700">
            <a:solidFill>
              <a:srgbClr val="DDE1E6"/>
            </a:solidFill>
          </a:ln>
          <a:effectLst/>
        </p:spPr>
        <p:style>
          <a:lnRef idx="2">
            <a:schemeClr val="accent1"/>
          </a:lnRef>
          <a:fillRef idx="0">
            <a:schemeClr val="accent1"/>
          </a:fillRef>
          <a:effectRef idx="1">
            <a:schemeClr val="accent1"/>
          </a:effectRef>
          <a:fontRef idx="minor">
            <a:schemeClr val="tx1"/>
          </a:fontRef>
        </p:style>
      </p:cxnSp>
      <p:sp>
        <p:nvSpPr>
          <p:cNvPr id="27" name="TextBox 26"/>
          <p:cNvSpPr txBox="1"/>
          <p:nvPr/>
        </p:nvSpPr>
        <p:spPr>
          <a:xfrm>
            <a:off x="841248" y="6473952"/>
            <a:ext cx="7315200" cy="274320"/>
          </a:xfrm>
          <a:prstGeom prst="rect">
            <a:avLst/>
          </a:prstGeom>
          <a:noFill/>
        </p:spPr>
        <p:txBody>
          <a:bodyPr wrap="square" anchor="t" lIns="0" rIns="0" tIns="0" bIns="0">
            <a:spAutoFit/>
          </a:bodyPr>
          <a:lstStyle/>
          <a:p>
            <a:pPr algn="l">
              <a:lnSpc>
                <a:spcPct val="106000"/>
              </a:lnSpc>
              <a:spcBef>
                <a:spcPts val="0"/>
              </a:spcBef>
              <a:spcAft>
                <a:spcPts val="0"/>
              </a:spcAft>
            </a:pPr>
            <a:r>
              <a:rPr sz="950" b="0">
                <a:solidFill>
                  <a:srgbClr val="8A9099"/>
                </a:solidFill>
                <a:latin typeface="Red Hat Text"/>
              </a:rPr>
              <a:t>CONFIDENTIAL</a:t>
            </a:r>
          </a:p>
        </p:txBody>
      </p:sp>
      <p:sp>
        <p:nvSpPr>
          <p:cNvPr id="28" name="TextBox 27"/>
          <p:cNvSpPr txBox="1"/>
          <p:nvPr/>
        </p:nvSpPr>
        <p:spPr>
          <a:xfrm>
            <a:off x="10801807" y="6473952"/>
            <a:ext cx="548640" cy="274320"/>
          </a:xfrm>
          <a:prstGeom prst="rect">
            <a:avLst/>
          </a:prstGeom>
          <a:noFill/>
        </p:spPr>
        <p:txBody>
          <a:bodyPr wrap="square" anchor="t" lIns="0" rIns="0" tIns="0" bIns="0">
            <a:spAutoFit/>
          </a:bodyPr>
          <a:lstStyle/>
          <a:p>
            <a:pPr algn="r">
              <a:lnSpc>
                <a:spcPct val="106000"/>
              </a:lnSpc>
              <a:spcBef>
                <a:spcPts val="0"/>
              </a:spcBef>
              <a:spcAft>
                <a:spcPts val="0"/>
              </a:spcAft>
            </a:pPr>
            <a:r>
              <a:rPr sz="950" b="0">
                <a:solidFill>
                  <a:srgbClr val="8A9099"/>
                </a:solidFill>
                <a:latin typeface="Red Hat Text"/>
              </a:rPr>
              <a:t>164</a:t>
            </a:r>
          </a:p>
        </p:txBody>
      </p:sp>
    </p:spTree>
  </p:cSld>
  <p:clrMapOvr>
    <a:masterClrMapping/>
  </p:clrMapOvr>
</p:sld>
</file>

<file path=ppt/slides/slide18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redhat_logo.jpg"/>
          <p:cNvPicPr>
            <a:picLocks noChangeAspect="1"/>
          </p:cNvPicPr>
          <p:nvPr/>
        </p:nvPicPr>
        <p:blipFill>
          <a:blip r:embed="rId2"/>
          <a:stretch>
            <a:fillRect/>
          </a:stretch>
        </p:blipFill>
        <p:spPr>
          <a:xfrm>
            <a:off x="841248" y="731520"/>
            <a:ext cx="1554480" cy="367699"/>
          </a:xfrm>
          <a:prstGeom prst="rect">
            <a:avLst/>
          </a:prstGeom>
        </p:spPr>
      </p:pic>
      <p:sp>
        <p:nvSpPr>
          <p:cNvPr id="3" name="TextBox 2"/>
          <p:cNvSpPr txBox="1"/>
          <p:nvPr/>
        </p:nvSpPr>
        <p:spPr>
          <a:xfrm>
            <a:off x="841248" y="2514600"/>
            <a:ext cx="9601200" cy="274320"/>
          </a:xfrm>
          <a:prstGeom prst="rect">
            <a:avLst/>
          </a:prstGeom>
          <a:noFill/>
        </p:spPr>
        <p:txBody>
          <a:bodyPr wrap="square" anchor="t" lIns="0" rIns="0" tIns="0" bIns="0">
            <a:spAutoFit/>
          </a:bodyPr>
          <a:lstStyle/>
          <a:p>
            <a:pPr algn="l">
              <a:lnSpc>
                <a:spcPct val="106000"/>
              </a:lnSpc>
              <a:spcBef>
                <a:spcPts val="0"/>
              </a:spcBef>
              <a:spcAft>
                <a:spcPts val="0"/>
              </a:spcAft>
            </a:pPr>
            <a:r>
              <a:rPr sz="1250" b="1" spc="180">
                <a:solidFill>
                  <a:srgbClr val="5B3E8E"/>
                </a:solidFill>
                <a:latin typeface="Red Hat Display"/>
              </a:rPr>
              <a:t>D · ADVANCED ELECTIVES</a:t>
            </a:r>
          </a:p>
        </p:txBody>
      </p:sp>
      <p:sp>
        <p:nvSpPr>
          <p:cNvPr id="4" name="TextBox 3"/>
          <p:cNvSpPr txBox="1"/>
          <p:nvPr/>
        </p:nvSpPr>
        <p:spPr>
          <a:xfrm>
            <a:off x="841248" y="2880360"/>
            <a:ext cx="2103120" cy="1188720"/>
          </a:xfrm>
          <a:prstGeom prst="rect">
            <a:avLst/>
          </a:prstGeom>
          <a:noFill/>
        </p:spPr>
        <p:txBody>
          <a:bodyPr wrap="none" anchor="t" lIns="0" rIns="0" tIns="0" bIns="0">
            <a:spAutoFit/>
          </a:bodyPr>
          <a:lstStyle/>
          <a:p>
            <a:pPr algn="l">
              <a:lnSpc>
                <a:spcPct val="90000"/>
              </a:lnSpc>
              <a:spcBef>
                <a:spcPts val="0"/>
              </a:spcBef>
              <a:spcAft>
                <a:spcPts val="0"/>
              </a:spcAft>
            </a:pPr>
            <a:r>
              <a:rPr sz="5200" b="1">
                <a:solidFill>
                  <a:srgbClr val="B80000"/>
                </a:solidFill>
                <a:latin typeface="Red Hat Display"/>
              </a:rPr>
              <a:t>M23</a:t>
            </a:r>
          </a:p>
        </p:txBody>
      </p:sp>
      <p:sp>
        <p:nvSpPr>
          <p:cNvPr id="5" name="TextBox 4"/>
          <p:cNvSpPr txBox="1"/>
          <p:nvPr/>
        </p:nvSpPr>
        <p:spPr>
          <a:xfrm>
            <a:off x="3127248" y="2971800"/>
            <a:ext cx="8412480" cy="1188720"/>
          </a:xfrm>
          <a:prstGeom prst="rect">
            <a:avLst/>
          </a:prstGeom>
          <a:noFill/>
        </p:spPr>
        <p:txBody>
          <a:bodyPr wrap="square" anchor="t" lIns="0" rIns="0" tIns="0" bIns="0">
            <a:spAutoFit/>
          </a:bodyPr>
          <a:lstStyle/>
          <a:p>
            <a:pPr algn="l">
              <a:lnSpc>
                <a:spcPct val="102000"/>
              </a:lnSpc>
              <a:spcBef>
                <a:spcPts val="0"/>
              </a:spcBef>
              <a:spcAft>
                <a:spcPts val="0"/>
              </a:spcAft>
            </a:pPr>
            <a:r>
              <a:rPr sz="3000" b="1">
                <a:solidFill>
                  <a:srgbClr val="1A1A1A"/>
                </a:solidFill>
                <a:latin typeface="Red Hat Display"/>
              </a:rPr>
              <a:t>Application Modernization</a:t>
            </a:r>
          </a:p>
        </p:txBody>
      </p:sp>
      <p:cxnSp>
        <p:nvCxnSpPr>
          <p:cNvPr id="6" name="Connector 5"/>
          <p:cNvCxnSpPr/>
          <p:nvPr/>
        </p:nvCxnSpPr>
        <p:spPr>
          <a:xfrm>
            <a:off x="841248" y="4443984"/>
            <a:ext cx="1463040" cy="0"/>
          </a:xfrm>
          <a:prstGeom prst="bentConnector3">
            <a:avLst/>
          </a:prstGeom>
          <a:ln w="38100">
            <a:solidFill>
              <a:srgbClr val="EE0000"/>
            </a:solidFill>
          </a:ln>
          <a:effectLst/>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841248" y="4617720"/>
            <a:ext cx="9692640" cy="457200"/>
          </a:xfrm>
          <a:prstGeom prst="rect">
            <a:avLst/>
          </a:prstGeom>
          <a:noFill/>
        </p:spPr>
        <p:txBody>
          <a:bodyPr wrap="square" anchor="t" lIns="0" rIns="0" tIns="0" bIns="0">
            <a:spAutoFit/>
          </a:bodyPr>
          <a:lstStyle/>
          <a:p>
            <a:pPr algn="l">
              <a:lnSpc>
                <a:spcPct val="106000"/>
              </a:lnSpc>
              <a:spcBef>
                <a:spcPts val="0"/>
              </a:spcBef>
              <a:spcAft>
                <a:spcPts val="0"/>
              </a:spcAft>
            </a:pPr>
            <a:r>
              <a:rPr sz="1500" b="0">
                <a:solidFill>
                  <a:srgbClr val="555960"/>
                </a:solidFill>
                <a:latin typeface="Red Hat Text"/>
              </a:rPr>
              <a:t>MTA + Developer Lightspeed</a:t>
            </a:r>
          </a:p>
        </p:txBody>
      </p:sp>
    </p:spTree>
  </p:cSld>
  <p:clrMapOvr>
    <a:masterClrMapping/>
  </p:clrMapOvr>
</p:sld>
</file>

<file path=ppt/slides/slide18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redhat_logo.jpg"/>
          <p:cNvPicPr>
            <a:picLocks noChangeAspect="1"/>
          </p:cNvPicPr>
          <p:nvPr/>
        </p:nvPicPr>
        <p:blipFill>
          <a:blip r:embed="rId2"/>
          <a:stretch>
            <a:fillRect/>
          </a:stretch>
        </p:blipFill>
        <p:spPr>
          <a:xfrm>
            <a:off x="10326319" y="475488"/>
            <a:ext cx="1024128" cy="242248"/>
          </a:xfrm>
          <a:prstGeom prst="rect">
            <a:avLst/>
          </a:prstGeom>
        </p:spPr>
      </p:pic>
      <p:sp>
        <p:nvSpPr>
          <p:cNvPr id="3" name="TextBox 2"/>
          <p:cNvSpPr txBox="1"/>
          <p:nvPr/>
        </p:nvSpPr>
        <p:spPr>
          <a:xfrm>
            <a:off x="841248" y="548640"/>
            <a:ext cx="8595360" cy="274320"/>
          </a:xfrm>
          <a:prstGeom prst="rect">
            <a:avLst/>
          </a:prstGeom>
          <a:noFill/>
        </p:spPr>
        <p:txBody>
          <a:bodyPr wrap="square" anchor="t" lIns="0" rIns="0" tIns="0" bIns="0">
            <a:spAutoFit/>
          </a:bodyPr>
          <a:lstStyle/>
          <a:p>
            <a:pPr algn="l">
              <a:lnSpc>
                <a:spcPct val="106000"/>
              </a:lnSpc>
              <a:spcBef>
                <a:spcPts val="0"/>
              </a:spcBef>
              <a:spcAft>
                <a:spcPts val="0"/>
              </a:spcAft>
            </a:pPr>
            <a:r>
              <a:rPr sz="1250" b="1" spc="220">
                <a:solidFill>
                  <a:srgbClr val="EE0000"/>
                </a:solidFill>
                <a:latin typeface="Red Hat Display"/>
              </a:rPr>
              <a:t>M23 · APPLICATION MODERNIZATION</a:t>
            </a:r>
          </a:p>
        </p:txBody>
      </p:sp>
      <p:sp>
        <p:nvSpPr>
          <p:cNvPr id="4" name="TextBox 3"/>
          <p:cNvSpPr txBox="1"/>
          <p:nvPr/>
        </p:nvSpPr>
        <p:spPr>
          <a:xfrm>
            <a:off x="841248" y="877824"/>
            <a:ext cx="10515600" cy="548640"/>
          </a:xfrm>
          <a:prstGeom prst="rect">
            <a:avLst/>
          </a:prstGeom>
          <a:noFill/>
        </p:spPr>
        <p:txBody>
          <a:bodyPr wrap="none" anchor="t" lIns="0" rIns="0" tIns="0" bIns="0">
            <a:spAutoFit/>
          </a:bodyPr>
          <a:lstStyle/>
          <a:p>
            <a:pPr algn="l">
              <a:lnSpc>
                <a:spcPct val="100000"/>
              </a:lnSpc>
              <a:spcBef>
                <a:spcPts val="0"/>
              </a:spcBef>
              <a:spcAft>
                <a:spcPts val="0"/>
              </a:spcAft>
            </a:pPr>
            <a:r>
              <a:rPr sz="2500" b="1">
                <a:solidFill>
                  <a:srgbClr val="1A1A1A"/>
                </a:solidFill>
                <a:latin typeface="Red Hat Display"/>
              </a:rPr>
              <a:t>Don't lift-and-shift the WAR — measure it</a:t>
            </a:r>
          </a:p>
        </p:txBody>
      </p:sp>
      <p:cxnSp>
        <p:nvCxnSpPr>
          <p:cNvPr id="5" name="Connector 4"/>
          <p:cNvCxnSpPr/>
          <p:nvPr/>
        </p:nvCxnSpPr>
        <p:spPr>
          <a:xfrm>
            <a:off x="841248" y="1554480"/>
            <a:ext cx="1371600" cy="0"/>
          </a:xfrm>
          <a:prstGeom prst="bentConnector3">
            <a:avLst/>
          </a:prstGeom>
          <a:ln w="31750">
            <a:solidFill>
              <a:srgbClr val="EE0000"/>
            </a:solidFill>
          </a:ln>
          <a:effectLst/>
        </p:spPr>
        <p:style>
          <a:lnRef idx="2">
            <a:schemeClr val="accent1"/>
          </a:lnRef>
          <a:fillRef idx="0">
            <a:schemeClr val="accent1"/>
          </a:fillRef>
          <a:effectRef idx="1">
            <a:schemeClr val="accent1"/>
          </a:effectRef>
          <a:fontRef idx="minor">
            <a:schemeClr val="tx1"/>
          </a:fontRef>
        </p:style>
      </p:cxnSp>
      <p:sp>
        <p:nvSpPr>
          <p:cNvPr id="6" name="Rounded Rectangle 5"/>
          <p:cNvSpPr/>
          <p:nvPr/>
        </p:nvSpPr>
        <p:spPr>
          <a:xfrm>
            <a:off x="841248" y="2395728"/>
            <a:ext cx="5715000" cy="530352"/>
          </a:xfrm>
          <a:prstGeom prst="roundRect">
            <a:avLst>
              <a:gd name="adj" fmla="val 6000"/>
            </a:avLst>
          </a:prstGeom>
          <a:solidFill>
            <a:srgbClr val="F5F6F8"/>
          </a:solidFill>
          <a:ln w="12700">
            <a:solidFill>
              <a:srgbClr val="DDE1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check_steel.png"/>
          <p:cNvPicPr>
            <a:picLocks noChangeAspect="1"/>
          </p:cNvPicPr>
          <p:nvPr/>
        </p:nvPicPr>
        <p:blipFill>
          <a:blip r:embed="rId3"/>
          <a:stretch>
            <a:fillRect/>
          </a:stretch>
        </p:blipFill>
        <p:spPr>
          <a:xfrm>
            <a:off x="987552" y="2542032"/>
            <a:ext cx="237744" cy="237744"/>
          </a:xfrm>
          <a:prstGeom prst="rect">
            <a:avLst/>
          </a:prstGeom>
        </p:spPr>
      </p:pic>
      <p:sp>
        <p:nvSpPr>
          <p:cNvPr id="8" name="TextBox 7"/>
          <p:cNvSpPr txBox="1"/>
          <p:nvPr/>
        </p:nvSpPr>
        <p:spPr>
          <a:xfrm>
            <a:off x="1353312" y="2395728"/>
            <a:ext cx="5029200" cy="530352"/>
          </a:xfrm>
          <a:prstGeom prst="rect">
            <a:avLst/>
          </a:prstGeom>
          <a:noFill/>
        </p:spPr>
        <p:txBody>
          <a:bodyPr wrap="square" anchor="ctr" lIns="0" rIns="0" tIns="0" bIns="0">
            <a:spAutoFit/>
          </a:bodyPr>
          <a:lstStyle/>
          <a:p>
            <a:pPr algn="l">
              <a:lnSpc>
                <a:spcPct val="106000"/>
              </a:lnSpc>
              <a:spcBef>
                <a:spcPts val="0"/>
              </a:spcBef>
              <a:spcAft>
                <a:spcPts val="0"/>
              </a:spcAft>
            </a:pPr>
            <a:r>
              <a:rPr sz="1200" b="0">
                <a:solidFill>
                  <a:srgbClr val="1A1A1A"/>
                </a:solidFill>
                <a:latin typeface="Red Hat Text"/>
              </a:rPr>
              <a:t>Parasol's original claims service: Java 8 Spring-on-Tomcat WAR</a:t>
            </a:r>
          </a:p>
        </p:txBody>
      </p:sp>
      <p:sp>
        <p:nvSpPr>
          <p:cNvPr id="9" name="Rounded Rectangle 8"/>
          <p:cNvSpPr/>
          <p:nvPr/>
        </p:nvSpPr>
        <p:spPr>
          <a:xfrm>
            <a:off x="841248" y="2999232"/>
            <a:ext cx="5715000" cy="530352"/>
          </a:xfrm>
          <a:prstGeom prst="roundRect">
            <a:avLst>
              <a:gd name="adj" fmla="val 6000"/>
            </a:avLst>
          </a:prstGeom>
          <a:solidFill>
            <a:srgbClr val="F5F6F8"/>
          </a:solidFill>
          <a:ln w="12700">
            <a:solidFill>
              <a:srgbClr val="DDE1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0" name="Picture 9" descr="check_steel.png"/>
          <p:cNvPicPr>
            <a:picLocks noChangeAspect="1"/>
          </p:cNvPicPr>
          <p:nvPr/>
        </p:nvPicPr>
        <p:blipFill>
          <a:blip r:embed="rId3"/>
          <a:stretch>
            <a:fillRect/>
          </a:stretch>
        </p:blipFill>
        <p:spPr>
          <a:xfrm>
            <a:off x="987552" y="3145536"/>
            <a:ext cx="237744" cy="237744"/>
          </a:xfrm>
          <a:prstGeom prst="rect">
            <a:avLst/>
          </a:prstGeom>
        </p:spPr>
      </p:pic>
      <p:sp>
        <p:nvSpPr>
          <p:cNvPr id="11" name="TextBox 10"/>
          <p:cNvSpPr txBox="1"/>
          <p:nvPr/>
        </p:nvSpPr>
        <p:spPr>
          <a:xfrm>
            <a:off x="1353312" y="2999232"/>
            <a:ext cx="5029200" cy="530352"/>
          </a:xfrm>
          <a:prstGeom prst="rect">
            <a:avLst/>
          </a:prstGeom>
          <a:noFill/>
        </p:spPr>
        <p:txBody>
          <a:bodyPr wrap="square" anchor="ctr" lIns="0" rIns="0" tIns="0" bIns="0">
            <a:spAutoFit/>
          </a:bodyPr>
          <a:lstStyle/>
          <a:p>
            <a:pPr algn="l">
              <a:lnSpc>
                <a:spcPct val="106000"/>
              </a:lnSpc>
              <a:spcBef>
                <a:spcPts val="0"/>
              </a:spcBef>
              <a:spcAft>
                <a:spcPts val="0"/>
              </a:spcAft>
            </a:pPr>
            <a:r>
              <a:rPr sz="1200" b="0">
                <a:solidFill>
                  <a:srgbClr val="1A1A1A"/>
                </a:solidFill>
                <a:latin typeface="Red Hat Text"/>
              </a:rPr>
              <a:t>DB address, password, audit-log PATH — all baked into the build</a:t>
            </a:r>
          </a:p>
        </p:txBody>
      </p:sp>
      <p:sp>
        <p:nvSpPr>
          <p:cNvPr id="12" name="Rounded Rectangle 11"/>
          <p:cNvSpPr/>
          <p:nvPr/>
        </p:nvSpPr>
        <p:spPr>
          <a:xfrm>
            <a:off x="841248" y="3602736"/>
            <a:ext cx="5715000" cy="530352"/>
          </a:xfrm>
          <a:prstGeom prst="roundRect">
            <a:avLst>
              <a:gd name="adj" fmla="val 6000"/>
            </a:avLst>
          </a:prstGeom>
          <a:solidFill>
            <a:srgbClr val="F5F6F8"/>
          </a:solidFill>
          <a:ln w="12700">
            <a:solidFill>
              <a:srgbClr val="DDE1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3" name="Picture 12" descr="check_steel.png"/>
          <p:cNvPicPr>
            <a:picLocks noChangeAspect="1"/>
          </p:cNvPicPr>
          <p:nvPr/>
        </p:nvPicPr>
        <p:blipFill>
          <a:blip r:embed="rId3"/>
          <a:stretch>
            <a:fillRect/>
          </a:stretch>
        </p:blipFill>
        <p:spPr>
          <a:xfrm>
            <a:off x="987552" y="3749040"/>
            <a:ext cx="237744" cy="237744"/>
          </a:xfrm>
          <a:prstGeom prst="rect">
            <a:avLst/>
          </a:prstGeom>
        </p:spPr>
      </p:pic>
      <p:sp>
        <p:nvSpPr>
          <p:cNvPr id="14" name="TextBox 13"/>
          <p:cNvSpPr txBox="1"/>
          <p:nvPr/>
        </p:nvSpPr>
        <p:spPr>
          <a:xfrm>
            <a:off x="1353312" y="3602736"/>
            <a:ext cx="5029200" cy="530352"/>
          </a:xfrm>
          <a:prstGeom prst="rect">
            <a:avLst/>
          </a:prstGeom>
          <a:noFill/>
        </p:spPr>
        <p:txBody>
          <a:bodyPr wrap="square" anchor="ctr" lIns="0" rIns="0" tIns="0" bIns="0">
            <a:spAutoFit/>
          </a:bodyPr>
          <a:lstStyle/>
          <a:p>
            <a:pPr algn="l">
              <a:lnSpc>
                <a:spcPct val="106000"/>
              </a:lnSpc>
              <a:spcBef>
                <a:spcPts val="0"/>
              </a:spcBef>
              <a:spcAft>
                <a:spcPts val="0"/>
              </a:spcAft>
            </a:pPr>
            <a:r>
              <a:rPr sz="1200" b="0">
                <a:solidFill>
                  <a:srgbClr val="1A1A1A"/>
                </a:solidFill>
                <a:latin typeface="Red Hat Text"/>
              </a:rPr>
              <a:t>Container filesystem is ephemeral + non-root; config belongs in a Secret</a:t>
            </a:r>
          </a:p>
        </p:txBody>
      </p:sp>
      <p:sp>
        <p:nvSpPr>
          <p:cNvPr id="15" name="Rounded Rectangle 14"/>
          <p:cNvSpPr/>
          <p:nvPr/>
        </p:nvSpPr>
        <p:spPr>
          <a:xfrm>
            <a:off x="841248" y="4206240"/>
            <a:ext cx="5715000" cy="530352"/>
          </a:xfrm>
          <a:prstGeom prst="roundRect">
            <a:avLst>
              <a:gd name="adj" fmla="val 6000"/>
            </a:avLst>
          </a:prstGeom>
          <a:solidFill>
            <a:srgbClr val="F5F6F8"/>
          </a:solidFill>
          <a:ln w="12700">
            <a:solidFill>
              <a:srgbClr val="DDE1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6" name="Picture 15" descr="check_steel.png"/>
          <p:cNvPicPr>
            <a:picLocks noChangeAspect="1"/>
          </p:cNvPicPr>
          <p:nvPr/>
        </p:nvPicPr>
        <p:blipFill>
          <a:blip r:embed="rId3"/>
          <a:stretch>
            <a:fillRect/>
          </a:stretch>
        </p:blipFill>
        <p:spPr>
          <a:xfrm>
            <a:off x="987552" y="4352544"/>
            <a:ext cx="237744" cy="237744"/>
          </a:xfrm>
          <a:prstGeom prst="rect">
            <a:avLst/>
          </a:prstGeom>
        </p:spPr>
      </p:pic>
      <p:sp>
        <p:nvSpPr>
          <p:cNvPr id="17" name="TextBox 16"/>
          <p:cNvSpPr txBox="1"/>
          <p:nvPr/>
        </p:nvSpPr>
        <p:spPr>
          <a:xfrm>
            <a:off x="1353312" y="4206240"/>
            <a:ext cx="5029200" cy="530352"/>
          </a:xfrm>
          <a:prstGeom prst="rect">
            <a:avLst/>
          </a:prstGeom>
          <a:noFill/>
        </p:spPr>
        <p:txBody>
          <a:bodyPr wrap="square" anchor="ctr" lIns="0" rIns="0" tIns="0" bIns="0">
            <a:spAutoFit/>
          </a:bodyPr>
          <a:lstStyle/>
          <a:p>
            <a:pPr algn="l">
              <a:lnSpc>
                <a:spcPct val="106000"/>
              </a:lnSpc>
              <a:spcBef>
                <a:spcPts val="0"/>
              </a:spcBef>
              <a:spcAft>
                <a:spcPts val="0"/>
              </a:spcAft>
            </a:pPr>
            <a:r>
              <a:rPr sz="1200" b="0">
                <a:solidFill>
                  <a:srgbClr val="1A1A1A"/>
                </a:solidFill>
                <a:latin typeface="Red Hat Text"/>
              </a:rPr>
              <a:t>Servlet-era runtime expects an app server that isn't there</a:t>
            </a:r>
          </a:p>
        </p:txBody>
      </p:sp>
      <p:sp>
        <p:nvSpPr>
          <p:cNvPr id="18" name="Rounded Rectangle 17"/>
          <p:cNvSpPr/>
          <p:nvPr/>
        </p:nvSpPr>
        <p:spPr>
          <a:xfrm>
            <a:off x="841248" y="4809744"/>
            <a:ext cx="5715000" cy="530352"/>
          </a:xfrm>
          <a:prstGeom prst="roundRect">
            <a:avLst>
              <a:gd name="adj" fmla="val 6000"/>
            </a:avLst>
          </a:prstGeom>
          <a:solidFill>
            <a:srgbClr val="F5F6F8"/>
          </a:solidFill>
          <a:ln w="12700">
            <a:solidFill>
              <a:srgbClr val="DDE1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9" name="Picture 18" descr="check_steel.png"/>
          <p:cNvPicPr>
            <a:picLocks noChangeAspect="1"/>
          </p:cNvPicPr>
          <p:nvPr/>
        </p:nvPicPr>
        <p:blipFill>
          <a:blip r:embed="rId3"/>
          <a:stretch>
            <a:fillRect/>
          </a:stretch>
        </p:blipFill>
        <p:spPr>
          <a:xfrm>
            <a:off x="987552" y="4956048"/>
            <a:ext cx="237744" cy="237744"/>
          </a:xfrm>
          <a:prstGeom prst="rect">
            <a:avLst/>
          </a:prstGeom>
        </p:spPr>
      </p:pic>
      <p:sp>
        <p:nvSpPr>
          <p:cNvPr id="20" name="TextBox 19"/>
          <p:cNvSpPr txBox="1"/>
          <p:nvPr/>
        </p:nvSpPr>
        <p:spPr>
          <a:xfrm>
            <a:off x="1353312" y="4809744"/>
            <a:ext cx="5029200" cy="530352"/>
          </a:xfrm>
          <a:prstGeom prst="rect">
            <a:avLst/>
          </a:prstGeom>
          <a:noFill/>
        </p:spPr>
        <p:txBody>
          <a:bodyPr wrap="square" anchor="ctr" lIns="0" rIns="0" tIns="0" bIns="0">
            <a:spAutoFit/>
          </a:bodyPr>
          <a:lstStyle/>
          <a:p>
            <a:pPr algn="l">
              <a:lnSpc>
                <a:spcPct val="106000"/>
              </a:lnSpc>
              <a:spcBef>
                <a:spcPts val="0"/>
              </a:spcBef>
              <a:spcAft>
                <a:spcPts val="0"/>
              </a:spcAft>
            </a:pPr>
            <a:r>
              <a:rPr sz="1200" b="0">
                <a:solidFill>
                  <a:srgbClr val="1A1A1A"/>
                </a:solidFill>
                <a:latin typeface="Red Hat Text"/>
              </a:rPr>
              <a:t>MTA reads the SOURCE and prices every blocker BEFORE you commit a sprint</a:t>
            </a:r>
          </a:p>
        </p:txBody>
      </p:sp>
      <p:sp>
        <p:nvSpPr>
          <p:cNvPr id="21" name="Rounded Rectangle 20"/>
          <p:cNvSpPr/>
          <p:nvPr/>
        </p:nvSpPr>
        <p:spPr>
          <a:xfrm>
            <a:off x="6812280" y="2395728"/>
            <a:ext cx="4538167" cy="2944368"/>
          </a:xfrm>
          <a:prstGeom prst="roundRect">
            <a:avLst>
              <a:gd name="adj" fmla="val 4000"/>
            </a:avLst>
          </a:prstGeom>
          <a:solidFill>
            <a:srgbClr val="FFFFFF"/>
          </a:solidFill>
          <a:ln w="15240">
            <a:solidFill>
              <a:srgbClr val="DDE1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ounded Rectangle 21"/>
          <p:cNvSpPr/>
          <p:nvPr/>
        </p:nvSpPr>
        <p:spPr>
          <a:xfrm>
            <a:off x="7013448" y="2596896"/>
            <a:ext cx="1298448" cy="310896"/>
          </a:xfrm>
          <a:prstGeom prst="roundRect">
            <a:avLst>
              <a:gd name="adj" fmla="val 50000"/>
            </a:avLst>
          </a:prstGeom>
          <a:solidFill>
            <a:srgbClr val="FCEC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7013448" y="2596896"/>
            <a:ext cx="1298448" cy="310896"/>
          </a:xfrm>
          <a:prstGeom prst="rect">
            <a:avLst/>
          </a:prstGeom>
          <a:noFill/>
        </p:spPr>
        <p:txBody>
          <a:bodyPr wrap="none" anchor="ctr" lIns="0" rIns="0" tIns="0" bIns="0">
            <a:spAutoFit/>
          </a:bodyPr>
          <a:lstStyle/>
          <a:p>
            <a:pPr algn="ctr">
              <a:lnSpc>
                <a:spcPct val="106000"/>
              </a:lnSpc>
              <a:spcBef>
                <a:spcPts val="0"/>
              </a:spcBef>
              <a:spcAft>
                <a:spcPts val="0"/>
              </a:spcAft>
            </a:pPr>
            <a:r>
              <a:rPr sz="850" b="1">
                <a:solidFill>
                  <a:srgbClr val="B80000"/>
                </a:solidFill>
                <a:latin typeface="Red Hat Display"/>
              </a:rPr>
              <a:t>MEDIA PASS</a:t>
            </a:r>
          </a:p>
        </p:txBody>
      </p:sp>
      <p:pic>
        <p:nvPicPr>
          <p:cNvPr id="24" name="Picture 23" descr="eye_slate.png"/>
          <p:cNvPicPr>
            <a:picLocks noChangeAspect="1"/>
          </p:cNvPicPr>
          <p:nvPr/>
        </p:nvPicPr>
        <p:blipFill>
          <a:blip r:embed="rId4"/>
          <a:stretch>
            <a:fillRect/>
          </a:stretch>
        </p:blipFill>
        <p:spPr>
          <a:xfrm>
            <a:off x="8843619" y="3108960"/>
            <a:ext cx="475488" cy="475488"/>
          </a:xfrm>
          <a:prstGeom prst="rect">
            <a:avLst/>
          </a:prstGeom>
        </p:spPr>
      </p:pic>
      <p:sp>
        <p:nvSpPr>
          <p:cNvPr id="25" name="TextBox 24"/>
          <p:cNvSpPr txBox="1"/>
          <p:nvPr/>
        </p:nvSpPr>
        <p:spPr>
          <a:xfrm>
            <a:off x="7050024" y="3721608"/>
            <a:ext cx="4062679" cy="1481328"/>
          </a:xfrm>
          <a:prstGeom prst="rect">
            <a:avLst/>
          </a:prstGeom>
          <a:noFill/>
        </p:spPr>
        <p:txBody>
          <a:bodyPr wrap="square" anchor="t" lIns="0" rIns="0" tIns="0" bIns="0">
            <a:spAutoFit/>
          </a:bodyPr>
          <a:lstStyle/>
          <a:p>
            <a:pPr algn="l">
              <a:lnSpc>
                <a:spcPct val="120000"/>
              </a:lnSpc>
              <a:spcBef>
                <a:spcPts val="0"/>
              </a:spcBef>
              <a:spcAft>
                <a:spcPts val="0"/>
              </a:spcAft>
            </a:pPr>
            <a:r>
              <a:rPr sz="950" b="0">
                <a:solidFill>
                  <a:srgbClr val="8A9099"/>
                </a:solidFill>
                <a:latin typeface="Red Hat Text"/>
              </a:rPr>
              <a:t>Left panel "Lift-and-shift" — a WAR box being dropped into a container, with three red call-outs pinned to it: "hardcoded DB IP + password," "writes /opt/parasol/logs/... (can't)," "needs Tomcat (not here)." Right panel "MTA" — the same source feeding an analyzer that emits a tidy report card with a "24 story points · 6 mandatory" badge. Arrow between: "measure before you move."</a:t>
            </a:r>
          </a:p>
        </p:txBody>
      </p:sp>
      <p:cxnSp>
        <p:nvCxnSpPr>
          <p:cNvPr id="26" name="Connector 25"/>
          <p:cNvCxnSpPr/>
          <p:nvPr/>
        </p:nvCxnSpPr>
        <p:spPr>
          <a:xfrm>
            <a:off x="841248" y="6437376"/>
            <a:ext cx="10509199" cy="0"/>
          </a:xfrm>
          <a:prstGeom prst="bentConnector3">
            <a:avLst/>
          </a:prstGeom>
          <a:ln w="12700">
            <a:solidFill>
              <a:srgbClr val="DDE1E6"/>
            </a:solidFill>
          </a:ln>
          <a:effectLst/>
        </p:spPr>
        <p:style>
          <a:lnRef idx="2">
            <a:schemeClr val="accent1"/>
          </a:lnRef>
          <a:fillRef idx="0">
            <a:schemeClr val="accent1"/>
          </a:fillRef>
          <a:effectRef idx="1">
            <a:schemeClr val="accent1"/>
          </a:effectRef>
          <a:fontRef idx="minor">
            <a:schemeClr val="tx1"/>
          </a:fontRef>
        </p:style>
      </p:cxnSp>
      <p:sp>
        <p:nvSpPr>
          <p:cNvPr id="27" name="TextBox 26"/>
          <p:cNvSpPr txBox="1"/>
          <p:nvPr/>
        </p:nvSpPr>
        <p:spPr>
          <a:xfrm>
            <a:off x="841248" y="6473952"/>
            <a:ext cx="7315200" cy="274320"/>
          </a:xfrm>
          <a:prstGeom prst="rect">
            <a:avLst/>
          </a:prstGeom>
          <a:noFill/>
        </p:spPr>
        <p:txBody>
          <a:bodyPr wrap="square" anchor="t" lIns="0" rIns="0" tIns="0" bIns="0">
            <a:spAutoFit/>
          </a:bodyPr>
          <a:lstStyle/>
          <a:p>
            <a:pPr algn="l">
              <a:lnSpc>
                <a:spcPct val="106000"/>
              </a:lnSpc>
              <a:spcBef>
                <a:spcPts val="0"/>
              </a:spcBef>
              <a:spcAft>
                <a:spcPts val="0"/>
              </a:spcAft>
            </a:pPr>
            <a:r>
              <a:rPr sz="950" b="0">
                <a:solidFill>
                  <a:srgbClr val="8A9099"/>
                </a:solidFill>
                <a:latin typeface="Red Hat Text"/>
              </a:rPr>
              <a:t>CONFIDENTIAL</a:t>
            </a:r>
          </a:p>
        </p:txBody>
      </p:sp>
      <p:sp>
        <p:nvSpPr>
          <p:cNvPr id="28" name="TextBox 27"/>
          <p:cNvSpPr txBox="1"/>
          <p:nvPr/>
        </p:nvSpPr>
        <p:spPr>
          <a:xfrm>
            <a:off x="10801807" y="6473952"/>
            <a:ext cx="548640" cy="274320"/>
          </a:xfrm>
          <a:prstGeom prst="rect">
            <a:avLst/>
          </a:prstGeom>
          <a:noFill/>
        </p:spPr>
        <p:txBody>
          <a:bodyPr wrap="square" anchor="t" lIns="0" rIns="0" tIns="0" bIns="0">
            <a:spAutoFit/>
          </a:bodyPr>
          <a:lstStyle/>
          <a:p>
            <a:pPr algn="r">
              <a:lnSpc>
                <a:spcPct val="106000"/>
              </a:lnSpc>
              <a:spcBef>
                <a:spcPts val="0"/>
              </a:spcBef>
              <a:spcAft>
                <a:spcPts val="0"/>
              </a:spcAft>
            </a:pPr>
            <a:r>
              <a:rPr sz="950" b="0">
                <a:solidFill>
                  <a:srgbClr val="8A9099"/>
                </a:solidFill>
                <a:latin typeface="Red Hat Text"/>
              </a:rPr>
              <a:t>165</a:t>
            </a:r>
          </a:p>
        </p:txBody>
      </p:sp>
    </p:spTree>
  </p:cSld>
  <p:clrMapOvr>
    <a:masterClrMapping/>
  </p:clrMapOvr>
</p:sld>
</file>

<file path=ppt/slides/slide18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redhat_logo.jpg"/>
          <p:cNvPicPr>
            <a:picLocks noChangeAspect="1"/>
          </p:cNvPicPr>
          <p:nvPr/>
        </p:nvPicPr>
        <p:blipFill>
          <a:blip r:embed="rId2"/>
          <a:stretch>
            <a:fillRect/>
          </a:stretch>
        </p:blipFill>
        <p:spPr>
          <a:xfrm>
            <a:off x="10326319" y="475488"/>
            <a:ext cx="1024128" cy="242248"/>
          </a:xfrm>
          <a:prstGeom prst="rect">
            <a:avLst/>
          </a:prstGeom>
        </p:spPr>
      </p:pic>
      <p:sp>
        <p:nvSpPr>
          <p:cNvPr id="3" name="TextBox 2"/>
          <p:cNvSpPr txBox="1"/>
          <p:nvPr/>
        </p:nvSpPr>
        <p:spPr>
          <a:xfrm>
            <a:off x="841248" y="548640"/>
            <a:ext cx="8595360" cy="274320"/>
          </a:xfrm>
          <a:prstGeom prst="rect">
            <a:avLst/>
          </a:prstGeom>
          <a:noFill/>
        </p:spPr>
        <p:txBody>
          <a:bodyPr wrap="square" anchor="t" lIns="0" rIns="0" tIns="0" bIns="0">
            <a:spAutoFit/>
          </a:bodyPr>
          <a:lstStyle/>
          <a:p>
            <a:pPr algn="l">
              <a:lnSpc>
                <a:spcPct val="106000"/>
              </a:lnSpc>
              <a:spcBef>
                <a:spcPts val="0"/>
              </a:spcBef>
              <a:spcAft>
                <a:spcPts val="0"/>
              </a:spcAft>
            </a:pPr>
            <a:r>
              <a:rPr sz="1250" b="1" spc="220">
                <a:solidFill>
                  <a:srgbClr val="EE0000"/>
                </a:solidFill>
                <a:latin typeface="Red Hat Display"/>
              </a:rPr>
              <a:t>M23 · APPLICATION MODERNIZATION</a:t>
            </a:r>
          </a:p>
        </p:txBody>
      </p:sp>
      <p:sp>
        <p:nvSpPr>
          <p:cNvPr id="4" name="TextBox 3"/>
          <p:cNvSpPr txBox="1"/>
          <p:nvPr/>
        </p:nvSpPr>
        <p:spPr>
          <a:xfrm>
            <a:off x="841248" y="877824"/>
            <a:ext cx="10515600" cy="548640"/>
          </a:xfrm>
          <a:prstGeom prst="rect">
            <a:avLst/>
          </a:prstGeom>
          <a:noFill/>
        </p:spPr>
        <p:txBody>
          <a:bodyPr wrap="none" anchor="t" lIns="0" rIns="0" tIns="0" bIns="0">
            <a:spAutoFit/>
          </a:bodyPr>
          <a:lstStyle/>
          <a:p>
            <a:pPr algn="l">
              <a:lnSpc>
                <a:spcPct val="100000"/>
              </a:lnSpc>
              <a:spcBef>
                <a:spcPts val="0"/>
              </a:spcBef>
              <a:spcAft>
                <a:spcPts val="0"/>
              </a:spcAft>
            </a:pPr>
            <a:r>
              <a:rPr sz="2500" b="1">
                <a:solidFill>
                  <a:srgbClr val="1A1A1A"/>
                </a:solidFill>
                <a:latin typeface="Red Hat Display"/>
              </a:rPr>
              <a:t>The 6 Rs — a decision, not a slogan</a:t>
            </a:r>
          </a:p>
        </p:txBody>
      </p:sp>
      <p:cxnSp>
        <p:nvCxnSpPr>
          <p:cNvPr id="5" name="Connector 4"/>
          <p:cNvCxnSpPr/>
          <p:nvPr/>
        </p:nvCxnSpPr>
        <p:spPr>
          <a:xfrm>
            <a:off x="841248" y="1554480"/>
            <a:ext cx="1371600" cy="0"/>
          </a:xfrm>
          <a:prstGeom prst="bentConnector3">
            <a:avLst/>
          </a:prstGeom>
          <a:ln w="31750">
            <a:solidFill>
              <a:srgbClr val="EE0000"/>
            </a:solidFill>
          </a:ln>
          <a:effectLst/>
        </p:spPr>
        <p:style>
          <a:lnRef idx="2">
            <a:schemeClr val="accent1"/>
          </a:lnRef>
          <a:fillRef idx="0">
            <a:schemeClr val="accent1"/>
          </a:fillRef>
          <a:effectRef idx="1">
            <a:schemeClr val="accent1"/>
          </a:effectRef>
          <a:fontRef idx="minor">
            <a:schemeClr val="tx1"/>
          </a:fontRef>
        </p:style>
      </p:cxnSp>
      <p:sp>
        <p:nvSpPr>
          <p:cNvPr id="6" name="Rounded Rectangle 5"/>
          <p:cNvSpPr/>
          <p:nvPr/>
        </p:nvSpPr>
        <p:spPr>
          <a:xfrm>
            <a:off x="841248" y="2395728"/>
            <a:ext cx="5715000" cy="530352"/>
          </a:xfrm>
          <a:prstGeom prst="roundRect">
            <a:avLst>
              <a:gd name="adj" fmla="val 6000"/>
            </a:avLst>
          </a:prstGeom>
          <a:solidFill>
            <a:srgbClr val="F5F6F8"/>
          </a:solidFill>
          <a:ln w="12700">
            <a:solidFill>
              <a:srgbClr val="DDE1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check_steel.png"/>
          <p:cNvPicPr>
            <a:picLocks noChangeAspect="1"/>
          </p:cNvPicPr>
          <p:nvPr/>
        </p:nvPicPr>
        <p:blipFill>
          <a:blip r:embed="rId3"/>
          <a:stretch>
            <a:fillRect/>
          </a:stretch>
        </p:blipFill>
        <p:spPr>
          <a:xfrm>
            <a:off x="987552" y="2542032"/>
            <a:ext cx="237744" cy="237744"/>
          </a:xfrm>
          <a:prstGeom prst="rect">
            <a:avLst/>
          </a:prstGeom>
        </p:spPr>
      </p:pic>
      <p:sp>
        <p:nvSpPr>
          <p:cNvPr id="8" name="TextBox 7"/>
          <p:cNvSpPr txBox="1"/>
          <p:nvPr/>
        </p:nvSpPr>
        <p:spPr>
          <a:xfrm>
            <a:off x="1353312" y="2395728"/>
            <a:ext cx="5029200" cy="530352"/>
          </a:xfrm>
          <a:prstGeom prst="rect">
            <a:avLst/>
          </a:prstGeom>
          <a:noFill/>
        </p:spPr>
        <p:txBody>
          <a:bodyPr wrap="square" anchor="ctr" lIns="0" rIns="0" tIns="0" bIns="0">
            <a:spAutoFit/>
          </a:bodyPr>
          <a:lstStyle/>
          <a:p>
            <a:pPr algn="l">
              <a:lnSpc>
                <a:spcPct val="106000"/>
              </a:lnSpc>
              <a:spcBef>
                <a:spcPts val="0"/>
              </a:spcBef>
              <a:spcAft>
                <a:spcPts val="0"/>
              </a:spcAft>
            </a:pPr>
            <a:r>
              <a:rPr sz="1200" b="0">
                <a:solidFill>
                  <a:srgbClr val="1A1A1A"/>
                </a:solidFill>
                <a:latin typeface="Red Hat Text"/>
              </a:rPr>
              <a:t>Retain · Retire · Rehost · Replatform · Refactor · Repurchase</a:t>
            </a:r>
          </a:p>
        </p:txBody>
      </p:sp>
      <p:sp>
        <p:nvSpPr>
          <p:cNvPr id="9" name="Rounded Rectangle 8"/>
          <p:cNvSpPr/>
          <p:nvPr/>
        </p:nvSpPr>
        <p:spPr>
          <a:xfrm>
            <a:off x="841248" y="2999232"/>
            <a:ext cx="5715000" cy="530352"/>
          </a:xfrm>
          <a:prstGeom prst="roundRect">
            <a:avLst>
              <a:gd name="adj" fmla="val 6000"/>
            </a:avLst>
          </a:prstGeom>
          <a:solidFill>
            <a:srgbClr val="F5F6F8"/>
          </a:solidFill>
          <a:ln w="12700">
            <a:solidFill>
              <a:srgbClr val="DDE1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0" name="Picture 9" descr="check_steel.png"/>
          <p:cNvPicPr>
            <a:picLocks noChangeAspect="1"/>
          </p:cNvPicPr>
          <p:nvPr/>
        </p:nvPicPr>
        <p:blipFill>
          <a:blip r:embed="rId3"/>
          <a:stretch>
            <a:fillRect/>
          </a:stretch>
        </p:blipFill>
        <p:spPr>
          <a:xfrm>
            <a:off x="987552" y="3145536"/>
            <a:ext cx="237744" cy="237744"/>
          </a:xfrm>
          <a:prstGeom prst="rect">
            <a:avLst/>
          </a:prstGeom>
        </p:spPr>
      </p:pic>
      <p:sp>
        <p:nvSpPr>
          <p:cNvPr id="11" name="TextBox 10"/>
          <p:cNvSpPr txBox="1"/>
          <p:nvPr/>
        </p:nvSpPr>
        <p:spPr>
          <a:xfrm>
            <a:off x="1353312" y="2999232"/>
            <a:ext cx="5029200" cy="530352"/>
          </a:xfrm>
          <a:prstGeom prst="rect">
            <a:avLst/>
          </a:prstGeom>
          <a:noFill/>
        </p:spPr>
        <p:txBody>
          <a:bodyPr wrap="square" anchor="ctr" lIns="0" rIns="0" tIns="0" bIns="0">
            <a:spAutoFit/>
          </a:bodyPr>
          <a:lstStyle/>
          <a:p>
            <a:pPr algn="l">
              <a:lnSpc>
                <a:spcPct val="106000"/>
              </a:lnSpc>
              <a:spcBef>
                <a:spcPts val="0"/>
              </a:spcBef>
              <a:spcAft>
                <a:spcPts val="0"/>
              </a:spcAft>
            </a:pPr>
            <a:r>
              <a:rPr sz="1200" b="0">
                <a:solidFill>
                  <a:srgbClr val="1A1A1A"/>
                </a:solidFill>
                <a:latin typeface="Red Hat Text"/>
              </a:rPr>
              <a:t>Choose per app, honestly, on COST and VALUE — not fashion</a:t>
            </a:r>
          </a:p>
        </p:txBody>
      </p:sp>
      <p:sp>
        <p:nvSpPr>
          <p:cNvPr id="12" name="Rounded Rectangle 11"/>
          <p:cNvSpPr/>
          <p:nvPr/>
        </p:nvSpPr>
        <p:spPr>
          <a:xfrm>
            <a:off x="841248" y="3602736"/>
            <a:ext cx="5715000" cy="530352"/>
          </a:xfrm>
          <a:prstGeom prst="roundRect">
            <a:avLst>
              <a:gd name="adj" fmla="val 6000"/>
            </a:avLst>
          </a:prstGeom>
          <a:solidFill>
            <a:srgbClr val="F5F6F8"/>
          </a:solidFill>
          <a:ln w="12700">
            <a:solidFill>
              <a:srgbClr val="DDE1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3" name="Picture 12" descr="check_steel.png"/>
          <p:cNvPicPr>
            <a:picLocks noChangeAspect="1"/>
          </p:cNvPicPr>
          <p:nvPr/>
        </p:nvPicPr>
        <p:blipFill>
          <a:blip r:embed="rId3"/>
          <a:stretch>
            <a:fillRect/>
          </a:stretch>
        </p:blipFill>
        <p:spPr>
          <a:xfrm>
            <a:off x="987552" y="3749040"/>
            <a:ext cx="237744" cy="237744"/>
          </a:xfrm>
          <a:prstGeom prst="rect">
            <a:avLst/>
          </a:prstGeom>
        </p:spPr>
      </p:pic>
      <p:sp>
        <p:nvSpPr>
          <p:cNvPr id="14" name="TextBox 13"/>
          <p:cNvSpPr txBox="1"/>
          <p:nvPr/>
        </p:nvSpPr>
        <p:spPr>
          <a:xfrm>
            <a:off x="1353312" y="3602736"/>
            <a:ext cx="5029200" cy="530352"/>
          </a:xfrm>
          <a:prstGeom prst="rect">
            <a:avLst/>
          </a:prstGeom>
          <a:noFill/>
        </p:spPr>
        <p:txBody>
          <a:bodyPr wrap="square" anchor="ctr" lIns="0" rIns="0" tIns="0" bIns="0">
            <a:spAutoFit/>
          </a:bodyPr>
          <a:lstStyle/>
          <a:p>
            <a:pPr algn="l">
              <a:lnSpc>
                <a:spcPct val="106000"/>
              </a:lnSpc>
              <a:spcBef>
                <a:spcPts val="0"/>
              </a:spcBef>
              <a:spcAft>
                <a:spcPts val="0"/>
              </a:spcAft>
            </a:pPr>
            <a:r>
              <a:rPr sz="1200" b="0">
                <a:solidFill>
                  <a:srgbClr val="1A1A1A"/>
                </a:solidFill>
                <a:latin typeface="Red Hat Text"/>
              </a:rPr>
              <a:t>Rehost = lift-and-shift (buys time, pays no debt down)</a:t>
            </a:r>
          </a:p>
        </p:txBody>
      </p:sp>
      <p:sp>
        <p:nvSpPr>
          <p:cNvPr id="15" name="Rounded Rectangle 14"/>
          <p:cNvSpPr/>
          <p:nvPr/>
        </p:nvSpPr>
        <p:spPr>
          <a:xfrm>
            <a:off x="841248" y="4206240"/>
            <a:ext cx="5715000" cy="530352"/>
          </a:xfrm>
          <a:prstGeom prst="roundRect">
            <a:avLst>
              <a:gd name="adj" fmla="val 6000"/>
            </a:avLst>
          </a:prstGeom>
          <a:solidFill>
            <a:srgbClr val="F5F6F8"/>
          </a:solidFill>
          <a:ln w="12700">
            <a:solidFill>
              <a:srgbClr val="DDE1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6" name="Picture 15" descr="check_steel.png"/>
          <p:cNvPicPr>
            <a:picLocks noChangeAspect="1"/>
          </p:cNvPicPr>
          <p:nvPr/>
        </p:nvPicPr>
        <p:blipFill>
          <a:blip r:embed="rId3"/>
          <a:stretch>
            <a:fillRect/>
          </a:stretch>
        </p:blipFill>
        <p:spPr>
          <a:xfrm>
            <a:off x="987552" y="4352544"/>
            <a:ext cx="237744" cy="237744"/>
          </a:xfrm>
          <a:prstGeom prst="rect">
            <a:avLst/>
          </a:prstGeom>
        </p:spPr>
      </p:pic>
      <p:sp>
        <p:nvSpPr>
          <p:cNvPr id="17" name="TextBox 16"/>
          <p:cNvSpPr txBox="1"/>
          <p:nvPr/>
        </p:nvSpPr>
        <p:spPr>
          <a:xfrm>
            <a:off x="1353312" y="4206240"/>
            <a:ext cx="5029200" cy="530352"/>
          </a:xfrm>
          <a:prstGeom prst="rect">
            <a:avLst/>
          </a:prstGeom>
          <a:noFill/>
        </p:spPr>
        <p:txBody>
          <a:bodyPr wrap="square" anchor="ctr" lIns="0" rIns="0" tIns="0" bIns="0">
            <a:spAutoFit/>
          </a:bodyPr>
          <a:lstStyle/>
          <a:p>
            <a:pPr algn="l">
              <a:lnSpc>
                <a:spcPct val="106000"/>
              </a:lnSpc>
              <a:spcBef>
                <a:spcPts val="0"/>
              </a:spcBef>
              <a:spcAft>
                <a:spcPts val="0"/>
              </a:spcAft>
            </a:pPr>
            <a:r>
              <a:rPr sz="1200" b="0">
                <a:solidFill>
                  <a:srgbClr val="1A1A1A"/>
                </a:solidFill>
                <a:latin typeface="Red Hat Text"/>
              </a:rPr>
              <a:t>Replatform = externalize config + logs, containerize (most of this module)</a:t>
            </a:r>
          </a:p>
        </p:txBody>
      </p:sp>
      <p:sp>
        <p:nvSpPr>
          <p:cNvPr id="18" name="Rounded Rectangle 17"/>
          <p:cNvSpPr/>
          <p:nvPr/>
        </p:nvSpPr>
        <p:spPr>
          <a:xfrm>
            <a:off x="841248" y="4809744"/>
            <a:ext cx="5715000" cy="530352"/>
          </a:xfrm>
          <a:prstGeom prst="roundRect">
            <a:avLst>
              <a:gd name="adj" fmla="val 6000"/>
            </a:avLst>
          </a:prstGeom>
          <a:solidFill>
            <a:srgbClr val="F5F6F8"/>
          </a:solidFill>
          <a:ln w="12700">
            <a:solidFill>
              <a:srgbClr val="DDE1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9" name="Picture 18" descr="check_steel.png"/>
          <p:cNvPicPr>
            <a:picLocks noChangeAspect="1"/>
          </p:cNvPicPr>
          <p:nvPr/>
        </p:nvPicPr>
        <p:blipFill>
          <a:blip r:embed="rId3"/>
          <a:stretch>
            <a:fillRect/>
          </a:stretch>
        </p:blipFill>
        <p:spPr>
          <a:xfrm>
            <a:off x="987552" y="4956048"/>
            <a:ext cx="237744" cy="237744"/>
          </a:xfrm>
          <a:prstGeom prst="rect">
            <a:avLst/>
          </a:prstGeom>
        </p:spPr>
      </p:pic>
      <p:sp>
        <p:nvSpPr>
          <p:cNvPr id="20" name="TextBox 19"/>
          <p:cNvSpPr txBox="1"/>
          <p:nvPr/>
        </p:nvSpPr>
        <p:spPr>
          <a:xfrm>
            <a:off x="1353312" y="4809744"/>
            <a:ext cx="5029200" cy="530352"/>
          </a:xfrm>
          <a:prstGeom prst="rect">
            <a:avLst/>
          </a:prstGeom>
          <a:noFill/>
        </p:spPr>
        <p:txBody>
          <a:bodyPr wrap="square" anchor="ctr" lIns="0" rIns="0" tIns="0" bIns="0">
            <a:spAutoFit/>
          </a:bodyPr>
          <a:lstStyle/>
          <a:p>
            <a:pPr algn="l">
              <a:lnSpc>
                <a:spcPct val="106000"/>
              </a:lnSpc>
              <a:spcBef>
                <a:spcPts val="0"/>
              </a:spcBef>
              <a:spcAft>
                <a:spcPts val="0"/>
              </a:spcAft>
            </a:pPr>
            <a:r>
              <a:rPr sz="1200" b="0">
                <a:solidFill>
                  <a:srgbClr val="1A1A1A"/>
                </a:solidFill>
                <a:latin typeface="Red Hat Text"/>
              </a:rPr>
              <a:t>parasol-legacy-claims = replatform-leaning-refactor</a:t>
            </a:r>
          </a:p>
        </p:txBody>
      </p:sp>
      <p:sp>
        <p:nvSpPr>
          <p:cNvPr id="21" name="Rounded Rectangle 20"/>
          <p:cNvSpPr/>
          <p:nvPr/>
        </p:nvSpPr>
        <p:spPr>
          <a:xfrm>
            <a:off x="6812280" y="2395728"/>
            <a:ext cx="4538167" cy="2944368"/>
          </a:xfrm>
          <a:prstGeom prst="roundRect">
            <a:avLst>
              <a:gd name="adj" fmla="val 4000"/>
            </a:avLst>
          </a:prstGeom>
          <a:solidFill>
            <a:srgbClr val="FFFFFF"/>
          </a:solidFill>
          <a:ln w="15240">
            <a:solidFill>
              <a:srgbClr val="DDE1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ounded Rectangle 21"/>
          <p:cNvSpPr/>
          <p:nvPr/>
        </p:nvSpPr>
        <p:spPr>
          <a:xfrm>
            <a:off x="7013448" y="2596896"/>
            <a:ext cx="1298448" cy="310896"/>
          </a:xfrm>
          <a:prstGeom prst="roundRect">
            <a:avLst>
              <a:gd name="adj" fmla="val 50000"/>
            </a:avLst>
          </a:prstGeom>
          <a:solidFill>
            <a:srgbClr val="FCEC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7013448" y="2596896"/>
            <a:ext cx="1298448" cy="310896"/>
          </a:xfrm>
          <a:prstGeom prst="rect">
            <a:avLst/>
          </a:prstGeom>
          <a:noFill/>
        </p:spPr>
        <p:txBody>
          <a:bodyPr wrap="none" anchor="ctr" lIns="0" rIns="0" tIns="0" bIns="0">
            <a:spAutoFit/>
          </a:bodyPr>
          <a:lstStyle/>
          <a:p>
            <a:pPr algn="ctr">
              <a:lnSpc>
                <a:spcPct val="106000"/>
              </a:lnSpc>
              <a:spcBef>
                <a:spcPts val="0"/>
              </a:spcBef>
              <a:spcAft>
                <a:spcPts val="0"/>
              </a:spcAft>
            </a:pPr>
            <a:r>
              <a:rPr sz="850" b="1">
                <a:solidFill>
                  <a:srgbClr val="B80000"/>
                </a:solidFill>
                <a:latin typeface="Red Hat Display"/>
              </a:rPr>
              <a:t>MEDIA PASS</a:t>
            </a:r>
          </a:p>
        </p:txBody>
      </p:sp>
      <p:pic>
        <p:nvPicPr>
          <p:cNvPr id="24" name="Picture 23" descr="eye_slate.png"/>
          <p:cNvPicPr>
            <a:picLocks noChangeAspect="1"/>
          </p:cNvPicPr>
          <p:nvPr/>
        </p:nvPicPr>
        <p:blipFill>
          <a:blip r:embed="rId4"/>
          <a:stretch>
            <a:fillRect/>
          </a:stretch>
        </p:blipFill>
        <p:spPr>
          <a:xfrm>
            <a:off x="8843619" y="3108960"/>
            <a:ext cx="475488" cy="475488"/>
          </a:xfrm>
          <a:prstGeom prst="rect">
            <a:avLst/>
          </a:prstGeom>
        </p:spPr>
      </p:pic>
      <p:sp>
        <p:nvSpPr>
          <p:cNvPr id="25" name="TextBox 24"/>
          <p:cNvSpPr txBox="1"/>
          <p:nvPr/>
        </p:nvSpPr>
        <p:spPr>
          <a:xfrm>
            <a:off x="7050024" y="3721608"/>
            <a:ext cx="4062679" cy="1481328"/>
          </a:xfrm>
          <a:prstGeom prst="rect">
            <a:avLst/>
          </a:prstGeom>
          <a:noFill/>
        </p:spPr>
        <p:txBody>
          <a:bodyPr wrap="square" anchor="t" lIns="0" rIns="0" tIns="0" bIns="0">
            <a:spAutoFit/>
          </a:bodyPr>
          <a:lstStyle/>
          <a:p>
            <a:pPr algn="l">
              <a:lnSpc>
                <a:spcPct val="120000"/>
              </a:lnSpc>
              <a:spcBef>
                <a:spcPts val="0"/>
              </a:spcBef>
              <a:spcAft>
                <a:spcPts val="0"/>
              </a:spcAft>
            </a:pPr>
            <a:r>
              <a:rPr sz="950" b="0">
                <a:solidFill>
                  <a:srgbClr val="8A9099"/>
                </a:solidFill>
                <a:latin typeface="Red Hat Text"/>
              </a:rPr>
              <a:t>A 2×3 grid of the six Rs, each a card with a one-line "when it's right" and a tiny Parasol example. The Replatform card is highlighted; a marker pin labeled "parasol-legacy-claims" sits on the Replatform↔Refactor boundary.</a:t>
            </a:r>
          </a:p>
        </p:txBody>
      </p:sp>
      <p:cxnSp>
        <p:nvCxnSpPr>
          <p:cNvPr id="26" name="Connector 25"/>
          <p:cNvCxnSpPr/>
          <p:nvPr/>
        </p:nvCxnSpPr>
        <p:spPr>
          <a:xfrm>
            <a:off x="841248" y="6437376"/>
            <a:ext cx="10509199" cy="0"/>
          </a:xfrm>
          <a:prstGeom prst="bentConnector3">
            <a:avLst/>
          </a:prstGeom>
          <a:ln w="12700">
            <a:solidFill>
              <a:srgbClr val="DDE1E6"/>
            </a:solidFill>
          </a:ln>
          <a:effectLst/>
        </p:spPr>
        <p:style>
          <a:lnRef idx="2">
            <a:schemeClr val="accent1"/>
          </a:lnRef>
          <a:fillRef idx="0">
            <a:schemeClr val="accent1"/>
          </a:fillRef>
          <a:effectRef idx="1">
            <a:schemeClr val="accent1"/>
          </a:effectRef>
          <a:fontRef idx="minor">
            <a:schemeClr val="tx1"/>
          </a:fontRef>
        </p:style>
      </p:cxnSp>
      <p:sp>
        <p:nvSpPr>
          <p:cNvPr id="27" name="TextBox 26"/>
          <p:cNvSpPr txBox="1"/>
          <p:nvPr/>
        </p:nvSpPr>
        <p:spPr>
          <a:xfrm>
            <a:off x="841248" y="6473952"/>
            <a:ext cx="7315200" cy="274320"/>
          </a:xfrm>
          <a:prstGeom prst="rect">
            <a:avLst/>
          </a:prstGeom>
          <a:noFill/>
        </p:spPr>
        <p:txBody>
          <a:bodyPr wrap="square" anchor="t" lIns="0" rIns="0" tIns="0" bIns="0">
            <a:spAutoFit/>
          </a:bodyPr>
          <a:lstStyle/>
          <a:p>
            <a:pPr algn="l">
              <a:lnSpc>
                <a:spcPct val="106000"/>
              </a:lnSpc>
              <a:spcBef>
                <a:spcPts val="0"/>
              </a:spcBef>
              <a:spcAft>
                <a:spcPts val="0"/>
              </a:spcAft>
            </a:pPr>
            <a:r>
              <a:rPr sz="950" b="0">
                <a:solidFill>
                  <a:srgbClr val="8A9099"/>
                </a:solidFill>
                <a:latin typeface="Red Hat Text"/>
              </a:rPr>
              <a:t>CONFIDENTIAL</a:t>
            </a:r>
          </a:p>
        </p:txBody>
      </p:sp>
      <p:sp>
        <p:nvSpPr>
          <p:cNvPr id="28" name="TextBox 27"/>
          <p:cNvSpPr txBox="1"/>
          <p:nvPr/>
        </p:nvSpPr>
        <p:spPr>
          <a:xfrm>
            <a:off x="10801807" y="6473952"/>
            <a:ext cx="548640" cy="274320"/>
          </a:xfrm>
          <a:prstGeom prst="rect">
            <a:avLst/>
          </a:prstGeom>
          <a:noFill/>
        </p:spPr>
        <p:txBody>
          <a:bodyPr wrap="square" anchor="t" lIns="0" rIns="0" tIns="0" bIns="0">
            <a:spAutoFit/>
          </a:bodyPr>
          <a:lstStyle/>
          <a:p>
            <a:pPr algn="r">
              <a:lnSpc>
                <a:spcPct val="106000"/>
              </a:lnSpc>
              <a:spcBef>
                <a:spcPts val="0"/>
              </a:spcBef>
              <a:spcAft>
                <a:spcPts val="0"/>
              </a:spcAft>
            </a:pPr>
            <a:r>
              <a:rPr sz="950" b="0">
                <a:solidFill>
                  <a:srgbClr val="8A9099"/>
                </a:solidFill>
                <a:latin typeface="Red Hat Text"/>
              </a:rPr>
              <a:t>166</a:t>
            </a:r>
          </a:p>
        </p:txBody>
      </p:sp>
    </p:spTree>
  </p:cSld>
  <p:clrMapOvr>
    <a:masterClrMapping/>
  </p:clrMapOvr>
</p:sld>
</file>

<file path=ppt/slides/slide19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redhat_logo.jpg"/>
          <p:cNvPicPr>
            <a:picLocks noChangeAspect="1"/>
          </p:cNvPicPr>
          <p:nvPr/>
        </p:nvPicPr>
        <p:blipFill>
          <a:blip r:embed="rId2"/>
          <a:stretch>
            <a:fillRect/>
          </a:stretch>
        </p:blipFill>
        <p:spPr>
          <a:xfrm>
            <a:off x="10326319" y="475488"/>
            <a:ext cx="1024128" cy="242248"/>
          </a:xfrm>
          <a:prstGeom prst="rect">
            <a:avLst/>
          </a:prstGeom>
        </p:spPr>
      </p:pic>
      <p:sp>
        <p:nvSpPr>
          <p:cNvPr id="3" name="TextBox 2"/>
          <p:cNvSpPr txBox="1"/>
          <p:nvPr/>
        </p:nvSpPr>
        <p:spPr>
          <a:xfrm>
            <a:off x="841248" y="548640"/>
            <a:ext cx="8595360" cy="274320"/>
          </a:xfrm>
          <a:prstGeom prst="rect">
            <a:avLst/>
          </a:prstGeom>
          <a:noFill/>
        </p:spPr>
        <p:txBody>
          <a:bodyPr wrap="square" anchor="t" lIns="0" rIns="0" tIns="0" bIns="0">
            <a:spAutoFit/>
          </a:bodyPr>
          <a:lstStyle/>
          <a:p>
            <a:pPr algn="l">
              <a:lnSpc>
                <a:spcPct val="106000"/>
              </a:lnSpc>
              <a:spcBef>
                <a:spcPts val="0"/>
              </a:spcBef>
              <a:spcAft>
                <a:spcPts val="0"/>
              </a:spcAft>
            </a:pPr>
            <a:r>
              <a:rPr sz="1250" b="1" spc="220">
                <a:solidFill>
                  <a:srgbClr val="EE0000"/>
                </a:solidFill>
                <a:latin typeface="Red Hat Display"/>
              </a:rPr>
              <a:t>M23 · APPLICATION MODERNIZATION</a:t>
            </a:r>
          </a:p>
        </p:txBody>
      </p:sp>
      <p:sp>
        <p:nvSpPr>
          <p:cNvPr id="4" name="TextBox 3"/>
          <p:cNvSpPr txBox="1"/>
          <p:nvPr/>
        </p:nvSpPr>
        <p:spPr>
          <a:xfrm>
            <a:off x="841248" y="877824"/>
            <a:ext cx="10515600" cy="548640"/>
          </a:xfrm>
          <a:prstGeom prst="rect">
            <a:avLst/>
          </a:prstGeom>
          <a:noFill/>
        </p:spPr>
        <p:txBody>
          <a:bodyPr wrap="none" anchor="t" lIns="0" rIns="0" tIns="0" bIns="0">
            <a:spAutoFit/>
          </a:bodyPr>
          <a:lstStyle/>
          <a:p>
            <a:pPr algn="l">
              <a:lnSpc>
                <a:spcPct val="100000"/>
              </a:lnSpc>
              <a:spcBef>
                <a:spcPts val="0"/>
              </a:spcBef>
              <a:spcAft>
                <a:spcPts val="0"/>
              </a:spcAft>
            </a:pPr>
            <a:r>
              <a:rPr sz="2500" b="1">
                <a:solidFill>
                  <a:srgbClr val="1A1A1A"/>
                </a:solidFill>
                <a:latin typeface="Red Hat Display"/>
              </a:rPr>
              <a:t>How MTA analysis works</a:t>
            </a:r>
          </a:p>
        </p:txBody>
      </p:sp>
      <p:cxnSp>
        <p:nvCxnSpPr>
          <p:cNvPr id="5" name="Connector 4"/>
          <p:cNvCxnSpPr/>
          <p:nvPr/>
        </p:nvCxnSpPr>
        <p:spPr>
          <a:xfrm>
            <a:off x="841248" y="1554480"/>
            <a:ext cx="1371600" cy="0"/>
          </a:xfrm>
          <a:prstGeom prst="bentConnector3">
            <a:avLst/>
          </a:prstGeom>
          <a:ln w="31750">
            <a:solidFill>
              <a:srgbClr val="EE0000"/>
            </a:solidFill>
          </a:ln>
          <a:effectLst/>
        </p:spPr>
        <p:style>
          <a:lnRef idx="2">
            <a:schemeClr val="accent1"/>
          </a:lnRef>
          <a:fillRef idx="0">
            <a:schemeClr val="accent1"/>
          </a:fillRef>
          <a:effectRef idx="1">
            <a:schemeClr val="accent1"/>
          </a:effectRef>
          <a:fontRef idx="minor">
            <a:schemeClr val="tx1"/>
          </a:fontRef>
        </p:style>
      </p:cxnSp>
      <p:sp>
        <p:nvSpPr>
          <p:cNvPr id="6" name="Rounded Rectangle 5"/>
          <p:cNvSpPr/>
          <p:nvPr/>
        </p:nvSpPr>
        <p:spPr>
          <a:xfrm>
            <a:off x="841248" y="2395728"/>
            <a:ext cx="5715000" cy="530352"/>
          </a:xfrm>
          <a:prstGeom prst="roundRect">
            <a:avLst>
              <a:gd name="adj" fmla="val 6000"/>
            </a:avLst>
          </a:prstGeom>
          <a:solidFill>
            <a:srgbClr val="F5F6F8"/>
          </a:solidFill>
          <a:ln w="12700">
            <a:solidFill>
              <a:srgbClr val="DDE1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check_steel.png"/>
          <p:cNvPicPr>
            <a:picLocks noChangeAspect="1"/>
          </p:cNvPicPr>
          <p:nvPr/>
        </p:nvPicPr>
        <p:blipFill>
          <a:blip r:embed="rId3"/>
          <a:stretch>
            <a:fillRect/>
          </a:stretch>
        </p:blipFill>
        <p:spPr>
          <a:xfrm>
            <a:off x="987552" y="2542032"/>
            <a:ext cx="237744" cy="237744"/>
          </a:xfrm>
          <a:prstGeom prst="rect">
            <a:avLst/>
          </a:prstGeom>
        </p:spPr>
      </p:pic>
      <p:sp>
        <p:nvSpPr>
          <p:cNvPr id="8" name="TextBox 7"/>
          <p:cNvSpPr txBox="1"/>
          <p:nvPr/>
        </p:nvSpPr>
        <p:spPr>
          <a:xfrm>
            <a:off x="1353312" y="2395728"/>
            <a:ext cx="5029200" cy="530352"/>
          </a:xfrm>
          <a:prstGeom prst="rect">
            <a:avLst/>
          </a:prstGeom>
          <a:noFill/>
        </p:spPr>
        <p:txBody>
          <a:bodyPr wrap="square" anchor="ctr" lIns="0" rIns="0" tIns="0" bIns="0">
            <a:spAutoFit/>
          </a:bodyPr>
          <a:lstStyle/>
          <a:p>
            <a:pPr algn="l">
              <a:lnSpc>
                <a:spcPct val="106000"/>
              </a:lnSpc>
              <a:spcBef>
                <a:spcPts val="0"/>
              </a:spcBef>
              <a:spcAft>
                <a:spcPts val="0"/>
              </a:spcAft>
            </a:pPr>
            <a:r>
              <a:rPr sz="1200" b="0">
                <a:solidFill>
                  <a:srgbClr val="1A1A1A"/>
                </a:solidFill>
                <a:latin typeface="Red Hat Text"/>
              </a:rPr>
              <a:t>Point MTA at the SOURCE; pick migration TARGETS (goals)</a:t>
            </a:r>
          </a:p>
        </p:txBody>
      </p:sp>
      <p:sp>
        <p:nvSpPr>
          <p:cNvPr id="9" name="Rounded Rectangle 8"/>
          <p:cNvSpPr/>
          <p:nvPr/>
        </p:nvSpPr>
        <p:spPr>
          <a:xfrm>
            <a:off x="841248" y="2999232"/>
            <a:ext cx="5715000" cy="530352"/>
          </a:xfrm>
          <a:prstGeom prst="roundRect">
            <a:avLst>
              <a:gd name="adj" fmla="val 6000"/>
            </a:avLst>
          </a:prstGeom>
          <a:solidFill>
            <a:srgbClr val="F5F6F8"/>
          </a:solidFill>
          <a:ln w="12700">
            <a:solidFill>
              <a:srgbClr val="DDE1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0" name="Picture 9" descr="check_steel.png"/>
          <p:cNvPicPr>
            <a:picLocks noChangeAspect="1"/>
          </p:cNvPicPr>
          <p:nvPr/>
        </p:nvPicPr>
        <p:blipFill>
          <a:blip r:embed="rId3"/>
          <a:stretch>
            <a:fillRect/>
          </a:stretch>
        </p:blipFill>
        <p:spPr>
          <a:xfrm>
            <a:off x="987552" y="3145536"/>
            <a:ext cx="237744" cy="237744"/>
          </a:xfrm>
          <a:prstGeom prst="rect">
            <a:avLst/>
          </a:prstGeom>
        </p:spPr>
      </p:pic>
      <p:sp>
        <p:nvSpPr>
          <p:cNvPr id="11" name="TextBox 10"/>
          <p:cNvSpPr txBox="1"/>
          <p:nvPr/>
        </p:nvSpPr>
        <p:spPr>
          <a:xfrm>
            <a:off x="1353312" y="2999232"/>
            <a:ext cx="5029200" cy="530352"/>
          </a:xfrm>
          <a:prstGeom prst="rect">
            <a:avLst/>
          </a:prstGeom>
          <a:noFill/>
        </p:spPr>
        <p:txBody>
          <a:bodyPr wrap="square" anchor="ctr" lIns="0" rIns="0" tIns="0" bIns="0">
            <a:spAutoFit/>
          </a:bodyPr>
          <a:lstStyle/>
          <a:p>
            <a:pPr algn="l">
              <a:lnSpc>
                <a:spcPct val="106000"/>
              </a:lnSpc>
              <a:spcBef>
                <a:spcPts val="0"/>
              </a:spcBef>
              <a:spcAft>
                <a:spcPts val="0"/>
              </a:spcAft>
            </a:pPr>
            <a:r>
              <a:rPr sz="1200" b="0">
                <a:solidFill>
                  <a:srgbClr val="1A1A1A"/>
                </a:solidFill>
                <a:latin typeface="Red Hat Text"/>
              </a:rPr>
              <a:t>Rule engine (39 rulesets live) reports every place the code trips a rule</a:t>
            </a:r>
          </a:p>
        </p:txBody>
      </p:sp>
      <p:sp>
        <p:nvSpPr>
          <p:cNvPr id="12" name="Rounded Rectangle 11"/>
          <p:cNvSpPr/>
          <p:nvPr/>
        </p:nvSpPr>
        <p:spPr>
          <a:xfrm>
            <a:off x="841248" y="3602736"/>
            <a:ext cx="5715000" cy="530352"/>
          </a:xfrm>
          <a:prstGeom prst="roundRect">
            <a:avLst>
              <a:gd name="adj" fmla="val 6000"/>
            </a:avLst>
          </a:prstGeom>
          <a:solidFill>
            <a:srgbClr val="F5F6F8"/>
          </a:solidFill>
          <a:ln w="12700">
            <a:solidFill>
              <a:srgbClr val="DDE1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3" name="Picture 12" descr="check_steel.png"/>
          <p:cNvPicPr>
            <a:picLocks noChangeAspect="1"/>
          </p:cNvPicPr>
          <p:nvPr/>
        </p:nvPicPr>
        <p:blipFill>
          <a:blip r:embed="rId3"/>
          <a:stretch>
            <a:fillRect/>
          </a:stretch>
        </p:blipFill>
        <p:spPr>
          <a:xfrm>
            <a:off x="987552" y="3749040"/>
            <a:ext cx="237744" cy="237744"/>
          </a:xfrm>
          <a:prstGeom prst="rect">
            <a:avLst/>
          </a:prstGeom>
        </p:spPr>
      </p:pic>
      <p:sp>
        <p:nvSpPr>
          <p:cNvPr id="14" name="TextBox 13"/>
          <p:cNvSpPr txBox="1"/>
          <p:nvPr/>
        </p:nvSpPr>
        <p:spPr>
          <a:xfrm>
            <a:off x="1353312" y="3602736"/>
            <a:ext cx="5029200" cy="530352"/>
          </a:xfrm>
          <a:prstGeom prst="rect">
            <a:avLst/>
          </a:prstGeom>
          <a:noFill/>
        </p:spPr>
        <p:txBody>
          <a:bodyPr wrap="square" anchor="ctr" lIns="0" rIns="0" tIns="0" bIns="0">
            <a:spAutoFit/>
          </a:bodyPr>
          <a:lstStyle/>
          <a:p>
            <a:pPr algn="l">
              <a:lnSpc>
                <a:spcPct val="106000"/>
              </a:lnSpc>
              <a:spcBef>
                <a:spcPts val="0"/>
              </a:spcBef>
              <a:spcAft>
                <a:spcPts val="0"/>
              </a:spcAft>
            </a:pPr>
            <a:r>
              <a:rPr sz="1200" b="0">
                <a:solidFill>
                  <a:srgbClr val="1A1A1A"/>
                </a:solidFill>
                <a:latin typeface="Red Hat Text"/>
              </a:rPr>
              <a:t>Each issue: a CATEGORY (mandatory / optional / potential) + an EFFORT score</a:t>
            </a:r>
          </a:p>
        </p:txBody>
      </p:sp>
      <p:sp>
        <p:nvSpPr>
          <p:cNvPr id="15" name="Rounded Rectangle 14"/>
          <p:cNvSpPr/>
          <p:nvPr/>
        </p:nvSpPr>
        <p:spPr>
          <a:xfrm>
            <a:off x="841248" y="4206240"/>
            <a:ext cx="5715000" cy="530352"/>
          </a:xfrm>
          <a:prstGeom prst="roundRect">
            <a:avLst>
              <a:gd name="adj" fmla="val 6000"/>
            </a:avLst>
          </a:prstGeom>
          <a:solidFill>
            <a:srgbClr val="F5F6F8"/>
          </a:solidFill>
          <a:ln w="12700">
            <a:solidFill>
              <a:srgbClr val="DDE1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6" name="Picture 15" descr="check_steel.png"/>
          <p:cNvPicPr>
            <a:picLocks noChangeAspect="1"/>
          </p:cNvPicPr>
          <p:nvPr/>
        </p:nvPicPr>
        <p:blipFill>
          <a:blip r:embed="rId3"/>
          <a:stretch>
            <a:fillRect/>
          </a:stretch>
        </p:blipFill>
        <p:spPr>
          <a:xfrm>
            <a:off x="987552" y="4352544"/>
            <a:ext cx="237744" cy="237744"/>
          </a:xfrm>
          <a:prstGeom prst="rect">
            <a:avLst/>
          </a:prstGeom>
        </p:spPr>
      </p:pic>
      <p:sp>
        <p:nvSpPr>
          <p:cNvPr id="17" name="TextBox 16"/>
          <p:cNvSpPr txBox="1"/>
          <p:nvPr/>
        </p:nvSpPr>
        <p:spPr>
          <a:xfrm>
            <a:off x="1353312" y="4206240"/>
            <a:ext cx="5029200" cy="530352"/>
          </a:xfrm>
          <a:prstGeom prst="rect">
            <a:avLst/>
          </a:prstGeom>
          <a:noFill/>
        </p:spPr>
        <p:txBody>
          <a:bodyPr wrap="square" anchor="ctr" lIns="0" rIns="0" tIns="0" bIns="0">
            <a:spAutoFit/>
          </a:bodyPr>
          <a:lstStyle/>
          <a:p>
            <a:pPr algn="l">
              <a:lnSpc>
                <a:spcPct val="106000"/>
              </a:lnSpc>
              <a:spcBef>
                <a:spcPts val="0"/>
              </a:spcBef>
              <a:spcAft>
                <a:spcPts val="0"/>
              </a:spcAft>
            </a:pPr>
            <a:r>
              <a:rPr sz="1200" b="0">
                <a:solidFill>
                  <a:srgbClr val="1A1A1A"/>
                </a:solidFill>
                <a:latin typeface="Red Hat Text"/>
              </a:rPr>
              <a:t>Targets for containerizing Java: cloud-readiness · linux · openjdk · jakarta-ee · jws</a:t>
            </a:r>
          </a:p>
        </p:txBody>
      </p:sp>
      <p:sp>
        <p:nvSpPr>
          <p:cNvPr id="18" name="Rounded Rectangle 17"/>
          <p:cNvSpPr/>
          <p:nvPr/>
        </p:nvSpPr>
        <p:spPr>
          <a:xfrm>
            <a:off x="841248" y="4809744"/>
            <a:ext cx="5715000" cy="530352"/>
          </a:xfrm>
          <a:prstGeom prst="roundRect">
            <a:avLst>
              <a:gd name="adj" fmla="val 6000"/>
            </a:avLst>
          </a:prstGeom>
          <a:solidFill>
            <a:srgbClr val="F5F6F8"/>
          </a:solidFill>
          <a:ln w="12700">
            <a:solidFill>
              <a:srgbClr val="DDE1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9" name="Picture 18" descr="check_steel.png"/>
          <p:cNvPicPr>
            <a:picLocks noChangeAspect="1"/>
          </p:cNvPicPr>
          <p:nvPr/>
        </p:nvPicPr>
        <p:blipFill>
          <a:blip r:embed="rId3"/>
          <a:stretch>
            <a:fillRect/>
          </a:stretch>
        </p:blipFill>
        <p:spPr>
          <a:xfrm>
            <a:off x="987552" y="4956048"/>
            <a:ext cx="237744" cy="237744"/>
          </a:xfrm>
          <a:prstGeom prst="rect">
            <a:avLst/>
          </a:prstGeom>
        </p:spPr>
      </p:pic>
      <p:sp>
        <p:nvSpPr>
          <p:cNvPr id="20" name="TextBox 19"/>
          <p:cNvSpPr txBox="1"/>
          <p:nvPr/>
        </p:nvSpPr>
        <p:spPr>
          <a:xfrm>
            <a:off x="1353312" y="4809744"/>
            <a:ext cx="5029200" cy="530352"/>
          </a:xfrm>
          <a:prstGeom prst="rect">
            <a:avLst/>
          </a:prstGeom>
          <a:noFill/>
        </p:spPr>
        <p:txBody>
          <a:bodyPr wrap="square" anchor="ctr" lIns="0" rIns="0" tIns="0" bIns="0">
            <a:spAutoFit/>
          </a:bodyPr>
          <a:lstStyle/>
          <a:p>
            <a:pPr algn="l">
              <a:lnSpc>
                <a:spcPct val="106000"/>
              </a:lnSpc>
              <a:spcBef>
                <a:spcPts val="0"/>
              </a:spcBef>
              <a:spcAft>
                <a:spcPts val="0"/>
              </a:spcAft>
            </a:pPr>
            <a:r>
              <a:rPr sz="1200" b="0">
                <a:solidFill>
                  <a:srgbClr val="1A1A1A"/>
                </a:solidFill>
                <a:latin typeface="Red Hat Text"/>
              </a:rPr>
              <a:t>Re-analysis after a fix shows the effort NUMBER DROP — measurable</a:t>
            </a:r>
          </a:p>
        </p:txBody>
      </p:sp>
      <p:sp>
        <p:nvSpPr>
          <p:cNvPr id="21" name="Rounded Rectangle 20"/>
          <p:cNvSpPr/>
          <p:nvPr/>
        </p:nvSpPr>
        <p:spPr>
          <a:xfrm>
            <a:off x="6812280" y="2395728"/>
            <a:ext cx="4538167" cy="2944368"/>
          </a:xfrm>
          <a:prstGeom prst="roundRect">
            <a:avLst>
              <a:gd name="adj" fmla="val 4000"/>
            </a:avLst>
          </a:prstGeom>
          <a:solidFill>
            <a:srgbClr val="FFFFFF"/>
          </a:solidFill>
          <a:ln w="15240">
            <a:solidFill>
              <a:srgbClr val="DDE1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ounded Rectangle 21"/>
          <p:cNvSpPr/>
          <p:nvPr/>
        </p:nvSpPr>
        <p:spPr>
          <a:xfrm>
            <a:off x="7013448" y="2596896"/>
            <a:ext cx="1298448" cy="310896"/>
          </a:xfrm>
          <a:prstGeom prst="roundRect">
            <a:avLst>
              <a:gd name="adj" fmla="val 50000"/>
            </a:avLst>
          </a:prstGeom>
          <a:solidFill>
            <a:srgbClr val="FCEC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7013448" y="2596896"/>
            <a:ext cx="1298448" cy="310896"/>
          </a:xfrm>
          <a:prstGeom prst="rect">
            <a:avLst/>
          </a:prstGeom>
          <a:noFill/>
        </p:spPr>
        <p:txBody>
          <a:bodyPr wrap="none" anchor="ctr" lIns="0" rIns="0" tIns="0" bIns="0">
            <a:spAutoFit/>
          </a:bodyPr>
          <a:lstStyle/>
          <a:p>
            <a:pPr algn="ctr">
              <a:lnSpc>
                <a:spcPct val="106000"/>
              </a:lnSpc>
              <a:spcBef>
                <a:spcPts val="0"/>
              </a:spcBef>
              <a:spcAft>
                <a:spcPts val="0"/>
              </a:spcAft>
            </a:pPr>
            <a:r>
              <a:rPr sz="850" b="1">
                <a:solidFill>
                  <a:srgbClr val="B80000"/>
                </a:solidFill>
                <a:latin typeface="Red Hat Display"/>
              </a:rPr>
              <a:t>MEDIA PASS</a:t>
            </a:r>
          </a:p>
        </p:txBody>
      </p:sp>
      <p:pic>
        <p:nvPicPr>
          <p:cNvPr id="24" name="Picture 23" descr="eye_slate.png"/>
          <p:cNvPicPr>
            <a:picLocks noChangeAspect="1"/>
          </p:cNvPicPr>
          <p:nvPr/>
        </p:nvPicPr>
        <p:blipFill>
          <a:blip r:embed="rId4"/>
          <a:stretch>
            <a:fillRect/>
          </a:stretch>
        </p:blipFill>
        <p:spPr>
          <a:xfrm>
            <a:off x="8843619" y="3108960"/>
            <a:ext cx="475488" cy="475488"/>
          </a:xfrm>
          <a:prstGeom prst="rect">
            <a:avLst/>
          </a:prstGeom>
        </p:spPr>
      </p:pic>
      <p:sp>
        <p:nvSpPr>
          <p:cNvPr id="25" name="TextBox 24"/>
          <p:cNvSpPr txBox="1"/>
          <p:nvPr/>
        </p:nvSpPr>
        <p:spPr>
          <a:xfrm>
            <a:off x="7050024" y="3721608"/>
            <a:ext cx="4062679" cy="1481328"/>
          </a:xfrm>
          <a:prstGeom prst="rect">
            <a:avLst/>
          </a:prstGeom>
          <a:noFill/>
        </p:spPr>
        <p:txBody>
          <a:bodyPr wrap="square" anchor="t" lIns="0" rIns="0" tIns="0" bIns="0">
            <a:spAutoFit/>
          </a:bodyPr>
          <a:lstStyle/>
          <a:p>
            <a:pPr algn="l">
              <a:lnSpc>
                <a:spcPct val="120000"/>
              </a:lnSpc>
              <a:spcBef>
                <a:spcPts val="0"/>
              </a:spcBef>
              <a:spcAft>
                <a:spcPts val="0"/>
              </a:spcAft>
            </a:pPr>
            <a:r>
              <a:rPr sz="950" b="0">
                <a:solidFill>
                  <a:srgbClr val="8A9099"/>
                </a:solidFill>
                <a:latin typeface="Red Hat Text"/>
              </a:rPr>
              <a:t>The concept diagram app-modernization-01-mta-flow.svg — the Git source + the target chips feeding the analyzer addon in the shared Hub, emitting a report (issues + effort) to "you," who loop through a Dev Spaces + Developer Lightspeed fix back to the source.</a:t>
            </a:r>
          </a:p>
        </p:txBody>
      </p:sp>
      <p:cxnSp>
        <p:nvCxnSpPr>
          <p:cNvPr id="26" name="Connector 25"/>
          <p:cNvCxnSpPr/>
          <p:nvPr/>
        </p:nvCxnSpPr>
        <p:spPr>
          <a:xfrm>
            <a:off x="841248" y="6437376"/>
            <a:ext cx="10509199" cy="0"/>
          </a:xfrm>
          <a:prstGeom prst="bentConnector3">
            <a:avLst/>
          </a:prstGeom>
          <a:ln w="12700">
            <a:solidFill>
              <a:srgbClr val="DDE1E6"/>
            </a:solidFill>
          </a:ln>
          <a:effectLst/>
        </p:spPr>
        <p:style>
          <a:lnRef idx="2">
            <a:schemeClr val="accent1"/>
          </a:lnRef>
          <a:fillRef idx="0">
            <a:schemeClr val="accent1"/>
          </a:fillRef>
          <a:effectRef idx="1">
            <a:schemeClr val="accent1"/>
          </a:effectRef>
          <a:fontRef idx="minor">
            <a:schemeClr val="tx1"/>
          </a:fontRef>
        </p:style>
      </p:cxnSp>
      <p:sp>
        <p:nvSpPr>
          <p:cNvPr id="27" name="TextBox 26"/>
          <p:cNvSpPr txBox="1"/>
          <p:nvPr/>
        </p:nvSpPr>
        <p:spPr>
          <a:xfrm>
            <a:off x="841248" y="6473952"/>
            <a:ext cx="7315200" cy="274320"/>
          </a:xfrm>
          <a:prstGeom prst="rect">
            <a:avLst/>
          </a:prstGeom>
          <a:noFill/>
        </p:spPr>
        <p:txBody>
          <a:bodyPr wrap="square" anchor="t" lIns="0" rIns="0" tIns="0" bIns="0">
            <a:spAutoFit/>
          </a:bodyPr>
          <a:lstStyle/>
          <a:p>
            <a:pPr algn="l">
              <a:lnSpc>
                <a:spcPct val="106000"/>
              </a:lnSpc>
              <a:spcBef>
                <a:spcPts val="0"/>
              </a:spcBef>
              <a:spcAft>
                <a:spcPts val="0"/>
              </a:spcAft>
            </a:pPr>
            <a:r>
              <a:rPr sz="950" b="0">
                <a:solidFill>
                  <a:srgbClr val="8A9099"/>
                </a:solidFill>
                <a:latin typeface="Red Hat Text"/>
              </a:rPr>
              <a:t>CONFIDENTIAL</a:t>
            </a:r>
          </a:p>
        </p:txBody>
      </p:sp>
      <p:sp>
        <p:nvSpPr>
          <p:cNvPr id="28" name="TextBox 27"/>
          <p:cNvSpPr txBox="1"/>
          <p:nvPr/>
        </p:nvSpPr>
        <p:spPr>
          <a:xfrm>
            <a:off x="10801807" y="6473952"/>
            <a:ext cx="548640" cy="274320"/>
          </a:xfrm>
          <a:prstGeom prst="rect">
            <a:avLst/>
          </a:prstGeom>
          <a:noFill/>
        </p:spPr>
        <p:txBody>
          <a:bodyPr wrap="square" anchor="t" lIns="0" rIns="0" tIns="0" bIns="0">
            <a:spAutoFit/>
          </a:bodyPr>
          <a:lstStyle/>
          <a:p>
            <a:pPr algn="r">
              <a:lnSpc>
                <a:spcPct val="106000"/>
              </a:lnSpc>
              <a:spcBef>
                <a:spcPts val="0"/>
              </a:spcBef>
              <a:spcAft>
                <a:spcPts val="0"/>
              </a:spcAft>
            </a:pPr>
            <a:r>
              <a:rPr sz="950" b="0">
                <a:solidFill>
                  <a:srgbClr val="8A9099"/>
                </a:solidFill>
                <a:latin typeface="Red Hat Text"/>
              </a:rPr>
              <a:t>167</a:t>
            </a:r>
          </a:p>
        </p:txBody>
      </p:sp>
    </p:spTree>
  </p:cSld>
  <p:clrMapOvr>
    <a:masterClrMapping/>
  </p:clrMapOvr>
</p:sld>
</file>

<file path=ppt/slides/slide19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redhat_logo.jpg"/>
          <p:cNvPicPr>
            <a:picLocks noChangeAspect="1"/>
          </p:cNvPicPr>
          <p:nvPr/>
        </p:nvPicPr>
        <p:blipFill>
          <a:blip r:embed="rId2"/>
          <a:stretch>
            <a:fillRect/>
          </a:stretch>
        </p:blipFill>
        <p:spPr>
          <a:xfrm>
            <a:off x="10326319" y="475488"/>
            <a:ext cx="1024128" cy="242248"/>
          </a:xfrm>
          <a:prstGeom prst="rect">
            <a:avLst/>
          </a:prstGeom>
        </p:spPr>
      </p:pic>
      <p:sp>
        <p:nvSpPr>
          <p:cNvPr id="3" name="TextBox 2"/>
          <p:cNvSpPr txBox="1"/>
          <p:nvPr/>
        </p:nvSpPr>
        <p:spPr>
          <a:xfrm>
            <a:off x="841248" y="548640"/>
            <a:ext cx="8595360" cy="274320"/>
          </a:xfrm>
          <a:prstGeom prst="rect">
            <a:avLst/>
          </a:prstGeom>
          <a:noFill/>
        </p:spPr>
        <p:txBody>
          <a:bodyPr wrap="square" anchor="t" lIns="0" rIns="0" tIns="0" bIns="0">
            <a:spAutoFit/>
          </a:bodyPr>
          <a:lstStyle/>
          <a:p>
            <a:pPr algn="l">
              <a:lnSpc>
                <a:spcPct val="106000"/>
              </a:lnSpc>
              <a:spcBef>
                <a:spcPts val="0"/>
              </a:spcBef>
              <a:spcAft>
                <a:spcPts val="0"/>
              </a:spcAft>
            </a:pPr>
            <a:r>
              <a:rPr sz="1250" b="1" spc="220">
                <a:solidFill>
                  <a:srgbClr val="EE0000"/>
                </a:solidFill>
                <a:latin typeface="Red Hat Display"/>
              </a:rPr>
              <a:t>M23 · APPLICATION MODERNIZATION</a:t>
            </a:r>
          </a:p>
        </p:txBody>
      </p:sp>
      <p:sp>
        <p:nvSpPr>
          <p:cNvPr id="4" name="TextBox 3"/>
          <p:cNvSpPr txBox="1"/>
          <p:nvPr/>
        </p:nvSpPr>
        <p:spPr>
          <a:xfrm>
            <a:off x="841248" y="877824"/>
            <a:ext cx="10515600" cy="548640"/>
          </a:xfrm>
          <a:prstGeom prst="rect">
            <a:avLst/>
          </a:prstGeom>
          <a:noFill/>
        </p:spPr>
        <p:txBody>
          <a:bodyPr wrap="none" anchor="t" lIns="0" rIns="0" tIns="0" bIns="0">
            <a:spAutoFit/>
          </a:bodyPr>
          <a:lstStyle/>
          <a:p>
            <a:pPr algn="l">
              <a:lnSpc>
                <a:spcPct val="100000"/>
              </a:lnSpc>
              <a:spcBef>
                <a:spcPts val="0"/>
              </a:spcBef>
              <a:spcAft>
                <a:spcPts val="0"/>
              </a:spcAft>
            </a:pPr>
            <a:r>
              <a:rPr sz="2500" b="1">
                <a:solidFill>
                  <a:srgbClr val="1A1A1A"/>
                </a:solidFill>
                <a:latin typeface="Red Hat Display"/>
              </a:rPr>
              <a:t>Read the report like a consultant</a:t>
            </a:r>
          </a:p>
        </p:txBody>
      </p:sp>
      <p:cxnSp>
        <p:nvCxnSpPr>
          <p:cNvPr id="5" name="Connector 4"/>
          <p:cNvCxnSpPr/>
          <p:nvPr/>
        </p:nvCxnSpPr>
        <p:spPr>
          <a:xfrm>
            <a:off x="841248" y="1554480"/>
            <a:ext cx="1371600" cy="0"/>
          </a:xfrm>
          <a:prstGeom prst="bentConnector3">
            <a:avLst/>
          </a:prstGeom>
          <a:ln w="31750">
            <a:solidFill>
              <a:srgbClr val="EE0000"/>
            </a:solidFill>
          </a:ln>
          <a:effectLst/>
        </p:spPr>
        <p:style>
          <a:lnRef idx="2">
            <a:schemeClr val="accent1"/>
          </a:lnRef>
          <a:fillRef idx="0">
            <a:schemeClr val="accent1"/>
          </a:fillRef>
          <a:effectRef idx="1">
            <a:schemeClr val="accent1"/>
          </a:effectRef>
          <a:fontRef idx="minor">
            <a:schemeClr val="tx1"/>
          </a:fontRef>
        </p:style>
      </p:cxnSp>
      <p:sp>
        <p:nvSpPr>
          <p:cNvPr id="6" name="Rounded Rectangle 5"/>
          <p:cNvSpPr/>
          <p:nvPr/>
        </p:nvSpPr>
        <p:spPr>
          <a:xfrm>
            <a:off x="841248" y="2395728"/>
            <a:ext cx="5715000" cy="530352"/>
          </a:xfrm>
          <a:prstGeom prst="roundRect">
            <a:avLst>
              <a:gd name="adj" fmla="val 6000"/>
            </a:avLst>
          </a:prstGeom>
          <a:solidFill>
            <a:srgbClr val="F5F6F8"/>
          </a:solidFill>
          <a:ln w="12700">
            <a:solidFill>
              <a:srgbClr val="DDE1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check_steel.png"/>
          <p:cNvPicPr>
            <a:picLocks noChangeAspect="1"/>
          </p:cNvPicPr>
          <p:nvPr/>
        </p:nvPicPr>
        <p:blipFill>
          <a:blip r:embed="rId3"/>
          <a:stretch>
            <a:fillRect/>
          </a:stretch>
        </p:blipFill>
        <p:spPr>
          <a:xfrm>
            <a:off x="987552" y="2542032"/>
            <a:ext cx="237744" cy="237744"/>
          </a:xfrm>
          <a:prstGeom prst="rect">
            <a:avLst/>
          </a:prstGeom>
        </p:spPr>
      </p:pic>
      <p:sp>
        <p:nvSpPr>
          <p:cNvPr id="8" name="TextBox 7"/>
          <p:cNvSpPr txBox="1"/>
          <p:nvPr/>
        </p:nvSpPr>
        <p:spPr>
          <a:xfrm>
            <a:off x="1353312" y="2395728"/>
            <a:ext cx="5029200" cy="530352"/>
          </a:xfrm>
          <a:prstGeom prst="rect">
            <a:avLst/>
          </a:prstGeom>
          <a:noFill/>
        </p:spPr>
        <p:txBody>
          <a:bodyPr wrap="square" anchor="ctr" lIns="0" rIns="0" tIns="0" bIns="0">
            <a:spAutoFit/>
          </a:bodyPr>
          <a:lstStyle/>
          <a:p>
            <a:pPr algn="l">
              <a:lnSpc>
                <a:spcPct val="106000"/>
              </a:lnSpc>
              <a:spcBef>
                <a:spcPts val="0"/>
              </a:spcBef>
              <a:spcAft>
                <a:spcPts val="0"/>
              </a:spcAft>
            </a:pPr>
            <a:r>
              <a:rPr sz="1200" b="0">
                <a:solidFill>
                  <a:srgbClr val="1A1A1A"/>
                </a:solidFill>
                <a:latin typeface="Red Hat Text"/>
              </a:rPr>
              <a:t>parasol-legacy-claims (live): 24 story points · 6 mandatory · 1 potential · 15 tech tags</a:t>
            </a:r>
          </a:p>
        </p:txBody>
      </p:sp>
      <p:sp>
        <p:nvSpPr>
          <p:cNvPr id="9" name="Rounded Rectangle 8"/>
          <p:cNvSpPr/>
          <p:nvPr/>
        </p:nvSpPr>
        <p:spPr>
          <a:xfrm>
            <a:off x="841248" y="2999232"/>
            <a:ext cx="5715000" cy="530352"/>
          </a:xfrm>
          <a:prstGeom prst="roundRect">
            <a:avLst>
              <a:gd name="adj" fmla="val 6000"/>
            </a:avLst>
          </a:prstGeom>
          <a:solidFill>
            <a:srgbClr val="F5F6F8"/>
          </a:solidFill>
          <a:ln w="12700">
            <a:solidFill>
              <a:srgbClr val="DDE1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0" name="Picture 9" descr="check_steel.png"/>
          <p:cNvPicPr>
            <a:picLocks noChangeAspect="1"/>
          </p:cNvPicPr>
          <p:nvPr/>
        </p:nvPicPr>
        <p:blipFill>
          <a:blip r:embed="rId3"/>
          <a:stretch>
            <a:fillRect/>
          </a:stretch>
        </p:blipFill>
        <p:spPr>
          <a:xfrm>
            <a:off x="987552" y="3145536"/>
            <a:ext cx="237744" cy="237744"/>
          </a:xfrm>
          <a:prstGeom prst="rect">
            <a:avLst/>
          </a:prstGeom>
        </p:spPr>
      </p:pic>
      <p:sp>
        <p:nvSpPr>
          <p:cNvPr id="11" name="TextBox 10"/>
          <p:cNvSpPr txBox="1"/>
          <p:nvPr/>
        </p:nvSpPr>
        <p:spPr>
          <a:xfrm>
            <a:off x="1353312" y="2999232"/>
            <a:ext cx="5029200" cy="530352"/>
          </a:xfrm>
          <a:prstGeom prst="rect">
            <a:avLst/>
          </a:prstGeom>
          <a:noFill/>
        </p:spPr>
        <p:txBody>
          <a:bodyPr wrap="square" anchor="ctr" lIns="0" rIns="0" tIns="0" bIns="0">
            <a:spAutoFit/>
          </a:bodyPr>
          <a:lstStyle/>
          <a:p>
            <a:pPr algn="l">
              <a:lnSpc>
                <a:spcPct val="106000"/>
              </a:lnSpc>
              <a:spcBef>
                <a:spcPts val="0"/>
              </a:spcBef>
              <a:spcAft>
                <a:spcPts val="0"/>
              </a:spcAft>
            </a:pPr>
            <a:r>
              <a:rPr sz="1200" b="0">
                <a:solidFill>
                  <a:srgbClr val="1A1A1A"/>
                </a:solidFill>
                <a:latin typeface="Red Hat Text"/>
              </a:rPr>
              <a:t>Mandatory: Spring/Jakarta EE 9 (eff 3) · Hardcoded IP · File-system write · javax→jakarta · Tomcat/JWS</a:t>
            </a:r>
          </a:p>
        </p:txBody>
      </p:sp>
      <p:sp>
        <p:nvSpPr>
          <p:cNvPr id="12" name="Rounded Rectangle 11"/>
          <p:cNvSpPr/>
          <p:nvPr/>
        </p:nvSpPr>
        <p:spPr>
          <a:xfrm>
            <a:off x="841248" y="3602736"/>
            <a:ext cx="5715000" cy="530352"/>
          </a:xfrm>
          <a:prstGeom prst="roundRect">
            <a:avLst>
              <a:gd name="adj" fmla="val 6000"/>
            </a:avLst>
          </a:prstGeom>
          <a:solidFill>
            <a:srgbClr val="F5F6F8"/>
          </a:solidFill>
          <a:ln w="12700">
            <a:solidFill>
              <a:srgbClr val="DDE1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3" name="Picture 12" descr="check_steel.png"/>
          <p:cNvPicPr>
            <a:picLocks noChangeAspect="1"/>
          </p:cNvPicPr>
          <p:nvPr/>
        </p:nvPicPr>
        <p:blipFill>
          <a:blip r:embed="rId3"/>
          <a:stretch>
            <a:fillRect/>
          </a:stretch>
        </p:blipFill>
        <p:spPr>
          <a:xfrm>
            <a:off x="987552" y="3749040"/>
            <a:ext cx="237744" cy="237744"/>
          </a:xfrm>
          <a:prstGeom prst="rect">
            <a:avLst/>
          </a:prstGeom>
        </p:spPr>
      </p:pic>
      <p:sp>
        <p:nvSpPr>
          <p:cNvPr id="14" name="TextBox 13"/>
          <p:cNvSpPr txBox="1"/>
          <p:nvPr/>
        </p:nvSpPr>
        <p:spPr>
          <a:xfrm>
            <a:off x="1353312" y="3602736"/>
            <a:ext cx="5029200" cy="530352"/>
          </a:xfrm>
          <a:prstGeom prst="rect">
            <a:avLst/>
          </a:prstGeom>
          <a:noFill/>
        </p:spPr>
        <p:txBody>
          <a:bodyPr wrap="square" anchor="ctr" lIns="0" rIns="0" tIns="0" bIns="0">
            <a:spAutoFit/>
          </a:bodyPr>
          <a:lstStyle/>
          <a:p>
            <a:pPr algn="l">
              <a:lnSpc>
                <a:spcPct val="106000"/>
              </a:lnSpc>
              <a:spcBef>
                <a:spcPts val="0"/>
              </a:spcBef>
              <a:spcAft>
                <a:spcPts val="0"/>
              </a:spcAft>
            </a:pPr>
            <a:r>
              <a:rPr sz="1200" b="0">
                <a:solidFill>
                  <a:srgbClr val="1A1A1A"/>
                </a:solidFill>
                <a:latin typeface="Red Hat Text"/>
              </a:rPr>
              <a:t>Start with MANDATORY; the tech tags are context, not work</a:t>
            </a:r>
          </a:p>
        </p:txBody>
      </p:sp>
      <p:sp>
        <p:nvSpPr>
          <p:cNvPr id="15" name="Rounded Rectangle 14"/>
          <p:cNvSpPr/>
          <p:nvPr/>
        </p:nvSpPr>
        <p:spPr>
          <a:xfrm>
            <a:off x="841248" y="4206240"/>
            <a:ext cx="5715000" cy="530352"/>
          </a:xfrm>
          <a:prstGeom prst="roundRect">
            <a:avLst>
              <a:gd name="adj" fmla="val 6000"/>
            </a:avLst>
          </a:prstGeom>
          <a:solidFill>
            <a:srgbClr val="F5F6F8"/>
          </a:solidFill>
          <a:ln w="12700">
            <a:solidFill>
              <a:srgbClr val="DDE1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6" name="Picture 15" descr="check_steel.png"/>
          <p:cNvPicPr>
            <a:picLocks noChangeAspect="1"/>
          </p:cNvPicPr>
          <p:nvPr/>
        </p:nvPicPr>
        <p:blipFill>
          <a:blip r:embed="rId3"/>
          <a:stretch>
            <a:fillRect/>
          </a:stretch>
        </p:blipFill>
        <p:spPr>
          <a:xfrm>
            <a:off x="987552" y="4352544"/>
            <a:ext cx="237744" cy="237744"/>
          </a:xfrm>
          <a:prstGeom prst="rect">
            <a:avLst/>
          </a:prstGeom>
        </p:spPr>
      </p:pic>
      <p:sp>
        <p:nvSpPr>
          <p:cNvPr id="17" name="TextBox 16"/>
          <p:cNvSpPr txBox="1"/>
          <p:nvPr/>
        </p:nvSpPr>
        <p:spPr>
          <a:xfrm>
            <a:off x="1353312" y="4206240"/>
            <a:ext cx="5029200" cy="530352"/>
          </a:xfrm>
          <a:prstGeom prst="rect">
            <a:avLst/>
          </a:prstGeom>
          <a:noFill/>
        </p:spPr>
        <p:txBody>
          <a:bodyPr wrap="square" anchor="ctr" lIns="0" rIns="0" tIns="0" bIns="0">
            <a:spAutoFit/>
          </a:bodyPr>
          <a:lstStyle/>
          <a:p>
            <a:pPr algn="l">
              <a:lnSpc>
                <a:spcPct val="106000"/>
              </a:lnSpc>
              <a:spcBef>
                <a:spcPts val="0"/>
              </a:spcBef>
              <a:spcAft>
                <a:spcPts val="0"/>
              </a:spcAft>
            </a:pPr>
            <a:r>
              <a:rPr sz="1200" b="0">
                <a:solidFill>
                  <a:srgbClr val="1A1A1A"/>
                </a:solidFill>
                <a:latin typeface="Red Hat Text"/>
              </a:rPr>
              <a:t>GROUP by fix: seven findings → ~three pieces of work</a:t>
            </a:r>
          </a:p>
        </p:txBody>
      </p:sp>
      <p:sp>
        <p:nvSpPr>
          <p:cNvPr id="18" name="Rounded Rectangle 17"/>
          <p:cNvSpPr/>
          <p:nvPr/>
        </p:nvSpPr>
        <p:spPr>
          <a:xfrm>
            <a:off x="841248" y="4809744"/>
            <a:ext cx="5715000" cy="530352"/>
          </a:xfrm>
          <a:prstGeom prst="roundRect">
            <a:avLst>
              <a:gd name="adj" fmla="val 6000"/>
            </a:avLst>
          </a:prstGeom>
          <a:solidFill>
            <a:srgbClr val="F5F6F8"/>
          </a:solidFill>
          <a:ln w="12700">
            <a:solidFill>
              <a:srgbClr val="DDE1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9" name="Picture 18" descr="check_steel.png"/>
          <p:cNvPicPr>
            <a:picLocks noChangeAspect="1"/>
          </p:cNvPicPr>
          <p:nvPr/>
        </p:nvPicPr>
        <p:blipFill>
          <a:blip r:embed="rId3"/>
          <a:stretch>
            <a:fillRect/>
          </a:stretch>
        </p:blipFill>
        <p:spPr>
          <a:xfrm>
            <a:off x="987552" y="4956048"/>
            <a:ext cx="237744" cy="237744"/>
          </a:xfrm>
          <a:prstGeom prst="rect">
            <a:avLst/>
          </a:prstGeom>
        </p:spPr>
      </p:pic>
      <p:sp>
        <p:nvSpPr>
          <p:cNvPr id="20" name="TextBox 19"/>
          <p:cNvSpPr txBox="1"/>
          <p:nvPr/>
        </p:nvSpPr>
        <p:spPr>
          <a:xfrm>
            <a:off x="1353312" y="4809744"/>
            <a:ext cx="5029200" cy="530352"/>
          </a:xfrm>
          <a:prstGeom prst="rect">
            <a:avLst/>
          </a:prstGeom>
          <a:noFill/>
        </p:spPr>
        <p:txBody>
          <a:bodyPr wrap="square" anchor="ctr" lIns="0" rIns="0" tIns="0" bIns="0">
            <a:spAutoFit/>
          </a:bodyPr>
          <a:lstStyle/>
          <a:p>
            <a:pPr algn="l">
              <a:lnSpc>
                <a:spcPct val="106000"/>
              </a:lnSpc>
              <a:spcBef>
                <a:spcPts val="0"/>
              </a:spcBef>
              <a:spcAft>
                <a:spcPts val="0"/>
              </a:spcAft>
            </a:pPr>
            <a:r>
              <a:rPr sz="1200" b="0">
                <a:solidFill>
                  <a:srgbClr val="1A1A1A"/>
                </a:solidFill>
                <a:latin typeface="Red Hat Text"/>
              </a:rPr>
              <a:t>The modern Quarkus counterpart scores 1 — that's the destination</a:t>
            </a:r>
          </a:p>
        </p:txBody>
      </p:sp>
      <p:sp>
        <p:nvSpPr>
          <p:cNvPr id="21" name="Rounded Rectangle 20"/>
          <p:cNvSpPr/>
          <p:nvPr/>
        </p:nvSpPr>
        <p:spPr>
          <a:xfrm>
            <a:off x="6812280" y="2395728"/>
            <a:ext cx="4538167" cy="2944368"/>
          </a:xfrm>
          <a:prstGeom prst="roundRect">
            <a:avLst>
              <a:gd name="adj" fmla="val 4000"/>
            </a:avLst>
          </a:prstGeom>
          <a:solidFill>
            <a:srgbClr val="FFFFFF"/>
          </a:solidFill>
          <a:ln w="15240">
            <a:solidFill>
              <a:srgbClr val="DDE1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ounded Rectangle 21"/>
          <p:cNvSpPr/>
          <p:nvPr/>
        </p:nvSpPr>
        <p:spPr>
          <a:xfrm>
            <a:off x="7013448" y="2596896"/>
            <a:ext cx="1298448" cy="310896"/>
          </a:xfrm>
          <a:prstGeom prst="roundRect">
            <a:avLst>
              <a:gd name="adj" fmla="val 50000"/>
            </a:avLst>
          </a:prstGeom>
          <a:solidFill>
            <a:srgbClr val="FCEC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7013448" y="2596896"/>
            <a:ext cx="1298448" cy="310896"/>
          </a:xfrm>
          <a:prstGeom prst="rect">
            <a:avLst/>
          </a:prstGeom>
          <a:noFill/>
        </p:spPr>
        <p:txBody>
          <a:bodyPr wrap="none" anchor="ctr" lIns="0" rIns="0" tIns="0" bIns="0">
            <a:spAutoFit/>
          </a:bodyPr>
          <a:lstStyle/>
          <a:p>
            <a:pPr algn="ctr">
              <a:lnSpc>
                <a:spcPct val="106000"/>
              </a:lnSpc>
              <a:spcBef>
                <a:spcPts val="0"/>
              </a:spcBef>
              <a:spcAft>
                <a:spcPts val="0"/>
              </a:spcAft>
            </a:pPr>
            <a:r>
              <a:rPr sz="850" b="1">
                <a:solidFill>
                  <a:srgbClr val="B80000"/>
                </a:solidFill>
                <a:latin typeface="Red Hat Display"/>
              </a:rPr>
              <a:t>MEDIA PASS</a:t>
            </a:r>
          </a:p>
        </p:txBody>
      </p:sp>
      <p:pic>
        <p:nvPicPr>
          <p:cNvPr id="24" name="Picture 23" descr="eye_slate.png"/>
          <p:cNvPicPr>
            <a:picLocks noChangeAspect="1"/>
          </p:cNvPicPr>
          <p:nvPr/>
        </p:nvPicPr>
        <p:blipFill>
          <a:blip r:embed="rId4"/>
          <a:stretch>
            <a:fillRect/>
          </a:stretch>
        </p:blipFill>
        <p:spPr>
          <a:xfrm>
            <a:off x="8843619" y="3108960"/>
            <a:ext cx="475488" cy="475488"/>
          </a:xfrm>
          <a:prstGeom prst="rect">
            <a:avLst/>
          </a:prstGeom>
        </p:spPr>
      </p:pic>
      <p:sp>
        <p:nvSpPr>
          <p:cNvPr id="25" name="TextBox 24"/>
          <p:cNvSpPr txBox="1"/>
          <p:nvPr/>
        </p:nvSpPr>
        <p:spPr>
          <a:xfrm>
            <a:off x="7050024" y="3721608"/>
            <a:ext cx="4062679" cy="1481328"/>
          </a:xfrm>
          <a:prstGeom prst="rect">
            <a:avLst/>
          </a:prstGeom>
          <a:noFill/>
        </p:spPr>
        <p:txBody>
          <a:bodyPr wrap="square" anchor="t" lIns="0" rIns="0" tIns="0" bIns="0">
            <a:spAutoFit/>
          </a:bodyPr>
          <a:lstStyle/>
          <a:p>
            <a:pPr algn="l">
              <a:lnSpc>
                <a:spcPct val="120000"/>
              </a:lnSpc>
              <a:spcBef>
                <a:spcPts val="0"/>
              </a:spcBef>
              <a:spcAft>
                <a:spcPts val="0"/>
              </a:spcAft>
            </a:pPr>
            <a:r>
              <a:rPr sz="950" b="0">
                <a:solidFill>
                  <a:srgbClr val="8A9099"/>
                </a:solidFill>
                <a:latin typeface="Red Hat Text"/>
              </a:rPr>
              <a:t>A stylized report table — the seven issues with category chips (red=mandatory, amber=potential) and effort badges, three of them lassoed and labeled "one migration: javax→jakarta," two lassoed "externalize config." A side gauge shows "24 → (fix) → … → 1 (modern)."</a:t>
            </a:r>
          </a:p>
        </p:txBody>
      </p:sp>
      <p:cxnSp>
        <p:nvCxnSpPr>
          <p:cNvPr id="26" name="Connector 25"/>
          <p:cNvCxnSpPr/>
          <p:nvPr/>
        </p:nvCxnSpPr>
        <p:spPr>
          <a:xfrm>
            <a:off x="841248" y="6437376"/>
            <a:ext cx="10509199" cy="0"/>
          </a:xfrm>
          <a:prstGeom prst="bentConnector3">
            <a:avLst/>
          </a:prstGeom>
          <a:ln w="12700">
            <a:solidFill>
              <a:srgbClr val="DDE1E6"/>
            </a:solidFill>
          </a:ln>
          <a:effectLst/>
        </p:spPr>
        <p:style>
          <a:lnRef idx="2">
            <a:schemeClr val="accent1"/>
          </a:lnRef>
          <a:fillRef idx="0">
            <a:schemeClr val="accent1"/>
          </a:fillRef>
          <a:effectRef idx="1">
            <a:schemeClr val="accent1"/>
          </a:effectRef>
          <a:fontRef idx="minor">
            <a:schemeClr val="tx1"/>
          </a:fontRef>
        </p:style>
      </p:cxnSp>
      <p:sp>
        <p:nvSpPr>
          <p:cNvPr id="27" name="TextBox 26"/>
          <p:cNvSpPr txBox="1"/>
          <p:nvPr/>
        </p:nvSpPr>
        <p:spPr>
          <a:xfrm>
            <a:off x="841248" y="6473952"/>
            <a:ext cx="7315200" cy="274320"/>
          </a:xfrm>
          <a:prstGeom prst="rect">
            <a:avLst/>
          </a:prstGeom>
          <a:noFill/>
        </p:spPr>
        <p:txBody>
          <a:bodyPr wrap="square" anchor="t" lIns="0" rIns="0" tIns="0" bIns="0">
            <a:spAutoFit/>
          </a:bodyPr>
          <a:lstStyle/>
          <a:p>
            <a:pPr algn="l">
              <a:lnSpc>
                <a:spcPct val="106000"/>
              </a:lnSpc>
              <a:spcBef>
                <a:spcPts val="0"/>
              </a:spcBef>
              <a:spcAft>
                <a:spcPts val="0"/>
              </a:spcAft>
            </a:pPr>
            <a:r>
              <a:rPr sz="950" b="0">
                <a:solidFill>
                  <a:srgbClr val="8A9099"/>
                </a:solidFill>
                <a:latin typeface="Red Hat Text"/>
              </a:rPr>
              <a:t>CONFIDENTIAL</a:t>
            </a:r>
          </a:p>
        </p:txBody>
      </p:sp>
      <p:sp>
        <p:nvSpPr>
          <p:cNvPr id="28" name="TextBox 27"/>
          <p:cNvSpPr txBox="1"/>
          <p:nvPr/>
        </p:nvSpPr>
        <p:spPr>
          <a:xfrm>
            <a:off x="10801807" y="6473952"/>
            <a:ext cx="548640" cy="274320"/>
          </a:xfrm>
          <a:prstGeom prst="rect">
            <a:avLst/>
          </a:prstGeom>
          <a:noFill/>
        </p:spPr>
        <p:txBody>
          <a:bodyPr wrap="square" anchor="t" lIns="0" rIns="0" tIns="0" bIns="0">
            <a:spAutoFit/>
          </a:bodyPr>
          <a:lstStyle/>
          <a:p>
            <a:pPr algn="r">
              <a:lnSpc>
                <a:spcPct val="106000"/>
              </a:lnSpc>
              <a:spcBef>
                <a:spcPts val="0"/>
              </a:spcBef>
              <a:spcAft>
                <a:spcPts val="0"/>
              </a:spcAft>
            </a:pPr>
            <a:r>
              <a:rPr sz="950" b="0">
                <a:solidFill>
                  <a:srgbClr val="8A9099"/>
                </a:solidFill>
                <a:latin typeface="Red Hat Text"/>
              </a:rPr>
              <a:t>168</a:t>
            </a:r>
          </a:p>
        </p:txBody>
      </p:sp>
    </p:spTree>
  </p:cSld>
  <p:clrMapOvr>
    <a:masterClrMapping/>
  </p:clrMapOvr>
</p:sld>
</file>

<file path=ppt/slides/slide19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redhat_logo.jpg"/>
          <p:cNvPicPr>
            <a:picLocks noChangeAspect="1"/>
          </p:cNvPicPr>
          <p:nvPr/>
        </p:nvPicPr>
        <p:blipFill>
          <a:blip r:embed="rId2"/>
          <a:stretch>
            <a:fillRect/>
          </a:stretch>
        </p:blipFill>
        <p:spPr>
          <a:xfrm>
            <a:off x="10326319" y="475488"/>
            <a:ext cx="1024128" cy="242248"/>
          </a:xfrm>
          <a:prstGeom prst="rect">
            <a:avLst/>
          </a:prstGeom>
        </p:spPr>
      </p:pic>
      <p:sp>
        <p:nvSpPr>
          <p:cNvPr id="3" name="TextBox 2"/>
          <p:cNvSpPr txBox="1"/>
          <p:nvPr/>
        </p:nvSpPr>
        <p:spPr>
          <a:xfrm>
            <a:off x="841248" y="548640"/>
            <a:ext cx="8595360" cy="274320"/>
          </a:xfrm>
          <a:prstGeom prst="rect">
            <a:avLst/>
          </a:prstGeom>
          <a:noFill/>
        </p:spPr>
        <p:txBody>
          <a:bodyPr wrap="square" anchor="t" lIns="0" rIns="0" tIns="0" bIns="0">
            <a:spAutoFit/>
          </a:bodyPr>
          <a:lstStyle/>
          <a:p>
            <a:pPr algn="l">
              <a:lnSpc>
                <a:spcPct val="106000"/>
              </a:lnSpc>
              <a:spcBef>
                <a:spcPts val="0"/>
              </a:spcBef>
              <a:spcAft>
                <a:spcPts val="0"/>
              </a:spcAft>
            </a:pPr>
            <a:r>
              <a:rPr sz="1250" b="1" spc="220">
                <a:solidFill>
                  <a:srgbClr val="EE0000"/>
                </a:solidFill>
                <a:latin typeface="Red Hat Display"/>
              </a:rPr>
              <a:t>M23 · APPLICATION MODERNIZATION</a:t>
            </a:r>
          </a:p>
        </p:txBody>
      </p:sp>
      <p:sp>
        <p:nvSpPr>
          <p:cNvPr id="4" name="TextBox 3"/>
          <p:cNvSpPr txBox="1"/>
          <p:nvPr/>
        </p:nvSpPr>
        <p:spPr>
          <a:xfrm>
            <a:off x="841248" y="877824"/>
            <a:ext cx="10515600" cy="548640"/>
          </a:xfrm>
          <a:prstGeom prst="rect">
            <a:avLst/>
          </a:prstGeom>
          <a:noFill/>
        </p:spPr>
        <p:txBody>
          <a:bodyPr wrap="none" anchor="t" lIns="0" rIns="0" tIns="0" bIns="0">
            <a:spAutoFit/>
          </a:bodyPr>
          <a:lstStyle/>
          <a:p>
            <a:pPr algn="l">
              <a:lnSpc>
                <a:spcPct val="100000"/>
              </a:lnSpc>
              <a:spcBef>
                <a:spcPts val="0"/>
              </a:spcBef>
              <a:spcAft>
                <a:spcPts val="0"/>
              </a:spcAft>
            </a:pPr>
            <a:r>
              <a:rPr sz="2500" b="1">
                <a:solidFill>
                  <a:srgbClr val="1A1A1A"/>
                </a:solidFill>
                <a:latin typeface="Red Hat Display"/>
              </a:rPr>
              <a:t>AI proposes, the engineer disposes</a:t>
            </a:r>
          </a:p>
        </p:txBody>
      </p:sp>
      <p:cxnSp>
        <p:nvCxnSpPr>
          <p:cNvPr id="5" name="Connector 4"/>
          <p:cNvCxnSpPr/>
          <p:nvPr/>
        </p:nvCxnSpPr>
        <p:spPr>
          <a:xfrm>
            <a:off x="841248" y="1554480"/>
            <a:ext cx="1371600" cy="0"/>
          </a:xfrm>
          <a:prstGeom prst="bentConnector3">
            <a:avLst/>
          </a:prstGeom>
          <a:ln w="31750">
            <a:solidFill>
              <a:srgbClr val="EE0000"/>
            </a:solidFill>
          </a:ln>
          <a:effectLst/>
        </p:spPr>
        <p:style>
          <a:lnRef idx="2">
            <a:schemeClr val="accent1"/>
          </a:lnRef>
          <a:fillRef idx="0">
            <a:schemeClr val="accent1"/>
          </a:fillRef>
          <a:effectRef idx="1">
            <a:schemeClr val="accent1"/>
          </a:effectRef>
          <a:fontRef idx="minor">
            <a:schemeClr val="tx1"/>
          </a:fontRef>
        </p:style>
      </p:cxnSp>
      <p:sp>
        <p:nvSpPr>
          <p:cNvPr id="6" name="Rounded Rectangle 5"/>
          <p:cNvSpPr/>
          <p:nvPr/>
        </p:nvSpPr>
        <p:spPr>
          <a:xfrm>
            <a:off x="841248" y="2395728"/>
            <a:ext cx="5715000" cy="530352"/>
          </a:xfrm>
          <a:prstGeom prst="roundRect">
            <a:avLst>
              <a:gd name="adj" fmla="val 6000"/>
            </a:avLst>
          </a:prstGeom>
          <a:solidFill>
            <a:srgbClr val="F5F6F8"/>
          </a:solidFill>
          <a:ln w="12700">
            <a:solidFill>
              <a:srgbClr val="DDE1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check_steel.png"/>
          <p:cNvPicPr>
            <a:picLocks noChangeAspect="1"/>
          </p:cNvPicPr>
          <p:nvPr/>
        </p:nvPicPr>
        <p:blipFill>
          <a:blip r:embed="rId3"/>
          <a:stretch>
            <a:fillRect/>
          </a:stretch>
        </p:blipFill>
        <p:spPr>
          <a:xfrm>
            <a:off x="987552" y="2542032"/>
            <a:ext cx="237744" cy="237744"/>
          </a:xfrm>
          <a:prstGeom prst="rect">
            <a:avLst/>
          </a:prstGeom>
        </p:spPr>
      </p:pic>
      <p:sp>
        <p:nvSpPr>
          <p:cNvPr id="8" name="TextBox 7"/>
          <p:cNvSpPr txBox="1"/>
          <p:nvPr/>
        </p:nvSpPr>
        <p:spPr>
          <a:xfrm>
            <a:off x="1353312" y="2395728"/>
            <a:ext cx="5029200" cy="530352"/>
          </a:xfrm>
          <a:prstGeom prst="rect">
            <a:avLst/>
          </a:prstGeom>
          <a:noFill/>
        </p:spPr>
        <p:txBody>
          <a:bodyPr wrap="square" anchor="ctr" lIns="0" rIns="0" tIns="0" bIns="0">
            <a:spAutoFit/>
          </a:bodyPr>
          <a:lstStyle/>
          <a:p>
            <a:pPr algn="l">
              <a:lnSpc>
                <a:spcPct val="106000"/>
              </a:lnSpc>
              <a:spcBef>
                <a:spcPts val="0"/>
              </a:spcBef>
              <a:spcAft>
                <a:spcPts val="0"/>
              </a:spcAft>
            </a:pPr>
            <a:r>
              <a:rPr sz="1200" b="0">
                <a:solidFill>
                  <a:srgbClr val="1A1A1A"/>
                </a:solidFill>
                <a:latin typeface="Red Hat Text"/>
              </a:rPr>
              <a:t>Developer Lightspeed for MTA = an AI feature of the MTA VS Code / Dev Spaces extension [ADS]</a:t>
            </a:r>
          </a:p>
        </p:txBody>
      </p:sp>
      <p:sp>
        <p:nvSpPr>
          <p:cNvPr id="9" name="Rounded Rectangle 8"/>
          <p:cNvSpPr/>
          <p:nvPr/>
        </p:nvSpPr>
        <p:spPr>
          <a:xfrm>
            <a:off x="841248" y="2999232"/>
            <a:ext cx="5715000" cy="530352"/>
          </a:xfrm>
          <a:prstGeom prst="roundRect">
            <a:avLst>
              <a:gd name="adj" fmla="val 6000"/>
            </a:avLst>
          </a:prstGeom>
          <a:solidFill>
            <a:srgbClr val="F5F6F8"/>
          </a:solidFill>
          <a:ln w="12700">
            <a:solidFill>
              <a:srgbClr val="DDE1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0" name="Picture 9" descr="check_steel.png"/>
          <p:cNvPicPr>
            <a:picLocks noChangeAspect="1"/>
          </p:cNvPicPr>
          <p:nvPr/>
        </p:nvPicPr>
        <p:blipFill>
          <a:blip r:embed="rId3"/>
          <a:stretch>
            <a:fillRect/>
          </a:stretch>
        </p:blipFill>
        <p:spPr>
          <a:xfrm>
            <a:off x="987552" y="3145536"/>
            <a:ext cx="237744" cy="237744"/>
          </a:xfrm>
          <a:prstGeom prst="rect">
            <a:avLst/>
          </a:prstGeom>
        </p:spPr>
      </p:pic>
      <p:sp>
        <p:nvSpPr>
          <p:cNvPr id="11" name="TextBox 10"/>
          <p:cNvSpPr txBox="1"/>
          <p:nvPr/>
        </p:nvSpPr>
        <p:spPr>
          <a:xfrm>
            <a:off x="1353312" y="2999232"/>
            <a:ext cx="5029200" cy="530352"/>
          </a:xfrm>
          <a:prstGeom prst="rect">
            <a:avLst/>
          </a:prstGeom>
          <a:noFill/>
        </p:spPr>
        <p:txBody>
          <a:bodyPr wrap="square" anchor="ctr" lIns="0" rIns="0" tIns="0" bIns="0">
            <a:spAutoFit/>
          </a:bodyPr>
          <a:lstStyle/>
          <a:p>
            <a:pPr algn="l">
              <a:lnSpc>
                <a:spcPct val="106000"/>
              </a:lnSpc>
              <a:spcBef>
                <a:spcPts val="0"/>
              </a:spcBef>
              <a:spcAft>
                <a:spcPts val="0"/>
              </a:spcAft>
            </a:pPr>
            <a:r>
              <a:rPr sz="1200" b="0">
                <a:solidFill>
                  <a:srgbClr val="1A1A1A"/>
                </a:solidFill>
                <a:latin typeface="Red Hat Text"/>
              </a:rPr>
              <a:t>Give it one issue → it returns a concrete DIFF (model-agnostic; MaaS-backed here)</a:t>
            </a:r>
          </a:p>
        </p:txBody>
      </p:sp>
      <p:sp>
        <p:nvSpPr>
          <p:cNvPr id="12" name="Rounded Rectangle 11"/>
          <p:cNvSpPr/>
          <p:nvPr/>
        </p:nvSpPr>
        <p:spPr>
          <a:xfrm>
            <a:off x="841248" y="3602736"/>
            <a:ext cx="5715000" cy="530352"/>
          </a:xfrm>
          <a:prstGeom prst="roundRect">
            <a:avLst>
              <a:gd name="adj" fmla="val 6000"/>
            </a:avLst>
          </a:prstGeom>
          <a:solidFill>
            <a:srgbClr val="F5F6F8"/>
          </a:solidFill>
          <a:ln w="12700">
            <a:solidFill>
              <a:srgbClr val="DDE1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3" name="Picture 12" descr="check_steel.png"/>
          <p:cNvPicPr>
            <a:picLocks noChangeAspect="1"/>
          </p:cNvPicPr>
          <p:nvPr/>
        </p:nvPicPr>
        <p:blipFill>
          <a:blip r:embed="rId3"/>
          <a:stretch>
            <a:fillRect/>
          </a:stretch>
        </p:blipFill>
        <p:spPr>
          <a:xfrm>
            <a:off x="987552" y="3749040"/>
            <a:ext cx="237744" cy="237744"/>
          </a:xfrm>
          <a:prstGeom prst="rect">
            <a:avLst/>
          </a:prstGeom>
        </p:spPr>
      </p:pic>
      <p:sp>
        <p:nvSpPr>
          <p:cNvPr id="14" name="TextBox 13"/>
          <p:cNvSpPr txBox="1"/>
          <p:nvPr/>
        </p:nvSpPr>
        <p:spPr>
          <a:xfrm>
            <a:off x="1353312" y="3602736"/>
            <a:ext cx="5029200" cy="530352"/>
          </a:xfrm>
          <a:prstGeom prst="rect">
            <a:avLst/>
          </a:prstGeom>
          <a:noFill/>
        </p:spPr>
        <p:txBody>
          <a:bodyPr wrap="square" anchor="ctr" lIns="0" rIns="0" tIns="0" bIns="0">
            <a:spAutoFit/>
          </a:bodyPr>
          <a:lstStyle/>
          <a:p>
            <a:pPr algn="l">
              <a:lnSpc>
                <a:spcPct val="106000"/>
              </a:lnSpc>
              <a:spcBef>
                <a:spcPts val="0"/>
              </a:spcBef>
              <a:spcAft>
                <a:spcPts val="0"/>
              </a:spcAft>
            </a:pPr>
            <a:r>
              <a:rPr sz="1200" b="0">
                <a:solidFill>
                  <a:srgbClr val="1A1A1A"/>
                </a:solidFill>
                <a:latin typeface="Red Hat Text"/>
              </a:rPr>
              <a:t>Real output: hardcoded jdbc URL → dataSource.setUrl(System.getenv("CLAIMS_DB_URL"))</a:t>
            </a:r>
          </a:p>
        </p:txBody>
      </p:sp>
      <p:sp>
        <p:nvSpPr>
          <p:cNvPr id="15" name="Rounded Rectangle 14"/>
          <p:cNvSpPr/>
          <p:nvPr/>
        </p:nvSpPr>
        <p:spPr>
          <a:xfrm>
            <a:off x="841248" y="4206240"/>
            <a:ext cx="5715000" cy="530352"/>
          </a:xfrm>
          <a:prstGeom prst="roundRect">
            <a:avLst>
              <a:gd name="adj" fmla="val 6000"/>
            </a:avLst>
          </a:prstGeom>
          <a:solidFill>
            <a:srgbClr val="F5F6F8"/>
          </a:solidFill>
          <a:ln w="12700">
            <a:solidFill>
              <a:srgbClr val="DDE1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6" name="Picture 15" descr="check_steel.png"/>
          <p:cNvPicPr>
            <a:picLocks noChangeAspect="1"/>
          </p:cNvPicPr>
          <p:nvPr/>
        </p:nvPicPr>
        <p:blipFill>
          <a:blip r:embed="rId3"/>
          <a:stretch>
            <a:fillRect/>
          </a:stretch>
        </p:blipFill>
        <p:spPr>
          <a:xfrm>
            <a:off x="987552" y="4352544"/>
            <a:ext cx="237744" cy="237744"/>
          </a:xfrm>
          <a:prstGeom prst="rect">
            <a:avLst/>
          </a:prstGeom>
        </p:spPr>
      </p:pic>
      <p:sp>
        <p:nvSpPr>
          <p:cNvPr id="17" name="TextBox 16"/>
          <p:cNvSpPr txBox="1"/>
          <p:nvPr/>
        </p:nvSpPr>
        <p:spPr>
          <a:xfrm>
            <a:off x="1353312" y="4206240"/>
            <a:ext cx="5029200" cy="530352"/>
          </a:xfrm>
          <a:prstGeom prst="rect">
            <a:avLst/>
          </a:prstGeom>
          <a:noFill/>
        </p:spPr>
        <p:txBody>
          <a:bodyPr wrap="square" anchor="ctr" lIns="0" rIns="0" tIns="0" bIns="0">
            <a:spAutoFit/>
          </a:bodyPr>
          <a:lstStyle/>
          <a:p>
            <a:pPr algn="l">
              <a:lnSpc>
                <a:spcPct val="106000"/>
              </a:lnSpc>
              <a:spcBef>
                <a:spcPts val="0"/>
              </a:spcBef>
              <a:spcAft>
                <a:spcPts val="0"/>
              </a:spcAft>
            </a:pPr>
            <a:r>
              <a:rPr sz="1200" b="0">
                <a:solidFill>
                  <a:srgbClr val="1A1A1A"/>
                </a:solidFill>
                <a:latin typeface="Red Hat Text"/>
              </a:rPr>
              <a:t>What it does NOT do: migrate for you, guarantee correctness, know your business rules</a:t>
            </a:r>
          </a:p>
        </p:txBody>
      </p:sp>
      <p:sp>
        <p:nvSpPr>
          <p:cNvPr id="18" name="Rounded Rectangle 17"/>
          <p:cNvSpPr/>
          <p:nvPr/>
        </p:nvSpPr>
        <p:spPr>
          <a:xfrm>
            <a:off x="841248" y="4809744"/>
            <a:ext cx="5715000" cy="530352"/>
          </a:xfrm>
          <a:prstGeom prst="roundRect">
            <a:avLst>
              <a:gd name="adj" fmla="val 6000"/>
            </a:avLst>
          </a:prstGeom>
          <a:solidFill>
            <a:srgbClr val="F5F6F8"/>
          </a:solidFill>
          <a:ln w="12700">
            <a:solidFill>
              <a:srgbClr val="DDE1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9" name="Picture 18" descr="check_steel.png"/>
          <p:cNvPicPr>
            <a:picLocks noChangeAspect="1"/>
          </p:cNvPicPr>
          <p:nvPr/>
        </p:nvPicPr>
        <p:blipFill>
          <a:blip r:embed="rId3"/>
          <a:stretch>
            <a:fillRect/>
          </a:stretch>
        </p:blipFill>
        <p:spPr>
          <a:xfrm>
            <a:off x="987552" y="4956048"/>
            <a:ext cx="237744" cy="237744"/>
          </a:xfrm>
          <a:prstGeom prst="rect">
            <a:avLst/>
          </a:prstGeom>
        </p:spPr>
      </p:pic>
      <p:sp>
        <p:nvSpPr>
          <p:cNvPr id="20" name="TextBox 19"/>
          <p:cNvSpPr txBox="1"/>
          <p:nvPr/>
        </p:nvSpPr>
        <p:spPr>
          <a:xfrm>
            <a:off x="1353312" y="4809744"/>
            <a:ext cx="5029200" cy="530352"/>
          </a:xfrm>
          <a:prstGeom prst="rect">
            <a:avLst/>
          </a:prstGeom>
          <a:noFill/>
        </p:spPr>
        <p:txBody>
          <a:bodyPr wrap="square" anchor="ctr" lIns="0" rIns="0" tIns="0" bIns="0">
            <a:spAutoFit/>
          </a:bodyPr>
          <a:lstStyle/>
          <a:p>
            <a:pPr algn="l">
              <a:lnSpc>
                <a:spcPct val="106000"/>
              </a:lnSpc>
              <a:spcBef>
                <a:spcPts val="0"/>
              </a:spcBef>
              <a:spcAft>
                <a:spcPts val="0"/>
              </a:spcAft>
            </a:pPr>
            <a:r>
              <a:rPr sz="1200" b="0">
                <a:solidFill>
                  <a:srgbClr val="1A1A1A"/>
                </a:solidFill>
                <a:latin typeface="Red Hat Text"/>
              </a:rPr>
              <a:t>READ every diff like a junior wrote it under pressure — then re-analyze to PROVE it</a:t>
            </a:r>
          </a:p>
        </p:txBody>
      </p:sp>
      <p:sp>
        <p:nvSpPr>
          <p:cNvPr id="21" name="Rounded Rectangle 20"/>
          <p:cNvSpPr/>
          <p:nvPr/>
        </p:nvSpPr>
        <p:spPr>
          <a:xfrm>
            <a:off x="6812280" y="2395728"/>
            <a:ext cx="4538167" cy="2944368"/>
          </a:xfrm>
          <a:prstGeom prst="roundRect">
            <a:avLst>
              <a:gd name="adj" fmla="val 4000"/>
            </a:avLst>
          </a:prstGeom>
          <a:solidFill>
            <a:srgbClr val="FFFFFF"/>
          </a:solidFill>
          <a:ln w="15240">
            <a:solidFill>
              <a:srgbClr val="DDE1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ounded Rectangle 21"/>
          <p:cNvSpPr/>
          <p:nvPr/>
        </p:nvSpPr>
        <p:spPr>
          <a:xfrm>
            <a:off x="7013448" y="2596896"/>
            <a:ext cx="1298448" cy="310896"/>
          </a:xfrm>
          <a:prstGeom prst="roundRect">
            <a:avLst>
              <a:gd name="adj" fmla="val 50000"/>
            </a:avLst>
          </a:prstGeom>
          <a:solidFill>
            <a:srgbClr val="FCEC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7013448" y="2596896"/>
            <a:ext cx="1298448" cy="310896"/>
          </a:xfrm>
          <a:prstGeom prst="rect">
            <a:avLst/>
          </a:prstGeom>
          <a:noFill/>
        </p:spPr>
        <p:txBody>
          <a:bodyPr wrap="none" anchor="ctr" lIns="0" rIns="0" tIns="0" bIns="0">
            <a:spAutoFit/>
          </a:bodyPr>
          <a:lstStyle/>
          <a:p>
            <a:pPr algn="ctr">
              <a:lnSpc>
                <a:spcPct val="106000"/>
              </a:lnSpc>
              <a:spcBef>
                <a:spcPts val="0"/>
              </a:spcBef>
              <a:spcAft>
                <a:spcPts val="0"/>
              </a:spcAft>
            </a:pPr>
            <a:r>
              <a:rPr sz="850" b="1">
                <a:solidFill>
                  <a:srgbClr val="B80000"/>
                </a:solidFill>
                <a:latin typeface="Red Hat Display"/>
              </a:rPr>
              <a:t>MEDIA PASS</a:t>
            </a:r>
          </a:p>
        </p:txBody>
      </p:sp>
      <p:pic>
        <p:nvPicPr>
          <p:cNvPr id="24" name="Picture 23" descr="eye_slate.png"/>
          <p:cNvPicPr>
            <a:picLocks noChangeAspect="1"/>
          </p:cNvPicPr>
          <p:nvPr/>
        </p:nvPicPr>
        <p:blipFill>
          <a:blip r:embed="rId4"/>
          <a:stretch>
            <a:fillRect/>
          </a:stretch>
        </p:blipFill>
        <p:spPr>
          <a:xfrm>
            <a:off x="8843619" y="3108960"/>
            <a:ext cx="475488" cy="475488"/>
          </a:xfrm>
          <a:prstGeom prst="rect">
            <a:avLst/>
          </a:prstGeom>
        </p:spPr>
      </p:pic>
      <p:sp>
        <p:nvSpPr>
          <p:cNvPr id="25" name="TextBox 24"/>
          <p:cNvSpPr txBox="1"/>
          <p:nvPr/>
        </p:nvSpPr>
        <p:spPr>
          <a:xfrm>
            <a:off x="7050024" y="3721608"/>
            <a:ext cx="4062679" cy="1481328"/>
          </a:xfrm>
          <a:prstGeom prst="rect">
            <a:avLst/>
          </a:prstGeom>
          <a:noFill/>
        </p:spPr>
        <p:txBody>
          <a:bodyPr wrap="square" anchor="t" lIns="0" rIns="0" tIns="0" bIns="0">
            <a:spAutoFit/>
          </a:bodyPr>
          <a:lstStyle/>
          <a:p>
            <a:pPr algn="l">
              <a:lnSpc>
                <a:spcPct val="120000"/>
              </a:lnSpc>
              <a:spcBef>
                <a:spcPts val="0"/>
              </a:spcBef>
              <a:spcAft>
                <a:spcPts val="0"/>
              </a:spcAft>
            </a:pPr>
            <a:r>
              <a:rPr sz="950" b="0">
                <a:solidFill>
                  <a:srgbClr val="8A9099"/>
                </a:solidFill>
                <a:latin typeface="Red Hat Text"/>
              </a:rPr>
              <a:t>A split card. Left: the MTA extension showing the "Hardcoded IP" issue and a proposed diff (red literal URL struck through, green System.getenv line added), an "Accept" button, and a magnifier over the diff labeled "read it first." Right: a caution strip "AI proposes · engineer disposes" and a small "[ADS] · degrades to manual" tag.</a:t>
            </a:r>
          </a:p>
        </p:txBody>
      </p:sp>
      <p:cxnSp>
        <p:nvCxnSpPr>
          <p:cNvPr id="26" name="Connector 25"/>
          <p:cNvCxnSpPr/>
          <p:nvPr/>
        </p:nvCxnSpPr>
        <p:spPr>
          <a:xfrm>
            <a:off x="841248" y="6437376"/>
            <a:ext cx="10509199" cy="0"/>
          </a:xfrm>
          <a:prstGeom prst="bentConnector3">
            <a:avLst/>
          </a:prstGeom>
          <a:ln w="12700">
            <a:solidFill>
              <a:srgbClr val="DDE1E6"/>
            </a:solidFill>
          </a:ln>
          <a:effectLst/>
        </p:spPr>
        <p:style>
          <a:lnRef idx="2">
            <a:schemeClr val="accent1"/>
          </a:lnRef>
          <a:fillRef idx="0">
            <a:schemeClr val="accent1"/>
          </a:fillRef>
          <a:effectRef idx="1">
            <a:schemeClr val="accent1"/>
          </a:effectRef>
          <a:fontRef idx="minor">
            <a:schemeClr val="tx1"/>
          </a:fontRef>
        </p:style>
      </p:cxnSp>
      <p:sp>
        <p:nvSpPr>
          <p:cNvPr id="27" name="TextBox 26"/>
          <p:cNvSpPr txBox="1"/>
          <p:nvPr/>
        </p:nvSpPr>
        <p:spPr>
          <a:xfrm>
            <a:off x="841248" y="6473952"/>
            <a:ext cx="7315200" cy="274320"/>
          </a:xfrm>
          <a:prstGeom prst="rect">
            <a:avLst/>
          </a:prstGeom>
          <a:noFill/>
        </p:spPr>
        <p:txBody>
          <a:bodyPr wrap="square" anchor="t" lIns="0" rIns="0" tIns="0" bIns="0">
            <a:spAutoFit/>
          </a:bodyPr>
          <a:lstStyle/>
          <a:p>
            <a:pPr algn="l">
              <a:lnSpc>
                <a:spcPct val="106000"/>
              </a:lnSpc>
              <a:spcBef>
                <a:spcPts val="0"/>
              </a:spcBef>
              <a:spcAft>
                <a:spcPts val="0"/>
              </a:spcAft>
            </a:pPr>
            <a:r>
              <a:rPr sz="950" b="0">
                <a:solidFill>
                  <a:srgbClr val="8A9099"/>
                </a:solidFill>
                <a:latin typeface="Red Hat Text"/>
              </a:rPr>
              <a:t>CONFIDENTIAL</a:t>
            </a:r>
          </a:p>
        </p:txBody>
      </p:sp>
      <p:sp>
        <p:nvSpPr>
          <p:cNvPr id="28" name="TextBox 27"/>
          <p:cNvSpPr txBox="1"/>
          <p:nvPr/>
        </p:nvSpPr>
        <p:spPr>
          <a:xfrm>
            <a:off x="10801807" y="6473952"/>
            <a:ext cx="548640" cy="274320"/>
          </a:xfrm>
          <a:prstGeom prst="rect">
            <a:avLst/>
          </a:prstGeom>
          <a:noFill/>
        </p:spPr>
        <p:txBody>
          <a:bodyPr wrap="square" anchor="t" lIns="0" rIns="0" tIns="0" bIns="0">
            <a:spAutoFit/>
          </a:bodyPr>
          <a:lstStyle/>
          <a:p>
            <a:pPr algn="r">
              <a:lnSpc>
                <a:spcPct val="106000"/>
              </a:lnSpc>
              <a:spcBef>
                <a:spcPts val="0"/>
              </a:spcBef>
              <a:spcAft>
                <a:spcPts val="0"/>
              </a:spcAft>
            </a:pPr>
            <a:r>
              <a:rPr sz="950" b="0">
                <a:solidFill>
                  <a:srgbClr val="8A9099"/>
                </a:solidFill>
                <a:latin typeface="Red Hat Text"/>
              </a:rPr>
              <a:t>169</a:t>
            </a:r>
          </a:p>
        </p:txBody>
      </p:sp>
    </p:spTree>
  </p:cSld>
  <p:clrMapOvr>
    <a:masterClrMapping/>
  </p:clrMapOvr>
</p:sld>
</file>

<file path=ppt/slides/slide19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redhat_logo.jpg"/>
          <p:cNvPicPr>
            <a:picLocks noChangeAspect="1"/>
          </p:cNvPicPr>
          <p:nvPr/>
        </p:nvPicPr>
        <p:blipFill>
          <a:blip r:embed="rId2"/>
          <a:stretch>
            <a:fillRect/>
          </a:stretch>
        </p:blipFill>
        <p:spPr>
          <a:xfrm>
            <a:off x="10326319" y="475488"/>
            <a:ext cx="1024128" cy="242248"/>
          </a:xfrm>
          <a:prstGeom prst="rect">
            <a:avLst/>
          </a:prstGeom>
        </p:spPr>
      </p:pic>
      <p:sp>
        <p:nvSpPr>
          <p:cNvPr id="3" name="TextBox 2"/>
          <p:cNvSpPr txBox="1"/>
          <p:nvPr/>
        </p:nvSpPr>
        <p:spPr>
          <a:xfrm>
            <a:off x="841248" y="548640"/>
            <a:ext cx="8595360" cy="274320"/>
          </a:xfrm>
          <a:prstGeom prst="rect">
            <a:avLst/>
          </a:prstGeom>
          <a:noFill/>
        </p:spPr>
        <p:txBody>
          <a:bodyPr wrap="square" anchor="t" lIns="0" rIns="0" tIns="0" bIns="0">
            <a:spAutoFit/>
          </a:bodyPr>
          <a:lstStyle/>
          <a:p>
            <a:pPr algn="l">
              <a:lnSpc>
                <a:spcPct val="106000"/>
              </a:lnSpc>
              <a:spcBef>
                <a:spcPts val="0"/>
              </a:spcBef>
              <a:spcAft>
                <a:spcPts val="0"/>
              </a:spcAft>
            </a:pPr>
            <a:r>
              <a:rPr sz="1250" b="1" spc="220">
                <a:solidFill>
                  <a:srgbClr val="EE0000"/>
                </a:solidFill>
                <a:latin typeface="Red Hat Display"/>
              </a:rPr>
              <a:t>M23 · APPLICATION MODERNIZATION</a:t>
            </a:r>
          </a:p>
        </p:txBody>
      </p:sp>
      <p:sp>
        <p:nvSpPr>
          <p:cNvPr id="4" name="TextBox 3"/>
          <p:cNvSpPr txBox="1"/>
          <p:nvPr/>
        </p:nvSpPr>
        <p:spPr>
          <a:xfrm>
            <a:off x="841248" y="877824"/>
            <a:ext cx="10515600" cy="548640"/>
          </a:xfrm>
          <a:prstGeom prst="rect">
            <a:avLst/>
          </a:prstGeom>
          <a:noFill/>
        </p:spPr>
        <p:txBody>
          <a:bodyPr wrap="none" anchor="t" lIns="0" rIns="0" tIns="0" bIns="0">
            <a:spAutoFit/>
          </a:bodyPr>
          <a:lstStyle/>
          <a:p>
            <a:pPr algn="l">
              <a:lnSpc>
                <a:spcPct val="100000"/>
              </a:lnSpc>
              <a:spcBef>
                <a:spcPts val="0"/>
              </a:spcBef>
              <a:spcAft>
                <a:spcPts val="0"/>
              </a:spcAft>
            </a:pPr>
            <a:r>
              <a:rPr sz="2500" b="1">
                <a:solidFill>
                  <a:srgbClr val="1A1A1A"/>
                </a:solidFill>
                <a:latin typeface="Red Hat Display"/>
              </a:rPr>
              <a:t>Modernization is a funnel, not a big bang</a:t>
            </a:r>
          </a:p>
        </p:txBody>
      </p:sp>
      <p:cxnSp>
        <p:nvCxnSpPr>
          <p:cNvPr id="5" name="Connector 4"/>
          <p:cNvCxnSpPr/>
          <p:nvPr/>
        </p:nvCxnSpPr>
        <p:spPr>
          <a:xfrm>
            <a:off x="841248" y="1554480"/>
            <a:ext cx="1371600" cy="0"/>
          </a:xfrm>
          <a:prstGeom prst="bentConnector3">
            <a:avLst/>
          </a:prstGeom>
          <a:ln w="31750">
            <a:solidFill>
              <a:srgbClr val="EE0000"/>
            </a:solidFill>
          </a:ln>
          <a:effectLst/>
        </p:spPr>
        <p:style>
          <a:lnRef idx="2">
            <a:schemeClr val="accent1"/>
          </a:lnRef>
          <a:fillRef idx="0">
            <a:schemeClr val="accent1"/>
          </a:fillRef>
          <a:effectRef idx="1">
            <a:schemeClr val="accent1"/>
          </a:effectRef>
          <a:fontRef idx="minor">
            <a:schemeClr val="tx1"/>
          </a:fontRef>
        </p:style>
      </p:cxnSp>
      <p:sp>
        <p:nvSpPr>
          <p:cNvPr id="6" name="Rounded Rectangle 5"/>
          <p:cNvSpPr/>
          <p:nvPr/>
        </p:nvSpPr>
        <p:spPr>
          <a:xfrm>
            <a:off x="841248" y="2395728"/>
            <a:ext cx="5715000" cy="530352"/>
          </a:xfrm>
          <a:prstGeom prst="roundRect">
            <a:avLst>
              <a:gd name="adj" fmla="val 6000"/>
            </a:avLst>
          </a:prstGeom>
          <a:solidFill>
            <a:srgbClr val="F5F6F8"/>
          </a:solidFill>
          <a:ln w="12700">
            <a:solidFill>
              <a:srgbClr val="DDE1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check_steel.png"/>
          <p:cNvPicPr>
            <a:picLocks noChangeAspect="1"/>
          </p:cNvPicPr>
          <p:nvPr/>
        </p:nvPicPr>
        <p:blipFill>
          <a:blip r:embed="rId3"/>
          <a:stretch>
            <a:fillRect/>
          </a:stretch>
        </p:blipFill>
        <p:spPr>
          <a:xfrm>
            <a:off x="987552" y="2542032"/>
            <a:ext cx="237744" cy="237744"/>
          </a:xfrm>
          <a:prstGeom prst="rect">
            <a:avLst/>
          </a:prstGeom>
        </p:spPr>
      </p:pic>
      <p:sp>
        <p:nvSpPr>
          <p:cNvPr id="8" name="TextBox 7"/>
          <p:cNvSpPr txBox="1"/>
          <p:nvPr/>
        </p:nvSpPr>
        <p:spPr>
          <a:xfrm>
            <a:off x="1353312" y="2395728"/>
            <a:ext cx="5029200" cy="530352"/>
          </a:xfrm>
          <a:prstGeom prst="rect">
            <a:avLst/>
          </a:prstGeom>
          <a:noFill/>
        </p:spPr>
        <p:txBody>
          <a:bodyPr wrap="square" anchor="ctr" lIns="0" rIns="0" tIns="0" bIns="0">
            <a:spAutoFit/>
          </a:bodyPr>
          <a:lstStyle/>
          <a:p>
            <a:pPr algn="l">
              <a:lnSpc>
                <a:spcPct val="106000"/>
              </a:lnSpc>
              <a:spcBef>
                <a:spcPts val="0"/>
              </a:spcBef>
              <a:spcAft>
                <a:spcPts val="0"/>
              </a:spcAft>
            </a:pPr>
            <a:r>
              <a:rPr sz="1200" b="0">
                <a:solidFill>
                  <a:srgbClr val="1A1A1A"/>
                </a:solidFill>
                <a:latin typeface="Red Hat Text"/>
              </a:rPr>
              <a:t>Assess the portfolio → Analyze candidates → Fix high-value/low-effort → Retain/retire the rest</a:t>
            </a:r>
          </a:p>
        </p:txBody>
      </p:sp>
      <p:sp>
        <p:nvSpPr>
          <p:cNvPr id="9" name="Rounded Rectangle 8"/>
          <p:cNvSpPr/>
          <p:nvPr/>
        </p:nvSpPr>
        <p:spPr>
          <a:xfrm>
            <a:off x="841248" y="2999232"/>
            <a:ext cx="5715000" cy="530352"/>
          </a:xfrm>
          <a:prstGeom prst="roundRect">
            <a:avLst>
              <a:gd name="adj" fmla="val 6000"/>
            </a:avLst>
          </a:prstGeom>
          <a:solidFill>
            <a:srgbClr val="F5F6F8"/>
          </a:solidFill>
          <a:ln w="12700">
            <a:solidFill>
              <a:srgbClr val="DDE1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0" name="Picture 9" descr="check_steel.png"/>
          <p:cNvPicPr>
            <a:picLocks noChangeAspect="1"/>
          </p:cNvPicPr>
          <p:nvPr/>
        </p:nvPicPr>
        <p:blipFill>
          <a:blip r:embed="rId3"/>
          <a:stretch>
            <a:fillRect/>
          </a:stretch>
        </p:blipFill>
        <p:spPr>
          <a:xfrm>
            <a:off x="987552" y="3145536"/>
            <a:ext cx="237744" cy="237744"/>
          </a:xfrm>
          <a:prstGeom prst="rect">
            <a:avLst/>
          </a:prstGeom>
        </p:spPr>
      </p:pic>
      <p:sp>
        <p:nvSpPr>
          <p:cNvPr id="11" name="TextBox 10"/>
          <p:cNvSpPr txBox="1"/>
          <p:nvPr/>
        </p:nvSpPr>
        <p:spPr>
          <a:xfrm>
            <a:off x="1353312" y="2999232"/>
            <a:ext cx="5029200" cy="530352"/>
          </a:xfrm>
          <a:prstGeom prst="rect">
            <a:avLst/>
          </a:prstGeom>
          <a:noFill/>
        </p:spPr>
        <p:txBody>
          <a:bodyPr wrap="square" anchor="ctr" lIns="0" rIns="0" tIns="0" bIns="0">
            <a:spAutoFit/>
          </a:bodyPr>
          <a:lstStyle/>
          <a:p>
            <a:pPr algn="l">
              <a:lnSpc>
                <a:spcPct val="106000"/>
              </a:lnSpc>
              <a:spcBef>
                <a:spcPts val="0"/>
              </a:spcBef>
              <a:spcAft>
                <a:spcPts val="0"/>
              </a:spcAft>
            </a:pPr>
            <a:r>
              <a:rPr sz="1200" b="0">
                <a:solidFill>
                  <a:srgbClr val="1A1A1A"/>
                </a:solidFill>
                <a:latin typeface="Red Hat Text"/>
              </a:rPr>
              <a:t>Ship early cheap wins; bank the pattern and the credibility</a:t>
            </a:r>
          </a:p>
        </p:txBody>
      </p:sp>
      <p:sp>
        <p:nvSpPr>
          <p:cNvPr id="12" name="Rounded Rectangle 11"/>
          <p:cNvSpPr/>
          <p:nvPr/>
        </p:nvSpPr>
        <p:spPr>
          <a:xfrm>
            <a:off x="841248" y="3602736"/>
            <a:ext cx="5715000" cy="530352"/>
          </a:xfrm>
          <a:prstGeom prst="roundRect">
            <a:avLst>
              <a:gd name="adj" fmla="val 6000"/>
            </a:avLst>
          </a:prstGeom>
          <a:solidFill>
            <a:srgbClr val="F5F6F8"/>
          </a:solidFill>
          <a:ln w="12700">
            <a:solidFill>
              <a:srgbClr val="DDE1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3" name="Picture 12" descr="check_steel.png"/>
          <p:cNvPicPr>
            <a:picLocks noChangeAspect="1"/>
          </p:cNvPicPr>
          <p:nvPr/>
        </p:nvPicPr>
        <p:blipFill>
          <a:blip r:embed="rId3"/>
          <a:stretch>
            <a:fillRect/>
          </a:stretch>
        </p:blipFill>
        <p:spPr>
          <a:xfrm>
            <a:off x="987552" y="3749040"/>
            <a:ext cx="237744" cy="237744"/>
          </a:xfrm>
          <a:prstGeom prst="rect">
            <a:avLst/>
          </a:prstGeom>
        </p:spPr>
      </p:pic>
      <p:sp>
        <p:nvSpPr>
          <p:cNvPr id="14" name="TextBox 13"/>
          <p:cNvSpPr txBox="1"/>
          <p:nvPr/>
        </p:nvSpPr>
        <p:spPr>
          <a:xfrm>
            <a:off x="1353312" y="3602736"/>
            <a:ext cx="5029200" cy="530352"/>
          </a:xfrm>
          <a:prstGeom prst="rect">
            <a:avLst/>
          </a:prstGeom>
          <a:noFill/>
        </p:spPr>
        <p:txBody>
          <a:bodyPr wrap="square" anchor="ctr" lIns="0" rIns="0" tIns="0" bIns="0">
            <a:spAutoFit/>
          </a:bodyPr>
          <a:lstStyle/>
          <a:p>
            <a:pPr algn="l">
              <a:lnSpc>
                <a:spcPct val="106000"/>
              </a:lnSpc>
              <a:spcBef>
                <a:spcPts val="0"/>
              </a:spcBef>
              <a:spcAft>
                <a:spcPts val="0"/>
              </a:spcAft>
            </a:pPr>
            <a:r>
              <a:rPr sz="1200" b="0">
                <a:solidFill>
                  <a:srgbClr val="1A1A1A"/>
                </a:solidFill>
                <a:latin typeface="Red Hat Text"/>
              </a:rPr>
              <a:t>Big monolith? STRANGLER pattern: run the modern service BESIDE the legacy, move traffic slice by slice</a:t>
            </a:r>
          </a:p>
        </p:txBody>
      </p:sp>
      <p:sp>
        <p:nvSpPr>
          <p:cNvPr id="15" name="Rounded Rectangle 14"/>
          <p:cNvSpPr/>
          <p:nvPr/>
        </p:nvSpPr>
        <p:spPr>
          <a:xfrm>
            <a:off x="841248" y="4206240"/>
            <a:ext cx="5715000" cy="530352"/>
          </a:xfrm>
          <a:prstGeom prst="roundRect">
            <a:avLst>
              <a:gd name="adj" fmla="val 6000"/>
            </a:avLst>
          </a:prstGeom>
          <a:solidFill>
            <a:srgbClr val="F5F6F8"/>
          </a:solidFill>
          <a:ln w="12700">
            <a:solidFill>
              <a:srgbClr val="DDE1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6" name="Picture 15" descr="check_steel.png"/>
          <p:cNvPicPr>
            <a:picLocks noChangeAspect="1"/>
          </p:cNvPicPr>
          <p:nvPr/>
        </p:nvPicPr>
        <p:blipFill>
          <a:blip r:embed="rId3"/>
          <a:stretch>
            <a:fillRect/>
          </a:stretch>
        </p:blipFill>
        <p:spPr>
          <a:xfrm>
            <a:off x="987552" y="4352544"/>
            <a:ext cx="237744" cy="237744"/>
          </a:xfrm>
          <a:prstGeom prst="rect">
            <a:avLst/>
          </a:prstGeom>
        </p:spPr>
      </p:pic>
      <p:sp>
        <p:nvSpPr>
          <p:cNvPr id="17" name="TextBox 16"/>
          <p:cNvSpPr txBox="1"/>
          <p:nvPr/>
        </p:nvSpPr>
        <p:spPr>
          <a:xfrm>
            <a:off x="1353312" y="4206240"/>
            <a:ext cx="5029200" cy="530352"/>
          </a:xfrm>
          <a:prstGeom prst="rect">
            <a:avLst/>
          </a:prstGeom>
          <a:noFill/>
        </p:spPr>
        <p:txBody>
          <a:bodyPr wrap="square" anchor="ctr" lIns="0" rIns="0" tIns="0" bIns="0">
            <a:spAutoFit/>
          </a:bodyPr>
          <a:lstStyle/>
          <a:p>
            <a:pPr algn="l">
              <a:lnSpc>
                <a:spcPct val="106000"/>
              </a:lnSpc>
              <a:spcBef>
                <a:spcPts val="0"/>
              </a:spcBef>
              <a:spcAft>
                <a:spcPts val="0"/>
              </a:spcAft>
            </a:pPr>
            <a:r>
              <a:rPr sz="1200" b="0">
                <a:solidFill>
                  <a:srgbClr val="1A1A1A"/>
                </a:solidFill>
                <a:latin typeface="Red Hat Text"/>
              </a:rPr>
              <a:t>Coexistence is a CONNECTIVITY problem → Service Interconnect (the Resilience, Multi-Cluster &amp; DR module)</a:t>
            </a:r>
          </a:p>
        </p:txBody>
      </p:sp>
      <p:sp>
        <p:nvSpPr>
          <p:cNvPr id="18" name="Rounded Rectangle 17"/>
          <p:cNvSpPr/>
          <p:nvPr/>
        </p:nvSpPr>
        <p:spPr>
          <a:xfrm>
            <a:off x="841248" y="4809744"/>
            <a:ext cx="5715000" cy="530352"/>
          </a:xfrm>
          <a:prstGeom prst="roundRect">
            <a:avLst>
              <a:gd name="adj" fmla="val 6000"/>
            </a:avLst>
          </a:prstGeom>
          <a:solidFill>
            <a:srgbClr val="F5F6F8"/>
          </a:solidFill>
          <a:ln w="12700">
            <a:solidFill>
              <a:srgbClr val="DDE1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9" name="Picture 18" descr="check_steel.png"/>
          <p:cNvPicPr>
            <a:picLocks noChangeAspect="1"/>
          </p:cNvPicPr>
          <p:nvPr/>
        </p:nvPicPr>
        <p:blipFill>
          <a:blip r:embed="rId3"/>
          <a:stretch>
            <a:fillRect/>
          </a:stretch>
        </p:blipFill>
        <p:spPr>
          <a:xfrm>
            <a:off x="987552" y="4956048"/>
            <a:ext cx="237744" cy="237744"/>
          </a:xfrm>
          <a:prstGeom prst="rect">
            <a:avLst/>
          </a:prstGeom>
        </p:spPr>
      </p:pic>
      <p:sp>
        <p:nvSpPr>
          <p:cNvPr id="20" name="TextBox 19"/>
          <p:cNvSpPr txBox="1"/>
          <p:nvPr/>
        </p:nvSpPr>
        <p:spPr>
          <a:xfrm>
            <a:off x="1353312" y="4809744"/>
            <a:ext cx="5029200" cy="530352"/>
          </a:xfrm>
          <a:prstGeom prst="rect">
            <a:avLst/>
          </a:prstGeom>
          <a:noFill/>
        </p:spPr>
        <p:txBody>
          <a:bodyPr wrap="square" anchor="ctr" lIns="0" rIns="0" tIns="0" bIns="0">
            <a:spAutoFit/>
          </a:bodyPr>
          <a:lstStyle/>
          <a:p>
            <a:pPr algn="l">
              <a:lnSpc>
                <a:spcPct val="106000"/>
              </a:lnSpc>
              <a:spcBef>
                <a:spcPts val="0"/>
              </a:spcBef>
              <a:spcAft>
                <a:spcPts val="0"/>
              </a:spcAft>
            </a:pPr>
            <a:r>
              <a:rPr sz="1200" b="0">
                <a:solidFill>
                  <a:srgbClr val="1A1A1A"/>
                </a:solidFill>
                <a:latin typeface="Red Hat Text"/>
              </a:rPr>
              <a:t>When NOT to: retire-worthy apps, replatform-is-enough, un-reviewable AI diffs</a:t>
            </a:r>
          </a:p>
        </p:txBody>
      </p:sp>
      <p:sp>
        <p:nvSpPr>
          <p:cNvPr id="21" name="Rounded Rectangle 20"/>
          <p:cNvSpPr/>
          <p:nvPr/>
        </p:nvSpPr>
        <p:spPr>
          <a:xfrm>
            <a:off x="6812280" y="2395728"/>
            <a:ext cx="4538167" cy="2944368"/>
          </a:xfrm>
          <a:prstGeom prst="roundRect">
            <a:avLst>
              <a:gd name="adj" fmla="val 4000"/>
            </a:avLst>
          </a:prstGeom>
          <a:solidFill>
            <a:srgbClr val="FFFFFF"/>
          </a:solidFill>
          <a:ln w="15240">
            <a:solidFill>
              <a:srgbClr val="DDE1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ounded Rectangle 21"/>
          <p:cNvSpPr/>
          <p:nvPr/>
        </p:nvSpPr>
        <p:spPr>
          <a:xfrm>
            <a:off x="7013448" y="2596896"/>
            <a:ext cx="1298448" cy="310896"/>
          </a:xfrm>
          <a:prstGeom prst="roundRect">
            <a:avLst>
              <a:gd name="adj" fmla="val 50000"/>
            </a:avLst>
          </a:prstGeom>
          <a:solidFill>
            <a:srgbClr val="FCEC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7013448" y="2596896"/>
            <a:ext cx="1298448" cy="310896"/>
          </a:xfrm>
          <a:prstGeom prst="rect">
            <a:avLst/>
          </a:prstGeom>
          <a:noFill/>
        </p:spPr>
        <p:txBody>
          <a:bodyPr wrap="none" anchor="ctr" lIns="0" rIns="0" tIns="0" bIns="0">
            <a:spAutoFit/>
          </a:bodyPr>
          <a:lstStyle/>
          <a:p>
            <a:pPr algn="ctr">
              <a:lnSpc>
                <a:spcPct val="106000"/>
              </a:lnSpc>
              <a:spcBef>
                <a:spcPts val="0"/>
              </a:spcBef>
              <a:spcAft>
                <a:spcPts val="0"/>
              </a:spcAft>
            </a:pPr>
            <a:r>
              <a:rPr sz="850" b="1">
                <a:solidFill>
                  <a:srgbClr val="B80000"/>
                </a:solidFill>
                <a:latin typeface="Red Hat Display"/>
              </a:rPr>
              <a:t>MEDIA PASS</a:t>
            </a:r>
          </a:p>
        </p:txBody>
      </p:sp>
      <p:pic>
        <p:nvPicPr>
          <p:cNvPr id="24" name="Picture 23" descr="eye_slate.png"/>
          <p:cNvPicPr>
            <a:picLocks noChangeAspect="1"/>
          </p:cNvPicPr>
          <p:nvPr/>
        </p:nvPicPr>
        <p:blipFill>
          <a:blip r:embed="rId4"/>
          <a:stretch>
            <a:fillRect/>
          </a:stretch>
        </p:blipFill>
        <p:spPr>
          <a:xfrm>
            <a:off x="8843619" y="3108960"/>
            <a:ext cx="475488" cy="475488"/>
          </a:xfrm>
          <a:prstGeom prst="rect">
            <a:avLst/>
          </a:prstGeom>
        </p:spPr>
      </p:pic>
      <p:sp>
        <p:nvSpPr>
          <p:cNvPr id="25" name="TextBox 24"/>
          <p:cNvSpPr txBox="1"/>
          <p:nvPr/>
        </p:nvSpPr>
        <p:spPr>
          <a:xfrm>
            <a:off x="7050024" y="3721608"/>
            <a:ext cx="4062679" cy="1481328"/>
          </a:xfrm>
          <a:prstGeom prst="rect">
            <a:avLst/>
          </a:prstGeom>
          <a:noFill/>
        </p:spPr>
        <p:txBody>
          <a:bodyPr wrap="square" anchor="t" lIns="0" rIns="0" tIns="0" bIns="0">
            <a:spAutoFit/>
          </a:bodyPr>
          <a:lstStyle/>
          <a:p>
            <a:pPr algn="l">
              <a:lnSpc>
                <a:spcPct val="120000"/>
              </a:lnSpc>
              <a:spcBef>
                <a:spcPts val="0"/>
              </a:spcBef>
              <a:spcAft>
                <a:spcPts val="0"/>
              </a:spcAft>
            </a:pPr>
            <a:r>
              <a:rPr sz="950" b="0">
                <a:solidFill>
                  <a:srgbClr val="8A9099"/>
                </a:solidFill>
                <a:latin typeface="Red Hat Text"/>
              </a:rPr>
              <a:t>A funnel graphic — wide "portfolio (assess)" at top narrowing through "analyze (MTA effort)" to "fix + ship" at the spout, with a small "retain/retire" side-chute. Below the funnel, a strangler mini-diagram: legacy box and modern box side by side, a traffic-split dial moving from 100/0 toward 0/100, labeled "Service Interconnect → Resilience, Multi-Cluster &amp; DR." A footer "When NOT to: retire · replatform-enough · un-reviewed AI."</a:t>
            </a:r>
          </a:p>
        </p:txBody>
      </p:sp>
      <p:cxnSp>
        <p:nvCxnSpPr>
          <p:cNvPr id="26" name="Connector 25"/>
          <p:cNvCxnSpPr/>
          <p:nvPr/>
        </p:nvCxnSpPr>
        <p:spPr>
          <a:xfrm>
            <a:off x="841248" y="6437376"/>
            <a:ext cx="10509199" cy="0"/>
          </a:xfrm>
          <a:prstGeom prst="bentConnector3">
            <a:avLst/>
          </a:prstGeom>
          <a:ln w="12700">
            <a:solidFill>
              <a:srgbClr val="DDE1E6"/>
            </a:solidFill>
          </a:ln>
          <a:effectLst/>
        </p:spPr>
        <p:style>
          <a:lnRef idx="2">
            <a:schemeClr val="accent1"/>
          </a:lnRef>
          <a:fillRef idx="0">
            <a:schemeClr val="accent1"/>
          </a:fillRef>
          <a:effectRef idx="1">
            <a:schemeClr val="accent1"/>
          </a:effectRef>
          <a:fontRef idx="minor">
            <a:schemeClr val="tx1"/>
          </a:fontRef>
        </p:style>
      </p:cxnSp>
      <p:sp>
        <p:nvSpPr>
          <p:cNvPr id="27" name="TextBox 26"/>
          <p:cNvSpPr txBox="1"/>
          <p:nvPr/>
        </p:nvSpPr>
        <p:spPr>
          <a:xfrm>
            <a:off x="841248" y="6473952"/>
            <a:ext cx="7315200" cy="274320"/>
          </a:xfrm>
          <a:prstGeom prst="rect">
            <a:avLst/>
          </a:prstGeom>
          <a:noFill/>
        </p:spPr>
        <p:txBody>
          <a:bodyPr wrap="square" anchor="t" lIns="0" rIns="0" tIns="0" bIns="0">
            <a:spAutoFit/>
          </a:bodyPr>
          <a:lstStyle/>
          <a:p>
            <a:pPr algn="l">
              <a:lnSpc>
                <a:spcPct val="106000"/>
              </a:lnSpc>
              <a:spcBef>
                <a:spcPts val="0"/>
              </a:spcBef>
              <a:spcAft>
                <a:spcPts val="0"/>
              </a:spcAft>
            </a:pPr>
            <a:r>
              <a:rPr sz="950" b="0">
                <a:solidFill>
                  <a:srgbClr val="8A9099"/>
                </a:solidFill>
                <a:latin typeface="Red Hat Text"/>
              </a:rPr>
              <a:t>CONFIDENTIAL</a:t>
            </a:r>
          </a:p>
        </p:txBody>
      </p:sp>
      <p:sp>
        <p:nvSpPr>
          <p:cNvPr id="28" name="TextBox 27"/>
          <p:cNvSpPr txBox="1"/>
          <p:nvPr/>
        </p:nvSpPr>
        <p:spPr>
          <a:xfrm>
            <a:off x="10801807" y="6473952"/>
            <a:ext cx="548640" cy="274320"/>
          </a:xfrm>
          <a:prstGeom prst="rect">
            <a:avLst/>
          </a:prstGeom>
          <a:noFill/>
        </p:spPr>
        <p:txBody>
          <a:bodyPr wrap="square" anchor="t" lIns="0" rIns="0" tIns="0" bIns="0">
            <a:spAutoFit/>
          </a:bodyPr>
          <a:lstStyle/>
          <a:p>
            <a:pPr algn="r">
              <a:lnSpc>
                <a:spcPct val="106000"/>
              </a:lnSpc>
              <a:spcBef>
                <a:spcPts val="0"/>
              </a:spcBef>
              <a:spcAft>
                <a:spcPts val="0"/>
              </a:spcAft>
            </a:pPr>
            <a:r>
              <a:rPr sz="950" b="0">
                <a:solidFill>
                  <a:srgbClr val="8A9099"/>
                </a:solidFill>
                <a:latin typeface="Red Hat Text"/>
              </a:rPr>
              <a:t>170</a:t>
            </a:r>
          </a:p>
        </p:txBody>
      </p:sp>
    </p:spTree>
  </p:cSld>
  <p:clrMapOvr>
    <a:masterClrMapping/>
  </p:clrMapOvr>
</p:sld>
</file>

<file path=ppt/slides/slide19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redhat_logo.jpg"/>
          <p:cNvPicPr>
            <a:picLocks noChangeAspect="1"/>
          </p:cNvPicPr>
          <p:nvPr/>
        </p:nvPicPr>
        <p:blipFill>
          <a:blip r:embed="rId2"/>
          <a:stretch>
            <a:fillRect/>
          </a:stretch>
        </p:blipFill>
        <p:spPr>
          <a:xfrm>
            <a:off x="841248" y="731520"/>
            <a:ext cx="1554480" cy="367699"/>
          </a:xfrm>
          <a:prstGeom prst="rect">
            <a:avLst/>
          </a:prstGeom>
        </p:spPr>
      </p:pic>
      <p:sp>
        <p:nvSpPr>
          <p:cNvPr id="3" name="TextBox 2"/>
          <p:cNvSpPr txBox="1"/>
          <p:nvPr/>
        </p:nvSpPr>
        <p:spPr>
          <a:xfrm>
            <a:off x="841248" y="2514600"/>
            <a:ext cx="9601200" cy="274320"/>
          </a:xfrm>
          <a:prstGeom prst="rect">
            <a:avLst/>
          </a:prstGeom>
          <a:noFill/>
        </p:spPr>
        <p:txBody>
          <a:bodyPr wrap="square" anchor="t" lIns="0" rIns="0" tIns="0" bIns="0">
            <a:spAutoFit/>
          </a:bodyPr>
          <a:lstStyle/>
          <a:p>
            <a:pPr algn="l">
              <a:lnSpc>
                <a:spcPct val="106000"/>
              </a:lnSpc>
              <a:spcBef>
                <a:spcPts val="0"/>
              </a:spcBef>
              <a:spcAft>
                <a:spcPts val="0"/>
              </a:spcAft>
            </a:pPr>
            <a:r>
              <a:rPr sz="1250" b="1" spc="180">
                <a:solidFill>
                  <a:srgbClr val="5B3E8E"/>
                </a:solidFill>
                <a:latin typeface="Red Hat Display"/>
              </a:rPr>
              <a:t>D · ADVANCED ELECTIVES</a:t>
            </a:r>
          </a:p>
        </p:txBody>
      </p:sp>
      <p:sp>
        <p:nvSpPr>
          <p:cNvPr id="4" name="TextBox 3"/>
          <p:cNvSpPr txBox="1"/>
          <p:nvPr/>
        </p:nvSpPr>
        <p:spPr>
          <a:xfrm>
            <a:off x="841248" y="2880360"/>
            <a:ext cx="2103120" cy="1188720"/>
          </a:xfrm>
          <a:prstGeom prst="rect">
            <a:avLst/>
          </a:prstGeom>
          <a:noFill/>
        </p:spPr>
        <p:txBody>
          <a:bodyPr wrap="none" anchor="t" lIns="0" rIns="0" tIns="0" bIns="0">
            <a:spAutoFit/>
          </a:bodyPr>
          <a:lstStyle/>
          <a:p>
            <a:pPr algn="l">
              <a:lnSpc>
                <a:spcPct val="90000"/>
              </a:lnSpc>
              <a:spcBef>
                <a:spcPts val="0"/>
              </a:spcBef>
              <a:spcAft>
                <a:spcPts val="0"/>
              </a:spcAft>
            </a:pPr>
            <a:r>
              <a:rPr sz="5200" b="1">
                <a:solidFill>
                  <a:srgbClr val="B80000"/>
                </a:solidFill>
                <a:latin typeface="Red Hat Display"/>
              </a:rPr>
              <a:t>M24</a:t>
            </a:r>
          </a:p>
        </p:txBody>
      </p:sp>
      <p:sp>
        <p:nvSpPr>
          <p:cNvPr id="5" name="TextBox 4"/>
          <p:cNvSpPr txBox="1"/>
          <p:nvPr/>
        </p:nvSpPr>
        <p:spPr>
          <a:xfrm>
            <a:off x="3127248" y="2971800"/>
            <a:ext cx="8412480" cy="1188720"/>
          </a:xfrm>
          <a:prstGeom prst="rect">
            <a:avLst/>
          </a:prstGeom>
          <a:noFill/>
        </p:spPr>
        <p:txBody>
          <a:bodyPr wrap="square" anchor="t" lIns="0" rIns="0" tIns="0" bIns="0">
            <a:spAutoFit/>
          </a:bodyPr>
          <a:lstStyle/>
          <a:p>
            <a:pPr algn="l">
              <a:lnSpc>
                <a:spcPct val="102000"/>
              </a:lnSpc>
              <a:spcBef>
                <a:spcPts val="0"/>
              </a:spcBef>
              <a:spcAft>
                <a:spcPts val="0"/>
              </a:spcAft>
            </a:pPr>
            <a:r>
              <a:rPr sz="3000" b="1">
                <a:solidFill>
                  <a:srgbClr val="1A1A1A"/>
                </a:solidFill>
                <a:latin typeface="Red Hat Display"/>
              </a:rPr>
              <a:t>Agentic AI on OpenShift</a:t>
            </a:r>
          </a:p>
        </p:txBody>
      </p:sp>
      <p:cxnSp>
        <p:nvCxnSpPr>
          <p:cNvPr id="6" name="Connector 5"/>
          <p:cNvCxnSpPr/>
          <p:nvPr/>
        </p:nvCxnSpPr>
        <p:spPr>
          <a:xfrm>
            <a:off x="841248" y="4443984"/>
            <a:ext cx="1463040" cy="0"/>
          </a:xfrm>
          <a:prstGeom prst="bentConnector3">
            <a:avLst/>
          </a:prstGeom>
          <a:ln w="38100">
            <a:solidFill>
              <a:srgbClr val="EE0000"/>
            </a:solidFill>
          </a:ln>
          <a:effectLst/>
        </p:spPr>
        <p:style>
          <a:lnRef idx="2">
            <a:schemeClr val="accent1"/>
          </a:lnRef>
          <a:fillRef idx="0">
            <a:schemeClr val="accent1"/>
          </a:fillRef>
          <a:effectRef idx="1">
            <a:schemeClr val="accent1"/>
          </a:effectRef>
          <a:fontRef idx="minor">
            <a:schemeClr val="tx1"/>
          </a:fontRef>
        </p:style>
      </p:cxnSp>
    </p:spTree>
  </p:cSld>
  <p:clrMapOvr>
    <a:masterClrMapping/>
  </p:clrMapOvr>
</p:sld>
</file>

<file path=ppt/slides/slide19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redhat_logo.jpg"/>
          <p:cNvPicPr>
            <a:picLocks noChangeAspect="1"/>
          </p:cNvPicPr>
          <p:nvPr/>
        </p:nvPicPr>
        <p:blipFill>
          <a:blip r:embed="rId2"/>
          <a:stretch>
            <a:fillRect/>
          </a:stretch>
        </p:blipFill>
        <p:spPr>
          <a:xfrm>
            <a:off x="10326319" y="475488"/>
            <a:ext cx="1024128" cy="242248"/>
          </a:xfrm>
          <a:prstGeom prst="rect">
            <a:avLst/>
          </a:prstGeom>
        </p:spPr>
      </p:pic>
      <p:sp>
        <p:nvSpPr>
          <p:cNvPr id="3" name="TextBox 2"/>
          <p:cNvSpPr txBox="1"/>
          <p:nvPr/>
        </p:nvSpPr>
        <p:spPr>
          <a:xfrm>
            <a:off x="841248" y="548640"/>
            <a:ext cx="8595360" cy="274320"/>
          </a:xfrm>
          <a:prstGeom prst="rect">
            <a:avLst/>
          </a:prstGeom>
          <a:noFill/>
        </p:spPr>
        <p:txBody>
          <a:bodyPr wrap="square" anchor="t" lIns="0" rIns="0" tIns="0" bIns="0">
            <a:spAutoFit/>
          </a:bodyPr>
          <a:lstStyle/>
          <a:p>
            <a:pPr algn="l">
              <a:lnSpc>
                <a:spcPct val="106000"/>
              </a:lnSpc>
              <a:spcBef>
                <a:spcPts val="0"/>
              </a:spcBef>
              <a:spcAft>
                <a:spcPts val="0"/>
              </a:spcAft>
            </a:pPr>
            <a:r>
              <a:rPr sz="1250" b="1" spc="220">
                <a:solidFill>
                  <a:srgbClr val="EE0000"/>
                </a:solidFill>
                <a:latin typeface="Red Hat Display"/>
              </a:rPr>
              <a:t>M24 · AGENTIC AI ON OPENSHIFT</a:t>
            </a:r>
          </a:p>
        </p:txBody>
      </p:sp>
      <p:sp>
        <p:nvSpPr>
          <p:cNvPr id="4" name="TextBox 3"/>
          <p:cNvSpPr txBox="1"/>
          <p:nvPr/>
        </p:nvSpPr>
        <p:spPr>
          <a:xfrm>
            <a:off x="841248" y="877824"/>
            <a:ext cx="10515600" cy="548640"/>
          </a:xfrm>
          <a:prstGeom prst="rect">
            <a:avLst/>
          </a:prstGeom>
          <a:noFill/>
        </p:spPr>
        <p:txBody>
          <a:bodyPr wrap="none" anchor="t" lIns="0" rIns="0" tIns="0" bIns="0">
            <a:spAutoFit/>
          </a:bodyPr>
          <a:lstStyle/>
          <a:p>
            <a:pPr algn="l">
              <a:lnSpc>
                <a:spcPct val="100000"/>
              </a:lnSpc>
              <a:spcBef>
                <a:spcPts val="0"/>
              </a:spcBef>
              <a:spcAft>
                <a:spcPts val="0"/>
              </a:spcAft>
            </a:pPr>
            <a:r>
              <a:rPr sz="2500" b="1">
                <a:solidFill>
                  <a:srgbClr val="1A1A1A"/>
                </a:solidFill>
                <a:latin typeface="Red Hat Display"/>
              </a:rPr>
              <a:t>A model alone is confidently wrong about</a:t>
            </a:r>
          </a:p>
        </p:txBody>
      </p:sp>
      <p:cxnSp>
        <p:nvCxnSpPr>
          <p:cNvPr id="5" name="Connector 4"/>
          <p:cNvCxnSpPr/>
          <p:nvPr/>
        </p:nvCxnSpPr>
        <p:spPr>
          <a:xfrm>
            <a:off x="841248" y="1554480"/>
            <a:ext cx="1371600" cy="0"/>
          </a:xfrm>
          <a:prstGeom prst="bentConnector3">
            <a:avLst/>
          </a:prstGeom>
          <a:ln w="31750">
            <a:solidFill>
              <a:srgbClr val="EE0000"/>
            </a:solidFill>
          </a:ln>
          <a:effectLst/>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841248" y="1664208"/>
            <a:ext cx="10515600" cy="365760"/>
          </a:xfrm>
          <a:prstGeom prst="rect">
            <a:avLst/>
          </a:prstGeom>
          <a:noFill/>
        </p:spPr>
        <p:txBody>
          <a:bodyPr wrap="square" anchor="t" lIns="0" rIns="0" tIns="0" bIns="0">
            <a:spAutoFit/>
          </a:bodyPr>
          <a:lstStyle/>
          <a:p>
            <a:pPr algn="l">
              <a:lnSpc>
                <a:spcPct val="106000"/>
              </a:lnSpc>
              <a:spcBef>
                <a:spcPts val="0"/>
              </a:spcBef>
              <a:spcAft>
                <a:spcPts val="0"/>
              </a:spcAft>
            </a:pPr>
            <a:r>
              <a:rPr sz="1350" b="0">
                <a:solidFill>
                  <a:srgbClr val="555960"/>
                </a:solidFill>
                <a:latin typeface="Red Hat Text"/>
              </a:rPr>
              <a:t>YOUR data</a:t>
            </a:r>
          </a:p>
        </p:txBody>
      </p:sp>
      <p:sp>
        <p:nvSpPr>
          <p:cNvPr id="7" name="Rounded Rectangle 6"/>
          <p:cNvSpPr/>
          <p:nvPr/>
        </p:nvSpPr>
        <p:spPr>
          <a:xfrm>
            <a:off x="841248" y="2670048"/>
            <a:ext cx="5715000" cy="530352"/>
          </a:xfrm>
          <a:prstGeom prst="roundRect">
            <a:avLst>
              <a:gd name="adj" fmla="val 6000"/>
            </a:avLst>
          </a:prstGeom>
          <a:solidFill>
            <a:srgbClr val="F5F6F8"/>
          </a:solidFill>
          <a:ln w="12700">
            <a:solidFill>
              <a:srgbClr val="DDE1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check_steel.png"/>
          <p:cNvPicPr>
            <a:picLocks noChangeAspect="1"/>
          </p:cNvPicPr>
          <p:nvPr/>
        </p:nvPicPr>
        <p:blipFill>
          <a:blip r:embed="rId3"/>
          <a:stretch>
            <a:fillRect/>
          </a:stretch>
        </p:blipFill>
        <p:spPr>
          <a:xfrm>
            <a:off x="987552" y="2816352"/>
            <a:ext cx="237744" cy="237744"/>
          </a:xfrm>
          <a:prstGeom prst="rect">
            <a:avLst/>
          </a:prstGeom>
        </p:spPr>
      </p:pic>
      <p:sp>
        <p:nvSpPr>
          <p:cNvPr id="9" name="TextBox 8"/>
          <p:cNvSpPr txBox="1"/>
          <p:nvPr/>
        </p:nvSpPr>
        <p:spPr>
          <a:xfrm>
            <a:off x="1353312" y="2670048"/>
            <a:ext cx="5029200" cy="530352"/>
          </a:xfrm>
          <a:prstGeom prst="rect">
            <a:avLst/>
          </a:prstGeom>
          <a:noFill/>
        </p:spPr>
        <p:txBody>
          <a:bodyPr wrap="square" anchor="ctr" lIns="0" rIns="0" tIns="0" bIns="0">
            <a:spAutoFit/>
          </a:bodyPr>
          <a:lstStyle/>
          <a:p>
            <a:pPr algn="l">
              <a:lnSpc>
                <a:spcPct val="106000"/>
              </a:lnSpc>
              <a:spcBef>
                <a:spcPts val="0"/>
              </a:spcBef>
              <a:spcAft>
                <a:spcPts val="0"/>
              </a:spcAft>
            </a:pPr>
            <a:r>
              <a:rPr sz="1200" b="0">
                <a:solidFill>
                  <a:srgbClr val="1A1A1A"/>
                </a:solidFill>
                <a:latin typeface="Red Hat Text"/>
              </a:rPr>
              <a:t>Staff ask all day: "status of this claim?" · "what does our policy say?"</a:t>
            </a:r>
          </a:p>
        </p:txBody>
      </p:sp>
      <p:sp>
        <p:nvSpPr>
          <p:cNvPr id="10" name="Rounded Rectangle 9"/>
          <p:cNvSpPr/>
          <p:nvPr/>
        </p:nvSpPr>
        <p:spPr>
          <a:xfrm>
            <a:off x="841248" y="3273552"/>
            <a:ext cx="5715000" cy="530352"/>
          </a:xfrm>
          <a:prstGeom prst="roundRect">
            <a:avLst>
              <a:gd name="adj" fmla="val 6000"/>
            </a:avLst>
          </a:prstGeom>
          <a:solidFill>
            <a:srgbClr val="F5F6F8"/>
          </a:solidFill>
          <a:ln w="12700">
            <a:solidFill>
              <a:srgbClr val="DDE1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1" name="Picture 10" descr="check_steel.png"/>
          <p:cNvPicPr>
            <a:picLocks noChangeAspect="1"/>
          </p:cNvPicPr>
          <p:nvPr/>
        </p:nvPicPr>
        <p:blipFill>
          <a:blip r:embed="rId3"/>
          <a:stretch>
            <a:fillRect/>
          </a:stretch>
        </p:blipFill>
        <p:spPr>
          <a:xfrm>
            <a:off x="987552" y="3419856"/>
            <a:ext cx="237744" cy="237744"/>
          </a:xfrm>
          <a:prstGeom prst="rect">
            <a:avLst/>
          </a:prstGeom>
        </p:spPr>
      </p:pic>
      <p:sp>
        <p:nvSpPr>
          <p:cNvPr id="12" name="TextBox 11"/>
          <p:cNvSpPr txBox="1"/>
          <p:nvPr/>
        </p:nvSpPr>
        <p:spPr>
          <a:xfrm>
            <a:off x="1353312" y="3273552"/>
            <a:ext cx="5029200" cy="530352"/>
          </a:xfrm>
          <a:prstGeom prst="rect">
            <a:avLst/>
          </a:prstGeom>
          <a:noFill/>
        </p:spPr>
        <p:txBody>
          <a:bodyPr wrap="square" anchor="ctr" lIns="0" rIns="0" tIns="0" bIns="0">
            <a:spAutoFit/>
          </a:bodyPr>
          <a:lstStyle/>
          <a:p>
            <a:pPr algn="l">
              <a:lnSpc>
                <a:spcPct val="106000"/>
              </a:lnSpc>
              <a:spcBef>
                <a:spcPts val="0"/>
              </a:spcBef>
              <a:spcAft>
                <a:spcPts val="0"/>
              </a:spcAft>
            </a:pPr>
            <a:r>
              <a:rPr sz="1200" b="0">
                <a:solidFill>
                  <a:srgbClr val="1A1A1A"/>
                </a:solidFill>
                <a:latin typeface="Red Hat Text"/>
              </a:rPr>
              <a:t>A model has never seen claim CLM-1004 — asked directly, it INVENTS a status</a:t>
            </a:r>
          </a:p>
        </p:txBody>
      </p:sp>
      <p:sp>
        <p:nvSpPr>
          <p:cNvPr id="13" name="Rounded Rectangle 12"/>
          <p:cNvSpPr/>
          <p:nvPr/>
        </p:nvSpPr>
        <p:spPr>
          <a:xfrm>
            <a:off x="841248" y="3877056"/>
            <a:ext cx="5715000" cy="530352"/>
          </a:xfrm>
          <a:prstGeom prst="roundRect">
            <a:avLst>
              <a:gd name="adj" fmla="val 6000"/>
            </a:avLst>
          </a:prstGeom>
          <a:solidFill>
            <a:srgbClr val="F5F6F8"/>
          </a:solidFill>
          <a:ln w="12700">
            <a:solidFill>
              <a:srgbClr val="DDE1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4" name="Picture 13" descr="check_steel.png"/>
          <p:cNvPicPr>
            <a:picLocks noChangeAspect="1"/>
          </p:cNvPicPr>
          <p:nvPr/>
        </p:nvPicPr>
        <p:blipFill>
          <a:blip r:embed="rId3"/>
          <a:stretch>
            <a:fillRect/>
          </a:stretch>
        </p:blipFill>
        <p:spPr>
          <a:xfrm>
            <a:off x="987552" y="4023360"/>
            <a:ext cx="237744" cy="237744"/>
          </a:xfrm>
          <a:prstGeom prst="rect">
            <a:avLst/>
          </a:prstGeom>
        </p:spPr>
      </p:pic>
      <p:sp>
        <p:nvSpPr>
          <p:cNvPr id="15" name="TextBox 14"/>
          <p:cNvSpPr txBox="1"/>
          <p:nvPr/>
        </p:nvSpPr>
        <p:spPr>
          <a:xfrm>
            <a:off x="1353312" y="3877056"/>
            <a:ext cx="5029200" cy="530352"/>
          </a:xfrm>
          <a:prstGeom prst="rect">
            <a:avLst/>
          </a:prstGeom>
          <a:noFill/>
        </p:spPr>
        <p:txBody>
          <a:bodyPr wrap="square" anchor="ctr" lIns="0" rIns="0" tIns="0" bIns="0">
            <a:spAutoFit/>
          </a:bodyPr>
          <a:lstStyle/>
          <a:p>
            <a:pPr algn="l">
              <a:lnSpc>
                <a:spcPct val="106000"/>
              </a:lnSpc>
              <a:spcBef>
                <a:spcPts val="0"/>
              </a:spcBef>
              <a:spcAft>
                <a:spcPts val="0"/>
              </a:spcAft>
            </a:pPr>
            <a:r>
              <a:rPr sz="1200" b="0">
                <a:solidFill>
                  <a:srgbClr val="1A1A1A"/>
                </a:solidFill>
                <a:latin typeface="Red Hat Text"/>
              </a:rPr>
              <a:t>Your data is live; a model is a frozen snapshot</a:t>
            </a:r>
          </a:p>
        </p:txBody>
      </p:sp>
      <p:sp>
        <p:nvSpPr>
          <p:cNvPr id="16" name="Rounded Rectangle 15"/>
          <p:cNvSpPr/>
          <p:nvPr/>
        </p:nvSpPr>
        <p:spPr>
          <a:xfrm>
            <a:off x="841248" y="4480560"/>
            <a:ext cx="5715000" cy="530352"/>
          </a:xfrm>
          <a:prstGeom prst="roundRect">
            <a:avLst>
              <a:gd name="adj" fmla="val 6000"/>
            </a:avLst>
          </a:prstGeom>
          <a:solidFill>
            <a:srgbClr val="F5F6F8"/>
          </a:solidFill>
          <a:ln w="12700">
            <a:solidFill>
              <a:srgbClr val="DDE1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7" name="Picture 16" descr="check_steel.png"/>
          <p:cNvPicPr>
            <a:picLocks noChangeAspect="1"/>
          </p:cNvPicPr>
          <p:nvPr/>
        </p:nvPicPr>
        <p:blipFill>
          <a:blip r:embed="rId3"/>
          <a:stretch>
            <a:fillRect/>
          </a:stretch>
        </p:blipFill>
        <p:spPr>
          <a:xfrm>
            <a:off x="987552" y="4626864"/>
            <a:ext cx="237744" cy="237744"/>
          </a:xfrm>
          <a:prstGeom prst="rect">
            <a:avLst/>
          </a:prstGeom>
        </p:spPr>
      </p:pic>
      <p:sp>
        <p:nvSpPr>
          <p:cNvPr id="18" name="TextBox 17"/>
          <p:cNvSpPr txBox="1"/>
          <p:nvPr/>
        </p:nvSpPr>
        <p:spPr>
          <a:xfrm>
            <a:off x="1353312" y="4480560"/>
            <a:ext cx="5029200" cy="530352"/>
          </a:xfrm>
          <a:prstGeom prst="rect">
            <a:avLst/>
          </a:prstGeom>
          <a:noFill/>
        </p:spPr>
        <p:txBody>
          <a:bodyPr wrap="square" anchor="ctr" lIns="0" rIns="0" tIns="0" bIns="0">
            <a:spAutoFit/>
          </a:bodyPr>
          <a:lstStyle/>
          <a:p>
            <a:pPr algn="l">
              <a:lnSpc>
                <a:spcPct val="106000"/>
              </a:lnSpc>
              <a:spcBef>
                <a:spcPts val="0"/>
              </a:spcBef>
              <a:spcAft>
                <a:spcPts val="0"/>
              </a:spcAft>
            </a:pPr>
            <a:r>
              <a:rPr sz="1200" b="0">
                <a:solidFill>
                  <a:srgbClr val="1A1A1A"/>
                </a:solidFill>
                <a:latin typeface="Red Hat Text"/>
              </a:rPr>
              <a:t>You can't prompt-stuff a database of millions of claims</a:t>
            </a:r>
          </a:p>
        </p:txBody>
      </p:sp>
      <p:sp>
        <p:nvSpPr>
          <p:cNvPr id="19" name="Rounded Rectangle 18"/>
          <p:cNvSpPr/>
          <p:nvPr/>
        </p:nvSpPr>
        <p:spPr>
          <a:xfrm>
            <a:off x="841248" y="5084064"/>
            <a:ext cx="5715000" cy="530352"/>
          </a:xfrm>
          <a:prstGeom prst="roundRect">
            <a:avLst>
              <a:gd name="adj" fmla="val 6000"/>
            </a:avLst>
          </a:prstGeom>
          <a:solidFill>
            <a:srgbClr val="F5F6F8"/>
          </a:solidFill>
          <a:ln w="12700">
            <a:solidFill>
              <a:srgbClr val="DDE1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0" name="Picture 19" descr="check_steel.png"/>
          <p:cNvPicPr>
            <a:picLocks noChangeAspect="1"/>
          </p:cNvPicPr>
          <p:nvPr/>
        </p:nvPicPr>
        <p:blipFill>
          <a:blip r:embed="rId3"/>
          <a:stretch>
            <a:fillRect/>
          </a:stretch>
        </p:blipFill>
        <p:spPr>
          <a:xfrm>
            <a:off x="987552" y="5230368"/>
            <a:ext cx="237744" cy="237744"/>
          </a:xfrm>
          <a:prstGeom prst="rect">
            <a:avLst/>
          </a:prstGeom>
        </p:spPr>
      </p:pic>
      <p:sp>
        <p:nvSpPr>
          <p:cNvPr id="21" name="TextBox 20"/>
          <p:cNvSpPr txBox="1"/>
          <p:nvPr/>
        </p:nvSpPr>
        <p:spPr>
          <a:xfrm>
            <a:off x="1353312" y="5084064"/>
            <a:ext cx="5029200" cy="530352"/>
          </a:xfrm>
          <a:prstGeom prst="rect">
            <a:avLst/>
          </a:prstGeom>
          <a:noFill/>
        </p:spPr>
        <p:txBody>
          <a:bodyPr wrap="square" anchor="ctr" lIns="0" rIns="0" tIns="0" bIns="0">
            <a:spAutoFit/>
          </a:bodyPr>
          <a:lstStyle/>
          <a:p>
            <a:pPr algn="l">
              <a:lnSpc>
                <a:spcPct val="106000"/>
              </a:lnSpc>
              <a:spcBef>
                <a:spcPts val="0"/>
              </a:spcBef>
              <a:spcAft>
                <a:spcPts val="0"/>
              </a:spcAft>
            </a:pPr>
            <a:r>
              <a:rPr sz="1200" b="0">
                <a:solidFill>
                  <a:srgbClr val="1A1A1A"/>
                </a:solidFill>
                <a:latin typeface="Red Hat Text"/>
              </a:rPr>
              <a:t>The fix is an AGENT: the model does language, your systems provide the FACTS</a:t>
            </a:r>
          </a:p>
        </p:txBody>
      </p:sp>
      <p:sp>
        <p:nvSpPr>
          <p:cNvPr id="22" name="Rounded Rectangle 21"/>
          <p:cNvSpPr/>
          <p:nvPr/>
        </p:nvSpPr>
        <p:spPr>
          <a:xfrm>
            <a:off x="6812280" y="2670048"/>
            <a:ext cx="4538167" cy="2944368"/>
          </a:xfrm>
          <a:prstGeom prst="roundRect">
            <a:avLst>
              <a:gd name="adj" fmla="val 4000"/>
            </a:avLst>
          </a:prstGeom>
          <a:solidFill>
            <a:srgbClr val="FFFFFF"/>
          </a:solidFill>
          <a:ln w="15240">
            <a:solidFill>
              <a:srgbClr val="DDE1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ounded Rectangle 22"/>
          <p:cNvSpPr/>
          <p:nvPr/>
        </p:nvSpPr>
        <p:spPr>
          <a:xfrm>
            <a:off x="7013448" y="2871216"/>
            <a:ext cx="1298448" cy="310896"/>
          </a:xfrm>
          <a:prstGeom prst="roundRect">
            <a:avLst>
              <a:gd name="adj" fmla="val 50000"/>
            </a:avLst>
          </a:prstGeom>
          <a:solidFill>
            <a:srgbClr val="FCEC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7013448" y="2871216"/>
            <a:ext cx="1298448" cy="310896"/>
          </a:xfrm>
          <a:prstGeom prst="rect">
            <a:avLst/>
          </a:prstGeom>
          <a:noFill/>
        </p:spPr>
        <p:txBody>
          <a:bodyPr wrap="none" anchor="ctr" lIns="0" rIns="0" tIns="0" bIns="0">
            <a:spAutoFit/>
          </a:bodyPr>
          <a:lstStyle/>
          <a:p>
            <a:pPr algn="ctr">
              <a:lnSpc>
                <a:spcPct val="106000"/>
              </a:lnSpc>
              <a:spcBef>
                <a:spcPts val="0"/>
              </a:spcBef>
              <a:spcAft>
                <a:spcPts val="0"/>
              </a:spcAft>
            </a:pPr>
            <a:r>
              <a:rPr sz="850" b="1">
                <a:solidFill>
                  <a:srgbClr val="B80000"/>
                </a:solidFill>
                <a:latin typeface="Red Hat Display"/>
              </a:rPr>
              <a:t>MEDIA PASS</a:t>
            </a:r>
          </a:p>
        </p:txBody>
      </p:sp>
      <p:pic>
        <p:nvPicPr>
          <p:cNvPr id="25" name="Picture 24" descr="eye_slate.png"/>
          <p:cNvPicPr>
            <a:picLocks noChangeAspect="1"/>
          </p:cNvPicPr>
          <p:nvPr/>
        </p:nvPicPr>
        <p:blipFill>
          <a:blip r:embed="rId4"/>
          <a:stretch>
            <a:fillRect/>
          </a:stretch>
        </p:blipFill>
        <p:spPr>
          <a:xfrm>
            <a:off x="8843619" y="3383280"/>
            <a:ext cx="475488" cy="475488"/>
          </a:xfrm>
          <a:prstGeom prst="rect">
            <a:avLst/>
          </a:prstGeom>
        </p:spPr>
      </p:pic>
      <p:sp>
        <p:nvSpPr>
          <p:cNvPr id="26" name="TextBox 25"/>
          <p:cNvSpPr txBox="1"/>
          <p:nvPr/>
        </p:nvSpPr>
        <p:spPr>
          <a:xfrm>
            <a:off x="7050024" y="3995928"/>
            <a:ext cx="4062679" cy="1481328"/>
          </a:xfrm>
          <a:prstGeom prst="rect">
            <a:avLst/>
          </a:prstGeom>
          <a:noFill/>
        </p:spPr>
        <p:txBody>
          <a:bodyPr wrap="square" anchor="t" lIns="0" rIns="0" tIns="0" bIns="0">
            <a:spAutoFit/>
          </a:bodyPr>
          <a:lstStyle/>
          <a:p>
            <a:pPr algn="l">
              <a:lnSpc>
                <a:spcPct val="120000"/>
              </a:lnSpc>
              <a:spcBef>
                <a:spcPts val="0"/>
              </a:spcBef>
              <a:spcAft>
                <a:spcPts val="0"/>
              </a:spcAft>
            </a:pPr>
            <a:r>
              <a:rPr sz="950" b="0">
                <a:solidFill>
                  <a:srgbClr val="8A9099"/>
                </a:solidFill>
                <a:latin typeface="Red Hat Text"/>
              </a:rPr>
              <a:t>Left panel "Ask the model" — a chat bubble "CLM-1004 is Approved ✓" stamped with a big red "HALLUCINATED — the model never saw this claim." Right panel "Ask the agent" — the same question routed through an agent that calls a get_claim tool, returning "CLM-1004: Denied" stamped green "GROUNDED — from the system of record." Arrow between labeled "tools, not training."</a:t>
            </a:r>
          </a:p>
        </p:txBody>
      </p:sp>
      <p:cxnSp>
        <p:nvCxnSpPr>
          <p:cNvPr id="27" name="Connector 26"/>
          <p:cNvCxnSpPr/>
          <p:nvPr/>
        </p:nvCxnSpPr>
        <p:spPr>
          <a:xfrm>
            <a:off x="841248" y="6437376"/>
            <a:ext cx="10509199" cy="0"/>
          </a:xfrm>
          <a:prstGeom prst="bentConnector3">
            <a:avLst/>
          </a:prstGeom>
          <a:ln w="12700">
            <a:solidFill>
              <a:srgbClr val="DDE1E6"/>
            </a:solidFill>
          </a:ln>
          <a:effectLst/>
        </p:spPr>
        <p:style>
          <a:lnRef idx="2">
            <a:schemeClr val="accent1"/>
          </a:lnRef>
          <a:fillRef idx="0">
            <a:schemeClr val="accent1"/>
          </a:fillRef>
          <a:effectRef idx="1">
            <a:schemeClr val="accent1"/>
          </a:effectRef>
          <a:fontRef idx="minor">
            <a:schemeClr val="tx1"/>
          </a:fontRef>
        </p:style>
      </p:cxnSp>
      <p:sp>
        <p:nvSpPr>
          <p:cNvPr id="28" name="TextBox 27"/>
          <p:cNvSpPr txBox="1"/>
          <p:nvPr/>
        </p:nvSpPr>
        <p:spPr>
          <a:xfrm>
            <a:off x="841248" y="6473952"/>
            <a:ext cx="7315200" cy="274320"/>
          </a:xfrm>
          <a:prstGeom prst="rect">
            <a:avLst/>
          </a:prstGeom>
          <a:noFill/>
        </p:spPr>
        <p:txBody>
          <a:bodyPr wrap="square" anchor="t" lIns="0" rIns="0" tIns="0" bIns="0">
            <a:spAutoFit/>
          </a:bodyPr>
          <a:lstStyle/>
          <a:p>
            <a:pPr algn="l">
              <a:lnSpc>
                <a:spcPct val="106000"/>
              </a:lnSpc>
              <a:spcBef>
                <a:spcPts val="0"/>
              </a:spcBef>
              <a:spcAft>
                <a:spcPts val="0"/>
              </a:spcAft>
            </a:pPr>
            <a:r>
              <a:rPr sz="950" b="0">
                <a:solidFill>
                  <a:srgbClr val="8A9099"/>
                </a:solidFill>
                <a:latin typeface="Red Hat Text"/>
              </a:rPr>
              <a:t>CONFIDENTIAL</a:t>
            </a:r>
          </a:p>
        </p:txBody>
      </p:sp>
      <p:sp>
        <p:nvSpPr>
          <p:cNvPr id="29" name="TextBox 28"/>
          <p:cNvSpPr txBox="1"/>
          <p:nvPr/>
        </p:nvSpPr>
        <p:spPr>
          <a:xfrm>
            <a:off x="10801807" y="6473952"/>
            <a:ext cx="548640" cy="274320"/>
          </a:xfrm>
          <a:prstGeom prst="rect">
            <a:avLst/>
          </a:prstGeom>
          <a:noFill/>
        </p:spPr>
        <p:txBody>
          <a:bodyPr wrap="square" anchor="t" lIns="0" rIns="0" tIns="0" bIns="0">
            <a:spAutoFit/>
          </a:bodyPr>
          <a:lstStyle/>
          <a:p>
            <a:pPr algn="r">
              <a:lnSpc>
                <a:spcPct val="106000"/>
              </a:lnSpc>
              <a:spcBef>
                <a:spcPts val="0"/>
              </a:spcBef>
              <a:spcAft>
                <a:spcPts val="0"/>
              </a:spcAft>
            </a:pPr>
            <a:r>
              <a:rPr sz="950" b="0">
                <a:solidFill>
                  <a:srgbClr val="8A9099"/>
                </a:solidFill>
                <a:latin typeface="Red Hat Text"/>
              </a:rPr>
              <a:t>171</a:t>
            </a:r>
          </a:p>
        </p:txBody>
      </p:sp>
    </p:spTree>
  </p:cSld>
  <p:clrMapOvr>
    <a:masterClrMapping/>
  </p:clrMapOvr>
</p:sld>
</file>

<file path=ppt/slides/slide19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redhat_logo.jpg"/>
          <p:cNvPicPr>
            <a:picLocks noChangeAspect="1"/>
          </p:cNvPicPr>
          <p:nvPr/>
        </p:nvPicPr>
        <p:blipFill>
          <a:blip r:embed="rId2"/>
          <a:stretch>
            <a:fillRect/>
          </a:stretch>
        </p:blipFill>
        <p:spPr>
          <a:xfrm>
            <a:off x="10326319" y="475488"/>
            <a:ext cx="1024128" cy="242248"/>
          </a:xfrm>
          <a:prstGeom prst="rect">
            <a:avLst/>
          </a:prstGeom>
        </p:spPr>
      </p:pic>
      <p:sp>
        <p:nvSpPr>
          <p:cNvPr id="3" name="TextBox 2"/>
          <p:cNvSpPr txBox="1"/>
          <p:nvPr/>
        </p:nvSpPr>
        <p:spPr>
          <a:xfrm>
            <a:off x="841248" y="548640"/>
            <a:ext cx="8595360" cy="274320"/>
          </a:xfrm>
          <a:prstGeom prst="rect">
            <a:avLst/>
          </a:prstGeom>
          <a:noFill/>
        </p:spPr>
        <p:txBody>
          <a:bodyPr wrap="square" anchor="t" lIns="0" rIns="0" tIns="0" bIns="0">
            <a:spAutoFit/>
          </a:bodyPr>
          <a:lstStyle/>
          <a:p>
            <a:pPr algn="l">
              <a:lnSpc>
                <a:spcPct val="106000"/>
              </a:lnSpc>
              <a:spcBef>
                <a:spcPts val="0"/>
              </a:spcBef>
              <a:spcAft>
                <a:spcPts val="0"/>
              </a:spcAft>
            </a:pPr>
            <a:r>
              <a:rPr sz="1250" b="1" spc="220">
                <a:solidFill>
                  <a:srgbClr val="EE0000"/>
                </a:solidFill>
                <a:latin typeface="Red Hat Display"/>
              </a:rPr>
              <a:t>M24 · AGENTIC AI ON OPENSHIFT</a:t>
            </a:r>
          </a:p>
        </p:txBody>
      </p:sp>
      <p:sp>
        <p:nvSpPr>
          <p:cNvPr id="4" name="TextBox 3"/>
          <p:cNvSpPr txBox="1"/>
          <p:nvPr/>
        </p:nvSpPr>
        <p:spPr>
          <a:xfrm>
            <a:off x="841248" y="877824"/>
            <a:ext cx="10515600" cy="548640"/>
          </a:xfrm>
          <a:prstGeom prst="rect">
            <a:avLst/>
          </a:prstGeom>
          <a:noFill/>
        </p:spPr>
        <p:txBody>
          <a:bodyPr wrap="none" anchor="t" lIns="0" rIns="0" tIns="0" bIns="0">
            <a:spAutoFit/>
          </a:bodyPr>
          <a:lstStyle/>
          <a:p>
            <a:pPr algn="l">
              <a:lnSpc>
                <a:spcPct val="100000"/>
              </a:lnSpc>
              <a:spcBef>
                <a:spcPts val="0"/>
              </a:spcBef>
              <a:spcAft>
                <a:spcPts val="0"/>
              </a:spcAft>
            </a:pPr>
            <a:r>
              <a:rPr sz="2500" b="1">
                <a:solidFill>
                  <a:srgbClr val="1A1A1A"/>
                </a:solidFill>
                <a:latin typeface="Red Hat Display"/>
              </a:rPr>
              <a:t>The anatomy of an agent</a:t>
            </a:r>
          </a:p>
        </p:txBody>
      </p:sp>
      <p:cxnSp>
        <p:nvCxnSpPr>
          <p:cNvPr id="5" name="Connector 4"/>
          <p:cNvCxnSpPr/>
          <p:nvPr/>
        </p:nvCxnSpPr>
        <p:spPr>
          <a:xfrm>
            <a:off x="841248" y="1554480"/>
            <a:ext cx="1371600" cy="0"/>
          </a:xfrm>
          <a:prstGeom prst="bentConnector3">
            <a:avLst/>
          </a:prstGeom>
          <a:ln w="31750">
            <a:solidFill>
              <a:srgbClr val="EE0000"/>
            </a:solidFill>
          </a:ln>
          <a:effectLst/>
        </p:spPr>
        <p:style>
          <a:lnRef idx="2">
            <a:schemeClr val="accent1"/>
          </a:lnRef>
          <a:fillRef idx="0">
            <a:schemeClr val="accent1"/>
          </a:fillRef>
          <a:effectRef idx="1">
            <a:schemeClr val="accent1"/>
          </a:effectRef>
          <a:fontRef idx="minor">
            <a:schemeClr val="tx1"/>
          </a:fontRef>
        </p:style>
      </p:cxnSp>
      <p:sp>
        <p:nvSpPr>
          <p:cNvPr id="6" name="Rounded Rectangle 5"/>
          <p:cNvSpPr/>
          <p:nvPr/>
        </p:nvSpPr>
        <p:spPr>
          <a:xfrm>
            <a:off x="841248" y="2395728"/>
            <a:ext cx="5715000" cy="530352"/>
          </a:xfrm>
          <a:prstGeom prst="roundRect">
            <a:avLst>
              <a:gd name="adj" fmla="val 6000"/>
            </a:avLst>
          </a:prstGeom>
          <a:solidFill>
            <a:srgbClr val="F5F6F8"/>
          </a:solidFill>
          <a:ln w="12700">
            <a:solidFill>
              <a:srgbClr val="DDE1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check_steel.png"/>
          <p:cNvPicPr>
            <a:picLocks noChangeAspect="1"/>
          </p:cNvPicPr>
          <p:nvPr/>
        </p:nvPicPr>
        <p:blipFill>
          <a:blip r:embed="rId3"/>
          <a:stretch>
            <a:fillRect/>
          </a:stretch>
        </p:blipFill>
        <p:spPr>
          <a:xfrm>
            <a:off x="987552" y="2542032"/>
            <a:ext cx="237744" cy="237744"/>
          </a:xfrm>
          <a:prstGeom prst="rect">
            <a:avLst/>
          </a:prstGeom>
        </p:spPr>
      </p:pic>
      <p:sp>
        <p:nvSpPr>
          <p:cNvPr id="8" name="TextBox 7"/>
          <p:cNvSpPr txBox="1"/>
          <p:nvPr/>
        </p:nvSpPr>
        <p:spPr>
          <a:xfrm>
            <a:off x="1353312" y="2395728"/>
            <a:ext cx="5029200" cy="530352"/>
          </a:xfrm>
          <a:prstGeom prst="rect">
            <a:avLst/>
          </a:prstGeom>
          <a:noFill/>
        </p:spPr>
        <p:txBody>
          <a:bodyPr wrap="square" anchor="ctr" lIns="0" rIns="0" tIns="0" bIns="0">
            <a:spAutoFit/>
          </a:bodyPr>
          <a:lstStyle/>
          <a:p>
            <a:pPr algn="l">
              <a:lnSpc>
                <a:spcPct val="106000"/>
              </a:lnSpc>
              <a:spcBef>
                <a:spcPts val="0"/>
              </a:spcBef>
              <a:spcAft>
                <a:spcPts val="0"/>
              </a:spcAft>
            </a:pPr>
            <a:r>
              <a:rPr sz="1200" b="0">
                <a:solidFill>
                  <a:srgbClr val="1A1A1A"/>
                </a:solidFill>
                <a:latin typeface="Red Hat Text"/>
              </a:rPr>
              <a:t>Not magic, not a model — FOUR parts working together</a:t>
            </a:r>
          </a:p>
        </p:txBody>
      </p:sp>
      <p:sp>
        <p:nvSpPr>
          <p:cNvPr id="9" name="Rounded Rectangle 8"/>
          <p:cNvSpPr/>
          <p:nvPr/>
        </p:nvSpPr>
        <p:spPr>
          <a:xfrm>
            <a:off x="841248" y="2999232"/>
            <a:ext cx="5715000" cy="530352"/>
          </a:xfrm>
          <a:prstGeom prst="roundRect">
            <a:avLst>
              <a:gd name="adj" fmla="val 6000"/>
            </a:avLst>
          </a:prstGeom>
          <a:solidFill>
            <a:srgbClr val="F5F6F8"/>
          </a:solidFill>
          <a:ln w="12700">
            <a:solidFill>
              <a:srgbClr val="DDE1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0" name="Picture 9" descr="check_steel.png"/>
          <p:cNvPicPr>
            <a:picLocks noChangeAspect="1"/>
          </p:cNvPicPr>
          <p:nvPr/>
        </p:nvPicPr>
        <p:blipFill>
          <a:blip r:embed="rId3"/>
          <a:stretch>
            <a:fillRect/>
          </a:stretch>
        </p:blipFill>
        <p:spPr>
          <a:xfrm>
            <a:off x="987552" y="3145536"/>
            <a:ext cx="237744" cy="237744"/>
          </a:xfrm>
          <a:prstGeom prst="rect">
            <a:avLst/>
          </a:prstGeom>
        </p:spPr>
      </p:pic>
      <p:sp>
        <p:nvSpPr>
          <p:cNvPr id="11" name="TextBox 10"/>
          <p:cNvSpPr txBox="1"/>
          <p:nvPr/>
        </p:nvSpPr>
        <p:spPr>
          <a:xfrm>
            <a:off x="1353312" y="2999232"/>
            <a:ext cx="5029200" cy="530352"/>
          </a:xfrm>
          <a:prstGeom prst="rect">
            <a:avLst/>
          </a:prstGeom>
          <a:noFill/>
        </p:spPr>
        <p:txBody>
          <a:bodyPr wrap="square" anchor="ctr" lIns="0" rIns="0" tIns="0" bIns="0">
            <a:spAutoFit/>
          </a:bodyPr>
          <a:lstStyle/>
          <a:p>
            <a:pPr algn="l">
              <a:lnSpc>
                <a:spcPct val="106000"/>
              </a:lnSpc>
              <a:spcBef>
                <a:spcPts val="0"/>
              </a:spcBef>
              <a:spcAft>
                <a:spcPts val="0"/>
              </a:spcAft>
            </a:pPr>
            <a:r>
              <a:rPr sz="1200" b="0">
                <a:solidFill>
                  <a:srgbClr val="1A1A1A"/>
                </a:solidFill>
                <a:latin typeface="Red Hat Text"/>
              </a:rPr>
              <a:t>Model — reasons and DECIDES which tool to call (model-agnostic; MaaS-served)</a:t>
            </a:r>
          </a:p>
        </p:txBody>
      </p:sp>
      <p:sp>
        <p:nvSpPr>
          <p:cNvPr id="12" name="Rounded Rectangle 11"/>
          <p:cNvSpPr/>
          <p:nvPr/>
        </p:nvSpPr>
        <p:spPr>
          <a:xfrm>
            <a:off x="841248" y="3602736"/>
            <a:ext cx="5715000" cy="530352"/>
          </a:xfrm>
          <a:prstGeom prst="roundRect">
            <a:avLst>
              <a:gd name="adj" fmla="val 6000"/>
            </a:avLst>
          </a:prstGeom>
          <a:solidFill>
            <a:srgbClr val="F5F6F8"/>
          </a:solidFill>
          <a:ln w="12700">
            <a:solidFill>
              <a:srgbClr val="DDE1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3" name="Picture 12" descr="check_steel.png"/>
          <p:cNvPicPr>
            <a:picLocks noChangeAspect="1"/>
          </p:cNvPicPr>
          <p:nvPr/>
        </p:nvPicPr>
        <p:blipFill>
          <a:blip r:embed="rId3"/>
          <a:stretch>
            <a:fillRect/>
          </a:stretch>
        </p:blipFill>
        <p:spPr>
          <a:xfrm>
            <a:off x="987552" y="3749040"/>
            <a:ext cx="237744" cy="237744"/>
          </a:xfrm>
          <a:prstGeom prst="rect">
            <a:avLst/>
          </a:prstGeom>
        </p:spPr>
      </p:pic>
      <p:sp>
        <p:nvSpPr>
          <p:cNvPr id="14" name="TextBox 13"/>
          <p:cNvSpPr txBox="1"/>
          <p:nvPr/>
        </p:nvSpPr>
        <p:spPr>
          <a:xfrm>
            <a:off x="1353312" y="3602736"/>
            <a:ext cx="5029200" cy="530352"/>
          </a:xfrm>
          <a:prstGeom prst="rect">
            <a:avLst/>
          </a:prstGeom>
          <a:noFill/>
        </p:spPr>
        <p:txBody>
          <a:bodyPr wrap="square" anchor="ctr" lIns="0" rIns="0" tIns="0" bIns="0">
            <a:spAutoFit/>
          </a:bodyPr>
          <a:lstStyle/>
          <a:p>
            <a:pPr algn="l">
              <a:lnSpc>
                <a:spcPct val="106000"/>
              </a:lnSpc>
              <a:spcBef>
                <a:spcPts val="0"/>
              </a:spcBef>
              <a:spcAft>
                <a:spcPts val="0"/>
              </a:spcAft>
            </a:pPr>
            <a:r>
              <a:rPr sz="1200" b="0">
                <a:solidFill>
                  <a:srgbClr val="1A1A1A"/>
                </a:solidFill>
                <a:latin typeface="Red Hat Text"/>
              </a:rPr>
              <a:t>Instructions — the system prompt: "use your tools, never guess, cite the policy id"</a:t>
            </a:r>
          </a:p>
        </p:txBody>
      </p:sp>
      <p:sp>
        <p:nvSpPr>
          <p:cNvPr id="15" name="Rounded Rectangle 14"/>
          <p:cNvSpPr/>
          <p:nvPr/>
        </p:nvSpPr>
        <p:spPr>
          <a:xfrm>
            <a:off x="841248" y="4206240"/>
            <a:ext cx="5715000" cy="530352"/>
          </a:xfrm>
          <a:prstGeom prst="roundRect">
            <a:avLst>
              <a:gd name="adj" fmla="val 6000"/>
            </a:avLst>
          </a:prstGeom>
          <a:solidFill>
            <a:srgbClr val="F5F6F8"/>
          </a:solidFill>
          <a:ln w="12700">
            <a:solidFill>
              <a:srgbClr val="DDE1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6" name="Picture 15" descr="check_steel.png"/>
          <p:cNvPicPr>
            <a:picLocks noChangeAspect="1"/>
          </p:cNvPicPr>
          <p:nvPr/>
        </p:nvPicPr>
        <p:blipFill>
          <a:blip r:embed="rId3"/>
          <a:stretch>
            <a:fillRect/>
          </a:stretch>
        </p:blipFill>
        <p:spPr>
          <a:xfrm>
            <a:off x="987552" y="4352544"/>
            <a:ext cx="237744" cy="237744"/>
          </a:xfrm>
          <a:prstGeom prst="rect">
            <a:avLst/>
          </a:prstGeom>
        </p:spPr>
      </p:pic>
      <p:sp>
        <p:nvSpPr>
          <p:cNvPr id="17" name="TextBox 16"/>
          <p:cNvSpPr txBox="1"/>
          <p:nvPr/>
        </p:nvSpPr>
        <p:spPr>
          <a:xfrm>
            <a:off x="1353312" y="4206240"/>
            <a:ext cx="5029200" cy="530352"/>
          </a:xfrm>
          <a:prstGeom prst="rect">
            <a:avLst/>
          </a:prstGeom>
          <a:noFill/>
        </p:spPr>
        <p:txBody>
          <a:bodyPr wrap="square" anchor="ctr" lIns="0" rIns="0" tIns="0" bIns="0">
            <a:spAutoFit/>
          </a:bodyPr>
          <a:lstStyle/>
          <a:p>
            <a:pPr algn="l">
              <a:lnSpc>
                <a:spcPct val="106000"/>
              </a:lnSpc>
              <a:spcBef>
                <a:spcPts val="0"/>
              </a:spcBef>
              <a:spcAft>
                <a:spcPts val="0"/>
              </a:spcAft>
            </a:pPr>
            <a:r>
              <a:rPr sz="1200" b="0">
                <a:solidFill>
                  <a:srgbClr val="1A1A1A"/>
                </a:solidFill>
                <a:latin typeface="Red Hat Text"/>
              </a:rPr>
              <a:t>Tools — the MCP servers: claims-db · policy-docs (this is the point)</a:t>
            </a:r>
          </a:p>
        </p:txBody>
      </p:sp>
      <p:sp>
        <p:nvSpPr>
          <p:cNvPr id="18" name="Rounded Rectangle 17"/>
          <p:cNvSpPr/>
          <p:nvPr/>
        </p:nvSpPr>
        <p:spPr>
          <a:xfrm>
            <a:off x="841248" y="4809744"/>
            <a:ext cx="5715000" cy="530352"/>
          </a:xfrm>
          <a:prstGeom prst="roundRect">
            <a:avLst>
              <a:gd name="adj" fmla="val 6000"/>
            </a:avLst>
          </a:prstGeom>
          <a:solidFill>
            <a:srgbClr val="F5F6F8"/>
          </a:solidFill>
          <a:ln w="12700">
            <a:solidFill>
              <a:srgbClr val="DDE1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9" name="Picture 18" descr="check_steel.png"/>
          <p:cNvPicPr>
            <a:picLocks noChangeAspect="1"/>
          </p:cNvPicPr>
          <p:nvPr/>
        </p:nvPicPr>
        <p:blipFill>
          <a:blip r:embed="rId3"/>
          <a:stretch>
            <a:fillRect/>
          </a:stretch>
        </p:blipFill>
        <p:spPr>
          <a:xfrm>
            <a:off x="987552" y="4956048"/>
            <a:ext cx="237744" cy="237744"/>
          </a:xfrm>
          <a:prstGeom prst="rect">
            <a:avLst/>
          </a:prstGeom>
        </p:spPr>
      </p:pic>
      <p:sp>
        <p:nvSpPr>
          <p:cNvPr id="20" name="TextBox 19"/>
          <p:cNvSpPr txBox="1"/>
          <p:nvPr/>
        </p:nvSpPr>
        <p:spPr>
          <a:xfrm>
            <a:off x="1353312" y="4809744"/>
            <a:ext cx="5029200" cy="530352"/>
          </a:xfrm>
          <a:prstGeom prst="rect">
            <a:avLst/>
          </a:prstGeom>
          <a:noFill/>
        </p:spPr>
        <p:txBody>
          <a:bodyPr wrap="square" anchor="ctr" lIns="0" rIns="0" tIns="0" bIns="0">
            <a:spAutoFit/>
          </a:bodyPr>
          <a:lstStyle/>
          <a:p>
            <a:pPr algn="l">
              <a:lnSpc>
                <a:spcPct val="106000"/>
              </a:lnSpc>
              <a:spcBef>
                <a:spcPts val="0"/>
              </a:spcBef>
              <a:spcAft>
                <a:spcPts val="0"/>
              </a:spcAft>
            </a:pPr>
            <a:r>
              <a:rPr sz="1200" b="0">
                <a:solidFill>
                  <a:srgbClr val="1A1A1A"/>
                </a:solidFill>
                <a:latin typeface="Red Hat Text"/>
              </a:rPr>
              <a:t>Memory — per-request only; with temperature 0, answers are reproducible</a:t>
            </a:r>
          </a:p>
        </p:txBody>
      </p:sp>
      <p:sp>
        <p:nvSpPr>
          <p:cNvPr id="21" name="Rounded Rectangle 20"/>
          <p:cNvSpPr/>
          <p:nvPr/>
        </p:nvSpPr>
        <p:spPr>
          <a:xfrm>
            <a:off x="6812280" y="2395728"/>
            <a:ext cx="4538167" cy="2944368"/>
          </a:xfrm>
          <a:prstGeom prst="roundRect">
            <a:avLst>
              <a:gd name="adj" fmla="val 4000"/>
            </a:avLst>
          </a:prstGeom>
          <a:solidFill>
            <a:srgbClr val="FFFFFF"/>
          </a:solidFill>
          <a:ln w="15240">
            <a:solidFill>
              <a:srgbClr val="DDE1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ounded Rectangle 21"/>
          <p:cNvSpPr/>
          <p:nvPr/>
        </p:nvSpPr>
        <p:spPr>
          <a:xfrm>
            <a:off x="7013448" y="2596896"/>
            <a:ext cx="1298448" cy="310896"/>
          </a:xfrm>
          <a:prstGeom prst="roundRect">
            <a:avLst>
              <a:gd name="adj" fmla="val 50000"/>
            </a:avLst>
          </a:prstGeom>
          <a:solidFill>
            <a:srgbClr val="FCEC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7013448" y="2596896"/>
            <a:ext cx="1298448" cy="310896"/>
          </a:xfrm>
          <a:prstGeom prst="rect">
            <a:avLst/>
          </a:prstGeom>
          <a:noFill/>
        </p:spPr>
        <p:txBody>
          <a:bodyPr wrap="none" anchor="ctr" lIns="0" rIns="0" tIns="0" bIns="0">
            <a:spAutoFit/>
          </a:bodyPr>
          <a:lstStyle/>
          <a:p>
            <a:pPr algn="ctr">
              <a:lnSpc>
                <a:spcPct val="106000"/>
              </a:lnSpc>
              <a:spcBef>
                <a:spcPts val="0"/>
              </a:spcBef>
              <a:spcAft>
                <a:spcPts val="0"/>
              </a:spcAft>
            </a:pPr>
            <a:r>
              <a:rPr sz="850" b="1">
                <a:solidFill>
                  <a:srgbClr val="B80000"/>
                </a:solidFill>
                <a:latin typeface="Red Hat Display"/>
              </a:rPr>
              <a:t>MEDIA PASS</a:t>
            </a:r>
          </a:p>
        </p:txBody>
      </p:sp>
      <p:pic>
        <p:nvPicPr>
          <p:cNvPr id="24" name="Picture 23" descr="eye_slate.png"/>
          <p:cNvPicPr>
            <a:picLocks noChangeAspect="1"/>
          </p:cNvPicPr>
          <p:nvPr/>
        </p:nvPicPr>
        <p:blipFill>
          <a:blip r:embed="rId4"/>
          <a:stretch>
            <a:fillRect/>
          </a:stretch>
        </p:blipFill>
        <p:spPr>
          <a:xfrm>
            <a:off x="8843619" y="3108960"/>
            <a:ext cx="475488" cy="475488"/>
          </a:xfrm>
          <a:prstGeom prst="rect">
            <a:avLst/>
          </a:prstGeom>
        </p:spPr>
      </p:pic>
      <p:sp>
        <p:nvSpPr>
          <p:cNvPr id="25" name="TextBox 24"/>
          <p:cNvSpPr txBox="1"/>
          <p:nvPr/>
        </p:nvSpPr>
        <p:spPr>
          <a:xfrm>
            <a:off x="7050024" y="3721608"/>
            <a:ext cx="4062679" cy="1481328"/>
          </a:xfrm>
          <a:prstGeom prst="rect">
            <a:avLst/>
          </a:prstGeom>
          <a:noFill/>
        </p:spPr>
        <p:txBody>
          <a:bodyPr wrap="square" anchor="t" lIns="0" rIns="0" tIns="0" bIns="0">
            <a:spAutoFit/>
          </a:bodyPr>
          <a:lstStyle/>
          <a:p>
            <a:pPr algn="l">
              <a:lnSpc>
                <a:spcPct val="120000"/>
              </a:lnSpc>
              <a:spcBef>
                <a:spcPts val="0"/>
              </a:spcBef>
              <a:spcAft>
                <a:spcPts val="0"/>
              </a:spcAft>
            </a:pPr>
            <a:r>
              <a:rPr sz="950" b="0">
                <a:solidFill>
                  <a:srgbClr val="8A9099"/>
                </a:solidFill>
                <a:latin typeface="Red Hat Text"/>
              </a:rPr>
              <a:t>The concept diagram agentic-ai-01-agent-anatomy.svg — a rounded "parasol-agent" box containing four labelled parts (Model, Instructions, Tools, Memory), a question arrow in, and a "grounded answer + which tools it called + tokens" arrow out; the Tools part connects out to the two MCP servers.</a:t>
            </a:r>
          </a:p>
        </p:txBody>
      </p:sp>
      <p:cxnSp>
        <p:nvCxnSpPr>
          <p:cNvPr id="26" name="Connector 25"/>
          <p:cNvCxnSpPr/>
          <p:nvPr/>
        </p:nvCxnSpPr>
        <p:spPr>
          <a:xfrm>
            <a:off x="841248" y="6437376"/>
            <a:ext cx="10509199" cy="0"/>
          </a:xfrm>
          <a:prstGeom prst="bentConnector3">
            <a:avLst/>
          </a:prstGeom>
          <a:ln w="12700">
            <a:solidFill>
              <a:srgbClr val="DDE1E6"/>
            </a:solidFill>
          </a:ln>
          <a:effectLst/>
        </p:spPr>
        <p:style>
          <a:lnRef idx="2">
            <a:schemeClr val="accent1"/>
          </a:lnRef>
          <a:fillRef idx="0">
            <a:schemeClr val="accent1"/>
          </a:fillRef>
          <a:effectRef idx="1">
            <a:schemeClr val="accent1"/>
          </a:effectRef>
          <a:fontRef idx="minor">
            <a:schemeClr val="tx1"/>
          </a:fontRef>
        </p:style>
      </p:cxnSp>
      <p:sp>
        <p:nvSpPr>
          <p:cNvPr id="27" name="TextBox 26"/>
          <p:cNvSpPr txBox="1"/>
          <p:nvPr/>
        </p:nvSpPr>
        <p:spPr>
          <a:xfrm>
            <a:off x="841248" y="6473952"/>
            <a:ext cx="7315200" cy="274320"/>
          </a:xfrm>
          <a:prstGeom prst="rect">
            <a:avLst/>
          </a:prstGeom>
          <a:noFill/>
        </p:spPr>
        <p:txBody>
          <a:bodyPr wrap="square" anchor="t" lIns="0" rIns="0" tIns="0" bIns="0">
            <a:spAutoFit/>
          </a:bodyPr>
          <a:lstStyle/>
          <a:p>
            <a:pPr algn="l">
              <a:lnSpc>
                <a:spcPct val="106000"/>
              </a:lnSpc>
              <a:spcBef>
                <a:spcPts val="0"/>
              </a:spcBef>
              <a:spcAft>
                <a:spcPts val="0"/>
              </a:spcAft>
            </a:pPr>
            <a:r>
              <a:rPr sz="950" b="0">
                <a:solidFill>
                  <a:srgbClr val="8A9099"/>
                </a:solidFill>
                <a:latin typeface="Red Hat Text"/>
              </a:rPr>
              <a:t>CONFIDENTIAL</a:t>
            </a:r>
          </a:p>
        </p:txBody>
      </p:sp>
      <p:sp>
        <p:nvSpPr>
          <p:cNvPr id="28" name="TextBox 27"/>
          <p:cNvSpPr txBox="1"/>
          <p:nvPr/>
        </p:nvSpPr>
        <p:spPr>
          <a:xfrm>
            <a:off x="10801807" y="6473952"/>
            <a:ext cx="548640" cy="274320"/>
          </a:xfrm>
          <a:prstGeom prst="rect">
            <a:avLst/>
          </a:prstGeom>
          <a:noFill/>
        </p:spPr>
        <p:txBody>
          <a:bodyPr wrap="square" anchor="t" lIns="0" rIns="0" tIns="0" bIns="0">
            <a:spAutoFit/>
          </a:bodyPr>
          <a:lstStyle/>
          <a:p>
            <a:pPr algn="r">
              <a:lnSpc>
                <a:spcPct val="106000"/>
              </a:lnSpc>
              <a:spcBef>
                <a:spcPts val="0"/>
              </a:spcBef>
              <a:spcAft>
                <a:spcPts val="0"/>
              </a:spcAft>
            </a:pPr>
            <a:r>
              <a:rPr sz="950" b="0">
                <a:solidFill>
                  <a:srgbClr val="8A9099"/>
                </a:solidFill>
                <a:latin typeface="Red Hat Text"/>
              </a:rPr>
              <a:t>172</a:t>
            </a:r>
          </a:p>
        </p:txBody>
      </p:sp>
    </p:spTree>
  </p:cSld>
  <p:clrMapOvr>
    <a:masterClrMapping/>
  </p:clrMapOvr>
</p:sld>
</file>

<file path=ppt/slides/slide19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redhat_logo.jpg"/>
          <p:cNvPicPr>
            <a:picLocks noChangeAspect="1"/>
          </p:cNvPicPr>
          <p:nvPr/>
        </p:nvPicPr>
        <p:blipFill>
          <a:blip r:embed="rId2"/>
          <a:stretch>
            <a:fillRect/>
          </a:stretch>
        </p:blipFill>
        <p:spPr>
          <a:xfrm>
            <a:off x="10326319" y="475488"/>
            <a:ext cx="1024128" cy="242248"/>
          </a:xfrm>
          <a:prstGeom prst="rect">
            <a:avLst/>
          </a:prstGeom>
        </p:spPr>
      </p:pic>
      <p:sp>
        <p:nvSpPr>
          <p:cNvPr id="3" name="TextBox 2"/>
          <p:cNvSpPr txBox="1"/>
          <p:nvPr/>
        </p:nvSpPr>
        <p:spPr>
          <a:xfrm>
            <a:off x="841248" y="548640"/>
            <a:ext cx="8595360" cy="274320"/>
          </a:xfrm>
          <a:prstGeom prst="rect">
            <a:avLst/>
          </a:prstGeom>
          <a:noFill/>
        </p:spPr>
        <p:txBody>
          <a:bodyPr wrap="square" anchor="t" lIns="0" rIns="0" tIns="0" bIns="0">
            <a:spAutoFit/>
          </a:bodyPr>
          <a:lstStyle/>
          <a:p>
            <a:pPr algn="l">
              <a:lnSpc>
                <a:spcPct val="106000"/>
              </a:lnSpc>
              <a:spcBef>
                <a:spcPts val="0"/>
              </a:spcBef>
              <a:spcAft>
                <a:spcPts val="0"/>
              </a:spcAft>
            </a:pPr>
            <a:r>
              <a:rPr sz="1250" b="1" spc="220">
                <a:solidFill>
                  <a:srgbClr val="EE0000"/>
                </a:solidFill>
                <a:latin typeface="Red Hat Display"/>
              </a:rPr>
              <a:t>M24 · AGENTIC AI ON OPENSHIFT</a:t>
            </a:r>
          </a:p>
        </p:txBody>
      </p:sp>
      <p:sp>
        <p:nvSpPr>
          <p:cNvPr id="4" name="TextBox 3"/>
          <p:cNvSpPr txBox="1"/>
          <p:nvPr/>
        </p:nvSpPr>
        <p:spPr>
          <a:xfrm>
            <a:off x="841248" y="877824"/>
            <a:ext cx="10515600" cy="548640"/>
          </a:xfrm>
          <a:prstGeom prst="rect">
            <a:avLst/>
          </a:prstGeom>
          <a:noFill/>
        </p:spPr>
        <p:txBody>
          <a:bodyPr wrap="none" anchor="t" lIns="0" rIns="0" tIns="0" bIns="0">
            <a:spAutoFit/>
          </a:bodyPr>
          <a:lstStyle/>
          <a:p>
            <a:pPr algn="l">
              <a:lnSpc>
                <a:spcPct val="100000"/>
              </a:lnSpc>
              <a:spcBef>
                <a:spcPts val="0"/>
              </a:spcBef>
              <a:spcAft>
                <a:spcPts val="0"/>
              </a:spcAft>
            </a:pPr>
            <a:r>
              <a:rPr sz="2500" b="1">
                <a:solidFill>
                  <a:srgbClr val="1A1A1A"/>
                </a:solidFill>
                <a:latin typeface="Red Hat Display"/>
              </a:rPr>
              <a:t>MCP tools are your APIs</a:t>
            </a:r>
          </a:p>
        </p:txBody>
      </p:sp>
      <p:cxnSp>
        <p:nvCxnSpPr>
          <p:cNvPr id="5" name="Connector 4"/>
          <p:cNvCxnSpPr/>
          <p:nvPr/>
        </p:nvCxnSpPr>
        <p:spPr>
          <a:xfrm>
            <a:off x="841248" y="1554480"/>
            <a:ext cx="1371600" cy="0"/>
          </a:xfrm>
          <a:prstGeom prst="bentConnector3">
            <a:avLst/>
          </a:prstGeom>
          <a:ln w="31750">
            <a:solidFill>
              <a:srgbClr val="EE0000"/>
            </a:solidFill>
          </a:ln>
          <a:effectLst/>
        </p:spPr>
        <p:style>
          <a:lnRef idx="2">
            <a:schemeClr val="accent1"/>
          </a:lnRef>
          <a:fillRef idx="0">
            <a:schemeClr val="accent1"/>
          </a:fillRef>
          <a:effectRef idx="1">
            <a:schemeClr val="accent1"/>
          </a:effectRef>
          <a:fontRef idx="minor">
            <a:schemeClr val="tx1"/>
          </a:fontRef>
        </p:style>
      </p:cxnSp>
      <p:sp>
        <p:nvSpPr>
          <p:cNvPr id="6" name="Rounded Rectangle 5"/>
          <p:cNvSpPr/>
          <p:nvPr/>
        </p:nvSpPr>
        <p:spPr>
          <a:xfrm>
            <a:off x="841248" y="2395728"/>
            <a:ext cx="5715000" cy="530352"/>
          </a:xfrm>
          <a:prstGeom prst="roundRect">
            <a:avLst>
              <a:gd name="adj" fmla="val 6000"/>
            </a:avLst>
          </a:prstGeom>
          <a:solidFill>
            <a:srgbClr val="F5F6F8"/>
          </a:solidFill>
          <a:ln w="12700">
            <a:solidFill>
              <a:srgbClr val="DDE1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check_steel.png"/>
          <p:cNvPicPr>
            <a:picLocks noChangeAspect="1"/>
          </p:cNvPicPr>
          <p:nvPr/>
        </p:nvPicPr>
        <p:blipFill>
          <a:blip r:embed="rId3"/>
          <a:stretch>
            <a:fillRect/>
          </a:stretch>
        </p:blipFill>
        <p:spPr>
          <a:xfrm>
            <a:off x="987552" y="2542032"/>
            <a:ext cx="237744" cy="237744"/>
          </a:xfrm>
          <a:prstGeom prst="rect">
            <a:avLst/>
          </a:prstGeom>
        </p:spPr>
      </p:pic>
      <p:sp>
        <p:nvSpPr>
          <p:cNvPr id="8" name="TextBox 7"/>
          <p:cNvSpPr txBox="1"/>
          <p:nvPr/>
        </p:nvSpPr>
        <p:spPr>
          <a:xfrm>
            <a:off x="1353312" y="2395728"/>
            <a:ext cx="5029200" cy="530352"/>
          </a:xfrm>
          <a:prstGeom prst="rect">
            <a:avLst/>
          </a:prstGeom>
          <a:noFill/>
        </p:spPr>
        <p:txBody>
          <a:bodyPr wrap="square" anchor="ctr" lIns="0" rIns="0" tIns="0" bIns="0">
            <a:spAutoFit/>
          </a:bodyPr>
          <a:lstStyle/>
          <a:p>
            <a:pPr algn="l">
              <a:lnSpc>
                <a:spcPct val="106000"/>
              </a:lnSpc>
              <a:spcBef>
                <a:spcPts val="0"/>
              </a:spcBef>
              <a:spcAft>
                <a:spcPts val="0"/>
              </a:spcAft>
            </a:pPr>
            <a:r>
              <a:rPr sz="1200" b="0">
                <a:solidFill>
                  <a:srgbClr val="1A1A1A"/>
                </a:solidFill>
                <a:latin typeface="Red Hat Text"/>
              </a:rPr>
              <a:t>MCP (Model Context Protocol) = the standard adapter over your services</a:t>
            </a:r>
          </a:p>
        </p:txBody>
      </p:sp>
      <p:sp>
        <p:nvSpPr>
          <p:cNvPr id="9" name="Rounded Rectangle 8"/>
          <p:cNvSpPr/>
          <p:nvPr/>
        </p:nvSpPr>
        <p:spPr>
          <a:xfrm>
            <a:off x="841248" y="2999232"/>
            <a:ext cx="5715000" cy="530352"/>
          </a:xfrm>
          <a:prstGeom prst="roundRect">
            <a:avLst>
              <a:gd name="adj" fmla="val 6000"/>
            </a:avLst>
          </a:prstGeom>
          <a:solidFill>
            <a:srgbClr val="F5F6F8"/>
          </a:solidFill>
          <a:ln w="12700">
            <a:solidFill>
              <a:srgbClr val="DDE1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0" name="Picture 9" descr="check_steel.png"/>
          <p:cNvPicPr>
            <a:picLocks noChangeAspect="1"/>
          </p:cNvPicPr>
          <p:nvPr/>
        </p:nvPicPr>
        <p:blipFill>
          <a:blip r:embed="rId3"/>
          <a:stretch>
            <a:fillRect/>
          </a:stretch>
        </p:blipFill>
        <p:spPr>
          <a:xfrm>
            <a:off x="987552" y="3145536"/>
            <a:ext cx="237744" cy="237744"/>
          </a:xfrm>
          <a:prstGeom prst="rect">
            <a:avLst/>
          </a:prstGeom>
        </p:spPr>
      </p:pic>
      <p:sp>
        <p:nvSpPr>
          <p:cNvPr id="11" name="TextBox 10"/>
          <p:cNvSpPr txBox="1"/>
          <p:nvPr/>
        </p:nvSpPr>
        <p:spPr>
          <a:xfrm>
            <a:off x="1353312" y="2999232"/>
            <a:ext cx="5029200" cy="530352"/>
          </a:xfrm>
          <a:prstGeom prst="rect">
            <a:avLst/>
          </a:prstGeom>
          <a:noFill/>
        </p:spPr>
        <p:txBody>
          <a:bodyPr wrap="square" anchor="ctr" lIns="0" rIns="0" tIns="0" bIns="0">
            <a:spAutoFit/>
          </a:bodyPr>
          <a:lstStyle/>
          <a:p>
            <a:pPr algn="l">
              <a:lnSpc>
                <a:spcPct val="106000"/>
              </a:lnSpc>
              <a:spcBef>
                <a:spcPts val="0"/>
              </a:spcBef>
              <a:spcAft>
                <a:spcPts val="0"/>
              </a:spcAft>
            </a:pPr>
            <a:r>
              <a:rPr sz="1200" b="0">
                <a:solidFill>
                  <a:srgbClr val="1A1A1A"/>
                </a:solidFill>
                <a:latin typeface="Red Hat Text"/>
              </a:rPr>
              <a:t>An MCP SERVER advertises tools (name, args, result); the agent is the CLIENT</a:t>
            </a:r>
          </a:p>
        </p:txBody>
      </p:sp>
      <p:sp>
        <p:nvSpPr>
          <p:cNvPr id="12" name="Rounded Rectangle 11"/>
          <p:cNvSpPr/>
          <p:nvPr/>
        </p:nvSpPr>
        <p:spPr>
          <a:xfrm>
            <a:off x="841248" y="3602736"/>
            <a:ext cx="5715000" cy="530352"/>
          </a:xfrm>
          <a:prstGeom prst="roundRect">
            <a:avLst>
              <a:gd name="adj" fmla="val 6000"/>
            </a:avLst>
          </a:prstGeom>
          <a:solidFill>
            <a:srgbClr val="F5F6F8"/>
          </a:solidFill>
          <a:ln w="12700">
            <a:solidFill>
              <a:srgbClr val="DDE1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3" name="Picture 12" descr="check_steel.png"/>
          <p:cNvPicPr>
            <a:picLocks noChangeAspect="1"/>
          </p:cNvPicPr>
          <p:nvPr/>
        </p:nvPicPr>
        <p:blipFill>
          <a:blip r:embed="rId3"/>
          <a:stretch>
            <a:fillRect/>
          </a:stretch>
        </p:blipFill>
        <p:spPr>
          <a:xfrm>
            <a:off x="987552" y="3749040"/>
            <a:ext cx="237744" cy="237744"/>
          </a:xfrm>
          <a:prstGeom prst="rect">
            <a:avLst/>
          </a:prstGeom>
        </p:spPr>
      </p:pic>
      <p:sp>
        <p:nvSpPr>
          <p:cNvPr id="14" name="TextBox 13"/>
          <p:cNvSpPr txBox="1"/>
          <p:nvPr/>
        </p:nvSpPr>
        <p:spPr>
          <a:xfrm>
            <a:off x="1353312" y="3602736"/>
            <a:ext cx="5029200" cy="530352"/>
          </a:xfrm>
          <a:prstGeom prst="rect">
            <a:avLst/>
          </a:prstGeom>
          <a:noFill/>
        </p:spPr>
        <p:txBody>
          <a:bodyPr wrap="square" anchor="ctr" lIns="0" rIns="0" tIns="0" bIns="0">
            <a:spAutoFit/>
          </a:bodyPr>
          <a:lstStyle/>
          <a:p>
            <a:pPr algn="l">
              <a:lnSpc>
                <a:spcPct val="106000"/>
              </a:lnSpc>
              <a:spcBef>
                <a:spcPts val="0"/>
              </a:spcBef>
              <a:spcAft>
                <a:spcPts val="0"/>
              </a:spcAft>
            </a:pPr>
            <a:r>
              <a:rPr sz="1200" b="0">
                <a:solidFill>
                  <a:srgbClr val="1A1A1A"/>
                </a:solidFill>
                <a:latin typeface="Red Hat Text"/>
              </a:rPr>
              <a:t>claims-db + policy-docs are plain Deployments — probes, metrics, Services</a:t>
            </a:r>
          </a:p>
        </p:txBody>
      </p:sp>
      <p:sp>
        <p:nvSpPr>
          <p:cNvPr id="15" name="Rounded Rectangle 14"/>
          <p:cNvSpPr/>
          <p:nvPr/>
        </p:nvSpPr>
        <p:spPr>
          <a:xfrm>
            <a:off x="841248" y="4206240"/>
            <a:ext cx="5715000" cy="530352"/>
          </a:xfrm>
          <a:prstGeom prst="roundRect">
            <a:avLst>
              <a:gd name="adj" fmla="val 6000"/>
            </a:avLst>
          </a:prstGeom>
          <a:solidFill>
            <a:srgbClr val="F5F6F8"/>
          </a:solidFill>
          <a:ln w="12700">
            <a:solidFill>
              <a:srgbClr val="DDE1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6" name="Picture 15" descr="check_steel.png"/>
          <p:cNvPicPr>
            <a:picLocks noChangeAspect="1"/>
          </p:cNvPicPr>
          <p:nvPr/>
        </p:nvPicPr>
        <p:blipFill>
          <a:blip r:embed="rId3"/>
          <a:stretch>
            <a:fillRect/>
          </a:stretch>
        </p:blipFill>
        <p:spPr>
          <a:xfrm>
            <a:off x="987552" y="4352544"/>
            <a:ext cx="237744" cy="237744"/>
          </a:xfrm>
          <a:prstGeom prst="rect">
            <a:avLst/>
          </a:prstGeom>
        </p:spPr>
      </p:pic>
      <p:sp>
        <p:nvSpPr>
          <p:cNvPr id="17" name="TextBox 16"/>
          <p:cNvSpPr txBox="1"/>
          <p:nvPr/>
        </p:nvSpPr>
        <p:spPr>
          <a:xfrm>
            <a:off x="1353312" y="4206240"/>
            <a:ext cx="5029200" cy="530352"/>
          </a:xfrm>
          <a:prstGeom prst="rect">
            <a:avLst/>
          </a:prstGeom>
          <a:noFill/>
        </p:spPr>
        <p:txBody>
          <a:bodyPr wrap="square" anchor="ctr" lIns="0" rIns="0" tIns="0" bIns="0">
            <a:spAutoFit/>
          </a:bodyPr>
          <a:lstStyle/>
          <a:p>
            <a:pPr algn="l">
              <a:lnSpc>
                <a:spcPct val="106000"/>
              </a:lnSpc>
              <a:spcBef>
                <a:spcPts val="0"/>
              </a:spcBef>
              <a:spcAft>
                <a:spcPts val="0"/>
              </a:spcAft>
            </a:pPr>
            <a:r>
              <a:rPr sz="1200" b="0">
                <a:solidFill>
                  <a:srgbClr val="1A1A1A"/>
                </a:solidFill>
                <a:latin typeface="Red Hat Text"/>
              </a:rPr>
              <a:t>New capability = deploy a service + register a tool, NOT retrain a model</a:t>
            </a:r>
          </a:p>
        </p:txBody>
      </p:sp>
      <p:sp>
        <p:nvSpPr>
          <p:cNvPr id="18" name="Rounded Rectangle 17"/>
          <p:cNvSpPr/>
          <p:nvPr/>
        </p:nvSpPr>
        <p:spPr>
          <a:xfrm>
            <a:off x="841248" y="4809744"/>
            <a:ext cx="5715000" cy="530352"/>
          </a:xfrm>
          <a:prstGeom prst="roundRect">
            <a:avLst>
              <a:gd name="adj" fmla="val 6000"/>
            </a:avLst>
          </a:prstGeom>
          <a:solidFill>
            <a:srgbClr val="F5F6F8"/>
          </a:solidFill>
          <a:ln w="12700">
            <a:solidFill>
              <a:srgbClr val="DDE1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9" name="Picture 18" descr="check_steel.png"/>
          <p:cNvPicPr>
            <a:picLocks noChangeAspect="1"/>
          </p:cNvPicPr>
          <p:nvPr/>
        </p:nvPicPr>
        <p:blipFill>
          <a:blip r:embed="rId3"/>
          <a:stretch>
            <a:fillRect/>
          </a:stretch>
        </p:blipFill>
        <p:spPr>
          <a:xfrm>
            <a:off x="987552" y="4956048"/>
            <a:ext cx="237744" cy="237744"/>
          </a:xfrm>
          <a:prstGeom prst="rect">
            <a:avLst/>
          </a:prstGeom>
        </p:spPr>
      </p:pic>
      <p:sp>
        <p:nvSpPr>
          <p:cNvPr id="20" name="TextBox 19"/>
          <p:cNvSpPr txBox="1"/>
          <p:nvPr/>
        </p:nvSpPr>
        <p:spPr>
          <a:xfrm>
            <a:off x="1353312" y="4809744"/>
            <a:ext cx="5029200" cy="530352"/>
          </a:xfrm>
          <a:prstGeom prst="rect">
            <a:avLst/>
          </a:prstGeom>
          <a:noFill/>
        </p:spPr>
        <p:txBody>
          <a:bodyPr wrap="square" anchor="ctr" lIns="0" rIns="0" tIns="0" bIns="0">
            <a:spAutoFit/>
          </a:bodyPr>
          <a:lstStyle/>
          <a:p>
            <a:pPr algn="l">
              <a:lnSpc>
                <a:spcPct val="106000"/>
              </a:lnSpc>
              <a:spcBef>
                <a:spcPts val="0"/>
              </a:spcBef>
              <a:spcAft>
                <a:spcPts val="0"/>
              </a:spcAft>
            </a:pPr>
            <a:r>
              <a:rPr sz="1200" b="0">
                <a:solidFill>
                  <a:srgbClr val="1A1A1A"/>
                </a:solidFill>
                <a:latin typeface="Red Hat Text"/>
              </a:rPr>
              <a:t>Write the tool once — every MCP-capable agent (and AI-Assisted Development's coding assistant) reuses it</a:t>
            </a:r>
          </a:p>
        </p:txBody>
      </p:sp>
      <p:sp>
        <p:nvSpPr>
          <p:cNvPr id="21" name="Rounded Rectangle 20"/>
          <p:cNvSpPr/>
          <p:nvPr/>
        </p:nvSpPr>
        <p:spPr>
          <a:xfrm>
            <a:off x="6812280" y="2395728"/>
            <a:ext cx="4538167" cy="2944368"/>
          </a:xfrm>
          <a:prstGeom prst="roundRect">
            <a:avLst>
              <a:gd name="adj" fmla="val 4000"/>
            </a:avLst>
          </a:prstGeom>
          <a:solidFill>
            <a:srgbClr val="FFFFFF"/>
          </a:solidFill>
          <a:ln w="15240">
            <a:solidFill>
              <a:srgbClr val="DDE1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ounded Rectangle 21"/>
          <p:cNvSpPr/>
          <p:nvPr/>
        </p:nvSpPr>
        <p:spPr>
          <a:xfrm>
            <a:off x="7013448" y="2596896"/>
            <a:ext cx="1298448" cy="310896"/>
          </a:xfrm>
          <a:prstGeom prst="roundRect">
            <a:avLst>
              <a:gd name="adj" fmla="val 50000"/>
            </a:avLst>
          </a:prstGeom>
          <a:solidFill>
            <a:srgbClr val="FCEC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7013448" y="2596896"/>
            <a:ext cx="1298448" cy="310896"/>
          </a:xfrm>
          <a:prstGeom prst="rect">
            <a:avLst/>
          </a:prstGeom>
          <a:noFill/>
        </p:spPr>
        <p:txBody>
          <a:bodyPr wrap="none" anchor="ctr" lIns="0" rIns="0" tIns="0" bIns="0">
            <a:spAutoFit/>
          </a:bodyPr>
          <a:lstStyle/>
          <a:p>
            <a:pPr algn="ctr">
              <a:lnSpc>
                <a:spcPct val="106000"/>
              </a:lnSpc>
              <a:spcBef>
                <a:spcPts val="0"/>
              </a:spcBef>
              <a:spcAft>
                <a:spcPts val="0"/>
              </a:spcAft>
            </a:pPr>
            <a:r>
              <a:rPr sz="850" b="1">
                <a:solidFill>
                  <a:srgbClr val="B80000"/>
                </a:solidFill>
                <a:latin typeface="Red Hat Display"/>
              </a:rPr>
              <a:t>MEDIA PASS</a:t>
            </a:r>
          </a:p>
        </p:txBody>
      </p:sp>
      <p:pic>
        <p:nvPicPr>
          <p:cNvPr id="24" name="Picture 23" descr="eye_slate.png"/>
          <p:cNvPicPr>
            <a:picLocks noChangeAspect="1"/>
          </p:cNvPicPr>
          <p:nvPr/>
        </p:nvPicPr>
        <p:blipFill>
          <a:blip r:embed="rId4"/>
          <a:stretch>
            <a:fillRect/>
          </a:stretch>
        </p:blipFill>
        <p:spPr>
          <a:xfrm>
            <a:off x="8843619" y="3108960"/>
            <a:ext cx="475488" cy="475488"/>
          </a:xfrm>
          <a:prstGeom prst="rect">
            <a:avLst/>
          </a:prstGeom>
        </p:spPr>
      </p:pic>
      <p:sp>
        <p:nvSpPr>
          <p:cNvPr id="25" name="TextBox 24"/>
          <p:cNvSpPr txBox="1"/>
          <p:nvPr/>
        </p:nvSpPr>
        <p:spPr>
          <a:xfrm>
            <a:off x="7050024" y="3721608"/>
            <a:ext cx="4062679" cy="1481328"/>
          </a:xfrm>
          <a:prstGeom prst="rect">
            <a:avLst/>
          </a:prstGeom>
          <a:noFill/>
        </p:spPr>
        <p:txBody>
          <a:bodyPr wrap="square" anchor="t" lIns="0" rIns="0" tIns="0" bIns="0">
            <a:spAutoFit/>
          </a:bodyPr>
          <a:lstStyle/>
          <a:p>
            <a:pPr algn="l">
              <a:lnSpc>
                <a:spcPct val="120000"/>
              </a:lnSpc>
              <a:spcBef>
                <a:spcPts val="0"/>
              </a:spcBef>
              <a:spcAft>
                <a:spcPts val="0"/>
              </a:spcAft>
            </a:pPr>
            <a:r>
              <a:rPr sz="950" b="0">
                <a:solidFill>
                  <a:srgbClr val="8A9099"/>
                </a:solidFill>
                <a:latin typeface="Red Hat Text"/>
              </a:rPr>
              <a:t>The concept diagram agentic-ai-02-mcp-tools.svg — the user posting to parasol-agent (the MCP client) inside a namespace box; the agent making tool calls over HTTP-SSE to claims-db and policy-docs (each listing its tools) and a chat call out to the MaaS model endpoint. A caption strip: "a tool is just your service + a standard adapter."</a:t>
            </a:r>
          </a:p>
        </p:txBody>
      </p:sp>
      <p:cxnSp>
        <p:nvCxnSpPr>
          <p:cNvPr id="26" name="Connector 25"/>
          <p:cNvCxnSpPr/>
          <p:nvPr/>
        </p:nvCxnSpPr>
        <p:spPr>
          <a:xfrm>
            <a:off x="841248" y="6437376"/>
            <a:ext cx="10509199" cy="0"/>
          </a:xfrm>
          <a:prstGeom prst="bentConnector3">
            <a:avLst/>
          </a:prstGeom>
          <a:ln w="12700">
            <a:solidFill>
              <a:srgbClr val="DDE1E6"/>
            </a:solidFill>
          </a:ln>
          <a:effectLst/>
        </p:spPr>
        <p:style>
          <a:lnRef idx="2">
            <a:schemeClr val="accent1"/>
          </a:lnRef>
          <a:fillRef idx="0">
            <a:schemeClr val="accent1"/>
          </a:fillRef>
          <a:effectRef idx="1">
            <a:schemeClr val="accent1"/>
          </a:effectRef>
          <a:fontRef idx="minor">
            <a:schemeClr val="tx1"/>
          </a:fontRef>
        </p:style>
      </p:cxnSp>
      <p:sp>
        <p:nvSpPr>
          <p:cNvPr id="27" name="TextBox 26"/>
          <p:cNvSpPr txBox="1"/>
          <p:nvPr/>
        </p:nvSpPr>
        <p:spPr>
          <a:xfrm>
            <a:off x="841248" y="6473952"/>
            <a:ext cx="7315200" cy="274320"/>
          </a:xfrm>
          <a:prstGeom prst="rect">
            <a:avLst/>
          </a:prstGeom>
          <a:noFill/>
        </p:spPr>
        <p:txBody>
          <a:bodyPr wrap="square" anchor="t" lIns="0" rIns="0" tIns="0" bIns="0">
            <a:spAutoFit/>
          </a:bodyPr>
          <a:lstStyle/>
          <a:p>
            <a:pPr algn="l">
              <a:lnSpc>
                <a:spcPct val="106000"/>
              </a:lnSpc>
              <a:spcBef>
                <a:spcPts val="0"/>
              </a:spcBef>
              <a:spcAft>
                <a:spcPts val="0"/>
              </a:spcAft>
            </a:pPr>
            <a:r>
              <a:rPr sz="950" b="0">
                <a:solidFill>
                  <a:srgbClr val="8A9099"/>
                </a:solidFill>
                <a:latin typeface="Red Hat Text"/>
              </a:rPr>
              <a:t>CONFIDENTIAL</a:t>
            </a:r>
          </a:p>
        </p:txBody>
      </p:sp>
      <p:sp>
        <p:nvSpPr>
          <p:cNvPr id="28" name="TextBox 27"/>
          <p:cNvSpPr txBox="1"/>
          <p:nvPr/>
        </p:nvSpPr>
        <p:spPr>
          <a:xfrm>
            <a:off x="10801807" y="6473952"/>
            <a:ext cx="548640" cy="274320"/>
          </a:xfrm>
          <a:prstGeom prst="rect">
            <a:avLst/>
          </a:prstGeom>
          <a:noFill/>
        </p:spPr>
        <p:txBody>
          <a:bodyPr wrap="square" anchor="t" lIns="0" rIns="0" tIns="0" bIns="0">
            <a:spAutoFit/>
          </a:bodyPr>
          <a:lstStyle/>
          <a:p>
            <a:pPr algn="r">
              <a:lnSpc>
                <a:spcPct val="106000"/>
              </a:lnSpc>
              <a:spcBef>
                <a:spcPts val="0"/>
              </a:spcBef>
              <a:spcAft>
                <a:spcPts val="0"/>
              </a:spcAft>
            </a:pPr>
            <a:r>
              <a:rPr sz="950" b="0">
                <a:solidFill>
                  <a:srgbClr val="8A9099"/>
                </a:solidFill>
                <a:latin typeface="Red Hat Text"/>
              </a:rPr>
              <a:t>173</a:t>
            </a:r>
          </a:p>
        </p:txBody>
      </p:sp>
    </p:spTree>
  </p:cSld>
  <p:clrMapOvr>
    <a:masterClrMapping/>
  </p:clrMapOvr>
</p:sld>
</file>

<file path=ppt/slides/slide19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redhat_logo.jpg"/>
          <p:cNvPicPr>
            <a:picLocks noChangeAspect="1"/>
          </p:cNvPicPr>
          <p:nvPr/>
        </p:nvPicPr>
        <p:blipFill>
          <a:blip r:embed="rId2"/>
          <a:stretch>
            <a:fillRect/>
          </a:stretch>
        </p:blipFill>
        <p:spPr>
          <a:xfrm>
            <a:off x="10326319" y="475488"/>
            <a:ext cx="1024128" cy="242248"/>
          </a:xfrm>
          <a:prstGeom prst="rect">
            <a:avLst/>
          </a:prstGeom>
        </p:spPr>
      </p:pic>
      <p:sp>
        <p:nvSpPr>
          <p:cNvPr id="3" name="TextBox 2"/>
          <p:cNvSpPr txBox="1"/>
          <p:nvPr/>
        </p:nvSpPr>
        <p:spPr>
          <a:xfrm>
            <a:off x="841248" y="548640"/>
            <a:ext cx="8595360" cy="274320"/>
          </a:xfrm>
          <a:prstGeom prst="rect">
            <a:avLst/>
          </a:prstGeom>
          <a:noFill/>
        </p:spPr>
        <p:txBody>
          <a:bodyPr wrap="square" anchor="t" lIns="0" rIns="0" tIns="0" bIns="0">
            <a:spAutoFit/>
          </a:bodyPr>
          <a:lstStyle/>
          <a:p>
            <a:pPr algn="l">
              <a:lnSpc>
                <a:spcPct val="106000"/>
              </a:lnSpc>
              <a:spcBef>
                <a:spcPts val="0"/>
              </a:spcBef>
              <a:spcAft>
                <a:spcPts val="0"/>
              </a:spcAft>
            </a:pPr>
            <a:r>
              <a:rPr sz="1250" b="1" spc="220">
                <a:solidFill>
                  <a:srgbClr val="EE0000"/>
                </a:solidFill>
                <a:latin typeface="Red Hat Display"/>
              </a:rPr>
              <a:t>M24 · AGENTIC AI ON OPENSHIFT</a:t>
            </a:r>
          </a:p>
        </p:txBody>
      </p:sp>
      <p:sp>
        <p:nvSpPr>
          <p:cNvPr id="4" name="TextBox 3"/>
          <p:cNvSpPr txBox="1"/>
          <p:nvPr/>
        </p:nvSpPr>
        <p:spPr>
          <a:xfrm>
            <a:off x="841248" y="877824"/>
            <a:ext cx="10515600" cy="548640"/>
          </a:xfrm>
          <a:prstGeom prst="rect">
            <a:avLst/>
          </a:prstGeom>
          <a:noFill/>
        </p:spPr>
        <p:txBody>
          <a:bodyPr wrap="none" anchor="t" lIns="0" rIns="0" tIns="0" bIns="0">
            <a:spAutoFit/>
          </a:bodyPr>
          <a:lstStyle/>
          <a:p>
            <a:pPr algn="l">
              <a:lnSpc>
                <a:spcPct val="100000"/>
              </a:lnSpc>
              <a:spcBef>
                <a:spcPts val="0"/>
              </a:spcBef>
              <a:spcAft>
                <a:spcPts val="0"/>
              </a:spcAft>
            </a:pPr>
            <a:r>
              <a:rPr sz="2500" b="1">
                <a:solidFill>
                  <a:srgbClr val="1A1A1A"/>
                </a:solidFill>
                <a:latin typeface="Red Hat Display"/>
              </a:rPr>
              <a:t>RAG honestly — and grounding is engineered</a:t>
            </a:r>
          </a:p>
        </p:txBody>
      </p:sp>
      <p:cxnSp>
        <p:nvCxnSpPr>
          <p:cNvPr id="5" name="Connector 4"/>
          <p:cNvCxnSpPr/>
          <p:nvPr/>
        </p:nvCxnSpPr>
        <p:spPr>
          <a:xfrm>
            <a:off x="841248" y="1554480"/>
            <a:ext cx="1371600" cy="0"/>
          </a:xfrm>
          <a:prstGeom prst="bentConnector3">
            <a:avLst/>
          </a:prstGeom>
          <a:ln w="31750">
            <a:solidFill>
              <a:srgbClr val="EE0000"/>
            </a:solidFill>
          </a:ln>
          <a:effectLst/>
        </p:spPr>
        <p:style>
          <a:lnRef idx="2">
            <a:schemeClr val="accent1"/>
          </a:lnRef>
          <a:fillRef idx="0">
            <a:schemeClr val="accent1"/>
          </a:fillRef>
          <a:effectRef idx="1">
            <a:schemeClr val="accent1"/>
          </a:effectRef>
          <a:fontRef idx="minor">
            <a:schemeClr val="tx1"/>
          </a:fontRef>
        </p:style>
      </p:cxnSp>
      <p:sp>
        <p:nvSpPr>
          <p:cNvPr id="6" name="Rounded Rectangle 5"/>
          <p:cNvSpPr/>
          <p:nvPr/>
        </p:nvSpPr>
        <p:spPr>
          <a:xfrm>
            <a:off x="841248" y="2395728"/>
            <a:ext cx="5715000" cy="530352"/>
          </a:xfrm>
          <a:prstGeom prst="roundRect">
            <a:avLst>
              <a:gd name="adj" fmla="val 6000"/>
            </a:avLst>
          </a:prstGeom>
          <a:solidFill>
            <a:srgbClr val="F5F6F8"/>
          </a:solidFill>
          <a:ln w="12700">
            <a:solidFill>
              <a:srgbClr val="DDE1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check_steel.png"/>
          <p:cNvPicPr>
            <a:picLocks noChangeAspect="1"/>
          </p:cNvPicPr>
          <p:nvPr/>
        </p:nvPicPr>
        <p:blipFill>
          <a:blip r:embed="rId3"/>
          <a:stretch>
            <a:fillRect/>
          </a:stretch>
        </p:blipFill>
        <p:spPr>
          <a:xfrm>
            <a:off x="987552" y="2542032"/>
            <a:ext cx="237744" cy="237744"/>
          </a:xfrm>
          <a:prstGeom prst="rect">
            <a:avLst/>
          </a:prstGeom>
        </p:spPr>
      </p:pic>
      <p:sp>
        <p:nvSpPr>
          <p:cNvPr id="8" name="TextBox 7"/>
          <p:cNvSpPr txBox="1"/>
          <p:nvPr/>
        </p:nvSpPr>
        <p:spPr>
          <a:xfrm>
            <a:off x="1353312" y="2395728"/>
            <a:ext cx="5029200" cy="530352"/>
          </a:xfrm>
          <a:prstGeom prst="rect">
            <a:avLst/>
          </a:prstGeom>
          <a:noFill/>
        </p:spPr>
        <p:txBody>
          <a:bodyPr wrap="square" anchor="ctr" lIns="0" rIns="0" tIns="0" bIns="0">
            <a:spAutoFit/>
          </a:bodyPr>
          <a:lstStyle/>
          <a:p>
            <a:pPr algn="l">
              <a:lnSpc>
                <a:spcPct val="106000"/>
              </a:lnSpc>
              <a:spcBef>
                <a:spcPts val="0"/>
              </a:spcBef>
              <a:spcAft>
                <a:spcPts val="0"/>
              </a:spcAft>
            </a:pPr>
            <a:r>
              <a:rPr sz="1200" b="0">
                <a:solidFill>
                  <a:srgbClr val="1A1A1A"/>
                </a:solidFill>
                <a:latin typeface="Red Hat Text"/>
              </a:rPr>
              <a:t>RAG = retrieve the relevant passage, then answer FROM it (and CITE it)</a:t>
            </a:r>
          </a:p>
        </p:txBody>
      </p:sp>
      <p:sp>
        <p:nvSpPr>
          <p:cNvPr id="9" name="Rounded Rectangle 8"/>
          <p:cNvSpPr/>
          <p:nvPr/>
        </p:nvSpPr>
        <p:spPr>
          <a:xfrm>
            <a:off x="841248" y="2999232"/>
            <a:ext cx="5715000" cy="530352"/>
          </a:xfrm>
          <a:prstGeom prst="roundRect">
            <a:avLst>
              <a:gd name="adj" fmla="val 6000"/>
            </a:avLst>
          </a:prstGeom>
          <a:solidFill>
            <a:srgbClr val="F5F6F8"/>
          </a:solidFill>
          <a:ln w="12700">
            <a:solidFill>
              <a:srgbClr val="DDE1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0" name="Picture 9" descr="check_steel.png"/>
          <p:cNvPicPr>
            <a:picLocks noChangeAspect="1"/>
          </p:cNvPicPr>
          <p:nvPr/>
        </p:nvPicPr>
        <p:blipFill>
          <a:blip r:embed="rId3"/>
          <a:stretch>
            <a:fillRect/>
          </a:stretch>
        </p:blipFill>
        <p:spPr>
          <a:xfrm>
            <a:off x="987552" y="3145536"/>
            <a:ext cx="237744" cy="237744"/>
          </a:xfrm>
          <a:prstGeom prst="rect">
            <a:avLst/>
          </a:prstGeom>
        </p:spPr>
      </p:pic>
      <p:sp>
        <p:nvSpPr>
          <p:cNvPr id="11" name="TextBox 10"/>
          <p:cNvSpPr txBox="1"/>
          <p:nvPr/>
        </p:nvSpPr>
        <p:spPr>
          <a:xfrm>
            <a:off x="1353312" y="2999232"/>
            <a:ext cx="5029200" cy="530352"/>
          </a:xfrm>
          <a:prstGeom prst="rect">
            <a:avLst/>
          </a:prstGeom>
          <a:noFill/>
        </p:spPr>
        <p:txBody>
          <a:bodyPr wrap="square" anchor="ctr" lIns="0" rIns="0" tIns="0" bIns="0">
            <a:spAutoFit/>
          </a:bodyPr>
          <a:lstStyle/>
          <a:p>
            <a:pPr algn="l">
              <a:lnSpc>
                <a:spcPct val="106000"/>
              </a:lnSpc>
              <a:spcBef>
                <a:spcPts val="0"/>
              </a:spcBef>
              <a:spcAft>
                <a:spcPts val="0"/>
              </a:spcAft>
            </a:pPr>
            <a:r>
              <a:rPr sz="1200" b="0">
                <a:solidFill>
                  <a:srgbClr val="1A1A1A"/>
                </a:solidFill>
                <a:latin typeface="Red Hat Text"/>
              </a:rPr>
              <a:t>The citation is the tell: a grounded answer points at its source (POL-AUTO-01)</a:t>
            </a:r>
          </a:p>
        </p:txBody>
      </p:sp>
      <p:sp>
        <p:nvSpPr>
          <p:cNvPr id="12" name="Rounded Rectangle 11"/>
          <p:cNvSpPr/>
          <p:nvPr/>
        </p:nvSpPr>
        <p:spPr>
          <a:xfrm>
            <a:off x="841248" y="3602736"/>
            <a:ext cx="5715000" cy="530352"/>
          </a:xfrm>
          <a:prstGeom prst="roundRect">
            <a:avLst>
              <a:gd name="adj" fmla="val 6000"/>
            </a:avLst>
          </a:prstGeom>
          <a:solidFill>
            <a:srgbClr val="F5F6F8"/>
          </a:solidFill>
          <a:ln w="12700">
            <a:solidFill>
              <a:srgbClr val="DDE1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3" name="Picture 12" descr="check_steel.png"/>
          <p:cNvPicPr>
            <a:picLocks noChangeAspect="1"/>
          </p:cNvPicPr>
          <p:nvPr/>
        </p:nvPicPr>
        <p:blipFill>
          <a:blip r:embed="rId3"/>
          <a:stretch>
            <a:fillRect/>
          </a:stretch>
        </p:blipFill>
        <p:spPr>
          <a:xfrm>
            <a:off x="987552" y="3749040"/>
            <a:ext cx="237744" cy="237744"/>
          </a:xfrm>
          <a:prstGeom prst="rect">
            <a:avLst/>
          </a:prstGeom>
        </p:spPr>
      </p:pic>
      <p:sp>
        <p:nvSpPr>
          <p:cNvPr id="14" name="TextBox 13"/>
          <p:cNvSpPr txBox="1"/>
          <p:nvPr/>
        </p:nvSpPr>
        <p:spPr>
          <a:xfrm>
            <a:off x="1353312" y="3602736"/>
            <a:ext cx="5029200" cy="530352"/>
          </a:xfrm>
          <a:prstGeom prst="rect">
            <a:avLst/>
          </a:prstGeom>
          <a:noFill/>
        </p:spPr>
        <p:txBody>
          <a:bodyPr wrap="square" anchor="ctr" lIns="0" rIns="0" tIns="0" bIns="0">
            <a:spAutoFit/>
          </a:bodyPr>
          <a:lstStyle/>
          <a:p>
            <a:pPr algn="l">
              <a:lnSpc>
                <a:spcPct val="106000"/>
              </a:lnSpc>
              <a:spcBef>
                <a:spcPts val="0"/>
              </a:spcBef>
              <a:spcAft>
                <a:spcPts val="0"/>
              </a:spcAft>
            </a:pPr>
            <a:r>
              <a:rPr sz="1200" b="0">
                <a:solidFill>
                  <a:srgbClr val="1A1A1A"/>
                </a:solidFill>
                <a:latin typeface="Red Hat Text"/>
              </a:rPr>
              <a:t>It fails when retrieval fails — garbage retrieval, confident garbage answer</a:t>
            </a:r>
          </a:p>
        </p:txBody>
      </p:sp>
      <p:sp>
        <p:nvSpPr>
          <p:cNvPr id="15" name="Rounded Rectangle 14"/>
          <p:cNvSpPr/>
          <p:nvPr/>
        </p:nvSpPr>
        <p:spPr>
          <a:xfrm>
            <a:off x="841248" y="4206240"/>
            <a:ext cx="5715000" cy="530352"/>
          </a:xfrm>
          <a:prstGeom prst="roundRect">
            <a:avLst>
              <a:gd name="adj" fmla="val 6000"/>
            </a:avLst>
          </a:prstGeom>
          <a:solidFill>
            <a:srgbClr val="F5F6F8"/>
          </a:solidFill>
          <a:ln w="12700">
            <a:solidFill>
              <a:srgbClr val="DDE1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6" name="Picture 15" descr="check_steel.png"/>
          <p:cNvPicPr>
            <a:picLocks noChangeAspect="1"/>
          </p:cNvPicPr>
          <p:nvPr/>
        </p:nvPicPr>
        <p:blipFill>
          <a:blip r:embed="rId3"/>
          <a:stretch>
            <a:fillRect/>
          </a:stretch>
        </p:blipFill>
        <p:spPr>
          <a:xfrm>
            <a:off x="987552" y="4352544"/>
            <a:ext cx="237744" cy="237744"/>
          </a:xfrm>
          <a:prstGeom prst="rect">
            <a:avLst/>
          </a:prstGeom>
        </p:spPr>
      </p:pic>
      <p:sp>
        <p:nvSpPr>
          <p:cNvPr id="17" name="TextBox 16"/>
          <p:cNvSpPr txBox="1"/>
          <p:nvPr/>
        </p:nvSpPr>
        <p:spPr>
          <a:xfrm>
            <a:off x="1353312" y="4206240"/>
            <a:ext cx="5029200" cy="530352"/>
          </a:xfrm>
          <a:prstGeom prst="rect">
            <a:avLst/>
          </a:prstGeom>
          <a:noFill/>
        </p:spPr>
        <p:txBody>
          <a:bodyPr wrap="square" anchor="ctr" lIns="0" rIns="0" tIns="0" bIns="0">
            <a:spAutoFit/>
          </a:bodyPr>
          <a:lstStyle/>
          <a:p>
            <a:pPr algn="l">
              <a:lnSpc>
                <a:spcPct val="106000"/>
              </a:lnSpc>
              <a:spcBef>
                <a:spcPts val="0"/>
              </a:spcBef>
              <a:spcAft>
                <a:spcPts val="0"/>
              </a:spcAft>
            </a:pPr>
            <a:r>
              <a:rPr sz="1200" b="0">
                <a:solidFill>
                  <a:srgbClr val="1A1A1A"/>
                </a:solidFill>
                <a:latin typeface="Red Hat Text"/>
              </a:rPr>
              <a:t>The model DECIDES to call a tool — how you ASK changes whether it does</a:t>
            </a:r>
          </a:p>
        </p:txBody>
      </p:sp>
      <p:sp>
        <p:nvSpPr>
          <p:cNvPr id="18" name="Rounded Rectangle 17"/>
          <p:cNvSpPr/>
          <p:nvPr/>
        </p:nvSpPr>
        <p:spPr>
          <a:xfrm>
            <a:off x="841248" y="4809744"/>
            <a:ext cx="5715000" cy="530352"/>
          </a:xfrm>
          <a:prstGeom prst="roundRect">
            <a:avLst>
              <a:gd name="adj" fmla="val 6000"/>
            </a:avLst>
          </a:prstGeom>
          <a:solidFill>
            <a:srgbClr val="F5F6F8"/>
          </a:solidFill>
          <a:ln w="12700">
            <a:solidFill>
              <a:srgbClr val="DDE1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9" name="Picture 18" descr="check_steel.png"/>
          <p:cNvPicPr>
            <a:picLocks noChangeAspect="1"/>
          </p:cNvPicPr>
          <p:nvPr/>
        </p:nvPicPr>
        <p:blipFill>
          <a:blip r:embed="rId3"/>
          <a:stretch>
            <a:fillRect/>
          </a:stretch>
        </p:blipFill>
        <p:spPr>
          <a:xfrm>
            <a:off x="987552" y="4956048"/>
            <a:ext cx="237744" cy="237744"/>
          </a:xfrm>
          <a:prstGeom prst="rect">
            <a:avLst/>
          </a:prstGeom>
        </p:spPr>
      </p:pic>
      <p:sp>
        <p:nvSpPr>
          <p:cNvPr id="20" name="TextBox 19"/>
          <p:cNvSpPr txBox="1"/>
          <p:nvPr/>
        </p:nvSpPr>
        <p:spPr>
          <a:xfrm>
            <a:off x="1353312" y="4809744"/>
            <a:ext cx="5029200" cy="530352"/>
          </a:xfrm>
          <a:prstGeom prst="rect">
            <a:avLst/>
          </a:prstGeom>
          <a:noFill/>
        </p:spPr>
        <p:txBody>
          <a:bodyPr wrap="square" anchor="ctr" lIns="0" rIns="0" tIns="0" bIns="0">
            <a:spAutoFit/>
          </a:bodyPr>
          <a:lstStyle/>
          <a:p>
            <a:pPr algn="l">
              <a:lnSpc>
                <a:spcPct val="106000"/>
              </a:lnSpc>
              <a:spcBef>
                <a:spcPts val="0"/>
              </a:spcBef>
              <a:spcAft>
                <a:spcPts val="0"/>
              </a:spcAft>
            </a:pPr>
            <a:r>
              <a:rPr sz="1200" b="0">
                <a:solidFill>
                  <a:srgbClr val="1A1A1A"/>
                </a:solidFill>
                <a:latin typeface="Red Hat Text"/>
              </a:rPr>
              <a:t>Same claim, terse vs imperative: ungrounded text-echo → grounded tool call</a:t>
            </a:r>
          </a:p>
        </p:txBody>
      </p:sp>
      <p:sp>
        <p:nvSpPr>
          <p:cNvPr id="21" name="Rounded Rectangle 20"/>
          <p:cNvSpPr/>
          <p:nvPr/>
        </p:nvSpPr>
        <p:spPr>
          <a:xfrm>
            <a:off x="6812280" y="2395728"/>
            <a:ext cx="4538167" cy="2944368"/>
          </a:xfrm>
          <a:prstGeom prst="roundRect">
            <a:avLst>
              <a:gd name="adj" fmla="val 4000"/>
            </a:avLst>
          </a:prstGeom>
          <a:solidFill>
            <a:srgbClr val="FFFFFF"/>
          </a:solidFill>
          <a:ln w="15240">
            <a:solidFill>
              <a:srgbClr val="DDE1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ounded Rectangle 21"/>
          <p:cNvSpPr/>
          <p:nvPr/>
        </p:nvSpPr>
        <p:spPr>
          <a:xfrm>
            <a:off x="7013448" y="2596896"/>
            <a:ext cx="1298448" cy="310896"/>
          </a:xfrm>
          <a:prstGeom prst="roundRect">
            <a:avLst>
              <a:gd name="adj" fmla="val 50000"/>
            </a:avLst>
          </a:prstGeom>
          <a:solidFill>
            <a:srgbClr val="FCEC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7013448" y="2596896"/>
            <a:ext cx="1298448" cy="310896"/>
          </a:xfrm>
          <a:prstGeom prst="rect">
            <a:avLst/>
          </a:prstGeom>
          <a:noFill/>
        </p:spPr>
        <p:txBody>
          <a:bodyPr wrap="none" anchor="ctr" lIns="0" rIns="0" tIns="0" bIns="0">
            <a:spAutoFit/>
          </a:bodyPr>
          <a:lstStyle/>
          <a:p>
            <a:pPr algn="ctr">
              <a:lnSpc>
                <a:spcPct val="106000"/>
              </a:lnSpc>
              <a:spcBef>
                <a:spcPts val="0"/>
              </a:spcBef>
              <a:spcAft>
                <a:spcPts val="0"/>
              </a:spcAft>
            </a:pPr>
            <a:r>
              <a:rPr sz="850" b="1">
                <a:solidFill>
                  <a:srgbClr val="B80000"/>
                </a:solidFill>
                <a:latin typeface="Red Hat Display"/>
              </a:rPr>
              <a:t>MEDIA PASS</a:t>
            </a:r>
          </a:p>
        </p:txBody>
      </p:sp>
      <p:pic>
        <p:nvPicPr>
          <p:cNvPr id="24" name="Picture 23" descr="eye_slate.png"/>
          <p:cNvPicPr>
            <a:picLocks noChangeAspect="1"/>
          </p:cNvPicPr>
          <p:nvPr/>
        </p:nvPicPr>
        <p:blipFill>
          <a:blip r:embed="rId4"/>
          <a:stretch>
            <a:fillRect/>
          </a:stretch>
        </p:blipFill>
        <p:spPr>
          <a:xfrm>
            <a:off x="8843619" y="3108960"/>
            <a:ext cx="475488" cy="475488"/>
          </a:xfrm>
          <a:prstGeom prst="rect">
            <a:avLst/>
          </a:prstGeom>
        </p:spPr>
      </p:pic>
      <p:sp>
        <p:nvSpPr>
          <p:cNvPr id="25" name="TextBox 24"/>
          <p:cNvSpPr txBox="1"/>
          <p:nvPr/>
        </p:nvSpPr>
        <p:spPr>
          <a:xfrm>
            <a:off x="7050024" y="3721608"/>
            <a:ext cx="4062679" cy="1481328"/>
          </a:xfrm>
          <a:prstGeom prst="rect">
            <a:avLst/>
          </a:prstGeom>
          <a:noFill/>
        </p:spPr>
        <p:txBody>
          <a:bodyPr wrap="square" anchor="t" lIns="0" rIns="0" tIns="0" bIns="0">
            <a:spAutoFit/>
          </a:bodyPr>
          <a:lstStyle/>
          <a:p>
            <a:pPr algn="l">
              <a:lnSpc>
                <a:spcPct val="120000"/>
              </a:lnSpc>
              <a:spcBef>
                <a:spcPts val="0"/>
              </a:spcBef>
              <a:spcAft>
                <a:spcPts val="0"/>
              </a:spcAft>
            </a:pPr>
            <a:r>
              <a:rPr sz="950" b="0">
                <a:solidFill>
                  <a:srgbClr val="8A9099"/>
                </a:solidFill>
                <a:latin typeface="Red Hat Text"/>
              </a:rPr>
              <a:t>Split card. Left "RAG": a query flowing into a small doc-stack, one doc (POL-AUTO-01) highlighted and flowing into an answer that carries a "cited: POL-AUTO-01" badge; a small caution "retrieval fails → answer fails." Right "Grounding is engineered": two rows for the same claim — top row terse question → speech bubble "[get_claim(...)]" with a grey "ungrounded, toolCalls: []"; bottom row imperative question → a run tool icon → green "grounded: UnderReview."</a:t>
            </a:r>
          </a:p>
        </p:txBody>
      </p:sp>
      <p:cxnSp>
        <p:nvCxnSpPr>
          <p:cNvPr id="26" name="Connector 25"/>
          <p:cNvCxnSpPr/>
          <p:nvPr/>
        </p:nvCxnSpPr>
        <p:spPr>
          <a:xfrm>
            <a:off x="841248" y="6437376"/>
            <a:ext cx="10509199" cy="0"/>
          </a:xfrm>
          <a:prstGeom prst="bentConnector3">
            <a:avLst/>
          </a:prstGeom>
          <a:ln w="12700">
            <a:solidFill>
              <a:srgbClr val="DDE1E6"/>
            </a:solidFill>
          </a:ln>
          <a:effectLst/>
        </p:spPr>
        <p:style>
          <a:lnRef idx="2">
            <a:schemeClr val="accent1"/>
          </a:lnRef>
          <a:fillRef idx="0">
            <a:schemeClr val="accent1"/>
          </a:fillRef>
          <a:effectRef idx="1">
            <a:schemeClr val="accent1"/>
          </a:effectRef>
          <a:fontRef idx="minor">
            <a:schemeClr val="tx1"/>
          </a:fontRef>
        </p:style>
      </p:cxnSp>
      <p:sp>
        <p:nvSpPr>
          <p:cNvPr id="27" name="TextBox 26"/>
          <p:cNvSpPr txBox="1"/>
          <p:nvPr/>
        </p:nvSpPr>
        <p:spPr>
          <a:xfrm>
            <a:off x="841248" y="6473952"/>
            <a:ext cx="7315200" cy="274320"/>
          </a:xfrm>
          <a:prstGeom prst="rect">
            <a:avLst/>
          </a:prstGeom>
          <a:noFill/>
        </p:spPr>
        <p:txBody>
          <a:bodyPr wrap="square" anchor="t" lIns="0" rIns="0" tIns="0" bIns="0">
            <a:spAutoFit/>
          </a:bodyPr>
          <a:lstStyle/>
          <a:p>
            <a:pPr algn="l">
              <a:lnSpc>
                <a:spcPct val="106000"/>
              </a:lnSpc>
              <a:spcBef>
                <a:spcPts val="0"/>
              </a:spcBef>
              <a:spcAft>
                <a:spcPts val="0"/>
              </a:spcAft>
            </a:pPr>
            <a:r>
              <a:rPr sz="950" b="0">
                <a:solidFill>
                  <a:srgbClr val="8A9099"/>
                </a:solidFill>
                <a:latin typeface="Red Hat Text"/>
              </a:rPr>
              <a:t>CONFIDENTIAL</a:t>
            </a:r>
          </a:p>
        </p:txBody>
      </p:sp>
      <p:sp>
        <p:nvSpPr>
          <p:cNvPr id="28" name="TextBox 27"/>
          <p:cNvSpPr txBox="1"/>
          <p:nvPr/>
        </p:nvSpPr>
        <p:spPr>
          <a:xfrm>
            <a:off x="10801807" y="6473952"/>
            <a:ext cx="548640" cy="274320"/>
          </a:xfrm>
          <a:prstGeom prst="rect">
            <a:avLst/>
          </a:prstGeom>
          <a:noFill/>
        </p:spPr>
        <p:txBody>
          <a:bodyPr wrap="square" anchor="t" lIns="0" rIns="0" tIns="0" bIns="0">
            <a:spAutoFit/>
          </a:bodyPr>
          <a:lstStyle/>
          <a:p>
            <a:pPr algn="r">
              <a:lnSpc>
                <a:spcPct val="106000"/>
              </a:lnSpc>
              <a:spcBef>
                <a:spcPts val="0"/>
              </a:spcBef>
              <a:spcAft>
                <a:spcPts val="0"/>
              </a:spcAft>
            </a:pPr>
            <a:r>
              <a:rPr sz="950" b="0">
                <a:solidFill>
                  <a:srgbClr val="8A9099"/>
                </a:solidFill>
                <a:latin typeface="Red Hat Text"/>
              </a:rPr>
              <a:t>174</a:t>
            </a:r>
          </a:p>
        </p:txBody>
      </p:sp>
    </p:spTree>
  </p:cSld>
  <p:clrMapOvr>
    <a:masterClrMapping/>
  </p:clrMapOvr>
</p:sld>
</file>

<file path=ppt/slides/slide19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redhat_logo.jpg"/>
          <p:cNvPicPr>
            <a:picLocks noChangeAspect="1"/>
          </p:cNvPicPr>
          <p:nvPr/>
        </p:nvPicPr>
        <p:blipFill>
          <a:blip r:embed="rId2"/>
          <a:stretch>
            <a:fillRect/>
          </a:stretch>
        </p:blipFill>
        <p:spPr>
          <a:xfrm>
            <a:off x="10326319" y="475488"/>
            <a:ext cx="1024128" cy="242248"/>
          </a:xfrm>
          <a:prstGeom prst="rect">
            <a:avLst/>
          </a:prstGeom>
        </p:spPr>
      </p:pic>
      <p:sp>
        <p:nvSpPr>
          <p:cNvPr id="3" name="TextBox 2"/>
          <p:cNvSpPr txBox="1"/>
          <p:nvPr/>
        </p:nvSpPr>
        <p:spPr>
          <a:xfrm>
            <a:off x="841248" y="548640"/>
            <a:ext cx="8595360" cy="274320"/>
          </a:xfrm>
          <a:prstGeom prst="rect">
            <a:avLst/>
          </a:prstGeom>
          <a:noFill/>
        </p:spPr>
        <p:txBody>
          <a:bodyPr wrap="square" anchor="t" lIns="0" rIns="0" tIns="0" bIns="0">
            <a:spAutoFit/>
          </a:bodyPr>
          <a:lstStyle/>
          <a:p>
            <a:pPr algn="l">
              <a:lnSpc>
                <a:spcPct val="106000"/>
              </a:lnSpc>
              <a:spcBef>
                <a:spcPts val="0"/>
              </a:spcBef>
              <a:spcAft>
                <a:spcPts val="0"/>
              </a:spcAft>
            </a:pPr>
            <a:r>
              <a:rPr sz="1250" b="1" spc="220">
                <a:solidFill>
                  <a:srgbClr val="EE0000"/>
                </a:solidFill>
                <a:latin typeface="Red Hat Display"/>
              </a:rPr>
              <a:t>M24 · AGENTIC AI ON OPENSHIFT</a:t>
            </a:r>
          </a:p>
        </p:txBody>
      </p:sp>
      <p:sp>
        <p:nvSpPr>
          <p:cNvPr id="4" name="TextBox 3"/>
          <p:cNvSpPr txBox="1"/>
          <p:nvPr/>
        </p:nvSpPr>
        <p:spPr>
          <a:xfrm>
            <a:off x="841248" y="877824"/>
            <a:ext cx="10515600" cy="548640"/>
          </a:xfrm>
          <a:prstGeom prst="rect">
            <a:avLst/>
          </a:prstGeom>
          <a:noFill/>
        </p:spPr>
        <p:txBody>
          <a:bodyPr wrap="none" anchor="t" lIns="0" rIns="0" tIns="0" bIns="0">
            <a:spAutoFit/>
          </a:bodyPr>
          <a:lstStyle/>
          <a:p>
            <a:pPr algn="l">
              <a:lnSpc>
                <a:spcPct val="100000"/>
              </a:lnSpc>
              <a:spcBef>
                <a:spcPts val="0"/>
              </a:spcBef>
              <a:spcAft>
                <a:spcPts val="0"/>
              </a:spcAft>
            </a:pPr>
            <a:r>
              <a:rPr sz="2500" b="1">
                <a:solidFill>
                  <a:srgbClr val="1A1A1A"/>
                </a:solidFill>
                <a:latin typeface="Red Hat Display"/>
              </a:rPr>
              <a:t>Guardrails and the Red Hat AI stack [ADD-ON]</a:t>
            </a:r>
          </a:p>
        </p:txBody>
      </p:sp>
      <p:cxnSp>
        <p:nvCxnSpPr>
          <p:cNvPr id="5" name="Connector 4"/>
          <p:cNvCxnSpPr/>
          <p:nvPr/>
        </p:nvCxnSpPr>
        <p:spPr>
          <a:xfrm>
            <a:off x="841248" y="1554480"/>
            <a:ext cx="1371600" cy="0"/>
          </a:xfrm>
          <a:prstGeom prst="bentConnector3">
            <a:avLst/>
          </a:prstGeom>
          <a:ln w="31750">
            <a:solidFill>
              <a:srgbClr val="EE0000"/>
            </a:solidFill>
          </a:ln>
          <a:effectLst/>
        </p:spPr>
        <p:style>
          <a:lnRef idx="2">
            <a:schemeClr val="accent1"/>
          </a:lnRef>
          <a:fillRef idx="0">
            <a:schemeClr val="accent1"/>
          </a:fillRef>
          <a:effectRef idx="1">
            <a:schemeClr val="accent1"/>
          </a:effectRef>
          <a:fontRef idx="minor">
            <a:schemeClr val="tx1"/>
          </a:fontRef>
        </p:style>
      </p:cxnSp>
      <p:sp>
        <p:nvSpPr>
          <p:cNvPr id="6" name="Rounded Rectangle 5"/>
          <p:cNvSpPr/>
          <p:nvPr/>
        </p:nvSpPr>
        <p:spPr>
          <a:xfrm>
            <a:off x="841248" y="2395728"/>
            <a:ext cx="5715000" cy="530352"/>
          </a:xfrm>
          <a:prstGeom prst="roundRect">
            <a:avLst>
              <a:gd name="adj" fmla="val 6000"/>
            </a:avLst>
          </a:prstGeom>
          <a:solidFill>
            <a:srgbClr val="F5F6F8"/>
          </a:solidFill>
          <a:ln w="12700">
            <a:solidFill>
              <a:srgbClr val="DDE1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check_steel.png"/>
          <p:cNvPicPr>
            <a:picLocks noChangeAspect="1"/>
          </p:cNvPicPr>
          <p:nvPr/>
        </p:nvPicPr>
        <p:blipFill>
          <a:blip r:embed="rId3"/>
          <a:stretch>
            <a:fillRect/>
          </a:stretch>
        </p:blipFill>
        <p:spPr>
          <a:xfrm>
            <a:off x="987552" y="2542032"/>
            <a:ext cx="237744" cy="237744"/>
          </a:xfrm>
          <a:prstGeom prst="rect">
            <a:avLst/>
          </a:prstGeom>
        </p:spPr>
      </p:pic>
      <p:sp>
        <p:nvSpPr>
          <p:cNvPr id="8" name="TextBox 7"/>
          <p:cNvSpPr txBox="1"/>
          <p:nvPr/>
        </p:nvSpPr>
        <p:spPr>
          <a:xfrm>
            <a:off x="1353312" y="2395728"/>
            <a:ext cx="5029200" cy="530352"/>
          </a:xfrm>
          <a:prstGeom prst="rect">
            <a:avLst/>
          </a:prstGeom>
          <a:noFill/>
        </p:spPr>
        <p:txBody>
          <a:bodyPr wrap="square" anchor="ctr" lIns="0" rIns="0" tIns="0" bIns="0">
            <a:spAutoFit/>
          </a:bodyPr>
          <a:lstStyle/>
          <a:p>
            <a:pPr algn="l">
              <a:lnSpc>
                <a:spcPct val="106000"/>
              </a:lnSpc>
              <a:spcBef>
                <a:spcPts val="0"/>
              </a:spcBef>
              <a:spcAft>
                <a:spcPts val="0"/>
              </a:spcAft>
            </a:pPr>
            <a:r>
              <a:rPr sz="1200" b="0">
                <a:solidFill>
                  <a:srgbClr val="1A1A1A"/>
                </a:solidFill>
                <a:latin typeface="Red Hat Text"/>
              </a:rPr>
              <a:t>Guardrails belong to the PLATFORM, not each agent's code</a:t>
            </a:r>
          </a:p>
        </p:txBody>
      </p:sp>
      <p:sp>
        <p:nvSpPr>
          <p:cNvPr id="9" name="Rounded Rectangle 8"/>
          <p:cNvSpPr/>
          <p:nvPr/>
        </p:nvSpPr>
        <p:spPr>
          <a:xfrm>
            <a:off x="841248" y="2999232"/>
            <a:ext cx="5715000" cy="530352"/>
          </a:xfrm>
          <a:prstGeom prst="roundRect">
            <a:avLst>
              <a:gd name="adj" fmla="val 6000"/>
            </a:avLst>
          </a:prstGeom>
          <a:solidFill>
            <a:srgbClr val="F5F6F8"/>
          </a:solidFill>
          <a:ln w="12700">
            <a:solidFill>
              <a:srgbClr val="DDE1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0" name="Picture 9" descr="check_steel.png"/>
          <p:cNvPicPr>
            <a:picLocks noChangeAspect="1"/>
          </p:cNvPicPr>
          <p:nvPr/>
        </p:nvPicPr>
        <p:blipFill>
          <a:blip r:embed="rId3"/>
          <a:stretch>
            <a:fillRect/>
          </a:stretch>
        </p:blipFill>
        <p:spPr>
          <a:xfrm>
            <a:off x="987552" y="3145536"/>
            <a:ext cx="237744" cy="237744"/>
          </a:xfrm>
          <a:prstGeom prst="rect">
            <a:avLst/>
          </a:prstGeom>
        </p:spPr>
      </p:pic>
      <p:sp>
        <p:nvSpPr>
          <p:cNvPr id="11" name="TextBox 10"/>
          <p:cNvSpPr txBox="1"/>
          <p:nvPr/>
        </p:nvSpPr>
        <p:spPr>
          <a:xfrm>
            <a:off x="1353312" y="2999232"/>
            <a:ext cx="5029200" cy="530352"/>
          </a:xfrm>
          <a:prstGeom prst="rect">
            <a:avLst/>
          </a:prstGeom>
          <a:noFill/>
        </p:spPr>
        <p:txBody>
          <a:bodyPr wrap="square" anchor="ctr" lIns="0" rIns="0" tIns="0" bIns="0">
            <a:spAutoFit/>
          </a:bodyPr>
          <a:lstStyle/>
          <a:p>
            <a:pPr algn="l">
              <a:lnSpc>
                <a:spcPct val="106000"/>
              </a:lnSpc>
              <a:spcBef>
                <a:spcPts val="0"/>
              </a:spcBef>
              <a:spcAft>
                <a:spcPts val="0"/>
              </a:spcAft>
            </a:pPr>
            <a:r>
              <a:rPr sz="1200" b="0">
                <a:solidFill>
                  <a:srgbClr val="1A1A1A"/>
                </a:solidFill>
                <a:latin typeface="Red Hat Text"/>
              </a:rPr>
              <a:t>FMS Guardrails Orchestrator (GA): regex-detector sidecar blocks/masks PII</a:t>
            </a:r>
          </a:p>
        </p:txBody>
      </p:sp>
      <p:sp>
        <p:nvSpPr>
          <p:cNvPr id="12" name="Rounded Rectangle 11"/>
          <p:cNvSpPr/>
          <p:nvPr/>
        </p:nvSpPr>
        <p:spPr>
          <a:xfrm>
            <a:off x="841248" y="3602736"/>
            <a:ext cx="5715000" cy="530352"/>
          </a:xfrm>
          <a:prstGeom prst="roundRect">
            <a:avLst>
              <a:gd name="adj" fmla="val 6000"/>
            </a:avLst>
          </a:prstGeom>
          <a:solidFill>
            <a:srgbClr val="F5F6F8"/>
          </a:solidFill>
          <a:ln w="12700">
            <a:solidFill>
              <a:srgbClr val="DDE1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3" name="Picture 12" descr="check_steel.png"/>
          <p:cNvPicPr>
            <a:picLocks noChangeAspect="1"/>
          </p:cNvPicPr>
          <p:nvPr/>
        </p:nvPicPr>
        <p:blipFill>
          <a:blip r:embed="rId3"/>
          <a:stretch>
            <a:fillRect/>
          </a:stretch>
        </p:blipFill>
        <p:spPr>
          <a:xfrm>
            <a:off x="987552" y="3749040"/>
            <a:ext cx="237744" cy="237744"/>
          </a:xfrm>
          <a:prstGeom prst="rect">
            <a:avLst/>
          </a:prstGeom>
        </p:spPr>
      </p:pic>
      <p:sp>
        <p:nvSpPr>
          <p:cNvPr id="14" name="TextBox 13"/>
          <p:cNvSpPr txBox="1"/>
          <p:nvPr/>
        </p:nvSpPr>
        <p:spPr>
          <a:xfrm>
            <a:off x="1353312" y="3602736"/>
            <a:ext cx="5029200" cy="530352"/>
          </a:xfrm>
          <a:prstGeom prst="rect">
            <a:avLst/>
          </a:prstGeom>
          <a:noFill/>
        </p:spPr>
        <p:txBody>
          <a:bodyPr wrap="square" anchor="ctr" lIns="0" rIns="0" tIns="0" bIns="0">
            <a:spAutoFit/>
          </a:bodyPr>
          <a:lstStyle/>
          <a:p>
            <a:pPr algn="l">
              <a:lnSpc>
                <a:spcPct val="106000"/>
              </a:lnSpc>
              <a:spcBef>
                <a:spcPts val="0"/>
              </a:spcBef>
              <a:spcAft>
                <a:spcPts val="0"/>
              </a:spcAft>
            </a:pPr>
            <a:r>
              <a:rPr sz="1200" b="0">
                <a:solidFill>
                  <a:srgbClr val="1A1A1A"/>
                </a:solidFill>
                <a:latin typeface="Red Hat Text"/>
              </a:rPr>
              <a:t>The graded path is the SIMPLEST thing that teaches — the rest is additive</a:t>
            </a:r>
          </a:p>
        </p:txBody>
      </p:sp>
      <p:sp>
        <p:nvSpPr>
          <p:cNvPr id="15" name="Rounded Rectangle 14"/>
          <p:cNvSpPr/>
          <p:nvPr/>
        </p:nvSpPr>
        <p:spPr>
          <a:xfrm>
            <a:off x="841248" y="4206240"/>
            <a:ext cx="5715000" cy="530352"/>
          </a:xfrm>
          <a:prstGeom prst="roundRect">
            <a:avLst>
              <a:gd name="adj" fmla="val 6000"/>
            </a:avLst>
          </a:prstGeom>
          <a:solidFill>
            <a:srgbClr val="F5F6F8"/>
          </a:solidFill>
          <a:ln w="12700">
            <a:solidFill>
              <a:srgbClr val="DDE1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6" name="Picture 15" descr="check_steel.png"/>
          <p:cNvPicPr>
            <a:picLocks noChangeAspect="1"/>
          </p:cNvPicPr>
          <p:nvPr/>
        </p:nvPicPr>
        <p:blipFill>
          <a:blip r:embed="rId3"/>
          <a:stretch>
            <a:fillRect/>
          </a:stretch>
        </p:blipFill>
        <p:spPr>
          <a:xfrm>
            <a:off x="987552" y="4352544"/>
            <a:ext cx="237744" cy="237744"/>
          </a:xfrm>
          <a:prstGeom prst="rect">
            <a:avLst/>
          </a:prstGeom>
        </p:spPr>
      </p:pic>
      <p:sp>
        <p:nvSpPr>
          <p:cNvPr id="17" name="TextBox 16"/>
          <p:cNvSpPr txBox="1"/>
          <p:nvPr/>
        </p:nvSpPr>
        <p:spPr>
          <a:xfrm>
            <a:off x="1353312" y="4206240"/>
            <a:ext cx="5029200" cy="530352"/>
          </a:xfrm>
          <a:prstGeom prst="rect">
            <a:avLst/>
          </a:prstGeom>
          <a:noFill/>
        </p:spPr>
        <p:txBody>
          <a:bodyPr wrap="square" anchor="ctr" lIns="0" rIns="0" tIns="0" bIns="0">
            <a:spAutoFit/>
          </a:bodyPr>
          <a:lstStyle/>
          <a:p>
            <a:pPr algn="l">
              <a:lnSpc>
                <a:spcPct val="106000"/>
              </a:lnSpc>
              <a:spcBef>
                <a:spcPts val="0"/>
              </a:spcBef>
              <a:spcAft>
                <a:spcPts val="0"/>
              </a:spcAft>
            </a:pPr>
            <a:r>
              <a:rPr sz="1200" b="0">
                <a:solidFill>
                  <a:srgbClr val="1A1A1A"/>
                </a:solidFill>
                <a:latin typeface="Red Hat Text"/>
              </a:rPr>
              <a:t>[ADD-ON] layers: in-cluster serving · Llama Stack runtime · vector DB · guardrails</a:t>
            </a:r>
          </a:p>
        </p:txBody>
      </p:sp>
      <p:sp>
        <p:nvSpPr>
          <p:cNvPr id="18" name="Rounded Rectangle 17"/>
          <p:cNvSpPr/>
          <p:nvPr/>
        </p:nvSpPr>
        <p:spPr>
          <a:xfrm>
            <a:off x="841248" y="4809744"/>
            <a:ext cx="5715000" cy="530352"/>
          </a:xfrm>
          <a:prstGeom prst="roundRect">
            <a:avLst>
              <a:gd name="adj" fmla="val 6000"/>
            </a:avLst>
          </a:prstGeom>
          <a:solidFill>
            <a:srgbClr val="F5F6F8"/>
          </a:solidFill>
          <a:ln w="12700">
            <a:solidFill>
              <a:srgbClr val="DDE1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9" name="Picture 18" descr="check_steel.png"/>
          <p:cNvPicPr>
            <a:picLocks noChangeAspect="1"/>
          </p:cNvPicPr>
          <p:nvPr/>
        </p:nvPicPr>
        <p:blipFill>
          <a:blip r:embed="rId3"/>
          <a:stretch>
            <a:fillRect/>
          </a:stretch>
        </p:blipFill>
        <p:spPr>
          <a:xfrm>
            <a:off x="987552" y="4956048"/>
            <a:ext cx="237744" cy="237744"/>
          </a:xfrm>
          <a:prstGeom prst="rect">
            <a:avLst/>
          </a:prstGeom>
        </p:spPr>
      </p:pic>
      <p:sp>
        <p:nvSpPr>
          <p:cNvPr id="20" name="TextBox 19"/>
          <p:cNvSpPr txBox="1"/>
          <p:nvPr/>
        </p:nvSpPr>
        <p:spPr>
          <a:xfrm>
            <a:off x="1353312" y="4809744"/>
            <a:ext cx="5029200" cy="530352"/>
          </a:xfrm>
          <a:prstGeom prst="rect">
            <a:avLst/>
          </a:prstGeom>
          <a:noFill/>
        </p:spPr>
        <p:txBody>
          <a:bodyPr wrap="square" anchor="ctr" lIns="0" rIns="0" tIns="0" bIns="0">
            <a:spAutoFit/>
          </a:bodyPr>
          <a:lstStyle/>
          <a:p>
            <a:pPr algn="l">
              <a:lnSpc>
                <a:spcPct val="106000"/>
              </a:lnSpc>
              <a:spcBef>
                <a:spcPts val="0"/>
              </a:spcBef>
              <a:spcAft>
                <a:spcPts val="0"/>
              </a:spcAft>
            </a:pPr>
            <a:r>
              <a:rPr sz="1200" b="0">
                <a:solidFill>
                  <a:srgbClr val="1A1A1A"/>
                </a:solidFill>
                <a:latin typeface="Red Hat Text"/>
              </a:rPr>
              <a:t>Each slots in behind an interface the agent ALREADY uses — adopt when the need is real</a:t>
            </a:r>
          </a:p>
        </p:txBody>
      </p:sp>
      <p:sp>
        <p:nvSpPr>
          <p:cNvPr id="21" name="Rounded Rectangle 20"/>
          <p:cNvSpPr/>
          <p:nvPr/>
        </p:nvSpPr>
        <p:spPr>
          <a:xfrm>
            <a:off x="6812280" y="2395728"/>
            <a:ext cx="4538167" cy="2944368"/>
          </a:xfrm>
          <a:prstGeom prst="roundRect">
            <a:avLst>
              <a:gd name="adj" fmla="val 4000"/>
            </a:avLst>
          </a:prstGeom>
          <a:solidFill>
            <a:srgbClr val="FFFFFF"/>
          </a:solidFill>
          <a:ln w="15240">
            <a:solidFill>
              <a:srgbClr val="DDE1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ounded Rectangle 21"/>
          <p:cNvSpPr/>
          <p:nvPr/>
        </p:nvSpPr>
        <p:spPr>
          <a:xfrm>
            <a:off x="7013448" y="2596896"/>
            <a:ext cx="1298448" cy="310896"/>
          </a:xfrm>
          <a:prstGeom prst="roundRect">
            <a:avLst>
              <a:gd name="adj" fmla="val 50000"/>
            </a:avLst>
          </a:prstGeom>
          <a:solidFill>
            <a:srgbClr val="FCEC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7013448" y="2596896"/>
            <a:ext cx="1298448" cy="310896"/>
          </a:xfrm>
          <a:prstGeom prst="rect">
            <a:avLst/>
          </a:prstGeom>
          <a:noFill/>
        </p:spPr>
        <p:txBody>
          <a:bodyPr wrap="none" anchor="ctr" lIns="0" rIns="0" tIns="0" bIns="0">
            <a:spAutoFit/>
          </a:bodyPr>
          <a:lstStyle/>
          <a:p>
            <a:pPr algn="ctr">
              <a:lnSpc>
                <a:spcPct val="106000"/>
              </a:lnSpc>
              <a:spcBef>
                <a:spcPts val="0"/>
              </a:spcBef>
              <a:spcAft>
                <a:spcPts val="0"/>
              </a:spcAft>
            </a:pPr>
            <a:r>
              <a:rPr sz="850" b="1">
                <a:solidFill>
                  <a:srgbClr val="B80000"/>
                </a:solidFill>
                <a:latin typeface="Red Hat Display"/>
              </a:rPr>
              <a:t>MEDIA PASS</a:t>
            </a:r>
          </a:p>
        </p:txBody>
      </p:sp>
      <p:pic>
        <p:nvPicPr>
          <p:cNvPr id="24" name="Picture 23" descr="eye_slate.png"/>
          <p:cNvPicPr>
            <a:picLocks noChangeAspect="1"/>
          </p:cNvPicPr>
          <p:nvPr/>
        </p:nvPicPr>
        <p:blipFill>
          <a:blip r:embed="rId4"/>
          <a:stretch>
            <a:fillRect/>
          </a:stretch>
        </p:blipFill>
        <p:spPr>
          <a:xfrm>
            <a:off x="8843619" y="3108960"/>
            <a:ext cx="475488" cy="475488"/>
          </a:xfrm>
          <a:prstGeom prst="rect">
            <a:avLst/>
          </a:prstGeom>
        </p:spPr>
      </p:pic>
      <p:sp>
        <p:nvSpPr>
          <p:cNvPr id="25" name="TextBox 24"/>
          <p:cNvSpPr txBox="1"/>
          <p:nvPr/>
        </p:nvSpPr>
        <p:spPr>
          <a:xfrm>
            <a:off x="7050024" y="3721608"/>
            <a:ext cx="4062679" cy="1481328"/>
          </a:xfrm>
          <a:prstGeom prst="rect">
            <a:avLst/>
          </a:prstGeom>
          <a:noFill/>
        </p:spPr>
        <p:txBody>
          <a:bodyPr wrap="square" anchor="t" lIns="0" rIns="0" tIns="0" bIns="0">
            <a:spAutoFit/>
          </a:bodyPr>
          <a:lstStyle/>
          <a:p>
            <a:pPr algn="l">
              <a:lnSpc>
                <a:spcPct val="120000"/>
              </a:lnSpc>
              <a:spcBef>
                <a:spcPts val="0"/>
              </a:spcBef>
              <a:spcAft>
                <a:spcPts val="0"/>
              </a:spcAft>
            </a:pPr>
            <a:r>
              <a:rPr sz="950" b="0">
                <a:solidFill>
                  <a:srgbClr val="8A9099"/>
                </a:solidFill>
                <a:latin typeface="Red Hat Text"/>
              </a:rPr>
              <a:t>A layered stack diagram (bottom to top): "Model serving (MaaS today · in-cluster serving [ADD-ON])", "Agent runtime (Quarkus LangChain4j today · Llama Stack [ADD-ON])", "Retrieval (keyword today · vector DB [ADD-ON])", "Guardrails [ADD-ON]", "Observability (metrics + tokens today · traces→Tempo [ADD-ON])". The "today" half of each layer is solid; the [ADD-ON] half is a dashed outline labelled "adopt when the need is real."</a:t>
            </a:r>
          </a:p>
        </p:txBody>
      </p:sp>
      <p:cxnSp>
        <p:nvCxnSpPr>
          <p:cNvPr id="26" name="Connector 25"/>
          <p:cNvCxnSpPr/>
          <p:nvPr/>
        </p:nvCxnSpPr>
        <p:spPr>
          <a:xfrm>
            <a:off x="841248" y="6437376"/>
            <a:ext cx="10509199" cy="0"/>
          </a:xfrm>
          <a:prstGeom prst="bentConnector3">
            <a:avLst/>
          </a:prstGeom>
          <a:ln w="12700">
            <a:solidFill>
              <a:srgbClr val="DDE1E6"/>
            </a:solidFill>
          </a:ln>
          <a:effectLst/>
        </p:spPr>
        <p:style>
          <a:lnRef idx="2">
            <a:schemeClr val="accent1"/>
          </a:lnRef>
          <a:fillRef idx="0">
            <a:schemeClr val="accent1"/>
          </a:fillRef>
          <a:effectRef idx="1">
            <a:schemeClr val="accent1"/>
          </a:effectRef>
          <a:fontRef idx="minor">
            <a:schemeClr val="tx1"/>
          </a:fontRef>
        </p:style>
      </p:cxnSp>
      <p:sp>
        <p:nvSpPr>
          <p:cNvPr id="27" name="TextBox 26"/>
          <p:cNvSpPr txBox="1"/>
          <p:nvPr/>
        </p:nvSpPr>
        <p:spPr>
          <a:xfrm>
            <a:off x="841248" y="6473952"/>
            <a:ext cx="7315200" cy="274320"/>
          </a:xfrm>
          <a:prstGeom prst="rect">
            <a:avLst/>
          </a:prstGeom>
          <a:noFill/>
        </p:spPr>
        <p:txBody>
          <a:bodyPr wrap="square" anchor="t" lIns="0" rIns="0" tIns="0" bIns="0">
            <a:spAutoFit/>
          </a:bodyPr>
          <a:lstStyle/>
          <a:p>
            <a:pPr algn="l">
              <a:lnSpc>
                <a:spcPct val="106000"/>
              </a:lnSpc>
              <a:spcBef>
                <a:spcPts val="0"/>
              </a:spcBef>
              <a:spcAft>
                <a:spcPts val="0"/>
              </a:spcAft>
            </a:pPr>
            <a:r>
              <a:rPr sz="950" b="0">
                <a:solidFill>
                  <a:srgbClr val="8A9099"/>
                </a:solidFill>
                <a:latin typeface="Red Hat Text"/>
              </a:rPr>
              <a:t>CONFIDENTIAL</a:t>
            </a:r>
          </a:p>
        </p:txBody>
      </p:sp>
      <p:sp>
        <p:nvSpPr>
          <p:cNvPr id="28" name="TextBox 27"/>
          <p:cNvSpPr txBox="1"/>
          <p:nvPr/>
        </p:nvSpPr>
        <p:spPr>
          <a:xfrm>
            <a:off x="10801807" y="6473952"/>
            <a:ext cx="548640" cy="274320"/>
          </a:xfrm>
          <a:prstGeom prst="rect">
            <a:avLst/>
          </a:prstGeom>
          <a:noFill/>
        </p:spPr>
        <p:txBody>
          <a:bodyPr wrap="square" anchor="t" lIns="0" rIns="0" tIns="0" bIns="0">
            <a:spAutoFit/>
          </a:bodyPr>
          <a:lstStyle/>
          <a:p>
            <a:pPr algn="r">
              <a:lnSpc>
                <a:spcPct val="106000"/>
              </a:lnSpc>
              <a:spcBef>
                <a:spcPts val="0"/>
              </a:spcBef>
              <a:spcAft>
                <a:spcPts val="0"/>
              </a:spcAft>
            </a:pPr>
            <a:r>
              <a:rPr sz="950" b="0">
                <a:solidFill>
                  <a:srgbClr val="8A9099"/>
                </a:solidFill>
                <a:latin typeface="Red Hat Text"/>
              </a:rPr>
              <a:t>175</a:t>
            </a:r>
          </a:p>
        </p:txBody>
      </p:sp>
    </p:spTree>
  </p:cSld>
  <p:clrMapOvr>
    <a:masterClrMapping/>
  </p:clrMapOvr>
</p:sld>
</file>

<file path=ppt/slides/slide20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redhat_logo.jpg"/>
          <p:cNvPicPr>
            <a:picLocks noChangeAspect="1"/>
          </p:cNvPicPr>
          <p:nvPr/>
        </p:nvPicPr>
        <p:blipFill>
          <a:blip r:embed="rId2"/>
          <a:stretch>
            <a:fillRect/>
          </a:stretch>
        </p:blipFill>
        <p:spPr>
          <a:xfrm>
            <a:off x="10326319" y="475488"/>
            <a:ext cx="1024128" cy="242248"/>
          </a:xfrm>
          <a:prstGeom prst="rect">
            <a:avLst/>
          </a:prstGeom>
        </p:spPr>
      </p:pic>
      <p:sp>
        <p:nvSpPr>
          <p:cNvPr id="3" name="TextBox 2"/>
          <p:cNvSpPr txBox="1"/>
          <p:nvPr/>
        </p:nvSpPr>
        <p:spPr>
          <a:xfrm>
            <a:off x="841248" y="548640"/>
            <a:ext cx="8595360" cy="274320"/>
          </a:xfrm>
          <a:prstGeom prst="rect">
            <a:avLst/>
          </a:prstGeom>
          <a:noFill/>
        </p:spPr>
        <p:txBody>
          <a:bodyPr wrap="square" anchor="t" lIns="0" rIns="0" tIns="0" bIns="0">
            <a:spAutoFit/>
          </a:bodyPr>
          <a:lstStyle/>
          <a:p>
            <a:pPr algn="l">
              <a:lnSpc>
                <a:spcPct val="106000"/>
              </a:lnSpc>
              <a:spcBef>
                <a:spcPts val="0"/>
              </a:spcBef>
              <a:spcAft>
                <a:spcPts val="0"/>
              </a:spcAft>
            </a:pPr>
            <a:r>
              <a:rPr sz="1250" b="1" spc="220">
                <a:solidFill>
                  <a:srgbClr val="EE0000"/>
                </a:solidFill>
                <a:latin typeface="Red Hat Display"/>
              </a:rPr>
              <a:t>M24 · AGENTIC AI ON OPENSHIFT</a:t>
            </a:r>
          </a:p>
        </p:txBody>
      </p:sp>
      <p:sp>
        <p:nvSpPr>
          <p:cNvPr id="4" name="TextBox 3"/>
          <p:cNvSpPr txBox="1"/>
          <p:nvPr/>
        </p:nvSpPr>
        <p:spPr>
          <a:xfrm>
            <a:off x="841248" y="877824"/>
            <a:ext cx="10515600" cy="548640"/>
          </a:xfrm>
          <a:prstGeom prst="rect">
            <a:avLst/>
          </a:prstGeom>
          <a:noFill/>
        </p:spPr>
        <p:txBody>
          <a:bodyPr wrap="none" anchor="t" lIns="0" rIns="0" tIns="0" bIns="0">
            <a:spAutoFit/>
          </a:bodyPr>
          <a:lstStyle/>
          <a:p>
            <a:pPr algn="l">
              <a:lnSpc>
                <a:spcPct val="100000"/>
              </a:lnSpc>
              <a:spcBef>
                <a:spcPts val="0"/>
              </a:spcBef>
              <a:spcAft>
                <a:spcPts val="0"/>
              </a:spcAft>
            </a:pPr>
            <a:r>
              <a:rPr sz="2500" b="1">
                <a:solidFill>
                  <a:srgbClr val="1A1A1A"/>
                </a:solidFill>
                <a:latin typeface="Red Hat Display"/>
              </a:rPr>
              <a:t>AI apps are apps — what you'll do</a:t>
            </a:r>
          </a:p>
        </p:txBody>
      </p:sp>
      <p:cxnSp>
        <p:nvCxnSpPr>
          <p:cNvPr id="5" name="Connector 4"/>
          <p:cNvCxnSpPr/>
          <p:nvPr/>
        </p:nvCxnSpPr>
        <p:spPr>
          <a:xfrm>
            <a:off x="841248" y="1554480"/>
            <a:ext cx="1371600" cy="0"/>
          </a:xfrm>
          <a:prstGeom prst="bentConnector3">
            <a:avLst/>
          </a:prstGeom>
          <a:ln w="31750">
            <a:solidFill>
              <a:srgbClr val="EE0000"/>
            </a:solidFill>
          </a:ln>
          <a:effectLst/>
        </p:spPr>
        <p:style>
          <a:lnRef idx="2">
            <a:schemeClr val="accent1"/>
          </a:lnRef>
          <a:fillRef idx="0">
            <a:schemeClr val="accent1"/>
          </a:fillRef>
          <a:effectRef idx="1">
            <a:schemeClr val="accent1"/>
          </a:effectRef>
          <a:fontRef idx="minor">
            <a:schemeClr val="tx1"/>
          </a:fontRef>
        </p:style>
      </p:cxnSp>
      <p:sp>
        <p:nvSpPr>
          <p:cNvPr id="6" name="Rounded Rectangle 5"/>
          <p:cNvSpPr/>
          <p:nvPr/>
        </p:nvSpPr>
        <p:spPr>
          <a:xfrm>
            <a:off x="841248" y="2395728"/>
            <a:ext cx="5715000" cy="530352"/>
          </a:xfrm>
          <a:prstGeom prst="roundRect">
            <a:avLst>
              <a:gd name="adj" fmla="val 6000"/>
            </a:avLst>
          </a:prstGeom>
          <a:solidFill>
            <a:srgbClr val="F5F6F8"/>
          </a:solidFill>
          <a:ln w="12700">
            <a:solidFill>
              <a:srgbClr val="DDE1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check_steel.png"/>
          <p:cNvPicPr>
            <a:picLocks noChangeAspect="1"/>
          </p:cNvPicPr>
          <p:nvPr/>
        </p:nvPicPr>
        <p:blipFill>
          <a:blip r:embed="rId3"/>
          <a:stretch>
            <a:fillRect/>
          </a:stretch>
        </p:blipFill>
        <p:spPr>
          <a:xfrm>
            <a:off x="987552" y="2542032"/>
            <a:ext cx="237744" cy="237744"/>
          </a:xfrm>
          <a:prstGeom prst="rect">
            <a:avLst/>
          </a:prstGeom>
        </p:spPr>
      </p:pic>
      <p:sp>
        <p:nvSpPr>
          <p:cNvPr id="8" name="TextBox 7"/>
          <p:cNvSpPr txBox="1"/>
          <p:nvPr/>
        </p:nvSpPr>
        <p:spPr>
          <a:xfrm>
            <a:off x="1353312" y="2395728"/>
            <a:ext cx="5029200" cy="530352"/>
          </a:xfrm>
          <a:prstGeom prst="rect">
            <a:avLst/>
          </a:prstGeom>
          <a:noFill/>
        </p:spPr>
        <p:txBody>
          <a:bodyPr wrap="square" anchor="ctr" lIns="0" rIns="0" tIns="0" bIns="0">
            <a:spAutoFit/>
          </a:bodyPr>
          <a:lstStyle/>
          <a:p>
            <a:pPr algn="l">
              <a:lnSpc>
                <a:spcPct val="106000"/>
              </a:lnSpc>
              <a:spcBef>
                <a:spcPts val="0"/>
              </a:spcBef>
              <a:spcAft>
                <a:spcPts val="0"/>
              </a:spcAft>
            </a:pPr>
            <a:r>
              <a:rPr sz="1200" b="0">
                <a:solidFill>
                  <a:srgbClr val="1A1A1A"/>
                </a:solidFill>
                <a:latin typeface="Red Hat Text"/>
              </a:rPr>
              <a:t>Drive the agent: watch it call get_claim / search_policies and GROUND its answers</a:t>
            </a:r>
          </a:p>
        </p:txBody>
      </p:sp>
      <p:sp>
        <p:nvSpPr>
          <p:cNvPr id="9" name="Rounded Rectangle 8"/>
          <p:cNvSpPr/>
          <p:nvPr/>
        </p:nvSpPr>
        <p:spPr>
          <a:xfrm>
            <a:off x="841248" y="2999232"/>
            <a:ext cx="5715000" cy="530352"/>
          </a:xfrm>
          <a:prstGeom prst="roundRect">
            <a:avLst>
              <a:gd name="adj" fmla="val 6000"/>
            </a:avLst>
          </a:prstGeom>
          <a:solidFill>
            <a:srgbClr val="F5F6F8"/>
          </a:solidFill>
          <a:ln w="12700">
            <a:solidFill>
              <a:srgbClr val="DDE1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0" name="Picture 9" descr="check_steel.png"/>
          <p:cNvPicPr>
            <a:picLocks noChangeAspect="1"/>
          </p:cNvPicPr>
          <p:nvPr/>
        </p:nvPicPr>
        <p:blipFill>
          <a:blip r:embed="rId3"/>
          <a:stretch>
            <a:fillRect/>
          </a:stretch>
        </p:blipFill>
        <p:spPr>
          <a:xfrm>
            <a:off x="987552" y="3145536"/>
            <a:ext cx="237744" cy="237744"/>
          </a:xfrm>
          <a:prstGeom prst="rect">
            <a:avLst/>
          </a:prstGeom>
        </p:spPr>
      </p:pic>
      <p:sp>
        <p:nvSpPr>
          <p:cNvPr id="11" name="TextBox 10"/>
          <p:cNvSpPr txBox="1"/>
          <p:nvPr/>
        </p:nvSpPr>
        <p:spPr>
          <a:xfrm>
            <a:off x="1353312" y="2999232"/>
            <a:ext cx="5029200" cy="530352"/>
          </a:xfrm>
          <a:prstGeom prst="rect">
            <a:avLst/>
          </a:prstGeom>
          <a:noFill/>
        </p:spPr>
        <p:txBody>
          <a:bodyPr wrap="square" anchor="ctr" lIns="0" rIns="0" tIns="0" bIns="0">
            <a:spAutoFit/>
          </a:bodyPr>
          <a:lstStyle/>
          <a:p>
            <a:pPr algn="l">
              <a:lnSpc>
                <a:spcPct val="106000"/>
              </a:lnSpc>
              <a:spcBef>
                <a:spcPts val="0"/>
              </a:spcBef>
              <a:spcAft>
                <a:spcPts val="0"/>
              </a:spcAft>
            </a:pPr>
            <a:r>
              <a:rPr sz="1200" b="0">
                <a:solidFill>
                  <a:srgbClr val="1A1A1A"/>
                </a:solidFill>
                <a:latin typeface="Red Hat Text"/>
              </a:rPr>
              <a:t>See the honest edges: an unknown claim answered "not found," an ungrounded text-echo</a:t>
            </a:r>
          </a:p>
        </p:txBody>
      </p:sp>
      <p:sp>
        <p:nvSpPr>
          <p:cNvPr id="12" name="Rounded Rectangle 11"/>
          <p:cNvSpPr/>
          <p:nvPr/>
        </p:nvSpPr>
        <p:spPr>
          <a:xfrm>
            <a:off x="841248" y="3602736"/>
            <a:ext cx="5715000" cy="530352"/>
          </a:xfrm>
          <a:prstGeom prst="roundRect">
            <a:avLst>
              <a:gd name="adj" fmla="val 6000"/>
            </a:avLst>
          </a:prstGeom>
          <a:solidFill>
            <a:srgbClr val="F5F6F8"/>
          </a:solidFill>
          <a:ln w="12700">
            <a:solidFill>
              <a:srgbClr val="DDE1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3" name="Picture 12" descr="check_steel.png"/>
          <p:cNvPicPr>
            <a:picLocks noChangeAspect="1"/>
          </p:cNvPicPr>
          <p:nvPr/>
        </p:nvPicPr>
        <p:blipFill>
          <a:blip r:embed="rId3"/>
          <a:stretch>
            <a:fillRect/>
          </a:stretch>
        </p:blipFill>
        <p:spPr>
          <a:xfrm>
            <a:off x="987552" y="3749040"/>
            <a:ext cx="237744" cy="237744"/>
          </a:xfrm>
          <a:prstGeom prst="rect">
            <a:avLst/>
          </a:prstGeom>
        </p:spPr>
      </p:pic>
      <p:sp>
        <p:nvSpPr>
          <p:cNvPr id="14" name="TextBox 13"/>
          <p:cNvSpPr txBox="1"/>
          <p:nvPr/>
        </p:nvSpPr>
        <p:spPr>
          <a:xfrm>
            <a:off x="1353312" y="3602736"/>
            <a:ext cx="5029200" cy="530352"/>
          </a:xfrm>
          <a:prstGeom prst="rect">
            <a:avLst/>
          </a:prstGeom>
          <a:noFill/>
        </p:spPr>
        <p:txBody>
          <a:bodyPr wrap="square" anchor="ctr" lIns="0" rIns="0" tIns="0" bIns="0">
            <a:spAutoFit/>
          </a:bodyPr>
          <a:lstStyle/>
          <a:p>
            <a:pPr algn="l">
              <a:lnSpc>
                <a:spcPct val="106000"/>
              </a:lnSpc>
              <a:spcBef>
                <a:spcPts val="0"/>
              </a:spcBef>
              <a:spcAft>
                <a:spcPts val="0"/>
              </a:spcAft>
            </a:pPr>
            <a:r>
              <a:rPr sz="1200" b="0">
                <a:solidFill>
                  <a:srgbClr val="1A1A1A"/>
                </a:solidFill>
                <a:latin typeface="Red Hat Text"/>
              </a:rPr>
              <a:t>Observe it: per-answer tokens + tool calls, GenAI Prometheus metrics</a:t>
            </a:r>
          </a:p>
        </p:txBody>
      </p:sp>
      <p:sp>
        <p:nvSpPr>
          <p:cNvPr id="15" name="Rounded Rectangle 14"/>
          <p:cNvSpPr/>
          <p:nvPr/>
        </p:nvSpPr>
        <p:spPr>
          <a:xfrm>
            <a:off x="841248" y="4206240"/>
            <a:ext cx="5715000" cy="530352"/>
          </a:xfrm>
          <a:prstGeom prst="roundRect">
            <a:avLst>
              <a:gd name="adj" fmla="val 6000"/>
            </a:avLst>
          </a:prstGeom>
          <a:solidFill>
            <a:srgbClr val="F5F6F8"/>
          </a:solidFill>
          <a:ln w="12700">
            <a:solidFill>
              <a:srgbClr val="DDE1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6" name="Picture 15" descr="check_steel.png"/>
          <p:cNvPicPr>
            <a:picLocks noChangeAspect="1"/>
          </p:cNvPicPr>
          <p:nvPr/>
        </p:nvPicPr>
        <p:blipFill>
          <a:blip r:embed="rId3"/>
          <a:stretch>
            <a:fillRect/>
          </a:stretch>
        </p:blipFill>
        <p:spPr>
          <a:xfrm>
            <a:off x="987552" y="4352544"/>
            <a:ext cx="237744" cy="237744"/>
          </a:xfrm>
          <a:prstGeom prst="rect">
            <a:avLst/>
          </a:prstGeom>
        </p:spPr>
      </p:pic>
      <p:sp>
        <p:nvSpPr>
          <p:cNvPr id="17" name="TextBox 16"/>
          <p:cNvSpPr txBox="1"/>
          <p:nvPr/>
        </p:nvSpPr>
        <p:spPr>
          <a:xfrm>
            <a:off x="1353312" y="4206240"/>
            <a:ext cx="5029200" cy="530352"/>
          </a:xfrm>
          <a:prstGeom prst="rect">
            <a:avLst/>
          </a:prstGeom>
          <a:noFill/>
        </p:spPr>
        <p:txBody>
          <a:bodyPr wrap="square" anchor="ctr" lIns="0" rIns="0" tIns="0" bIns="0">
            <a:spAutoFit/>
          </a:bodyPr>
          <a:lstStyle/>
          <a:p>
            <a:pPr algn="l">
              <a:lnSpc>
                <a:spcPct val="106000"/>
              </a:lnSpc>
              <a:spcBef>
                <a:spcPts val="0"/>
              </a:spcBef>
              <a:spcAft>
                <a:spcPts val="0"/>
              </a:spcAft>
            </a:pPr>
            <a:r>
              <a:rPr sz="1200" b="0">
                <a:solidFill>
                  <a:srgbClr val="1A1A1A"/>
                </a:solidFill>
                <a:latin typeface="Red Hat Text"/>
              </a:rPr>
              <a:t>Confirm the punchline: a Deployment + Service + edge Route + probes, like any app</a:t>
            </a:r>
          </a:p>
        </p:txBody>
      </p:sp>
      <p:sp>
        <p:nvSpPr>
          <p:cNvPr id="18" name="Rounded Rectangle 17"/>
          <p:cNvSpPr/>
          <p:nvPr/>
        </p:nvSpPr>
        <p:spPr>
          <a:xfrm>
            <a:off x="841248" y="4809744"/>
            <a:ext cx="5715000" cy="530352"/>
          </a:xfrm>
          <a:prstGeom prst="roundRect">
            <a:avLst>
              <a:gd name="adj" fmla="val 6000"/>
            </a:avLst>
          </a:prstGeom>
          <a:solidFill>
            <a:srgbClr val="F5F6F8"/>
          </a:solidFill>
          <a:ln w="12700">
            <a:solidFill>
              <a:srgbClr val="DDE1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9" name="Picture 18" descr="check_steel.png"/>
          <p:cNvPicPr>
            <a:picLocks noChangeAspect="1"/>
          </p:cNvPicPr>
          <p:nvPr/>
        </p:nvPicPr>
        <p:blipFill>
          <a:blip r:embed="rId3"/>
          <a:stretch>
            <a:fillRect/>
          </a:stretch>
        </p:blipFill>
        <p:spPr>
          <a:xfrm>
            <a:off x="987552" y="4956048"/>
            <a:ext cx="237744" cy="237744"/>
          </a:xfrm>
          <a:prstGeom prst="rect">
            <a:avLst/>
          </a:prstGeom>
        </p:spPr>
      </p:pic>
      <p:sp>
        <p:nvSpPr>
          <p:cNvPr id="20" name="TextBox 19"/>
          <p:cNvSpPr txBox="1"/>
          <p:nvPr/>
        </p:nvSpPr>
        <p:spPr>
          <a:xfrm>
            <a:off x="1353312" y="4809744"/>
            <a:ext cx="5029200" cy="530352"/>
          </a:xfrm>
          <a:prstGeom prst="rect">
            <a:avLst/>
          </a:prstGeom>
          <a:noFill/>
        </p:spPr>
        <p:txBody>
          <a:bodyPr wrap="square" anchor="ctr" lIns="0" rIns="0" tIns="0" bIns="0">
            <a:spAutoFit/>
          </a:bodyPr>
          <a:lstStyle/>
          <a:p>
            <a:pPr algn="l">
              <a:lnSpc>
                <a:spcPct val="106000"/>
              </a:lnSpc>
              <a:spcBef>
                <a:spcPts val="0"/>
              </a:spcBef>
              <a:spcAft>
                <a:spcPts val="0"/>
              </a:spcAft>
            </a:pPr>
            <a:r>
              <a:rPr sz="1200" b="0">
                <a:solidFill>
                  <a:srgbClr val="1A1A1A"/>
                </a:solidFill>
                <a:latin typeface="Red Hat Text"/>
              </a:rPr>
              <a:t>When NOT to: plain API beats an agent · don't RAG what fits the prompt · no PII without guardrails</a:t>
            </a:r>
          </a:p>
        </p:txBody>
      </p:sp>
      <p:sp>
        <p:nvSpPr>
          <p:cNvPr id="21" name="Rounded Rectangle 20"/>
          <p:cNvSpPr/>
          <p:nvPr/>
        </p:nvSpPr>
        <p:spPr>
          <a:xfrm>
            <a:off x="6812280" y="2395728"/>
            <a:ext cx="4538167" cy="2944368"/>
          </a:xfrm>
          <a:prstGeom prst="roundRect">
            <a:avLst>
              <a:gd name="adj" fmla="val 4000"/>
            </a:avLst>
          </a:prstGeom>
          <a:solidFill>
            <a:srgbClr val="FFFFFF"/>
          </a:solidFill>
          <a:ln w="15240">
            <a:solidFill>
              <a:srgbClr val="DDE1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ounded Rectangle 21"/>
          <p:cNvSpPr/>
          <p:nvPr/>
        </p:nvSpPr>
        <p:spPr>
          <a:xfrm>
            <a:off x="7013448" y="2596896"/>
            <a:ext cx="1298448" cy="310896"/>
          </a:xfrm>
          <a:prstGeom prst="roundRect">
            <a:avLst>
              <a:gd name="adj" fmla="val 50000"/>
            </a:avLst>
          </a:prstGeom>
          <a:solidFill>
            <a:srgbClr val="FCEC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7013448" y="2596896"/>
            <a:ext cx="1298448" cy="310896"/>
          </a:xfrm>
          <a:prstGeom prst="rect">
            <a:avLst/>
          </a:prstGeom>
          <a:noFill/>
        </p:spPr>
        <p:txBody>
          <a:bodyPr wrap="none" anchor="ctr" lIns="0" rIns="0" tIns="0" bIns="0">
            <a:spAutoFit/>
          </a:bodyPr>
          <a:lstStyle/>
          <a:p>
            <a:pPr algn="ctr">
              <a:lnSpc>
                <a:spcPct val="106000"/>
              </a:lnSpc>
              <a:spcBef>
                <a:spcPts val="0"/>
              </a:spcBef>
              <a:spcAft>
                <a:spcPts val="0"/>
              </a:spcAft>
            </a:pPr>
            <a:r>
              <a:rPr sz="850" b="1">
                <a:solidFill>
                  <a:srgbClr val="B80000"/>
                </a:solidFill>
                <a:latin typeface="Red Hat Display"/>
              </a:rPr>
              <a:t>MEDIA PASS</a:t>
            </a:r>
          </a:p>
        </p:txBody>
      </p:sp>
      <p:pic>
        <p:nvPicPr>
          <p:cNvPr id="24" name="Picture 23" descr="eye_slate.png"/>
          <p:cNvPicPr>
            <a:picLocks noChangeAspect="1"/>
          </p:cNvPicPr>
          <p:nvPr/>
        </p:nvPicPr>
        <p:blipFill>
          <a:blip r:embed="rId4"/>
          <a:stretch>
            <a:fillRect/>
          </a:stretch>
        </p:blipFill>
        <p:spPr>
          <a:xfrm>
            <a:off x="8843619" y="3108960"/>
            <a:ext cx="475488" cy="475488"/>
          </a:xfrm>
          <a:prstGeom prst="rect">
            <a:avLst/>
          </a:prstGeom>
        </p:spPr>
      </p:pic>
      <p:sp>
        <p:nvSpPr>
          <p:cNvPr id="25" name="TextBox 24"/>
          <p:cNvSpPr txBox="1"/>
          <p:nvPr/>
        </p:nvSpPr>
        <p:spPr>
          <a:xfrm>
            <a:off x="7050024" y="3721608"/>
            <a:ext cx="4062679" cy="1481328"/>
          </a:xfrm>
          <a:prstGeom prst="rect">
            <a:avLst/>
          </a:prstGeom>
          <a:noFill/>
        </p:spPr>
        <p:txBody>
          <a:bodyPr wrap="square" anchor="t" lIns="0" rIns="0" tIns="0" bIns="0">
            <a:spAutoFit/>
          </a:bodyPr>
          <a:lstStyle/>
          <a:p>
            <a:pPr algn="l">
              <a:lnSpc>
                <a:spcPct val="120000"/>
              </a:lnSpc>
              <a:spcBef>
                <a:spcPts val="0"/>
              </a:spcBef>
              <a:spcAft>
                <a:spcPts val="0"/>
              </a:spcAft>
            </a:pPr>
            <a:r>
              <a:rPr sz="950" b="0">
                <a:solidFill>
                  <a:srgbClr val="8A9099"/>
                </a:solidFill>
                <a:latin typeface="Red Hat Text"/>
              </a:rPr>
              <a:t>Three-column "what you'll do" band — (1) a terminal showing a /agent/ask response with a highlighted toolCalls array; (2) a Topology view of three pods (parasol-agent, claims-db, policy-docs) all Ready; (3) a small "when NOT to use" checklist with three ticks. Footer ribbon: "AI apps are apps — same probes, same metrics, same golden path."</a:t>
            </a:r>
          </a:p>
        </p:txBody>
      </p:sp>
      <p:cxnSp>
        <p:nvCxnSpPr>
          <p:cNvPr id="26" name="Connector 25"/>
          <p:cNvCxnSpPr/>
          <p:nvPr/>
        </p:nvCxnSpPr>
        <p:spPr>
          <a:xfrm>
            <a:off x="841248" y="6437376"/>
            <a:ext cx="10509199" cy="0"/>
          </a:xfrm>
          <a:prstGeom prst="bentConnector3">
            <a:avLst/>
          </a:prstGeom>
          <a:ln w="12700">
            <a:solidFill>
              <a:srgbClr val="DDE1E6"/>
            </a:solidFill>
          </a:ln>
          <a:effectLst/>
        </p:spPr>
        <p:style>
          <a:lnRef idx="2">
            <a:schemeClr val="accent1"/>
          </a:lnRef>
          <a:fillRef idx="0">
            <a:schemeClr val="accent1"/>
          </a:fillRef>
          <a:effectRef idx="1">
            <a:schemeClr val="accent1"/>
          </a:effectRef>
          <a:fontRef idx="minor">
            <a:schemeClr val="tx1"/>
          </a:fontRef>
        </p:style>
      </p:cxnSp>
      <p:sp>
        <p:nvSpPr>
          <p:cNvPr id="27" name="TextBox 26"/>
          <p:cNvSpPr txBox="1"/>
          <p:nvPr/>
        </p:nvSpPr>
        <p:spPr>
          <a:xfrm>
            <a:off x="841248" y="6473952"/>
            <a:ext cx="7315200" cy="274320"/>
          </a:xfrm>
          <a:prstGeom prst="rect">
            <a:avLst/>
          </a:prstGeom>
          <a:noFill/>
        </p:spPr>
        <p:txBody>
          <a:bodyPr wrap="square" anchor="t" lIns="0" rIns="0" tIns="0" bIns="0">
            <a:spAutoFit/>
          </a:bodyPr>
          <a:lstStyle/>
          <a:p>
            <a:pPr algn="l">
              <a:lnSpc>
                <a:spcPct val="106000"/>
              </a:lnSpc>
              <a:spcBef>
                <a:spcPts val="0"/>
              </a:spcBef>
              <a:spcAft>
                <a:spcPts val="0"/>
              </a:spcAft>
            </a:pPr>
            <a:r>
              <a:rPr sz="950" b="0">
                <a:solidFill>
                  <a:srgbClr val="8A9099"/>
                </a:solidFill>
                <a:latin typeface="Red Hat Text"/>
              </a:rPr>
              <a:t>CONFIDENTIAL</a:t>
            </a:r>
          </a:p>
        </p:txBody>
      </p:sp>
      <p:sp>
        <p:nvSpPr>
          <p:cNvPr id="28" name="TextBox 27"/>
          <p:cNvSpPr txBox="1"/>
          <p:nvPr/>
        </p:nvSpPr>
        <p:spPr>
          <a:xfrm>
            <a:off x="10801807" y="6473952"/>
            <a:ext cx="548640" cy="274320"/>
          </a:xfrm>
          <a:prstGeom prst="rect">
            <a:avLst/>
          </a:prstGeom>
          <a:noFill/>
        </p:spPr>
        <p:txBody>
          <a:bodyPr wrap="square" anchor="t" lIns="0" rIns="0" tIns="0" bIns="0">
            <a:spAutoFit/>
          </a:bodyPr>
          <a:lstStyle/>
          <a:p>
            <a:pPr algn="r">
              <a:lnSpc>
                <a:spcPct val="106000"/>
              </a:lnSpc>
              <a:spcBef>
                <a:spcPts val="0"/>
              </a:spcBef>
              <a:spcAft>
                <a:spcPts val="0"/>
              </a:spcAft>
            </a:pPr>
            <a:r>
              <a:rPr sz="950" b="0">
                <a:solidFill>
                  <a:srgbClr val="8A9099"/>
                </a:solidFill>
                <a:latin typeface="Red Hat Text"/>
              </a:rPr>
              <a:t>176</a:t>
            </a:r>
          </a:p>
        </p:txBody>
      </p:sp>
    </p:spTree>
  </p:cSld>
  <p:clrMapOvr>
    <a:masterClrMapping/>
  </p:clrMapOvr>
</p:sld>
</file>

<file path=ppt/slides/slide20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redhat_logo.jpg"/>
          <p:cNvPicPr>
            <a:picLocks noChangeAspect="1"/>
          </p:cNvPicPr>
          <p:nvPr/>
        </p:nvPicPr>
        <p:blipFill>
          <a:blip r:embed="rId2"/>
          <a:stretch>
            <a:fillRect/>
          </a:stretch>
        </p:blipFill>
        <p:spPr>
          <a:xfrm>
            <a:off x="841248" y="731520"/>
            <a:ext cx="1554480" cy="367699"/>
          </a:xfrm>
          <a:prstGeom prst="rect">
            <a:avLst/>
          </a:prstGeom>
        </p:spPr>
      </p:pic>
      <p:sp>
        <p:nvSpPr>
          <p:cNvPr id="3" name="TextBox 2"/>
          <p:cNvSpPr txBox="1"/>
          <p:nvPr/>
        </p:nvSpPr>
        <p:spPr>
          <a:xfrm>
            <a:off x="841248" y="2514600"/>
            <a:ext cx="9601200" cy="274320"/>
          </a:xfrm>
          <a:prstGeom prst="rect">
            <a:avLst/>
          </a:prstGeom>
          <a:noFill/>
        </p:spPr>
        <p:txBody>
          <a:bodyPr wrap="square" anchor="t" lIns="0" rIns="0" tIns="0" bIns="0">
            <a:spAutoFit/>
          </a:bodyPr>
          <a:lstStyle/>
          <a:p>
            <a:pPr algn="l">
              <a:lnSpc>
                <a:spcPct val="106000"/>
              </a:lnSpc>
              <a:spcBef>
                <a:spcPts val="0"/>
              </a:spcBef>
              <a:spcAft>
                <a:spcPts val="0"/>
              </a:spcAft>
            </a:pPr>
            <a:r>
              <a:rPr sz="1250" b="1" spc="180">
                <a:solidFill>
                  <a:srgbClr val="5B3E8E"/>
                </a:solidFill>
                <a:latin typeface="Red Hat Display"/>
              </a:rPr>
              <a:t>D · ADVANCED ELECTIVES</a:t>
            </a:r>
          </a:p>
        </p:txBody>
      </p:sp>
      <p:sp>
        <p:nvSpPr>
          <p:cNvPr id="4" name="TextBox 3"/>
          <p:cNvSpPr txBox="1"/>
          <p:nvPr/>
        </p:nvSpPr>
        <p:spPr>
          <a:xfrm>
            <a:off x="841248" y="2880360"/>
            <a:ext cx="2103120" cy="1188720"/>
          </a:xfrm>
          <a:prstGeom prst="rect">
            <a:avLst/>
          </a:prstGeom>
          <a:noFill/>
        </p:spPr>
        <p:txBody>
          <a:bodyPr wrap="none" anchor="t" lIns="0" rIns="0" tIns="0" bIns="0">
            <a:spAutoFit/>
          </a:bodyPr>
          <a:lstStyle/>
          <a:p>
            <a:pPr algn="l">
              <a:lnSpc>
                <a:spcPct val="90000"/>
              </a:lnSpc>
              <a:spcBef>
                <a:spcPts val="0"/>
              </a:spcBef>
              <a:spcAft>
                <a:spcPts val="0"/>
              </a:spcAft>
            </a:pPr>
            <a:r>
              <a:rPr sz="5200" b="1">
                <a:solidFill>
                  <a:srgbClr val="B80000"/>
                </a:solidFill>
                <a:latin typeface="Red Hat Display"/>
              </a:rPr>
              <a:t>M25</a:t>
            </a:r>
          </a:p>
        </p:txBody>
      </p:sp>
      <p:sp>
        <p:nvSpPr>
          <p:cNvPr id="5" name="TextBox 4"/>
          <p:cNvSpPr txBox="1"/>
          <p:nvPr/>
        </p:nvSpPr>
        <p:spPr>
          <a:xfrm>
            <a:off x="3127248" y="2971800"/>
            <a:ext cx="8412480" cy="1188720"/>
          </a:xfrm>
          <a:prstGeom prst="rect">
            <a:avLst/>
          </a:prstGeom>
          <a:noFill/>
        </p:spPr>
        <p:txBody>
          <a:bodyPr wrap="square" anchor="t" lIns="0" rIns="0" tIns="0" bIns="0">
            <a:spAutoFit/>
          </a:bodyPr>
          <a:lstStyle/>
          <a:p>
            <a:pPr algn="l">
              <a:lnSpc>
                <a:spcPct val="102000"/>
              </a:lnSpc>
              <a:spcBef>
                <a:spcPts val="0"/>
              </a:spcBef>
              <a:spcAft>
                <a:spcPts val="0"/>
              </a:spcAft>
            </a:pPr>
            <a:r>
              <a:rPr sz="3000" b="1">
                <a:solidFill>
                  <a:srgbClr val="1A1A1A"/>
                </a:solidFill>
                <a:latin typeface="Red Hat Display"/>
              </a:rPr>
              <a:t>AI-Assisted Development on OpenShift</a:t>
            </a:r>
          </a:p>
        </p:txBody>
      </p:sp>
      <p:cxnSp>
        <p:nvCxnSpPr>
          <p:cNvPr id="6" name="Connector 5"/>
          <p:cNvCxnSpPr/>
          <p:nvPr/>
        </p:nvCxnSpPr>
        <p:spPr>
          <a:xfrm>
            <a:off x="841248" y="4443984"/>
            <a:ext cx="1463040" cy="0"/>
          </a:xfrm>
          <a:prstGeom prst="bentConnector3">
            <a:avLst/>
          </a:prstGeom>
          <a:ln w="38100">
            <a:solidFill>
              <a:srgbClr val="EE0000"/>
            </a:solidFill>
          </a:ln>
          <a:effectLst/>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841248" y="4617720"/>
            <a:ext cx="9692640" cy="457200"/>
          </a:xfrm>
          <a:prstGeom prst="rect">
            <a:avLst/>
          </a:prstGeom>
          <a:noFill/>
        </p:spPr>
        <p:txBody>
          <a:bodyPr wrap="square" anchor="t" lIns="0" rIns="0" tIns="0" bIns="0">
            <a:spAutoFit/>
          </a:bodyPr>
          <a:lstStyle/>
          <a:p>
            <a:pPr algn="l">
              <a:lnSpc>
                <a:spcPct val="106000"/>
              </a:lnSpc>
              <a:spcBef>
                <a:spcPts val="0"/>
              </a:spcBef>
              <a:spcAft>
                <a:spcPts val="0"/>
              </a:spcAft>
            </a:pPr>
            <a:r>
              <a:rPr sz="1500" b="0">
                <a:solidFill>
                  <a:srgbClr val="555960"/>
                </a:solidFill>
                <a:latin typeface="Red Hat Text"/>
              </a:rPr>
              <a:t>Vibe Coding, Safely</a:t>
            </a:r>
          </a:p>
        </p:txBody>
      </p:sp>
    </p:spTree>
  </p:cSld>
  <p:clrMapOvr>
    <a:masterClrMapping/>
  </p:clrMapOvr>
</p:sld>
</file>

<file path=ppt/slides/slide20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redhat_logo.jpg"/>
          <p:cNvPicPr>
            <a:picLocks noChangeAspect="1"/>
          </p:cNvPicPr>
          <p:nvPr/>
        </p:nvPicPr>
        <p:blipFill>
          <a:blip r:embed="rId2"/>
          <a:stretch>
            <a:fillRect/>
          </a:stretch>
        </p:blipFill>
        <p:spPr>
          <a:xfrm>
            <a:off x="10326319" y="475488"/>
            <a:ext cx="1024128" cy="242248"/>
          </a:xfrm>
          <a:prstGeom prst="rect">
            <a:avLst/>
          </a:prstGeom>
        </p:spPr>
      </p:pic>
      <p:sp>
        <p:nvSpPr>
          <p:cNvPr id="3" name="TextBox 2"/>
          <p:cNvSpPr txBox="1"/>
          <p:nvPr/>
        </p:nvSpPr>
        <p:spPr>
          <a:xfrm>
            <a:off x="841248" y="548640"/>
            <a:ext cx="8595360" cy="274320"/>
          </a:xfrm>
          <a:prstGeom prst="rect">
            <a:avLst/>
          </a:prstGeom>
          <a:noFill/>
        </p:spPr>
        <p:txBody>
          <a:bodyPr wrap="square" anchor="t" lIns="0" rIns="0" tIns="0" bIns="0">
            <a:spAutoFit/>
          </a:bodyPr>
          <a:lstStyle/>
          <a:p>
            <a:pPr algn="l">
              <a:lnSpc>
                <a:spcPct val="106000"/>
              </a:lnSpc>
              <a:spcBef>
                <a:spcPts val="0"/>
              </a:spcBef>
              <a:spcAft>
                <a:spcPts val="0"/>
              </a:spcAft>
            </a:pPr>
            <a:r>
              <a:rPr sz="1250" b="1" spc="220">
                <a:solidFill>
                  <a:srgbClr val="EE0000"/>
                </a:solidFill>
                <a:latin typeface="Red Hat Display"/>
              </a:rPr>
              <a:t>M25 · AI-ASSISTED DEVELOPMENT ON OPENSHIFT</a:t>
            </a:r>
          </a:p>
        </p:txBody>
      </p:sp>
      <p:sp>
        <p:nvSpPr>
          <p:cNvPr id="4" name="TextBox 3"/>
          <p:cNvSpPr txBox="1"/>
          <p:nvPr/>
        </p:nvSpPr>
        <p:spPr>
          <a:xfrm>
            <a:off x="841248" y="877824"/>
            <a:ext cx="10515600" cy="548640"/>
          </a:xfrm>
          <a:prstGeom prst="rect">
            <a:avLst/>
          </a:prstGeom>
          <a:noFill/>
        </p:spPr>
        <p:txBody>
          <a:bodyPr wrap="none" anchor="t" lIns="0" rIns="0" tIns="0" bIns="0">
            <a:spAutoFit/>
          </a:bodyPr>
          <a:lstStyle/>
          <a:p>
            <a:pPr algn="l">
              <a:lnSpc>
                <a:spcPct val="100000"/>
              </a:lnSpc>
              <a:spcBef>
                <a:spcPts val="0"/>
              </a:spcBef>
              <a:spcAft>
                <a:spcPts val="0"/>
              </a:spcAft>
            </a:pPr>
            <a:r>
              <a:rPr sz="2500" b="1">
                <a:solidFill>
                  <a:srgbClr val="1A1A1A"/>
                </a:solidFill>
                <a:latin typeface="Red Hat Display"/>
              </a:rPr>
              <a:t>It runs your cluster now</a:t>
            </a:r>
          </a:p>
        </p:txBody>
      </p:sp>
      <p:cxnSp>
        <p:nvCxnSpPr>
          <p:cNvPr id="5" name="Connector 4"/>
          <p:cNvCxnSpPr/>
          <p:nvPr/>
        </p:nvCxnSpPr>
        <p:spPr>
          <a:xfrm>
            <a:off x="841248" y="1554480"/>
            <a:ext cx="1371600" cy="0"/>
          </a:xfrm>
          <a:prstGeom prst="bentConnector3">
            <a:avLst/>
          </a:prstGeom>
          <a:ln w="31750">
            <a:solidFill>
              <a:srgbClr val="EE0000"/>
            </a:solidFill>
          </a:ln>
          <a:effectLst/>
        </p:spPr>
        <p:style>
          <a:lnRef idx="2">
            <a:schemeClr val="accent1"/>
          </a:lnRef>
          <a:fillRef idx="0">
            <a:schemeClr val="accent1"/>
          </a:fillRef>
          <a:effectRef idx="1">
            <a:schemeClr val="accent1"/>
          </a:effectRef>
          <a:fontRef idx="minor">
            <a:schemeClr val="tx1"/>
          </a:fontRef>
        </p:style>
      </p:cxnSp>
      <p:sp>
        <p:nvSpPr>
          <p:cNvPr id="6" name="Rounded Rectangle 5"/>
          <p:cNvSpPr/>
          <p:nvPr/>
        </p:nvSpPr>
        <p:spPr>
          <a:xfrm>
            <a:off x="841248" y="2395728"/>
            <a:ext cx="5715000" cy="530352"/>
          </a:xfrm>
          <a:prstGeom prst="roundRect">
            <a:avLst>
              <a:gd name="adj" fmla="val 6000"/>
            </a:avLst>
          </a:prstGeom>
          <a:solidFill>
            <a:srgbClr val="F5F6F8"/>
          </a:solidFill>
          <a:ln w="12700">
            <a:solidFill>
              <a:srgbClr val="DDE1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check_steel.png"/>
          <p:cNvPicPr>
            <a:picLocks noChangeAspect="1"/>
          </p:cNvPicPr>
          <p:nvPr/>
        </p:nvPicPr>
        <p:blipFill>
          <a:blip r:embed="rId3"/>
          <a:stretch>
            <a:fillRect/>
          </a:stretch>
        </p:blipFill>
        <p:spPr>
          <a:xfrm>
            <a:off x="987552" y="2542032"/>
            <a:ext cx="237744" cy="237744"/>
          </a:xfrm>
          <a:prstGeom prst="rect">
            <a:avLst/>
          </a:prstGeom>
        </p:spPr>
      </p:pic>
      <p:sp>
        <p:nvSpPr>
          <p:cNvPr id="8" name="TextBox 7"/>
          <p:cNvSpPr txBox="1"/>
          <p:nvPr/>
        </p:nvSpPr>
        <p:spPr>
          <a:xfrm>
            <a:off x="1353312" y="2395728"/>
            <a:ext cx="5029200" cy="530352"/>
          </a:xfrm>
          <a:prstGeom prst="rect">
            <a:avLst/>
          </a:prstGeom>
          <a:noFill/>
        </p:spPr>
        <p:txBody>
          <a:bodyPr wrap="square" anchor="ctr" lIns="0" rIns="0" tIns="0" bIns="0">
            <a:spAutoFit/>
          </a:bodyPr>
          <a:lstStyle/>
          <a:p>
            <a:pPr algn="l">
              <a:lnSpc>
                <a:spcPct val="106000"/>
              </a:lnSpc>
              <a:spcBef>
                <a:spcPts val="0"/>
              </a:spcBef>
              <a:spcAft>
                <a:spcPts val="0"/>
              </a:spcAft>
            </a:pPr>
            <a:r>
              <a:rPr sz="1200" b="0">
                <a:solidFill>
                  <a:srgbClr val="1A1A1A"/>
                </a:solidFill>
                <a:latin typeface="Red Hat Text"/>
              </a:rPr>
              <a:t>An AI assistant that can read and change your cluster is the most useful — and most dangerous — tool this week</a:t>
            </a:r>
          </a:p>
        </p:txBody>
      </p:sp>
      <p:sp>
        <p:nvSpPr>
          <p:cNvPr id="9" name="Rounded Rectangle 8"/>
          <p:cNvSpPr/>
          <p:nvPr/>
        </p:nvSpPr>
        <p:spPr>
          <a:xfrm>
            <a:off x="841248" y="2999232"/>
            <a:ext cx="5715000" cy="530352"/>
          </a:xfrm>
          <a:prstGeom prst="roundRect">
            <a:avLst>
              <a:gd name="adj" fmla="val 6000"/>
            </a:avLst>
          </a:prstGeom>
          <a:solidFill>
            <a:srgbClr val="F5F6F8"/>
          </a:solidFill>
          <a:ln w="12700">
            <a:solidFill>
              <a:srgbClr val="DDE1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0" name="Picture 9" descr="check_steel.png"/>
          <p:cNvPicPr>
            <a:picLocks noChangeAspect="1"/>
          </p:cNvPicPr>
          <p:nvPr/>
        </p:nvPicPr>
        <p:blipFill>
          <a:blip r:embed="rId3"/>
          <a:stretch>
            <a:fillRect/>
          </a:stretch>
        </p:blipFill>
        <p:spPr>
          <a:xfrm>
            <a:off x="987552" y="3145536"/>
            <a:ext cx="237744" cy="237744"/>
          </a:xfrm>
          <a:prstGeom prst="rect">
            <a:avLst/>
          </a:prstGeom>
        </p:spPr>
      </p:pic>
      <p:sp>
        <p:nvSpPr>
          <p:cNvPr id="11" name="TextBox 10"/>
          <p:cNvSpPr txBox="1"/>
          <p:nvPr/>
        </p:nvSpPr>
        <p:spPr>
          <a:xfrm>
            <a:off x="1353312" y="2999232"/>
            <a:ext cx="5029200" cy="530352"/>
          </a:xfrm>
          <a:prstGeom prst="rect">
            <a:avLst/>
          </a:prstGeom>
          <a:noFill/>
        </p:spPr>
        <p:txBody>
          <a:bodyPr wrap="square" anchor="ctr" lIns="0" rIns="0" tIns="0" bIns="0">
            <a:spAutoFit/>
          </a:bodyPr>
          <a:lstStyle/>
          <a:p>
            <a:pPr algn="l">
              <a:lnSpc>
                <a:spcPct val="106000"/>
              </a:lnSpc>
              <a:spcBef>
                <a:spcPts val="0"/>
              </a:spcBef>
              <a:spcAft>
                <a:spcPts val="0"/>
              </a:spcAft>
            </a:pPr>
            <a:r>
              <a:rPr sz="1200" b="0">
                <a:solidFill>
                  <a:srgbClr val="1A1A1A"/>
                </a:solidFill>
                <a:latin typeface="Red Hat Text"/>
              </a:rPr>
              <a:t>Connect it and it stops hallucinating: it reads live pods, real events, actual logs</a:t>
            </a:r>
          </a:p>
        </p:txBody>
      </p:sp>
      <p:sp>
        <p:nvSpPr>
          <p:cNvPr id="12" name="Rounded Rectangle 11"/>
          <p:cNvSpPr/>
          <p:nvPr/>
        </p:nvSpPr>
        <p:spPr>
          <a:xfrm>
            <a:off x="841248" y="3602736"/>
            <a:ext cx="5715000" cy="530352"/>
          </a:xfrm>
          <a:prstGeom prst="roundRect">
            <a:avLst>
              <a:gd name="adj" fmla="val 6000"/>
            </a:avLst>
          </a:prstGeom>
          <a:solidFill>
            <a:srgbClr val="F5F6F8"/>
          </a:solidFill>
          <a:ln w="12700">
            <a:solidFill>
              <a:srgbClr val="DDE1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3" name="Picture 12" descr="check_steel.png"/>
          <p:cNvPicPr>
            <a:picLocks noChangeAspect="1"/>
          </p:cNvPicPr>
          <p:nvPr/>
        </p:nvPicPr>
        <p:blipFill>
          <a:blip r:embed="rId3"/>
          <a:stretch>
            <a:fillRect/>
          </a:stretch>
        </p:blipFill>
        <p:spPr>
          <a:xfrm>
            <a:off x="987552" y="3749040"/>
            <a:ext cx="237744" cy="237744"/>
          </a:xfrm>
          <a:prstGeom prst="rect">
            <a:avLst/>
          </a:prstGeom>
        </p:spPr>
      </p:pic>
      <p:sp>
        <p:nvSpPr>
          <p:cNvPr id="14" name="TextBox 13"/>
          <p:cNvSpPr txBox="1"/>
          <p:nvPr/>
        </p:nvSpPr>
        <p:spPr>
          <a:xfrm>
            <a:off x="1353312" y="3602736"/>
            <a:ext cx="5029200" cy="530352"/>
          </a:xfrm>
          <a:prstGeom prst="rect">
            <a:avLst/>
          </a:prstGeom>
          <a:noFill/>
        </p:spPr>
        <p:txBody>
          <a:bodyPr wrap="square" anchor="ctr" lIns="0" rIns="0" tIns="0" bIns="0">
            <a:spAutoFit/>
          </a:bodyPr>
          <a:lstStyle/>
          <a:p>
            <a:pPr algn="l">
              <a:lnSpc>
                <a:spcPct val="106000"/>
              </a:lnSpc>
              <a:spcBef>
                <a:spcPts val="0"/>
              </a:spcBef>
              <a:spcAft>
                <a:spcPts val="0"/>
              </a:spcAft>
            </a:pPr>
            <a:r>
              <a:rPr sz="1200" b="0">
                <a:solidFill>
                  <a:srgbClr val="1A1A1A"/>
                </a:solidFill>
                <a:latin typeface="Red Hat Text"/>
              </a:rPr>
              <a:t>The moment it can call the cluster, it becomes an actor with an identity</a:t>
            </a:r>
          </a:p>
        </p:txBody>
      </p:sp>
      <p:sp>
        <p:nvSpPr>
          <p:cNvPr id="15" name="Rounded Rectangle 14"/>
          <p:cNvSpPr/>
          <p:nvPr/>
        </p:nvSpPr>
        <p:spPr>
          <a:xfrm>
            <a:off x="841248" y="4206240"/>
            <a:ext cx="5715000" cy="530352"/>
          </a:xfrm>
          <a:prstGeom prst="roundRect">
            <a:avLst>
              <a:gd name="adj" fmla="val 6000"/>
            </a:avLst>
          </a:prstGeom>
          <a:solidFill>
            <a:srgbClr val="F5F6F8"/>
          </a:solidFill>
          <a:ln w="12700">
            <a:solidFill>
              <a:srgbClr val="DDE1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6" name="Picture 15" descr="check_steel.png"/>
          <p:cNvPicPr>
            <a:picLocks noChangeAspect="1"/>
          </p:cNvPicPr>
          <p:nvPr/>
        </p:nvPicPr>
        <p:blipFill>
          <a:blip r:embed="rId3"/>
          <a:stretch>
            <a:fillRect/>
          </a:stretch>
        </p:blipFill>
        <p:spPr>
          <a:xfrm>
            <a:off x="987552" y="4352544"/>
            <a:ext cx="237744" cy="237744"/>
          </a:xfrm>
          <a:prstGeom prst="rect">
            <a:avLst/>
          </a:prstGeom>
        </p:spPr>
      </p:pic>
      <p:sp>
        <p:nvSpPr>
          <p:cNvPr id="17" name="TextBox 16"/>
          <p:cNvSpPr txBox="1"/>
          <p:nvPr/>
        </p:nvSpPr>
        <p:spPr>
          <a:xfrm>
            <a:off x="1353312" y="4206240"/>
            <a:ext cx="5029200" cy="530352"/>
          </a:xfrm>
          <a:prstGeom prst="rect">
            <a:avLst/>
          </a:prstGeom>
          <a:noFill/>
        </p:spPr>
        <p:txBody>
          <a:bodyPr wrap="square" anchor="ctr" lIns="0" rIns="0" tIns="0" bIns="0">
            <a:spAutoFit/>
          </a:bodyPr>
          <a:lstStyle/>
          <a:p>
            <a:pPr algn="l">
              <a:lnSpc>
                <a:spcPct val="106000"/>
              </a:lnSpc>
              <a:spcBef>
                <a:spcPts val="0"/>
              </a:spcBef>
              <a:spcAft>
                <a:spcPts val="0"/>
              </a:spcAft>
            </a:pPr>
            <a:r>
              <a:rPr sz="1200" b="0">
                <a:solidFill>
                  <a:srgbClr val="1A1A1A"/>
                </a:solidFill>
                <a:latin typeface="Red Hat Text"/>
              </a:rPr>
              <a:t>The question is never "do I trust the model" — it's "what can its identity do"</a:t>
            </a:r>
          </a:p>
        </p:txBody>
      </p:sp>
      <p:sp>
        <p:nvSpPr>
          <p:cNvPr id="18" name="Rounded Rectangle 17"/>
          <p:cNvSpPr/>
          <p:nvPr/>
        </p:nvSpPr>
        <p:spPr>
          <a:xfrm>
            <a:off x="841248" y="4809744"/>
            <a:ext cx="5715000" cy="530352"/>
          </a:xfrm>
          <a:prstGeom prst="roundRect">
            <a:avLst>
              <a:gd name="adj" fmla="val 6000"/>
            </a:avLst>
          </a:prstGeom>
          <a:solidFill>
            <a:srgbClr val="F5F6F8"/>
          </a:solidFill>
          <a:ln w="12700">
            <a:solidFill>
              <a:srgbClr val="DDE1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9" name="Picture 18" descr="check_steel.png"/>
          <p:cNvPicPr>
            <a:picLocks noChangeAspect="1"/>
          </p:cNvPicPr>
          <p:nvPr/>
        </p:nvPicPr>
        <p:blipFill>
          <a:blip r:embed="rId3"/>
          <a:stretch>
            <a:fillRect/>
          </a:stretch>
        </p:blipFill>
        <p:spPr>
          <a:xfrm>
            <a:off x="987552" y="4956048"/>
            <a:ext cx="237744" cy="237744"/>
          </a:xfrm>
          <a:prstGeom prst="rect">
            <a:avLst/>
          </a:prstGeom>
        </p:spPr>
      </p:pic>
      <p:sp>
        <p:nvSpPr>
          <p:cNvPr id="20" name="TextBox 19"/>
          <p:cNvSpPr txBox="1"/>
          <p:nvPr/>
        </p:nvSpPr>
        <p:spPr>
          <a:xfrm>
            <a:off x="1353312" y="4809744"/>
            <a:ext cx="5029200" cy="530352"/>
          </a:xfrm>
          <a:prstGeom prst="rect">
            <a:avLst/>
          </a:prstGeom>
          <a:noFill/>
        </p:spPr>
        <p:txBody>
          <a:bodyPr wrap="square" anchor="ctr" lIns="0" rIns="0" tIns="0" bIns="0">
            <a:spAutoFit/>
          </a:bodyPr>
          <a:lstStyle/>
          <a:p>
            <a:pPr algn="l">
              <a:lnSpc>
                <a:spcPct val="106000"/>
              </a:lnSpc>
              <a:spcBef>
                <a:spcPts val="0"/>
              </a:spcBef>
              <a:spcAft>
                <a:spcPts val="0"/>
              </a:spcAft>
            </a:pPr>
            <a:r>
              <a:rPr sz="1200" b="0">
                <a:solidFill>
                  <a:srgbClr val="1A1A1A"/>
                </a:solidFill>
                <a:latin typeface="Red Hat Text"/>
              </a:rPr>
              <a:t>Vibe coding, safely = scope the identity, audit the actions, keep a human on writes</a:t>
            </a:r>
          </a:p>
        </p:txBody>
      </p:sp>
      <p:sp>
        <p:nvSpPr>
          <p:cNvPr id="21" name="Rounded Rectangle 20"/>
          <p:cNvSpPr/>
          <p:nvPr/>
        </p:nvSpPr>
        <p:spPr>
          <a:xfrm>
            <a:off x="6812280" y="2395728"/>
            <a:ext cx="4538167" cy="2944368"/>
          </a:xfrm>
          <a:prstGeom prst="roundRect">
            <a:avLst>
              <a:gd name="adj" fmla="val 4000"/>
            </a:avLst>
          </a:prstGeom>
          <a:solidFill>
            <a:srgbClr val="FFFFFF"/>
          </a:solidFill>
          <a:ln w="15240">
            <a:solidFill>
              <a:srgbClr val="DDE1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ounded Rectangle 21"/>
          <p:cNvSpPr/>
          <p:nvPr/>
        </p:nvSpPr>
        <p:spPr>
          <a:xfrm>
            <a:off x="7013448" y="2596896"/>
            <a:ext cx="1298448" cy="310896"/>
          </a:xfrm>
          <a:prstGeom prst="roundRect">
            <a:avLst>
              <a:gd name="adj" fmla="val 50000"/>
            </a:avLst>
          </a:prstGeom>
          <a:solidFill>
            <a:srgbClr val="FCEC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7013448" y="2596896"/>
            <a:ext cx="1298448" cy="310896"/>
          </a:xfrm>
          <a:prstGeom prst="rect">
            <a:avLst/>
          </a:prstGeom>
          <a:noFill/>
        </p:spPr>
        <p:txBody>
          <a:bodyPr wrap="none" anchor="ctr" lIns="0" rIns="0" tIns="0" bIns="0">
            <a:spAutoFit/>
          </a:bodyPr>
          <a:lstStyle/>
          <a:p>
            <a:pPr algn="ctr">
              <a:lnSpc>
                <a:spcPct val="106000"/>
              </a:lnSpc>
              <a:spcBef>
                <a:spcPts val="0"/>
              </a:spcBef>
              <a:spcAft>
                <a:spcPts val="0"/>
              </a:spcAft>
            </a:pPr>
            <a:r>
              <a:rPr sz="850" b="1">
                <a:solidFill>
                  <a:srgbClr val="B80000"/>
                </a:solidFill>
                <a:latin typeface="Red Hat Display"/>
              </a:rPr>
              <a:t>MEDIA PASS</a:t>
            </a:r>
          </a:p>
        </p:txBody>
      </p:sp>
      <p:pic>
        <p:nvPicPr>
          <p:cNvPr id="24" name="Picture 23" descr="eye_slate.png"/>
          <p:cNvPicPr>
            <a:picLocks noChangeAspect="1"/>
          </p:cNvPicPr>
          <p:nvPr/>
        </p:nvPicPr>
        <p:blipFill>
          <a:blip r:embed="rId4"/>
          <a:stretch>
            <a:fillRect/>
          </a:stretch>
        </p:blipFill>
        <p:spPr>
          <a:xfrm>
            <a:off x="8843619" y="3108960"/>
            <a:ext cx="475488" cy="475488"/>
          </a:xfrm>
          <a:prstGeom prst="rect">
            <a:avLst/>
          </a:prstGeom>
        </p:spPr>
      </p:pic>
      <p:sp>
        <p:nvSpPr>
          <p:cNvPr id="25" name="TextBox 24"/>
          <p:cNvSpPr txBox="1"/>
          <p:nvPr/>
        </p:nvSpPr>
        <p:spPr>
          <a:xfrm>
            <a:off x="7050024" y="3721608"/>
            <a:ext cx="4062679" cy="1481328"/>
          </a:xfrm>
          <a:prstGeom prst="rect">
            <a:avLst/>
          </a:prstGeom>
          <a:noFill/>
        </p:spPr>
        <p:txBody>
          <a:bodyPr wrap="square" anchor="t" lIns="0" rIns="0" tIns="0" bIns="0">
            <a:spAutoFit/>
          </a:bodyPr>
          <a:lstStyle/>
          <a:p>
            <a:pPr algn="l">
              <a:lnSpc>
                <a:spcPct val="120000"/>
              </a:lnSpc>
              <a:spcBef>
                <a:spcPts val="0"/>
              </a:spcBef>
              <a:spcAft>
                <a:spcPts val="0"/>
              </a:spcAft>
            </a:pPr>
            <a:r>
              <a:rPr sz="950" b="0">
                <a:solidFill>
                  <a:srgbClr val="8A9099"/>
                </a:solidFill>
                <a:latin typeface="Red Hat Text"/>
              </a:rPr>
              <a:t>A split — left: an engineer pasting `oc get` output into a chat window, shrugging ("is this even current?"); right: the same assistant wired straight into a cluster, with a small padlock labeled "identity: mcp-agent (view, one namespace)". Arrow labeled "now it can act."</a:t>
            </a:r>
          </a:p>
        </p:txBody>
      </p:sp>
      <p:cxnSp>
        <p:nvCxnSpPr>
          <p:cNvPr id="26" name="Connector 25"/>
          <p:cNvCxnSpPr/>
          <p:nvPr/>
        </p:nvCxnSpPr>
        <p:spPr>
          <a:xfrm>
            <a:off x="841248" y="6437376"/>
            <a:ext cx="10509199" cy="0"/>
          </a:xfrm>
          <a:prstGeom prst="bentConnector3">
            <a:avLst/>
          </a:prstGeom>
          <a:ln w="12700">
            <a:solidFill>
              <a:srgbClr val="DDE1E6"/>
            </a:solidFill>
          </a:ln>
          <a:effectLst/>
        </p:spPr>
        <p:style>
          <a:lnRef idx="2">
            <a:schemeClr val="accent1"/>
          </a:lnRef>
          <a:fillRef idx="0">
            <a:schemeClr val="accent1"/>
          </a:fillRef>
          <a:effectRef idx="1">
            <a:schemeClr val="accent1"/>
          </a:effectRef>
          <a:fontRef idx="minor">
            <a:schemeClr val="tx1"/>
          </a:fontRef>
        </p:style>
      </p:cxnSp>
      <p:sp>
        <p:nvSpPr>
          <p:cNvPr id="27" name="TextBox 26"/>
          <p:cNvSpPr txBox="1"/>
          <p:nvPr/>
        </p:nvSpPr>
        <p:spPr>
          <a:xfrm>
            <a:off x="841248" y="6473952"/>
            <a:ext cx="7315200" cy="274320"/>
          </a:xfrm>
          <a:prstGeom prst="rect">
            <a:avLst/>
          </a:prstGeom>
          <a:noFill/>
        </p:spPr>
        <p:txBody>
          <a:bodyPr wrap="square" anchor="t" lIns="0" rIns="0" tIns="0" bIns="0">
            <a:spAutoFit/>
          </a:bodyPr>
          <a:lstStyle/>
          <a:p>
            <a:pPr algn="l">
              <a:lnSpc>
                <a:spcPct val="106000"/>
              </a:lnSpc>
              <a:spcBef>
                <a:spcPts val="0"/>
              </a:spcBef>
              <a:spcAft>
                <a:spcPts val="0"/>
              </a:spcAft>
            </a:pPr>
            <a:r>
              <a:rPr sz="950" b="0">
                <a:solidFill>
                  <a:srgbClr val="8A9099"/>
                </a:solidFill>
                <a:latin typeface="Red Hat Text"/>
              </a:rPr>
              <a:t>CONFIDENTIAL</a:t>
            </a:r>
          </a:p>
        </p:txBody>
      </p:sp>
      <p:sp>
        <p:nvSpPr>
          <p:cNvPr id="28" name="TextBox 27"/>
          <p:cNvSpPr txBox="1"/>
          <p:nvPr/>
        </p:nvSpPr>
        <p:spPr>
          <a:xfrm>
            <a:off x="10801807" y="6473952"/>
            <a:ext cx="548640" cy="274320"/>
          </a:xfrm>
          <a:prstGeom prst="rect">
            <a:avLst/>
          </a:prstGeom>
          <a:noFill/>
        </p:spPr>
        <p:txBody>
          <a:bodyPr wrap="square" anchor="t" lIns="0" rIns="0" tIns="0" bIns="0">
            <a:spAutoFit/>
          </a:bodyPr>
          <a:lstStyle/>
          <a:p>
            <a:pPr algn="r">
              <a:lnSpc>
                <a:spcPct val="106000"/>
              </a:lnSpc>
              <a:spcBef>
                <a:spcPts val="0"/>
              </a:spcBef>
              <a:spcAft>
                <a:spcPts val="0"/>
              </a:spcAft>
            </a:pPr>
            <a:r>
              <a:rPr sz="950" b="0">
                <a:solidFill>
                  <a:srgbClr val="8A9099"/>
                </a:solidFill>
                <a:latin typeface="Red Hat Text"/>
              </a:rPr>
              <a:t>177</a:t>
            </a:r>
          </a:p>
        </p:txBody>
      </p:sp>
    </p:spTree>
  </p:cSld>
  <p:clrMapOvr>
    <a:masterClrMapping/>
  </p:clrMapOvr>
</p:sld>
</file>

<file path=ppt/slides/slide20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redhat_logo.jpg"/>
          <p:cNvPicPr>
            <a:picLocks noChangeAspect="1"/>
          </p:cNvPicPr>
          <p:nvPr/>
        </p:nvPicPr>
        <p:blipFill>
          <a:blip r:embed="rId2"/>
          <a:stretch>
            <a:fillRect/>
          </a:stretch>
        </p:blipFill>
        <p:spPr>
          <a:xfrm>
            <a:off x="10326319" y="475488"/>
            <a:ext cx="1024128" cy="242248"/>
          </a:xfrm>
          <a:prstGeom prst="rect">
            <a:avLst/>
          </a:prstGeom>
        </p:spPr>
      </p:pic>
      <p:sp>
        <p:nvSpPr>
          <p:cNvPr id="3" name="TextBox 2"/>
          <p:cNvSpPr txBox="1"/>
          <p:nvPr/>
        </p:nvSpPr>
        <p:spPr>
          <a:xfrm>
            <a:off x="841248" y="548640"/>
            <a:ext cx="8595360" cy="274320"/>
          </a:xfrm>
          <a:prstGeom prst="rect">
            <a:avLst/>
          </a:prstGeom>
          <a:noFill/>
        </p:spPr>
        <p:txBody>
          <a:bodyPr wrap="square" anchor="t" lIns="0" rIns="0" tIns="0" bIns="0">
            <a:spAutoFit/>
          </a:bodyPr>
          <a:lstStyle/>
          <a:p>
            <a:pPr algn="l">
              <a:lnSpc>
                <a:spcPct val="106000"/>
              </a:lnSpc>
              <a:spcBef>
                <a:spcPts val="0"/>
              </a:spcBef>
              <a:spcAft>
                <a:spcPts val="0"/>
              </a:spcAft>
            </a:pPr>
            <a:r>
              <a:rPr sz="1250" b="1" spc="220">
                <a:solidFill>
                  <a:srgbClr val="EE0000"/>
                </a:solidFill>
                <a:latin typeface="Red Hat Display"/>
              </a:rPr>
              <a:t>M25 · AI-ASSISTED DEVELOPMENT ON OPENSHIFT</a:t>
            </a:r>
          </a:p>
        </p:txBody>
      </p:sp>
      <p:sp>
        <p:nvSpPr>
          <p:cNvPr id="4" name="TextBox 3"/>
          <p:cNvSpPr txBox="1"/>
          <p:nvPr/>
        </p:nvSpPr>
        <p:spPr>
          <a:xfrm>
            <a:off x="841248" y="877824"/>
            <a:ext cx="10515600" cy="548640"/>
          </a:xfrm>
          <a:prstGeom prst="rect">
            <a:avLst/>
          </a:prstGeom>
          <a:noFill/>
        </p:spPr>
        <p:txBody>
          <a:bodyPr wrap="none" anchor="t" lIns="0" rIns="0" tIns="0" bIns="0">
            <a:spAutoFit/>
          </a:bodyPr>
          <a:lstStyle/>
          <a:p>
            <a:pPr algn="l">
              <a:lnSpc>
                <a:spcPct val="100000"/>
              </a:lnSpc>
              <a:spcBef>
                <a:spcPts val="0"/>
              </a:spcBef>
              <a:spcAft>
                <a:spcPts val="0"/>
              </a:spcAft>
            </a:pPr>
            <a:r>
              <a:rPr sz="2500" b="1">
                <a:solidFill>
                  <a:srgbClr val="1A1A1A"/>
                </a:solidFill>
                <a:latin typeface="Red Hat Display"/>
              </a:rPr>
              <a:t>How an assistant reaches the cluster</a:t>
            </a:r>
          </a:p>
        </p:txBody>
      </p:sp>
      <p:cxnSp>
        <p:nvCxnSpPr>
          <p:cNvPr id="5" name="Connector 4"/>
          <p:cNvCxnSpPr/>
          <p:nvPr/>
        </p:nvCxnSpPr>
        <p:spPr>
          <a:xfrm>
            <a:off x="841248" y="1554480"/>
            <a:ext cx="1371600" cy="0"/>
          </a:xfrm>
          <a:prstGeom prst="bentConnector3">
            <a:avLst/>
          </a:prstGeom>
          <a:ln w="31750">
            <a:solidFill>
              <a:srgbClr val="EE0000"/>
            </a:solidFill>
          </a:ln>
          <a:effectLst/>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841248" y="1664208"/>
            <a:ext cx="10515600" cy="365760"/>
          </a:xfrm>
          <a:prstGeom prst="rect">
            <a:avLst/>
          </a:prstGeom>
          <a:noFill/>
        </p:spPr>
        <p:txBody>
          <a:bodyPr wrap="square" anchor="t" lIns="0" rIns="0" tIns="0" bIns="0">
            <a:spAutoFit/>
          </a:bodyPr>
          <a:lstStyle/>
          <a:p>
            <a:pPr algn="l">
              <a:lnSpc>
                <a:spcPct val="106000"/>
              </a:lnSpc>
              <a:spcBef>
                <a:spcPts val="0"/>
              </a:spcBef>
              <a:spcAft>
                <a:spcPts val="0"/>
              </a:spcAft>
            </a:pPr>
            <a:r>
              <a:rPr sz="1350" b="0">
                <a:solidFill>
                  <a:srgbClr val="555960"/>
                </a:solidFill>
                <a:latin typeface="Red Hat Text"/>
              </a:rPr>
              <a:t>MCP + a ServiceAccount</a:t>
            </a:r>
          </a:p>
        </p:txBody>
      </p:sp>
      <p:sp>
        <p:nvSpPr>
          <p:cNvPr id="7" name="Rounded Rectangle 6"/>
          <p:cNvSpPr/>
          <p:nvPr/>
        </p:nvSpPr>
        <p:spPr>
          <a:xfrm>
            <a:off x="841248" y="2670048"/>
            <a:ext cx="5715000" cy="530352"/>
          </a:xfrm>
          <a:prstGeom prst="roundRect">
            <a:avLst>
              <a:gd name="adj" fmla="val 6000"/>
            </a:avLst>
          </a:prstGeom>
          <a:solidFill>
            <a:srgbClr val="F5F6F8"/>
          </a:solidFill>
          <a:ln w="12700">
            <a:solidFill>
              <a:srgbClr val="DDE1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check_steel.png"/>
          <p:cNvPicPr>
            <a:picLocks noChangeAspect="1"/>
          </p:cNvPicPr>
          <p:nvPr/>
        </p:nvPicPr>
        <p:blipFill>
          <a:blip r:embed="rId3"/>
          <a:stretch>
            <a:fillRect/>
          </a:stretch>
        </p:blipFill>
        <p:spPr>
          <a:xfrm>
            <a:off x="987552" y="2816352"/>
            <a:ext cx="237744" cy="237744"/>
          </a:xfrm>
          <a:prstGeom prst="rect">
            <a:avLst/>
          </a:prstGeom>
        </p:spPr>
      </p:pic>
      <p:sp>
        <p:nvSpPr>
          <p:cNvPr id="9" name="TextBox 8"/>
          <p:cNvSpPr txBox="1"/>
          <p:nvPr/>
        </p:nvSpPr>
        <p:spPr>
          <a:xfrm>
            <a:off x="1353312" y="2670048"/>
            <a:ext cx="5029200" cy="530352"/>
          </a:xfrm>
          <a:prstGeom prst="rect">
            <a:avLst/>
          </a:prstGeom>
          <a:noFill/>
        </p:spPr>
        <p:txBody>
          <a:bodyPr wrap="square" anchor="ctr" lIns="0" rIns="0" tIns="0" bIns="0">
            <a:spAutoFit/>
          </a:bodyPr>
          <a:lstStyle/>
          <a:p>
            <a:pPr algn="l">
              <a:lnSpc>
                <a:spcPct val="106000"/>
              </a:lnSpc>
              <a:spcBef>
                <a:spcPts val="0"/>
              </a:spcBef>
              <a:spcAft>
                <a:spcPts val="0"/>
              </a:spcAft>
            </a:pPr>
            <a:r>
              <a:rPr sz="1200" b="0">
                <a:solidFill>
                  <a:srgbClr val="1A1A1A"/>
                </a:solidFill>
                <a:latin typeface="Red Hat Text"/>
              </a:rPr>
              <a:t>The assistant speaks MCP (Model Context Protocol) to an MCP server, not to the API directly</a:t>
            </a:r>
          </a:p>
        </p:txBody>
      </p:sp>
      <p:sp>
        <p:nvSpPr>
          <p:cNvPr id="10" name="Rounded Rectangle 9"/>
          <p:cNvSpPr/>
          <p:nvPr/>
        </p:nvSpPr>
        <p:spPr>
          <a:xfrm>
            <a:off x="841248" y="3273552"/>
            <a:ext cx="5715000" cy="530352"/>
          </a:xfrm>
          <a:prstGeom prst="roundRect">
            <a:avLst>
              <a:gd name="adj" fmla="val 6000"/>
            </a:avLst>
          </a:prstGeom>
          <a:solidFill>
            <a:srgbClr val="F5F6F8"/>
          </a:solidFill>
          <a:ln w="12700">
            <a:solidFill>
              <a:srgbClr val="DDE1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1" name="Picture 10" descr="check_steel.png"/>
          <p:cNvPicPr>
            <a:picLocks noChangeAspect="1"/>
          </p:cNvPicPr>
          <p:nvPr/>
        </p:nvPicPr>
        <p:blipFill>
          <a:blip r:embed="rId3"/>
          <a:stretch>
            <a:fillRect/>
          </a:stretch>
        </p:blipFill>
        <p:spPr>
          <a:xfrm>
            <a:off x="987552" y="3419856"/>
            <a:ext cx="237744" cy="237744"/>
          </a:xfrm>
          <a:prstGeom prst="rect">
            <a:avLst/>
          </a:prstGeom>
        </p:spPr>
      </p:pic>
      <p:sp>
        <p:nvSpPr>
          <p:cNvPr id="12" name="TextBox 11"/>
          <p:cNvSpPr txBox="1"/>
          <p:nvPr/>
        </p:nvSpPr>
        <p:spPr>
          <a:xfrm>
            <a:off x="1353312" y="3273552"/>
            <a:ext cx="5029200" cy="530352"/>
          </a:xfrm>
          <a:prstGeom prst="rect">
            <a:avLst/>
          </a:prstGeom>
          <a:noFill/>
        </p:spPr>
        <p:txBody>
          <a:bodyPr wrap="square" anchor="ctr" lIns="0" rIns="0" tIns="0" bIns="0">
            <a:spAutoFit/>
          </a:bodyPr>
          <a:lstStyle/>
          <a:p>
            <a:pPr algn="l">
              <a:lnSpc>
                <a:spcPct val="106000"/>
              </a:lnSpc>
              <a:spcBef>
                <a:spcPts val="0"/>
              </a:spcBef>
              <a:spcAft>
                <a:spcPts val="0"/>
              </a:spcAft>
            </a:pPr>
            <a:r>
              <a:rPr sz="1200" b="0">
                <a:solidFill>
                  <a:srgbClr val="1A1A1A"/>
                </a:solidFill>
                <a:latin typeface="Red Hat Text"/>
              </a:rPr>
              <a:t>The MCP server exposes cluster operations as tools: list pods, read events, get a deployment</a:t>
            </a:r>
          </a:p>
        </p:txBody>
      </p:sp>
      <p:sp>
        <p:nvSpPr>
          <p:cNvPr id="13" name="Rounded Rectangle 12"/>
          <p:cNvSpPr/>
          <p:nvPr/>
        </p:nvSpPr>
        <p:spPr>
          <a:xfrm>
            <a:off x="841248" y="3877056"/>
            <a:ext cx="5715000" cy="530352"/>
          </a:xfrm>
          <a:prstGeom prst="roundRect">
            <a:avLst>
              <a:gd name="adj" fmla="val 6000"/>
            </a:avLst>
          </a:prstGeom>
          <a:solidFill>
            <a:srgbClr val="F5F6F8"/>
          </a:solidFill>
          <a:ln w="12700">
            <a:solidFill>
              <a:srgbClr val="DDE1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4" name="Picture 13" descr="check_steel.png"/>
          <p:cNvPicPr>
            <a:picLocks noChangeAspect="1"/>
          </p:cNvPicPr>
          <p:nvPr/>
        </p:nvPicPr>
        <p:blipFill>
          <a:blip r:embed="rId3"/>
          <a:stretch>
            <a:fillRect/>
          </a:stretch>
        </p:blipFill>
        <p:spPr>
          <a:xfrm>
            <a:off x="987552" y="4023360"/>
            <a:ext cx="237744" cy="237744"/>
          </a:xfrm>
          <a:prstGeom prst="rect">
            <a:avLst/>
          </a:prstGeom>
        </p:spPr>
      </p:pic>
      <p:sp>
        <p:nvSpPr>
          <p:cNvPr id="15" name="TextBox 14"/>
          <p:cNvSpPr txBox="1"/>
          <p:nvPr/>
        </p:nvSpPr>
        <p:spPr>
          <a:xfrm>
            <a:off x="1353312" y="3877056"/>
            <a:ext cx="5029200" cy="530352"/>
          </a:xfrm>
          <a:prstGeom prst="rect">
            <a:avLst/>
          </a:prstGeom>
          <a:noFill/>
        </p:spPr>
        <p:txBody>
          <a:bodyPr wrap="square" anchor="ctr" lIns="0" rIns="0" tIns="0" bIns="0">
            <a:spAutoFit/>
          </a:bodyPr>
          <a:lstStyle/>
          <a:p>
            <a:pPr algn="l">
              <a:lnSpc>
                <a:spcPct val="106000"/>
              </a:lnSpc>
              <a:spcBef>
                <a:spcPts val="0"/>
              </a:spcBef>
              <a:spcAft>
                <a:spcPts val="0"/>
              </a:spcAft>
            </a:pPr>
            <a:r>
              <a:rPr sz="1200" b="0">
                <a:solidFill>
                  <a:srgbClr val="1A1A1A"/>
                </a:solidFill>
                <a:latin typeface="Red Hat Text"/>
              </a:rPr>
              <a:t>It runs as a dedicated ServiceAccount (mcp-agent) — its projected token is the ONLY cluster credential</a:t>
            </a:r>
          </a:p>
        </p:txBody>
      </p:sp>
      <p:sp>
        <p:nvSpPr>
          <p:cNvPr id="16" name="Rounded Rectangle 15"/>
          <p:cNvSpPr/>
          <p:nvPr/>
        </p:nvSpPr>
        <p:spPr>
          <a:xfrm>
            <a:off x="841248" y="4480560"/>
            <a:ext cx="5715000" cy="530352"/>
          </a:xfrm>
          <a:prstGeom prst="roundRect">
            <a:avLst>
              <a:gd name="adj" fmla="val 6000"/>
            </a:avLst>
          </a:prstGeom>
          <a:solidFill>
            <a:srgbClr val="F5F6F8"/>
          </a:solidFill>
          <a:ln w="12700">
            <a:solidFill>
              <a:srgbClr val="DDE1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7" name="Picture 16" descr="check_steel.png"/>
          <p:cNvPicPr>
            <a:picLocks noChangeAspect="1"/>
          </p:cNvPicPr>
          <p:nvPr/>
        </p:nvPicPr>
        <p:blipFill>
          <a:blip r:embed="rId3"/>
          <a:stretch>
            <a:fillRect/>
          </a:stretch>
        </p:blipFill>
        <p:spPr>
          <a:xfrm>
            <a:off x="987552" y="4626864"/>
            <a:ext cx="237744" cy="237744"/>
          </a:xfrm>
          <a:prstGeom prst="rect">
            <a:avLst/>
          </a:prstGeom>
        </p:spPr>
      </p:pic>
      <p:sp>
        <p:nvSpPr>
          <p:cNvPr id="18" name="TextBox 17"/>
          <p:cNvSpPr txBox="1"/>
          <p:nvPr/>
        </p:nvSpPr>
        <p:spPr>
          <a:xfrm>
            <a:off x="1353312" y="4480560"/>
            <a:ext cx="5029200" cy="530352"/>
          </a:xfrm>
          <a:prstGeom prst="rect">
            <a:avLst/>
          </a:prstGeom>
          <a:noFill/>
        </p:spPr>
        <p:txBody>
          <a:bodyPr wrap="square" anchor="ctr" lIns="0" rIns="0" tIns="0" bIns="0">
            <a:spAutoFit/>
          </a:bodyPr>
          <a:lstStyle/>
          <a:p>
            <a:pPr algn="l">
              <a:lnSpc>
                <a:spcPct val="106000"/>
              </a:lnSpc>
              <a:spcBef>
                <a:spcPts val="0"/>
              </a:spcBef>
              <a:spcAft>
                <a:spcPts val="0"/>
              </a:spcAft>
            </a:pPr>
            <a:r>
              <a:rPr sz="1200" b="0">
                <a:solidFill>
                  <a:srgbClr val="1A1A1A"/>
                </a:solidFill>
                <a:latin typeface="Red Hat Text"/>
              </a:rPr>
              <a:t>The client (the assistant) holds NO kubeconfig — only the MCP address and a model key</a:t>
            </a:r>
          </a:p>
        </p:txBody>
      </p:sp>
      <p:sp>
        <p:nvSpPr>
          <p:cNvPr id="19" name="Rounded Rectangle 18"/>
          <p:cNvSpPr/>
          <p:nvPr/>
        </p:nvSpPr>
        <p:spPr>
          <a:xfrm>
            <a:off x="841248" y="5084064"/>
            <a:ext cx="5715000" cy="530352"/>
          </a:xfrm>
          <a:prstGeom prst="roundRect">
            <a:avLst>
              <a:gd name="adj" fmla="val 6000"/>
            </a:avLst>
          </a:prstGeom>
          <a:solidFill>
            <a:srgbClr val="F5F6F8"/>
          </a:solidFill>
          <a:ln w="12700">
            <a:solidFill>
              <a:srgbClr val="DDE1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0" name="Picture 19" descr="check_steel.png"/>
          <p:cNvPicPr>
            <a:picLocks noChangeAspect="1"/>
          </p:cNvPicPr>
          <p:nvPr/>
        </p:nvPicPr>
        <p:blipFill>
          <a:blip r:embed="rId3"/>
          <a:stretch>
            <a:fillRect/>
          </a:stretch>
        </p:blipFill>
        <p:spPr>
          <a:xfrm>
            <a:off x="987552" y="5230368"/>
            <a:ext cx="237744" cy="237744"/>
          </a:xfrm>
          <a:prstGeom prst="rect">
            <a:avLst/>
          </a:prstGeom>
        </p:spPr>
      </p:pic>
      <p:sp>
        <p:nvSpPr>
          <p:cNvPr id="21" name="TextBox 20"/>
          <p:cNvSpPr txBox="1"/>
          <p:nvPr/>
        </p:nvSpPr>
        <p:spPr>
          <a:xfrm>
            <a:off x="1353312" y="5084064"/>
            <a:ext cx="5029200" cy="530352"/>
          </a:xfrm>
          <a:prstGeom prst="rect">
            <a:avLst/>
          </a:prstGeom>
          <a:noFill/>
        </p:spPr>
        <p:txBody>
          <a:bodyPr wrap="square" anchor="ctr" lIns="0" rIns="0" tIns="0" bIns="0">
            <a:spAutoFit/>
          </a:bodyPr>
          <a:lstStyle/>
          <a:p>
            <a:pPr algn="l">
              <a:lnSpc>
                <a:spcPct val="106000"/>
              </a:lnSpc>
              <a:spcBef>
                <a:spcPts val="0"/>
              </a:spcBef>
              <a:spcAft>
                <a:spcPts val="0"/>
              </a:spcAft>
            </a:pPr>
            <a:r>
              <a:rPr sz="1200" b="0">
                <a:solidFill>
                  <a:srgbClr val="1A1A1A"/>
                </a:solidFill>
                <a:latin typeface="Red Hat Text"/>
              </a:rPr>
              <a:t>Every call the server makes is made AS mcp-agent, and the API server checks its RBAC</a:t>
            </a:r>
          </a:p>
        </p:txBody>
      </p:sp>
      <p:sp>
        <p:nvSpPr>
          <p:cNvPr id="22" name="Rounded Rectangle 21"/>
          <p:cNvSpPr/>
          <p:nvPr/>
        </p:nvSpPr>
        <p:spPr>
          <a:xfrm>
            <a:off x="6812280" y="2670048"/>
            <a:ext cx="4538167" cy="2944368"/>
          </a:xfrm>
          <a:prstGeom prst="roundRect">
            <a:avLst>
              <a:gd name="adj" fmla="val 4000"/>
            </a:avLst>
          </a:prstGeom>
          <a:solidFill>
            <a:srgbClr val="FFFFFF"/>
          </a:solidFill>
          <a:ln w="15240">
            <a:solidFill>
              <a:srgbClr val="DDE1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ounded Rectangle 22"/>
          <p:cNvSpPr/>
          <p:nvPr/>
        </p:nvSpPr>
        <p:spPr>
          <a:xfrm>
            <a:off x="7013448" y="2871216"/>
            <a:ext cx="1298448" cy="310896"/>
          </a:xfrm>
          <a:prstGeom prst="roundRect">
            <a:avLst>
              <a:gd name="adj" fmla="val 50000"/>
            </a:avLst>
          </a:prstGeom>
          <a:solidFill>
            <a:srgbClr val="FCEC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7013448" y="2871216"/>
            <a:ext cx="1298448" cy="310896"/>
          </a:xfrm>
          <a:prstGeom prst="rect">
            <a:avLst/>
          </a:prstGeom>
          <a:noFill/>
        </p:spPr>
        <p:txBody>
          <a:bodyPr wrap="none" anchor="ctr" lIns="0" rIns="0" tIns="0" bIns="0">
            <a:spAutoFit/>
          </a:bodyPr>
          <a:lstStyle/>
          <a:p>
            <a:pPr algn="ctr">
              <a:lnSpc>
                <a:spcPct val="106000"/>
              </a:lnSpc>
              <a:spcBef>
                <a:spcPts val="0"/>
              </a:spcBef>
              <a:spcAft>
                <a:spcPts val="0"/>
              </a:spcAft>
            </a:pPr>
            <a:r>
              <a:rPr sz="850" b="1">
                <a:solidFill>
                  <a:srgbClr val="B80000"/>
                </a:solidFill>
                <a:latin typeface="Red Hat Display"/>
              </a:rPr>
              <a:t>MEDIA PASS</a:t>
            </a:r>
          </a:p>
        </p:txBody>
      </p:sp>
      <p:pic>
        <p:nvPicPr>
          <p:cNvPr id="25" name="Picture 24" descr="eye_slate.png"/>
          <p:cNvPicPr>
            <a:picLocks noChangeAspect="1"/>
          </p:cNvPicPr>
          <p:nvPr/>
        </p:nvPicPr>
        <p:blipFill>
          <a:blip r:embed="rId4"/>
          <a:stretch>
            <a:fillRect/>
          </a:stretch>
        </p:blipFill>
        <p:spPr>
          <a:xfrm>
            <a:off x="8843619" y="3383280"/>
            <a:ext cx="475488" cy="475488"/>
          </a:xfrm>
          <a:prstGeom prst="rect">
            <a:avLst/>
          </a:prstGeom>
        </p:spPr>
      </p:pic>
      <p:sp>
        <p:nvSpPr>
          <p:cNvPr id="26" name="TextBox 25"/>
          <p:cNvSpPr txBox="1"/>
          <p:nvPr/>
        </p:nvSpPr>
        <p:spPr>
          <a:xfrm>
            <a:off x="7050024" y="3995928"/>
            <a:ext cx="4062679" cy="1481328"/>
          </a:xfrm>
          <a:prstGeom prst="rect">
            <a:avLst/>
          </a:prstGeom>
          <a:noFill/>
        </p:spPr>
        <p:txBody>
          <a:bodyPr wrap="square" anchor="t" lIns="0" rIns="0" tIns="0" bIns="0">
            <a:spAutoFit/>
          </a:bodyPr>
          <a:lstStyle/>
          <a:p>
            <a:pPr algn="l">
              <a:lnSpc>
                <a:spcPct val="120000"/>
              </a:lnSpc>
              <a:spcBef>
                <a:spcPts val="0"/>
              </a:spcBef>
              <a:spcAft>
                <a:spcPts val="0"/>
              </a:spcAft>
            </a:pPr>
            <a:r>
              <a:rPr sz="950" b="0">
                <a:solidFill>
                  <a:srgbClr val="8A9099"/>
                </a:solidFill>
                <a:latin typeface="Red Hat Text"/>
              </a:rPr>
              <a:t>Reuse concept diagram ai-assisted-development-...-01-mcp-sa-boundary.svg — client (no kubeconfig) → MCP server (runs as mcp-agent) → RBAC gate → API server; a side branch to the MaaS model. The RBAC gate highlighted red as "the actual boundary."</a:t>
            </a:r>
          </a:p>
        </p:txBody>
      </p:sp>
      <p:cxnSp>
        <p:nvCxnSpPr>
          <p:cNvPr id="27" name="Connector 26"/>
          <p:cNvCxnSpPr/>
          <p:nvPr/>
        </p:nvCxnSpPr>
        <p:spPr>
          <a:xfrm>
            <a:off x="841248" y="6437376"/>
            <a:ext cx="10509199" cy="0"/>
          </a:xfrm>
          <a:prstGeom prst="bentConnector3">
            <a:avLst/>
          </a:prstGeom>
          <a:ln w="12700">
            <a:solidFill>
              <a:srgbClr val="DDE1E6"/>
            </a:solidFill>
          </a:ln>
          <a:effectLst/>
        </p:spPr>
        <p:style>
          <a:lnRef idx="2">
            <a:schemeClr val="accent1"/>
          </a:lnRef>
          <a:fillRef idx="0">
            <a:schemeClr val="accent1"/>
          </a:fillRef>
          <a:effectRef idx="1">
            <a:schemeClr val="accent1"/>
          </a:effectRef>
          <a:fontRef idx="minor">
            <a:schemeClr val="tx1"/>
          </a:fontRef>
        </p:style>
      </p:cxnSp>
      <p:sp>
        <p:nvSpPr>
          <p:cNvPr id="28" name="TextBox 27"/>
          <p:cNvSpPr txBox="1"/>
          <p:nvPr/>
        </p:nvSpPr>
        <p:spPr>
          <a:xfrm>
            <a:off x="841248" y="6473952"/>
            <a:ext cx="7315200" cy="274320"/>
          </a:xfrm>
          <a:prstGeom prst="rect">
            <a:avLst/>
          </a:prstGeom>
          <a:noFill/>
        </p:spPr>
        <p:txBody>
          <a:bodyPr wrap="square" anchor="t" lIns="0" rIns="0" tIns="0" bIns="0">
            <a:spAutoFit/>
          </a:bodyPr>
          <a:lstStyle/>
          <a:p>
            <a:pPr algn="l">
              <a:lnSpc>
                <a:spcPct val="106000"/>
              </a:lnSpc>
              <a:spcBef>
                <a:spcPts val="0"/>
              </a:spcBef>
              <a:spcAft>
                <a:spcPts val="0"/>
              </a:spcAft>
            </a:pPr>
            <a:r>
              <a:rPr sz="950" b="0">
                <a:solidFill>
                  <a:srgbClr val="8A9099"/>
                </a:solidFill>
                <a:latin typeface="Red Hat Text"/>
              </a:rPr>
              <a:t>CONFIDENTIAL</a:t>
            </a:r>
          </a:p>
        </p:txBody>
      </p:sp>
      <p:sp>
        <p:nvSpPr>
          <p:cNvPr id="29" name="TextBox 28"/>
          <p:cNvSpPr txBox="1"/>
          <p:nvPr/>
        </p:nvSpPr>
        <p:spPr>
          <a:xfrm>
            <a:off x="10801807" y="6473952"/>
            <a:ext cx="548640" cy="274320"/>
          </a:xfrm>
          <a:prstGeom prst="rect">
            <a:avLst/>
          </a:prstGeom>
          <a:noFill/>
        </p:spPr>
        <p:txBody>
          <a:bodyPr wrap="square" anchor="t" lIns="0" rIns="0" tIns="0" bIns="0">
            <a:spAutoFit/>
          </a:bodyPr>
          <a:lstStyle/>
          <a:p>
            <a:pPr algn="r">
              <a:lnSpc>
                <a:spcPct val="106000"/>
              </a:lnSpc>
              <a:spcBef>
                <a:spcPts val="0"/>
              </a:spcBef>
              <a:spcAft>
                <a:spcPts val="0"/>
              </a:spcAft>
            </a:pPr>
            <a:r>
              <a:rPr sz="950" b="0">
                <a:solidFill>
                  <a:srgbClr val="8A9099"/>
                </a:solidFill>
                <a:latin typeface="Red Hat Text"/>
              </a:rPr>
              <a:t>178</a:t>
            </a:r>
          </a:p>
        </p:txBody>
      </p:sp>
    </p:spTree>
  </p:cSld>
  <p:clrMapOvr>
    <a:masterClrMapping/>
  </p:clrMapOvr>
</p:sld>
</file>

<file path=ppt/slides/slide20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redhat_logo.jpg"/>
          <p:cNvPicPr>
            <a:picLocks noChangeAspect="1"/>
          </p:cNvPicPr>
          <p:nvPr/>
        </p:nvPicPr>
        <p:blipFill>
          <a:blip r:embed="rId2"/>
          <a:stretch>
            <a:fillRect/>
          </a:stretch>
        </p:blipFill>
        <p:spPr>
          <a:xfrm>
            <a:off x="10326319" y="475488"/>
            <a:ext cx="1024128" cy="242248"/>
          </a:xfrm>
          <a:prstGeom prst="rect">
            <a:avLst/>
          </a:prstGeom>
        </p:spPr>
      </p:pic>
      <p:sp>
        <p:nvSpPr>
          <p:cNvPr id="3" name="TextBox 2"/>
          <p:cNvSpPr txBox="1"/>
          <p:nvPr/>
        </p:nvSpPr>
        <p:spPr>
          <a:xfrm>
            <a:off x="841248" y="548640"/>
            <a:ext cx="8595360" cy="274320"/>
          </a:xfrm>
          <a:prstGeom prst="rect">
            <a:avLst/>
          </a:prstGeom>
          <a:noFill/>
        </p:spPr>
        <p:txBody>
          <a:bodyPr wrap="square" anchor="t" lIns="0" rIns="0" tIns="0" bIns="0">
            <a:spAutoFit/>
          </a:bodyPr>
          <a:lstStyle/>
          <a:p>
            <a:pPr algn="l">
              <a:lnSpc>
                <a:spcPct val="106000"/>
              </a:lnSpc>
              <a:spcBef>
                <a:spcPts val="0"/>
              </a:spcBef>
              <a:spcAft>
                <a:spcPts val="0"/>
              </a:spcAft>
            </a:pPr>
            <a:r>
              <a:rPr sz="1250" b="1" spc="220">
                <a:solidFill>
                  <a:srgbClr val="EE0000"/>
                </a:solidFill>
                <a:latin typeface="Red Hat Display"/>
              </a:rPr>
              <a:t>M25 · AI-ASSISTED DEVELOPMENT ON OPENSHIFT</a:t>
            </a:r>
          </a:p>
        </p:txBody>
      </p:sp>
      <p:sp>
        <p:nvSpPr>
          <p:cNvPr id="4" name="TextBox 3"/>
          <p:cNvSpPr txBox="1"/>
          <p:nvPr/>
        </p:nvSpPr>
        <p:spPr>
          <a:xfrm>
            <a:off x="841248" y="877824"/>
            <a:ext cx="10515600" cy="548640"/>
          </a:xfrm>
          <a:prstGeom prst="rect">
            <a:avLst/>
          </a:prstGeom>
          <a:noFill/>
        </p:spPr>
        <p:txBody>
          <a:bodyPr wrap="none" anchor="t" lIns="0" rIns="0" tIns="0" bIns="0">
            <a:spAutoFit/>
          </a:bodyPr>
          <a:lstStyle/>
          <a:p>
            <a:pPr algn="l">
              <a:lnSpc>
                <a:spcPct val="100000"/>
              </a:lnSpc>
              <a:spcBef>
                <a:spcPts val="0"/>
              </a:spcBef>
              <a:spcAft>
                <a:spcPts val="0"/>
              </a:spcAft>
            </a:pPr>
            <a:r>
              <a:rPr sz="2500" b="1">
                <a:solidFill>
                  <a:srgbClr val="1A1A1A"/>
                </a:solidFill>
                <a:latin typeface="Red Hat Display"/>
              </a:rPr>
              <a:t>Read-only first</a:t>
            </a:r>
          </a:p>
        </p:txBody>
      </p:sp>
      <p:cxnSp>
        <p:nvCxnSpPr>
          <p:cNvPr id="5" name="Connector 4"/>
          <p:cNvCxnSpPr/>
          <p:nvPr/>
        </p:nvCxnSpPr>
        <p:spPr>
          <a:xfrm>
            <a:off x="841248" y="1554480"/>
            <a:ext cx="1371600" cy="0"/>
          </a:xfrm>
          <a:prstGeom prst="bentConnector3">
            <a:avLst/>
          </a:prstGeom>
          <a:ln w="31750">
            <a:solidFill>
              <a:srgbClr val="EE0000"/>
            </a:solidFill>
          </a:ln>
          <a:effectLst/>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841248" y="1664208"/>
            <a:ext cx="10515600" cy="365760"/>
          </a:xfrm>
          <a:prstGeom prst="rect">
            <a:avLst/>
          </a:prstGeom>
          <a:noFill/>
        </p:spPr>
        <p:txBody>
          <a:bodyPr wrap="square" anchor="t" lIns="0" rIns="0" tIns="0" bIns="0">
            <a:spAutoFit/>
          </a:bodyPr>
          <a:lstStyle/>
          <a:p>
            <a:pPr algn="l">
              <a:lnSpc>
                <a:spcPct val="106000"/>
              </a:lnSpc>
              <a:spcBef>
                <a:spcPts val="0"/>
              </a:spcBef>
              <a:spcAft>
                <a:spcPts val="0"/>
              </a:spcAft>
            </a:pPr>
            <a:r>
              <a:rPr sz="1350" b="0">
                <a:solidFill>
                  <a:srgbClr val="555960"/>
                </a:solidFill>
                <a:latin typeface="Red Hat Text"/>
              </a:rPr>
              <a:t>and the flag is not the boundary</a:t>
            </a:r>
          </a:p>
        </p:txBody>
      </p:sp>
      <p:sp>
        <p:nvSpPr>
          <p:cNvPr id="7" name="Rounded Rectangle 6"/>
          <p:cNvSpPr/>
          <p:nvPr/>
        </p:nvSpPr>
        <p:spPr>
          <a:xfrm>
            <a:off x="841248" y="2670048"/>
            <a:ext cx="5715000" cy="530352"/>
          </a:xfrm>
          <a:prstGeom prst="roundRect">
            <a:avLst>
              <a:gd name="adj" fmla="val 6000"/>
            </a:avLst>
          </a:prstGeom>
          <a:solidFill>
            <a:srgbClr val="F5F6F8"/>
          </a:solidFill>
          <a:ln w="12700">
            <a:solidFill>
              <a:srgbClr val="DDE1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check_steel.png"/>
          <p:cNvPicPr>
            <a:picLocks noChangeAspect="1"/>
          </p:cNvPicPr>
          <p:nvPr/>
        </p:nvPicPr>
        <p:blipFill>
          <a:blip r:embed="rId3"/>
          <a:stretch>
            <a:fillRect/>
          </a:stretch>
        </p:blipFill>
        <p:spPr>
          <a:xfrm>
            <a:off x="987552" y="2816352"/>
            <a:ext cx="237744" cy="237744"/>
          </a:xfrm>
          <a:prstGeom prst="rect">
            <a:avLst/>
          </a:prstGeom>
        </p:spPr>
      </p:pic>
      <p:sp>
        <p:nvSpPr>
          <p:cNvPr id="9" name="TextBox 8"/>
          <p:cNvSpPr txBox="1"/>
          <p:nvPr/>
        </p:nvSpPr>
        <p:spPr>
          <a:xfrm>
            <a:off x="1353312" y="2670048"/>
            <a:ext cx="5029200" cy="530352"/>
          </a:xfrm>
          <a:prstGeom prst="rect">
            <a:avLst/>
          </a:prstGeom>
          <a:noFill/>
        </p:spPr>
        <p:txBody>
          <a:bodyPr wrap="square" anchor="ctr" lIns="0" rIns="0" tIns="0" bIns="0">
            <a:spAutoFit/>
          </a:bodyPr>
          <a:lstStyle/>
          <a:p>
            <a:pPr algn="l">
              <a:lnSpc>
                <a:spcPct val="106000"/>
              </a:lnSpc>
              <a:spcBef>
                <a:spcPts val="0"/>
              </a:spcBef>
              <a:spcAft>
                <a:spcPts val="0"/>
              </a:spcAft>
            </a:pPr>
            <a:r>
              <a:rPr sz="1200" b="0">
                <a:solidFill>
                  <a:srgbClr val="1A1A1A"/>
                </a:solidFill>
                <a:latin typeface="Red Hat Text"/>
              </a:rPr>
              <a:t>Give agents eyes before hands: a read-only view role diagnoses everything, breaks nothing</a:t>
            </a:r>
          </a:p>
        </p:txBody>
      </p:sp>
      <p:sp>
        <p:nvSpPr>
          <p:cNvPr id="10" name="Rounded Rectangle 9"/>
          <p:cNvSpPr/>
          <p:nvPr/>
        </p:nvSpPr>
        <p:spPr>
          <a:xfrm>
            <a:off x="841248" y="3273552"/>
            <a:ext cx="5715000" cy="530352"/>
          </a:xfrm>
          <a:prstGeom prst="roundRect">
            <a:avLst>
              <a:gd name="adj" fmla="val 6000"/>
            </a:avLst>
          </a:prstGeom>
          <a:solidFill>
            <a:srgbClr val="F5F6F8"/>
          </a:solidFill>
          <a:ln w="12700">
            <a:solidFill>
              <a:srgbClr val="DDE1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1" name="Picture 10" descr="check_steel.png"/>
          <p:cNvPicPr>
            <a:picLocks noChangeAspect="1"/>
          </p:cNvPicPr>
          <p:nvPr/>
        </p:nvPicPr>
        <p:blipFill>
          <a:blip r:embed="rId3"/>
          <a:stretch>
            <a:fillRect/>
          </a:stretch>
        </p:blipFill>
        <p:spPr>
          <a:xfrm>
            <a:off x="987552" y="3419856"/>
            <a:ext cx="237744" cy="237744"/>
          </a:xfrm>
          <a:prstGeom prst="rect">
            <a:avLst/>
          </a:prstGeom>
        </p:spPr>
      </p:pic>
      <p:sp>
        <p:nvSpPr>
          <p:cNvPr id="12" name="TextBox 11"/>
          <p:cNvSpPr txBox="1"/>
          <p:nvPr/>
        </p:nvSpPr>
        <p:spPr>
          <a:xfrm>
            <a:off x="1353312" y="3273552"/>
            <a:ext cx="5029200" cy="530352"/>
          </a:xfrm>
          <a:prstGeom prst="rect">
            <a:avLst/>
          </a:prstGeom>
          <a:noFill/>
        </p:spPr>
        <p:txBody>
          <a:bodyPr wrap="square" anchor="ctr" lIns="0" rIns="0" tIns="0" bIns="0">
            <a:spAutoFit/>
          </a:bodyPr>
          <a:lstStyle/>
          <a:p>
            <a:pPr algn="l">
              <a:lnSpc>
                <a:spcPct val="106000"/>
              </a:lnSpc>
              <a:spcBef>
                <a:spcPts val="0"/>
              </a:spcBef>
              <a:spcAft>
                <a:spcPts val="0"/>
              </a:spcAft>
            </a:pPr>
            <a:r>
              <a:rPr sz="1200" b="0">
                <a:solidFill>
                  <a:srgbClr val="1A1A1A"/>
                </a:solidFill>
                <a:latin typeface="Red Hat Text"/>
              </a:rPr>
              <a:t>The MCP server's `--read-only` flag and the client's read-only filter are BOTH seatbelts</a:t>
            </a:r>
          </a:p>
        </p:txBody>
      </p:sp>
      <p:sp>
        <p:nvSpPr>
          <p:cNvPr id="13" name="Rounded Rectangle 12"/>
          <p:cNvSpPr/>
          <p:nvPr/>
        </p:nvSpPr>
        <p:spPr>
          <a:xfrm>
            <a:off x="841248" y="3877056"/>
            <a:ext cx="5715000" cy="530352"/>
          </a:xfrm>
          <a:prstGeom prst="roundRect">
            <a:avLst>
              <a:gd name="adj" fmla="val 6000"/>
            </a:avLst>
          </a:prstGeom>
          <a:solidFill>
            <a:srgbClr val="F5F6F8"/>
          </a:solidFill>
          <a:ln w="12700">
            <a:solidFill>
              <a:srgbClr val="DDE1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4" name="Picture 13" descr="check_steel.png"/>
          <p:cNvPicPr>
            <a:picLocks noChangeAspect="1"/>
          </p:cNvPicPr>
          <p:nvPr/>
        </p:nvPicPr>
        <p:blipFill>
          <a:blip r:embed="rId3"/>
          <a:stretch>
            <a:fillRect/>
          </a:stretch>
        </p:blipFill>
        <p:spPr>
          <a:xfrm>
            <a:off x="987552" y="4023360"/>
            <a:ext cx="237744" cy="237744"/>
          </a:xfrm>
          <a:prstGeom prst="rect">
            <a:avLst/>
          </a:prstGeom>
        </p:spPr>
      </p:pic>
      <p:sp>
        <p:nvSpPr>
          <p:cNvPr id="15" name="TextBox 14"/>
          <p:cNvSpPr txBox="1"/>
          <p:nvPr/>
        </p:nvSpPr>
        <p:spPr>
          <a:xfrm>
            <a:off x="1353312" y="3877056"/>
            <a:ext cx="5029200" cy="530352"/>
          </a:xfrm>
          <a:prstGeom prst="rect">
            <a:avLst/>
          </a:prstGeom>
          <a:noFill/>
        </p:spPr>
        <p:txBody>
          <a:bodyPr wrap="square" anchor="ctr" lIns="0" rIns="0" tIns="0" bIns="0">
            <a:spAutoFit/>
          </a:bodyPr>
          <a:lstStyle/>
          <a:p>
            <a:pPr algn="l">
              <a:lnSpc>
                <a:spcPct val="106000"/>
              </a:lnSpc>
              <a:spcBef>
                <a:spcPts val="0"/>
              </a:spcBef>
              <a:spcAft>
                <a:spcPts val="0"/>
              </a:spcAft>
            </a:pPr>
            <a:r>
              <a:rPr sz="1200" b="0">
                <a:solidFill>
                  <a:srgbClr val="1A1A1A"/>
                </a:solidFill>
                <a:latin typeface="Red Hat Text"/>
              </a:rPr>
              <a:t>CVE-2026-46519: a sibling server's read-only mode filtered tool *discovery*, not *execution* — bypassable</a:t>
            </a:r>
          </a:p>
        </p:txBody>
      </p:sp>
      <p:sp>
        <p:nvSpPr>
          <p:cNvPr id="16" name="Rounded Rectangle 15"/>
          <p:cNvSpPr/>
          <p:nvPr/>
        </p:nvSpPr>
        <p:spPr>
          <a:xfrm>
            <a:off x="841248" y="4480560"/>
            <a:ext cx="5715000" cy="530352"/>
          </a:xfrm>
          <a:prstGeom prst="roundRect">
            <a:avLst>
              <a:gd name="adj" fmla="val 6000"/>
            </a:avLst>
          </a:prstGeom>
          <a:solidFill>
            <a:srgbClr val="F5F6F8"/>
          </a:solidFill>
          <a:ln w="12700">
            <a:solidFill>
              <a:srgbClr val="DDE1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7" name="Picture 16" descr="check_steel.png"/>
          <p:cNvPicPr>
            <a:picLocks noChangeAspect="1"/>
          </p:cNvPicPr>
          <p:nvPr/>
        </p:nvPicPr>
        <p:blipFill>
          <a:blip r:embed="rId3"/>
          <a:stretch>
            <a:fillRect/>
          </a:stretch>
        </p:blipFill>
        <p:spPr>
          <a:xfrm>
            <a:off x="987552" y="4626864"/>
            <a:ext cx="237744" cy="237744"/>
          </a:xfrm>
          <a:prstGeom prst="rect">
            <a:avLst/>
          </a:prstGeom>
        </p:spPr>
      </p:pic>
      <p:sp>
        <p:nvSpPr>
          <p:cNvPr id="18" name="TextBox 17"/>
          <p:cNvSpPr txBox="1"/>
          <p:nvPr/>
        </p:nvSpPr>
        <p:spPr>
          <a:xfrm>
            <a:off x="1353312" y="4480560"/>
            <a:ext cx="5029200" cy="530352"/>
          </a:xfrm>
          <a:prstGeom prst="rect">
            <a:avLst/>
          </a:prstGeom>
          <a:noFill/>
        </p:spPr>
        <p:txBody>
          <a:bodyPr wrap="square" anchor="ctr" lIns="0" rIns="0" tIns="0" bIns="0">
            <a:spAutoFit/>
          </a:bodyPr>
          <a:lstStyle/>
          <a:p>
            <a:pPr algn="l">
              <a:lnSpc>
                <a:spcPct val="106000"/>
              </a:lnSpc>
              <a:spcBef>
                <a:spcPts val="0"/>
              </a:spcBef>
              <a:spcAft>
                <a:spcPts val="0"/>
              </a:spcAft>
            </a:pPr>
            <a:r>
              <a:rPr sz="1200" b="0">
                <a:solidFill>
                  <a:srgbClr val="1A1A1A"/>
                </a:solidFill>
                <a:latin typeface="Red Hat Text"/>
              </a:rPr>
              <a:t>The boundary is RBAC on the ServiceAccount, enforced by the API server *underneath* the agent</a:t>
            </a:r>
          </a:p>
        </p:txBody>
      </p:sp>
      <p:sp>
        <p:nvSpPr>
          <p:cNvPr id="19" name="Rounded Rectangle 18"/>
          <p:cNvSpPr/>
          <p:nvPr/>
        </p:nvSpPr>
        <p:spPr>
          <a:xfrm>
            <a:off x="841248" y="5084064"/>
            <a:ext cx="5715000" cy="530352"/>
          </a:xfrm>
          <a:prstGeom prst="roundRect">
            <a:avLst>
              <a:gd name="adj" fmla="val 6000"/>
            </a:avLst>
          </a:prstGeom>
          <a:solidFill>
            <a:srgbClr val="F5F6F8"/>
          </a:solidFill>
          <a:ln w="12700">
            <a:solidFill>
              <a:srgbClr val="DDE1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0" name="Picture 19" descr="check_steel.png"/>
          <p:cNvPicPr>
            <a:picLocks noChangeAspect="1"/>
          </p:cNvPicPr>
          <p:nvPr/>
        </p:nvPicPr>
        <p:blipFill>
          <a:blip r:embed="rId3"/>
          <a:stretch>
            <a:fillRect/>
          </a:stretch>
        </p:blipFill>
        <p:spPr>
          <a:xfrm>
            <a:off x="987552" y="5230368"/>
            <a:ext cx="237744" cy="237744"/>
          </a:xfrm>
          <a:prstGeom prst="rect">
            <a:avLst/>
          </a:prstGeom>
        </p:spPr>
      </p:pic>
      <p:sp>
        <p:nvSpPr>
          <p:cNvPr id="21" name="TextBox 20"/>
          <p:cNvSpPr txBox="1"/>
          <p:nvPr/>
        </p:nvSpPr>
        <p:spPr>
          <a:xfrm>
            <a:off x="1353312" y="5084064"/>
            <a:ext cx="5029200" cy="530352"/>
          </a:xfrm>
          <a:prstGeom prst="rect">
            <a:avLst/>
          </a:prstGeom>
          <a:noFill/>
        </p:spPr>
        <p:txBody>
          <a:bodyPr wrap="square" anchor="ctr" lIns="0" rIns="0" tIns="0" bIns="0">
            <a:spAutoFit/>
          </a:bodyPr>
          <a:lstStyle/>
          <a:p>
            <a:pPr algn="l">
              <a:lnSpc>
                <a:spcPct val="106000"/>
              </a:lnSpc>
              <a:spcBef>
                <a:spcPts val="0"/>
              </a:spcBef>
              <a:spcAft>
                <a:spcPts val="0"/>
              </a:spcAft>
            </a:pPr>
            <a:r>
              <a:rPr sz="1200" b="0">
                <a:solidFill>
                  <a:srgbClr val="1A1A1A"/>
                </a:solidFill>
                <a:latin typeface="Red Hat Text"/>
              </a:rPr>
              <a:t>Set the flags AND scope the identity: belt, suspenders, and a locked door</a:t>
            </a:r>
          </a:p>
        </p:txBody>
      </p:sp>
      <p:sp>
        <p:nvSpPr>
          <p:cNvPr id="22" name="Rounded Rectangle 21"/>
          <p:cNvSpPr/>
          <p:nvPr/>
        </p:nvSpPr>
        <p:spPr>
          <a:xfrm>
            <a:off x="6812280" y="2670048"/>
            <a:ext cx="4538167" cy="2944368"/>
          </a:xfrm>
          <a:prstGeom prst="roundRect">
            <a:avLst>
              <a:gd name="adj" fmla="val 4000"/>
            </a:avLst>
          </a:prstGeom>
          <a:solidFill>
            <a:srgbClr val="FFFFFF"/>
          </a:solidFill>
          <a:ln w="15240">
            <a:solidFill>
              <a:srgbClr val="DDE1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ounded Rectangle 22"/>
          <p:cNvSpPr/>
          <p:nvPr/>
        </p:nvSpPr>
        <p:spPr>
          <a:xfrm>
            <a:off x="7013448" y="2871216"/>
            <a:ext cx="1298448" cy="310896"/>
          </a:xfrm>
          <a:prstGeom prst="roundRect">
            <a:avLst>
              <a:gd name="adj" fmla="val 50000"/>
            </a:avLst>
          </a:prstGeom>
          <a:solidFill>
            <a:srgbClr val="FCEC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7013448" y="2871216"/>
            <a:ext cx="1298448" cy="310896"/>
          </a:xfrm>
          <a:prstGeom prst="rect">
            <a:avLst/>
          </a:prstGeom>
          <a:noFill/>
        </p:spPr>
        <p:txBody>
          <a:bodyPr wrap="none" anchor="ctr" lIns="0" rIns="0" tIns="0" bIns="0">
            <a:spAutoFit/>
          </a:bodyPr>
          <a:lstStyle/>
          <a:p>
            <a:pPr algn="ctr">
              <a:lnSpc>
                <a:spcPct val="106000"/>
              </a:lnSpc>
              <a:spcBef>
                <a:spcPts val="0"/>
              </a:spcBef>
              <a:spcAft>
                <a:spcPts val="0"/>
              </a:spcAft>
            </a:pPr>
            <a:r>
              <a:rPr sz="850" b="1">
                <a:solidFill>
                  <a:srgbClr val="B80000"/>
                </a:solidFill>
                <a:latin typeface="Red Hat Display"/>
              </a:rPr>
              <a:t>MEDIA PASS</a:t>
            </a:r>
          </a:p>
        </p:txBody>
      </p:sp>
      <p:pic>
        <p:nvPicPr>
          <p:cNvPr id="25" name="Picture 24" descr="eye_slate.png"/>
          <p:cNvPicPr>
            <a:picLocks noChangeAspect="1"/>
          </p:cNvPicPr>
          <p:nvPr/>
        </p:nvPicPr>
        <p:blipFill>
          <a:blip r:embed="rId4"/>
          <a:stretch>
            <a:fillRect/>
          </a:stretch>
        </p:blipFill>
        <p:spPr>
          <a:xfrm>
            <a:off x="8843619" y="3383280"/>
            <a:ext cx="475488" cy="475488"/>
          </a:xfrm>
          <a:prstGeom prst="rect">
            <a:avLst/>
          </a:prstGeom>
        </p:spPr>
      </p:pic>
      <p:sp>
        <p:nvSpPr>
          <p:cNvPr id="26" name="TextBox 25"/>
          <p:cNvSpPr txBox="1"/>
          <p:nvPr/>
        </p:nvSpPr>
        <p:spPr>
          <a:xfrm>
            <a:off x="7050024" y="3995928"/>
            <a:ext cx="4062679" cy="1481328"/>
          </a:xfrm>
          <a:prstGeom prst="rect">
            <a:avLst/>
          </a:prstGeom>
          <a:noFill/>
        </p:spPr>
        <p:txBody>
          <a:bodyPr wrap="square" anchor="t" lIns="0" rIns="0" tIns="0" bIns="0">
            <a:spAutoFit/>
          </a:bodyPr>
          <a:lstStyle/>
          <a:p>
            <a:pPr algn="l">
              <a:lnSpc>
                <a:spcPct val="120000"/>
              </a:lnSpc>
              <a:spcBef>
                <a:spcPts val="0"/>
              </a:spcBef>
              <a:spcAft>
                <a:spcPts val="0"/>
              </a:spcAft>
            </a:pPr>
            <a:r>
              <a:rPr sz="950" b="0">
                <a:solidFill>
                  <a:srgbClr val="8A9099"/>
                </a:solidFill>
                <a:latin typeface="Red Hat Text"/>
              </a:rPr>
              <a:t>Two seatbelts (labeled "server --read-only" and "client filter") drawn as thin dashed lines, and behind them a solid vault door labeled "RBAC on mcp-agent (API server enforced)". A small "CVE-2026-46519: seatbelt unbuckled → door still locked" caption.</a:t>
            </a:r>
          </a:p>
        </p:txBody>
      </p:sp>
      <p:cxnSp>
        <p:nvCxnSpPr>
          <p:cNvPr id="27" name="Connector 26"/>
          <p:cNvCxnSpPr/>
          <p:nvPr/>
        </p:nvCxnSpPr>
        <p:spPr>
          <a:xfrm>
            <a:off x="841248" y="6437376"/>
            <a:ext cx="10509199" cy="0"/>
          </a:xfrm>
          <a:prstGeom prst="bentConnector3">
            <a:avLst/>
          </a:prstGeom>
          <a:ln w="12700">
            <a:solidFill>
              <a:srgbClr val="DDE1E6"/>
            </a:solidFill>
          </a:ln>
          <a:effectLst/>
        </p:spPr>
        <p:style>
          <a:lnRef idx="2">
            <a:schemeClr val="accent1"/>
          </a:lnRef>
          <a:fillRef idx="0">
            <a:schemeClr val="accent1"/>
          </a:fillRef>
          <a:effectRef idx="1">
            <a:schemeClr val="accent1"/>
          </a:effectRef>
          <a:fontRef idx="minor">
            <a:schemeClr val="tx1"/>
          </a:fontRef>
        </p:style>
      </p:cxnSp>
      <p:sp>
        <p:nvSpPr>
          <p:cNvPr id="28" name="TextBox 27"/>
          <p:cNvSpPr txBox="1"/>
          <p:nvPr/>
        </p:nvSpPr>
        <p:spPr>
          <a:xfrm>
            <a:off x="841248" y="6473952"/>
            <a:ext cx="7315200" cy="274320"/>
          </a:xfrm>
          <a:prstGeom prst="rect">
            <a:avLst/>
          </a:prstGeom>
          <a:noFill/>
        </p:spPr>
        <p:txBody>
          <a:bodyPr wrap="square" anchor="t" lIns="0" rIns="0" tIns="0" bIns="0">
            <a:spAutoFit/>
          </a:bodyPr>
          <a:lstStyle/>
          <a:p>
            <a:pPr algn="l">
              <a:lnSpc>
                <a:spcPct val="106000"/>
              </a:lnSpc>
              <a:spcBef>
                <a:spcPts val="0"/>
              </a:spcBef>
              <a:spcAft>
                <a:spcPts val="0"/>
              </a:spcAft>
            </a:pPr>
            <a:r>
              <a:rPr sz="950" b="0">
                <a:solidFill>
                  <a:srgbClr val="8A9099"/>
                </a:solidFill>
                <a:latin typeface="Red Hat Text"/>
              </a:rPr>
              <a:t>CONFIDENTIAL</a:t>
            </a:r>
          </a:p>
        </p:txBody>
      </p:sp>
      <p:sp>
        <p:nvSpPr>
          <p:cNvPr id="29" name="TextBox 28"/>
          <p:cNvSpPr txBox="1"/>
          <p:nvPr/>
        </p:nvSpPr>
        <p:spPr>
          <a:xfrm>
            <a:off x="10801807" y="6473952"/>
            <a:ext cx="548640" cy="274320"/>
          </a:xfrm>
          <a:prstGeom prst="rect">
            <a:avLst/>
          </a:prstGeom>
          <a:noFill/>
        </p:spPr>
        <p:txBody>
          <a:bodyPr wrap="square" anchor="t" lIns="0" rIns="0" tIns="0" bIns="0">
            <a:spAutoFit/>
          </a:bodyPr>
          <a:lstStyle/>
          <a:p>
            <a:pPr algn="r">
              <a:lnSpc>
                <a:spcPct val="106000"/>
              </a:lnSpc>
              <a:spcBef>
                <a:spcPts val="0"/>
              </a:spcBef>
              <a:spcAft>
                <a:spcPts val="0"/>
              </a:spcAft>
            </a:pPr>
            <a:r>
              <a:rPr sz="950" b="0">
                <a:solidFill>
                  <a:srgbClr val="8A9099"/>
                </a:solidFill>
                <a:latin typeface="Red Hat Text"/>
              </a:rPr>
              <a:t>179</a:t>
            </a:r>
          </a:p>
        </p:txBody>
      </p:sp>
    </p:spTree>
  </p:cSld>
  <p:clrMapOvr>
    <a:masterClrMapping/>
  </p:clrMapOvr>
</p:sld>
</file>

<file path=ppt/slides/slide20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redhat_logo.jpg"/>
          <p:cNvPicPr>
            <a:picLocks noChangeAspect="1"/>
          </p:cNvPicPr>
          <p:nvPr/>
        </p:nvPicPr>
        <p:blipFill>
          <a:blip r:embed="rId2"/>
          <a:stretch>
            <a:fillRect/>
          </a:stretch>
        </p:blipFill>
        <p:spPr>
          <a:xfrm>
            <a:off x="10326319" y="475488"/>
            <a:ext cx="1024128" cy="242248"/>
          </a:xfrm>
          <a:prstGeom prst="rect">
            <a:avLst/>
          </a:prstGeom>
        </p:spPr>
      </p:pic>
      <p:sp>
        <p:nvSpPr>
          <p:cNvPr id="3" name="TextBox 2"/>
          <p:cNvSpPr txBox="1"/>
          <p:nvPr/>
        </p:nvSpPr>
        <p:spPr>
          <a:xfrm>
            <a:off x="841248" y="548640"/>
            <a:ext cx="8595360" cy="274320"/>
          </a:xfrm>
          <a:prstGeom prst="rect">
            <a:avLst/>
          </a:prstGeom>
          <a:noFill/>
        </p:spPr>
        <p:txBody>
          <a:bodyPr wrap="square" anchor="t" lIns="0" rIns="0" tIns="0" bIns="0">
            <a:spAutoFit/>
          </a:bodyPr>
          <a:lstStyle/>
          <a:p>
            <a:pPr algn="l">
              <a:lnSpc>
                <a:spcPct val="106000"/>
              </a:lnSpc>
              <a:spcBef>
                <a:spcPts val="0"/>
              </a:spcBef>
              <a:spcAft>
                <a:spcPts val="0"/>
              </a:spcAft>
            </a:pPr>
            <a:r>
              <a:rPr sz="1250" b="1" spc="220">
                <a:solidFill>
                  <a:srgbClr val="EE0000"/>
                </a:solidFill>
                <a:latin typeface="Red Hat Display"/>
              </a:rPr>
              <a:t>M25 · AI-ASSISTED DEVELOPMENT ON OPENSHIFT</a:t>
            </a:r>
          </a:p>
        </p:txBody>
      </p:sp>
      <p:sp>
        <p:nvSpPr>
          <p:cNvPr id="4" name="TextBox 3"/>
          <p:cNvSpPr txBox="1"/>
          <p:nvPr/>
        </p:nvSpPr>
        <p:spPr>
          <a:xfrm>
            <a:off x="841248" y="877824"/>
            <a:ext cx="10515600" cy="548640"/>
          </a:xfrm>
          <a:prstGeom prst="rect">
            <a:avLst/>
          </a:prstGeom>
          <a:noFill/>
        </p:spPr>
        <p:txBody>
          <a:bodyPr wrap="none" anchor="t" lIns="0" rIns="0" tIns="0" bIns="0">
            <a:spAutoFit/>
          </a:bodyPr>
          <a:lstStyle/>
          <a:p>
            <a:pPr algn="l">
              <a:lnSpc>
                <a:spcPct val="100000"/>
              </a:lnSpc>
              <a:spcBef>
                <a:spcPts val="0"/>
              </a:spcBef>
              <a:spcAft>
                <a:spcPts val="0"/>
              </a:spcAft>
            </a:pPr>
            <a:r>
              <a:rPr sz="2500" b="1">
                <a:solidFill>
                  <a:srgbClr val="1A1A1A"/>
                </a:solidFill>
                <a:latin typeface="Red Hat Display"/>
              </a:rPr>
              <a:t>Diagnose read-only</a:t>
            </a:r>
          </a:p>
        </p:txBody>
      </p:sp>
      <p:cxnSp>
        <p:nvCxnSpPr>
          <p:cNvPr id="5" name="Connector 4"/>
          <p:cNvCxnSpPr/>
          <p:nvPr/>
        </p:nvCxnSpPr>
        <p:spPr>
          <a:xfrm>
            <a:off x="841248" y="1554480"/>
            <a:ext cx="1371600" cy="0"/>
          </a:xfrm>
          <a:prstGeom prst="bentConnector3">
            <a:avLst/>
          </a:prstGeom>
          <a:ln w="31750">
            <a:solidFill>
              <a:srgbClr val="EE0000"/>
            </a:solidFill>
          </a:ln>
          <a:effectLst/>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841248" y="1664208"/>
            <a:ext cx="10515600" cy="365760"/>
          </a:xfrm>
          <a:prstGeom prst="rect">
            <a:avLst/>
          </a:prstGeom>
          <a:noFill/>
        </p:spPr>
        <p:txBody>
          <a:bodyPr wrap="square" anchor="t" lIns="0" rIns="0" tIns="0" bIns="0">
            <a:spAutoFit/>
          </a:bodyPr>
          <a:lstStyle/>
          <a:p>
            <a:pPr algn="l">
              <a:lnSpc>
                <a:spcPct val="106000"/>
              </a:lnSpc>
              <a:spcBef>
                <a:spcPts val="0"/>
              </a:spcBef>
              <a:spcAft>
                <a:spcPts val="0"/>
              </a:spcAft>
            </a:pPr>
            <a:r>
              <a:rPr sz="1350" b="0">
                <a:solidFill>
                  <a:srgbClr val="555960"/>
                </a:solidFill>
                <a:latin typeface="Red Hat Text"/>
              </a:rPr>
              <a:t>watch the trace, verify the claim</a:t>
            </a:r>
          </a:p>
        </p:txBody>
      </p:sp>
      <p:sp>
        <p:nvSpPr>
          <p:cNvPr id="7" name="Rounded Rectangle 6"/>
          <p:cNvSpPr/>
          <p:nvPr/>
        </p:nvSpPr>
        <p:spPr>
          <a:xfrm>
            <a:off x="841248" y="2670048"/>
            <a:ext cx="5715000" cy="530352"/>
          </a:xfrm>
          <a:prstGeom prst="roundRect">
            <a:avLst>
              <a:gd name="adj" fmla="val 6000"/>
            </a:avLst>
          </a:prstGeom>
          <a:solidFill>
            <a:srgbClr val="F5F6F8"/>
          </a:solidFill>
          <a:ln w="12700">
            <a:solidFill>
              <a:srgbClr val="DDE1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check_steel.png"/>
          <p:cNvPicPr>
            <a:picLocks noChangeAspect="1"/>
          </p:cNvPicPr>
          <p:nvPr/>
        </p:nvPicPr>
        <p:blipFill>
          <a:blip r:embed="rId3"/>
          <a:stretch>
            <a:fillRect/>
          </a:stretch>
        </p:blipFill>
        <p:spPr>
          <a:xfrm>
            <a:off x="987552" y="2816352"/>
            <a:ext cx="237744" cy="237744"/>
          </a:xfrm>
          <a:prstGeom prst="rect">
            <a:avLst/>
          </a:prstGeom>
        </p:spPr>
      </p:pic>
      <p:sp>
        <p:nvSpPr>
          <p:cNvPr id="9" name="TextBox 8"/>
          <p:cNvSpPr txBox="1"/>
          <p:nvPr/>
        </p:nvSpPr>
        <p:spPr>
          <a:xfrm>
            <a:off x="1353312" y="2670048"/>
            <a:ext cx="5029200" cy="530352"/>
          </a:xfrm>
          <a:prstGeom prst="rect">
            <a:avLst/>
          </a:prstGeom>
          <a:noFill/>
        </p:spPr>
        <p:txBody>
          <a:bodyPr wrap="square" anchor="ctr" lIns="0" rIns="0" tIns="0" bIns="0">
            <a:spAutoFit/>
          </a:bodyPr>
          <a:lstStyle/>
          <a:p>
            <a:pPr algn="l">
              <a:lnSpc>
                <a:spcPct val="106000"/>
              </a:lnSpc>
              <a:spcBef>
                <a:spcPts val="0"/>
              </a:spcBef>
              <a:spcAft>
                <a:spcPts val="0"/>
              </a:spcAft>
            </a:pPr>
            <a:r>
              <a:rPr sz="1200" b="0">
                <a:solidFill>
                  <a:srgbClr val="1A1A1A"/>
                </a:solidFill>
                <a:latin typeface="Red Hat Text"/>
              </a:rPr>
              <a:t>Ask the agent why the claims service is broken — imperatively: "list pods, get the deployment, read events"</a:t>
            </a:r>
          </a:p>
        </p:txBody>
      </p:sp>
      <p:sp>
        <p:nvSpPr>
          <p:cNvPr id="10" name="Rounded Rectangle 9"/>
          <p:cNvSpPr/>
          <p:nvPr/>
        </p:nvSpPr>
        <p:spPr>
          <a:xfrm>
            <a:off x="841248" y="3273552"/>
            <a:ext cx="5715000" cy="530352"/>
          </a:xfrm>
          <a:prstGeom prst="roundRect">
            <a:avLst>
              <a:gd name="adj" fmla="val 6000"/>
            </a:avLst>
          </a:prstGeom>
          <a:solidFill>
            <a:srgbClr val="F5F6F8"/>
          </a:solidFill>
          <a:ln w="12700">
            <a:solidFill>
              <a:srgbClr val="DDE1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1" name="Picture 10" descr="check_steel.png"/>
          <p:cNvPicPr>
            <a:picLocks noChangeAspect="1"/>
          </p:cNvPicPr>
          <p:nvPr/>
        </p:nvPicPr>
        <p:blipFill>
          <a:blip r:embed="rId3"/>
          <a:stretch>
            <a:fillRect/>
          </a:stretch>
        </p:blipFill>
        <p:spPr>
          <a:xfrm>
            <a:off x="987552" y="3419856"/>
            <a:ext cx="237744" cy="237744"/>
          </a:xfrm>
          <a:prstGeom prst="rect">
            <a:avLst/>
          </a:prstGeom>
        </p:spPr>
      </p:pic>
      <p:sp>
        <p:nvSpPr>
          <p:cNvPr id="12" name="TextBox 11"/>
          <p:cNvSpPr txBox="1"/>
          <p:nvPr/>
        </p:nvSpPr>
        <p:spPr>
          <a:xfrm>
            <a:off x="1353312" y="3273552"/>
            <a:ext cx="5029200" cy="530352"/>
          </a:xfrm>
          <a:prstGeom prst="rect">
            <a:avLst/>
          </a:prstGeom>
          <a:noFill/>
        </p:spPr>
        <p:txBody>
          <a:bodyPr wrap="square" anchor="ctr" lIns="0" rIns="0" tIns="0" bIns="0">
            <a:spAutoFit/>
          </a:bodyPr>
          <a:lstStyle/>
          <a:p>
            <a:pPr algn="l">
              <a:lnSpc>
                <a:spcPct val="106000"/>
              </a:lnSpc>
              <a:spcBef>
                <a:spcPts val="0"/>
              </a:spcBef>
              <a:spcAft>
                <a:spcPts val="0"/>
              </a:spcAft>
            </a:pPr>
            <a:r>
              <a:rPr sz="1200" b="0">
                <a:solidFill>
                  <a:srgbClr val="1A1A1A"/>
                </a:solidFill>
                <a:latin typeface="Red Hat Text"/>
              </a:rPr>
              <a:t>It calls the cluster: pods_list_in_namespace → resources_get → events_list (the tool-call trace is the receipt)</a:t>
            </a:r>
          </a:p>
        </p:txBody>
      </p:sp>
      <p:sp>
        <p:nvSpPr>
          <p:cNvPr id="13" name="Rounded Rectangle 12"/>
          <p:cNvSpPr/>
          <p:nvPr/>
        </p:nvSpPr>
        <p:spPr>
          <a:xfrm>
            <a:off x="841248" y="3877056"/>
            <a:ext cx="5715000" cy="530352"/>
          </a:xfrm>
          <a:prstGeom prst="roundRect">
            <a:avLst>
              <a:gd name="adj" fmla="val 6000"/>
            </a:avLst>
          </a:prstGeom>
          <a:solidFill>
            <a:srgbClr val="F5F6F8"/>
          </a:solidFill>
          <a:ln w="12700">
            <a:solidFill>
              <a:srgbClr val="DDE1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4" name="Picture 13" descr="check_steel.png"/>
          <p:cNvPicPr>
            <a:picLocks noChangeAspect="1"/>
          </p:cNvPicPr>
          <p:nvPr/>
        </p:nvPicPr>
        <p:blipFill>
          <a:blip r:embed="rId3"/>
          <a:stretch>
            <a:fillRect/>
          </a:stretch>
        </p:blipFill>
        <p:spPr>
          <a:xfrm>
            <a:off x="987552" y="4023360"/>
            <a:ext cx="237744" cy="237744"/>
          </a:xfrm>
          <a:prstGeom prst="rect">
            <a:avLst/>
          </a:prstGeom>
        </p:spPr>
      </p:pic>
      <p:sp>
        <p:nvSpPr>
          <p:cNvPr id="15" name="TextBox 14"/>
          <p:cNvSpPr txBox="1"/>
          <p:nvPr/>
        </p:nvSpPr>
        <p:spPr>
          <a:xfrm>
            <a:off x="1353312" y="3877056"/>
            <a:ext cx="5029200" cy="530352"/>
          </a:xfrm>
          <a:prstGeom prst="rect">
            <a:avLst/>
          </a:prstGeom>
          <a:noFill/>
        </p:spPr>
        <p:txBody>
          <a:bodyPr wrap="square" anchor="ctr" lIns="0" rIns="0" tIns="0" bIns="0">
            <a:spAutoFit/>
          </a:bodyPr>
          <a:lstStyle/>
          <a:p>
            <a:pPr algn="l">
              <a:lnSpc>
                <a:spcPct val="106000"/>
              </a:lnSpc>
              <a:spcBef>
                <a:spcPts val="0"/>
              </a:spcBef>
              <a:spcAft>
                <a:spcPts val="0"/>
              </a:spcAft>
            </a:pPr>
            <a:r>
              <a:rPr sz="1200" b="0">
                <a:solidFill>
                  <a:srgbClr val="1A1A1A"/>
                </a:solidFill>
                <a:latin typeface="Red Hat Text"/>
              </a:rPr>
              <a:t>Grounded answer: the readiness probe points at /q/health/reddy, which 404s</a:t>
            </a:r>
          </a:p>
        </p:txBody>
      </p:sp>
      <p:sp>
        <p:nvSpPr>
          <p:cNvPr id="16" name="Rounded Rectangle 15"/>
          <p:cNvSpPr/>
          <p:nvPr/>
        </p:nvSpPr>
        <p:spPr>
          <a:xfrm>
            <a:off x="841248" y="4480560"/>
            <a:ext cx="5715000" cy="530352"/>
          </a:xfrm>
          <a:prstGeom prst="roundRect">
            <a:avLst>
              <a:gd name="adj" fmla="val 6000"/>
            </a:avLst>
          </a:prstGeom>
          <a:solidFill>
            <a:srgbClr val="F5F6F8"/>
          </a:solidFill>
          <a:ln w="12700">
            <a:solidFill>
              <a:srgbClr val="DDE1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7" name="Picture 16" descr="check_steel.png"/>
          <p:cNvPicPr>
            <a:picLocks noChangeAspect="1"/>
          </p:cNvPicPr>
          <p:nvPr/>
        </p:nvPicPr>
        <p:blipFill>
          <a:blip r:embed="rId3"/>
          <a:stretch>
            <a:fillRect/>
          </a:stretch>
        </p:blipFill>
        <p:spPr>
          <a:xfrm>
            <a:off x="987552" y="4626864"/>
            <a:ext cx="237744" cy="237744"/>
          </a:xfrm>
          <a:prstGeom prst="rect">
            <a:avLst/>
          </a:prstGeom>
        </p:spPr>
      </p:pic>
      <p:sp>
        <p:nvSpPr>
          <p:cNvPr id="18" name="TextBox 17"/>
          <p:cNvSpPr txBox="1"/>
          <p:nvPr/>
        </p:nvSpPr>
        <p:spPr>
          <a:xfrm>
            <a:off x="1353312" y="4480560"/>
            <a:ext cx="5029200" cy="530352"/>
          </a:xfrm>
          <a:prstGeom prst="rect">
            <a:avLst/>
          </a:prstGeom>
          <a:noFill/>
        </p:spPr>
        <p:txBody>
          <a:bodyPr wrap="square" anchor="ctr" lIns="0" rIns="0" tIns="0" bIns="0">
            <a:spAutoFit/>
          </a:bodyPr>
          <a:lstStyle/>
          <a:p>
            <a:pPr algn="l">
              <a:lnSpc>
                <a:spcPct val="106000"/>
              </a:lnSpc>
              <a:spcBef>
                <a:spcPts val="0"/>
              </a:spcBef>
              <a:spcAft>
                <a:spcPts val="0"/>
              </a:spcAft>
            </a:pPr>
            <a:r>
              <a:rPr sz="1200" b="0">
                <a:solidFill>
                  <a:srgbClr val="1A1A1A"/>
                </a:solidFill>
                <a:latin typeface="Red Hat Text"/>
              </a:rPr>
              <a:t>Then verify it YOURSELF with oc — the agent told the truth, and you checked</a:t>
            </a:r>
          </a:p>
        </p:txBody>
      </p:sp>
      <p:sp>
        <p:nvSpPr>
          <p:cNvPr id="19" name="Rounded Rectangle 18"/>
          <p:cNvSpPr/>
          <p:nvPr/>
        </p:nvSpPr>
        <p:spPr>
          <a:xfrm>
            <a:off x="841248" y="5084064"/>
            <a:ext cx="5715000" cy="530352"/>
          </a:xfrm>
          <a:prstGeom prst="roundRect">
            <a:avLst>
              <a:gd name="adj" fmla="val 6000"/>
            </a:avLst>
          </a:prstGeom>
          <a:solidFill>
            <a:srgbClr val="F5F6F8"/>
          </a:solidFill>
          <a:ln w="12700">
            <a:solidFill>
              <a:srgbClr val="DDE1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0" name="Picture 19" descr="check_steel.png"/>
          <p:cNvPicPr>
            <a:picLocks noChangeAspect="1"/>
          </p:cNvPicPr>
          <p:nvPr/>
        </p:nvPicPr>
        <p:blipFill>
          <a:blip r:embed="rId3"/>
          <a:stretch>
            <a:fillRect/>
          </a:stretch>
        </p:blipFill>
        <p:spPr>
          <a:xfrm>
            <a:off x="987552" y="5230368"/>
            <a:ext cx="237744" cy="237744"/>
          </a:xfrm>
          <a:prstGeom prst="rect">
            <a:avLst/>
          </a:prstGeom>
        </p:spPr>
      </p:pic>
      <p:sp>
        <p:nvSpPr>
          <p:cNvPr id="21" name="TextBox 20"/>
          <p:cNvSpPr txBox="1"/>
          <p:nvPr/>
        </p:nvSpPr>
        <p:spPr>
          <a:xfrm>
            <a:off x="1353312" y="5084064"/>
            <a:ext cx="5029200" cy="530352"/>
          </a:xfrm>
          <a:prstGeom prst="rect">
            <a:avLst/>
          </a:prstGeom>
          <a:noFill/>
        </p:spPr>
        <p:txBody>
          <a:bodyPr wrap="square" anchor="ctr" lIns="0" rIns="0" tIns="0" bIns="0">
            <a:spAutoFit/>
          </a:bodyPr>
          <a:lstStyle/>
          <a:p>
            <a:pPr algn="l">
              <a:lnSpc>
                <a:spcPct val="106000"/>
              </a:lnSpc>
              <a:spcBef>
                <a:spcPts val="0"/>
              </a:spcBef>
              <a:spcAft>
                <a:spcPts val="0"/>
              </a:spcAft>
            </a:pPr>
            <a:r>
              <a:rPr sz="1200" b="0">
                <a:solidFill>
                  <a:srgbClr val="1A1A1A"/>
                </a:solidFill>
                <a:latin typeface="Red Hat Text"/>
              </a:rPr>
              <a:t>Grounding is engineered: terse prompts make some models narrate a tool call as text instead of running it</a:t>
            </a:r>
          </a:p>
        </p:txBody>
      </p:sp>
      <p:sp>
        <p:nvSpPr>
          <p:cNvPr id="22" name="Rounded Rectangle 21"/>
          <p:cNvSpPr/>
          <p:nvPr/>
        </p:nvSpPr>
        <p:spPr>
          <a:xfrm>
            <a:off x="6812280" y="2670048"/>
            <a:ext cx="4538167" cy="2944368"/>
          </a:xfrm>
          <a:prstGeom prst="roundRect">
            <a:avLst>
              <a:gd name="adj" fmla="val 4000"/>
            </a:avLst>
          </a:prstGeom>
          <a:solidFill>
            <a:srgbClr val="FFFFFF"/>
          </a:solidFill>
          <a:ln w="15240">
            <a:solidFill>
              <a:srgbClr val="DDE1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ounded Rectangle 22"/>
          <p:cNvSpPr/>
          <p:nvPr/>
        </p:nvSpPr>
        <p:spPr>
          <a:xfrm>
            <a:off x="7013448" y="2871216"/>
            <a:ext cx="1298448" cy="310896"/>
          </a:xfrm>
          <a:prstGeom prst="roundRect">
            <a:avLst>
              <a:gd name="adj" fmla="val 50000"/>
            </a:avLst>
          </a:prstGeom>
          <a:solidFill>
            <a:srgbClr val="FCEC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7013448" y="2871216"/>
            <a:ext cx="1298448" cy="310896"/>
          </a:xfrm>
          <a:prstGeom prst="rect">
            <a:avLst/>
          </a:prstGeom>
          <a:noFill/>
        </p:spPr>
        <p:txBody>
          <a:bodyPr wrap="none" anchor="ctr" lIns="0" rIns="0" tIns="0" bIns="0">
            <a:spAutoFit/>
          </a:bodyPr>
          <a:lstStyle/>
          <a:p>
            <a:pPr algn="ctr">
              <a:lnSpc>
                <a:spcPct val="106000"/>
              </a:lnSpc>
              <a:spcBef>
                <a:spcPts val="0"/>
              </a:spcBef>
              <a:spcAft>
                <a:spcPts val="0"/>
              </a:spcAft>
            </a:pPr>
            <a:r>
              <a:rPr sz="850" b="1">
                <a:solidFill>
                  <a:srgbClr val="B80000"/>
                </a:solidFill>
                <a:latin typeface="Red Hat Display"/>
              </a:rPr>
              <a:t>MEDIA PASS</a:t>
            </a:r>
          </a:p>
        </p:txBody>
      </p:sp>
      <p:pic>
        <p:nvPicPr>
          <p:cNvPr id="25" name="Picture 24" descr="eye_slate.png"/>
          <p:cNvPicPr>
            <a:picLocks noChangeAspect="1"/>
          </p:cNvPicPr>
          <p:nvPr/>
        </p:nvPicPr>
        <p:blipFill>
          <a:blip r:embed="rId4"/>
          <a:stretch>
            <a:fillRect/>
          </a:stretch>
        </p:blipFill>
        <p:spPr>
          <a:xfrm>
            <a:off x="8843619" y="3383280"/>
            <a:ext cx="475488" cy="475488"/>
          </a:xfrm>
          <a:prstGeom prst="rect">
            <a:avLst/>
          </a:prstGeom>
        </p:spPr>
      </p:pic>
      <p:sp>
        <p:nvSpPr>
          <p:cNvPr id="26" name="TextBox 25"/>
          <p:cNvSpPr txBox="1"/>
          <p:nvPr/>
        </p:nvSpPr>
        <p:spPr>
          <a:xfrm>
            <a:off x="7050024" y="3995928"/>
            <a:ext cx="4062679" cy="1481328"/>
          </a:xfrm>
          <a:prstGeom prst="rect">
            <a:avLst/>
          </a:prstGeom>
          <a:noFill/>
        </p:spPr>
        <p:txBody>
          <a:bodyPr wrap="square" anchor="t" lIns="0" rIns="0" tIns="0" bIns="0">
            <a:spAutoFit/>
          </a:bodyPr>
          <a:lstStyle/>
          <a:p>
            <a:pPr algn="l">
              <a:lnSpc>
                <a:spcPct val="120000"/>
              </a:lnSpc>
              <a:spcBef>
                <a:spcPts val="0"/>
              </a:spcBef>
              <a:spcAft>
                <a:spcPts val="0"/>
              </a:spcAft>
            </a:pPr>
            <a:r>
              <a:rPr sz="950" b="0">
                <a:solidFill>
                  <a:srgbClr val="8A9099"/>
                </a:solidFill>
                <a:latin typeface="Red Hat Text"/>
              </a:rPr>
              <a:t>A terminal showing the TOOL-CALL TRACE (3 calls) block, with a green check beside the answer and a second panel showing the matching `oc get ... /q/health/reddy` + the 404 event — "the agent's claim, verified."</a:t>
            </a:r>
          </a:p>
        </p:txBody>
      </p:sp>
      <p:cxnSp>
        <p:nvCxnSpPr>
          <p:cNvPr id="27" name="Connector 26"/>
          <p:cNvCxnSpPr/>
          <p:nvPr/>
        </p:nvCxnSpPr>
        <p:spPr>
          <a:xfrm>
            <a:off x="841248" y="6437376"/>
            <a:ext cx="10509199" cy="0"/>
          </a:xfrm>
          <a:prstGeom prst="bentConnector3">
            <a:avLst/>
          </a:prstGeom>
          <a:ln w="12700">
            <a:solidFill>
              <a:srgbClr val="DDE1E6"/>
            </a:solidFill>
          </a:ln>
          <a:effectLst/>
        </p:spPr>
        <p:style>
          <a:lnRef idx="2">
            <a:schemeClr val="accent1"/>
          </a:lnRef>
          <a:fillRef idx="0">
            <a:schemeClr val="accent1"/>
          </a:fillRef>
          <a:effectRef idx="1">
            <a:schemeClr val="accent1"/>
          </a:effectRef>
          <a:fontRef idx="minor">
            <a:schemeClr val="tx1"/>
          </a:fontRef>
        </p:style>
      </p:cxnSp>
      <p:sp>
        <p:nvSpPr>
          <p:cNvPr id="28" name="TextBox 27"/>
          <p:cNvSpPr txBox="1"/>
          <p:nvPr/>
        </p:nvSpPr>
        <p:spPr>
          <a:xfrm>
            <a:off x="841248" y="6473952"/>
            <a:ext cx="7315200" cy="274320"/>
          </a:xfrm>
          <a:prstGeom prst="rect">
            <a:avLst/>
          </a:prstGeom>
          <a:noFill/>
        </p:spPr>
        <p:txBody>
          <a:bodyPr wrap="square" anchor="t" lIns="0" rIns="0" tIns="0" bIns="0">
            <a:spAutoFit/>
          </a:bodyPr>
          <a:lstStyle/>
          <a:p>
            <a:pPr algn="l">
              <a:lnSpc>
                <a:spcPct val="106000"/>
              </a:lnSpc>
              <a:spcBef>
                <a:spcPts val="0"/>
              </a:spcBef>
              <a:spcAft>
                <a:spcPts val="0"/>
              </a:spcAft>
            </a:pPr>
            <a:r>
              <a:rPr sz="950" b="0">
                <a:solidFill>
                  <a:srgbClr val="8A9099"/>
                </a:solidFill>
                <a:latin typeface="Red Hat Text"/>
              </a:rPr>
              <a:t>CONFIDENTIAL</a:t>
            </a:r>
          </a:p>
        </p:txBody>
      </p:sp>
      <p:sp>
        <p:nvSpPr>
          <p:cNvPr id="29" name="TextBox 28"/>
          <p:cNvSpPr txBox="1"/>
          <p:nvPr/>
        </p:nvSpPr>
        <p:spPr>
          <a:xfrm>
            <a:off x="10801807" y="6473952"/>
            <a:ext cx="548640" cy="274320"/>
          </a:xfrm>
          <a:prstGeom prst="rect">
            <a:avLst/>
          </a:prstGeom>
          <a:noFill/>
        </p:spPr>
        <p:txBody>
          <a:bodyPr wrap="square" anchor="t" lIns="0" rIns="0" tIns="0" bIns="0">
            <a:spAutoFit/>
          </a:bodyPr>
          <a:lstStyle/>
          <a:p>
            <a:pPr algn="r">
              <a:lnSpc>
                <a:spcPct val="106000"/>
              </a:lnSpc>
              <a:spcBef>
                <a:spcPts val="0"/>
              </a:spcBef>
              <a:spcAft>
                <a:spcPts val="0"/>
              </a:spcAft>
            </a:pPr>
            <a:r>
              <a:rPr sz="950" b="0">
                <a:solidFill>
                  <a:srgbClr val="8A9099"/>
                </a:solidFill>
                <a:latin typeface="Red Hat Text"/>
              </a:rPr>
              <a:t>180</a:t>
            </a:r>
          </a:p>
        </p:txBody>
      </p:sp>
    </p:spTree>
  </p:cSld>
  <p:clrMapOvr>
    <a:masterClrMapping/>
  </p:clrMapOvr>
</p:sld>
</file>

<file path=ppt/slides/slide20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redhat_logo.jpg"/>
          <p:cNvPicPr>
            <a:picLocks noChangeAspect="1"/>
          </p:cNvPicPr>
          <p:nvPr/>
        </p:nvPicPr>
        <p:blipFill>
          <a:blip r:embed="rId2"/>
          <a:stretch>
            <a:fillRect/>
          </a:stretch>
        </p:blipFill>
        <p:spPr>
          <a:xfrm>
            <a:off x="10326319" y="475488"/>
            <a:ext cx="1024128" cy="242248"/>
          </a:xfrm>
          <a:prstGeom prst="rect">
            <a:avLst/>
          </a:prstGeom>
        </p:spPr>
      </p:pic>
      <p:sp>
        <p:nvSpPr>
          <p:cNvPr id="3" name="TextBox 2"/>
          <p:cNvSpPr txBox="1"/>
          <p:nvPr/>
        </p:nvSpPr>
        <p:spPr>
          <a:xfrm>
            <a:off x="841248" y="548640"/>
            <a:ext cx="8595360" cy="274320"/>
          </a:xfrm>
          <a:prstGeom prst="rect">
            <a:avLst/>
          </a:prstGeom>
          <a:noFill/>
        </p:spPr>
        <p:txBody>
          <a:bodyPr wrap="square" anchor="t" lIns="0" rIns="0" tIns="0" bIns="0">
            <a:spAutoFit/>
          </a:bodyPr>
          <a:lstStyle/>
          <a:p>
            <a:pPr algn="l">
              <a:lnSpc>
                <a:spcPct val="106000"/>
              </a:lnSpc>
              <a:spcBef>
                <a:spcPts val="0"/>
              </a:spcBef>
              <a:spcAft>
                <a:spcPts val="0"/>
              </a:spcAft>
            </a:pPr>
            <a:r>
              <a:rPr sz="1250" b="1" spc="220">
                <a:solidFill>
                  <a:srgbClr val="EE0000"/>
                </a:solidFill>
                <a:latin typeface="Red Hat Display"/>
              </a:rPr>
              <a:t>M25 · AI-ASSISTED DEVELOPMENT ON OPENSHIFT</a:t>
            </a:r>
          </a:p>
        </p:txBody>
      </p:sp>
      <p:sp>
        <p:nvSpPr>
          <p:cNvPr id="4" name="TextBox 3"/>
          <p:cNvSpPr txBox="1"/>
          <p:nvPr/>
        </p:nvSpPr>
        <p:spPr>
          <a:xfrm>
            <a:off x="841248" y="877824"/>
            <a:ext cx="10515600" cy="548640"/>
          </a:xfrm>
          <a:prstGeom prst="rect">
            <a:avLst/>
          </a:prstGeom>
          <a:noFill/>
        </p:spPr>
        <p:txBody>
          <a:bodyPr wrap="none" anchor="t" lIns="0" rIns="0" tIns="0" bIns="0">
            <a:spAutoFit/>
          </a:bodyPr>
          <a:lstStyle/>
          <a:p>
            <a:pPr algn="l">
              <a:lnSpc>
                <a:spcPct val="100000"/>
              </a:lnSpc>
              <a:spcBef>
                <a:spcPts val="0"/>
              </a:spcBef>
              <a:spcAft>
                <a:spcPts val="0"/>
              </a:spcAft>
            </a:pPr>
            <a:r>
              <a:rPr sz="2500" b="1">
                <a:solidFill>
                  <a:srgbClr val="1A1A1A"/>
                </a:solidFill>
                <a:latin typeface="Red Hat Display"/>
              </a:rPr>
              <a:t>Scoped write on purpose</a:t>
            </a:r>
          </a:p>
        </p:txBody>
      </p:sp>
      <p:cxnSp>
        <p:nvCxnSpPr>
          <p:cNvPr id="5" name="Connector 4"/>
          <p:cNvCxnSpPr/>
          <p:nvPr/>
        </p:nvCxnSpPr>
        <p:spPr>
          <a:xfrm>
            <a:off x="841248" y="1554480"/>
            <a:ext cx="1371600" cy="0"/>
          </a:xfrm>
          <a:prstGeom prst="bentConnector3">
            <a:avLst/>
          </a:prstGeom>
          <a:ln w="31750">
            <a:solidFill>
              <a:srgbClr val="EE0000"/>
            </a:solidFill>
          </a:ln>
          <a:effectLst/>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841248" y="1664208"/>
            <a:ext cx="10515600" cy="365760"/>
          </a:xfrm>
          <a:prstGeom prst="rect">
            <a:avLst/>
          </a:prstGeom>
          <a:noFill/>
        </p:spPr>
        <p:txBody>
          <a:bodyPr wrap="square" anchor="t" lIns="0" rIns="0" tIns="0" bIns="0">
            <a:spAutoFit/>
          </a:bodyPr>
          <a:lstStyle/>
          <a:p>
            <a:pPr algn="l">
              <a:lnSpc>
                <a:spcPct val="106000"/>
              </a:lnSpc>
              <a:spcBef>
                <a:spcPts val="0"/>
              </a:spcBef>
              <a:spcAft>
                <a:spcPts val="0"/>
              </a:spcAft>
            </a:pPr>
            <a:r>
              <a:rPr sz="1350" b="0">
                <a:solidFill>
                  <a:srgbClr val="555960"/>
                </a:solidFill>
                <a:latin typeface="Red Hat Text"/>
              </a:rPr>
              <a:t>the human grant, the fix, the audit</a:t>
            </a:r>
          </a:p>
        </p:txBody>
      </p:sp>
      <p:sp>
        <p:nvSpPr>
          <p:cNvPr id="7" name="Rounded Rectangle 6"/>
          <p:cNvSpPr/>
          <p:nvPr/>
        </p:nvSpPr>
        <p:spPr>
          <a:xfrm>
            <a:off x="841248" y="2670048"/>
            <a:ext cx="5715000" cy="530352"/>
          </a:xfrm>
          <a:prstGeom prst="roundRect">
            <a:avLst>
              <a:gd name="adj" fmla="val 6000"/>
            </a:avLst>
          </a:prstGeom>
          <a:solidFill>
            <a:srgbClr val="F5F6F8"/>
          </a:solidFill>
          <a:ln w="12700">
            <a:solidFill>
              <a:srgbClr val="DDE1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check_steel.png"/>
          <p:cNvPicPr>
            <a:picLocks noChangeAspect="1"/>
          </p:cNvPicPr>
          <p:nvPr/>
        </p:nvPicPr>
        <p:blipFill>
          <a:blip r:embed="rId3"/>
          <a:stretch>
            <a:fillRect/>
          </a:stretch>
        </p:blipFill>
        <p:spPr>
          <a:xfrm>
            <a:off x="987552" y="2816352"/>
            <a:ext cx="237744" cy="237744"/>
          </a:xfrm>
          <a:prstGeom prst="rect">
            <a:avLst/>
          </a:prstGeom>
        </p:spPr>
      </p:pic>
      <p:sp>
        <p:nvSpPr>
          <p:cNvPr id="9" name="TextBox 8"/>
          <p:cNvSpPr txBox="1"/>
          <p:nvPr/>
        </p:nvSpPr>
        <p:spPr>
          <a:xfrm>
            <a:off x="1353312" y="2670048"/>
            <a:ext cx="5029200" cy="530352"/>
          </a:xfrm>
          <a:prstGeom prst="rect">
            <a:avLst/>
          </a:prstGeom>
          <a:noFill/>
        </p:spPr>
        <p:txBody>
          <a:bodyPr wrap="square" anchor="ctr" lIns="0" rIns="0" tIns="0" bIns="0">
            <a:spAutoFit/>
          </a:bodyPr>
          <a:lstStyle/>
          <a:p>
            <a:pPr algn="l">
              <a:lnSpc>
                <a:spcPct val="106000"/>
              </a:lnSpc>
              <a:spcBef>
                <a:spcPts val="0"/>
              </a:spcBef>
              <a:spcAft>
                <a:spcPts val="0"/>
              </a:spcAft>
            </a:pPr>
            <a:r>
              <a:rPr sz="1200" b="0">
                <a:solidFill>
                  <a:srgbClr val="1A1A1A"/>
                </a:solidFill>
                <a:latin typeface="Red Hat Text"/>
              </a:rPr>
              <a:t>Diagnosing is safe; fixing means writing — and writing is YOUR decision</a:t>
            </a:r>
          </a:p>
        </p:txBody>
      </p:sp>
      <p:sp>
        <p:nvSpPr>
          <p:cNvPr id="10" name="Rounded Rectangle 9"/>
          <p:cNvSpPr/>
          <p:nvPr/>
        </p:nvSpPr>
        <p:spPr>
          <a:xfrm>
            <a:off x="841248" y="3273552"/>
            <a:ext cx="5715000" cy="530352"/>
          </a:xfrm>
          <a:prstGeom prst="roundRect">
            <a:avLst>
              <a:gd name="adj" fmla="val 6000"/>
            </a:avLst>
          </a:prstGeom>
          <a:solidFill>
            <a:srgbClr val="F5F6F8"/>
          </a:solidFill>
          <a:ln w="12700">
            <a:solidFill>
              <a:srgbClr val="DDE1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1" name="Picture 10" descr="check_steel.png"/>
          <p:cNvPicPr>
            <a:picLocks noChangeAspect="1"/>
          </p:cNvPicPr>
          <p:nvPr/>
        </p:nvPicPr>
        <p:blipFill>
          <a:blip r:embed="rId3"/>
          <a:stretch>
            <a:fillRect/>
          </a:stretch>
        </p:blipFill>
        <p:spPr>
          <a:xfrm>
            <a:off x="987552" y="3419856"/>
            <a:ext cx="237744" cy="237744"/>
          </a:xfrm>
          <a:prstGeom prst="rect">
            <a:avLst/>
          </a:prstGeom>
        </p:spPr>
      </p:pic>
      <p:sp>
        <p:nvSpPr>
          <p:cNvPr id="12" name="TextBox 11"/>
          <p:cNvSpPr txBox="1"/>
          <p:nvPr/>
        </p:nvSpPr>
        <p:spPr>
          <a:xfrm>
            <a:off x="1353312" y="3273552"/>
            <a:ext cx="5029200" cy="530352"/>
          </a:xfrm>
          <a:prstGeom prst="rect">
            <a:avLst/>
          </a:prstGeom>
          <a:noFill/>
        </p:spPr>
        <p:txBody>
          <a:bodyPr wrap="square" anchor="ctr" lIns="0" rIns="0" tIns="0" bIns="0">
            <a:spAutoFit/>
          </a:bodyPr>
          <a:lstStyle/>
          <a:p>
            <a:pPr algn="l">
              <a:lnSpc>
                <a:spcPct val="106000"/>
              </a:lnSpc>
              <a:spcBef>
                <a:spcPts val="0"/>
              </a:spcBef>
              <a:spcAft>
                <a:spcPts val="0"/>
              </a:spcAft>
            </a:pPr>
            <a:r>
              <a:rPr sz="1200" b="0">
                <a:solidFill>
                  <a:srgbClr val="1A1A1A"/>
                </a:solidFill>
                <a:latin typeface="Red Hat Text"/>
              </a:rPr>
              <a:t>Grant a small deployer Role: patch deployments, this namespace only, no secrets, no scale</a:t>
            </a:r>
          </a:p>
        </p:txBody>
      </p:sp>
      <p:sp>
        <p:nvSpPr>
          <p:cNvPr id="13" name="Rounded Rectangle 12"/>
          <p:cNvSpPr/>
          <p:nvPr/>
        </p:nvSpPr>
        <p:spPr>
          <a:xfrm>
            <a:off x="841248" y="3877056"/>
            <a:ext cx="5715000" cy="530352"/>
          </a:xfrm>
          <a:prstGeom prst="roundRect">
            <a:avLst>
              <a:gd name="adj" fmla="val 6000"/>
            </a:avLst>
          </a:prstGeom>
          <a:solidFill>
            <a:srgbClr val="F5F6F8"/>
          </a:solidFill>
          <a:ln w="12700">
            <a:solidFill>
              <a:srgbClr val="DDE1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4" name="Picture 13" descr="check_steel.png"/>
          <p:cNvPicPr>
            <a:picLocks noChangeAspect="1"/>
          </p:cNvPicPr>
          <p:nvPr/>
        </p:nvPicPr>
        <p:blipFill>
          <a:blip r:embed="rId3"/>
          <a:stretch>
            <a:fillRect/>
          </a:stretch>
        </p:blipFill>
        <p:spPr>
          <a:xfrm>
            <a:off x="987552" y="4023360"/>
            <a:ext cx="237744" cy="237744"/>
          </a:xfrm>
          <a:prstGeom prst="rect">
            <a:avLst/>
          </a:prstGeom>
        </p:spPr>
      </p:pic>
      <p:sp>
        <p:nvSpPr>
          <p:cNvPr id="15" name="TextBox 14"/>
          <p:cNvSpPr txBox="1"/>
          <p:nvPr/>
        </p:nvSpPr>
        <p:spPr>
          <a:xfrm>
            <a:off x="1353312" y="3877056"/>
            <a:ext cx="5029200" cy="530352"/>
          </a:xfrm>
          <a:prstGeom prst="rect">
            <a:avLst/>
          </a:prstGeom>
          <a:noFill/>
        </p:spPr>
        <p:txBody>
          <a:bodyPr wrap="square" anchor="ctr" lIns="0" rIns="0" tIns="0" bIns="0">
            <a:spAutoFit/>
          </a:bodyPr>
          <a:lstStyle/>
          <a:p>
            <a:pPr algn="l">
              <a:lnSpc>
                <a:spcPct val="106000"/>
              </a:lnSpc>
              <a:spcBef>
                <a:spcPts val="0"/>
              </a:spcBef>
              <a:spcAft>
                <a:spcPts val="0"/>
              </a:spcAft>
            </a:pPr>
            <a:r>
              <a:rPr sz="1200" b="0">
                <a:solidFill>
                  <a:srgbClr val="1A1A1A"/>
                </a:solidFill>
                <a:latin typeface="Red Hat Text"/>
              </a:rPr>
              <a:t>Flip the write path on; the client's read-only filter still hides 6 mutating tools (seatbelt)</a:t>
            </a:r>
          </a:p>
        </p:txBody>
      </p:sp>
      <p:sp>
        <p:nvSpPr>
          <p:cNvPr id="16" name="Rounded Rectangle 15"/>
          <p:cNvSpPr/>
          <p:nvPr/>
        </p:nvSpPr>
        <p:spPr>
          <a:xfrm>
            <a:off x="841248" y="4480560"/>
            <a:ext cx="5715000" cy="530352"/>
          </a:xfrm>
          <a:prstGeom prst="roundRect">
            <a:avLst>
              <a:gd name="adj" fmla="val 6000"/>
            </a:avLst>
          </a:prstGeom>
          <a:solidFill>
            <a:srgbClr val="F5F6F8"/>
          </a:solidFill>
          <a:ln w="12700">
            <a:solidFill>
              <a:srgbClr val="DDE1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7" name="Picture 16" descr="check_steel.png"/>
          <p:cNvPicPr>
            <a:picLocks noChangeAspect="1"/>
          </p:cNvPicPr>
          <p:nvPr/>
        </p:nvPicPr>
        <p:blipFill>
          <a:blip r:embed="rId3"/>
          <a:stretch>
            <a:fillRect/>
          </a:stretch>
        </p:blipFill>
        <p:spPr>
          <a:xfrm>
            <a:off x="987552" y="4626864"/>
            <a:ext cx="237744" cy="237744"/>
          </a:xfrm>
          <a:prstGeom prst="rect">
            <a:avLst/>
          </a:prstGeom>
        </p:spPr>
      </p:pic>
      <p:sp>
        <p:nvSpPr>
          <p:cNvPr id="18" name="TextBox 17"/>
          <p:cNvSpPr txBox="1"/>
          <p:nvPr/>
        </p:nvSpPr>
        <p:spPr>
          <a:xfrm>
            <a:off x="1353312" y="4480560"/>
            <a:ext cx="5029200" cy="530352"/>
          </a:xfrm>
          <a:prstGeom prst="rect">
            <a:avLst/>
          </a:prstGeom>
          <a:noFill/>
        </p:spPr>
        <p:txBody>
          <a:bodyPr wrap="square" anchor="ctr" lIns="0" rIns="0" tIns="0" bIns="0">
            <a:spAutoFit/>
          </a:bodyPr>
          <a:lstStyle/>
          <a:p>
            <a:pPr algn="l">
              <a:lnSpc>
                <a:spcPct val="106000"/>
              </a:lnSpc>
              <a:spcBef>
                <a:spcPts val="0"/>
              </a:spcBef>
              <a:spcAft>
                <a:spcPts val="0"/>
              </a:spcAft>
            </a:pPr>
            <a:r>
              <a:rPr sz="1200" b="0">
                <a:solidFill>
                  <a:srgbClr val="1A1A1A"/>
                </a:solidFill>
                <a:latin typeface="Red Hat Text"/>
              </a:rPr>
              <a:t>The agent patches the one bad field → parasol-claims goes 1/1</a:t>
            </a:r>
          </a:p>
        </p:txBody>
      </p:sp>
      <p:sp>
        <p:nvSpPr>
          <p:cNvPr id="19" name="Rounded Rectangle 18"/>
          <p:cNvSpPr/>
          <p:nvPr/>
        </p:nvSpPr>
        <p:spPr>
          <a:xfrm>
            <a:off x="841248" y="5084064"/>
            <a:ext cx="5715000" cy="530352"/>
          </a:xfrm>
          <a:prstGeom prst="roundRect">
            <a:avLst>
              <a:gd name="adj" fmla="val 6000"/>
            </a:avLst>
          </a:prstGeom>
          <a:solidFill>
            <a:srgbClr val="F5F6F8"/>
          </a:solidFill>
          <a:ln w="12700">
            <a:solidFill>
              <a:srgbClr val="DDE1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0" name="Picture 19" descr="check_steel.png"/>
          <p:cNvPicPr>
            <a:picLocks noChangeAspect="1"/>
          </p:cNvPicPr>
          <p:nvPr/>
        </p:nvPicPr>
        <p:blipFill>
          <a:blip r:embed="rId3"/>
          <a:stretch>
            <a:fillRect/>
          </a:stretch>
        </p:blipFill>
        <p:spPr>
          <a:xfrm>
            <a:off x="987552" y="5230368"/>
            <a:ext cx="237744" cy="237744"/>
          </a:xfrm>
          <a:prstGeom prst="rect">
            <a:avLst/>
          </a:prstGeom>
        </p:spPr>
      </p:pic>
      <p:sp>
        <p:nvSpPr>
          <p:cNvPr id="21" name="TextBox 20"/>
          <p:cNvSpPr txBox="1"/>
          <p:nvPr/>
        </p:nvSpPr>
        <p:spPr>
          <a:xfrm>
            <a:off x="1353312" y="5084064"/>
            <a:ext cx="5029200" cy="530352"/>
          </a:xfrm>
          <a:prstGeom prst="rect">
            <a:avLst/>
          </a:prstGeom>
          <a:noFill/>
        </p:spPr>
        <p:txBody>
          <a:bodyPr wrap="square" anchor="ctr" lIns="0" rIns="0" tIns="0" bIns="0">
            <a:spAutoFit/>
          </a:bodyPr>
          <a:lstStyle/>
          <a:p>
            <a:pPr algn="l">
              <a:lnSpc>
                <a:spcPct val="106000"/>
              </a:lnSpc>
              <a:spcBef>
                <a:spcPts val="0"/>
              </a:spcBef>
              <a:spcAft>
                <a:spcPts val="0"/>
              </a:spcAft>
            </a:pPr>
            <a:r>
              <a:rPr sz="1200" b="0">
                <a:solidFill>
                  <a:srgbClr val="1A1A1A"/>
                </a:solidFill>
                <a:latin typeface="Red Hat Text"/>
              </a:rPr>
              <a:t>managedFields records the writer: manager = kubernetes-mcp-server — an auditable trail</a:t>
            </a:r>
          </a:p>
        </p:txBody>
      </p:sp>
      <p:sp>
        <p:nvSpPr>
          <p:cNvPr id="22" name="Rounded Rectangle 21"/>
          <p:cNvSpPr/>
          <p:nvPr/>
        </p:nvSpPr>
        <p:spPr>
          <a:xfrm>
            <a:off x="6812280" y="2670048"/>
            <a:ext cx="4538167" cy="2944368"/>
          </a:xfrm>
          <a:prstGeom prst="roundRect">
            <a:avLst>
              <a:gd name="adj" fmla="val 4000"/>
            </a:avLst>
          </a:prstGeom>
          <a:solidFill>
            <a:srgbClr val="FFFFFF"/>
          </a:solidFill>
          <a:ln w="15240">
            <a:solidFill>
              <a:srgbClr val="DDE1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ounded Rectangle 22"/>
          <p:cNvSpPr/>
          <p:nvPr/>
        </p:nvSpPr>
        <p:spPr>
          <a:xfrm>
            <a:off x="7013448" y="2871216"/>
            <a:ext cx="1298448" cy="310896"/>
          </a:xfrm>
          <a:prstGeom prst="roundRect">
            <a:avLst>
              <a:gd name="adj" fmla="val 50000"/>
            </a:avLst>
          </a:prstGeom>
          <a:solidFill>
            <a:srgbClr val="FCEC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7013448" y="2871216"/>
            <a:ext cx="1298448" cy="310896"/>
          </a:xfrm>
          <a:prstGeom prst="rect">
            <a:avLst/>
          </a:prstGeom>
          <a:noFill/>
        </p:spPr>
        <p:txBody>
          <a:bodyPr wrap="none" anchor="ctr" lIns="0" rIns="0" tIns="0" bIns="0">
            <a:spAutoFit/>
          </a:bodyPr>
          <a:lstStyle/>
          <a:p>
            <a:pPr algn="ctr">
              <a:lnSpc>
                <a:spcPct val="106000"/>
              </a:lnSpc>
              <a:spcBef>
                <a:spcPts val="0"/>
              </a:spcBef>
              <a:spcAft>
                <a:spcPts val="0"/>
              </a:spcAft>
            </a:pPr>
            <a:r>
              <a:rPr sz="850" b="1">
                <a:solidFill>
                  <a:srgbClr val="B80000"/>
                </a:solidFill>
                <a:latin typeface="Red Hat Display"/>
              </a:rPr>
              <a:t>MEDIA PASS</a:t>
            </a:r>
          </a:p>
        </p:txBody>
      </p:sp>
      <p:pic>
        <p:nvPicPr>
          <p:cNvPr id="25" name="Picture 24" descr="eye_slate.png"/>
          <p:cNvPicPr>
            <a:picLocks noChangeAspect="1"/>
          </p:cNvPicPr>
          <p:nvPr/>
        </p:nvPicPr>
        <p:blipFill>
          <a:blip r:embed="rId4"/>
          <a:stretch>
            <a:fillRect/>
          </a:stretch>
        </p:blipFill>
        <p:spPr>
          <a:xfrm>
            <a:off x="8843619" y="3383280"/>
            <a:ext cx="475488" cy="475488"/>
          </a:xfrm>
          <a:prstGeom prst="rect">
            <a:avLst/>
          </a:prstGeom>
        </p:spPr>
      </p:pic>
      <p:sp>
        <p:nvSpPr>
          <p:cNvPr id="26" name="TextBox 25"/>
          <p:cNvSpPr txBox="1"/>
          <p:nvPr/>
        </p:nvSpPr>
        <p:spPr>
          <a:xfrm>
            <a:off x="7050024" y="3995928"/>
            <a:ext cx="4062679" cy="1481328"/>
          </a:xfrm>
          <a:prstGeom prst="rect">
            <a:avLst/>
          </a:prstGeom>
          <a:noFill/>
        </p:spPr>
        <p:txBody>
          <a:bodyPr wrap="square" anchor="t" lIns="0" rIns="0" tIns="0" bIns="0">
            <a:spAutoFit/>
          </a:bodyPr>
          <a:lstStyle/>
          <a:p>
            <a:pPr algn="l">
              <a:lnSpc>
                <a:spcPct val="120000"/>
              </a:lnSpc>
              <a:spcBef>
                <a:spcPts val="0"/>
              </a:spcBef>
              <a:spcAft>
                <a:spcPts val="0"/>
              </a:spcAft>
            </a:pPr>
            <a:r>
              <a:rPr sz="950" b="0">
                <a:solidFill>
                  <a:srgbClr val="8A9099"/>
                </a:solidFill>
                <a:latin typeface="Red Hat Text"/>
              </a:rPr>
              <a:t>A three-panel strip: (1) the deployer Role YAML with "no secrets, no scale" circled; (2) can-i matrix (patch deployments: yes / get secrets: no); (3) parasol-claims 0/1 → 1/1 with a managedFields callout "manager: kubernetes-mcp-server".</a:t>
            </a:r>
          </a:p>
        </p:txBody>
      </p:sp>
      <p:cxnSp>
        <p:nvCxnSpPr>
          <p:cNvPr id="27" name="Connector 26"/>
          <p:cNvCxnSpPr/>
          <p:nvPr/>
        </p:nvCxnSpPr>
        <p:spPr>
          <a:xfrm>
            <a:off x="841248" y="6437376"/>
            <a:ext cx="10509199" cy="0"/>
          </a:xfrm>
          <a:prstGeom prst="bentConnector3">
            <a:avLst/>
          </a:prstGeom>
          <a:ln w="12700">
            <a:solidFill>
              <a:srgbClr val="DDE1E6"/>
            </a:solidFill>
          </a:ln>
          <a:effectLst/>
        </p:spPr>
        <p:style>
          <a:lnRef idx="2">
            <a:schemeClr val="accent1"/>
          </a:lnRef>
          <a:fillRef idx="0">
            <a:schemeClr val="accent1"/>
          </a:fillRef>
          <a:effectRef idx="1">
            <a:schemeClr val="accent1"/>
          </a:effectRef>
          <a:fontRef idx="minor">
            <a:schemeClr val="tx1"/>
          </a:fontRef>
        </p:style>
      </p:cxnSp>
      <p:sp>
        <p:nvSpPr>
          <p:cNvPr id="28" name="TextBox 27"/>
          <p:cNvSpPr txBox="1"/>
          <p:nvPr/>
        </p:nvSpPr>
        <p:spPr>
          <a:xfrm>
            <a:off x="841248" y="6473952"/>
            <a:ext cx="7315200" cy="274320"/>
          </a:xfrm>
          <a:prstGeom prst="rect">
            <a:avLst/>
          </a:prstGeom>
          <a:noFill/>
        </p:spPr>
        <p:txBody>
          <a:bodyPr wrap="square" anchor="t" lIns="0" rIns="0" tIns="0" bIns="0">
            <a:spAutoFit/>
          </a:bodyPr>
          <a:lstStyle/>
          <a:p>
            <a:pPr algn="l">
              <a:lnSpc>
                <a:spcPct val="106000"/>
              </a:lnSpc>
              <a:spcBef>
                <a:spcPts val="0"/>
              </a:spcBef>
              <a:spcAft>
                <a:spcPts val="0"/>
              </a:spcAft>
            </a:pPr>
            <a:r>
              <a:rPr sz="950" b="0">
                <a:solidFill>
                  <a:srgbClr val="8A9099"/>
                </a:solidFill>
                <a:latin typeface="Red Hat Text"/>
              </a:rPr>
              <a:t>CONFIDENTIAL</a:t>
            </a:r>
          </a:p>
        </p:txBody>
      </p:sp>
      <p:sp>
        <p:nvSpPr>
          <p:cNvPr id="29" name="TextBox 28"/>
          <p:cNvSpPr txBox="1"/>
          <p:nvPr/>
        </p:nvSpPr>
        <p:spPr>
          <a:xfrm>
            <a:off x="10801807" y="6473952"/>
            <a:ext cx="548640" cy="274320"/>
          </a:xfrm>
          <a:prstGeom prst="rect">
            <a:avLst/>
          </a:prstGeom>
          <a:noFill/>
        </p:spPr>
        <p:txBody>
          <a:bodyPr wrap="square" anchor="t" lIns="0" rIns="0" tIns="0" bIns="0">
            <a:spAutoFit/>
          </a:bodyPr>
          <a:lstStyle/>
          <a:p>
            <a:pPr algn="r">
              <a:lnSpc>
                <a:spcPct val="106000"/>
              </a:lnSpc>
              <a:spcBef>
                <a:spcPts val="0"/>
              </a:spcBef>
              <a:spcAft>
                <a:spcPts val="0"/>
              </a:spcAft>
            </a:pPr>
            <a:r>
              <a:rPr sz="950" b="0">
                <a:solidFill>
                  <a:srgbClr val="8A9099"/>
                </a:solidFill>
                <a:latin typeface="Red Hat Text"/>
              </a:rPr>
              <a:t>181</a:t>
            </a:r>
          </a:p>
        </p:txBody>
      </p:sp>
    </p:spTree>
  </p:cSld>
  <p:clrMapOvr>
    <a:masterClrMapping/>
  </p:clrMapOvr>
</p:sld>
</file>

<file path=ppt/slides/slide20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redhat_logo.jpg"/>
          <p:cNvPicPr>
            <a:picLocks noChangeAspect="1"/>
          </p:cNvPicPr>
          <p:nvPr/>
        </p:nvPicPr>
        <p:blipFill>
          <a:blip r:embed="rId2"/>
          <a:stretch>
            <a:fillRect/>
          </a:stretch>
        </p:blipFill>
        <p:spPr>
          <a:xfrm>
            <a:off x="10326319" y="475488"/>
            <a:ext cx="1024128" cy="242248"/>
          </a:xfrm>
          <a:prstGeom prst="rect">
            <a:avLst/>
          </a:prstGeom>
        </p:spPr>
      </p:pic>
      <p:sp>
        <p:nvSpPr>
          <p:cNvPr id="3" name="TextBox 2"/>
          <p:cNvSpPr txBox="1"/>
          <p:nvPr/>
        </p:nvSpPr>
        <p:spPr>
          <a:xfrm>
            <a:off x="841248" y="548640"/>
            <a:ext cx="8595360" cy="274320"/>
          </a:xfrm>
          <a:prstGeom prst="rect">
            <a:avLst/>
          </a:prstGeom>
          <a:noFill/>
        </p:spPr>
        <p:txBody>
          <a:bodyPr wrap="square" anchor="t" lIns="0" rIns="0" tIns="0" bIns="0">
            <a:spAutoFit/>
          </a:bodyPr>
          <a:lstStyle/>
          <a:p>
            <a:pPr algn="l">
              <a:lnSpc>
                <a:spcPct val="106000"/>
              </a:lnSpc>
              <a:spcBef>
                <a:spcPts val="0"/>
              </a:spcBef>
              <a:spcAft>
                <a:spcPts val="0"/>
              </a:spcAft>
            </a:pPr>
            <a:r>
              <a:rPr sz="1250" b="1" spc="220">
                <a:solidFill>
                  <a:srgbClr val="EE0000"/>
                </a:solidFill>
                <a:latin typeface="Red Hat Display"/>
              </a:rPr>
              <a:t>M25 · AI-ASSISTED DEVELOPMENT ON OPENSHIFT</a:t>
            </a:r>
          </a:p>
        </p:txBody>
      </p:sp>
      <p:sp>
        <p:nvSpPr>
          <p:cNvPr id="4" name="TextBox 3"/>
          <p:cNvSpPr txBox="1"/>
          <p:nvPr/>
        </p:nvSpPr>
        <p:spPr>
          <a:xfrm>
            <a:off x="841248" y="877824"/>
            <a:ext cx="10515600" cy="548640"/>
          </a:xfrm>
          <a:prstGeom prst="rect">
            <a:avLst/>
          </a:prstGeom>
          <a:noFill/>
        </p:spPr>
        <p:txBody>
          <a:bodyPr wrap="none" anchor="t" lIns="0" rIns="0" tIns="0" bIns="0">
            <a:spAutoFit/>
          </a:bodyPr>
          <a:lstStyle/>
          <a:p>
            <a:pPr algn="l">
              <a:lnSpc>
                <a:spcPct val="100000"/>
              </a:lnSpc>
              <a:spcBef>
                <a:spcPts val="0"/>
              </a:spcBef>
              <a:spcAft>
                <a:spcPts val="0"/>
              </a:spcAft>
            </a:pPr>
            <a:r>
              <a:rPr sz="2500" b="1">
                <a:solidFill>
                  <a:srgbClr val="1A1A1A"/>
                </a:solidFill>
                <a:latin typeface="Red Hat Display"/>
              </a:rPr>
              <a:t>The forbidden test — watch RBAC say no</a:t>
            </a:r>
          </a:p>
        </p:txBody>
      </p:sp>
      <p:cxnSp>
        <p:nvCxnSpPr>
          <p:cNvPr id="5" name="Connector 4"/>
          <p:cNvCxnSpPr/>
          <p:nvPr/>
        </p:nvCxnSpPr>
        <p:spPr>
          <a:xfrm>
            <a:off x="841248" y="1554480"/>
            <a:ext cx="1371600" cy="0"/>
          </a:xfrm>
          <a:prstGeom prst="bentConnector3">
            <a:avLst/>
          </a:prstGeom>
          <a:ln w="31750">
            <a:solidFill>
              <a:srgbClr val="EE0000"/>
            </a:solidFill>
          </a:ln>
          <a:effectLst/>
        </p:spPr>
        <p:style>
          <a:lnRef idx="2">
            <a:schemeClr val="accent1"/>
          </a:lnRef>
          <a:fillRef idx="0">
            <a:schemeClr val="accent1"/>
          </a:fillRef>
          <a:effectRef idx="1">
            <a:schemeClr val="accent1"/>
          </a:effectRef>
          <a:fontRef idx="minor">
            <a:schemeClr val="tx1"/>
          </a:fontRef>
        </p:style>
      </p:cxnSp>
      <p:sp>
        <p:nvSpPr>
          <p:cNvPr id="6" name="Rounded Rectangle 5"/>
          <p:cNvSpPr/>
          <p:nvPr/>
        </p:nvSpPr>
        <p:spPr>
          <a:xfrm>
            <a:off x="841248" y="2395728"/>
            <a:ext cx="5715000" cy="530352"/>
          </a:xfrm>
          <a:prstGeom prst="roundRect">
            <a:avLst>
              <a:gd name="adj" fmla="val 6000"/>
            </a:avLst>
          </a:prstGeom>
          <a:solidFill>
            <a:srgbClr val="F5F6F8"/>
          </a:solidFill>
          <a:ln w="12700">
            <a:solidFill>
              <a:srgbClr val="DDE1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check_steel.png"/>
          <p:cNvPicPr>
            <a:picLocks noChangeAspect="1"/>
          </p:cNvPicPr>
          <p:nvPr/>
        </p:nvPicPr>
        <p:blipFill>
          <a:blip r:embed="rId3"/>
          <a:stretch>
            <a:fillRect/>
          </a:stretch>
        </p:blipFill>
        <p:spPr>
          <a:xfrm>
            <a:off x="987552" y="2542032"/>
            <a:ext cx="237744" cy="237744"/>
          </a:xfrm>
          <a:prstGeom prst="rect">
            <a:avLst/>
          </a:prstGeom>
        </p:spPr>
      </p:pic>
      <p:sp>
        <p:nvSpPr>
          <p:cNvPr id="8" name="TextBox 7"/>
          <p:cNvSpPr txBox="1"/>
          <p:nvPr/>
        </p:nvSpPr>
        <p:spPr>
          <a:xfrm>
            <a:off x="1353312" y="2395728"/>
            <a:ext cx="5029200" cy="530352"/>
          </a:xfrm>
          <a:prstGeom prst="rect">
            <a:avLst/>
          </a:prstGeom>
          <a:noFill/>
        </p:spPr>
        <p:txBody>
          <a:bodyPr wrap="square" anchor="ctr" lIns="0" rIns="0" tIns="0" bIns="0">
            <a:spAutoFit/>
          </a:bodyPr>
          <a:lstStyle/>
          <a:p>
            <a:pPr algn="l">
              <a:lnSpc>
                <a:spcPct val="106000"/>
              </a:lnSpc>
              <a:spcBef>
                <a:spcPts val="0"/>
              </a:spcBef>
              <a:spcAft>
                <a:spcPts val="0"/>
              </a:spcAft>
            </a:pPr>
            <a:r>
              <a:rPr sz="1200" b="0">
                <a:solidFill>
                  <a:srgbClr val="1A1A1A"/>
                </a:solidFill>
                <a:latin typeface="Red Hat Text"/>
              </a:rPr>
              <a:t>Same agent, writes still enabled — now point it at a NEIGHBOURING namespace</a:t>
            </a:r>
          </a:p>
        </p:txBody>
      </p:sp>
      <p:sp>
        <p:nvSpPr>
          <p:cNvPr id="9" name="Rounded Rectangle 8"/>
          <p:cNvSpPr/>
          <p:nvPr/>
        </p:nvSpPr>
        <p:spPr>
          <a:xfrm>
            <a:off x="841248" y="2999232"/>
            <a:ext cx="5715000" cy="530352"/>
          </a:xfrm>
          <a:prstGeom prst="roundRect">
            <a:avLst>
              <a:gd name="adj" fmla="val 6000"/>
            </a:avLst>
          </a:prstGeom>
          <a:solidFill>
            <a:srgbClr val="F5F6F8"/>
          </a:solidFill>
          <a:ln w="12700">
            <a:solidFill>
              <a:srgbClr val="DDE1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0" name="Picture 9" descr="check_steel.png"/>
          <p:cNvPicPr>
            <a:picLocks noChangeAspect="1"/>
          </p:cNvPicPr>
          <p:nvPr/>
        </p:nvPicPr>
        <p:blipFill>
          <a:blip r:embed="rId3"/>
          <a:stretch>
            <a:fillRect/>
          </a:stretch>
        </p:blipFill>
        <p:spPr>
          <a:xfrm>
            <a:off x="987552" y="3145536"/>
            <a:ext cx="237744" cy="237744"/>
          </a:xfrm>
          <a:prstGeom prst="rect">
            <a:avLst/>
          </a:prstGeom>
        </p:spPr>
      </p:pic>
      <p:sp>
        <p:nvSpPr>
          <p:cNvPr id="11" name="TextBox 10"/>
          <p:cNvSpPr txBox="1"/>
          <p:nvPr/>
        </p:nvSpPr>
        <p:spPr>
          <a:xfrm>
            <a:off x="1353312" y="2999232"/>
            <a:ext cx="5029200" cy="530352"/>
          </a:xfrm>
          <a:prstGeom prst="rect">
            <a:avLst/>
          </a:prstGeom>
          <a:noFill/>
        </p:spPr>
        <p:txBody>
          <a:bodyPr wrap="square" anchor="ctr" lIns="0" rIns="0" tIns="0" bIns="0">
            <a:spAutoFit/>
          </a:bodyPr>
          <a:lstStyle/>
          <a:p>
            <a:pPr algn="l">
              <a:lnSpc>
                <a:spcPct val="106000"/>
              </a:lnSpc>
              <a:spcBef>
                <a:spcPts val="0"/>
              </a:spcBef>
              <a:spcAft>
                <a:spcPts val="0"/>
              </a:spcAft>
            </a:pPr>
            <a:r>
              <a:rPr sz="1200" b="0">
                <a:solidFill>
                  <a:srgbClr val="1A1A1A"/>
                </a:solidFill>
                <a:latin typeface="Red Hat Text"/>
              </a:rPr>
              <a:t>It genuinely tries: the trace shows pods_list_in_namespace on user1-dev</a:t>
            </a:r>
          </a:p>
        </p:txBody>
      </p:sp>
      <p:sp>
        <p:nvSpPr>
          <p:cNvPr id="12" name="Rounded Rectangle 11"/>
          <p:cNvSpPr/>
          <p:nvPr/>
        </p:nvSpPr>
        <p:spPr>
          <a:xfrm>
            <a:off x="841248" y="3602736"/>
            <a:ext cx="5715000" cy="530352"/>
          </a:xfrm>
          <a:prstGeom prst="roundRect">
            <a:avLst>
              <a:gd name="adj" fmla="val 6000"/>
            </a:avLst>
          </a:prstGeom>
          <a:solidFill>
            <a:srgbClr val="F5F6F8"/>
          </a:solidFill>
          <a:ln w="12700">
            <a:solidFill>
              <a:srgbClr val="DDE1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3" name="Picture 12" descr="check_steel.png"/>
          <p:cNvPicPr>
            <a:picLocks noChangeAspect="1"/>
          </p:cNvPicPr>
          <p:nvPr/>
        </p:nvPicPr>
        <p:blipFill>
          <a:blip r:embed="rId3"/>
          <a:stretch>
            <a:fillRect/>
          </a:stretch>
        </p:blipFill>
        <p:spPr>
          <a:xfrm>
            <a:off x="987552" y="3749040"/>
            <a:ext cx="237744" cy="237744"/>
          </a:xfrm>
          <a:prstGeom prst="rect">
            <a:avLst/>
          </a:prstGeom>
        </p:spPr>
      </p:pic>
      <p:sp>
        <p:nvSpPr>
          <p:cNvPr id="14" name="TextBox 13"/>
          <p:cNvSpPr txBox="1"/>
          <p:nvPr/>
        </p:nvSpPr>
        <p:spPr>
          <a:xfrm>
            <a:off x="1353312" y="3602736"/>
            <a:ext cx="5029200" cy="530352"/>
          </a:xfrm>
          <a:prstGeom prst="rect">
            <a:avLst/>
          </a:prstGeom>
          <a:noFill/>
        </p:spPr>
        <p:txBody>
          <a:bodyPr wrap="square" anchor="ctr" lIns="0" rIns="0" tIns="0" bIns="0">
            <a:spAutoFit/>
          </a:bodyPr>
          <a:lstStyle/>
          <a:p>
            <a:pPr algn="l">
              <a:lnSpc>
                <a:spcPct val="106000"/>
              </a:lnSpc>
              <a:spcBef>
                <a:spcPts val="0"/>
              </a:spcBef>
              <a:spcAft>
                <a:spcPts val="0"/>
              </a:spcAft>
            </a:pPr>
            <a:r>
              <a:rPr sz="1200" b="0">
                <a:solidFill>
                  <a:srgbClr val="1A1A1A"/>
                </a:solidFill>
                <a:latin typeface="Red Hat Text"/>
              </a:rPr>
              <a:t>The API server returns: pods is forbidden … cannot list … in namespace "user1-dev"</a:t>
            </a:r>
          </a:p>
        </p:txBody>
      </p:sp>
      <p:sp>
        <p:nvSpPr>
          <p:cNvPr id="15" name="Rounded Rectangle 14"/>
          <p:cNvSpPr/>
          <p:nvPr/>
        </p:nvSpPr>
        <p:spPr>
          <a:xfrm>
            <a:off x="841248" y="4206240"/>
            <a:ext cx="5715000" cy="530352"/>
          </a:xfrm>
          <a:prstGeom prst="roundRect">
            <a:avLst>
              <a:gd name="adj" fmla="val 6000"/>
            </a:avLst>
          </a:prstGeom>
          <a:solidFill>
            <a:srgbClr val="F5F6F8"/>
          </a:solidFill>
          <a:ln w="12700">
            <a:solidFill>
              <a:srgbClr val="DDE1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6" name="Picture 15" descr="check_steel.png"/>
          <p:cNvPicPr>
            <a:picLocks noChangeAspect="1"/>
          </p:cNvPicPr>
          <p:nvPr/>
        </p:nvPicPr>
        <p:blipFill>
          <a:blip r:embed="rId3"/>
          <a:stretch>
            <a:fillRect/>
          </a:stretch>
        </p:blipFill>
        <p:spPr>
          <a:xfrm>
            <a:off x="987552" y="4352544"/>
            <a:ext cx="237744" cy="237744"/>
          </a:xfrm>
          <a:prstGeom prst="rect">
            <a:avLst/>
          </a:prstGeom>
        </p:spPr>
      </p:pic>
      <p:sp>
        <p:nvSpPr>
          <p:cNvPr id="17" name="TextBox 16"/>
          <p:cNvSpPr txBox="1"/>
          <p:nvPr/>
        </p:nvSpPr>
        <p:spPr>
          <a:xfrm>
            <a:off x="1353312" y="4206240"/>
            <a:ext cx="5029200" cy="530352"/>
          </a:xfrm>
          <a:prstGeom prst="rect">
            <a:avLst/>
          </a:prstGeom>
          <a:noFill/>
        </p:spPr>
        <p:txBody>
          <a:bodyPr wrap="square" anchor="ctr" lIns="0" rIns="0" tIns="0" bIns="0">
            <a:spAutoFit/>
          </a:bodyPr>
          <a:lstStyle/>
          <a:p>
            <a:pPr algn="l">
              <a:lnSpc>
                <a:spcPct val="106000"/>
              </a:lnSpc>
              <a:spcBef>
                <a:spcPts val="0"/>
              </a:spcBef>
              <a:spcAft>
                <a:spcPts val="0"/>
              </a:spcAft>
            </a:pPr>
            <a:r>
              <a:rPr sz="1200" b="0">
                <a:solidFill>
                  <a:srgbClr val="1A1A1A"/>
                </a:solidFill>
                <a:latin typeface="Red Hat Text"/>
              </a:rPr>
              <a:t>Not the agent's manners — mcp-agent has no view there, so it's a 403 the platform enforces</a:t>
            </a:r>
          </a:p>
        </p:txBody>
      </p:sp>
      <p:sp>
        <p:nvSpPr>
          <p:cNvPr id="18" name="Rounded Rectangle 17"/>
          <p:cNvSpPr/>
          <p:nvPr/>
        </p:nvSpPr>
        <p:spPr>
          <a:xfrm>
            <a:off x="841248" y="4809744"/>
            <a:ext cx="5715000" cy="530352"/>
          </a:xfrm>
          <a:prstGeom prst="roundRect">
            <a:avLst>
              <a:gd name="adj" fmla="val 6000"/>
            </a:avLst>
          </a:prstGeom>
          <a:solidFill>
            <a:srgbClr val="F5F6F8"/>
          </a:solidFill>
          <a:ln w="12700">
            <a:solidFill>
              <a:srgbClr val="DDE1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9" name="Picture 18" descr="check_steel.png"/>
          <p:cNvPicPr>
            <a:picLocks noChangeAspect="1"/>
          </p:cNvPicPr>
          <p:nvPr/>
        </p:nvPicPr>
        <p:blipFill>
          <a:blip r:embed="rId3"/>
          <a:stretch>
            <a:fillRect/>
          </a:stretch>
        </p:blipFill>
        <p:spPr>
          <a:xfrm>
            <a:off x="987552" y="4956048"/>
            <a:ext cx="237744" cy="237744"/>
          </a:xfrm>
          <a:prstGeom prst="rect">
            <a:avLst/>
          </a:prstGeom>
        </p:spPr>
      </p:pic>
      <p:sp>
        <p:nvSpPr>
          <p:cNvPr id="20" name="TextBox 19"/>
          <p:cNvSpPr txBox="1"/>
          <p:nvPr/>
        </p:nvSpPr>
        <p:spPr>
          <a:xfrm>
            <a:off x="1353312" y="4809744"/>
            <a:ext cx="5029200" cy="530352"/>
          </a:xfrm>
          <a:prstGeom prst="rect">
            <a:avLst/>
          </a:prstGeom>
          <a:noFill/>
        </p:spPr>
        <p:txBody>
          <a:bodyPr wrap="square" anchor="ctr" lIns="0" rIns="0" tIns="0" bIns="0">
            <a:spAutoFit/>
          </a:bodyPr>
          <a:lstStyle/>
          <a:p>
            <a:pPr algn="l">
              <a:lnSpc>
                <a:spcPct val="106000"/>
              </a:lnSpc>
              <a:spcBef>
                <a:spcPts val="0"/>
              </a:spcBef>
              <a:spcAft>
                <a:spcPts val="0"/>
              </a:spcAft>
            </a:pPr>
            <a:r>
              <a:rPr sz="1200" b="0">
                <a:solidFill>
                  <a:srgbClr val="1A1A1A"/>
                </a:solidFill>
                <a:latin typeface="Red Hat Text"/>
              </a:rPr>
              <a:t>oc auth can-i --as confirms the scope: yes at home, no next door, no cluster-wide</a:t>
            </a:r>
          </a:p>
        </p:txBody>
      </p:sp>
      <p:sp>
        <p:nvSpPr>
          <p:cNvPr id="21" name="Rounded Rectangle 20"/>
          <p:cNvSpPr/>
          <p:nvPr/>
        </p:nvSpPr>
        <p:spPr>
          <a:xfrm>
            <a:off x="6812280" y="2395728"/>
            <a:ext cx="4538167" cy="2944368"/>
          </a:xfrm>
          <a:prstGeom prst="roundRect">
            <a:avLst>
              <a:gd name="adj" fmla="val 4000"/>
            </a:avLst>
          </a:prstGeom>
          <a:solidFill>
            <a:srgbClr val="FFFFFF"/>
          </a:solidFill>
          <a:ln w="15240">
            <a:solidFill>
              <a:srgbClr val="DDE1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ounded Rectangle 21"/>
          <p:cNvSpPr/>
          <p:nvPr/>
        </p:nvSpPr>
        <p:spPr>
          <a:xfrm>
            <a:off x="7013448" y="2596896"/>
            <a:ext cx="1298448" cy="310896"/>
          </a:xfrm>
          <a:prstGeom prst="roundRect">
            <a:avLst>
              <a:gd name="adj" fmla="val 50000"/>
            </a:avLst>
          </a:prstGeom>
          <a:solidFill>
            <a:srgbClr val="FCEC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7013448" y="2596896"/>
            <a:ext cx="1298448" cy="310896"/>
          </a:xfrm>
          <a:prstGeom prst="rect">
            <a:avLst/>
          </a:prstGeom>
          <a:noFill/>
        </p:spPr>
        <p:txBody>
          <a:bodyPr wrap="none" anchor="ctr" lIns="0" rIns="0" tIns="0" bIns="0">
            <a:spAutoFit/>
          </a:bodyPr>
          <a:lstStyle/>
          <a:p>
            <a:pPr algn="ctr">
              <a:lnSpc>
                <a:spcPct val="106000"/>
              </a:lnSpc>
              <a:spcBef>
                <a:spcPts val="0"/>
              </a:spcBef>
              <a:spcAft>
                <a:spcPts val="0"/>
              </a:spcAft>
            </a:pPr>
            <a:r>
              <a:rPr sz="850" b="1">
                <a:solidFill>
                  <a:srgbClr val="B80000"/>
                </a:solidFill>
                <a:latin typeface="Red Hat Display"/>
              </a:rPr>
              <a:t>MEDIA PASS</a:t>
            </a:r>
          </a:p>
        </p:txBody>
      </p:sp>
      <p:pic>
        <p:nvPicPr>
          <p:cNvPr id="24" name="Picture 23" descr="eye_slate.png"/>
          <p:cNvPicPr>
            <a:picLocks noChangeAspect="1"/>
          </p:cNvPicPr>
          <p:nvPr/>
        </p:nvPicPr>
        <p:blipFill>
          <a:blip r:embed="rId4"/>
          <a:stretch>
            <a:fillRect/>
          </a:stretch>
        </p:blipFill>
        <p:spPr>
          <a:xfrm>
            <a:off x="8843619" y="3108960"/>
            <a:ext cx="475488" cy="475488"/>
          </a:xfrm>
          <a:prstGeom prst="rect">
            <a:avLst/>
          </a:prstGeom>
        </p:spPr>
      </p:pic>
      <p:sp>
        <p:nvSpPr>
          <p:cNvPr id="25" name="TextBox 24"/>
          <p:cNvSpPr txBox="1"/>
          <p:nvPr/>
        </p:nvSpPr>
        <p:spPr>
          <a:xfrm>
            <a:off x="7050024" y="3721608"/>
            <a:ext cx="4062679" cy="1481328"/>
          </a:xfrm>
          <a:prstGeom prst="rect">
            <a:avLst/>
          </a:prstGeom>
          <a:noFill/>
        </p:spPr>
        <p:txBody>
          <a:bodyPr wrap="square" anchor="t" lIns="0" rIns="0" tIns="0" bIns="0">
            <a:spAutoFit/>
          </a:bodyPr>
          <a:lstStyle/>
          <a:p>
            <a:pPr algn="l">
              <a:lnSpc>
                <a:spcPct val="120000"/>
              </a:lnSpc>
              <a:spcBef>
                <a:spcPts val="0"/>
              </a:spcBef>
              <a:spcAft>
                <a:spcPts val="0"/>
              </a:spcAft>
            </a:pPr>
            <a:r>
              <a:rPr sz="950" b="0">
                <a:solidFill>
                  <a:srgbClr val="8A9099"/>
                </a:solidFill>
                <a:latin typeface="Red Hat Text"/>
              </a:rPr>
              <a:t>Reuse concept diagram ai-assisted-development-...-02-two-phase-rbac.svg, zoomed on the denial branch: the agent's call to user1-dev bouncing off a red RBAC wall labeled "403 — no binding here", with the can-i matrix (yes/no/no) beside it.</a:t>
            </a:r>
          </a:p>
        </p:txBody>
      </p:sp>
      <p:cxnSp>
        <p:nvCxnSpPr>
          <p:cNvPr id="26" name="Connector 25"/>
          <p:cNvCxnSpPr/>
          <p:nvPr/>
        </p:nvCxnSpPr>
        <p:spPr>
          <a:xfrm>
            <a:off x="841248" y="6437376"/>
            <a:ext cx="10509199" cy="0"/>
          </a:xfrm>
          <a:prstGeom prst="bentConnector3">
            <a:avLst/>
          </a:prstGeom>
          <a:ln w="12700">
            <a:solidFill>
              <a:srgbClr val="DDE1E6"/>
            </a:solidFill>
          </a:ln>
          <a:effectLst/>
        </p:spPr>
        <p:style>
          <a:lnRef idx="2">
            <a:schemeClr val="accent1"/>
          </a:lnRef>
          <a:fillRef idx="0">
            <a:schemeClr val="accent1"/>
          </a:fillRef>
          <a:effectRef idx="1">
            <a:schemeClr val="accent1"/>
          </a:effectRef>
          <a:fontRef idx="minor">
            <a:schemeClr val="tx1"/>
          </a:fontRef>
        </p:style>
      </p:cxnSp>
      <p:sp>
        <p:nvSpPr>
          <p:cNvPr id="27" name="TextBox 26"/>
          <p:cNvSpPr txBox="1"/>
          <p:nvPr/>
        </p:nvSpPr>
        <p:spPr>
          <a:xfrm>
            <a:off x="841248" y="6473952"/>
            <a:ext cx="7315200" cy="274320"/>
          </a:xfrm>
          <a:prstGeom prst="rect">
            <a:avLst/>
          </a:prstGeom>
          <a:noFill/>
        </p:spPr>
        <p:txBody>
          <a:bodyPr wrap="square" anchor="t" lIns="0" rIns="0" tIns="0" bIns="0">
            <a:spAutoFit/>
          </a:bodyPr>
          <a:lstStyle/>
          <a:p>
            <a:pPr algn="l">
              <a:lnSpc>
                <a:spcPct val="106000"/>
              </a:lnSpc>
              <a:spcBef>
                <a:spcPts val="0"/>
              </a:spcBef>
              <a:spcAft>
                <a:spcPts val="0"/>
              </a:spcAft>
            </a:pPr>
            <a:r>
              <a:rPr sz="950" b="0">
                <a:solidFill>
                  <a:srgbClr val="8A9099"/>
                </a:solidFill>
                <a:latin typeface="Red Hat Text"/>
              </a:rPr>
              <a:t>CONFIDENTIAL</a:t>
            </a:r>
          </a:p>
        </p:txBody>
      </p:sp>
      <p:sp>
        <p:nvSpPr>
          <p:cNvPr id="28" name="TextBox 27"/>
          <p:cNvSpPr txBox="1"/>
          <p:nvPr/>
        </p:nvSpPr>
        <p:spPr>
          <a:xfrm>
            <a:off x="10801807" y="6473952"/>
            <a:ext cx="548640" cy="274320"/>
          </a:xfrm>
          <a:prstGeom prst="rect">
            <a:avLst/>
          </a:prstGeom>
          <a:noFill/>
        </p:spPr>
        <p:txBody>
          <a:bodyPr wrap="square" anchor="t" lIns="0" rIns="0" tIns="0" bIns="0">
            <a:spAutoFit/>
          </a:bodyPr>
          <a:lstStyle/>
          <a:p>
            <a:pPr algn="r">
              <a:lnSpc>
                <a:spcPct val="106000"/>
              </a:lnSpc>
              <a:spcBef>
                <a:spcPts val="0"/>
              </a:spcBef>
              <a:spcAft>
                <a:spcPts val="0"/>
              </a:spcAft>
            </a:pPr>
            <a:r>
              <a:rPr sz="950" b="0">
                <a:solidFill>
                  <a:srgbClr val="8A9099"/>
                </a:solidFill>
                <a:latin typeface="Red Hat Text"/>
              </a:rPr>
              <a:t>182</a:t>
            </a:r>
          </a:p>
        </p:txBody>
      </p:sp>
    </p:spTree>
  </p:cSld>
  <p:clrMapOvr>
    <a:masterClrMapping/>
  </p:clrMapOvr>
</p:sld>
</file>

<file path=ppt/slides/slide20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redhat_logo.jpg"/>
          <p:cNvPicPr>
            <a:picLocks noChangeAspect="1"/>
          </p:cNvPicPr>
          <p:nvPr/>
        </p:nvPicPr>
        <p:blipFill>
          <a:blip r:embed="rId2"/>
          <a:stretch>
            <a:fillRect/>
          </a:stretch>
        </p:blipFill>
        <p:spPr>
          <a:xfrm>
            <a:off x="10326319" y="475488"/>
            <a:ext cx="1024128" cy="242248"/>
          </a:xfrm>
          <a:prstGeom prst="rect">
            <a:avLst/>
          </a:prstGeom>
        </p:spPr>
      </p:pic>
      <p:sp>
        <p:nvSpPr>
          <p:cNvPr id="3" name="TextBox 2"/>
          <p:cNvSpPr txBox="1"/>
          <p:nvPr/>
        </p:nvSpPr>
        <p:spPr>
          <a:xfrm>
            <a:off x="841248" y="548640"/>
            <a:ext cx="8595360" cy="274320"/>
          </a:xfrm>
          <a:prstGeom prst="rect">
            <a:avLst/>
          </a:prstGeom>
          <a:noFill/>
        </p:spPr>
        <p:txBody>
          <a:bodyPr wrap="square" anchor="t" lIns="0" rIns="0" tIns="0" bIns="0">
            <a:spAutoFit/>
          </a:bodyPr>
          <a:lstStyle/>
          <a:p>
            <a:pPr algn="l">
              <a:lnSpc>
                <a:spcPct val="106000"/>
              </a:lnSpc>
              <a:spcBef>
                <a:spcPts val="0"/>
              </a:spcBef>
              <a:spcAft>
                <a:spcPts val="0"/>
              </a:spcAft>
            </a:pPr>
            <a:r>
              <a:rPr sz="1250" b="1" spc="220">
                <a:solidFill>
                  <a:srgbClr val="EE0000"/>
                </a:solidFill>
                <a:latin typeface="Red Hat Display"/>
              </a:rPr>
              <a:t>M25 · AI-ASSISTED DEVELOPMENT ON OPENSHIFT</a:t>
            </a:r>
          </a:p>
        </p:txBody>
      </p:sp>
      <p:sp>
        <p:nvSpPr>
          <p:cNvPr id="4" name="TextBox 3"/>
          <p:cNvSpPr txBox="1"/>
          <p:nvPr/>
        </p:nvSpPr>
        <p:spPr>
          <a:xfrm>
            <a:off x="841248" y="877824"/>
            <a:ext cx="10515600" cy="548640"/>
          </a:xfrm>
          <a:prstGeom prst="rect">
            <a:avLst/>
          </a:prstGeom>
          <a:noFill/>
        </p:spPr>
        <p:txBody>
          <a:bodyPr wrap="none" anchor="t" lIns="0" rIns="0" tIns="0" bIns="0">
            <a:spAutoFit/>
          </a:bodyPr>
          <a:lstStyle/>
          <a:p>
            <a:pPr algn="l">
              <a:lnSpc>
                <a:spcPct val="100000"/>
              </a:lnSpc>
              <a:spcBef>
                <a:spcPts val="0"/>
              </a:spcBef>
              <a:spcAft>
                <a:spcPts val="0"/>
              </a:spcAft>
            </a:pPr>
            <a:r>
              <a:rPr sz="2500" b="1">
                <a:solidFill>
                  <a:srgbClr val="1A1A1A"/>
                </a:solidFill>
                <a:latin typeface="Red Hat Display"/>
              </a:rPr>
              <a:t>The Lightspeed family</a:t>
            </a:r>
          </a:p>
        </p:txBody>
      </p:sp>
      <p:cxnSp>
        <p:nvCxnSpPr>
          <p:cNvPr id="5" name="Connector 4"/>
          <p:cNvCxnSpPr/>
          <p:nvPr/>
        </p:nvCxnSpPr>
        <p:spPr>
          <a:xfrm>
            <a:off x="841248" y="1554480"/>
            <a:ext cx="1371600" cy="0"/>
          </a:xfrm>
          <a:prstGeom prst="bentConnector3">
            <a:avLst/>
          </a:prstGeom>
          <a:ln w="31750">
            <a:solidFill>
              <a:srgbClr val="EE0000"/>
            </a:solidFill>
          </a:ln>
          <a:effectLst/>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841248" y="1664208"/>
            <a:ext cx="10515600" cy="365760"/>
          </a:xfrm>
          <a:prstGeom prst="rect">
            <a:avLst/>
          </a:prstGeom>
          <a:noFill/>
        </p:spPr>
        <p:txBody>
          <a:bodyPr wrap="square" anchor="t" lIns="0" rIns="0" tIns="0" bIns="0">
            <a:spAutoFit/>
          </a:bodyPr>
          <a:lstStyle/>
          <a:p>
            <a:pPr algn="l">
              <a:lnSpc>
                <a:spcPct val="106000"/>
              </a:lnSpc>
              <a:spcBef>
                <a:spcPts val="0"/>
              </a:spcBef>
              <a:spcAft>
                <a:spcPts val="0"/>
              </a:spcAft>
            </a:pPr>
            <a:r>
              <a:rPr sz="1350" b="0">
                <a:solidFill>
                  <a:srgbClr val="555960"/>
                </a:solidFill>
                <a:latin typeface="Red Hat Text"/>
              </a:rPr>
              <a:t>and a team policy you can adopt</a:t>
            </a:r>
          </a:p>
        </p:txBody>
      </p:sp>
      <p:sp>
        <p:nvSpPr>
          <p:cNvPr id="7" name="Rounded Rectangle 6"/>
          <p:cNvSpPr/>
          <p:nvPr/>
        </p:nvSpPr>
        <p:spPr>
          <a:xfrm>
            <a:off x="841248" y="2670048"/>
            <a:ext cx="5715000" cy="530352"/>
          </a:xfrm>
          <a:prstGeom prst="roundRect">
            <a:avLst>
              <a:gd name="adj" fmla="val 6000"/>
            </a:avLst>
          </a:prstGeom>
          <a:solidFill>
            <a:srgbClr val="F5F6F8"/>
          </a:solidFill>
          <a:ln w="12700">
            <a:solidFill>
              <a:srgbClr val="DDE1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check_steel.png"/>
          <p:cNvPicPr>
            <a:picLocks noChangeAspect="1"/>
          </p:cNvPicPr>
          <p:nvPr/>
        </p:nvPicPr>
        <p:blipFill>
          <a:blip r:embed="rId3"/>
          <a:stretch>
            <a:fillRect/>
          </a:stretch>
        </p:blipFill>
        <p:spPr>
          <a:xfrm>
            <a:off x="987552" y="2816352"/>
            <a:ext cx="237744" cy="237744"/>
          </a:xfrm>
          <a:prstGeom prst="rect">
            <a:avLst/>
          </a:prstGeom>
        </p:spPr>
      </p:pic>
      <p:sp>
        <p:nvSpPr>
          <p:cNvPr id="9" name="TextBox 8"/>
          <p:cNvSpPr txBox="1"/>
          <p:nvPr/>
        </p:nvSpPr>
        <p:spPr>
          <a:xfrm>
            <a:off x="1353312" y="2670048"/>
            <a:ext cx="5029200" cy="530352"/>
          </a:xfrm>
          <a:prstGeom prst="rect">
            <a:avLst/>
          </a:prstGeom>
          <a:noFill/>
        </p:spPr>
        <p:txBody>
          <a:bodyPr wrap="square" anchor="ctr" lIns="0" rIns="0" tIns="0" bIns="0">
            <a:spAutoFit/>
          </a:bodyPr>
          <a:lstStyle/>
          <a:p>
            <a:pPr algn="l">
              <a:lnSpc>
                <a:spcPct val="106000"/>
              </a:lnSpc>
              <a:spcBef>
                <a:spcPts val="0"/>
              </a:spcBef>
              <a:spcAft>
                <a:spcPts val="0"/>
              </a:spcAft>
            </a:pPr>
            <a:r>
              <a:rPr sz="1200" b="0">
                <a:solidFill>
                  <a:srgbClr val="1A1A1A"/>
                </a:solidFill>
                <a:latin typeface="Red Hat Text"/>
              </a:rPr>
              <a:t>Red Hat Lightspeed: OpenShift Lightspeed (GA, console + MCP host); Developer Lightspeed for RHDH [ADS] (Dev Preview); for MTA [ADS] (GA)</a:t>
            </a:r>
          </a:p>
        </p:txBody>
      </p:sp>
      <p:sp>
        <p:nvSpPr>
          <p:cNvPr id="10" name="Rounded Rectangle 9"/>
          <p:cNvSpPr/>
          <p:nvPr/>
        </p:nvSpPr>
        <p:spPr>
          <a:xfrm>
            <a:off x="841248" y="3273552"/>
            <a:ext cx="5715000" cy="530352"/>
          </a:xfrm>
          <a:prstGeom prst="roundRect">
            <a:avLst>
              <a:gd name="adj" fmla="val 6000"/>
            </a:avLst>
          </a:prstGeom>
          <a:solidFill>
            <a:srgbClr val="F5F6F8"/>
          </a:solidFill>
          <a:ln w="12700">
            <a:solidFill>
              <a:srgbClr val="DDE1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1" name="Picture 10" descr="check_steel.png"/>
          <p:cNvPicPr>
            <a:picLocks noChangeAspect="1"/>
          </p:cNvPicPr>
          <p:nvPr/>
        </p:nvPicPr>
        <p:blipFill>
          <a:blip r:embed="rId3"/>
          <a:stretch>
            <a:fillRect/>
          </a:stretch>
        </p:blipFill>
        <p:spPr>
          <a:xfrm>
            <a:off x="987552" y="3419856"/>
            <a:ext cx="237744" cy="237744"/>
          </a:xfrm>
          <a:prstGeom prst="rect">
            <a:avLst/>
          </a:prstGeom>
        </p:spPr>
      </p:pic>
      <p:sp>
        <p:nvSpPr>
          <p:cNvPr id="12" name="TextBox 11"/>
          <p:cNvSpPr txBox="1"/>
          <p:nvPr/>
        </p:nvSpPr>
        <p:spPr>
          <a:xfrm>
            <a:off x="1353312" y="3273552"/>
            <a:ext cx="5029200" cy="530352"/>
          </a:xfrm>
          <a:prstGeom prst="rect">
            <a:avLst/>
          </a:prstGeom>
          <a:noFill/>
        </p:spPr>
        <p:txBody>
          <a:bodyPr wrap="square" anchor="ctr" lIns="0" rIns="0" tIns="0" bIns="0">
            <a:spAutoFit/>
          </a:bodyPr>
          <a:lstStyle/>
          <a:p>
            <a:pPr algn="l">
              <a:lnSpc>
                <a:spcPct val="106000"/>
              </a:lnSpc>
              <a:spcBef>
                <a:spcPts val="0"/>
              </a:spcBef>
              <a:spcAft>
                <a:spcPts val="0"/>
              </a:spcAft>
            </a:pPr>
            <a:r>
              <a:rPr sz="1200" b="0">
                <a:solidFill>
                  <a:srgbClr val="1A1A1A"/>
                </a:solidFill>
                <a:latin typeface="Red Hat Text"/>
              </a:rPr>
              <a:t>Same spine, different surfaces — every one is governed by the RBAC you just scoped</a:t>
            </a:r>
          </a:p>
        </p:txBody>
      </p:sp>
      <p:sp>
        <p:nvSpPr>
          <p:cNvPr id="13" name="Rounded Rectangle 12"/>
          <p:cNvSpPr/>
          <p:nvPr/>
        </p:nvSpPr>
        <p:spPr>
          <a:xfrm>
            <a:off x="841248" y="3877056"/>
            <a:ext cx="5715000" cy="530352"/>
          </a:xfrm>
          <a:prstGeom prst="roundRect">
            <a:avLst>
              <a:gd name="adj" fmla="val 6000"/>
            </a:avLst>
          </a:prstGeom>
          <a:solidFill>
            <a:srgbClr val="F5F6F8"/>
          </a:solidFill>
          <a:ln w="12700">
            <a:solidFill>
              <a:srgbClr val="DDE1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4" name="Picture 13" descr="check_steel.png"/>
          <p:cNvPicPr>
            <a:picLocks noChangeAspect="1"/>
          </p:cNvPicPr>
          <p:nvPr/>
        </p:nvPicPr>
        <p:blipFill>
          <a:blip r:embed="rId3"/>
          <a:stretch>
            <a:fillRect/>
          </a:stretch>
        </p:blipFill>
        <p:spPr>
          <a:xfrm>
            <a:off x="987552" y="4023360"/>
            <a:ext cx="237744" cy="237744"/>
          </a:xfrm>
          <a:prstGeom prst="rect">
            <a:avLst/>
          </a:prstGeom>
        </p:spPr>
      </p:pic>
      <p:sp>
        <p:nvSpPr>
          <p:cNvPr id="15" name="TextBox 14"/>
          <p:cNvSpPr txBox="1"/>
          <p:nvPr/>
        </p:nvSpPr>
        <p:spPr>
          <a:xfrm>
            <a:off x="1353312" y="3877056"/>
            <a:ext cx="5029200" cy="530352"/>
          </a:xfrm>
          <a:prstGeom prst="rect">
            <a:avLst/>
          </a:prstGeom>
          <a:noFill/>
        </p:spPr>
        <p:txBody>
          <a:bodyPr wrap="square" anchor="ctr" lIns="0" rIns="0" tIns="0" bIns="0">
            <a:spAutoFit/>
          </a:bodyPr>
          <a:lstStyle/>
          <a:p>
            <a:pPr algn="l">
              <a:lnSpc>
                <a:spcPct val="106000"/>
              </a:lnSpc>
              <a:spcBef>
                <a:spcPts val="0"/>
              </a:spcBef>
              <a:spcAft>
                <a:spcPts val="0"/>
              </a:spcAft>
            </a:pPr>
            <a:r>
              <a:rPr sz="1200" b="0">
                <a:solidFill>
                  <a:srgbClr val="1A1A1A"/>
                </a:solidFill>
                <a:latin typeface="Red Hat Text"/>
              </a:rPr>
              <a:t>Team policy: read-only first · identity is the boundary, not the flag · namespace allowlists</a:t>
            </a:r>
          </a:p>
        </p:txBody>
      </p:sp>
      <p:sp>
        <p:nvSpPr>
          <p:cNvPr id="16" name="Rounded Rectangle 15"/>
          <p:cNvSpPr/>
          <p:nvPr/>
        </p:nvSpPr>
        <p:spPr>
          <a:xfrm>
            <a:off x="841248" y="4480560"/>
            <a:ext cx="5715000" cy="530352"/>
          </a:xfrm>
          <a:prstGeom prst="roundRect">
            <a:avLst>
              <a:gd name="adj" fmla="val 6000"/>
            </a:avLst>
          </a:prstGeom>
          <a:solidFill>
            <a:srgbClr val="F5F6F8"/>
          </a:solidFill>
          <a:ln w="12700">
            <a:solidFill>
              <a:srgbClr val="DDE1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7" name="Picture 16" descr="check_steel.png"/>
          <p:cNvPicPr>
            <a:picLocks noChangeAspect="1"/>
          </p:cNvPicPr>
          <p:nvPr/>
        </p:nvPicPr>
        <p:blipFill>
          <a:blip r:embed="rId3"/>
          <a:stretch>
            <a:fillRect/>
          </a:stretch>
        </p:blipFill>
        <p:spPr>
          <a:xfrm>
            <a:off x="987552" y="4626864"/>
            <a:ext cx="237744" cy="237744"/>
          </a:xfrm>
          <a:prstGeom prst="rect">
            <a:avLst/>
          </a:prstGeom>
        </p:spPr>
      </p:pic>
      <p:sp>
        <p:nvSpPr>
          <p:cNvPr id="18" name="TextBox 17"/>
          <p:cNvSpPr txBox="1"/>
          <p:nvPr/>
        </p:nvSpPr>
        <p:spPr>
          <a:xfrm>
            <a:off x="1353312" y="4480560"/>
            <a:ext cx="5029200" cy="530352"/>
          </a:xfrm>
          <a:prstGeom prst="rect">
            <a:avLst/>
          </a:prstGeom>
          <a:noFill/>
        </p:spPr>
        <p:txBody>
          <a:bodyPr wrap="square" anchor="ctr" lIns="0" rIns="0" tIns="0" bIns="0">
            <a:spAutoFit/>
          </a:bodyPr>
          <a:lstStyle/>
          <a:p>
            <a:pPr algn="l">
              <a:lnSpc>
                <a:spcPct val="106000"/>
              </a:lnSpc>
              <a:spcBef>
                <a:spcPts val="0"/>
              </a:spcBef>
              <a:spcAft>
                <a:spcPts val="0"/>
              </a:spcAft>
            </a:pPr>
            <a:r>
              <a:rPr sz="1200" b="0">
                <a:solidFill>
                  <a:srgbClr val="1A1A1A"/>
                </a:solidFill>
                <a:latin typeface="Red Hat Text"/>
              </a:rPr>
              <a:t>No secrets by default · writes are a reviewed, per-task human grant · every action auditable</a:t>
            </a:r>
          </a:p>
        </p:txBody>
      </p:sp>
      <p:sp>
        <p:nvSpPr>
          <p:cNvPr id="19" name="Rounded Rectangle 18"/>
          <p:cNvSpPr/>
          <p:nvPr/>
        </p:nvSpPr>
        <p:spPr>
          <a:xfrm>
            <a:off x="841248" y="5084064"/>
            <a:ext cx="5715000" cy="530352"/>
          </a:xfrm>
          <a:prstGeom prst="roundRect">
            <a:avLst>
              <a:gd name="adj" fmla="val 6000"/>
            </a:avLst>
          </a:prstGeom>
          <a:solidFill>
            <a:srgbClr val="F5F6F8"/>
          </a:solidFill>
          <a:ln w="12700">
            <a:solidFill>
              <a:srgbClr val="DDE1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0" name="Picture 19" descr="check_steel.png"/>
          <p:cNvPicPr>
            <a:picLocks noChangeAspect="1"/>
          </p:cNvPicPr>
          <p:nvPr/>
        </p:nvPicPr>
        <p:blipFill>
          <a:blip r:embed="rId3"/>
          <a:stretch>
            <a:fillRect/>
          </a:stretch>
        </p:blipFill>
        <p:spPr>
          <a:xfrm>
            <a:off x="987552" y="5230368"/>
            <a:ext cx="237744" cy="237744"/>
          </a:xfrm>
          <a:prstGeom prst="rect">
            <a:avLst/>
          </a:prstGeom>
        </p:spPr>
      </p:pic>
      <p:sp>
        <p:nvSpPr>
          <p:cNvPr id="21" name="TextBox 20"/>
          <p:cNvSpPr txBox="1"/>
          <p:nvPr/>
        </p:nvSpPr>
        <p:spPr>
          <a:xfrm>
            <a:off x="1353312" y="5084064"/>
            <a:ext cx="5029200" cy="530352"/>
          </a:xfrm>
          <a:prstGeom prst="rect">
            <a:avLst/>
          </a:prstGeom>
          <a:noFill/>
        </p:spPr>
        <p:txBody>
          <a:bodyPr wrap="square" anchor="ctr" lIns="0" rIns="0" tIns="0" bIns="0">
            <a:spAutoFit/>
          </a:bodyPr>
          <a:lstStyle/>
          <a:p>
            <a:pPr algn="l">
              <a:lnSpc>
                <a:spcPct val="106000"/>
              </a:lnSpc>
              <a:spcBef>
                <a:spcPts val="0"/>
              </a:spcBef>
              <a:spcAft>
                <a:spcPts val="0"/>
              </a:spcAft>
            </a:pPr>
            <a:r>
              <a:rPr sz="1200" b="0">
                <a:solidFill>
                  <a:srgbClr val="1A1A1A"/>
                </a:solidFill>
                <a:latin typeface="Red Hat Text"/>
              </a:rPr>
              <a:t>Your agent is a junior engineer with root, unless you stop it — scope it with RBAC, not trust</a:t>
            </a:r>
          </a:p>
        </p:txBody>
      </p:sp>
      <p:sp>
        <p:nvSpPr>
          <p:cNvPr id="22" name="Rounded Rectangle 21"/>
          <p:cNvSpPr/>
          <p:nvPr/>
        </p:nvSpPr>
        <p:spPr>
          <a:xfrm>
            <a:off x="6812280" y="2670048"/>
            <a:ext cx="4538167" cy="2944368"/>
          </a:xfrm>
          <a:prstGeom prst="roundRect">
            <a:avLst>
              <a:gd name="adj" fmla="val 4000"/>
            </a:avLst>
          </a:prstGeom>
          <a:solidFill>
            <a:srgbClr val="FFFFFF"/>
          </a:solidFill>
          <a:ln w="15240">
            <a:solidFill>
              <a:srgbClr val="DDE1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ounded Rectangle 22"/>
          <p:cNvSpPr/>
          <p:nvPr/>
        </p:nvSpPr>
        <p:spPr>
          <a:xfrm>
            <a:off x="7013448" y="2871216"/>
            <a:ext cx="1298448" cy="310896"/>
          </a:xfrm>
          <a:prstGeom prst="roundRect">
            <a:avLst>
              <a:gd name="adj" fmla="val 50000"/>
            </a:avLst>
          </a:prstGeom>
          <a:solidFill>
            <a:srgbClr val="FCEC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7013448" y="2871216"/>
            <a:ext cx="1298448" cy="310896"/>
          </a:xfrm>
          <a:prstGeom prst="rect">
            <a:avLst/>
          </a:prstGeom>
          <a:noFill/>
        </p:spPr>
        <p:txBody>
          <a:bodyPr wrap="none" anchor="ctr" lIns="0" rIns="0" tIns="0" bIns="0">
            <a:spAutoFit/>
          </a:bodyPr>
          <a:lstStyle/>
          <a:p>
            <a:pPr algn="ctr">
              <a:lnSpc>
                <a:spcPct val="106000"/>
              </a:lnSpc>
              <a:spcBef>
                <a:spcPts val="0"/>
              </a:spcBef>
              <a:spcAft>
                <a:spcPts val="0"/>
              </a:spcAft>
            </a:pPr>
            <a:r>
              <a:rPr sz="850" b="1">
                <a:solidFill>
                  <a:srgbClr val="B80000"/>
                </a:solidFill>
                <a:latin typeface="Red Hat Display"/>
              </a:rPr>
              <a:t>MEDIA PASS</a:t>
            </a:r>
          </a:p>
        </p:txBody>
      </p:sp>
      <p:pic>
        <p:nvPicPr>
          <p:cNvPr id="25" name="Picture 24" descr="eye_slate.png"/>
          <p:cNvPicPr>
            <a:picLocks noChangeAspect="1"/>
          </p:cNvPicPr>
          <p:nvPr/>
        </p:nvPicPr>
        <p:blipFill>
          <a:blip r:embed="rId4"/>
          <a:stretch>
            <a:fillRect/>
          </a:stretch>
        </p:blipFill>
        <p:spPr>
          <a:xfrm>
            <a:off x="8843619" y="3383280"/>
            <a:ext cx="475488" cy="475488"/>
          </a:xfrm>
          <a:prstGeom prst="rect">
            <a:avLst/>
          </a:prstGeom>
        </p:spPr>
      </p:pic>
      <p:sp>
        <p:nvSpPr>
          <p:cNvPr id="26" name="TextBox 25"/>
          <p:cNvSpPr txBox="1"/>
          <p:nvPr/>
        </p:nvSpPr>
        <p:spPr>
          <a:xfrm>
            <a:off x="7050024" y="3995928"/>
            <a:ext cx="4062679" cy="1481328"/>
          </a:xfrm>
          <a:prstGeom prst="rect">
            <a:avLst/>
          </a:prstGeom>
          <a:noFill/>
        </p:spPr>
        <p:txBody>
          <a:bodyPr wrap="square" anchor="t" lIns="0" rIns="0" tIns="0" bIns="0">
            <a:spAutoFit/>
          </a:bodyPr>
          <a:lstStyle/>
          <a:p>
            <a:pPr algn="l">
              <a:lnSpc>
                <a:spcPct val="120000"/>
              </a:lnSpc>
              <a:spcBef>
                <a:spcPts val="0"/>
              </a:spcBef>
              <a:spcAft>
                <a:spcPts val="0"/>
              </a:spcAft>
            </a:pPr>
            <a:r>
              <a:rPr sz="950" b="0">
                <a:solidFill>
                  <a:srgbClr val="8A9099"/>
                </a:solidFill>
                <a:latin typeface="Red Hat Text"/>
              </a:rPr>
              <a:t>A checklist card (the 8-line team policy) on the right; on the left, three small product tiles (OpenShift Lightspeed / Dev Lightspeed for RHDH / for MTA) all funneling into one shared "RBAC-governed ServiceAccount" base. Footer: "scope it with RBAC, not trust."</a:t>
            </a:r>
          </a:p>
        </p:txBody>
      </p:sp>
      <p:cxnSp>
        <p:nvCxnSpPr>
          <p:cNvPr id="27" name="Connector 26"/>
          <p:cNvCxnSpPr/>
          <p:nvPr/>
        </p:nvCxnSpPr>
        <p:spPr>
          <a:xfrm>
            <a:off x="841248" y="6437376"/>
            <a:ext cx="10509199" cy="0"/>
          </a:xfrm>
          <a:prstGeom prst="bentConnector3">
            <a:avLst/>
          </a:prstGeom>
          <a:ln w="12700">
            <a:solidFill>
              <a:srgbClr val="DDE1E6"/>
            </a:solidFill>
          </a:ln>
          <a:effectLst/>
        </p:spPr>
        <p:style>
          <a:lnRef idx="2">
            <a:schemeClr val="accent1"/>
          </a:lnRef>
          <a:fillRef idx="0">
            <a:schemeClr val="accent1"/>
          </a:fillRef>
          <a:effectRef idx="1">
            <a:schemeClr val="accent1"/>
          </a:effectRef>
          <a:fontRef idx="minor">
            <a:schemeClr val="tx1"/>
          </a:fontRef>
        </p:style>
      </p:cxnSp>
      <p:sp>
        <p:nvSpPr>
          <p:cNvPr id="28" name="TextBox 27"/>
          <p:cNvSpPr txBox="1"/>
          <p:nvPr/>
        </p:nvSpPr>
        <p:spPr>
          <a:xfrm>
            <a:off x="841248" y="6473952"/>
            <a:ext cx="7315200" cy="274320"/>
          </a:xfrm>
          <a:prstGeom prst="rect">
            <a:avLst/>
          </a:prstGeom>
          <a:noFill/>
        </p:spPr>
        <p:txBody>
          <a:bodyPr wrap="square" anchor="t" lIns="0" rIns="0" tIns="0" bIns="0">
            <a:spAutoFit/>
          </a:bodyPr>
          <a:lstStyle/>
          <a:p>
            <a:pPr algn="l">
              <a:lnSpc>
                <a:spcPct val="106000"/>
              </a:lnSpc>
              <a:spcBef>
                <a:spcPts val="0"/>
              </a:spcBef>
              <a:spcAft>
                <a:spcPts val="0"/>
              </a:spcAft>
            </a:pPr>
            <a:r>
              <a:rPr sz="950" b="0">
                <a:solidFill>
                  <a:srgbClr val="8A9099"/>
                </a:solidFill>
                <a:latin typeface="Red Hat Text"/>
              </a:rPr>
              <a:t>CONFIDENTIAL</a:t>
            </a:r>
          </a:p>
        </p:txBody>
      </p:sp>
      <p:sp>
        <p:nvSpPr>
          <p:cNvPr id="29" name="TextBox 28"/>
          <p:cNvSpPr txBox="1"/>
          <p:nvPr/>
        </p:nvSpPr>
        <p:spPr>
          <a:xfrm>
            <a:off x="10801807" y="6473952"/>
            <a:ext cx="548640" cy="274320"/>
          </a:xfrm>
          <a:prstGeom prst="rect">
            <a:avLst/>
          </a:prstGeom>
          <a:noFill/>
        </p:spPr>
        <p:txBody>
          <a:bodyPr wrap="square" anchor="t" lIns="0" rIns="0" tIns="0" bIns="0">
            <a:spAutoFit/>
          </a:bodyPr>
          <a:lstStyle/>
          <a:p>
            <a:pPr algn="r">
              <a:lnSpc>
                <a:spcPct val="106000"/>
              </a:lnSpc>
              <a:spcBef>
                <a:spcPts val="0"/>
              </a:spcBef>
              <a:spcAft>
                <a:spcPts val="0"/>
              </a:spcAft>
            </a:pPr>
            <a:r>
              <a:rPr sz="950" b="0">
                <a:solidFill>
                  <a:srgbClr val="8A9099"/>
                </a:solidFill>
                <a:latin typeface="Red Hat Text"/>
              </a:rPr>
              <a:t>183</a:t>
            </a:r>
          </a:p>
        </p:txBody>
      </p:sp>
    </p:spTree>
  </p:cSld>
  <p:clrMapOvr>
    <a:masterClrMapping/>
  </p:clrMapOvr>
</p:sld>
</file>

<file path=ppt/slides/slide20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redhat_logo.jpg"/>
          <p:cNvPicPr>
            <a:picLocks noChangeAspect="1"/>
          </p:cNvPicPr>
          <p:nvPr/>
        </p:nvPicPr>
        <p:blipFill>
          <a:blip r:embed="rId2"/>
          <a:stretch>
            <a:fillRect/>
          </a:stretch>
        </p:blipFill>
        <p:spPr>
          <a:xfrm>
            <a:off x="841248" y="731520"/>
            <a:ext cx="1554480" cy="367699"/>
          </a:xfrm>
          <a:prstGeom prst="rect">
            <a:avLst/>
          </a:prstGeom>
        </p:spPr>
      </p:pic>
      <p:sp>
        <p:nvSpPr>
          <p:cNvPr id="3" name="TextBox 2"/>
          <p:cNvSpPr txBox="1"/>
          <p:nvPr/>
        </p:nvSpPr>
        <p:spPr>
          <a:xfrm>
            <a:off x="841248" y="2514600"/>
            <a:ext cx="9601200" cy="274320"/>
          </a:xfrm>
          <a:prstGeom prst="rect">
            <a:avLst/>
          </a:prstGeom>
          <a:noFill/>
        </p:spPr>
        <p:txBody>
          <a:bodyPr wrap="square" anchor="t" lIns="0" rIns="0" tIns="0" bIns="0">
            <a:spAutoFit/>
          </a:bodyPr>
          <a:lstStyle/>
          <a:p>
            <a:pPr algn="l">
              <a:lnSpc>
                <a:spcPct val="106000"/>
              </a:lnSpc>
              <a:spcBef>
                <a:spcPts val="0"/>
              </a:spcBef>
              <a:spcAft>
                <a:spcPts val="0"/>
              </a:spcAft>
            </a:pPr>
            <a:r>
              <a:rPr sz="1250" b="1" spc="180">
                <a:solidFill>
                  <a:srgbClr val="5B3E8E"/>
                </a:solidFill>
                <a:latin typeface="Red Hat Display"/>
              </a:rPr>
              <a:t>D · ADVANCED ELECTIVES</a:t>
            </a:r>
          </a:p>
        </p:txBody>
      </p:sp>
      <p:sp>
        <p:nvSpPr>
          <p:cNvPr id="4" name="TextBox 3"/>
          <p:cNvSpPr txBox="1"/>
          <p:nvPr/>
        </p:nvSpPr>
        <p:spPr>
          <a:xfrm>
            <a:off x="841248" y="2880360"/>
            <a:ext cx="2103120" cy="1188720"/>
          </a:xfrm>
          <a:prstGeom prst="rect">
            <a:avLst/>
          </a:prstGeom>
          <a:noFill/>
        </p:spPr>
        <p:txBody>
          <a:bodyPr wrap="none" anchor="t" lIns="0" rIns="0" tIns="0" bIns="0">
            <a:spAutoFit/>
          </a:bodyPr>
          <a:lstStyle/>
          <a:p>
            <a:pPr algn="l">
              <a:lnSpc>
                <a:spcPct val="90000"/>
              </a:lnSpc>
              <a:spcBef>
                <a:spcPts val="0"/>
              </a:spcBef>
              <a:spcAft>
                <a:spcPts val="0"/>
              </a:spcAft>
            </a:pPr>
            <a:r>
              <a:rPr sz="5200" b="1">
                <a:solidFill>
                  <a:srgbClr val="B80000"/>
                </a:solidFill>
                <a:latin typeface="Red Hat Display"/>
              </a:rPr>
              <a:t>M26</a:t>
            </a:r>
          </a:p>
        </p:txBody>
      </p:sp>
      <p:sp>
        <p:nvSpPr>
          <p:cNvPr id="5" name="TextBox 4"/>
          <p:cNvSpPr txBox="1"/>
          <p:nvPr/>
        </p:nvSpPr>
        <p:spPr>
          <a:xfrm>
            <a:off x="3127248" y="2971800"/>
            <a:ext cx="8412480" cy="1188720"/>
          </a:xfrm>
          <a:prstGeom prst="rect">
            <a:avLst/>
          </a:prstGeom>
          <a:noFill/>
        </p:spPr>
        <p:txBody>
          <a:bodyPr wrap="square" anchor="t" lIns="0" rIns="0" tIns="0" bIns="0">
            <a:spAutoFit/>
          </a:bodyPr>
          <a:lstStyle/>
          <a:p>
            <a:pPr algn="l">
              <a:lnSpc>
                <a:spcPct val="102000"/>
              </a:lnSpc>
              <a:spcBef>
                <a:spcPts val="0"/>
              </a:spcBef>
              <a:spcAft>
                <a:spcPts val="0"/>
              </a:spcAft>
            </a:pPr>
            <a:r>
              <a:rPr sz="3000" b="1">
                <a:solidFill>
                  <a:srgbClr val="1A1A1A"/>
                </a:solidFill>
                <a:latin typeface="Red Hat Display"/>
              </a:rPr>
              <a:t>Packaging &amp; Distributing Your App</a:t>
            </a:r>
          </a:p>
        </p:txBody>
      </p:sp>
      <p:cxnSp>
        <p:nvCxnSpPr>
          <p:cNvPr id="6" name="Connector 5"/>
          <p:cNvCxnSpPr/>
          <p:nvPr/>
        </p:nvCxnSpPr>
        <p:spPr>
          <a:xfrm>
            <a:off x="841248" y="4443984"/>
            <a:ext cx="1463040" cy="0"/>
          </a:xfrm>
          <a:prstGeom prst="bentConnector3">
            <a:avLst/>
          </a:prstGeom>
          <a:ln w="38100">
            <a:solidFill>
              <a:srgbClr val="EE0000"/>
            </a:solidFill>
          </a:ln>
          <a:effectLst/>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841248" y="4617720"/>
            <a:ext cx="9692640" cy="457200"/>
          </a:xfrm>
          <a:prstGeom prst="rect">
            <a:avLst/>
          </a:prstGeom>
          <a:noFill/>
        </p:spPr>
        <p:txBody>
          <a:bodyPr wrap="square" anchor="t" lIns="0" rIns="0" tIns="0" bIns="0">
            <a:spAutoFit/>
          </a:bodyPr>
          <a:lstStyle/>
          <a:p>
            <a:pPr algn="l">
              <a:lnSpc>
                <a:spcPct val="106000"/>
              </a:lnSpc>
              <a:spcBef>
                <a:spcPts val="0"/>
              </a:spcBef>
              <a:spcAft>
                <a:spcPts val="0"/>
              </a:spcAft>
            </a:pPr>
            <a:r>
              <a:rPr sz="1500" b="0">
                <a:solidFill>
                  <a:srgbClr val="555960"/>
                </a:solidFill>
                <a:latin typeface="Red Hat Text"/>
              </a:rPr>
              <a:t>Helm &amp; OLM</a:t>
            </a:r>
          </a:p>
        </p:txBody>
      </p:sp>
    </p:spTree>
  </p:cSld>
  <p:clrMapOvr>
    <a:masterClrMapping/>
  </p:clrMapOvr>
</p:sld>
</file>

<file path=ppt/slides/slide2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redhat_logo.jpg"/>
          <p:cNvPicPr>
            <a:picLocks noChangeAspect="1"/>
          </p:cNvPicPr>
          <p:nvPr/>
        </p:nvPicPr>
        <p:blipFill>
          <a:blip r:embed="rId2"/>
          <a:stretch>
            <a:fillRect/>
          </a:stretch>
        </p:blipFill>
        <p:spPr>
          <a:xfrm>
            <a:off x="10326319" y="475488"/>
            <a:ext cx="1024128" cy="242248"/>
          </a:xfrm>
          <a:prstGeom prst="rect">
            <a:avLst/>
          </a:prstGeom>
        </p:spPr>
      </p:pic>
      <p:sp>
        <p:nvSpPr>
          <p:cNvPr id="3" name="TextBox 2"/>
          <p:cNvSpPr txBox="1"/>
          <p:nvPr/>
        </p:nvSpPr>
        <p:spPr>
          <a:xfrm>
            <a:off x="841248" y="548640"/>
            <a:ext cx="8595360" cy="274320"/>
          </a:xfrm>
          <a:prstGeom prst="rect">
            <a:avLst/>
          </a:prstGeom>
          <a:noFill/>
        </p:spPr>
        <p:txBody>
          <a:bodyPr wrap="square" anchor="t" lIns="0" rIns="0" tIns="0" bIns="0">
            <a:spAutoFit/>
          </a:bodyPr>
          <a:lstStyle/>
          <a:p>
            <a:pPr algn="l">
              <a:lnSpc>
                <a:spcPct val="106000"/>
              </a:lnSpc>
              <a:spcBef>
                <a:spcPts val="0"/>
              </a:spcBef>
              <a:spcAft>
                <a:spcPts val="0"/>
              </a:spcAft>
            </a:pPr>
            <a:r>
              <a:rPr sz="1250" b="1" spc="220">
                <a:solidFill>
                  <a:srgbClr val="EE0000"/>
                </a:solidFill>
                <a:latin typeface="Red Hat Display"/>
              </a:rPr>
              <a:t>M26 · PACKAGING &amp; DISTRIBUTING YOUR APP</a:t>
            </a:r>
          </a:p>
        </p:txBody>
      </p:sp>
      <p:sp>
        <p:nvSpPr>
          <p:cNvPr id="4" name="TextBox 3"/>
          <p:cNvSpPr txBox="1"/>
          <p:nvPr/>
        </p:nvSpPr>
        <p:spPr>
          <a:xfrm>
            <a:off x="841248" y="877824"/>
            <a:ext cx="10515600" cy="548640"/>
          </a:xfrm>
          <a:prstGeom prst="rect">
            <a:avLst/>
          </a:prstGeom>
          <a:noFill/>
        </p:spPr>
        <p:txBody>
          <a:bodyPr wrap="none" anchor="t" lIns="0" rIns="0" tIns="0" bIns="0">
            <a:spAutoFit/>
          </a:bodyPr>
          <a:lstStyle/>
          <a:p>
            <a:pPr algn="l">
              <a:lnSpc>
                <a:spcPct val="100000"/>
              </a:lnSpc>
              <a:spcBef>
                <a:spcPts val="0"/>
              </a:spcBef>
              <a:spcAft>
                <a:spcPts val="0"/>
              </a:spcAft>
            </a:pPr>
            <a:r>
              <a:rPr sz="2500" b="1">
                <a:solidFill>
                  <a:srgbClr val="1A1A1A"/>
                </a:solidFill>
                <a:latin typeface="Red Hat Display"/>
              </a:rPr>
              <a:t>"It runs" is not "it ships"</a:t>
            </a:r>
          </a:p>
        </p:txBody>
      </p:sp>
      <p:cxnSp>
        <p:nvCxnSpPr>
          <p:cNvPr id="5" name="Connector 4"/>
          <p:cNvCxnSpPr/>
          <p:nvPr/>
        </p:nvCxnSpPr>
        <p:spPr>
          <a:xfrm>
            <a:off x="841248" y="1554480"/>
            <a:ext cx="1371600" cy="0"/>
          </a:xfrm>
          <a:prstGeom prst="bentConnector3">
            <a:avLst/>
          </a:prstGeom>
          <a:ln w="31750">
            <a:solidFill>
              <a:srgbClr val="EE0000"/>
            </a:solidFill>
          </a:ln>
          <a:effectLst/>
        </p:spPr>
        <p:style>
          <a:lnRef idx="2">
            <a:schemeClr val="accent1"/>
          </a:lnRef>
          <a:fillRef idx="0">
            <a:schemeClr val="accent1"/>
          </a:fillRef>
          <a:effectRef idx="1">
            <a:schemeClr val="accent1"/>
          </a:effectRef>
          <a:fontRef idx="minor">
            <a:schemeClr val="tx1"/>
          </a:fontRef>
        </p:style>
      </p:cxnSp>
      <p:sp>
        <p:nvSpPr>
          <p:cNvPr id="6" name="Rounded Rectangle 5"/>
          <p:cNvSpPr/>
          <p:nvPr/>
        </p:nvSpPr>
        <p:spPr>
          <a:xfrm>
            <a:off x="841248" y="2395728"/>
            <a:ext cx="5715000" cy="530352"/>
          </a:xfrm>
          <a:prstGeom prst="roundRect">
            <a:avLst>
              <a:gd name="adj" fmla="val 6000"/>
            </a:avLst>
          </a:prstGeom>
          <a:solidFill>
            <a:srgbClr val="F5F6F8"/>
          </a:solidFill>
          <a:ln w="12700">
            <a:solidFill>
              <a:srgbClr val="DDE1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check_steel.png"/>
          <p:cNvPicPr>
            <a:picLocks noChangeAspect="1"/>
          </p:cNvPicPr>
          <p:nvPr/>
        </p:nvPicPr>
        <p:blipFill>
          <a:blip r:embed="rId3"/>
          <a:stretch>
            <a:fillRect/>
          </a:stretch>
        </p:blipFill>
        <p:spPr>
          <a:xfrm>
            <a:off x="987552" y="2542032"/>
            <a:ext cx="237744" cy="237744"/>
          </a:xfrm>
          <a:prstGeom prst="rect">
            <a:avLst/>
          </a:prstGeom>
        </p:spPr>
      </p:pic>
      <p:sp>
        <p:nvSpPr>
          <p:cNvPr id="8" name="TextBox 7"/>
          <p:cNvSpPr txBox="1"/>
          <p:nvPr/>
        </p:nvSpPr>
        <p:spPr>
          <a:xfrm>
            <a:off x="1353312" y="2395728"/>
            <a:ext cx="5029200" cy="530352"/>
          </a:xfrm>
          <a:prstGeom prst="rect">
            <a:avLst/>
          </a:prstGeom>
          <a:noFill/>
        </p:spPr>
        <p:txBody>
          <a:bodyPr wrap="square" anchor="ctr" lIns="0" rIns="0" tIns="0" bIns="0">
            <a:spAutoFit/>
          </a:bodyPr>
          <a:lstStyle/>
          <a:p>
            <a:pPr algn="l">
              <a:lnSpc>
                <a:spcPct val="106000"/>
              </a:lnSpc>
              <a:spcBef>
                <a:spcPts val="0"/>
              </a:spcBef>
              <a:spcAft>
                <a:spcPts val="0"/>
              </a:spcAft>
            </a:pPr>
            <a:r>
              <a:rPr sz="1200" b="0">
                <a:solidFill>
                  <a:srgbClr val="1A1A1A"/>
                </a:solidFill>
                <a:latin typeface="Red Hat Text"/>
              </a:rPr>
              <a:t>Everything you deployed this week arrived packaged</a:t>
            </a:r>
          </a:p>
        </p:txBody>
      </p:sp>
      <p:sp>
        <p:nvSpPr>
          <p:cNvPr id="9" name="Rounded Rectangle 8"/>
          <p:cNvSpPr/>
          <p:nvPr/>
        </p:nvSpPr>
        <p:spPr>
          <a:xfrm>
            <a:off x="841248" y="2999232"/>
            <a:ext cx="5715000" cy="530352"/>
          </a:xfrm>
          <a:prstGeom prst="roundRect">
            <a:avLst>
              <a:gd name="adj" fmla="val 6000"/>
            </a:avLst>
          </a:prstGeom>
          <a:solidFill>
            <a:srgbClr val="F5F6F8"/>
          </a:solidFill>
          <a:ln w="12700">
            <a:solidFill>
              <a:srgbClr val="DDE1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0" name="Picture 9" descr="check_steel.png"/>
          <p:cNvPicPr>
            <a:picLocks noChangeAspect="1"/>
          </p:cNvPicPr>
          <p:nvPr/>
        </p:nvPicPr>
        <p:blipFill>
          <a:blip r:embed="rId3"/>
          <a:stretch>
            <a:fillRect/>
          </a:stretch>
        </p:blipFill>
        <p:spPr>
          <a:xfrm>
            <a:off x="987552" y="3145536"/>
            <a:ext cx="237744" cy="237744"/>
          </a:xfrm>
          <a:prstGeom prst="rect">
            <a:avLst/>
          </a:prstGeom>
        </p:spPr>
      </p:pic>
      <p:sp>
        <p:nvSpPr>
          <p:cNvPr id="11" name="TextBox 10"/>
          <p:cNvSpPr txBox="1"/>
          <p:nvPr/>
        </p:nvSpPr>
        <p:spPr>
          <a:xfrm>
            <a:off x="1353312" y="2999232"/>
            <a:ext cx="5029200" cy="530352"/>
          </a:xfrm>
          <a:prstGeom prst="rect">
            <a:avLst/>
          </a:prstGeom>
          <a:noFill/>
        </p:spPr>
        <p:txBody>
          <a:bodyPr wrap="square" anchor="ctr" lIns="0" rIns="0" tIns="0" bIns="0">
            <a:spAutoFit/>
          </a:bodyPr>
          <a:lstStyle/>
          <a:p>
            <a:pPr algn="l">
              <a:lnSpc>
                <a:spcPct val="106000"/>
              </a:lnSpc>
              <a:spcBef>
                <a:spcPts val="0"/>
              </a:spcBef>
              <a:spcAft>
                <a:spcPts val="0"/>
              </a:spcAft>
            </a:pPr>
            <a:r>
              <a:rPr sz="1200" b="0">
                <a:solidFill>
                  <a:srgbClr val="1A1A1A"/>
                </a:solidFill>
                <a:latin typeface="Red Hat Text"/>
              </a:rPr>
              <a:t>Pipelines, GitOps, the entry states — none was hand-applied YAML</a:t>
            </a:r>
          </a:p>
        </p:txBody>
      </p:sp>
      <p:sp>
        <p:nvSpPr>
          <p:cNvPr id="12" name="Rounded Rectangle 11"/>
          <p:cNvSpPr/>
          <p:nvPr/>
        </p:nvSpPr>
        <p:spPr>
          <a:xfrm>
            <a:off x="841248" y="3602736"/>
            <a:ext cx="5715000" cy="530352"/>
          </a:xfrm>
          <a:prstGeom prst="roundRect">
            <a:avLst>
              <a:gd name="adj" fmla="val 6000"/>
            </a:avLst>
          </a:prstGeom>
          <a:solidFill>
            <a:srgbClr val="F5F6F8"/>
          </a:solidFill>
          <a:ln w="12700">
            <a:solidFill>
              <a:srgbClr val="DDE1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3" name="Picture 12" descr="check_steel.png"/>
          <p:cNvPicPr>
            <a:picLocks noChangeAspect="1"/>
          </p:cNvPicPr>
          <p:nvPr/>
        </p:nvPicPr>
        <p:blipFill>
          <a:blip r:embed="rId3"/>
          <a:stretch>
            <a:fillRect/>
          </a:stretch>
        </p:blipFill>
        <p:spPr>
          <a:xfrm>
            <a:off x="987552" y="3749040"/>
            <a:ext cx="237744" cy="237744"/>
          </a:xfrm>
          <a:prstGeom prst="rect">
            <a:avLst/>
          </a:prstGeom>
        </p:spPr>
      </p:pic>
      <p:sp>
        <p:nvSpPr>
          <p:cNvPr id="14" name="TextBox 13"/>
          <p:cNvSpPr txBox="1"/>
          <p:nvPr/>
        </p:nvSpPr>
        <p:spPr>
          <a:xfrm>
            <a:off x="1353312" y="3602736"/>
            <a:ext cx="5029200" cy="530352"/>
          </a:xfrm>
          <a:prstGeom prst="rect">
            <a:avLst/>
          </a:prstGeom>
          <a:noFill/>
        </p:spPr>
        <p:txBody>
          <a:bodyPr wrap="square" anchor="ctr" lIns="0" rIns="0" tIns="0" bIns="0">
            <a:spAutoFit/>
          </a:bodyPr>
          <a:lstStyle/>
          <a:p>
            <a:pPr algn="l">
              <a:lnSpc>
                <a:spcPct val="106000"/>
              </a:lnSpc>
              <a:spcBef>
                <a:spcPts val="0"/>
              </a:spcBef>
              <a:spcAft>
                <a:spcPts val="0"/>
              </a:spcAft>
            </a:pPr>
            <a:r>
              <a:rPr sz="1200" b="0">
                <a:solidFill>
                  <a:srgbClr val="1A1A1A"/>
                </a:solidFill>
                <a:latin typeface="Red Hat Text"/>
              </a:rPr>
              <a:t>Your app is next: make it installable, upgradable, rollback-able</a:t>
            </a:r>
          </a:p>
        </p:txBody>
      </p:sp>
      <p:sp>
        <p:nvSpPr>
          <p:cNvPr id="15" name="Rounded Rectangle 14"/>
          <p:cNvSpPr/>
          <p:nvPr/>
        </p:nvSpPr>
        <p:spPr>
          <a:xfrm>
            <a:off x="841248" y="4206240"/>
            <a:ext cx="5715000" cy="530352"/>
          </a:xfrm>
          <a:prstGeom prst="roundRect">
            <a:avLst>
              <a:gd name="adj" fmla="val 6000"/>
            </a:avLst>
          </a:prstGeom>
          <a:solidFill>
            <a:srgbClr val="F5F6F8"/>
          </a:solidFill>
          <a:ln w="12700">
            <a:solidFill>
              <a:srgbClr val="DDE1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6" name="Picture 15" descr="check_steel.png"/>
          <p:cNvPicPr>
            <a:picLocks noChangeAspect="1"/>
          </p:cNvPicPr>
          <p:nvPr/>
        </p:nvPicPr>
        <p:blipFill>
          <a:blip r:embed="rId3"/>
          <a:stretch>
            <a:fillRect/>
          </a:stretch>
        </p:blipFill>
        <p:spPr>
          <a:xfrm>
            <a:off x="987552" y="4352544"/>
            <a:ext cx="237744" cy="237744"/>
          </a:xfrm>
          <a:prstGeom prst="rect">
            <a:avLst/>
          </a:prstGeom>
        </p:spPr>
      </p:pic>
      <p:sp>
        <p:nvSpPr>
          <p:cNvPr id="17" name="TextBox 16"/>
          <p:cNvSpPr txBox="1"/>
          <p:nvPr/>
        </p:nvSpPr>
        <p:spPr>
          <a:xfrm>
            <a:off x="1353312" y="4206240"/>
            <a:ext cx="5029200" cy="530352"/>
          </a:xfrm>
          <a:prstGeom prst="rect">
            <a:avLst/>
          </a:prstGeom>
          <a:noFill/>
        </p:spPr>
        <p:txBody>
          <a:bodyPr wrap="square" anchor="ctr" lIns="0" rIns="0" tIns="0" bIns="0">
            <a:spAutoFit/>
          </a:bodyPr>
          <a:lstStyle/>
          <a:p>
            <a:pPr algn="l">
              <a:lnSpc>
                <a:spcPct val="106000"/>
              </a:lnSpc>
              <a:spcBef>
                <a:spcPts val="0"/>
              </a:spcBef>
              <a:spcAft>
                <a:spcPts val="0"/>
              </a:spcAft>
            </a:pPr>
            <a:r>
              <a:rPr sz="1200" b="0">
                <a:solidFill>
                  <a:srgbClr val="1A1A1A"/>
                </a:solidFill>
                <a:latin typeface="Red Hat Text"/>
              </a:rPr>
              <a:t>Your product's UX is its install and upgrade, not just runtime</a:t>
            </a:r>
          </a:p>
        </p:txBody>
      </p:sp>
      <p:sp>
        <p:nvSpPr>
          <p:cNvPr id="18" name="Rounded Rectangle 17"/>
          <p:cNvSpPr/>
          <p:nvPr/>
        </p:nvSpPr>
        <p:spPr>
          <a:xfrm>
            <a:off x="841248" y="4809744"/>
            <a:ext cx="5715000" cy="530352"/>
          </a:xfrm>
          <a:prstGeom prst="roundRect">
            <a:avLst>
              <a:gd name="adj" fmla="val 6000"/>
            </a:avLst>
          </a:prstGeom>
          <a:solidFill>
            <a:srgbClr val="F5F6F8"/>
          </a:solidFill>
          <a:ln w="12700">
            <a:solidFill>
              <a:srgbClr val="DDE1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9" name="Picture 18" descr="check_steel.png"/>
          <p:cNvPicPr>
            <a:picLocks noChangeAspect="1"/>
          </p:cNvPicPr>
          <p:nvPr/>
        </p:nvPicPr>
        <p:blipFill>
          <a:blip r:embed="rId3"/>
          <a:stretch>
            <a:fillRect/>
          </a:stretch>
        </p:blipFill>
        <p:spPr>
          <a:xfrm>
            <a:off x="987552" y="4956048"/>
            <a:ext cx="237744" cy="237744"/>
          </a:xfrm>
          <a:prstGeom prst="rect">
            <a:avLst/>
          </a:prstGeom>
        </p:spPr>
      </p:pic>
      <p:sp>
        <p:nvSpPr>
          <p:cNvPr id="20" name="TextBox 19"/>
          <p:cNvSpPr txBox="1"/>
          <p:nvPr/>
        </p:nvSpPr>
        <p:spPr>
          <a:xfrm>
            <a:off x="1353312" y="4809744"/>
            <a:ext cx="5029200" cy="530352"/>
          </a:xfrm>
          <a:prstGeom prst="rect">
            <a:avLst/>
          </a:prstGeom>
          <a:noFill/>
        </p:spPr>
        <p:txBody>
          <a:bodyPr wrap="square" anchor="ctr" lIns="0" rIns="0" tIns="0" bIns="0">
            <a:spAutoFit/>
          </a:bodyPr>
          <a:lstStyle/>
          <a:p>
            <a:pPr algn="l">
              <a:lnSpc>
                <a:spcPct val="106000"/>
              </a:lnSpc>
              <a:spcBef>
                <a:spcPts val="0"/>
              </a:spcBef>
              <a:spcAft>
                <a:spcPts val="0"/>
              </a:spcAft>
            </a:pPr>
            <a:r>
              <a:rPr sz="1200" b="0">
                <a:solidFill>
                  <a:srgbClr val="1A1A1A"/>
                </a:solidFill>
                <a:latin typeface="Red Hat Text"/>
              </a:rPr>
              <a:t>The choice is a folder of YAML vs a versioned artifact</a:t>
            </a:r>
          </a:p>
        </p:txBody>
      </p:sp>
      <p:sp>
        <p:nvSpPr>
          <p:cNvPr id="21" name="Rounded Rectangle 20"/>
          <p:cNvSpPr/>
          <p:nvPr/>
        </p:nvSpPr>
        <p:spPr>
          <a:xfrm>
            <a:off x="6812280" y="2395728"/>
            <a:ext cx="4538167" cy="2944368"/>
          </a:xfrm>
          <a:prstGeom prst="roundRect">
            <a:avLst>
              <a:gd name="adj" fmla="val 4000"/>
            </a:avLst>
          </a:prstGeom>
          <a:solidFill>
            <a:srgbClr val="FFFFFF"/>
          </a:solidFill>
          <a:ln w="15240">
            <a:solidFill>
              <a:srgbClr val="DDE1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ounded Rectangle 21"/>
          <p:cNvSpPr/>
          <p:nvPr/>
        </p:nvSpPr>
        <p:spPr>
          <a:xfrm>
            <a:off x="7013448" y="2596896"/>
            <a:ext cx="1298448" cy="310896"/>
          </a:xfrm>
          <a:prstGeom prst="roundRect">
            <a:avLst>
              <a:gd name="adj" fmla="val 50000"/>
            </a:avLst>
          </a:prstGeom>
          <a:solidFill>
            <a:srgbClr val="FCEC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7013448" y="2596896"/>
            <a:ext cx="1298448" cy="310896"/>
          </a:xfrm>
          <a:prstGeom prst="rect">
            <a:avLst/>
          </a:prstGeom>
          <a:noFill/>
        </p:spPr>
        <p:txBody>
          <a:bodyPr wrap="none" anchor="ctr" lIns="0" rIns="0" tIns="0" bIns="0">
            <a:spAutoFit/>
          </a:bodyPr>
          <a:lstStyle/>
          <a:p>
            <a:pPr algn="ctr">
              <a:lnSpc>
                <a:spcPct val="106000"/>
              </a:lnSpc>
              <a:spcBef>
                <a:spcPts val="0"/>
              </a:spcBef>
              <a:spcAft>
                <a:spcPts val="0"/>
              </a:spcAft>
            </a:pPr>
            <a:r>
              <a:rPr sz="850" b="1">
                <a:solidFill>
                  <a:srgbClr val="B80000"/>
                </a:solidFill>
                <a:latin typeface="Red Hat Display"/>
              </a:rPr>
              <a:t>MEDIA PASS</a:t>
            </a:r>
          </a:p>
        </p:txBody>
      </p:sp>
      <p:pic>
        <p:nvPicPr>
          <p:cNvPr id="24" name="Picture 23" descr="eye_slate.png"/>
          <p:cNvPicPr>
            <a:picLocks noChangeAspect="1"/>
          </p:cNvPicPr>
          <p:nvPr/>
        </p:nvPicPr>
        <p:blipFill>
          <a:blip r:embed="rId4"/>
          <a:stretch>
            <a:fillRect/>
          </a:stretch>
        </p:blipFill>
        <p:spPr>
          <a:xfrm>
            <a:off x="8843619" y="3108960"/>
            <a:ext cx="475488" cy="475488"/>
          </a:xfrm>
          <a:prstGeom prst="rect">
            <a:avLst/>
          </a:prstGeom>
        </p:spPr>
      </p:pic>
      <p:sp>
        <p:nvSpPr>
          <p:cNvPr id="25" name="TextBox 24"/>
          <p:cNvSpPr txBox="1"/>
          <p:nvPr/>
        </p:nvSpPr>
        <p:spPr>
          <a:xfrm>
            <a:off x="7050024" y="3721608"/>
            <a:ext cx="4062679" cy="1481328"/>
          </a:xfrm>
          <a:prstGeom prst="rect">
            <a:avLst/>
          </a:prstGeom>
          <a:noFill/>
        </p:spPr>
        <p:txBody>
          <a:bodyPr wrap="square" anchor="t" lIns="0" rIns="0" tIns="0" bIns="0">
            <a:spAutoFit/>
          </a:bodyPr>
          <a:lstStyle/>
          <a:p>
            <a:pPr algn="l">
              <a:lnSpc>
                <a:spcPct val="120000"/>
              </a:lnSpc>
              <a:spcBef>
                <a:spcPts val="0"/>
              </a:spcBef>
              <a:spcAft>
                <a:spcPts val="0"/>
              </a:spcAft>
            </a:pPr>
            <a:r>
              <a:rPr sz="950" b="0">
                <a:solidFill>
                  <a:srgbClr val="8A9099"/>
                </a:solidFill>
                <a:latin typeface="Red Hat Text"/>
              </a:rPr>
              <a:t>A split — left: a messy folder of YAML files with a shrug ("which version is in prod?"); right: a single versioned chart artifact with install/upgrade/rollback buttons. Arrow labeled "package it once."</a:t>
            </a:r>
          </a:p>
        </p:txBody>
      </p:sp>
      <p:cxnSp>
        <p:nvCxnSpPr>
          <p:cNvPr id="26" name="Connector 25"/>
          <p:cNvCxnSpPr/>
          <p:nvPr/>
        </p:nvCxnSpPr>
        <p:spPr>
          <a:xfrm>
            <a:off x="841248" y="6437376"/>
            <a:ext cx="10509199" cy="0"/>
          </a:xfrm>
          <a:prstGeom prst="bentConnector3">
            <a:avLst/>
          </a:prstGeom>
          <a:ln w="12700">
            <a:solidFill>
              <a:srgbClr val="DDE1E6"/>
            </a:solidFill>
          </a:ln>
          <a:effectLst/>
        </p:spPr>
        <p:style>
          <a:lnRef idx="2">
            <a:schemeClr val="accent1"/>
          </a:lnRef>
          <a:fillRef idx="0">
            <a:schemeClr val="accent1"/>
          </a:fillRef>
          <a:effectRef idx="1">
            <a:schemeClr val="accent1"/>
          </a:effectRef>
          <a:fontRef idx="minor">
            <a:schemeClr val="tx1"/>
          </a:fontRef>
        </p:style>
      </p:cxnSp>
      <p:sp>
        <p:nvSpPr>
          <p:cNvPr id="27" name="TextBox 26"/>
          <p:cNvSpPr txBox="1"/>
          <p:nvPr/>
        </p:nvSpPr>
        <p:spPr>
          <a:xfrm>
            <a:off x="841248" y="6473952"/>
            <a:ext cx="7315200" cy="274320"/>
          </a:xfrm>
          <a:prstGeom prst="rect">
            <a:avLst/>
          </a:prstGeom>
          <a:noFill/>
        </p:spPr>
        <p:txBody>
          <a:bodyPr wrap="square" anchor="t" lIns="0" rIns="0" tIns="0" bIns="0">
            <a:spAutoFit/>
          </a:bodyPr>
          <a:lstStyle/>
          <a:p>
            <a:pPr algn="l">
              <a:lnSpc>
                <a:spcPct val="106000"/>
              </a:lnSpc>
              <a:spcBef>
                <a:spcPts val="0"/>
              </a:spcBef>
              <a:spcAft>
                <a:spcPts val="0"/>
              </a:spcAft>
            </a:pPr>
            <a:r>
              <a:rPr sz="950" b="0">
                <a:solidFill>
                  <a:srgbClr val="8A9099"/>
                </a:solidFill>
                <a:latin typeface="Red Hat Text"/>
              </a:rPr>
              <a:t>CONFIDENTIAL</a:t>
            </a:r>
          </a:p>
        </p:txBody>
      </p:sp>
      <p:sp>
        <p:nvSpPr>
          <p:cNvPr id="28" name="TextBox 27"/>
          <p:cNvSpPr txBox="1"/>
          <p:nvPr/>
        </p:nvSpPr>
        <p:spPr>
          <a:xfrm>
            <a:off x="10801807" y="6473952"/>
            <a:ext cx="548640" cy="274320"/>
          </a:xfrm>
          <a:prstGeom prst="rect">
            <a:avLst/>
          </a:prstGeom>
          <a:noFill/>
        </p:spPr>
        <p:txBody>
          <a:bodyPr wrap="square" anchor="t" lIns="0" rIns="0" tIns="0" bIns="0">
            <a:spAutoFit/>
          </a:bodyPr>
          <a:lstStyle/>
          <a:p>
            <a:pPr algn="r">
              <a:lnSpc>
                <a:spcPct val="106000"/>
              </a:lnSpc>
              <a:spcBef>
                <a:spcPts val="0"/>
              </a:spcBef>
              <a:spcAft>
                <a:spcPts val="0"/>
              </a:spcAft>
            </a:pPr>
            <a:r>
              <a:rPr sz="950" b="0">
                <a:solidFill>
                  <a:srgbClr val="8A9099"/>
                </a:solidFill>
                <a:latin typeface="Red Hat Text"/>
              </a:rPr>
              <a:t>184</a:t>
            </a:r>
          </a:p>
        </p:txBody>
      </p:sp>
    </p:spTree>
  </p:cSld>
  <p:clrMapOvr>
    <a:masterClrMapping/>
  </p:clrMapOvr>
</p:sld>
</file>

<file path=ppt/slides/slide2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redhat_logo.jpg"/>
          <p:cNvPicPr>
            <a:picLocks noChangeAspect="1"/>
          </p:cNvPicPr>
          <p:nvPr/>
        </p:nvPicPr>
        <p:blipFill>
          <a:blip r:embed="rId2"/>
          <a:stretch>
            <a:fillRect/>
          </a:stretch>
        </p:blipFill>
        <p:spPr>
          <a:xfrm>
            <a:off x="10326319" y="475488"/>
            <a:ext cx="1024128" cy="242248"/>
          </a:xfrm>
          <a:prstGeom prst="rect">
            <a:avLst/>
          </a:prstGeom>
        </p:spPr>
      </p:pic>
      <p:sp>
        <p:nvSpPr>
          <p:cNvPr id="3" name="TextBox 2"/>
          <p:cNvSpPr txBox="1"/>
          <p:nvPr/>
        </p:nvSpPr>
        <p:spPr>
          <a:xfrm>
            <a:off x="841248" y="548640"/>
            <a:ext cx="8595360" cy="274320"/>
          </a:xfrm>
          <a:prstGeom prst="rect">
            <a:avLst/>
          </a:prstGeom>
          <a:noFill/>
        </p:spPr>
        <p:txBody>
          <a:bodyPr wrap="square" anchor="t" lIns="0" rIns="0" tIns="0" bIns="0">
            <a:spAutoFit/>
          </a:bodyPr>
          <a:lstStyle/>
          <a:p>
            <a:pPr algn="l">
              <a:lnSpc>
                <a:spcPct val="106000"/>
              </a:lnSpc>
              <a:spcBef>
                <a:spcPts val="0"/>
              </a:spcBef>
              <a:spcAft>
                <a:spcPts val="0"/>
              </a:spcAft>
            </a:pPr>
            <a:r>
              <a:rPr sz="1250" b="1" spc="220">
                <a:solidFill>
                  <a:srgbClr val="EE0000"/>
                </a:solidFill>
                <a:latin typeface="Red Hat Display"/>
              </a:rPr>
              <a:t>M26 · PACKAGING &amp; DISTRIBUTING YOUR APP</a:t>
            </a:r>
          </a:p>
        </p:txBody>
      </p:sp>
      <p:sp>
        <p:nvSpPr>
          <p:cNvPr id="4" name="TextBox 3"/>
          <p:cNvSpPr txBox="1"/>
          <p:nvPr/>
        </p:nvSpPr>
        <p:spPr>
          <a:xfrm>
            <a:off x="841248" y="877824"/>
            <a:ext cx="10515600" cy="548640"/>
          </a:xfrm>
          <a:prstGeom prst="rect">
            <a:avLst/>
          </a:prstGeom>
          <a:noFill/>
        </p:spPr>
        <p:txBody>
          <a:bodyPr wrap="none" anchor="t" lIns="0" rIns="0" tIns="0" bIns="0">
            <a:spAutoFit/>
          </a:bodyPr>
          <a:lstStyle/>
          <a:p>
            <a:pPr algn="l">
              <a:lnSpc>
                <a:spcPct val="100000"/>
              </a:lnSpc>
              <a:spcBef>
                <a:spcPts val="0"/>
              </a:spcBef>
              <a:spcAft>
                <a:spcPts val="0"/>
              </a:spcAft>
            </a:pPr>
            <a:r>
              <a:rPr sz="2500" b="1">
                <a:solidFill>
                  <a:srgbClr val="1A1A1A"/>
                </a:solidFill>
                <a:latin typeface="Red Hat Display"/>
              </a:rPr>
              <a:t>The packaging spectrum</a:t>
            </a:r>
          </a:p>
        </p:txBody>
      </p:sp>
      <p:cxnSp>
        <p:nvCxnSpPr>
          <p:cNvPr id="5" name="Connector 4"/>
          <p:cNvCxnSpPr/>
          <p:nvPr/>
        </p:nvCxnSpPr>
        <p:spPr>
          <a:xfrm>
            <a:off x="841248" y="1554480"/>
            <a:ext cx="1371600" cy="0"/>
          </a:xfrm>
          <a:prstGeom prst="bentConnector3">
            <a:avLst/>
          </a:prstGeom>
          <a:ln w="31750">
            <a:solidFill>
              <a:srgbClr val="EE0000"/>
            </a:solidFill>
          </a:ln>
          <a:effectLst/>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841248" y="1664208"/>
            <a:ext cx="10515600" cy="365760"/>
          </a:xfrm>
          <a:prstGeom prst="rect">
            <a:avLst/>
          </a:prstGeom>
          <a:noFill/>
        </p:spPr>
        <p:txBody>
          <a:bodyPr wrap="square" anchor="t" lIns="0" rIns="0" tIns="0" bIns="0">
            <a:spAutoFit/>
          </a:bodyPr>
          <a:lstStyle/>
          <a:p>
            <a:pPr algn="l">
              <a:lnSpc>
                <a:spcPct val="106000"/>
              </a:lnSpc>
              <a:spcBef>
                <a:spcPts val="0"/>
              </a:spcBef>
              <a:spcAft>
                <a:spcPts val="0"/>
              </a:spcAft>
            </a:pPr>
            <a:r>
              <a:rPr sz="1350" b="0">
                <a:solidFill>
                  <a:srgbClr val="555960"/>
                </a:solidFill>
                <a:latin typeface="Red Hat Text"/>
              </a:rPr>
              <a:t>ordered by day-2 cost</a:t>
            </a:r>
          </a:p>
        </p:txBody>
      </p:sp>
      <p:sp>
        <p:nvSpPr>
          <p:cNvPr id="7" name="Rounded Rectangle 6"/>
          <p:cNvSpPr/>
          <p:nvPr/>
        </p:nvSpPr>
        <p:spPr>
          <a:xfrm>
            <a:off x="841248" y="2670048"/>
            <a:ext cx="5715000" cy="530352"/>
          </a:xfrm>
          <a:prstGeom prst="roundRect">
            <a:avLst>
              <a:gd name="adj" fmla="val 6000"/>
            </a:avLst>
          </a:prstGeom>
          <a:solidFill>
            <a:srgbClr val="F5F6F8"/>
          </a:solidFill>
          <a:ln w="12700">
            <a:solidFill>
              <a:srgbClr val="DDE1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check_steel.png"/>
          <p:cNvPicPr>
            <a:picLocks noChangeAspect="1"/>
          </p:cNvPicPr>
          <p:nvPr/>
        </p:nvPicPr>
        <p:blipFill>
          <a:blip r:embed="rId3"/>
          <a:stretch>
            <a:fillRect/>
          </a:stretch>
        </p:blipFill>
        <p:spPr>
          <a:xfrm>
            <a:off x="987552" y="2816352"/>
            <a:ext cx="237744" cy="237744"/>
          </a:xfrm>
          <a:prstGeom prst="rect">
            <a:avLst/>
          </a:prstGeom>
        </p:spPr>
      </p:pic>
      <p:sp>
        <p:nvSpPr>
          <p:cNvPr id="9" name="TextBox 8"/>
          <p:cNvSpPr txBox="1"/>
          <p:nvPr/>
        </p:nvSpPr>
        <p:spPr>
          <a:xfrm>
            <a:off x="1353312" y="2670048"/>
            <a:ext cx="5029200" cy="530352"/>
          </a:xfrm>
          <a:prstGeom prst="rect">
            <a:avLst/>
          </a:prstGeom>
          <a:noFill/>
        </p:spPr>
        <p:txBody>
          <a:bodyPr wrap="square" anchor="ctr" lIns="0" rIns="0" tIns="0" bIns="0">
            <a:spAutoFit/>
          </a:bodyPr>
          <a:lstStyle/>
          <a:p>
            <a:pPr algn="l">
              <a:lnSpc>
                <a:spcPct val="106000"/>
              </a:lnSpc>
              <a:spcBef>
                <a:spcPts val="0"/>
              </a:spcBef>
              <a:spcAft>
                <a:spcPts val="0"/>
              </a:spcAft>
            </a:pPr>
            <a:r>
              <a:rPr sz="1200" b="0">
                <a:solidFill>
                  <a:srgbClr val="1A1A1A"/>
                </a:solidFill>
                <a:latin typeface="Red Hat Text"/>
              </a:rPr>
              <a:t>Raw manifests → Template → Kustomize → Helm → Operator</a:t>
            </a:r>
          </a:p>
        </p:txBody>
      </p:sp>
      <p:sp>
        <p:nvSpPr>
          <p:cNvPr id="10" name="Rounded Rectangle 9"/>
          <p:cNvSpPr/>
          <p:nvPr/>
        </p:nvSpPr>
        <p:spPr>
          <a:xfrm>
            <a:off x="841248" y="3273552"/>
            <a:ext cx="5715000" cy="530352"/>
          </a:xfrm>
          <a:prstGeom prst="roundRect">
            <a:avLst>
              <a:gd name="adj" fmla="val 6000"/>
            </a:avLst>
          </a:prstGeom>
          <a:solidFill>
            <a:srgbClr val="F5F6F8"/>
          </a:solidFill>
          <a:ln w="12700">
            <a:solidFill>
              <a:srgbClr val="DDE1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1" name="Picture 10" descr="check_steel.png"/>
          <p:cNvPicPr>
            <a:picLocks noChangeAspect="1"/>
          </p:cNvPicPr>
          <p:nvPr/>
        </p:nvPicPr>
        <p:blipFill>
          <a:blip r:embed="rId3"/>
          <a:stretch>
            <a:fillRect/>
          </a:stretch>
        </p:blipFill>
        <p:spPr>
          <a:xfrm>
            <a:off x="987552" y="3419856"/>
            <a:ext cx="237744" cy="237744"/>
          </a:xfrm>
          <a:prstGeom prst="rect">
            <a:avLst/>
          </a:prstGeom>
        </p:spPr>
      </p:pic>
      <p:sp>
        <p:nvSpPr>
          <p:cNvPr id="12" name="TextBox 11"/>
          <p:cNvSpPr txBox="1"/>
          <p:nvPr/>
        </p:nvSpPr>
        <p:spPr>
          <a:xfrm>
            <a:off x="1353312" y="3273552"/>
            <a:ext cx="5029200" cy="530352"/>
          </a:xfrm>
          <a:prstGeom prst="rect">
            <a:avLst/>
          </a:prstGeom>
          <a:noFill/>
        </p:spPr>
        <p:txBody>
          <a:bodyPr wrap="square" anchor="ctr" lIns="0" rIns="0" tIns="0" bIns="0">
            <a:spAutoFit/>
          </a:bodyPr>
          <a:lstStyle/>
          <a:p>
            <a:pPr algn="l">
              <a:lnSpc>
                <a:spcPct val="106000"/>
              </a:lnSpc>
              <a:spcBef>
                <a:spcPts val="0"/>
              </a:spcBef>
              <a:spcAft>
                <a:spcPts val="0"/>
              </a:spcAft>
            </a:pPr>
            <a:r>
              <a:rPr sz="1200" b="0">
                <a:solidFill>
                  <a:srgbClr val="1A1A1A"/>
                </a:solidFill>
                <a:latin typeface="Red Hat Text"/>
              </a:rPr>
              <a:t>The axis: how much day-2 the package takes off the human</a:t>
            </a:r>
          </a:p>
        </p:txBody>
      </p:sp>
      <p:sp>
        <p:nvSpPr>
          <p:cNvPr id="13" name="Rounded Rectangle 12"/>
          <p:cNvSpPr/>
          <p:nvPr/>
        </p:nvSpPr>
        <p:spPr>
          <a:xfrm>
            <a:off x="841248" y="3877056"/>
            <a:ext cx="5715000" cy="530352"/>
          </a:xfrm>
          <a:prstGeom prst="roundRect">
            <a:avLst>
              <a:gd name="adj" fmla="val 6000"/>
            </a:avLst>
          </a:prstGeom>
          <a:solidFill>
            <a:srgbClr val="F5F6F8"/>
          </a:solidFill>
          <a:ln w="12700">
            <a:solidFill>
              <a:srgbClr val="DDE1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4" name="Picture 13" descr="check_steel.png"/>
          <p:cNvPicPr>
            <a:picLocks noChangeAspect="1"/>
          </p:cNvPicPr>
          <p:nvPr/>
        </p:nvPicPr>
        <p:blipFill>
          <a:blip r:embed="rId3"/>
          <a:stretch>
            <a:fillRect/>
          </a:stretch>
        </p:blipFill>
        <p:spPr>
          <a:xfrm>
            <a:off x="987552" y="4023360"/>
            <a:ext cx="237744" cy="237744"/>
          </a:xfrm>
          <a:prstGeom prst="rect">
            <a:avLst/>
          </a:prstGeom>
        </p:spPr>
      </p:pic>
      <p:sp>
        <p:nvSpPr>
          <p:cNvPr id="15" name="TextBox 14"/>
          <p:cNvSpPr txBox="1"/>
          <p:nvPr/>
        </p:nvSpPr>
        <p:spPr>
          <a:xfrm>
            <a:off x="1353312" y="3877056"/>
            <a:ext cx="5029200" cy="530352"/>
          </a:xfrm>
          <a:prstGeom prst="rect">
            <a:avLst/>
          </a:prstGeom>
          <a:noFill/>
        </p:spPr>
        <p:txBody>
          <a:bodyPr wrap="square" anchor="ctr" lIns="0" rIns="0" tIns="0" bIns="0">
            <a:spAutoFit/>
          </a:bodyPr>
          <a:lstStyle/>
          <a:p>
            <a:pPr algn="l">
              <a:lnSpc>
                <a:spcPct val="106000"/>
              </a:lnSpc>
              <a:spcBef>
                <a:spcPts val="0"/>
              </a:spcBef>
              <a:spcAft>
                <a:spcPts val="0"/>
              </a:spcAft>
            </a:pPr>
            <a:r>
              <a:rPr sz="1200" b="0">
                <a:solidFill>
                  <a:srgbClr val="1A1A1A"/>
                </a:solidFill>
                <a:latin typeface="Red Hat Text"/>
              </a:rPr>
              <a:t>Down the spectrum: more operability encoded IN the package</a:t>
            </a:r>
          </a:p>
        </p:txBody>
      </p:sp>
      <p:sp>
        <p:nvSpPr>
          <p:cNvPr id="16" name="Rounded Rectangle 15"/>
          <p:cNvSpPr/>
          <p:nvPr/>
        </p:nvSpPr>
        <p:spPr>
          <a:xfrm>
            <a:off x="841248" y="4480560"/>
            <a:ext cx="5715000" cy="530352"/>
          </a:xfrm>
          <a:prstGeom prst="roundRect">
            <a:avLst>
              <a:gd name="adj" fmla="val 6000"/>
            </a:avLst>
          </a:prstGeom>
          <a:solidFill>
            <a:srgbClr val="F5F6F8"/>
          </a:solidFill>
          <a:ln w="12700">
            <a:solidFill>
              <a:srgbClr val="DDE1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7" name="Picture 16" descr="check_steel.png"/>
          <p:cNvPicPr>
            <a:picLocks noChangeAspect="1"/>
          </p:cNvPicPr>
          <p:nvPr/>
        </p:nvPicPr>
        <p:blipFill>
          <a:blip r:embed="rId3"/>
          <a:stretch>
            <a:fillRect/>
          </a:stretch>
        </p:blipFill>
        <p:spPr>
          <a:xfrm>
            <a:off x="987552" y="4626864"/>
            <a:ext cx="237744" cy="237744"/>
          </a:xfrm>
          <a:prstGeom prst="rect">
            <a:avLst/>
          </a:prstGeom>
        </p:spPr>
      </p:pic>
      <p:sp>
        <p:nvSpPr>
          <p:cNvPr id="18" name="TextBox 17"/>
          <p:cNvSpPr txBox="1"/>
          <p:nvPr/>
        </p:nvSpPr>
        <p:spPr>
          <a:xfrm>
            <a:off x="1353312" y="4480560"/>
            <a:ext cx="5029200" cy="530352"/>
          </a:xfrm>
          <a:prstGeom prst="rect">
            <a:avLst/>
          </a:prstGeom>
          <a:noFill/>
        </p:spPr>
        <p:txBody>
          <a:bodyPr wrap="square" anchor="ctr" lIns="0" rIns="0" tIns="0" bIns="0">
            <a:spAutoFit/>
          </a:bodyPr>
          <a:lstStyle/>
          <a:p>
            <a:pPr algn="l">
              <a:lnSpc>
                <a:spcPct val="106000"/>
              </a:lnSpc>
              <a:spcBef>
                <a:spcPts val="0"/>
              </a:spcBef>
              <a:spcAft>
                <a:spcPts val="0"/>
              </a:spcAft>
            </a:pPr>
            <a:r>
              <a:rPr sz="1200" b="0">
                <a:solidFill>
                  <a:srgbClr val="1A1A1A"/>
                </a:solidFill>
                <a:latin typeface="Red Hat Text"/>
              </a:rPr>
              <a:t>…at the cost of more to author and maintain</a:t>
            </a:r>
          </a:p>
        </p:txBody>
      </p:sp>
      <p:sp>
        <p:nvSpPr>
          <p:cNvPr id="19" name="Rounded Rectangle 18"/>
          <p:cNvSpPr/>
          <p:nvPr/>
        </p:nvSpPr>
        <p:spPr>
          <a:xfrm>
            <a:off x="841248" y="5084064"/>
            <a:ext cx="5715000" cy="530352"/>
          </a:xfrm>
          <a:prstGeom prst="roundRect">
            <a:avLst>
              <a:gd name="adj" fmla="val 6000"/>
            </a:avLst>
          </a:prstGeom>
          <a:solidFill>
            <a:srgbClr val="F5F6F8"/>
          </a:solidFill>
          <a:ln w="12700">
            <a:solidFill>
              <a:srgbClr val="DDE1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0" name="Picture 19" descr="check_steel.png"/>
          <p:cNvPicPr>
            <a:picLocks noChangeAspect="1"/>
          </p:cNvPicPr>
          <p:nvPr/>
        </p:nvPicPr>
        <p:blipFill>
          <a:blip r:embed="rId3"/>
          <a:stretch>
            <a:fillRect/>
          </a:stretch>
        </p:blipFill>
        <p:spPr>
          <a:xfrm>
            <a:off x="987552" y="5230368"/>
            <a:ext cx="237744" cy="237744"/>
          </a:xfrm>
          <a:prstGeom prst="rect">
            <a:avLst/>
          </a:prstGeom>
        </p:spPr>
      </p:pic>
      <p:sp>
        <p:nvSpPr>
          <p:cNvPr id="21" name="TextBox 20"/>
          <p:cNvSpPr txBox="1"/>
          <p:nvPr/>
        </p:nvSpPr>
        <p:spPr>
          <a:xfrm>
            <a:off x="1353312" y="5084064"/>
            <a:ext cx="5029200" cy="530352"/>
          </a:xfrm>
          <a:prstGeom prst="rect">
            <a:avLst/>
          </a:prstGeom>
          <a:noFill/>
        </p:spPr>
        <p:txBody>
          <a:bodyPr wrap="square" anchor="ctr" lIns="0" rIns="0" tIns="0" bIns="0">
            <a:spAutoFit/>
          </a:bodyPr>
          <a:lstStyle/>
          <a:p>
            <a:pPr algn="l">
              <a:lnSpc>
                <a:spcPct val="106000"/>
              </a:lnSpc>
              <a:spcBef>
                <a:spcPts val="0"/>
              </a:spcBef>
              <a:spcAft>
                <a:spcPts val="0"/>
              </a:spcAft>
            </a:pPr>
            <a:r>
              <a:rPr sz="1200" b="0">
                <a:solidFill>
                  <a:srgbClr val="1A1A1A"/>
                </a:solidFill>
                <a:latin typeface="Red Hat Text"/>
              </a:rPr>
              <a:t>Most apps are happiest in the middle — a Helm chart</a:t>
            </a:r>
          </a:p>
        </p:txBody>
      </p:sp>
      <p:sp>
        <p:nvSpPr>
          <p:cNvPr id="22" name="Rounded Rectangle 21"/>
          <p:cNvSpPr/>
          <p:nvPr/>
        </p:nvSpPr>
        <p:spPr>
          <a:xfrm>
            <a:off x="6812280" y="2670048"/>
            <a:ext cx="4538167" cy="2944368"/>
          </a:xfrm>
          <a:prstGeom prst="roundRect">
            <a:avLst>
              <a:gd name="adj" fmla="val 4000"/>
            </a:avLst>
          </a:prstGeom>
          <a:solidFill>
            <a:srgbClr val="FFFFFF"/>
          </a:solidFill>
          <a:ln w="15240">
            <a:solidFill>
              <a:srgbClr val="DDE1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ounded Rectangle 22"/>
          <p:cNvSpPr/>
          <p:nvPr/>
        </p:nvSpPr>
        <p:spPr>
          <a:xfrm>
            <a:off x="7013448" y="2871216"/>
            <a:ext cx="1298448" cy="310896"/>
          </a:xfrm>
          <a:prstGeom prst="roundRect">
            <a:avLst>
              <a:gd name="adj" fmla="val 50000"/>
            </a:avLst>
          </a:prstGeom>
          <a:solidFill>
            <a:srgbClr val="FCEC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7013448" y="2871216"/>
            <a:ext cx="1298448" cy="310896"/>
          </a:xfrm>
          <a:prstGeom prst="rect">
            <a:avLst/>
          </a:prstGeom>
          <a:noFill/>
        </p:spPr>
        <p:txBody>
          <a:bodyPr wrap="none" anchor="ctr" lIns="0" rIns="0" tIns="0" bIns="0">
            <a:spAutoFit/>
          </a:bodyPr>
          <a:lstStyle/>
          <a:p>
            <a:pPr algn="ctr">
              <a:lnSpc>
                <a:spcPct val="106000"/>
              </a:lnSpc>
              <a:spcBef>
                <a:spcPts val="0"/>
              </a:spcBef>
              <a:spcAft>
                <a:spcPts val="0"/>
              </a:spcAft>
            </a:pPr>
            <a:r>
              <a:rPr sz="850" b="1">
                <a:solidFill>
                  <a:srgbClr val="B80000"/>
                </a:solidFill>
                <a:latin typeface="Red Hat Display"/>
              </a:rPr>
              <a:t>MEDIA PASS</a:t>
            </a:r>
          </a:p>
        </p:txBody>
      </p:sp>
      <p:pic>
        <p:nvPicPr>
          <p:cNvPr id="25" name="Picture 24" descr="eye_slate.png"/>
          <p:cNvPicPr>
            <a:picLocks noChangeAspect="1"/>
          </p:cNvPicPr>
          <p:nvPr/>
        </p:nvPicPr>
        <p:blipFill>
          <a:blip r:embed="rId4"/>
          <a:stretch>
            <a:fillRect/>
          </a:stretch>
        </p:blipFill>
        <p:spPr>
          <a:xfrm>
            <a:off x="8843619" y="3383280"/>
            <a:ext cx="475488" cy="475488"/>
          </a:xfrm>
          <a:prstGeom prst="rect">
            <a:avLst/>
          </a:prstGeom>
        </p:spPr>
      </p:pic>
      <p:sp>
        <p:nvSpPr>
          <p:cNvPr id="26" name="TextBox 25"/>
          <p:cNvSpPr txBox="1"/>
          <p:nvPr/>
        </p:nvSpPr>
        <p:spPr>
          <a:xfrm>
            <a:off x="7050024" y="3995928"/>
            <a:ext cx="4062679" cy="1481328"/>
          </a:xfrm>
          <a:prstGeom prst="rect">
            <a:avLst/>
          </a:prstGeom>
          <a:noFill/>
        </p:spPr>
        <p:txBody>
          <a:bodyPr wrap="square" anchor="t" lIns="0" rIns="0" tIns="0" bIns="0">
            <a:spAutoFit/>
          </a:bodyPr>
          <a:lstStyle/>
          <a:p>
            <a:pPr algn="l">
              <a:lnSpc>
                <a:spcPct val="120000"/>
              </a:lnSpc>
              <a:spcBef>
                <a:spcPts val="0"/>
              </a:spcBef>
              <a:spcAft>
                <a:spcPts val="0"/>
              </a:spcAft>
            </a:pPr>
            <a:r>
              <a:rPr sz="950" b="0">
                <a:solidFill>
                  <a:srgbClr val="8A9099"/>
                </a:solidFill>
                <a:latin typeface="Red Hat Text"/>
              </a:rPr>
              <a:t>Reuse concept diagram packaging-distributing-...-01-spectrum.svg — five stops left to right (manifests → Template → Kustomize → Helm → Operator) on a "day-2 encoded in the package →" axis, Helm highlighted green as the focus, Operator amber as "high cost."</a:t>
            </a:r>
          </a:p>
        </p:txBody>
      </p:sp>
      <p:cxnSp>
        <p:nvCxnSpPr>
          <p:cNvPr id="27" name="Connector 26"/>
          <p:cNvCxnSpPr/>
          <p:nvPr/>
        </p:nvCxnSpPr>
        <p:spPr>
          <a:xfrm>
            <a:off x="841248" y="6437376"/>
            <a:ext cx="10509199" cy="0"/>
          </a:xfrm>
          <a:prstGeom prst="bentConnector3">
            <a:avLst/>
          </a:prstGeom>
          <a:ln w="12700">
            <a:solidFill>
              <a:srgbClr val="DDE1E6"/>
            </a:solidFill>
          </a:ln>
          <a:effectLst/>
        </p:spPr>
        <p:style>
          <a:lnRef idx="2">
            <a:schemeClr val="accent1"/>
          </a:lnRef>
          <a:fillRef idx="0">
            <a:schemeClr val="accent1"/>
          </a:fillRef>
          <a:effectRef idx="1">
            <a:schemeClr val="accent1"/>
          </a:effectRef>
          <a:fontRef idx="minor">
            <a:schemeClr val="tx1"/>
          </a:fontRef>
        </p:style>
      </p:cxnSp>
      <p:sp>
        <p:nvSpPr>
          <p:cNvPr id="28" name="TextBox 27"/>
          <p:cNvSpPr txBox="1"/>
          <p:nvPr/>
        </p:nvSpPr>
        <p:spPr>
          <a:xfrm>
            <a:off x="841248" y="6473952"/>
            <a:ext cx="7315200" cy="274320"/>
          </a:xfrm>
          <a:prstGeom prst="rect">
            <a:avLst/>
          </a:prstGeom>
          <a:noFill/>
        </p:spPr>
        <p:txBody>
          <a:bodyPr wrap="square" anchor="t" lIns="0" rIns="0" tIns="0" bIns="0">
            <a:spAutoFit/>
          </a:bodyPr>
          <a:lstStyle/>
          <a:p>
            <a:pPr algn="l">
              <a:lnSpc>
                <a:spcPct val="106000"/>
              </a:lnSpc>
              <a:spcBef>
                <a:spcPts val="0"/>
              </a:spcBef>
              <a:spcAft>
                <a:spcPts val="0"/>
              </a:spcAft>
            </a:pPr>
            <a:r>
              <a:rPr sz="950" b="0">
                <a:solidFill>
                  <a:srgbClr val="8A9099"/>
                </a:solidFill>
                <a:latin typeface="Red Hat Text"/>
              </a:rPr>
              <a:t>CONFIDENTIAL</a:t>
            </a:r>
          </a:p>
        </p:txBody>
      </p:sp>
      <p:sp>
        <p:nvSpPr>
          <p:cNvPr id="29" name="TextBox 28"/>
          <p:cNvSpPr txBox="1"/>
          <p:nvPr/>
        </p:nvSpPr>
        <p:spPr>
          <a:xfrm>
            <a:off x="10801807" y="6473952"/>
            <a:ext cx="548640" cy="274320"/>
          </a:xfrm>
          <a:prstGeom prst="rect">
            <a:avLst/>
          </a:prstGeom>
          <a:noFill/>
        </p:spPr>
        <p:txBody>
          <a:bodyPr wrap="square" anchor="t" lIns="0" rIns="0" tIns="0" bIns="0">
            <a:spAutoFit/>
          </a:bodyPr>
          <a:lstStyle/>
          <a:p>
            <a:pPr algn="r">
              <a:lnSpc>
                <a:spcPct val="106000"/>
              </a:lnSpc>
              <a:spcBef>
                <a:spcPts val="0"/>
              </a:spcBef>
              <a:spcAft>
                <a:spcPts val="0"/>
              </a:spcAft>
            </a:pPr>
            <a:r>
              <a:rPr sz="950" b="0">
                <a:solidFill>
                  <a:srgbClr val="8A9099"/>
                </a:solidFill>
                <a:latin typeface="Red Hat Text"/>
              </a:rPr>
              <a:t>185</a:t>
            </a:r>
          </a:p>
        </p:txBody>
      </p:sp>
    </p:spTree>
  </p:cSld>
  <p:clrMapOvr>
    <a:masterClrMapping/>
  </p:clrMapOvr>
</p:sld>
</file>

<file path=ppt/slides/slide2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redhat_logo.jpg"/>
          <p:cNvPicPr>
            <a:picLocks noChangeAspect="1"/>
          </p:cNvPicPr>
          <p:nvPr/>
        </p:nvPicPr>
        <p:blipFill>
          <a:blip r:embed="rId2"/>
          <a:stretch>
            <a:fillRect/>
          </a:stretch>
        </p:blipFill>
        <p:spPr>
          <a:xfrm>
            <a:off x="10326319" y="475488"/>
            <a:ext cx="1024128" cy="242248"/>
          </a:xfrm>
          <a:prstGeom prst="rect">
            <a:avLst/>
          </a:prstGeom>
        </p:spPr>
      </p:pic>
      <p:sp>
        <p:nvSpPr>
          <p:cNvPr id="3" name="TextBox 2"/>
          <p:cNvSpPr txBox="1"/>
          <p:nvPr/>
        </p:nvSpPr>
        <p:spPr>
          <a:xfrm>
            <a:off x="841248" y="548640"/>
            <a:ext cx="8595360" cy="274320"/>
          </a:xfrm>
          <a:prstGeom prst="rect">
            <a:avLst/>
          </a:prstGeom>
          <a:noFill/>
        </p:spPr>
        <p:txBody>
          <a:bodyPr wrap="square" anchor="t" lIns="0" rIns="0" tIns="0" bIns="0">
            <a:spAutoFit/>
          </a:bodyPr>
          <a:lstStyle/>
          <a:p>
            <a:pPr algn="l">
              <a:lnSpc>
                <a:spcPct val="106000"/>
              </a:lnSpc>
              <a:spcBef>
                <a:spcPts val="0"/>
              </a:spcBef>
              <a:spcAft>
                <a:spcPts val="0"/>
              </a:spcAft>
            </a:pPr>
            <a:r>
              <a:rPr sz="1250" b="1" spc="220">
                <a:solidFill>
                  <a:srgbClr val="EE0000"/>
                </a:solidFill>
                <a:latin typeface="Red Hat Display"/>
              </a:rPr>
              <a:t>M26 · PACKAGING &amp; DISTRIBUTING YOUR APP</a:t>
            </a:r>
          </a:p>
        </p:txBody>
      </p:sp>
      <p:sp>
        <p:nvSpPr>
          <p:cNvPr id="4" name="TextBox 3"/>
          <p:cNvSpPr txBox="1"/>
          <p:nvPr/>
        </p:nvSpPr>
        <p:spPr>
          <a:xfrm>
            <a:off x="841248" y="877824"/>
            <a:ext cx="10515600" cy="548640"/>
          </a:xfrm>
          <a:prstGeom prst="rect">
            <a:avLst/>
          </a:prstGeom>
          <a:noFill/>
        </p:spPr>
        <p:txBody>
          <a:bodyPr wrap="none" anchor="t" lIns="0" rIns="0" tIns="0" bIns="0">
            <a:spAutoFit/>
          </a:bodyPr>
          <a:lstStyle/>
          <a:p>
            <a:pPr algn="l">
              <a:lnSpc>
                <a:spcPct val="100000"/>
              </a:lnSpc>
              <a:spcBef>
                <a:spcPts val="0"/>
              </a:spcBef>
              <a:spcAft>
                <a:spcPts val="0"/>
              </a:spcAft>
            </a:pPr>
            <a:r>
              <a:rPr sz="2500" b="1">
                <a:solidFill>
                  <a:srgbClr val="1A1A1A"/>
                </a:solidFill>
                <a:latin typeface="Red Hat Display"/>
              </a:rPr>
              <a:t>A Helm chart = values + templates + a</a:t>
            </a:r>
          </a:p>
        </p:txBody>
      </p:sp>
      <p:cxnSp>
        <p:nvCxnSpPr>
          <p:cNvPr id="5" name="Connector 4"/>
          <p:cNvCxnSpPr/>
          <p:nvPr/>
        </p:nvCxnSpPr>
        <p:spPr>
          <a:xfrm>
            <a:off x="841248" y="1554480"/>
            <a:ext cx="1371600" cy="0"/>
          </a:xfrm>
          <a:prstGeom prst="bentConnector3">
            <a:avLst/>
          </a:prstGeom>
          <a:ln w="31750">
            <a:solidFill>
              <a:srgbClr val="EE0000"/>
            </a:solidFill>
          </a:ln>
          <a:effectLst/>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841248" y="1664208"/>
            <a:ext cx="10515600" cy="365760"/>
          </a:xfrm>
          <a:prstGeom prst="rect">
            <a:avLst/>
          </a:prstGeom>
          <a:noFill/>
        </p:spPr>
        <p:txBody>
          <a:bodyPr wrap="square" anchor="t" lIns="0" rIns="0" tIns="0" bIns="0">
            <a:spAutoFit/>
          </a:bodyPr>
          <a:lstStyle/>
          <a:p>
            <a:pPr algn="l">
              <a:lnSpc>
                <a:spcPct val="106000"/>
              </a:lnSpc>
              <a:spcBef>
                <a:spcPts val="0"/>
              </a:spcBef>
              <a:spcAft>
                <a:spcPts val="0"/>
              </a:spcAft>
            </a:pPr>
            <a:r>
              <a:rPr sz="1350" b="0">
                <a:solidFill>
                  <a:srgbClr val="555960"/>
                </a:solidFill>
                <a:latin typeface="Red Hat Text"/>
              </a:rPr>
              <a:t>lifecycle</a:t>
            </a:r>
          </a:p>
        </p:txBody>
      </p:sp>
      <p:sp>
        <p:nvSpPr>
          <p:cNvPr id="7" name="Rounded Rectangle 6"/>
          <p:cNvSpPr/>
          <p:nvPr/>
        </p:nvSpPr>
        <p:spPr>
          <a:xfrm>
            <a:off x="841248" y="2670048"/>
            <a:ext cx="5715000" cy="530352"/>
          </a:xfrm>
          <a:prstGeom prst="roundRect">
            <a:avLst>
              <a:gd name="adj" fmla="val 6000"/>
            </a:avLst>
          </a:prstGeom>
          <a:solidFill>
            <a:srgbClr val="F5F6F8"/>
          </a:solidFill>
          <a:ln w="12700">
            <a:solidFill>
              <a:srgbClr val="DDE1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check_steel.png"/>
          <p:cNvPicPr>
            <a:picLocks noChangeAspect="1"/>
          </p:cNvPicPr>
          <p:nvPr/>
        </p:nvPicPr>
        <p:blipFill>
          <a:blip r:embed="rId3"/>
          <a:stretch>
            <a:fillRect/>
          </a:stretch>
        </p:blipFill>
        <p:spPr>
          <a:xfrm>
            <a:off x="987552" y="2816352"/>
            <a:ext cx="237744" cy="237744"/>
          </a:xfrm>
          <a:prstGeom prst="rect">
            <a:avLst/>
          </a:prstGeom>
        </p:spPr>
      </p:pic>
      <p:sp>
        <p:nvSpPr>
          <p:cNvPr id="9" name="TextBox 8"/>
          <p:cNvSpPr txBox="1"/>
          <p:nvPr/>
        </p:nvSpPr>
        <p:spPr>
          <a:xfrm>
            <a:off x="1353312" y="2670048"/>
            <a:ext cx="5029200" cy="530352"/>
          </a:xfrm>
          <a:prstGeom prst="rect">
            <a:avLst/>
          </a:prstGeom>
          <a:noFill/>
        </p:spPr>
        <p:txBody>
          <a:bodyPr wrap="square" anchor="ctr" lIns="0" rIns="0" tIns="0" bIns="0">
            <a:spAutoFit/>
          </a:bodyPr>
          <a:lstStyle/>
          <a:p>
            <a:pPr algn="l">
              <a:lnSpc>
                <a:spcPct val="106000"/>
              </a:lnSpc>
              <a:spcBef>
                <a:spcPts val="0"/>
              </a:spcBef>
              <a:spcAft>
                <a:spcPts val="0"/>
              </a:spcAft>
            </a:pPr>
            <a:r>
              <a:rPr sz="1200" b="0">
                <a:solidFill>
                  <a:srgbClr val="1A1A1A"/>
                </a:solidFill>
                <a:latin typeface="Red Hat Text"/>
              </a:rPr>
              <a:t>Chart.yaml (identity), values.yaml (inputs), templates/ (manifests)</a:t>
            </a:r>
          </a:p>
        </p:txBody>
      </p:sp>
      <p:sp>
        <p:nvSpPr>
          <p:cNvPr id="10" name="Rounded Rectangle 9"/>
          <p:cNvSpPr/>
          <p:nvPr/>
        </p:nvSpPr>
        <p:spPr>
          <a:xfrm>
            <a:off x="841248" y="3273552"/>
            <a:ext cx="5715000" cy="530352"/>
          </a:xfrm>
          <a:prstGeom prst="roundRect">
            <a:avLst>
              <a:gd name="adj" fmla="val 6000"/>
            </a:avLst>
          </a:prstGeom>
          <a:solidFill>
            <a:srgbClr val="F5F6F8"/>
          </a:solidFill>
          <a:ln w="12700">
            <a:solidFill>
              <a:srgbClr val="DDE1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1" name="Picture 10" descr="check_steel.png"/>
          <p:cNvPicPr>
            <a:picLocks noChangeAspect="1"/>
          </p:cNvPicPr>
          <p:nvPr/>
        </p:nvPicPr>
        <p:blipFill>
          <a:blip r:embed="rId3"/>
          <a:stretch>
            <a:fillRect/>
          </a:stretch>
        </p:blipFill>
        <p:spPr>
          <a:xfrm>
            <a:off x="987552" y="3419856"/>
            <a:ext cx="237744" cy="237744"/>
          </a:xfrm>
          <a:prstGeom prst="rect">
            <a:avLst/>
          </a:prstGeom>
        </p:spPr>
      </p:pic>
      <p:sp>
        <p:nvSpPr>
          <p:cNvPr id="12" name="TextBox 11"/>
          <p:cNvSpPr txBox="1"/>
          <p:nvPr/>
        </p:nvSpPr>
        <p:spPr>
          <a:xfrm>
            <a:off x="1353312" y="3273552"/>
            <a:ext cx="5029200" cy="530352"/>
          </a:xfrm>
          <a:prstGeom prst="rect">
            <a:avLst/>
          </a:prstGeom>
          <a:noFill/>
        </p:spPr>
        <p:txBody>
          <a:bodyPr wrap="square" anchor="ctr" lIns="0" rIns="0" tIns="0" bIns="0">
            <a:spAutoFit/>
          </a:bodyPr>
          <a:lstStyle/>
          <a:p>
            <a:pPr algn="l">
              <a:lnSpc>
                <a:spcPct val="106000"/>
              </a:lnSpc>
              <a:spcBef>
                <a:spcPts val="0"/>
              </a:spcBef>
              <a:spcAft>
                <a:spcPts val="0"/>
              </a:spcAft>
            </a:pPr>
            <a:r>
              <a:rPr sz="1200" b="0">
                <a:solidFill>
                  <a:srgbClr val="1A1A1A"/>
                </a:solidFill>
                <a:latin typeface="Red Hat Text"/>
              </a:rPr>
              <a:t>{{ .Values.x }} in a template pulls from values.yaml</a:t>
            </a:r>
          </a:p>
        </p:txBody>
      </p:sp>
      <p:sp>
        <p:nvSpPr>
          <p:cNvPr id="13" name="Rounded Rectangle 12"/>
          <p:cNvSpPr/>
          <p:nvPr/>
        </p:nvSpPr>
        <p:spPr>
          <a:xfrm>
            <a:off x="841248" y="3877056"/>
            <a:ext cx="5715000" cy="530352"/>
          </a:xfrm>
          <a:prstGeom prst="roundRect">
            <a:avLst>
              <a:gd name="adj" fmla="val 6000"/>
            </a:avLst>
          </a:prstGeom>
          <a:solidFill>
            <a:srgbClr val="F5F6F8"/>
          </a:solidFill>
          <a:ln w="12700">
            <a:solidFill>
              <a:srgbClr val="DDE1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4" name="Picture 13" descr="check_steel.png"/>
          <p:cNvPicPr>
            <a:picLocks noChangeAspect="1"/>
          </p:cNvPicPr>
          <p:nvPr/>
        </p:nvPicPr>
        <p:blipFill>
          <a:blip r:embed="rId3"/>
          <a:stretch>
            <a:fillRect/>
          </a:stretch>
        </p:blipFill>
        <p:spPr>
          <a:xfrm>
            <a:off x="987552" y="4023360"/>
            <a:ext cx="237744" cy="237744"/>
          </a:xfrm>
          <a:prstGeom prst="rect">
            <a:avLst/>
          </a:prstGeom>
        </p:spPr>
      </p:pic>
      <p:sp>
        <p:nvSpPr>
          <p:cNvPr id="15" name="TextBox 14"/>
          <p:cNvSpPr txBox="1"/>
          <p:nvPr/>
        </p:nvSpPr>
        <p:spPr>
          <a:xfrm>
            <a:off x="1353312" y="3877056"/>
            <a:ext cx="5029200" cy="530352"/>
          </a:xfrm>
          <a:prstGeom prst="rect">
            <a:avLst/>
          </a:prstGeom>
          <a:noFill/>
        </p:spPr>
        <p:txBody>
          <a:bodyPr wrap="square" anchor="ctr" lIns="0" rIns="0" tIns="0" bIns="0">
            <a:spAutoFit/>
          </a:bodyPr>
          <a:lstStyle/>
          <a:p>
            <a:pPr algn="l">
              <a:lnSpc>
                <a:spcPct val="106000"/>
              </a:lnSpc>
              <a:spcBef>
                <a:spcPts val="0"/>
              </a:spcBef>
              <a:spcAft>
                <a:spcPts val="0"/>
              </a:spcAft>
            </a:pPr>
            <a:r>
              <a:rPr sz="1200" b="0">
                <a:solidFill>
                  <a:srgbClr val="1A1A1A"/>
                </a:solidFill>
                <a:latin typeface="Red Hat Text"/>
              </a:rPr>
              <a:t>Shape it: your image, port 8080, /health probes, SITE env</a:t>
            </a:r>
          </a:p>
        </p:txBody>
      </p:sp>
      <p:sp>
        <p:nvSpPr>
          <p:cNvPr id="16" name="Rounded Rectangle 15"/>
          <p:cNvSpPr/>
          <p:nvPr/>
        </p:nvSpPr>
        <p:spPr>
          <a:xfrm>
            <a:off x="841248" y="4480560"/>
            <a:ext cx="5715000" cy="530352"/>
          </a:xfrm>
          <a:prstGeom prst="roundRect">
            <a:avLst>
              <a:gd name="adj" fmla="val 6000"/>
            </a:avLst>
          </a:prstGeom>
          <a:solidFill>
            <a:srgbClr val="F5F6F8"/>
          </a:solidFill>
          <a:ln w="12700">
            <a:solidFill>
              <a:srgbClr val="DDE1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7" name="Picture 16" descr="check_steel.png"/>
          <p:cNvPicPr>
            <a:picLocks noChangeAspect="1"/>
          </p:cNvPicPr>
          <p:nvPr/>
        </p:nvPicPr>
        <p:blipFill>
          <a:blip r:embed="rId3"/>
          <a:stretch>
            <a:fillRect/>
          </a:stretch>
        </p:blipFill>
        <p:spPr>
          <a:xfrm>
            <a:off x="987552" y="4626864"/>
            <a:ext cx="237744" cy="237744"/>
          </a:xfrm>
          <a:prstGeom prst="rect">
            <a:avLst/>
          </a:prstGeom>
        </p:spPr>
      </p:pic>
      <p:sp>
        <p:nvSpPr>
          <p:cNvPr id="18" name="TextBox 17"/>
          <p:cNvSpPr txBox="1"/>
          <p:nvPr/>
        </p:nvSpPr>
        <p:spPr>
          <a:xfrm>
            <a:off x="1353312" y="4480560"/>
            <a:ext cx="5029200" cy="530352"/>
          </a:xfrm>
          <a:prstGeom prst="rect">
            <a:avLst/>
          </a:prstGeom>
          <a:noFill/>
        </p:spPr>
        <p:txBody>
          <a:bodyPr wrap="square" anchor="ctr" lIns="0" rIns="0" tIns="0" bIns="0">
            <a:spAutoFit/>
          </a:bodyPr>
          <a:lstStyle/>
          <a:p>
            <a:pPr algn="l">
              <a:lnSpc>
                <a:spcPct val="106000"/>
              </a:lnSpc>
              <a:spcBef>
                <a:spcPts val="0"/>
              </a:spcBef>
              <a:spcAft>
                <a:spcPts val="0"/>
              </a:spcAft>
            </a:pPr>
            <a:r>
              <a:rPr sz="1200" b="0">
                <a:solidFill>
                  <a:srgbClr val="1A1A1A"/>
                </a:solidFill>
                <a:latin typeface="Red Hat Text"/>
              </a:rPr>
              <a:t>OpenShift move: swap the stock Ingress for an edge Route</a:t>
            </a:r>
          </a:p>
        </p:txBody>
      </p:sp>
      <p:sp>
        <p:nvSpPr>
          <p:cNvPr id="19" name="Rounded Rectangle 18"/>
          <p:cNvSpPr/>
          <p:nvPr/>
        </p:nvSpPr>
        <p:spPr>
          <a:xfrm>
            <a:off x="841248" y="5084064"/>
            <a:ext cx="5715000" cy="530352"/>
          </a:xfrm>
          <a:prstGeom prst="roundRect">
            <a:avLst>
              <a:gd name="adj" fmla="val 6000"/>
            </a:avLst>
          </a:prstGeom>
          <a:solidFill>
            <a:srgbClr val="F5F6F8"/>
          </a:solidFill>
          <a:ln w="12700">
            <a:solidFill>
              <a:srgbClr val="DDE1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0" name="Picture 19" descr="check_steel.png"/>
          <p:cNvPicPr>
            <a:picLocks noChangeAspect="1"/>
          </p:cNvPicPr>
          <p:nvPr/>
        </p:nvPicPr>
        <p:blipFill>
          <a:blip r:embed="rId3"/>
          <a:stretch>
            <a:fillRect/>
          </a:stretch>
        </p:blipFill>
        <p:spPr>
          <a:xfrm>
            <a:off x="987552" y="5230368"/>
            <a:ext cx="237744" cy="237744"/>
          </a:xfrm>
          <a:prstGeom prst="rect">
            <a:avLst/>
          </a:prstGeom>
        </p:spPr>
      </p:pic>
      <p:sp>
        <p:nvSpPr>
          <p:cNvPr id="21" name="TextBox 20"/>
          <p:cNvSpPr txBox="1"/>
          <p:nvPr/>
        </p:nvSpPr>
        <p:spPr>
          <a:xfrm>
            <a:off x="1353312" y="5084064"/>
            <a:ext cx="5029200" cy="530352"/>
          </a:xfrm>
          <a:prstGeom prst="rect">
            <a:avLst/>
          </a:prstGeom>
          <a:noFill/>
        </p:spPr>
        <p:txBody>
          <a:bodyPr wrap="square" anchor="ctr" lIns="0" rIns="0" tIns="0" bIns="0">
            <a:spAutoFit/>
          </a:bodyPr>
          <a:lstStyle/>
          <a:p>
            <a:pPr algn="l">
              <a:lnSpc>
                <a:spcPct val="106000"/>
              </a:lnSpc>
              <a:spcBef>
                <a:spcPts val="0"/>
              </a:spcBef>
              <a:spcAft>
                <a:spcPts val="0"/>
              </a:spcAft>
            </a:pPr>
            <a:r>
              <a:rPr sz="1200" b="0">
                <a:solidFill>
                  <a:srgbClr val="1A1A1A"/>
                </a:solidFill>
                <a:latin typeface="Red Hat Text"/>
              </a:rPr>
              <a:t>helm template renders it — see exactly what will apply</a:t>
            </a:r>
          </a:p>
        </p:txBody>
      </p:sp>
      <p:sp>
        <p:nvSpPr>
          <p:cNvPr id="22" name="Rounded Rectangle 21"/>
          <p:cNvSpPr/>
          <p:nvPr/>
        </p:nvSpPr>
        <p:spPr>
          <a:xfrm>
            <a:off x="6812280" y="2670048"/>
            <a:ext cx="4538167" cy="2944368"/>
          </a:xfrm>
          <a:prstGeom prst="roundRect">
            <a:avLst>
              <a:gd name="adj" fmla="val 4000"/>
            </a:avLst>
          </a:prstGeom>
          <a:solidFill>
            <a:srgbClr val="FFFFFF"/>
          </a:solidFill>
          <a:ln w="15240">
            <a:solidFill>
              <a:srgbClr val="DDE1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ounded Rectangle 22"/>
          <p:cNvSpPr/>
          <p:nvPr/>
        </p:nvSpPr>
        <p:spPr>
          <a:xfrm>
            <a:off x="7013448" y="2871216"/>
            <a:ext cx="1298448" cy="310896"/>
          </a:xfrm>
          <a:prstGeom prst="roundRect">
            <a:avLst>
              <a:gd name="adj" fmla="val 50000"/>
            </a:avLst>
          </a:prstGeom>
          <a:solidFill>
            <a:srgbClr val="FCEC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7013448" y="2871216"/>
            <a:ext cx="1298448" cy="310896"/>
          </a:xfrm>
          <a:prstGeom prst="rect">
            <a:avLst/>
          </a:prstGeom>
          <a:noFill/>
        </p:spPr>
        <p:txBody>
          <a:bodyPr wrap="none" anchor="ctr" lIns="0" rIns="0" tIns="0" bIns="0">
            <a:spAutoFit/>
          </a:bodyPr>
          <a:lstStyle/>
          <a:p>
            <a:pPr algn="ctr">
              <a:lnSpc>
                <a:spcPct val="106000"/>
              </a:lnSpc>
              <a:spcBef>
                <a:spcPts val="0"/>
              </a:spcBef>
              <a:spcAft>
                <a:spcPts val="0"/>
              </a:spcAft>
            </a:pPr>
            <a:r>
              <a:rPr sz="850" b="1">
                <a:solidFill>
                  <a:srgbClr val="B80000"/>
                </a:solidFill>
                <a:latin typeface="Red Hat Display"/>
              </a:rPr>
              <a:t>MEDIA PASS</a:t>
            </a:r>
          </a:p>
        </p:txBody>
      </p:sp>
      <p:pic>
        <p:nvPicPr>
          <p:cNvPr id="25" name="Picture 24" descr="eye_slate.png"/>
          <p:cNvPicPr>
            <a:picLocks noChangeAspect="1"/>
          </p:cNvPicPr>
          <p:nvPr/>
        </p:nvPicPr>
        <p:blipFill>
          <a:blip r:embed="rId4"/>
          <a:stretch>
            <a:fillRect/>
          </a:stretch>
        </p:blipFill>
        <p:spPr>
          <a:xfrm>
            <a:off x="8843619" y="3383280"/>
            <a:ext cx="475488" cy="475488"/>
          </a:xfrm>
          <a:prstGeom prst="rect">
            <a:avLst/>
          </a:prstGeom>
        </p:spPr>
      </p:pic>
      <p:sp>
        <p:nvSpPr>
          <p:cNvPr id="26" name="TextBox 25"/>
          <p:cNvSpPr txBox="1"/>
          <p:nvPr/>
        </p:nvSpPr>
        <p:spPr>
          <a:xfrm>
            <a:off x="7050024" y="3995928"/>
            <a:ext cx="4062679" cy="1481328"/>
          </a:xfrm>
          <a:prstGeom prst="rect">
            <a:avLst/>
          </a:prstGeom>
          <a:noFill/>
        </p:spPr>
        <p:txBody>
          <a:bodyPr wrap="square" anchor="t" lIns="0" rIns="0" tIns="0" bIns="0">
            <a:spAutoFit/>
          </a:bodyPr>
          <a:lstStyle/>
          <a:p>
            <a:pPr algn="l">
              <a:lnSpc>
                <a:spcPct val="120000"/>
              </a:lnSpc>
              <a:spcBef>
                <a:spcPts val="0"/>
              </a:spcBef>
              <a:spcAft>
                <a:spcPts val="0"/>
              </a:spcAft>
            </a:pPr>
            <a:r>
              <a:rPr sz="950" b="0">
                <a:solidFill>
                  <a:srgbClr val="8A9099"/>
                </a:solidFill>
                <a:latin typeface="Red Hat Text"/>
              </a:rPr>
              <a:t>A chart tree (Chart.yaml, values.yaml, templates/deployment.yaml, route.yaml, tests/) with an arrow from a values.yaml field into a {{ }} placeholder in a template, rendering to a real Deployment+Route.</a:t>
            </a:r>
          </a:p>
        </p:txBody>
      </p:sp>
      <p:cxnSp>
        <p:nvCxnSpPr>
          <p:cNvPr id="27" name="Connector 26"/>
          <p:cNvCxnSpPr/>
          <p:nvPr/>
        </p:nvCxnSpPr>
        <p:spPr>
          <a:xfrm>
            <a:off x="841248" y="6437376"/>
            <a:ext cx="10509199" cy="0"/>
          </a:xfrm>
          <a:prstGeom prst="bentConnector3">
            <a:avLst/>
          </a:prstGeom>
          <a:ln w="12700">
            <a:solidFill>
              <a:srgbClr val="DDE1E6"/>
            </a:solidFill>
          </a:ln>
          <a:effectLst/>
        </p:spPr>
        <p:style>
          <a:lnRef idx="2">
            <a:schemeClr val="accent1"/>
          </a:lnRef>
          <a:fillRef idx="0">
            <a:schemeClr val="accent1"/>
          </a:fillRef>
          <a:effectRef idx="1">
            <a:schemeClr val="accent1"/>
          </a:effectRef>
          <a:fontRef idx="minor">
            <a:schemeClr val="tx1"/>
          </a:fontRef>
        </p:style>
      </p:cxnSp>
      <p:sp>
        <p:nvSpPr>
          <p:cNvPr id="28" name="TextBox 27"/>
          <p:cNvSpPr txBox="1"/>
          <p:nvPr/>
        </p:nvSpPr>
        <p:spPr>
          <a:xfrm>
            <a:off x="841248" y="6473952"/>
            <a:ext cx="7315200" cy="274320"/>
          </a:xfrm>
          <a:prstGeom prst="rect">
            <a:avLst/>
          </a:prstGeom>
          <a:noFill/>
        </p:spPr>
        <p:txBody>
          <a:bodyPr wrap="square" anchor="t" lIns="0" rIns="0" tIns="0" bIns="0">
            <a:spAutoFit/>
          </a:bodyPr>
          <a:lstStyle/>
          <a:p>
            <a:pPr algn="l">
              <a:lnSpc>
                <a:spcPct val="106000"/>
              </a:lnSpc>
              <a:spcBef>
                <a:spcPts val="0"/>
              </a:spcBef>
              <a:spcAft>
                <a:spcPts val="0"/>
              </a:spcAft>
            </a:pPr>
            <a:r>
              <a:rPr sz="950" b="0">
                <a:solidFill>
                  <a:srgbClr val="8A9099"/>
                </a:solidFill>
                <a:latin typeface="Red Hat Text"/>
              </a:rPr>
              <a:t>CONFIDENTIAL</a:t>
            </a:r>
          </a:p>
        </p:txBody>
      </p:sp>
      <p:sp>
        <p:nvSpPr>
          <p:cNvPr id="29" name="TextBox 28"/>
          <p:cNvSpPr txBox="1"/>
          <p:nvPr/>
        </p:nvSpPr>
        <p:spPr>
          <a:xfrm>
            <a:off x="10801807" y="6473952"/>
            <a:ext cx="548640" cy="274320"/>
          </a:xfrm>
          <a:prstGeom prst="rect">
            <a:avLst/>
          </a:prstGeom>
          <a:noFill/>
        </p:spPr>
        <p:txBody>
          <a:bodyPr wrap="square" anchor="t" lIns="0" rIns="0" tIns="0" bIns="0">
            <a:spAutoFit/>
          </a:bodyPr>
          <a:lstStyle/>
          <a:p>
            <a:pPr algn="r">
              <a:lnSpc>
                <a:spcPct val="106000"/>
              </a:lnSpc>
              <a:spcBef>
                <a:spcPts val="0"/>
              </a:spcBef>
              <a:spcAft>
                <a:spcPts val="0"/>
              </a:spcAft>
            </a:pPr>
            <a:r>
              <a:rPr sz="950" b="0">
                <a:solidFill>
                  <a:srgbClr val="8A9099"/>
                </a:solidFill>
                <a:latin typeface="Red Hat Text"/>
              </a:rPr>
              <a:t>186</a:t>
            </a:r>
          </a:p>
        </p:txBody>
      </p:sp>
    </p:spTree>
  </p:cSld>
  <p:clrMapOvr>
    <a:masterClrMapping/>
  </p:clrMapOvr>
</p:sld>
</file>

<file path=ppt/slides/slide2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redhat_logo.jpg"/>
          <p:cNvPicPr>
            <a:picLocks noChangeAspect="1"/>
          </p:cNvPicPr>
          <p:nvPr/>
        </p:nvPicPr>
        <p:blipFill>
          <a:blip r:embed="rId2"/>
          <a:stretch>
            <a:fillRect/>
          </a:stretch>
        </p:blipFill>
        <p:spPr>
          <a:xfrm>
            <a:off x="10326319" y="475488"/>
            <a:ext cx="1024128" cy="242248"/>
          </a:xfrm>
          <a:prstGeom prst="rect">
            <a:avLst/>
          </a:prstGeom>
        </p:spPr>
      </p:pic>
      <p:sp>
        <p:nvSpPr>
          <p:cNvPr id="3" name="TextBox 2"/>
          <p:cNvSpPr txBox="1"/>
          <p:nvPr/>
        </p:nvSpPr>
        <p:spPr>
          <a:xfrm>
            <a:off x="841248" y="548640"/>
            <a:ext cx="8595360" cy="274320"/>
          </a:xfrm>
          <a:prstGeom prst="rect">
            <a:avLst/>
          </a:prstGeom>
          <a:noFill/>
        </p:spPr>
        <p:txBody>
          <a:bodyPr wrap="square" anchor="t" lIns="0" rIns="0" tIns="0" bIns="0">
            <a:spAutoFit/>
          </a:bodyPr>
          <a:lstStyle/>
          <a:p>
            <a:pPr algn="l">
              <a:lnSpc>
                <a:spcPct val="106000"/>
              </a:lnSpc>
              <a:spcBef>
                <a:spcPts val="0"/>
              </a:spcBef>
              <a:spcAft>
                <a:spcPts val="0"/>
              </a:spcAft>
            </a:pPr>
            <a:r>
              <a:rPr sz="1250" b="1" spc="220">
                <a:solidFill>
                  <a:srgbClr val="EE0000"/>
                </a:solidFill>
                <a:latin typeface="Red Hat Display"/>
              </a:rPr>
              <a:t>M26 · PACKAGING &amp; DISTRIBUTING YOUR APP</a:t>
            </a:r>
          </a:p>
        </p:txBody>
      </p:sp>
      <p:sp>
        <p:nvSpPr>
          <p:cNvPr id="4" name="TextBox 3"/>
          <p:cNvSpPr txBox="1"/>
          <p:nvPr/>
        </p:nvSpPr>
        <p:spPr>
          <a:xfrm>
            <a:off x="841248" y="877824"/>
            <a:ext cx="10515600" cy="548640"/>
          </a:xfrm>
          <a:prstGeom prst="rect">
            <a:avLst/>
          </a:prstGeom>
          <a:noFill/>
        </p:spPr>
        <p:txBody>
          <a:bodyPr wrap="none" anchor="t" lIns="0" rIns="0" tIns="0" bIns="0">
            <a:spAutoFit/>
          </a:bodyPr>
          <a:lstStyle/>
          <a:p>
            <a:pPr algn="l">
              <a:lnSpc>
                <a:spcPct val="100000"/>
              </a:lnSpc>
              <a:spcBef>
                <a:spcPts val="0"/>
              </a:spcBef>
              <a:spcAft>
                <a:spcPts val="0"/>
              </a:spcAft>
            </a:pPr>
            <a:r>
              <a:rPr sz="2500" b="1">
                <a:solidFill>
                  <a:srgbClr val="1A1A1A"/>
                </a:solidFill>
                <a:latin typeface="Red Hat Display"/>
              </a:rPr>
              <a:t>The release lifecycle</a:t>
            </a:r>
          </a:p>
        </p:txBody>
      </p:sp>
      <p:cxnSp>
        <p:nvCxnSpPr>
          <p:cNvPr id="5" name="Connector 4"/>
          <p:cNvCxnSpPr/>
          <p:nvPr/>
        </p:nvCxnSpPr>
        <p:spPr>
          <a:xfrm>
            <a:off x="841248" y="1554480"/>
            <a:ext cx="1371600" cy="0"/>
          </a:xfrm>
          <a:prstGeom prst="bentConnector3">
            <a:avLst/>
          </a:prstGeom>
          <a:ln w="31750">
            <a:solidFill>
              <a:srgbClr val="EE0000"/>
            </a:solidFill>
          </a:ln>
          <a:effectLst/>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841248" y="1664208"/>
            <a:ext cx="10515600" cy="365760"/>
          </a:xfrm>
          <a:prstGeom prst="rect">
            <a:avLst/>
          </a:prstGeom>
          <a:noFill/>
        </p:spPr>
        <p:txBody>
          <a:bodyPr wrap="square" anchor="t" lIns="0" rIns="0" tIns="0" bIns="0">
            <a:spAutoFit/>
          </a:bodyPr>
          <a:lstStyle/>
          <a:p>
            <a:pPr algn="l">
              <a:lnSpc>
                <a:spcPct val="106000"/>
              </a:lnSpc>
              <a:spcBef>
                <a:spcPts val="0"/>
              </a:spcBef>
              <a:spcAft>
                <a:spcPts val="0"/>
              </a:spcAft>
            </a:pPr>
            <a:r>
              <a:rPr sz="1350" b="0">
                <a:solidFill>
                  <a:srgbClr val="555960"/>
                </a:solidFill>
                <a:latin typeface="Red Hat Text"/>
              </a:rPr>
              <a:t>install, break, roll back</a:t>
            </a:r>
          </a:p>
        </p:txBody>
      </p:sp>
      <p:sp>
        <p:nvSpPr>
          <p:cNvPr id="7" name="Rounded Rectangle 6"/>
          <p:cNvSpPr/>
          <p:nvPr/>
        </p:nvSpPr>
        <p:spPr>
          <a:xfrm>
            <a:off x="841248" y="2670048"/>
            <a:ext cx="5715000" cy="530352"/>
          </a:xfrm>
          <a:prstGeom prst="roundRect">
            <a:avLst>
              <a:gd name="adj" fmla="val 6000"/>
            </a:avLst>
          </a:prstGeom>
          <a:solidFill>
            <a:srgbClr val="F5F6F8"/>
          </a:solidFill>
          <a:ln w="12700">
            <a:solidFill>
              <a:srgbClr val="DDE1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check_steel.png"/>
          <p:cNvPicPr>
            <a:picLocks noChangeAspect="1"/>
          </p:cNvPicPr>
          <p:nvPr/>
        </p:nvPicPr>
        <p:blipFill>
          <a:blip r:embed="rId3"/>
          <a:stretch>
            <a:fillRect/>
          </a:stretch>
        </p:blipFill>
        <p:spPr>
          <a:xfrm>
            <a:off x="987552" y="2816352"/>
            <a:ext cx="237744" cy="237744"/>
          </a:xfrm>
          <a:prstGeom prst="rect">
            <a:avLst/>
          </a:prstGeom>
        </p:spPr>
      </p:pic>
      <p:sp>
        <p:nvSpPr>
          <p:cNvPr id="9" name="TextBox 8"/>
          <p:cNvSpPr txBox="1"/>
          <p:nvPr/>
        </p:nvSpPr>
        <p:spPr>
          <a:xfrm>
            <a:off x="1353312" y="2670048"/>
            <a:ext cx="5029200" cy="530352"/>
          </a:xfrm>
          <a:prstGeom prst="rect">
            <a:avLst/>
          </a:prstGeom>
          <a:noFill/>
        </p:spPr>
        <p:txBody>
          <a:bodyPr wrap="square" anchor="ctr" lIns="0" rIns="0" tIns="0" bIns="0">
            <a:spAutoFit/>
          </a:bodyPr>
          <a:lstStyle/>
          <a:p>
            <a:pPr algn="l">
              <a:lnSpc>
                <a:spcPct val="106000"/>
              </a:lnSpc>
              <a:spcBef>
                <a:spcPts val="0"/>
              </a:spcBef>
              <a:spcAft>
                <a:spcPts val="0"/>
              </a:spcAft>
            </a:pPr>
            <a:r>
              <a:rPr sz="1200" b="0">
                <a:solidFill>
                  <a:srgbClr val="1A1A1A"/>
                </a:solidFill>
                <a:latin typeface="Red Hat Text"/>
              </a:rPr>
              <a:t>helm install → a versioned release (revision 1) + a URL</a:t>
            </a:r>
          </a:p>
        </p:txBody>
      </p:sp>
      <p:sp>
        <p:nvSpPr>
          <p:cNvPr id="10" name="Rounded Rectangle 9"/>
          <p:cNvSpPr/>
          <p:nvPr/>
        </p:nvSpPr>
        <p:spPr>
          <a:xfrm>
            <a:off x="841248" y="3273552"/>
            <a:ext cx="5715000" cy="530352"/>
          </a:xfrm>
          <a:prstGeom prst="roundRect">
            <a:avLst>
              <a:gd name="adj" fmla="val 6000"/>
            </a:avLst>
          </a:prstGeom>
          <a:solidFill>
            <a:srgbClr val="F5F6F8"/>
          </a:solidFill>
          <a:ln w="12700">
            <a:solidFill>
              <a:srgbClr val="DDE1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1" name="Picture 10" descr="check_steel.png"/>
          <p:cNvPicPr>
            <a:picLocks noChangeAspect="1"/>
          </p:cNvPicPr>
          <p:nvPr/>
        </p:nvPicPr>
        <p:blipFill>
          <a:blip r:embed="rId3"/>
          <a:stretch>
            <a:fillRect/>
          </a:stretch>
        </p:blipFill>
        <p:spPr>
          <a:xfrm>
            <a:off x="987552" y="3419856"/>
            <a:ext cx="237744" cy="237744"/>
          </a:xfrm>
          <a:prstGeom prst="rect">
            <a:avLst/>
          </a:prstGeom>
        </p:spPr>
      </p:pic>
      <p:sp>
        <p:nvSpPr>
          <p:cNvPr id="12" name="TextBox 11"/>
          <p:cNvSpPr txBox="1"/>
          <p:nvPr/>
        </p:nvSpPr>
        <p:spPr>
          <a:xfrm>
            <a:off x="1353312" y="3273552"/>
            <a:ext cx="5029200" cy="530352"/>
          </a:xfrm>
          <a:prstGeom prst="rect">
            <a:avLst/>
          </a:prstGeom>
          <a:noFill/>
        </p:spPr>
        <p:txBody>
          <a:bodyPr wrap="square" anchor="ctr" lIns="0" rIns="0" tIns="0" bIns="0">
            <a:spAutoFit/>
          </a:bodyPr>
          <a:lstStyle/>
          <a:p>
            <a:pPr algn="l">
              <a:lnSpc>
                <a:spcPct val="106000"/>
              </a:lnSpc>
              <a:spcBef>
                <a:spcPts val="0"/>
              </a:spcBef>
              <a:spcAft>
                <a:spcPts val="0"/>
              </a:spcAft>
            </a:pPr>
            <a:r>
              <a:rPr sz="1200" b="0">
                <a:solidFill>
                  <a:srgbClr val="1A1A1A"/>
                </a:solidFill>
                <a:latin typeface="Red Hat Text"/>
              </a:rPr>
              <a:t>helm upgrade --set → revision 2; helm history is an audit</a:t>
            </a:r>
          </a:p>
        </p:txBody>
      </p:sp>
      <p:sp>
        <p:nvSpPr>
          <p:cNvPr id="13" name="Rounded Rectangle 12"/>
          <p:cNvSpPr/>
          <p:nvPr/>
        </p:nvSpPr>
        <p:spPr>
          <a:xfrm>
            <a:off x="841248" y="3877056"/>
            <a:ext cx="5715000" cy="530352"/>
          </a:xfrm>
          <a:prstGeom prst="roundRect">
            <a:avLst>
              <a:gd name="adj" fmla="val 6000"/>
            </a:avLst>
          </a:prstGeom>
          <a:solidFill>
            <a:srgbClr val="F5F6F8"/>
          </a:solidFill>
          <a:ln w="12700">
            <a:solidFill>
              <a:srgbClr val="DDE1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4" name="Picture 13" descr="check_steel.png"/>
          <p:cNvPicPr>
            <a:picLocks noChangeAspect="1"/>
          </p:cNvPicPr>
          <p:nvPr/>
        </p:nvPicPr>
        <p:blipFill>
          <a:blip r:embed="rId3"/>
          <a:stretch>
            <a:fillRect/>
          </a:stretch>
        </p:blipFill>
        <p:spPr>
          <a:xfrm>
            <a:off x="987552" y="4023360"/>
            <a:ext cx="237744" cy="237744"/>
          </a:xfrm>
          <a:prstGeom prst="rect">
            <a:avLst/>
          </a:prstGeom>
        </p:spPr>
      </p:pic>
      <p:sp>
        <p:nvSpPr>
          <p:cNvPr id="15" name="TextBox 14"/>
          <p:cNvSpPr txBox="1"/>
          <p:nvPr/>
        </p:nvSpPr>
        <p:spPr>
          <a:xfrm>
            <a:off x="1353312" y="3877056"/>
            <a:ext cx="5029200" cy="530352"/>
          </a:xfrm>
          <a:prstGeom prst="rect">
            <a:avLst/>
          </a:prstGeom>
          <a:noFill/>
        </p:spPr>
        <p:txBody>
          <a:bodyPr wrap="square" anchor="ctr" lIns="0" rIns="0" tIns="0" bIns="0">
            <a:spAutoFit/>
          </a:bodyPr>
          <a:lstStyle/>
          <a:p>
            <a:pPr algn="l">
              <a:lnSpc>
                <a:spcPct val="106000"/>
              </a:lnSpc>
              <a:spcBef>
                <a:spcPts val="0"/>
              </a:spcBef>
              <a:spcAft>
                <a:spcPts val="0"/>
              </a:spcAft>
            </a:pPr>
            <a:r>
              <a:rPr sz="1200" b="0">
                <a:solidFill>
                  <a:srgbClr val="1A1A1A"/>
                </a:solidFill>
                <a:latin typeface="Red Hat Text"/>
              </a:rPr>
              <a:t>Break it: a bad probe path + --wait → UPGRADE FAILED</a:t>
            </a:r>
          </a:p>
        </p:txBody>
      </p:sp>
      <p:sp>
        <p:nvSpPr>
          <p:cNvPr id="16" name="Rounded Rectangle 15"/>
          <p:cNvSpPr/>
          <p:nvPr/>
        </p:nvSpPr>
        <p:spPr>
          <a:xfrm>
            <a:off x="841248" y="4480560"/>
            <a:ext cx="5715000" cy="530352"/>
          </a:xfrm>
          <a:prstGeom prst="roundRect">
            <a:avLst>
              <a:gd name="adj" fmla="val 6000"/>
            </a:avLst>
          </a:prstGeom>
          <a:solidFill>
            <a:srgbClr val="F5F6F8"/>
          </a:solidFill>
          <a:ln w="12700">
            <a:solidFill>
              <a:srgbClr val="DDE1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7" name="Picture 16" descr="check_steel.png"/>
          <p:cNvPicPr>
            <a:picLocks noChangeAspect="1"/>
          </p:cNvPicPr>
          <p:nvPr/>
        </p:nvPicPr>
        <p:blipFill>
          <a:blip r:embed="rId3"/>
          <a:stretch>
            <a:fillRect/>
          </a:stretch>
        </p:blipFill>
        <p:spPr>
          <a:xfrm>
            <a:off x="987552" y="4626864"/>
            <a:ext cx="237744" cy="237744"/>
          </a:xfrm>
          <a:prstGeom prst="rect">
            <a:avLst/>
          </a:prstGeom>
        </p:spPr>
      </p:pic>
      <p:sp>
        <p:nvSpPr>
          <p:cNvPr id="18" name="TextBox 17"/>
          <p:cNvSpPr txBox="1"/>
          <p:nvPr/>
        </p:nvSpPr>
        <p:spPr>
          <a:xfrm>
            <a:off x="1353312" y="4480560"/>
            <a:ext cx="5029200" cy="530352"/>
          </a:xfrm>
          <a:prstGeom prst="rect">
            <a:avLst/>
          </a:prstGeom>
          <a:noFill/>
        </p:spPr>
        <p:txBody>
          <a:bodyPr wrap="square" anchor="ctr" lIns="0" rIns="0" tIns="0" bIns="0">
            <a:spAutoFit/>
          </a:bodyPr>
          <a:lstStyle/>
          <a:p>
            <a:pPr algn="l">
              <a:lnSpc>
                <a:spcPct val="106000"/>
              </a:lnSpc>
              <a:spcBef>
                <a:spcPts val="0"/>
              </a:spcBef>
              <a:spcAft>
                <a:spcPts val="0"/>
              </a:spcAft>
            </a:pPr>
            <a:r>
              <a:rPr sz="1200" b="0">
                <a:solidFill>
                  <a:srgbClr val="1A1A1A"/>
                </a:solidFill>
                <a:latin typeface="Red Hat Text"/>
              </a:rPr>
              <a:t>Old pods keep serving — no outage — the safety net works</a:t>
            </a:r>
          </a:p>
        </p:txBody>
      </p:sp>
      <p:sp>
        <p:nvSpPr>
          <p:cNvPr id="19" name="Rounded Rectangle 18"/>
          <p:cNvSpPr/>
          <p:nvPr/>
        </p:nvSpPr>
        <p:spPr>
          <a:xfrm>
            <a:off x="841248" y="5084064"/>
            <a:ext cx="5715000" cy="530352"/>
          </a:xfrm>
          <a:prstGeom prst="roundRect">
            <a:avLst>
              <a:gd name="adj" fmla="val 6000"/>
            </a:avLst>
          </a:prstGeom>
          <a:solidFill>
            <a:srgbClr val="F5F6F8"/>
          </a:solidFill>
          <a:ln w="12700">
            <a:solidFill>
              <a:srgbClr val="DDE1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0" name="Picture 19" descr="check_steel.png"/>
          <p:cNvPicPr>
            <a:picLocks noChangeAspect="1"/>
          </p:cNvPicPr>
          <p:nvPr/>
        </p:nvPicPr>
        <p:blipFill>
          <a:blip r:embed="rId3"/>
          <a:stretch>
            <a:fillRect/>
          </a:stretch>
        </p:blipFill>
        <p:spPr>
          <a:xfrm>
            <a:off x="987552" y="5230368"/>
            <a:ext cx="237744" cy="237744"/>
          </a:xfrm>
          <a:prstGeom prst="rect">
            <a:avLst/>
          </a:prstGeom>
        </p:spPr>
      </p:pic>
      <p:sp>
        <p:nvSpPr>
          <p:cNvPr id="21" name="TextBox 20"/>
          <p:cNvSpPr txBox="1"/>
          <p:nvPr/>
        </p:nvSpPr>
        <p:spPr>
          <a:xfrm>
            <a:off x="1353312" y="5084064"/>
            <a:ext cx="5029200" cy="530352"/>
          </a:xfrm>
          <a:prstGeom prst="rect">
            <a:avLst/>
          </a:prstGeom>
          <a:noFill/>
        </p:spPr>
        <p:txBody>
          <a:bodyPr wrap="square" anchor="ctr" lIns="0" rIns="0" tIns="0" bIns="0">
            <a:spAutoFit/>
          </a:bodyPr>
          <a:lstStyle/>
          <a:p>
            <a:pPr algn="l">
              <a:lnSpc>
                <a:spcPct val="106000"/>
              </a:lnSpc>
              <a:spcBef>
                <a:spcPts val="0"/>
              </a:spcBef>
              <a:spcAft>
                <a:spcPts val="0"/>
              </a:spcAft>
            </a:pPr>
            <a:r>
              <a:rPr sz="1200" b="0">
                <a:solidFill>
                  <a:srgbClr val="1A1A1A"/>
                </a:solidFill>
                <a:latin typeface="Red Hat Text"/>
              </a:rPr>
              <a:t>helm rollback → one command back to the last good revision</a:t>
            </a:r>
          </a:p>
        </p:txBody>
      </p:sp>
      <p:sp>
        <p:nvSpPr>
          <p:cNvPr id="22" name="Rounded Rectangle 21"/>
          <p:cNvSpPr/>
          <p:nvPr/>
        </p:nvSpPr>
        <p:spPr>
          <a:xfrm>
            <a:off x="6812280" y="2670048"/>
            <a:ext cx="4538167" cy="2944368"/>
          </a:xfrm>
          <a:prstGeom prst="roundRect">
            <a:avLst>
              <a:gd name="adj" fmla="val 4000"/>
            </a:avLst>
          </a:prstGeom>
          <a:solidFill>
            <a:srgbClr val="FFFFFF"/>
          </a:solidFill>
          <a:ln w="15240">
            <a:solidFill>
              <a:srgbClr val="DDE1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ounded Rectangle 22"/>
          <p:cNvSpPr/>
          <p:nvPr/>
        </p:nvSpPr>
        <p:spPr>
          <a:xfrm>
            <a:off x="7013448" y="2871216"/>
            <a:ext cx="1298448" cy="310896"/>
          </a:xfrm>
          <a:prstGeom prst="roundRect">
            <a:avLst>
              <a:gd name="adj" fmla="val 50000"/>
            </a:avLst>
          </a:prstGeom>
          <a:solidFill>
            <a:srgbClr val="FCEC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7013448" y="2871216"/>
            <a:ext cx="1298448" cy="310896"/>
          </a:xfrm>
          <a:prstGeom prst="rect">
            <a:avLst/>
          </a:prstGeom>
          <a:noFill/>
        </p:spPr>
        <p:txBody>
          <a:bodyPr wrap="none" anchor="ctr" lIns="0" rIns="0" tIns="0" bIns="0">
            <a:spAutoFit/>
          </a:bodyPr>
          <a:lstStyle/>
          <a:p>
            <a:pPr algn="ctr">
              <a:lnSpc>
                <a:spcPct val="106000"/>
              </a:lnSpc>
              <a:spcBef>
                <a:spcPts val="0"/>
              </a:spcBef>
              <a:spcAft>
                <a:spcPts val="0"/>
              </a:spcAft>
            </a:pPr>
            <a:r>
              <a:rPr sz="850" b="1">
                <a:solidFill>
                  <a:srgbClr val="B80000"/>
                </a:solidFill>
                <a:latin typeface="Red Hat Display"/>
              </a:rPr>
              <a:t>MEDIA PASS</a:t>
            </a:r>
          </a:p>
        </p:txBody>
      </p:sp>
      <p:pic>
        <p:nvPicPr>
          <p:cNvPr id="25" name="Picture 24" descr="eye_slate.png"/>
          <p:cNvPicPr>
            <a:picLocks noChangeAspect="1"/>
          </p:cNvPicPr>
          <p:nvPr/>
        </p:nvPicPr>
        <p:blipFill>
          <a:blip r:embed="rId4"/>
          <a:stretch>
            <a:fillRect/>
          </a:stretch>
        </p:blipFill>
        <p:spPr>
          <a:xfrm>
            <a:off x="8843619" y="3383280"/>
            <a:ext cx="475488" cy="475488"/>
          </a:xfrm>
          <a:prstGeom prst="rect">
            <a:avLst/>
          </a:prstGeom>
        </p:spPr>
      </p:pic>
      <p:sp>
        <p:nvSpPr>
          <p:cNvPr id="26" name="TextBox 25"/>
          <p:cNvSpPr txBox="1"/>
          <p:nvPr/>
        </p:nvSpPr>
        <p:spPr>
          <a:xfrm>
            <a:off x="7050024" y="3995928"/>
            <a:ext cx="4062679" cy="1481328"/>
          </a:xfrm>
          <a:prstGeom prst="rect">
            <a:avLst/>
          </a:prstGeom>
          <a:noFill/>
        </p:spPr>
        <p:txBody>
          <a:bodyPr wrap="square" anchor="t" lIns="0" rIns="0" tIns="0" bIns="0">
            <a:spAutoFit/>
          </a:bodyPr>
          <a:lstStyle/>
          <a:p>
            <a:pPr algn="l">
              <a:lnSpc>
                <a:spcPct val="120000"/>
              </a:lnSpc>
              <a:spcBef>
                <a:spcPts val="0"/>
              </a:spcBef>
              <a:spcAft>
                <a:spcPts val="0"/>
              </a:spcAft>
            </a:pPr>
            <a:r>
              <a:rPr sz="950" b="0">
                <a:solidFill>
                  <a:srgbClr val="8A9099"/>
                </a:solidFill>
                <a:latin typeface="Red Hat Text"/>
              </a:rPr>
              <a:t>A revision timeline: 1 install (green) → 2 upgrade (green) → 3 FAILED (red, with a "old pods still serving" callout) → 4 rollback (green). A small "app stayed UP the whole time" banner under revision 3.</a:t>
            </a:r>
          </a:p>
        </p:txBody>
      </p:sp>
      <p:cxnSp>
        <p:nvCxnSpPr>
          <p:cNvPr id="27" name="Connector 26"/>
          <p:cNvCxnSpPr/>
          <p:nvPr/>
        </p:nvCxnSpPr>
        <p:spPr>
          <a:xfrm>
            <a:off x="841248" y="6437376"/>
            <a:ext cx="10509199" cy="0"/>
          </a:xfrm>
          <a:prstGeom prst="bentConnector3">
            <a:avLst/>
          </a:prstGeom>
          <a:ln w="12700">
            <a:solidFill>
              <a:srgbClr val="DDE1E6"/>
            </a:solidFill>
          </a:ln>
          <a:effectLst/>
        </p:spPr>
        <p:style>
          <a:lnRef idx="2">
            <a:schemeClr val="accent1"/>
          </a:lnRef>
          <a:fillRef idx="0">
            <a:schemeClr val="accent1"/>
          </a:fillRef>
          <a:effectRef idx="1">
            <a:schemeClr val="accent1"/>
          </a:effectRef>
          <a:fontRef idx="minor">
            <a:schemeClr val="tx1"/>
          </a:fontRef>
        </p:style>
      </p:cxnSp>
      <p:sp>
        <p:nvSpPr>
          <p:cNvPr id="28" name="TextBox 27"/>
          <p:cNvSpPr txBox="1"/>
          <p:nvPr/>
        </p:nvSpPr>
        <p:spPr>
          <a:xfrm>
            <a:off x="841248" y="6473952"/>
            <a:ext cx="7315200" cy="274320"/>
          </a:xfrm>
          <a:prstGeom prst="rect">
            <a:avLst/>
          </a:prstGeom>
          <a:noFill/>
        </p:spPr>
        <p:txBody>
          <a:bodyPr wrap="square" anchor="t" lIns="0" rIns="0" tIns="0" bIns="0">
            <a:spAutoFit/>
          </a:bodyPr>
          <a:lstStyle/>
          <a:p>
            <a:pPr algn="l">
              <a:lnSpc>
                <a:spcPct val="106000"/>
              </a:lnSpc>
              <a:spcBef>
                <a:spcPts val="0"/>
              </a:spcBef>
              <a:spcAft>
                <a:spcPts val="0"/>
              </a:spcAft>
            </a:pPr>
            <a:r>
              <a:rPr sz="950" b="0">
                <a:solidFill>
                  <a:srgbClr val="8A9099"/>
                </a:solidFill>
                <a:latin typeface="Red Hat Text"/>
              </a:rPr>
              <a:t>CONFIDENTIAL</a:t>
            </a:r>
          </a:p>
        </p:txBody>
      </p:sp>
      <p:sp>
        <p:nvSpPr>
          <p:cNvPr id="29" name="TextBox 28"/>
          <p:cNvSpPr txBox="1"/>
          <p:nvPr/>
        </p:nvSpPr>
        <p:spPr>
          <a:xfrm>
            <a:off x="10801807" y="6473952"/>
            <a:ext cx="548640" cy="274320"/>
          </a:xfrm>
          <a:prstGeom prst="rect">
            <a:avLst/>
          </a:prstGeom>
          <a:noFill/>
        </p:spPr>
        <p:txBody>
          <a:bodyPr wrap="square" anchor="t" lIns="0" rIns="0" tIns="0" bIns="0">
            <a:spAutoFit/>
          </a:bodyPr>
          <a:lstStyle/>
          <a:p>
            <a:pPr algn="r">
              <a:lnSpc>
                <a:spcPct val="106000"/>
              </a:lnSpc>
              <a:spcBef>
                <a:spcPts val="0"/>
              </a:spcBef>
              <a:spcAft>
                <a:spcPts val="0"/>
              </a:spcAft>
            </a:pPr>
            <a:r>
              <a:rPr sz="950" b="0">
                <a:solidFill>
                  <a:srgbClr val="8A9099"/>
                </a:solidFill>
                <a:latin typeface="Red Hat Text"/>
              </a:rPr>
              <a:t>187</a:t>
            </a:r>
          </a:p>
        </p:txBody>
      </p:sp>
    </p:spTree>
  </p:cSld>
  <p:clrMapOvr>
    <a:masterClrMapping/>
  </p:clrMapOvr>
</p:sld>
</file>

<file path=ppt/slides/slide2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redhat_logo.jpg"/>
          <p:cNvPicPr>
            <a:picLocks noChangeAspect="1"/>
          </p:cNvPicPr>
          <p:nvPr/>
        </p:nvPicPr>
        <p:blipFill>
          <a:blip r:embed="rId2"/>
          <a:stretch>
            <a:fillRect/>
          </a:stretch>
        </p:blipFill>
        <p:spPr>
          <a:xfrm>
            <a:off x="10326319" y="475488"/>
            <a:ext cx="1024128" cy="242248"/>
          </a:xfrm>
          <a:prstGeom prst="rect">
            <a:avLst/>
          </a:prstGeom>
        </p:spPr>
      </p:pic>
      <p:sp>
        <p:nvSpPr>
          <p:cNvPr id="3" name="TextBox 2"/>
          <p:cNvSpPr txBox="1"/>
          <p:nvPr/>
        </p:nvSpPr>
        <p:spPr>
          <a:xfrm>
            <a:off x="841248" y="548640"/>
            <a:ext cx="8595360" cy="274320"/>
          </a:xfrm>
          <a:prstGeom prst="rect">
            <a:avLst/>
          </a:prstGeom>
          <a:noFill/>
        </p:spPr>
        <p:txBody>
          <a:bodyPr wrap="square" anchor="t" lIns="0" rIns="0" tIns="0" bIns="0">
            <a:spAutoFit/>
          </a:bodyPr>
          <a:lstStyle/>
          <a:p>
            <a:pPr algn="l">
              <a:lnSpc>
                <a:spcPct val="106000"/>
              </a:lnSpc>
              <a:spcBef>
                <a:spcPts val="0"/>
              </a:spcBef>
              <a:spcAft>
                <a:spcPts val="0"/>
              </a:spcAft>
            </a:pPr>
            <a:r>
              <a:rPr sz="1250" b="1" spc="220">
                <a:solidFill>
                  <a:srgbClr val="EE0000"/>
                </a:solidFill>
                <a:latin typeface="Red Hat Display"/>
              </a:rPr>
              <a:t>M26 · PACKAGING &amp; DISTRIBUTING YOUR APP</a:t>
            </a:r>
          </a:p>
        </p:txBody>
      </p:sp>
      <p:sp>
        <p:nvSpPr>
          <p:cNvPr id="4" name="TextBox 3"/>
          <p:cNvSpPr txBox="1"/>
          <p:nvPr/>
        </p:nvSpPr>
        <p:spPr>
          <a:xfrm>
            <a:off x="841248" y="877824"/>
            <a:ext cx="10515600" cy="548640"/>
          </a:xfrm>
          <a:prstGeom prst="rect">
            <a:avLst/>
          </a:prstGeom>
          <a:noFill/>
        </p:spPr>
        <p:txBody>
          <a:bodyPr wrap="none" anchor="t" lIns="0" rIns="0" tIns="0" bIns="0">
            <a:spAutoFit/>
          </a:bodyPr>
          <a:lstStyle/>
          <a:p>
            <a:pPr algn="l">
              <a:lnSpc>
                <a:spcPct val="100000"/>
              </a:lnSpc>
              <a:spcBef>
                <a:spcPts val="0"/>
              </a:spcBef>
              <a:spcAft>
                <a:spcPts val="0"/>
              </a:spcAft>
            </a:pPr>
            <a:r>
              <a:rPr sz="2500" b="1">
                <a:solidFill>
                  <a:srgbClr val="1A1A1A"/>
                </a:solidFill>
                <a:latin typeface="Red Hat Display"/>
              </a:rPr>
              <a:t>A chart is a distributable OCI artifact</a:t>
            </a:r>
          </a:p>
        </p:txBody>
      </p:sp>
      <p:cxnSp>
        <p:nvCxnSpPr>
          <p:cNvPr id="5" name="Connector 4"/>
          <p:cNvCxnSpPr/>
          <p:nvPr/>
        </p:nvCxnSpPr>
        <p:spPr>
          <a:xfrm>
            <a:off x="841248" y="1554480"/>
            <a:ext cx="1371600" cy="0"/>
          </a:xfrm>
          <a:prstGeom prst="bentConnector3">
            <a:avLst/>
          </a:prstGeom>
          <a:ln w="31750">
            <a:solidFill>
              <a:srgbClr val="EE0000"/>
            </a:solidFill>
          </a:ln>
          <a:effectLst/>
        </p:spPr>
        <p:style>
          <a:lnRef idx="2">
            <a:schemeClr val="accent1"/>
          </a:lnRef>
          <a:fillRef idx="0">
            <a:schemeClr val="accent1"/>
          </a:fillRef>
          <a:effectRef idx="1">
            <a:schemeClr val="accent1"/>
          </a:effectRef>
          <a:fontRef idx="minor">
            <a:schemeClr val="tx1"/>
          </a:fontRef>
        </p:style>
      </p:cxnSp>
      <p:sp>
        <p:nvSpPr>
          <p:cNvPr id="6" name="Rounded Rectangle 5"/>
          <p:cNvSpPr/>
          <p:nvPr/>
        </p:nvSpPr>
        <p:spPr>
          <a:xfrm>
            <a:off x="841248" y="2395728"/>
            <a:ext cx="5715000" cy="530352"/>
          </a:xfrm>
          <a:prstGeom prst="roundRect">
            <a:avLst>
              <a:gd name="adj" fmla="val 6000"/>
            </a:avLst>
          </a:prstGeom>
          <a:solidFill>
            <a:srgbClr val="F5F6F8"/>
          </a:solidFill>
          <a:ln w="12700">
            <a:solidFill>
              <a:srgbClr val="DDE1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check_steel.png"/>
          <p:cNvPicPr>
            <a:picLocks noChangeAspect="1"/>
          </p:cNvPicPr>
          <p:nvPr/>
        </p:nvPicPr>
        <p:blipFill>
          <a:blip r:embed="rId3"/>
          <a:stretch>
            <a:fillRect/>
          </a:stretch>
        </p:blipFill>
        <p:spPr>
          <a:xfrm>
            <a:off x="987552" y="2542032"/>
            <a:ext cx="237744" cy="237744"/>
          </a:xfrm>
          <a:prstGeom prst="rect">
            <a:avLst/>
          </a:prstGeom>
        </p:spPr>
      </p:pic>
      <p:sp>
        <p:nvSpPr>
          <p:cNvPr id="8" name="TextBox 7"/>
          <p:cNvSpPr txBox="1"/>
          <p:nvPr/>
        </p:nvSpPr>
        <p:spPr>
          <a:xfrm>
            <a:off x="1353312" y="2395728"/>
            <a:ext cx="5029200" cy="530352"/>
          </a:xfrm>
          <a:prstGeom prst="rect">
            <a:avLst/>
          </a:prstGeom>
          <a:noFill/>
        </p:spPr>
        <p:txBody>
          <a:bodyPr wrap="square" anchor="ctr" lIns="0" rIns="0" tIns="0" bIns="0">
            <a:spAutoFit/>
          </a:bodyPr>
          <a:lstStyle/>
          <a:p>
            <a:pPr algn="l">
              <a:lnSpc>
                <a:spcPct val="106000"/>
              </a:lnSpc>
              <a:spcBef>
                <a:spcPts val="0"/>
              </a:spcBef>
              <a:spcAft>
                <a:spcPts val="0"/>
              </a:spcAft>
            </a:pPr>
            <a:r>
              <a:rPr sz="1200" b="0">
                <a:solidFill>
                  <a:srgbClr val="1A1A1A"/>
                </a:solidFill>
                <a:latin typeface="Red Hat Text"/>
              </a:rPr>
              <a:t>helm package → a versioned chart-version.tgz</a:t>
            </a:r>
          </a:p>
        </p:txBody>
      </p:sp>
      <p:sp>
        <p:nvSpPr>
          <p:cNvPr id="9" name="Rounded Rectangle 8"/>
          <p:cNvSpPr/>
          <p:nvPr/>
        </p:nvSpPr>
        <p:spPr>
          <a:xfrm>
            <a:off x="841248" y="2999232"/>
            <a:ext cx="5715000" cy="530352"/>
          </a:xfrm>
          <a:prstGeom prst="roundRect">
            <a:avLst>
              <a:gd name="adj" fmla="val 6000"/>
            </a:avLst>
          </a:prstGeom>
          <a:solidFill>
            <a:srgbClr val="F5F6F8"/>
          </a:solidFill>
          <a:ln w="12700">
            <a:solidFill>
              <a:srgbClr val="DDE1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0" name="Picture 9" descr="check_steel.png"/>
          <p:cNvPicPr>
            <a:picLocks noChangeAspect="1"/>
          </p:cNvPicPr>
          <p:nvPr/>
        </p:nvPicPr>
        <p:blipFill>
          <a:blip r:embed="rId3"/>
          <a:stretch>
            <a:fillRect/>
          </a:stretch>
        </p:blipFill>
        <p:spPr>
          <a:xfrm>
            <a:off x="987552" y="3145536"/>
            <a:ext cx="237744" cy="237744"/>
          </a:xfrm>
          <a:prstGeom prst="rect">
            <a:avLst/>
          </a:prstGeom>
        </p:spPr>
      </p:pic>
      <p:sp>
        <p:nvSpPr>
          <p:cNvPr id="11" name="TextBox 10"/>
          <p:cNvSpPr txBox="1"/>
          <p:nvPr/>
        </p:nvSpPr>
        <p:spPr>
          <a:xfrm>
            <a:off x="1353312" y="2999232"/>
            <a:ext cx="5029200" cy="530352"/>
          </a:xfrm>
          <a:prstGeom prst="rect">
            <a:avLst/>
          </a:prstGeom>
          <a:noFill/>
        </p:spPr>
        <p:txBody>
          <a:bodyPr wrap="square" anchor="ctr" lIns="0" rIns="0" tIns="0" bIns="0">
            <a:spAutoFit/>
          </a:bodyPr>
          <a:lstStyle/>
          <a:p>
            <a:pPr algn="l">
              <a:lnSpc>
                <a:spcPct val="106000"/>
              </a:lnSpc>
              <a:spcBef>
                <a:spcPts val="0"/>
              </a:spcBef>
              <a:spcAft>
                <a:spcPts val="0"/>
              </a:spcAft>
            </a:pPr>
            <a:r>
              <a:rPr sz="1200" b="0">
                <a:solidFill>
                  <a:srgbClr val="1A1A1A"/>
                </a:solidFill>
                <a:latin typeface="Red Hat Text"/>
              </a:rPr>
              <a:t>Modern Helm speaks OCI — charts live in any OCI registry</a:t>
            </a:r>
          </a:p>
        </p:txBody>
      </p:sp>
      <p:sp>
        <p:nvSpPr>
          <p:cNvPr id="12" name="Rounded Rectangle 11"/>
          <p:cNvSpPr/>
          <p:nvPr/>
        </p:nvSpPr>
        <p:spPr>
          <a:xfrm>
            <a:off x="841248" y="3602736"/>
            <a:ext cx="5715000" cy="530352"/>
          </a:xfrm>
          <a:prstGeom prst="roundRect">
            <a:avLst>
              <a:gd name="adj" fmla="val 6000"/>
            </a:avLst>
          </a:prstGeom>
          <a:solidFill>
            <a:srgbClr val="F5F6F8"/>
          </a:solidFill>
          <a:ln w="12700">
            <a:solidFill>
              <a:srgbClr val="DDE1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3" name="Picture 12" descr="check_steel.png"/>
          <p:cNvPicPr>
            <a:picLocks noChangeAspect="1"/>
          </p:cNvPicPr>
          <p:nvPr/>
        </p:nvPicPr>
        <p:blipFill>
          <a:blip r:embed="rId3"/>
          <a:stretch>
            <a:fillRect/>
          </a:stretch>
        </p:blipFill>
        <p:spPr>
          <a:xfrm>
            <a:off x="987552" y="3749040"/>
            <a:ext cx="237744" cy="237744"/>
          </a:xfrm>
          <a:prstGeom prst="rect">
            <a:avLst/>
          </a:prstGeom>
        </p:spPr>
      </p:pic>
      <p:sp>
        <p:nvSpPr>
          <p:cNvPr id="14" name="TextBox 13"/>
          <p:cNvSpPr txBox="1"/>
          <p:nvPr/>
        </p:nvSpPr>
        <p:spPr>
          <a:xfrm>
            <a:off x="1353312" y="3602736"/>
            <a:ext cx="5029200" cy="530352"/>
          </a:xfrm>
          <a:prstGeom prst="rect">
            <a:avLst/>
          </a:prstGeom>
          <a:noFill/>
        </p:spPr>
        <p:txBody>
          <a:bodyPr wrap="square" anchor="ctr" lIns="0" rIns="0" tIns="0" bIns="0">
            <a:spAutoFit/>
          </a:bodyPr>
          <a:lstStyle/>
          <a:p>
            <a:pPr algn="l">
              <a:lnSpc>
                <a:spcPct val="106000"/>
              </a:lnSpc>
              <a:spcBef>
                <a:spcPts val="0"/>
              </a:spcBef>
              <a:spcAft>
                <a:spcPts val="0"/>
              </a:spcAft>
            </a:pPr>
            <a:r>
              <a:rPr sz="1200" b="0">
                <a:solidFill>
                  <a:srgbClr val="1A1A1A"/>
                </a:solidFill>
                <a:latin typeface="Red Hat Text"/>
              </a:rPr>
              <a:t>Push to the cluster's internal registry (service-CA + token)</a:t>
            </a:r>
          </a:p>
        </p:txBody>
      </p:sp>
      <p:sp>
        <p:nvSpPr>
          <p:cNvPr id="15" name="Rounded Rectangle 14"/>
          <p:cNvSpPr/>
          <p:nvPr/>
        </p:nvSpPr>
        <p:spPr>
          <a:xfrm>
            <a:off x="841248" y="4206240"/>
            <a:ext cx="5715000" cy="530352"/>
          </a:xfrm>
          <a:prstGeom prst="roundRect">
            <a:avLst>
              <a:gd name="adj" fmla="val 6000"/>
            </a:avLst>
          </a:prstGeom>
          <a:solidFill>
            <a:srgbClr val="F5F6F8"/>
          </a:solidFill>
          <a:ln w="12700">
            <a:solidFill>
              <a:srgbClr val="DDE1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6" name="Picture 15" descr="check_steel.png"/>
          <p:cNvPicPr>
            <a:picLocks noChangeAspect="1"/>
          </p:cNvPicPr>
          <p:nvPr/>
        </p:nvPicPr>
        <p:blipFill>
          <a:blip r:embed="rId3"/>
          <a:stretch>
            <a:fillRect/>
          </a:stretch>
        </p:blipFill>
        <p:spPr>
          <a:xfrm>
            <a:off x="987552" y="4352544"/>
            <a:ext cx="237744" cy="237744"/>
          </a:xfrm>
          <a:prstGeom prst="rect">
            <a:avLst/>
          </a:prstGeom>
        </p:spPr>
      </p:pic>
      <p:sp>
        <p:nvSpPr>
          <p:cNvPr id="17" name="TextBox 16"/>
          <p:cNvSpPr txBox="1"/>
          <p:nvPr/>
        </p:nvSpPr>
        <p:spPr>
          <a:xfrm>
            <a:off x="1353312" y="4206240"/>
            <a:ext cx="5029200" cy="530352"/>
          </a:xfrm>
          <a:prstGeom prst="rect">
            <a:avLst/>
          </a:prstGeom>
          <a:noFill/>
        </p:spPr>
        <p:txBody>
          <a:bodyPr wrap="square" anchor="ctr" lIns="0" rIns="0" tIns="0" bIns="0">
            <a:spAutoFit/>
          </a:bodyPr>
          <a:lstStyle/>
          <a:p>
            <a:pPr algn="l">
              <a:lnSpc>
                <a:spcPct val="106000"/>
              </a:lnSpc>
              <a:spcBef>
                <a:spcPts val="0"/>
              </a:spcBef>
              <a:spcAft>
                <a:spcPts val="0"/>
              </a:spcAft>
            </a:pPr>
            <a:r>
              <a:rPr sz="1200" b="0">
                <a:solidFill>
                  <a:srgbClr val="1A1A1A"/>
                </a:solidFill>
                <a:latin typeface="Red Hat Text"/>
              </a:rPr>
              <a:t>Integrated registry = &lt;namespace&gt;/&lt;name&gt; (no charts/ subpath)</a:t>
            </a:r>
          </a:p>
        </p:txBody>
      </p:sp>
      <p:sp>
        <p:nvSpPr>
          <p:cNvPr id="18" name="Rounded Rectangle 17"/>
          <p:cNvSpPr/>
          <p:nvPr/>
        </p:nvSpPr>
        <p:spPr>
          <a:xfrm>
            <a:off x="841248" y="4809744"/>
            <a:ext cx="5715000" cy="530352"/>
          </a:xfrm>
          <a:prstGeom prst="roundRect">
            <a:avLst>
              <a:gd name="adj" fmla="val 6000"/>
            </a:avLst>
          </a:prstGeom>
          <a:solidFill>
            <a:srgbClr val="F5F6F8"/>
          </a:solidFill>
          <a:ln w="12700">
            <a:solidFill>
              <a:srgbClr val="DDE1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9" name="Picture 18" descr="check_steel.png"/>
          <p:cNvPicPr>
            <a:picLocks noChangeAspect="1"/>
          </p:cNvPicPr>
          <p:nvPr/>
        </p:nvPicPr>
        <p:blipFill>
          <a:blip r:embed="rId3"/>
          <a:stretch>
            <a:fillRect/>
          </a:stretch>
        </p:blipFill>
        <p:spPr>
          <a:xfrm>
            <a:off x="987552" y="4956048"/>
            <a:ext cx="237744" cy="237744"/>
          </a:xfrm>
          <a:prstGeom prst="rect">
            <a:avLst/>
          </a:prstGeom>
        </p:spPr>
      </p:pic>
      <p:sp>
        <p:nvSpPr>
          <p:cNvPr id="20" name="TextBox 19"/>
          <p:cNvSpPr txBox="1"/>
          <p:nvPr/>
        </p:nvSpPr>
        <p:spPr>
          <a:xfrm>
            <a:off x="1353312" y="4809744"/>
            <a:ext cx="5029200" cy="530352"/>
          </a:xfrm>
          <a:prstGeom prst="rect">
            <a:avLst/>
          </a:prstGeom>
          <a:noFill/>
        </p:spPr>
        <p:txBody>
          <a:bodyPr wrap="square" anchor="ctr" lIns="0" rIns="0" tIns="0" bIns="0">
            <a:spAutoFit/>
          </a:bodyPr>
          <a:lstStyle/>
          <a:p>
            <a:pPr algn="l">
              <a:lnSpc>
                <a:spcPct val="106000"/>
              </a:lnSpc>
              <a:spcBef>
                <a:spcPts val="0"/>
              </a:spcBef>
              <a:spcAft>
                <a:spcPts val="0"/>
              </a:spcAft>
            </a:pPr>
            <a:r>
              <a:rPr sz="1200" b="0">
                <a:solidFill>
                  <a:srgbClr val="1A1A1A"/>
                </a:solidFill>
                <a:latin typeface="Red Hat Text"/>
              </a:rPr>
              <a:t>helm pull → matching sha256 digest = verified round-trip</a:t>
            </a:r>
          </a:p>
        </p:txBody>
      </p:sp>
      <p:sp>
        <p:nvSpPr>
          <p:cNvPr id="21" name="Rounded Rectangle 20"/>
          <p:cNvSpPr/>
          <p:nvPr/>
        </p:nvSpPr>
        <p:spPr>
          <a:xfrm>
            <a:off x="6812280" y="2395728"/>
            <a:ext cx="4538167" cy="2944368"/>
          </a:xfrm>
          <a:prstGeom prst="roundRect">
            <a:avLst>
              <a:gd name="adj" fmla="val 4000"/>
            </a:avLst>
          </a:prstGeom>
          <a:solidFill>
            <a:srgbClr val="FFFFFF"/>
          </a:solidFill>
          <a:ln w="15240">
            <a:solidFill>
              <a:srgbClr val="DDE1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ounded Rectangle 21"/>
          <p:cNvSpPr/>
          <p:nvPr/>
        </p:nvSpPr>
        <p:spPr>
          <a:xfrm>
            <a:off x="7013448" y="2596896"/>
            <a:ext cx="1298448" cy="310896"/>
          </a:xfrm>
          <a:prstGeom prst="roundRect">
            <a:avLst>
              <a:gd name="adj" fmla="val 50000"/>
            </a:avLst>
          </a:prstGeom>
          <a:solidFill>
            <a:srgbClr val="FCEC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7013448" y="2596896"/>
            <a:ext cx="1298448" cy="310896"/>
          </a:xfrm>
          <a:prstGeom prst="rect">
            <a:avLst/>
          </a:prstGeom>
          <a:noFill/>
        </p:spPr>
        <p:txBody>
          <a:bodyPr wrap="none" anchor="ctr" lIns="0" rIns="0" tIns="0" bIns="0">
            <a:spAutoFit/>
          </a:bodyPr>
          <a:lstStyle/>
          <a:p>
            <a:pPr algn="ctr">
              <a:lnSpc>
                <a:spcPct val="106000"/>
              </a:lnSpc>
              <a:spcBef>
                <a:spcPts val="0"/>
              </a:spcBef>
              <a:spcAft>
                <a:spcPts val="0"/>
              </a:spcAft>
            </a:pPr>
            <a:r>
              <a:rPr sz="850" b="1">
                <a:solidFill>
                  <a:srgbClr val="B80000"/>
                </a:solidFill>
                <a:latin typeface="Red Hat Display"/>
              </a:rPr>
              <a:t>MEDIA PASS</a:t>
            </a:r>
          </a:p>
        </p:txBody>
      </p:sp>
      <p:pic>
        <p:nvPicPr>
          <p:cNvPr id="24" name="Picture 23" descr="eye_slate.png"/>
          <p:cNvPicPr>
            <a:picLocks noChangeAspect="1"/>
          </p:cNvPicPr>
          <p:nvPr/>
        </p:nvPicPr>
        <p:blipFill>
          <a:blip r:embed="rId4"/>
          <a:stretch>
            <a:fillRect/>
          </a:stretch>
        </p:blipFill>
        <p:spPr>
          <a:xfrm>
            <a:off x="8843619" y="3108960"/>
            <a:ext cx="475488" cy="475488"/>
          </a:xfrm>
          <a:prstGeom prst="rect">
            <a:avLst/>
          </a:prstGeom>
        </p:spPr>
      </p:pic>
      <p:sp>
        <p:nvSpPr>
          <p:cNvPr id="25" name="TextBox 24"/>
          <p:cNvSpPr txBox="1"/>
          <p:nvPr/>
        </p:nvSpPr>
        <p:spPr>
          <a:xfrm>
            <a:off x="7050024" y="3721608"/>
            <a:ext cx="4062679" cy="1481328"/>
          </a:xfrm>
          <a:prstGeom prst="rect">
            <a:avLst/>
          </a:prstGeom>
          <a:noFill/>
        </p:spPr>
        <p:txBody>
          <a:bodyPr wrap="square" anchor="t" lIns="0" rIns="0" tIns="0" bIns="0">
            <a:spAutoFit/>
          </a:bodyPr>
          <a:lstStyle/>
          <a:p>
            <a:pPr algn="l">
              <a:lnSpc>
                <a:spcPct val="120000"/>
              </a:lnSpc>
              <a:spcBef>
                <a:spcPts val="0"/>
              </a:spcBef>
              <a:spcAft>
                <a:spcPts val="0"/>
              </a:spcAft>
            </a:pPr>
            <a:r>
              <a:rPr sz="950" b="0">
                <a:solidFill>
                  <a:srgbClr val="8A9099"/>
                </a:solidFill>
                <a:latin typeface="Red Hat Text"/>
              </a:rPr>
              <a:t>A push/pull round-trip loop — local .tgz → helm push → registry &lt;namespace&gt;/parasol-notifications:0.1.0 → helm pull → same sha256 digest highlighted on both ends. A small "charts/ subpath = 401" strike-through note.</a:t>
            </a:r>
          </a:p>
        </p:txBody>
      </p:sp>
      <p:cxnSp>
        <p:nvCxnSpPr>
          <p:cNvPr id="26" name="Connector 25"/>
          <p:cNvCxnSpPr/>
          <p:nvPr/>
        </p:nvCxnSpPr>
        <p:spPr>
          <a:xfrm>
            <a:off x="841248" y="6437376"/>
            <a:ext cx="10509199" cy="0"/>
          </a:xfrm>
          <a:prstGeom prst="bentConnector3">
            <a:avLst/>
          </a:prstGeom>
          <a:ln w="12700">
            <a:solidFill>
              <a:srgbClr val="DDE1E6"/>
            </a:solidFill>
          </a:ln>
          <a:effectLst/>
        </p:spPr>
        <p:style>
          <a:lnRef idx="2">
            <a:schemeClr val="accent1"/>
          </a:lnRef>
          <a:fillRef idx="0">
            <a:schemeClr val="accent1"/>
          </a:fillRef>
          <a:effectRef idx="1">
            <a:schemeClr val="accent1"/>
          </a:effectRef>
          <a:fontRef idx="minor">
            <a:schemeClr val="tx1"/>
          </a:fontRef>
        </p:style>
      </p:cxnSp>
      <p:sp>
        <p:nvSpPr>
          <p:cNvPr id="27" name="TextBox 26"/>
          <p:cNvSpPr txBox="1"/>
          <p:nvPr/>
        </p:nvSpPr>
        <p:spPr>
          <a:xfrm>
            <a:off x="841248" y="6473952"/>
            <a:ext cx="7315200" cy="274320"/>
          </a:xfrm>
          <a:prstGeom prst="rect">
            <a:avLst/>
          </a:prstGeom>
          <a:noFill/>
        </p:spPr>
        <p:txBody>
          <a:bodyPr wrap="square" anchor="t" lIns="0" rIns="0" tIns="0" bIns="0">
            <a:spAutoFit/>
          </a:bodyPr>
          <a:lstStyle/>
          <a:p>
            <a:pPr algn="l">
              <a:lnSpc>
                <a:spcPct val="106000"/>
              </a:lnSpc>
              <a:spcBef>
                <a:spcPts val="0"/>
              </a:spcBef>
              <a:spcAft>
                <a:spcPts val="0"/>
              </a:spcAft>
            </a:pPr>
            <a:r>
              <a:rPr sz="950" b="0">
                <a:solidFill>
                  <a:srgbClr val="8A9099"/>
                </a:solidFill>
                <a:latin typeface="Red Hat Text"/>
              </a:rPr>
              <a:t>CONFIDENTIAL</a:t>
            </a:r>
          </a:p>
        </p:txBody>
      </p:sp>
      <p:sp>
        <p:nvSpPr>
          <p:cNvPr id="28" name="TextBox 27"/>
          <p:cNvSpPr txBox="1"/>
          <p:nvPr/>
        </p:nvSpPr>
        <p:spPr>
          <a:xfrm>
            <a:off x="10801807" y="6473952"/>
            <a:ext cx="548640" cy="274320"/>
          </a:xfrm>
          <a:prstGeom prst="rect">
            <a:avLst/>
          </a:prstGeom>
          <a:noFill/>
        </p:spPr>
        <p:txBody>
          <a:bodyPr wrap="square" anchor="t" lIns="0" rIns="0" tIns="0" bIns="0">
            <a:spAutoFit/>
          </a:bodyPr>
          <a:lstStyle/>
          <a:p>
            <a:pPr algn="r">
              <a:lnSpc>
                <a:spcPct val="106000"/>
              </a:lnSpc>
              <a:spcBef>
                <a:spcPts val="0"/>
              </a:spcBef>
              <a:spcAft>
                <a:spcPts val="0"/>
              </a:spcAft>
            </a:pPr>
            <a:r>
              <a:rPr sz="950" b="0">
                <a:solidFill>
                  <a:srgbClr val="8A9099"/>
                </a:solidFill>
                <a:latin typeface="Red Hat Text"/>
              </a:rPr>
              <a:t>188</a:t>
            </a:r>
          </a:p>
        </p:txBody>
      </p:sp>
    </p:spTree>
  </p:cSld>
  <p:clrMapOvr>
    <a:masterClrMapping/>
  </p:clrMapOvr>
</p:sld>
</file>

<file path=ppt/slides/slide2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redhat_logo.jpg"/>
          <p:cNvPicPr>
            <a:picLocks noChangeAspect="1"/>
          </p:cNvPicPr>
          <p:nvPr/>
        </p:nvPicPr>
        <p:blipFill>
          <a:blip r:embed="rId2"/>
          <a:stretch>
            <a:fillRect/>
          </a:stretch>
        </p:blipFill>
        <p:spPr>
          <a:xfrm>
            <a:off x="10326319" y="475488"/>
            <a:ext cx="1024128" cy="242248"/>
          </a:xfrm>
          <a:prstGeom prst="rect">
            <a:avLst/>
          </a:prstGeom>
        </p:spPr>
      </p:pic>
      <p:sp>
        <p:nvSpPr>
          <p:cNvPr id="3" name="TextBox 2"/>
          <p:cNvSpPr txBox="1"/>
          <p:nvPr/>
        </p:nvSpPr>
        <p:spPr>
          <a:xfrm>
            <a:off x="841248" y="548640"/>
            <a:ext cx="8595360" cy="274320"/>
          </a:xfrm>
          <a:prstGeom prst="rect">
            <a:avLst/>
          </a:prstGeom>
          <a:noFill/>
        </p:spPr>
        <p:txBody>
          <a:bodyPr wrap="square" anchor="t" lIns="0" rIns="0" tIns="0" bIns="0">
            <a:spAutoFit/>
          </a:bodyPr>
          <a:lstStyle/>
          <a:p>
            <a:pPr algn="l">
              <a:lnSpc>
                <a:spcPct val="106000"/>
              </a:lnSpc>
              <a:spcBef>
                <a:spcPts val="0"/>
              </a:spcBef>
              <a:spcAft>
                <a:spcPts val="0"/>
              </a:spcAft>
            </a:pPr>
            <a:r>
              <a:rPr sz="1250" b="1" spc="220">
                <a:solidFill>
                  <a:srgbClr val="EE0000"/>
                </a:solidFill>
                <a:latin typeface="Red Hat Display"/>
              </a:rPr>
              <a:t>M26 · PACKAGING &amp; DISTRIBUTING YOUR APP</a:t>
            </a:r>
          </a:p>
        </p:txBody>
      </p:sp>
      <p:sp>
        <p:nvSpPr>
          <p:cNvPr id="4" name="TextBox 3"/>
          <p:cNvSpPr txBox="1"/>
          <p:nvPr/>
        </p:nvSpPr>
        <p:spPr>
          <a:xfrm>
            <a:off x="841248" y="877824"/>
            <a:ext cx="10515600" cy="548640"/>
          </a:xfrm>
          <a:prstGeom prst="rect">
            <a:avLst/>
          </a:prstGeom>
          <a:noFill/>
        </p:spPr>
        <p:txBody>
          <a:bodyPr wrap="none" anchor="t" lIns="0" rIns="0" tIns="0" bIns="0">
            <a:spAutoFit/>
          </a:bodyPr>
          <a:lstStyle/>
          <a:p>
            <a:pPr algn="l">
              <a:lnSpc>
                <a:spcPct val="100000"/>
              </a:lnSpc>
              <a:spcBef>
                <a:spcPts val="0"/>
              </a:spcBef>
              <a:spcAft>
                <a:spcPts val="0"/>
              </a:spcAft>
            </a:pPr>
            <a:r>
              <a:rPr sz="2500" b="1">
                <a:solidFill>
                  <a:srgbClr val="1A1A1A"/>
                </a:solidFill>
                <a:latin typeface="Red Hat Display"/>
              </a:rPr>
              <a:t>OLM anatomy</a:t>
            </a:r>
          </a:p>
        </p:txBody>
      </p:sp>
      <p:cxnSp>
        <p:nvCxnSpPr>
          <p:cNvPr id="5" name="Connector 4"/>
          <p:cNvCxnSpPr/>
          <p:nvPr/>
        </p:nvCxnSpPr>
        <p:spPr>
          <a:xfrm>
            <a:off x="841248" y="1554480"/>
            <a:ext cx="1371600" cy="0"/>
          </a:xfrm>
          <a:prstGeom prst="bentConnector3">
            <a:avLst/>
          </a:prstGeom>
          <a:ln w="31750">
            <a:solidFill>
              <a:srgbClr val="EE0000"/>
            </a:solidFill>
          </a:ln>
          <a:effectLst/>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841248" y="1664208"/>
            <a:ext cx="10515600" cy="365760"/>
          </a:xfrm>
          <a:prstGeom prst="rect">
            <a:avLst/>
          </a:prstGeom>
          <a:noFill/>
        </p:spPr>
        <p:txBody>
          <a:bodyPr wrap="square" anchor="t" lIns="0" rIns="0" tIns="0" bIns="0">
            <a:spAutoFit/>
          </a:bodyPr>
          <a:lstStyle/>
          <a:p>
            <a:pPr algn="l">
              <a:lnSpc>
                <a:spcPct val="106000"/>
              </a:lnSpc>
              <a:spcBef>
                <a:spcPts val="0"/>
              </a:spcBef>
              <a:spcAft>
                <a:spcPts val="0"/>
              </a:spcAft>
            </a:pPr>
            <a:r>
              <a:rPr sz="1350" b="0">
                <a:solidFill>
                  <a:srgbClr val="555960"/>
                </a:solidFill>
                <a:latin typeface="Red Hat Text"/>
              </a:rPr>
              <a:t>what happens when a customer clicks Install</a:t>
            </a:r>
          </a:p>
        </p:txBody>
      </p:sp>
      <p:sp>
        <p:nvSpPr>
          <p:cNvPr id="7" name="Rounded Rectangle 6"/>
          <p:cNvSpPr/>
          <p:nvPr/>
        </p:nvSpPr>
        <p:spPr>
          <a:xfrm>
            <a:off x="841248" y="2670048"/>
            <a:ext cx="5715000" cy="530352"/>
          </a:xfrm>
          <a:prstGeom prst="roundRect">
            <a:avLst>
              <a:gd name="adj" fmla="val 6000"/>
            </a:avLst>
          </a:prstGeom>
          <a:solidFill>
            <a:srgbClr val="F5F6F8"/>
          </a:solidFill>
          <a:ln w="12700">
            <a:solidFill>
              <a:srgbClr val="DDE1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check_steel.png"/>
          <p:cNvPicPr>
            <a:picLocks noChangeAspect="1"/>
          </p:cNvPicPr>
          <p:nvPr/>
        </p:nvPicPr>
        <p:blipFill>
          <a:blip r:embed="rId3"/>
          <a:stretch>
            <a:fillRect/>
          </a:stretch>
        </p:blipFill>
        <p:spPr>
          <a:xfrm>
            <a:off x="987552" y="2816352"/>
            <a:ext cx="237744" cy="237744"/>
          </a:xfrm>
          <a:prstGeom prst="rect">
            <a:avLst/>
          </a:prstGeom>
        </p:spPr>
      </p:pic>
      <p:sp>
        <p:nvSpPr>
          <p:cNvPr id="9" name="TextBox 8"/>
          <p:cNvSpPr txBox="1"/>
          <p:nvPr/>
        </p:nvSpPr>
        <p:spPr>
          <a:xfrm>
            <a:off x="1353312" y="2670048"/>
            <a:ext cx="5029200" cy="530352"/>
          </a:xfrm>
          <a:prstGeom prst="rect">
            <a:avLst/>
          </a:prstGeom>
          <a:noFill/>
        </p:spPr>
        <p:txBody>
          <a:bodyPr wrap="square" anchor="ctr" lIns="0" rIns="0" tIns="0" bIns="0">
            <a:spAutoFit/>
          </a:bodyPr>
          <a:lstStyle/>
          <a:p>
            <a:pPr algn="l">
              <a:lnSpc>
                <a:spcPct val="106000"/>
              </a:lnSpc>
              <a:spcBef>
                <a:spcPts val="0"/>
              </a:spcBef>
              <a:spcAft>
                <a:spcPts val="0"/>
              </a:spcAft>
            </a:pPr>
            <a:r>
              <a:rPr sz="1200" b="0">
                <a:solidFill>
                  <a:srgbClr val="1A1A1A"/>
                </a:solidFill>
                <a:latin typeface="Red Hat Text"/>
              </a:rPr>
              <a:t>Every operator you used this week installed this way</a:t>
            </a:r>
          </a:p>
        </p:txBody>
      </p:sp>
      <p:sp>
        <p:nvSpPr>
          <p:cNvPr id="10" name="Rounded Rectangle 9"/>
          <p:cNvSpPr/>
          <p:nvPr/>
        </p:nvSpPr>
        <p:spPr>
          <a:xfrm>
            <a:off x="841248" y="3273552"/>
            <a:ext cx="5715000" cy="530352"/>
          </a:xfrm>
          <a:prstGeom prst="roundRect">
            <a:avLst>
              <a:gd name="adj" fmla="val 6000"/>
            </a:avLst>
          </a:prstGeom>
          <a:solidFill>
            <a:srgbClr val="F5F6F8"/>
          </a:solidFill>
          <a:ln w="12700">
            <a:solidFill>
              <a:srgbClr val="DDE1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1" name="Picture 10" descr="check_steel.png"/>
          <p:cNvPicPr>
            <a:picLocks noChangeAspect="1"/>
          </p:cNvPicPr>
          <p:nvPr/>
        </p:nvPicPr>
        <p:blipFill>
          <a:blip r:embed="rId3"/>
          <a:stretch>
            <a:fillRect/>
          </a:stretch>
        </p:blipFill>
        <p:spPr>
          <a:xfrm>
            <a:off x="987552" y="3419856"/>
            <a:ext cx="237744" cy="237744"/>
          </a:xfrm>
          <a:prstGeom prst="rect">
            <a:avLst/>
          </a:prstGeom>
        </p:spPr>
      </p:pic>
      <p:sp>
        <p:nvSpPr>
          <p:cNvPr id="12" name="TextBox 11"/>
          <p:cNvSpPr txBox="1"/>
          <p:nvPr/>
        </p:nvSpPr>
        <p:spPr>
          <a:xfrm>
            <a:off x="1353312" y="3273552"/>
            <a:ext cx="5029200" cy="530352"/>
          </a:xfrm>
          <a:prstGeom prst="rect">
            <a:avLst/>
          </a:prstGeom>
          <a:noFill/>
        </p:spPr>
        <p:txBody>
          <a:bodyPr wrap="square" anchor="ctr" lIns="0" rIns="0" tIns="0" bIns="0">
            <a:spAutoFit/>
          </a:bodyPr>
          <a:lstStyle/>
          <a:p>
            <a:pPr algn="l">
              <a:lnSpc>
                <a:spcPct val="106000"/>
              </a:lnSpc>
              <a:spcBef>
                <a:spcPts val="0"/>
              </a:spcBef>
              <a:spcAft>
                <a:spcPts val="0"/>
              </a:spcAft>
            </a:pPr>
            <a:r>
              <a:rPr sz="1200" b="0">
                <a:solidFill>
                  <a:srgbClr val="1A1A1A"/>
                </a:solidFill>
                <a:latin typeface="Red Hat Text"/>
              </a:rPr>
              <a:t>CatalogSource → PackageManifest (channels) → Subscription</a:t>
            </a:r>
          </a:p>
        </p:txBody>
      </p:sp>
      <p:sp>
        <p:nvSpPr>
          <p:cNvPr id="13" name="Rounded Rectangle 12"/>
          <p:cNvSpPr/>
          <p:nvPr/>
        </p:nvSpPr>
        <p:spPr>
          <a:xfrm>
            <a:off x="841248" y="3877056"/>
            <a:ext cx="5715000" cy="530352"/>
          </a:xfrm>
          <a:prstGeom prst="roundRect">
            <a:avLst>
              <a:gd name="adj" fmla="val 6000"/>
            </a:avLst>
          </a:prstGeom>
          <a:solidFill>
            <a:srgbClr val="F5F6F8"/>
          </a:solidFill>
          <a:ln w="12700">
            <a:solidFill>
              <a:srgbClr val="DDE1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4" name="Picture 13" descr="check_steel.png"/>
          <p:cNvPicPr>
            <a:picLocks noChangeAspect="1"/>
          </p:cNvPicPr>
          <p:nvPr/>
        </p:nvPicPr>
        <p:blipFill>
          <a:blip r:embed="rId3"/>
          <a:stretch>
            <a:fillRect/>
          </a:stretch>
        </p:blipFill>
        <p:spPr>
          <a:xfrm>
            <a:off x="987552" y="4023360"/>
            <a:ext cx="237744" cy="237744"/>
          </a:xfrm>
          <a:prstGeom prst="rect">
            <a:avLst/>
          </a:prstGeom>
        </p:spPr>
      </p:pic>
      <p:sp>
        <p:nvSpPr>
          <p:cNvPr id="15" name="TextBox 14"/>
          <p:cNvSpPr txBox="1"/>
          <p:nvPr/>
        </p:nvSpPr>
        <p:spPr>
          <a:xfrm>
            <a:off x="1353312" y="3877056"/>
            <a:ext cx="5029200" cy="530352"/>
          </a:xfrm>
          <a:prstGeom prst="rect">
            <a:avLst/>
          </a:prstGeom>
          <a:noFill/>
        </p:spPr>
        <p:txBody>
          <a:bodyPr wrap="square" anchor="ctr" lIns="0" rIns="0" tIns="0" bIns="0">
            <a:spAutoFit/>
          </a:bodyPr>
          <a:lstStyle/>
          <a:p>
            <a:pPr algn="l">
              <a:lnSpc>
                <a:spcPct val="106000"/>
              </a:lnSpc>
              <a:spcBef>
                <a:spcPts val="0"/>
              </a:spcBef>
              <a:spcAft>
                <a:spcPts val="0"/>
              </a:spcAft>
            </a:pPr>
            <a:r>
              <a:rPr sz="1200" b="0">
                <a:solidFill>
                  <a:srgbClr val="1A1A1A"/>
                </a:solidFill>
                <a:latin typeface="Red Hat Text"/>
              </a:rPr>
              <a:t>→ InstallPlan (approve) → CSV (owned CRDs + controller + RBAC)</a:t>
            </a:r>
          </a:p>
        </p:txBody>
      </p:sp>
      <p:sp>
        <p:nvSpPr>
          <p:cNvPr id="16" name="Rounded Rectangle 15"/>
          <p:cNvSpPr/>
          <p:nvPr/>
        </p:nvSpPr>
        <p:spPr>
          <a:xfrm>
            <a:off x="841248" y="4480560"/>
            <a:ext cx="5715000" cy="530352"/>
          </a:xfrm>
          <a:prstGeom prst="roundRect">
            <a:avLst>
              <a:gd name="adj" fmla="val 6000"/>
            </a:avLst>
          </a:prstGeom>
          <a:solidFill>
            <a:srgbClr val="F5F6F8"/>
          </a:solidFill>
          <a:ln w="12700">
            <a:solidFill>
              <a:srgbClr val="DDE1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7" name="Picture 16" descr="check_steel.png"/>
          <p:cNvPicPr>
            <a:picLocks noChangeAspect="1"/>
          </p:cNvPicPr>
          <p:nvPr/>
        </p:nvPicPr>
        <p:blipFill>
          <a:blip r:embed="rId3"/>
          <a:stretch>
            <a:fillRect/>
          </a:stretch>
        </p:blipFill>
        <p:spPr>
          <a:xfrm>
            <a:off x="987552" y="4626864"/>
            <a:ext cx="237744" cy="237744"/>
          </a:xfrm>
          <a:prstGeom prst="rect">
            <a:avLst/>
          </a:prstGeom>
        </p:spPr>
      </p:pic>
      <p:sp>
        <p:nvSpPr>
          <p:cNvPr id="18" name="TextBox 17"/>
          <p:cNvSpPr txBox="1"/>
          <p:nvPr/>
        </p:nvSpPr>
        <p:spPr>
          <a:xfrm>
            <a:off x="1353312" y="4480560"/>
            <a:ext cx="5029200" cy="530352"/>
          </a:xfrm>
          <a:prstGeom prst="rect">
            <a:avLst/>
          </a:prstGeom>
          <a:noFill/>
        </p:spPr>
        <p:txBody>
          <a:bodyPr wrap="square" anchor="ctr" lIns="0" rIns="0" tIns="0" bIns="0">
            <a:spAutoFit/>
          </a:bodyPr>
          <a:lstStyle/>
          <a:p>
            <a:pPr algn="l">
              <a:lnSpc>
                <a:spcPct val="106000"/>
              </a:lnSpc>
              <a:spcBef>
                <a:spcPts val="0"/>
              </a:spcBef>
              <a:spcAft>
                <a:spcPts val="0"/>
              </a:spcAft>
            </a:pPr>
            <a:r>
              <a:rPr sz="1200" b="0">
                <a:solidFill>
                  <a:srgbClr val="1A1A1A"/>
                </a:solidFill>
                <a:latin typeface="Red Hat Text"/>
              </a:rPr>
              <a:t>→ operator Pod reconciles your custom resources</a:t>
            </a:r>
          </a:p>
        </p:txBody>
      </p:sp>
      <p:sp>
        <p:nvSpPr>
          <p:cNvPr id="19" name="Rounded Rectangle 18"/>
          <p:cNvSpPr/>
          <p:nvPr/>
        </p:nvSpPr>
        <p:spPr>
          <a:xfrm>
            <a:off x="841248" y="5084064"/>
            <a:ext cx="5715000" cy="530352"/>
          </a:xfrm>
          <a:prstGeom prst="roundRect">
            <a:avLst>
              <a:gd name="adj" fmla="val 6000"/>
            </a:avLst>
          </a:prstGeom>
          <a:solidFill>
            <a:srgbClr val="F5F6F8"/>
          </a:solidFill>
          <a:ln w="12700">
            <a:solidFill>
              <a:srgbClr val="DDE1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0" name="Picture 19" descr="check_steel.png"/>
          <p:cNvPicPr>
            <a:picLocks noChangeAspect="1"/>
          </p:cNvPicPr>
          <p:nvPr/>
        </p:nvPicPr>
        <p:blipFill>
          <a:blip r:embed="rId3"/>
          <a:stretch>
            <a:fillRect/>
          </a:stretch>
        </p:blipFill>
        <p:spPr>
          <a:xfrm>
            <a:off x="987552" y="5230368"/>
            <a:ext cx="237744" cy="237744"/>
          </a:xfrm>
          <a:prstGeom prst="rect">
            <a:avLst/>
          </a:prstGeom>
        </p:spPr>
      </p:pic>
      <p:sp>
        <p:nvSpPr>
          <p:cNvPr id="21" name="TextBox 20"/>
          <p:cNvSpPr txBox="1"/>
          <p:nvPr/>
        </p:nvSpPr>
        <p:spPr>
          <a:xfrm>
            <a:off x="1353312" y="5084064"/>
            <a:ext cx="5029200" cy="530352"/>
          </a:xfrm>
          <a:prstGeom prst="rect">
            <a:avLst/>
          </a:prstGeom>
          <a:noFill/>
        </p:spPr>
        <p:txBody>
          <a:bodyPr wrap="square" anchor="ctr" lIns="0" rIns="0" tIns="0" bIns="0">
            <a:spAutoFit/>
          </a:bodyPr>
          <a:lstStyle/>
          <a:p>
            <a:pPr algn="l">
              <a:lnSpc>
                <a:spcPct val="106000"/>
              </a:lnSpc>
              <a:spcBef>
                <a:spcPts val="0"/>
              </a:spcBef>
              <a:spcAft>
                <a:spcPts val="0"/>
              </a:spcAft>
            </a:pPr>
            <a:r>
              <a:rPr sz="1200" b="0">
                <a:solidFill>
                  <a:srgbClr val="1A1A1A"/>
                </a:solidFill>
                <a:latin typeface="Red Hat Text"/>
              </a:rPr>
              <a:t>You dissect it live: Pipelines' Subscription, channels, CSV, CRDs</a:t>
            </a:r>
          </a:p>
        </p:txBody>
      </p:sp>
      <p:sp>
        <p:nvSpPr>
          <p:cNvPr id="22" name="Rounded Rectangle 21"/>
          <p:cNvSpPr/>
          <p:nvPr/>
        </p:nvSpPr>
        <p:spPr>
          <a:xfrm>
            <a:off x="6812280" y="2670048"/>
            <a:ext cx="4538167" cy="2944368"/>
          </a:xfrm>
          <a:prstGeom prst="roundRect">
            <a:avLst>
              <a:gd name="adj" fmla="val 4000"/>
            </a:avLst>
          </a:prstGeom>
          <a:solidFill>
            <a:srgbClr val="FFFFFF"/>
          </a:solidFill>
          <a:ln w="15240">
            <a:solidFill>
              <a:srgbClr val="DDE1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ounded Rectangle 22"/>
          <p:cNvSpPr/>
          <p:nvPr/>
        </p:nvSpPr>
        <p:spPr>
          <a:xfrm>
            <a:off x="7013448" y="2871216"/>
            <a:ext cx="1298448" cy="310896"/>
          </a:xfrm>
          <a:prstGeom prst="roundRect">
            <a:avLst>
              <a:gd name="adj" fmla="val 50000"/>
            </a:avLst>
          </a:prstGeom>
          <a:solidFill>
            <a:srgbClr val="FCEC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7013448" y="2871216"/>
            <a:ext cx="1298448" cy="310896"/>
          </a:xfrm>
          <a:prstGeom prst="rect">
            <a:avLst/>
          </a:prstGeom>
          <a:noFill/>
        </p:spPr>
        <p:txBody>
          <a:bodyPr wrap="none" anchor="ctr" lIns="0" rIns="0" tIns="0" bIns="0">
            <a:spAutoFit/>
          </a:bodyPr>
          <a:lstStyle/>
          <a:p>
            <a:pPr algn="ctr">
              <a:lnSpc>
                <a:spcPct val="106000"/>
              </a:lnSpc>
              <a:spcBef>
                <a:spcPts val="0"/>
              </a:spcBef>
              <a:spcAft>
                <a:spcPts val="0"/>
              </a:spcAft>
            </a:pPr>
            <a:r>
              <a:rPr sz="850" b="1">
                <a:solidFill>
                  <a:srgbClr val="B80000"/>
                </a:solidFill>
                <a:latin typeface="Red Hat Display"/>
              </a:rPr>
              <a:t>MEDIA PASS</a:t>
            </a:r>
          </a:p>
        </p:txBody>
      </p:sp>
      <p:pic>
        <p:nvPicPr>
          <p:cNvPr id="25" name="Picture 24" descr="eye_slate.png"/>
          <p:cNvPicPr>
            <a:picLocks noChangeAspect="1"/>
          </p:cNvPicPr>
          <p:nvPr/>
        </p:nvPicPr>
        <p:blipFill>
          <a:blip r:embed="rId4"/>
          <a:stretch>
            <a:fillRect/>
          </a:stretch>
        </p:blipFill>
        <p:spPr>
          <a:xfrm>
            <a:off x="8843619" y="3383280"/>
            <a:ext cx="475488" cy="475488"/>
          </a:xfrm>
          <a:prstGeom prst="rect">
            <a:avLst/>
          </a:prstGeom>
        </p:spPr>
      </p:pic>
      <p:sp>
        <p:nvSpPr>
          <p:cNvPr id="26" name="TextBox 25"/>
          <p:cNvSpPr txBox="1"/>
          <p:nvPr/>
        </p:nvSpPr>
        <p:spPr>
          <a:xfrm>
            <a:off x="7050024" y="3995928"/>
            <a:ext cx="4062679" cy="1481328"/>
          </a:xfrm>
          <a:prstGeom prst="rect">
            <a:avLst/>
          </a:prstGeom>
          <a:noFill/>
        </p:spPr>
        <p:txBody>
          <a:bodyPr wrap="square" anchor="t" lIns="0" rIns="0" tIns="0" bIns="0">
            <a:spAutoFit/>
          </a:bodyPr>
          <a:lstStyle/>
          <a:p>
            <a:pPr algn="l">
              <a:lnSpc>
                <a:spcPct val="120000"/>
              </a:lnSpc>
              <a:spcBef>
                <a:spcPts val="0"/>
              </a:spcBef>
              <a:spcAft>
                <a:spcPts val="0"/>
              </a:spcAft>
            </a:pPr>
            <a:r>
              <a:rPr sz="950" b="0">
                <a:solidFill>
                  <a:srgbClr val="8A9099"/>
                </a:solidFill>
                <a:latin typeface="Red Hat Text"/>
              </a:rPr>
              <a:t>Reuse concept diagram packaging-distributing-...-02-olm-anatomy.svg — the top-down chain CatalogSource → PackageManifest → Subscription → InstallPlan → CSV → operator Pod, with a side note "OLM v1: ClusterCatalog + ClusterExtension (the direction)."</a:t>
            </a:r>
          </a:p>
        </p:txBody>
      </p:sp>
      <p:cxnSp>
        <p:nvCxnSpPr>
          <p:cNvPr id="27" name="Connector 26"/>
          <p:cNvCxnSpPr/>
          <p:nvPr/>
        </p:nvCxnSpPr>
        <p:spPr>
          <a:xfrm>
            <a:off x="841248" y="6437376"/>
            <a:ext cx="10509199" cy="0"/>
          </a:xfrm>
          <a:prstGeom prst="bentConnector3">
            <a:avLst/>
          </a:prstGeom>
          <a:ln w="12700">
            <a:solidFill>
              <a:srgbClr val="DDE1E6"/>
            </a:solidFill>
          </a:ln>
          <a:effectLst/>
        </p:spPr>
        <p:style>
          <a:lnRef idx="2">
            <a:schemeClr val="accent1"/>
          </a:lnRef>
          <a:fillRef idx="0">
            <a:schemeClr val="accent1"/>
          </a:fillRef>
          <a:effectRef idx="1">
            <a:schemeClr val="accent1"/>
          </a:effectRef>
          <a:fontRef idx="minor">
            <a:schemeClr val="tx1"/>
          </a:fontRef>
        </p:style>
      </p:cxnSp>
      <p:sp>
        <p:nvSpPr>
          <p:cNvPr id="28" name="TextBox 27"/>
          <p:cNvSpPr txBox="1"/>
          <p:nvPr/>
        </p:nvSpPr>
        <p:spPr>
          <a:xfrm>
            <a:off x="841248" y="6473952"/>
            <a:ext cx="7315200" cy="274320"/>
          </a:xfrm>
          <a:prstGeom prst="rect">
            <a:avLst/>
          </a:prstGeom>
          <a:noFill/>
        </p:spPr>
        <p:txBody>
          <a:bodyPr wrap="square" anchor="t" lIns="0" rIns="0" tIns="0" bIns="0">
            <a:spAutoFit/>
          </a:bodyPr>
          <a:lstStyle/>
          <a:p>
            <a:pPr algn="l">
              <a:lnSpc>
                <a:spcPct val="106000"/>
              </a:lnSpc>
              <a:spcBef>
                <a:spcPts val="0"/>
              </a:spcBef>
              <a:spcAft>
                <a:spcPts val="0"/>
              </a:spcAft>
            </a:pPr>
            <a:r>
              <a:rPr sz="950" b="0">
                <a:solidFill>
                  <a:srgbClr val="8A9099"/>
                </a:solidFill>
                <a:latin typeface="Red Hat Text"/>
              </a:rPr>
              <a:t>CONFIDENTIAL</a:t>
            </a:r>
          </a:p>
        </p:txBody>
      </p:sp>
      <p:sp>
        <p:nvSpPr>
          <p:cNvPr id="29" name="TextBox 28"/>
          <p:cNvSpPr txBox="1"/>
          <p:nvPr/>
        </p:nvSpPr>
        <p:spPr>
          <a:xfrm>
            <a:off x="10801807" y="6473952"/>
            <a:ext cx="548640" cy="274320"/>
          </a:xfrm>
          <a:prstGeom prst="rect">
            <a:avLst/>
          </a:prstGeom>
          <a:noFill/>
        </p:spPr>
        <p:txBody>
          <a:bodyPr wrap="square" anchor="t" lIns="0" rIns="0" tIns="0" bIns="0">
            <a:spAutoFit/>
          </a:bodyPr>
          <a:lstStyle/>
          <a:p>
            <a:pPr algn="r">
              <a:lnSpc>
                <a:spcPct val="106000"/>
              </a:lnSpc>
              <a:spcBef>
                <a:spcPts val="0"/>
              </a:spcBef>
              <a:spcAft>
                <a:spcPts val="0"/>
              </a:spcAft>
            </a:pPr>
            <a:r>
              <a:rPr sz="950" b="0">
                <a:solidFill>
                  <a:srgbClr val="8A9099"/>
                </a:solidFill>
                <a:latin typeface="Red Hat Text"/>
              </a:rPr>
              <a:t>189</a:t>
            </a:r>
          </a:p>
        </p:txBody>
      </p:sp>
    </p:spTree>
  </p:cSld>
  <p:clrMapOvr>
    <a:masterClrMapping/>
  </p:clrMapOvr>
</p:sld>
</file>

<file path=ppt/slides/slide2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redhat_logo.jpg"/>
          <p:cNvPicPr>
            <a:picLocks noChangeAspect="1"/>
          </p:cNvPicPr>
          <p:nvPr/>
        </p:nvPicPr>
        <p:blipFill>
          <a:blip r:embed="rId2"/>
          <a:stretch>
            <a:fillRect/>
          </a:stretch>
        </p:blipFill>
        <p:spPr>
          <a:xfrm>
            <a:off x="10326319" y="475488"/>
            <a:ext cx="1024128" cy="242248"/>
          </a:xfrm>
          <a:prstGeom prst="rect">
            <a:avLst/>
          </a:prstGeom>
        </p:spPr>
      </p:pic>
      <p:sp>
        <p:nvSpPr>
          <p:cNvPr id="3" name="TextBox 2"/>
          <p:cNvSpPr txBox="1"/>
          <p:nvPr/>
        </p:nvSpPr>
        <p:spPr>
          <a:xfrm>
            <a:off x="841248" y="548640"/>
            <a:ext cx="8595360" cy="274320"/>
          </a:xfrm>
          <a:prstGeom prst="rect">
            <a:avLst/>
          </a:prstGeom>
          <a:noFill/>
        </p:spPr>
        <p:txBody>
          <a:bodyPr wrap="square" anchor="t" lIns="0" rIns="0" tIns="0" bIns="0">
            <a:spAutoFit/>
          </a:bodyPr>
          <a:lstStyle/>
          <a:p>
            <a:pPr algn="l">
              <a:lnSpc>
                <a:spcPct val="106000"/>
              </a:lnSpc>
              <a:spcBef>
                <a:spcPts val="0"/>
              </a:spcBef>
              <a:spcAft>
                <a:spcPts val="0"/>
              </a:spcAft>
            </a:pPr>
            <a:r>
              <a:rPr sz="1250" b="1" spc="220">
                <a:solidFill>
                  <a:srgbClr val="EE0000"/>
                </a:solidFill>
                <a:latin typeface="Red Hat Display"/>
              </a:rPr>
              <a:t>M26 · PACKAGING &amp; DISTRIBUTING YOUR APP</a:t>
            </a:r>
          </a:p>
        </p:txBody>
      </p:sp>
      <p:sp>
        <p:nvSpPr>
          <p:cNvPr id="4" name="TextBox 3"/>
          <p:cNvSpPr txBox="1"/>
          <p:nvPr/>
        </p:nvSpPr>
        <p:spPr>
          <a:xfrm>
            <a:off x="841248" y="877824"/>
            <a:ext cx="10515600" cy="548640"/>
          </a:xfrm>
          <a:prstGeom prst="rect">
            <a:avLst/>
          </a:prstGeom>
          <a:noFill/>
        </p:spPr>
        <p:txBody>
          <a:bodyPr wrap="none" anchor="t" lIns="0" rIns="0" tIns="0" bIns="0">
            <a:spAutoFit/>
          </a:bodyPr>
          <a:lstStyle/>
          <a:p>
            <a:pPr algn="l">
              <a:lnSpc>
                <a:spcPct val="100000"/>
              </a:lnSpc>
              <a:spcBef>
                <a:spcPts val="0"/>
              </a:spcBef>
              <a:spcAft>
                <a:spcPts val="0"/>
              </a:spcAft>
            </a:pPr>
            <a:r>
              <a:rPr sz="2500" b="1">
                <a:solidFill>
                  <a:srgbClr val="1A1A1A"/>
                </a:solidFill>
                <a:latin typeface="Red Hat Display"/>
              </a:rPr>
              <a:t>When NOT to write an operator</a:t>
            </a:r>
          </a:p>
        </p:txBody>
      </p:sp>
      <p:cxnSp>
        <p:nvCxnSpPr>
          <p:cNvPr id="5" name="Connector 4"/>
          <p:cNvCxnSpPr/>
          <p:nvPr/>
        </p:nvCxnSpPr>
        <p:spPr>
          <a:xfrm>
            <a:off x="841248" y="1554480"/>
            <a:ext cx="1371600" cy="0"/>
          </a:xfrm>
          <a:prstGeom prst="bentConnector3">
            <a:avLst/>
          </a:prstGeom>
          <a:ln w="31750">
            <a:solidFill>
              <a:srgbClr val="EE0000"/>
            </a:solidFill>
          </a:ln>
          <a:effectLst/>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841248" y="1664208"/>
            <a:ext cx="10515600" cy="365760"/>
          </a:xfrm>
          <a:prstGeom prst="rect">
            <a:avLst/>
          </a:prstGeom>
          <a:noFill/>
        </p:spPr>
        <p:txBody>
          <a:bodyPr wrap="square" anchor="t" lIns="0" rIns="0" tIns="0" bIns="0">
            <a:spAutoFit/>
          </a:bodyPr>
          <a:lstStyle/>
          <a:p>
            <a:pPr algn="l">
              <a:lnSpc>
                <a:spcPct val="106000"/>
              </a:lnSpc>
              <a:spcBef>
                <a:spcPts val="0"/>
              </a:spcBef>
              <a:spcAft>
                <a:spcPts val="0"/>
              </a:spcAft>
            </a:pPr>
            <a:r>
              <a:rPr sz="1350" b="0">
                <a:solidFill>
                  <a:srgbClr val="555960"/>
                </a:solidFill>
                <a:latin typeface="Red Hat Text"/>
              </a:rPr>
              <a:t>and choose with a straight face</a:t>
            </a:r>
          </a:p>
        </p:txBody>
      </p:sp>
      <p:sp>
        <p:nvSpPr>
          <p:cNvPr id="7" name="Rounded Rectangle 6"/>
          <p:cNvSpPr/>
          <p:nvPr/>
        </p:nvSpPr>
        <p:spPr>
          <a:xfrm>
            <a:off x="841248" y="2670048"/>
            <a:ext cx="5715000" cy="530352"/>
          </a:xfrm>
          <a:prstGeom prst="roundRect">
            <a:avLst>
              <a:gd name="adj" fmla="val 6000"/>
            </a:avLst>
          </a:prstGeom>
          <a:solidFill>
            <a:srgbClr val="F5F6F8"/>
          </a:solidFill>
          <a:ln w="12700">
            <a:solidFill>
              <a:srgbClr val="DDE1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check_steel.png"/>
          <p:cNvPicPr>
            <a:picLocks noChangeAspect="1"/>
          </p:cNvPicPr>
          <p:nvPr/>
        </p:nvPicPr>
        <p:blipFill>
          <a:blip r:embed="rId3"/>
          <a:stretch>
            <a:fillRect/>
          </a:stretch>
        </p:blipFill>
        <p:spPr>
          <a:xfrm>
            <a:off x="987552" y="2816352"/>
            <a:ext cx="237744" cy="237744"/>
          </a:xfrm>
          <a:prstGeom prst="rect">
            <a:avLst/>
          </a:prstGeom>
        </p:spPr>
      </p:pic>
      <p:sp>
        <p:nvSpPr>
          <p:cNvPr id="9" name="TextBox 8"/>
          <p:cNvSpPr txBox="1"/>
          <p:nvPr/>
        </p:nvSpPr>
        <p:spPr>
          <a:xfrm>
            <a:off x="1353312" y="2670048"/>
            <a:ext cx="5029200" cy="530352"/>
          </a:xfrm>
          <a:prstGeom prst="rect">
            <a:avLst/>
          </a:prstGeom>
          <a:noFill/>
        </p:spPr>
        <p:txBody>
          <a:bodyPr wrap="square" anchor="ctr" lIns="0" rIns="0" tIns="0" bIns="0">
            <a:spAutoFit/>
          </a:bodyPr>
          <a:lstStyle/>
          <a:p>
            <a:pPr algn="l">
              <a:lnSpc>
                <a:spcPct val="106000"/>
              </a:lnSpc>
              <a:spcBef>
                <a:spcPts val="0"/>
              </a:spcBef>
              <a:spcAft>
                <a:spcPts val="0"/>
              </a:spcAft>
            </a:pPr>
            <a:r>
              <a:rPr sz="1200" b="0">
                <a:solidFill>
                  <a:srgbClr val="1A1A1A"/>
                </a:solidFill>
                <a:latin typeface="Red Hat Text"/>
              </a:rPr>
              <a:t>OLM v1 is the direction: ClusterCatalog + ClusterExtension (GA, idle here)</a:t>
            </a:r>
          </a:p>
        </p:txBody>
      </p:sp>
      <p:sp>
        <p:nvSpPr>
          <p:cNvPr id="10" name="Rounded Rectangle 9"/>
          <p:cNvSpPr/>
          <p:nvPr/>
        </p:nvSpPr>
        <p:spPr>
          <a:xfrm>
            <a:off x="841248" y="3273552"/>
            <a:ext cx="5715000" cy="530352"/>
          </a:xfrm>
          <a:prstGeom prst="roundRect">
            <a:avLst>
              <a:gd name="adj" fmla="val 6000"/>
            </a:avLst>
          </a:prstGeom>
          <a:solidFill>
            <a:srgbClr val="F5F6F8"/>
          </a:solidFill>
          <a:ln w="12700">
            <a:solidFill>
              <a:srgbClr val="DDE1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1" name="Picture 10" descr="check_steel.png"/>
          <p:cNvPicPr>
            <a:picLocks noChangeAspect="1"/>
          </p:cNvPicPr>
          <p:nvPr/>
        </p:nvPicPr>
        <p:blipFill>
          <a:blip r:embed="rId3"/>
          <a:stretch>
            <a:fillRect/>
          </a:stretch>
        </p:blipFill>
        <p:spPr>
          <a:xfrm>
            <a:off x="987552" y="3419856"/>
            <a:ext cx="237744" cy="237744"/>
          </a:xfrm>
          <a:prstGeom prst="rect">
            <a:avLst/>
          </a:prstGeom>
        </p:spPr>
      </p:pic>
      <p:sp>
        <p:nvSpPr>
          <p:cNvPr id="12" name="TextBox 11"/>
          <p:cNvSpPr txBox="1"/>
          <p:nvPr/>
        </p:nvSpPr>
        <p:spPr>
          <a:xfrm>
            <a:off x="1353312" y="3273552"/>
            <a:ext cx="5029200" cy="530352"/>
          </a:xfrm>
          <a:prstGeom prst="rect">
            <a:avLst/>
          </a:prstGeom>
          <a:noFill/>
        </p:spPr>
        <p:txBody>
          <a:bodyPr wrap="square" anchor="ctr" lIns="0" rIns="0" tIns="0" bIns="0">
            <a:spAutoFit/>
          </a:bodyPr>
          <a:lstStyle/>
          <a:p>
            <a:pPr algn="l">
              <a:lnSpc>
                <a:spcPct val="106000"/>
              </a:lnSpc>
              <a:spcBef>
                <a:spcPts val="0"/>
              </a:spcBef>
              <a:spcAft>
                <a:spcPts val="0"/>
              </a:spcAft>
            </a:pPr>
            <a:r>
              <a:rPr sz="1200" b="0">
                <a:solidFill>
                  <a:srgbClr val="1A1A1A"/>
                </a:solidFill>
                <a:latin typeface="Red Hat Text"/>
              </a:rPr>
              <a:t>Place your app on the spectrum: most apps want Helm</a:t>
            </a:r>
          </a:p>
        </p:txBody>
      </p:sp>
      <p:sp>
        <p:nvSpPr>
          <p:cNvPr id="13" name="Rounded Rectangle 12"/>
          <p:cNvSpPr/>
          <p:nvPr/>
        </p:nvSpPr>
        <p:spPr>
          <a:xfrm>
            <a:off x="841248" y="3877056"/>
            <a:ext cx="5715000" cy="530352"/>
          </a:xfrm>
          <a:prstGeom prst="roundRect">
            <a:avLst>
              <a:gd name="adj" fmla="val 6000"/>
            </a:avLst>
          </a:prstGeom>
          <a:solidFill>
            <a:srgbClr val="F5F6F8"/>
          </a:solidFill>
          <a:ln w="12700">
            <a:solidFill>
              <a:srgbClr val="DDE1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4" name="Picture 13" descr="check_steel.png"/>
          <p:cNvPicPr>
            <a:picLocks noChangeAspect="1"/>
          </p:cNvPicPr>
          <p:nvPr/>
        </p:nvPicPr>
        <p:blipFill>
          <a:blip r:embed="rId3"/>
          <a:stretch>
            <a:fillRect/>
          </a:stretch>
        </p:blipFill>
        <p:spPr>
          <a:xfrm>
            <a:off x="987552" y="4023360"/>
            <a:ext cx="237744" cy="237744"/>
          </a:xfrm>
          <a:prstGeom prst="rect">
            <a:avLst/>
          </a:prstGeom>
        </p:spPr>
      </p:pic>
      <p:sp>
        <p:nvSpPr>
          <p:cNvPr id="15" name="TextBox 14"/>
          <p:cNvSpPr txBox="1"/>
          <p:nvPr/>
        </p:nvSpPr>
        <p:spPr>
          <a:xfrm>
            <a:off x="1353312" y="3877056"/>
            <a:ext cx="5029200" cy="530352"/>
          </a:xfrm>
          <a:prstGeom prst="rect">
            <a:avLst/>
          </a:prstGeom>
          <a:noFill/>
        </p:spPr>
        <p:txBody>
          <a:bodyPr wrap="square" anchor="ctr" lIns="0" rIns="0" tIns="0" bIns="0">
            <a:spAutoFit/>
          </a:bodyPr>
          <a:lstStyle/>
          <a:p>
            <a:pPr algn="l">
              <a:lnSpc>
                <a:spcPct val="106000"/>
              </a:lnSpc>
              <a:spcBef>
                <a:spcPts val="0"/>
              </a:spcBef>
              <a:spcAft>
                <a:spcPts val="0"/>
              </a:spcAft>
            </a:pPr>
            <a:r>
              <a:rPr sz="1200" b="0">
                <a:solidFill>
                  <a:srgbClr val="1A1A1A"/>
                </a:solidFill>
                <a:latin typeface="Red Hat Text"/>
              </a:rPr>
              <a:t>Operator earns its cost only when reconcile IS the value</a:t>
            </a:r>
          </a:p>
        </p:txBody>
      </p:sp>
      <p:sp>
        <p:nvSpPr>
          <p:cNvPr id="16" name="Rounded Rectangle 15"/>
          <p:cNvSpPr/>
          <p:nvPr/>
        </p:nvSpPr>
        <p:spPr>
          <a:xfrm>
            <a:off x="841248" y="4480560"/>
            <a:ext cx="5715000" cy="530352"/>
          </a:xfrm>
          <a:prstGeom prst="roundRect">
            <a:avLst>
              <a:gd name="adj" fmla="val 6000"/>
            </a:avLst>
          </a:prstGeom>
          <a:solidFill>
            <a:srgbClr val="F5F6F8"/>
          </a:solidFill>
          <a:ln w="12700">
            <a:solidFill>
              <a:srgbClr val="DDE1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7" name="Picture 16" descr="check_steel.png"/>
          <p:cNvPicPr>
            <a:picLocks noChangeAspect="1"/>
          </p:cNvPicPr>
          <p:nvPr/>
        </p:nvPicPr>
        <p:blipFill>
          <a:blip r:embed="rId3"/>
          <a:stretch>
            <a:fillRect/>
          </a:stretch>
        </p:blipFill>
        <p:spPr>
          <a:xfrm>
            <a:off x="987552" y="4626864"/>
            <a:ext cx="237744" cy="237744"/>
          </a:xfrm>
          <a:prstGeom prst="rect">
            <a:avLst/>
          </a:prstGeom>
        </p:spPr>
      </p:pic>
      <p:sp>
        <p:nvSpPr>
          <p:cNvPr id="18" name="TextBox 17"/>
          <p:cNvSpPr txBox="1"/>
          <p:nvPr/>
        </p:nvSpPr>
        <p:spPr>
          <a:xfrm>
            <a:off x="1353312" y="4480560"/>
            <a:ext cx="5029200" cy="530352"/>
          </a:xfrm>
          <a:prstGeom prst="rect">
            <a:avLst/>
          </a:prstGeom>
          <a:noFill/>
        </p:spPr>
        <p:txBody>
          <a:bodyPr wrap="square" anchor="ctr" lIns="0" rIns="0" tIns="0" bIns="0">
            <a:spAutoFit/>
          </a:bodyPr>
          <a:lstStyle/>
          <a:p>
            <a:pPr algn="l">
              <a:lnSpc>
                <a:spcPct val="106000"/>
              </a:lnSpc>
              <a:spcBef>
                <a:spcPts val="0"/>
              </a:spcBef>
              <a:spcAft>
                <a:spcPts val="0"/>
              </a:spcAft>
            </a:pPr>
            <a:r>
              <a:rPr sz="1200" b="0">
                <a:solidFill>
                  <a:srgbClr val="1A1A1A"/>
                </a:solidFill>
                <a:latin typeface="Red Hat Text"/>
              </a:rPr>
              <a:t>If helm upgrade covers day-2, you don't need a reconcile loop</a:t>
            </a:r>
          </a:p>
        </p:txBody>
      </p:sp>
      <p:sp>
        <p:nvSpPr>
          <p:cNvPr id="19" name="Rounded Rectangle 18"/>
          <p:cNvSpPr/>
          <p:nvPr/>
        </p:nvSpPr>
        <p:spPr>
          <a:xfrm>
            <a:off x="841248" y="5084064"/>
            <a:ext cx="5715000" cy="530352"/>
          </a:xfrm>
          <a:prstGeom prst="roundRect">
            <a:avLst>
              <a:gd name="adj" fmla="val 6000"/>
            </a:avLst>
          </a:prstGeom>
          <a:solidFill>
            <a:srgbClr val="F5F6F8"/>
          </a:solidFill>
          <a:ln w="12700">
            <a:solidFill>
              <a:srgbClr val="DDE1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0" name="Picture 19" descr="check_steel.png"/>
          <p:cNvPicPr>
            <a:picLocks noChangeAspect="1"/>
          </p:cNvPicPr>
          <p:nvPr/>
        </p:nvPicPr>
        <p:blipFill>
          <a:blip r:embed="rId3"/>
          <a:stretch>
            <a:fillRect/>
          </a:stretch>
        </p:blipFill>
        <p:spPr>
          <a:xfrm>
            <a:off x="987552" y="5230368"/>
            <a:ext cx="237744" cy="237744"/>
          </a:xfrm>
          <a:prstGeom prst="rect">
            <a:avLst/>
          </a:prstGeom>
        </p:spPr>
      </p:pic>
      <p:sp>
        <p:nvSpPr>
          <p:cNvPr id="21" name="TextBox 20"/>
          <p:cNvSpPr txBox="1"/>
          <p:nvPr/>
        </p:nvSpPr>
        <p:spPr>
          <a:xfrm>
            <a:off x="1353312" y="5084064"/>
            <a:ext cx="5029200" cy="530352"/>
          </a:xfrm>
          <a:prstGeom prst="rect">
            <a:avLst/>
          </a:prstGeom>
          <a:noFill/>
        </p:spPr>
        <p:txBody>
          <a:bodyPr wrap="square" anchor="ctr" lIns="0" rIns="0" tIns="0" bIns="0">
            <a:spAutoFit/>
          </a:bodyPr>
          <a:lstStyle/>
          <a:p>
            <a:pPr algn="l">
              <a:lnSpc>
                <a:spcPct val="106000"/>
              </a:lnSpc>
              <a:spcBef>
                <a:spcPts val="0"/>
              </a:spcBef>
              <a:spcAft>
                <a:spcPts val="0"/>
              </a:spcAft>
            </a:pPr>
            <a:r>
              <a:rPr sz="1200" b="0">
                <a:solidFill>
                  <a:srgbClr val="1A1A1A"/>
                </a:solidFill>
                <a:latin typeface="Red Hat Text"/>
              </a:rPr>
              <a:t>"The notifications service wants Helm" — saying so is the senior move</a:t>
            </a:r>
          </a:p>
        </p:txBody>
      </p:sp>
      <p:sp>
        <p:nvSpPr>
          <p:cNvPr id="22" name="Rounded Rectangle 21"/>
          <p:cNvSpPr/>
          <p:nvPr/>
        </p:nvSpPr>
        <p:spPr>
          <a:xfrm>
            <a:off x="6812280" y="2670048"/>
            <a:ext cx="4538167" cy="2944368"/>
          </a:xfrm>
          <a:prstGeom prst="roundRect">
            <a:avLst>
              <a:gd name="adj" fmla="val 4000"/>
            </a:avLst>
          </a:prstGeom>
          <a:solidFill>
            <a:srgbClr val="FFFFFF"/>
          </a:solidFill>
          <a:ln w="15240">
            <a:solidFill>
              <a:srgbClr val="DDE1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ounded Rectangle 22"/>
          <p:cNvSpPr/>
          <p:nvPr/>
        </p:nvSpPr>
        <p:spPr>
          <a:xfrm>
            <a:off x="7013448" y="2871216"/>
            <a:ext cx="1298448" cy="310896"/>
          </a:xfrm>
          <a:prstGeom prst="roundRect">
            <a:avLst>
              <a:gd name="adj" fmla="val 50000"/>
            </a:avLst>
          </a:prstGeom>
          <a:solidFill>
            <a:srgbClr val="FCEC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7013448" y="2871216"/>
            <a:ext cx="1298448" cy="310896"/>
          </a:xfrm>
          <a:prstGeom prst="rect">
            <a:avLst/>
          </a:prstGeom>
          <a:noFill/>
        </p:spPr>
        <p:txBody>
          <a:bodyPr wrap="none" anchor="ctr" lIns="0" rIns="0" tIns="0" bIns="0">
            <a:spAutoFit/>
          </a:bodyPr>
          <a:lstStyle/>
          <a:p>
            <a:pPr algn="ctr">
              <a:lnSpc>
                <a:spcPct val="106000"/>
              </a:lnSpc>
              <a:spcBef>
                <a:spcPts val="0"/>
              </a:spcBef>
              <a:spcAft>
                <a:spcPts val="0"/>
              </a:spcAft>
            </a:pPr>
            <a:r>
              <a:rPr sz="850" b="1">
                <a:solidFill>
                  <a:srgbClr val="B80000"/>
                </a:solidFill>
                <a:latin typeface="Red Hat Display"/>
              </a:rPr>
              <a:t>MEDIA PASS</a:t>
            </a:r>
          </a:p>
        </p:txBody>
      </p:sp>
      <p:pic>
        <p:nvPicPr>
          <p:cNvPr id="25" name="Picture 24" descr="eye_slate.png"/>
          <p:cNvPicPr>
            <a:picLocks noChangeAspect="1"/>
          </p:cNvPicPr>
          <p:nvPr/>
        </p:nvPicPr>
        <p:blipFill>
          <a:blip r:embed="rId4"/>
          <a:stretch>
            <a:fillRect/>
          </a:stretch>
        </p:blipFill>
        <p:spPr>
          <a:xfrm>
            <a:off x="8843619" y="3383280"/>
            <a:ext cx="475488" cy="475488"/>
          </a:xfrm>
          <a:prstGeom prst="rect">
            <a:avLst/>
          </a:prstGeom>
        </p:spPr>
      </p:pic>
      <p:sp>
        <p:nvSpPr>
          <p:cNvPr id="26" name="TextBox 25"/>
          <p:cNvSpPr txBox="1"/>
          <p:nvPr/>
        </p:nvSpPr>
        <p:spPr>
          <a:xfrm>
            <a:off x="7050024" y="3995928"/>
            <a:ext cx="4062679" cy="1481328"/>
          </a:xfrm>
          <a:prstGeom prst="rect">
            <a:avLst/>
          </a:prstGeom>
          <a:noFill/>
        </p:spPr>
        <p:txBody>
          <a:bodyPr wrap="square" anchor="t" lIns="0" rIns="0" tIns="0" bIns="0">
            <a:spAutoFit/>
          </a:bodyPr>
          <a:lstStyle/>
          <a:p>
            <a:pPr algn="l">
              <a:lnSpc>
                <a:spcPct val="120000"/>
              </a:lnSpc>
              <a:spcBef>
                <a:spcPts val="0"/>
              </a:spcBef>
              <a:spcAft>
                <a:spcPts val="0"/>
              </a:spcAft>
            </a:pPr>
            <a:r>
              <a:rPr sz="950" b="0">
                <a:solidFill>
                  <a:srgbClr val="8A9099"/>
                </a:solidFill>
                <a:latin typeface="Red Hat Text"/>
              </a:rPr>
              <a:t>A decision table (manifests / Kustomize / Helm / Operator) with "reach for it when…" column; Helm row highlighted "most apps"; Operator row flagged "only when reconcile is the value." Footer: "you ship install and upgrade, not just runtime."</a:t>
            </a:r>
          </a:p>
        </p:txBody>
      </p:sp>
      <p:cxnSp>
        <p:nvCxnSpPr>
          <p:cNvPr id="27" name="Connector 26"/>
          <p:cNvCxnSpPr/>
          <p:nvPr/>
        </p:nvCxnSpPr>
        <p:spPr>
          <a:xfrm>
            <a:off x="841248" y="6437376"/>
            <a:ext cx="10509199" cy="0"/>
          </a:xfrm>
          <a:prstGeom prst="bentConnector3">
            <a:avLst/>
          </a:prstGeom>
          <a:ln w="12700">
            <a:solidFill>
              <a:srgbClr val="DDE1E6"/>
            </a:solidFill>
          </a:ln>
          <a:effectLst/>
        </p:spPr>
        <p:style>
          <a:lnRef idx="2">
            <a:schemeClr val="accent1"/>
          </a:lnRef>
          <a:fillRef idx="0">
            <a:schemeClr val="accent1"/>
          </a:fillRef>
          <a:effectRef idx="1">
            <a:schemeClr val="accent1"/>
          </a:effectRef>
          <a:fontRef idx="minor">
            <a:schemeClr val="tx1"/>
          </a:fontRef>
        </p:style>
      </p:cxnSp>
      <p:sp>
        <p:nvSpPr>
          <p:cNvPr id="28" name="TextBox 27"/>
          <p:cNvSpPr txBox="1"/>
          <p:nvPr/>
        </p:nvSpPr>
        <p:spPr>
          <a:xfrm>
            <a:off x="841248" y="6473952"/>
            <a:ext cx="7315200" cy="274320"/>
          </a:xfrm>
          <a:prstGeom prst="rect">
            <a:avLst/>
          </a:prstGeom>
          <a:noFill/>
        </p:spPr>
        <p:txBody>
          <a:bodyPr wrap="square" anchor="t" lIns="0" rIns="0" tIns="0" bIns="0">
            <a:spAutoFit/>
          </a:bodyPr>
          <a:lstStyle/>
          <a:p>
            <a:pPr algn="l">
              <a:lnSpc>
                <a:spcPct val="106000"/>
              </a:lnSpc>
              <a:spcBef>
                <a:spcPts val="0"/>
              </a:spcBef>
              <a:spcAft>
                <a:spcPts val="0"/>
              </a:spcAft>
            </a:pPr>
            <a:r>
              <a:rPr sz="950" b="0">
                <a:solidFill>
                  <a:srgbClr val="8A9099"/>
                </a:solidFill>
                <a:latin typeface="Red Hat Text"/>
              </a:rPr>
              <a:t>CONFIDENTIAL</a:t>
            </a:r>
          </a:p>
        </p:txBody>
      </p:sp>
      <p:sp>
        <p:nvSpPr>
          <p:cNvPr id="29" name="TextBox 28"/>
          <p:cNvSpPr txBox="1"/>
          <p:nvPr/>
        </p:nvSpPr>
        <p:spPr>
          <a:xfrm>
            <a:off x="10801807" y="6473952"/>
            <a:ext cx="548640" cy="274320"/>
          </a:xfrm>
          <a:prstGeom prst="rect">
            <a:avLst/>
          </a:prstGeom>
          <a:noFill/>
        </p:spPr>
        <p:txBody>
          <a:bodyPr wrap="square" anchor="t" lIns="0" rIns="0" tIns="0" bIns="0">
            <a:spAutoFit/>
          </a:bodyPr>
          <a:lstStyle/>
          <a:p>
            <a:pPr algn="r">
              <a:lnSpc>
                <a:spcPct val="106000"/>
              </a:lnSpc>
              <a:spcBef>
                <a:spcPts val="0"/>
              </a:spcBef>
              <a:spcAft>
                <a:spcPts val="0"/>
              </a:spcAft>
            </a:pPr>
            <a:r>
              <a:rPr sz="950" b="0">
                <a:solidFill>
                  <a:srgbClr val="8A9099"/>
                </a:solidFill>
                <a:latin typeface="Red Hat Text"/>
              </a:rPr>
              <a:t>190</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