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two pains this module fixes. Parasol's claims service is GitOps-managed in dev and stage, but as two hand-made Argo CD Applications. That is fine for one service; count it at real scale — a dozen services, three environments each — and it is thirty-six near-identical Applications a human has to author and keep consistent, and they drift. The second pain is delivery: pushing a new build straight to all of production at 100% bets the whole environment on it working. This module generates the fleet from one object and makes a production deploy safe to automate.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ApplicationSet removes the toil. You describe the Application once as a template and hand it a generator — a source of truth for "what set of things should exist." A list generator enumerates environments inline; a git generator discovers them from folders; a cluster generator makes one per registered cluster; matrix/merge combine them. Parameters in, Applications out. Take a position on layout: folders, not branches — one main branch with overlays/dev, overlays/stage, overlays/prod side by side, so "what's different about prod" is the difference between folders, not a diff between drifting branches. And environments can differ in kind: dev/stage are plain Deployments, prod is a Rollout — one ApplicationSet still covers all three.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Applying a folder all at once is usually fine — Kubernetes retries. It is not fine when order matters: a schema migration must run after the database accepts connections and before the app boots against it. Argo CD gives you two tools. Sync waves: an integer annotation groups resources; Argo applies all of wave 0, waits for health, then wave 1, then wave 2. Resource hooks: a Sync hook runs as part of the sync rather than as steady state — the idiomatic way to slot in a one-shot Job. Production uses exactly this: database at wave 0, the migration Job as a Sync hook at wave 1, the app Rollout at wave 2 — so the app is never created against a schema that isn't ready, unattended, every time.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GitOps gets the new manifests into prod; it does not tell you whether the new version is healthy under real conditions. Rolling to all pods at once bets the environment on the answer being yes. Progressive delivery refuses the bet: route a small slice to the new version, watch it, widen only as it proves itself, and revert automatically if it fails. Argo Rollouts is the controller — a drop-in for a Deployment whose strategy describes the shift. The canary steps: 25% to the canary, a pause to bake, 50%, then an automated analysis step probes the canary's real readiness, and only on success does it take 100%. Be honest about the mechanism: traffic splits by pod ratio (1 of 4 pods at 25%), which needs no extra infrastructure; exact request percentages or header routing need a traffic router — a Route plugin or a mesh.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beat that makes the toil worth it. In the lab you force an analysis failure — a deterministic stand-in for a canary whose real metrics spiked — and ship. The canary reaches the analysis step, the analysis reports Failed, and the Rollout aborts and rolls back to the stable version on its own: no human noticed, decided, and acted under pressure. And production never went down — the stable pods served every request through the entire failed rollout; the route answered 200 the whole time. Then you read the failed AnalysisRun the way you'd read an incident review, except the rollback already happened. That is the whole promise: a production deploy that is safe to automate because a bad one reverts itself before anyone sees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Canary is one progressive-delivery strategy; blue-green is the other, and the same controller serves both. Canary shifts gradually and gates on analysis mid-rollout, costing a small extra slice. Blue-green runs two full versions side by side — blue live behind an active service, green new behind a preview service — and cuts over all at once when you promote, with a manual gate and double capacity for the window. Reach for canary to limit blast radius when you can measure health during the rollout; reach for blue-green for a clean instant switch after a full pre-flight on a preview URL. And Rollouts is only the deployment-controller way to shift traffic — a service mesh shifts by routing rules, serverless by revision tags; both are their own modules. Rule of thumb: Rollouts when delivery is driven by the deployment and gated by metrics.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transfer and stay honest. In your org: how many deployment definitions are quietly drifting because each environment is a hand-maintained copy rather than generated from one source? When a bad release last reached prod, how did you find out, and how much of recovery was a human noticing? Is your "run the migration in the right place" rule structural or a runbook step someone can skip? Then the credibility close on restraint: don't canary a change whose failure is slow or downstream — a short readiness analysis will pass a subtle data bug; gate those on tests and manual promotion. Don't reach for pod-ratio when you need exact or header-based traffic — that needs a traffic router. Don't auto-promote before your analysis has earned trust. And blue-green's clean cutover costs a full second copy — pick the strategy your capacity affords.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 diagram: Appset.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 diagram: Sync waves.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 diagram: Canary analysis.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 diagram: What you built.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3.png"/><Relationship Id="rId4"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4.png"/><Relationship Id="rId4"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5.png"/><Relationship Id="rId4"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6.png"/><Relationship Id="rId4"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841248" y="731520"/>
            <a:ext cx="1554480" cy="367699"/>
          </a:xfrm>
          <a:prstGeom prst="rect">
            <a:avLst/>
          </a:prstGeom>
        </p:spPr>
      </p:pic>
      <p:sp>
        <p:nvSpPr>
          <p:cNvPr id="3" name="TextBox 2"/>
          <p:cNvSpPr txBox="1"/>
          <p:nvPr/>
        </p:nvSpPr>
        <p:spPr>
          <a:xfrm>
            <a:off x="841248" y="2514600"/>
            <a:ext cx="960120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180">
                <a:solidFill>
                  <a:srgbClr val="EE0000"/>
                </a:solidFill>
                <a:latin typeface="Red Hat Display"/>
              </a:rPr>
              <a:t>B · DELIVERY &amp; TRUST</a:t>
            </a:r>
          </a:p>
        </p:txBody>
      </p:sp>
      <p:sp>
        <p:nvSpPr>
          <p:cNvPr id="4" name="TextBox 3"/>
          <p:cNvSpPr txBox="1"/>
          <p:nvPr/>
        </p:nvSpPr>
        <p:spPr>
          <a:xfrm>
            <a:off x="841248" y="2880360"/>
            <a:ext cx="2103120" cy="1188720"/>
          </a:xfrm>
          <a:prstGeom prst="rect">
            <a:avLst/>
          </a:prstGeom>
          <a:noFill/>
        </p:spPr>
        <p:txBody>
          <a:bodyPr wrap="none" anchor="t" lIns="0" rIns="0" tIns="0" bIns="0">
            <a:spAutoFit/>
          </a:bodyPr>
          <a:lstStyle/>
          <a:p>
            <a:pPr algn="l">
              <a:lnSpc>
                <a:spcPct val="90000"/>
              </a:lnSpc>
              <a:spcBef>
                <a:spcPts val="0"/>
              </a:spcBef>
              <a:spcAft>
                <a:spcPts val="0"/>
              </a:spcAft>
            </a:pPr>
            <a:r>
              <a:rPr sz="5200" b="1">
                <a:solidFill>
                  <a:srgbClr val="B80000"/>
                </a:solidFill>
                <a:latin typeface="Red Hat Display"/>
              </a:rPr>
              <a:t>M11</a:t>
            </a:r>
          </a:p>
        </p:txBody>
      </p:sp>
      <p:sp>
        <p:nvSpPr>
          <p:cNvPr id="5" name="TextBox 4"/>
          <p:cNvSpPr txBox="1"/>
          <p:nvPr/>
        </p:nvSpPr>
        <p:spPr>
          <a:xfrm>
            <a:off x="3127248" y="2971800"/>
            <a:ext cx="8412480" cy="1188720"/>
          </a:xfrm>
          <a:prstGeom prst="rect">
            <a:avLst/>
          </a:prstGeom>
          <a:noFill/>
        </p:spPr>
        <p:txBody>
          <a:bodyPr wrap="square" anchor="t" lIns="0" rIns="0" tIns="0" bIns="0">
            <a:spAutoFit/>
          </a:bodyPr>
          <a:lstStyle/>
          <a:p>
            <a:pPr algn="l">
              <a:lnSpc>
                <a:spcPct val="102000"/>
              </a:lnSpc>
              <a:spcBef>
                <a:spcPts val="0"/>
              </a:spcBef>
              <a:spcAft>
                <a:spcPts val="0"/>
              </a:spcAft>
            </a:pPr>
            <a:r>
              <a:rPr sz="3000" b="1">
                <a:solidFill>
                  <a:srgbClr val="1A1A1A"/>
                </a:solidFill>
                <a:latin typeface="Red Hat Display"/>
              </a:rPr>
              <a:t>GitOps at Scale &amp; Progressive Delivery</a:t>
            </a:r>
          </a:p>
        </p:txBody>
      </p:sp>
      <p:cxnSp>
        <p:nvCxnSpPr>
          <p:cNvPr id="6" name="Connector 5"/>
          <p:cNvCxnSpPr/>
          <p:nvPr/>
        </p:nvCxnSpPr>
        <p:spPr>
          <a:xfrm>
            <a:off x="841248" y="4443984"/>
            <a:ext cx="1463040" cy="0"/>
          </a:xfrm>
          <a:prstGeom prst="bentConnector3">
            <a:avLst/>
          </a:prstGeom>
          <a:ln w="38100">
            <a:solidFill>
              <a:srgbClr val="EE0000"/>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M11 · GITOPS AT SCALE &amp; PROGRESSIVE DELIVERY</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Thirty-six Applications nobody wants to</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41248" y="1664208"/>
            <a:ext cx="10515600" cy="365760"/>
          </a:xfrm>
          <a:prstGeom prst="rect">
            <a:avLst/>
          </a:prstGeom>
          <a:noFill/>
        </p:spPr>
        <p:txBody>
          <a:bodyPr wrap="square" anchor="t" lIns="0" rIns="0" tIns="0" bIns="0">
            <a:spAutoFit/>
          </a:bodyPr>
          <a:lstStyle/>
          <a:p>
            <a:pPr algn="l">
              <a:lnSpc>
                <a:spcPct val="106000"/>
              </a:lnSpc>
              <a:spcBef>
                <a:spcPts val="0"/>
              </a:spcBef>
              <a:spcAft>
                <a:spcPts val="0"/>
              </a:spcAft>
            </a:pPr>
            <a:r>
              <a:rPr sz="1350" b="0">
                <a:solidFill>
                  <a:srgbClr val="555960"/>
                </a:solidFill>
                <a:latin typeface="Red Hat Text"/>
              </a:rPr>
              <a:t>write</a:t>
            </a:r>
          </a:p>
        </p:txBody>
      </p:sp>
      <p:sp>
        <p:nvSpPr>
          <p:cNvPr id="7" name="Rounded Rectangle 6"/>
          <p:cNvSpPr/>
          <p:nvPr/>
        </p:nvSpPr>
        <p:spPr>
          <a:xfrm>
            <a:off x="841248" y="267004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87552" y="280720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eck_white.png"/>
          <p:cNvPicPr>
            <a:picLocks noChangeAspect="1"/>
          </p:cNvPicPr>
          <p:nvPr/>
        </p:nvPicPr>
        <p:blipFill>
          <a:blip r:embed="rId3"/>
          <a:stretch>
            <a:fillRect/>
          </a:stretch>
        </p:blipFill>
        <p:spPr>
          <a:xfrm>
            <a:off x="1110447" y="2930103"/>
            <a:ext cx="266273" cy="266273"/>
          </a:xfrm>
          <a:prstGeom prst="rect">
            <a:avLst/>
          </a:prstGeom>
        </p:spPr>
      </p:pic>
      <p:sp>
        <p:nvSpPr>
          <p:cNvPr id="10" name="TextBox 9"/>
          <p:cNvSpPr txBox="1"/>
          <p:nvPr/>
        </p:nvSpPr>
        <p:spPr>
          <a:xfrm>
            <a:off x="1627632" y="267004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Claims is GitOps-managed — one Application per env</a:t>
            </a:r>
          </a:p>
        </p:txBody>
      </p:sp>
      <p:sp>
        <p:nvSpPr>
          <p:cNvPr id="11" name="Rounded Rectangle 10"/>
          <p:cNvSpPr/>
          <p:nvPr/>
        </p:nvSpPr>
        <p:spPr>
          <a:xfrm>
            <a:off x="6254496" y="267004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400800" y="280720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white.png"/>
          <p:cNvPicPr>
            <a:picLocks noChangeAspect="1"/>
          </p:cNvPicPr>
          <p:nvPr/>
        </p:nvPicPr>
        <p:blipFill>
          <a:blip r:embed="rId3"/>
          <a:stretch>
            <a:fillRect/>
          </a:stretch>
        </p:blipFill>
        <p:spPr>
          <a:xfrm>
            <a:off x="6523695" y="2930103"/>
            <a:ext cx="266273" cy="266273"/>
          </a:xfrm>
          <a:prstGeom prst="rect">
            <a:avLst/>
          </a:prstGeom>
        </p:spPr>
      </p:pic>
      <p:sp>
        <p:nvSpPr>
          <p:cNvPr id="14" name="TextBox 13"/>
          <p:cNvSpPr txBox="1"/>
          <p:nvPr/>
        </p:nvSpPr>
        <p:spPr>
          <a:xfrm>
            <a:off x="7040880" y="267004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A dozen services × three envs = 36 Applications</a:t>
            </a:r>
          </a:p>
        </p:txBody>
      </p:sp>
      <p:sp>
        <p:nvSpPr>
          <p:cNvPr id="15" name="Rounded Rectangle 14"/>
          <p:cNvSpPr/>
          <p:nvPr/>
        </p:nvSpPr>
        <p:spPr>
          <a:xfrm>
            <a:off x="841248" y="360273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87552" y="373989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white.png"/>
          <p:cNvPicPr>
            <a:picLocks noChangeAspect="1"/>
          </p:cNvPicPr>
          <p:nvPr/>
        </p:nvPicPr>
        <p:blipFill>
          <a:blip r:embed="rId3"/>
          <a:stretch>
            <a:fillRect/>
          </a:stretch>
        </p:blipFill>
        <p:spPr>
          <a:xfrm>
            <a:off x="1110447" y="3862791"/>
            <a:ext cx="266273" cy="266273"/>
          </a:xfrm>
          <a:prstGeom prst="rect">
            <a:avLst/>
          </a:prstGeom>
        </p:spPr>
      </p:pic>
      <p:sp>
        <p:nvSpPr>
          <p:cNvPr id="18" name="TextBox 17"/>
          <p:cNvSpPr txBox="1"/>
          <p:nvPr/>
        </p:nvSpPr>
        <p:spPr>
          <a:xfrm>
            <a:off x="1627632" y="360273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Every one a near-copy that drifts</a:t>
            </a:r>
          </a:p>
        </p:txBody>
      </p:sp>
      <p:sp>
        <p:nvSpPr>
          <p:cNvPr id="19" name="Rounded Rectangle 18"/>
          <p:cNvSpPr/>
          <p:nvPr/>
        </p:nvSpPr>
        <p:spPr>
          <a:xfrm>
            <a:off x="6254496" y="360273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400800" y="373989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white.png"/>
          <p:cNvPicPr>
            <a:picLocks noChangeAspect="1"/>
          </p:cNvPicPr>
          <p:nvPr/>
        </p:nvPicPr>
        <p:blipFill>
          <a:blip r:embed="rId3"/>
          <a:stretch>
            <a:fillRect/>
          </a:stretch>
        </p:blipFill>
        <p:spPr>
          <a:xfrm>
            <a:off x="6523695" y="3862791"/>
            <a:ext cx="266273" cy="266273"/>
          </a:xfrm>
          <a:prstGeom prst="rect">
            <a:avLst/>
          </a:prstGeom>
        </p:spPr>
      </p:pic>
      <p:sp>
        <p:nvSpPr>
          <p:cNvPr id="22" name="TextBox 21"/>
          <p:cNvSpPr txBox="1"/>
          <p:nvPr/>
        </p:nvSpPr>
        <p:spPr>
          <a:xfrm>
            <a:off x="7040880" y="360273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And prod takes new builds all-at-once</a:t>
            </a:r>
          </a:p>
        </p:txBody>
      </p:sp>
      <p:sp>
        <p:nvSpPr>
          <p:cNvPr id="23" name="Rounded Rectangle 22"/>
          <p:cNvSpPr/>
          <p:nvPr/>
        </p:nvSpPr>
        <p:spPr>
          <a:xfrm>
            <a:off x="841248" y="453542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87552" y="467258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heck_white.png"/>
          <p:cNvPicPr>
            <a:picLocks noChangeAspect="1"/>
          </p:cNvPicPr>
          <p:nvPr/>
        </p:nvPicPr>
        <p:blipFill>
          <a:blip r:embed="rId3"/>
          <a:stretch>
            <a:fillRect/>
          </a:stretch>
        </p:blipFill>
        <p:spPr>
          <a:xfrm>
            <a:off x="1110447" y="4795479"/>
            <a:ext cx="266273" cy="266273"/>
          </a:xfrm>
          <a:prstGeom prst="rect">
            <a:avLst/>
          </a:prstGeom>
        </p:spPr>
      </p:pic>
      <p:sp>
        <p:nvSpPr>
          <p:cNvPr id="26" name="TextBox 25"/>
          <p:cNvSpPr txBox="1"/>
          <p:nvPr/>
        </p:nvSpPr>
        <p:spPr>
          <a:xfrm>
            <a:off x="1627632" y="453542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Scale and safety both break here</a:t>
            </a:r>
          </a:p>
        </p:txBody>
      </p:sp>
      <p:cxnSp>
        <p:nvCxnSpPr>
          <p:cNvPr id="27" name="Connector 26"/>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9" name="TextBox 28"/>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M11 · GITOPS AT SCALE &amp; PROGRESSIVE DELIVERY</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One ApplicationSet generates the fleet</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87552"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white.png"/>
          <p:cNvPicPr>
            <a:picLocks noChangeAspect="1"/>
          </p:cNvPicPr>
          <p:nvPr/>
        </p:nvPicPr>
        <p:blipFill>
          <a:blip r:embed="rId3"/>
          <a:stretch>
            <a:fillRect/>
          </a:stretch>
        </p:blipFill>
        <p:spPr>
          <a:xfrm>
            <a:off x="1110447" y="2655783"/>
            <a:ext cx="266273" cy="266273"/>
          </a:xfrm>
          <a:prstGeom prst="rect">
            <a:avLst/>
          </a:prstGeom>
        </p:spPr>
      </p:pic>
      <p:sp>
        <p:nvSpPr>
          <p:cNvPr id="9" name="TextBox 8"/>
          <p:cNvSpPr txBox="1"/>
          <p:nvPr/>
        </p:nvSpPr>
        <p:spPr>
          <a:xfrm>
            <a:off x="1627632"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Describe the Application once, as a template</a:t>
            </a:r>
          </a:p>
        </p:txBody>
      </p:sp>
      <p:sp>
        <p:nvSpPr>
          <p:cNvPr id="10" name="Rounded Rectangle 9"/>
          <p:cNvSpPr/>
          <p:nvPr/>
        </p:nvSpPr>
        <p:spPr>
          <a:xfrm>
            <a:off x="6254496"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0"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white.png"/>
          <p:cNvPicPr>
            <a:picLocks noChangeAspect="1"/>
          </p:cNvPicPr>
          <p:nvPr/>
        </p:nvPicPr>
        <p:blipFill>
          <a:blip r:embed="rId3"/>
          <a:stretch>
            <a:fillRect/>
          </a:stretch>
        </p:blipFill>
        <p:spPr>
          <a:xfrm>
            <a:off x="6523695" y="2655783"/>
            <a:ext cx="266273" cy="266273"/>
          </a:xfrm>
          <a:prstGeom prst="rect">
            <a:avLst/>
          </a:prstGeom>
        </p:spPr>
      </p:pic>
      <p:sp>
        <p:nvSpPr>
          <p:cNvPr id="13" name="TextBox 12"/>
          <p:cNvSpPr txBox="1"/>
          <p:nvPr/>
        </p:nvSpPr>
        <p:spPr>
          <a:xfrm>
            <a:off x="7040880"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A generator produces the parameters</a:t>
            </a:r>
          </a:p>
        </p:txBody>
      </p:sp>
      <p:sp>
        <p:nvSpPr>
          <p:cNvPr id="14" name="Rounded Rectangle 13"/>
          <p:cNvSpPr/>
          <p:nvPr/>
        </p:nvSpPr>
        <p:spPr>
          <a:xfrm>
            <a:off x="841248"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7552"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white.png"/>
          <p:cNvPicPr>
            <a:picLocks noChangeAspect="1"/>
          </p:cNvPicPr>
          <p:nvPr/>
        </p:nvPicPr>
        <p:blipFill>
          <a:blip r:embed="rId3"/>
          <a:stretch>
            <a:fillRect/>
          </a:stretch>
        </p:blipFill>
        <p:spPr>
          <a:xfrm>
            <a:off x="1110447" y="3588471"/>
            <a:ext cx="266273" cy="266273"/>
          </a:xfrm>
          <a:prstGeom prst="rect">
            <a:avLst/>
          </a:prstGeom>
        </p:spPr>
      </p:pic>
      <p:sp>
        <p:nvSpPr>
          <p:cNvPr id="17" name="TextBox 16"/>
          <p:cNvSpPr txBox="1"/>
          <p:nvPr/>
        </p:nvSpPr>
        <p:spPr>
          <a:xfrm>
            <a:off x="1627632"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One Application per environment, stamped out</a:t>
            </a:r>
          </a:p>
        </p:txBody>
      </p:sp>
      <p:sp>
        <p:nvSpPr>
          <p:cNvPr id="18" name="Rounded Rectangle 17"/>
          <p:cNvSpPr/>
          <p:nvPr/>
        </p:nvSpPr>
        <p:spPr>
          <a:xfrm>
            <a:off x="6254496"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white.png"/>
          <p:cNvPicPr>
            <a:picLocks noChangeAspect="1"/>
          </p:cNvPicPr>
          <p:nvPr/>
        </p:nvPicPr>
        <p:blipFill>
          <a:blip r:embed="rId3"/>
          <a:stretch>
            <a:fillRect/>
          </a:stretch>
        </p:blipFill>
        <p:spPr>
          <a:xfrm>
            <a:off x="6523695" y="3588471"/>
            <a:ext cx="266273" cy="266273"/>
          </a:xfrm>
          <a:prstGeom prst="rect">
            <a:avLst/>
          </a:prstGeom>
        </p:spPr>
      </p:pic>
      <p:sp>
        <p:nvSpPr>
          <p:cNvPr id="21" name="TextBox 20"/>
          <p:cNvSpPr txBox="1"/>
          <p:nvPr/>
        </p:nvSpPr>
        <p:spPr>
          <a:xfrm>
            <a:off x="7040880"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Generators: list, git (folders), cluster, matrix</a:t>
            </a:r>
          </a:p>
        </p:txBody>
      </p:sp>
      <p:sp>
        <p:nvSpPr>
          <p:cNvPr id="22" name="Rounded Rectangle 21"/>
          <p:cNvSpPr/>
          <p:nvPr/>
        </p:nvSpPr>
        <p:spPr>
          <a:xfrm>
            <a:off x="841248"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7552"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_white.png"/>
          <p:cNvPicPr>
            <a:picLocks noChangeAspect="1"/>
          </p:cNvPicPr>
          <p:nvPr/>
        </p:nvPicPr>
        <p:blipFill>
          <a:blip r:embed="rId3"/>
          <a:stretch>
            <a:fillRect/>
          </a:stretch>
        </p:blipFill>
        <p:spPr>
          <a:xfrm>
            <a:off x="1110447" y="4521159"/>
            <a:ext cx="266273" cy="266273"/>
          </a:xfrm>
          <a:prstGeom prst="rect">
            <a:avLst/>
          </a:prstGeom>
        </p:spPr>
      </p:pic>
      <p:sp>
        <p:nvSpPr>
          <p:cNvPr id="25" name="TextBox 24"/>
          <p:cNvSpPr txBox="1"/>
          <p:nvPr/>
        </p:nvSpPr>
        <p:spPr>
          <a:xfrm>
            <a:off x="1627632"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Take a position: folders, not branches</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M11 · GITOPS AT SCALE &amp; PROGRESSIVE DELIVERY</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Order matters — sync waves and hooks</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87552"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white.png"/>
          <p:cNvPicPr>
            <a:picLocks noChangeAspect="1"/>
          </p:cNvPicPr>
          <p:nvPr/>
        </p:nvPicPr>
        <p:blipFill>
          <a:blip r:embed="rId3"/>
          <a:stretch>
            <a:fillRect/>
          </a:stretch>
        </p:blipFill>
        <p:spPr>
          <a:xfrm>
            <a:off x="1110447" y="2655783"/>
            <a:ext cx="266273" cy="266273"/>
          </a:xfrm>
          <a:prstGeom prst="rect">
            <a:avLst/>
          </a:prstGeom>
        </p:spPr>
      </p:pic>
      <p:sp>
        <p:nvSpPr>
          <p:cNvPr id="9" name="TextBox 8"/>
          <p:cNvSpPr txBox="1"/>
          <p:nvPr/>
        </p:nvSpPr>
        <p:spPr>
          <a:xfrm>
            <a:off x="1627632"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Some objects must be ready before others</a:t>
            </a:r>
          </a:p>
        </p:txBody>
      </p:sp>
      <p:sp>
        <p:nvSpPr>
          <p:cNvPr id="10" name="Rounded Rectangle 9"/>
          <p:cNvSpPr/>
          <p:nvPr/>
        </p:nvSpPr>
        <p:spPr>
          <a:xfrm>
            <a:off x="6254496"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0"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white.png"/>
          <p:cNvPicPr>
            <a:picLocks noChangeAspect="1"/>
          </p:cNvPicPr>
          <p:nvPr/>
        </p:nvPicPr>
        <p:blipFill>
          <a:blip r:embed="rId3"/>
          <a:stretch>
            <a:fillRect/>
          </a:stretch>
        </p:blipFill>
        <p:spPr>
          <a:xfrm>
            <a:off x="6523695" y="2655783"/>
            <a:ext cx="266273" cy="266273"/>
          </a:xfrm>
          <a:prstGeom prst="rect">
            <a:avLst/>
          </a:prstGeom>
        </p:spPr>
      </p:pic>
      <p:sp>
        <p:nvSpPr>
          <p:cNvPr id="13" name="TextBox 12"/>
          <p:cNvSpPr txBox="1"/>
          <p:nvPr/>
        </p:nvSpPr>
        <p:spPr>
          <a:xfrm>
            <a:off x="7040880"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Migration: after the DB, before the app</a:t>
            </a:r>
          </a:p>
        </p:txBody>
      </p:sp>
      <p:sp>
        <p:nvSpPr>
          <p:cNvPr id="14" name="Rounded Rectangle 13"/>
          <p:cNvSpPr/>
          <p:nvPr/>
        </p:nvSpPr>
        <p:spPr>
          <a:xfrm>
            <a:off x="841248"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7552"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white.png"/>
          <p:cNvPicPr>
            <a:picLocks noChangeAspect="1"/>
          </p:cNvPicPr>
          <p:nvPr/>
        </p:nvPicPr>
        <p:blipFill>
          <a:blip r:embed="rId3"/>
          <a:stretch>
            <a:fillRect/>
          </a:stretch>
        </p:blipFill>
        <p:spPr>
          <a:xfrm>
            <a:off x="1110447" y="3588471"/>
            <a:ext cx="266273" cy="266273"/>
          </a:xfrm>
          <a:prstGeom prst="rect">
            <a:avLst/>
          </a:prstGeom>
        </p:spPr>
      </p:pic>
      <p:sp>
        <p:nvSpPr>
          <p:cNvPr id="17" name="TextBox 16"/>
          <p:cNvSpPr txBox="1"/>
          <p:nvPr/>
        </p:nvSpPr>
        <p:spPr>
          <a:xfrm>
            <a:off x="1627632"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Sync waves order the apply (0, 1, 2…)</a:t>
            </a:r>
          </a:p>
        </p:txBody>
      </p:sp>
      <p:sp>
        <p:nvSpPr>
          <p:cNvPr id="18" name="Rounded Rectangle 17"/>
          <p:cNvSpPr/>
          <p:nvPr/>
        </p:nvSpPr>
        <p:spPr>
          <a:xfrm>
            <a:off x="6254496"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white.png"/>
          <p:cNvPicPr>
            <a:picLocks noChangeAspect="1"/>
          </p:cNvPicPr>
          <p:nvPr/>
        </p:nvPicPr>
        <p:blipFill>
          <a:blip r:embed="rId3"/>
          <a:stretch>
            <a:fillRect/>
          </a:stretch>
        </p:blipFill>
        <p:spPr>
          <a:xfrm>
            <a:off x="6523695" y="3588471"/>
            <a:ext cx="266273" cy="266273"/>
          </a:xfrm>
          <a:prstGeom prst="rect">
            <a:avLst/>
          </a:prstGeom>
        </p:spPr>
      </p:pic>
      <p:sp>
        <p:nvSpPr>
          <p:cNvPr id="21" name="TextBox 20"/>
          <p:cNvSpPr txBox="1"/>
          <p:nvPr/>
        </p:nvSpPr>
        <p:spPr>
          <a:xfrm>
            <a:off x="7040880"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A Sync hook slots in a one-shot Job</a:t>
            </a:r>
          </a:p>
        </p:txBody>
      </p:sp>
      <p:sp>
        <p:nvSpPr>
          <p:cNvPr id="22" name="Rounded Rectangle 21"/>
          <p:cNvSpPr/>
          <p:nvPr/>
        </p:nvSpPr>
        <p:spPr>
          <a:xfrm>
            <a:off x="841248"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7552"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_white.png"/>
          <p:cNvPicPr>
            <a:picLocks noChangeAspect="1"/>
          </p:cNvPicPr>
          <p:nvPr/>
        </p:nvPicPr>
        <p:blipFill>
          <a:blip r:embed="rId3"/>
          <a:stretch>
            <a:fillRect/>
          </a:stretch>
        </p:blipFill>
        <p:spPr>
          <a:xfrm>
            <a:off x="1110447" y="4521159"/>
            <a:ext cx="266273" cy="266273"/>
          </a:xfrm>
          <a:prstGeom prst="rect">
            <a:avLst/>
          </a:prstGeom>
        </p:spPr>
      </p:pic>
      <p:sp>
        <p:nvSpPr>
          <p:cNvPr id="25" name="TextBox 24"/>
          <p:cNvSpPr txBox="1"/>
          <p:nvPr/>
        </p:nvSpPr>
        <p:spPr>
          <a:xfrm>
            <a:off x="1627632"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DB (0) → migration (1) → app (2)</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M11 · GITOPS AT SCALE &amp; PROGRESSIVE DELIVERY</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Progressive delivery — earn the traffic</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87552"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white.png"/>
          <p:cNvPicPr>
            <a:picLocks noChangeAspect="1"/>
          </p:cNvPicPr>
          <p:nvPr/>
        </p:nvPicPr>
        <p:blipFill>
          <a:blip r:embed="rId3"/>
          <a:stretch>
            <a:fillRect/>
          </a:stretch>
        </p:blipFill>
        <p:spPr>
          <a:xfrm>
            <a:off x="1110447" y="2655783"/>
            <a:ext cx="266273" cy="266273"/>
          </a:xfrm>
          <a:prstGeom prst="rect">
            <a:avLst/>
          </a:prstGeom>
        </p:spPr>
      </p:pic>
      <p:sp>
        <p:nvSpPr>
          <p:cNvPr id="9" name="TextBox 8"/>
          <p:cNvSpPr txBox="1"/>
          <p:nvPr/>
        </p:nvSpPr>
        <p:spPr>
          <a:xfrm>
            <a:off x="1627632"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Don't bet all of prod on one deploy</a:t>
            </a:r>
          </a:p>
        </p:txBody>
      </p:sp>
      <p:sp>
        <p:nvSpPr>
          <p:cNvPr id="10" name="Rounded Rectangle 9"/>
          <p:cNvSpPr/>
          <p:nvPr/>
        </p:nvSpPr>
        <p:spPr>
          <a:xfrm>
            <a:off x="6254496"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0"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white.png"/>
          <p:cNvPicPr>
            <a:picLocks noChangeAspect="1"/>
          </p:cNvPicPr>
          <p:nvPr/>
        </p:nvPicPr>
        <p:blipFill>
          <a:blip r:embed="rId3"/>
          <a:stretch>
            <a:fillRect/>
          </a:stretch>
        </p:blipFill>
        <p:spPr>
          <a:xfrm>
            <a:off x="6523695" y="2655783"/>
            <a:ext cx="266273" cy="266273"/>
          </a:xfrm>
          <a:prstGeom prst="rect">
            <a:avLst/>
          </a:prstGeom>
        </p:spPr>
      </p:pic>
      <p:sp>
        <p:nvSpPr>
          <p:cNvPr id="13" name="TextBox 12"/>
          <p:cNvSpPr txBox="1"/>
          <p:nvPr/>
        </p:nvSpPr>
        <p:spPr>
          <a:xfrm>
            <a:off x="7040880"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Route a small slice to the new version</a:t>
            </a:r>
          </a:p>
        </p:txBody>
      </p:sp>
      <p:sp>
        <p:nvSpPr>
          <p:cNvPr id="14" name="Rounded Rectangle 13"/>
          <p:cNvSpPr/>
          <p:nvPr/>
        </p:nvSpPr>
        <p:spPr>
          <a:xfrm>
            <a:off x="841248"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7552"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white.png"/>
          <p:cNvPicPr>
            <a:picLocks noChangeAspect="1"/>
          </p:cNvPicPr>
          <p:nvPr/>
        </p:nvPicPr>
        <p:blipFill>
          <a:blip r:embed="rId3"/>
          <a:stretch>
            <a:fillRect/>
          </a:stretch>
        </p:blipFill>
        <p:spPr>
          <a:xfrm>
            <a:off x="1110447" y="3588471"/>
            <a:ext cx="266273" cy="266273"/>
          </a:xfrm>
          <a:prstGeom prst="rect">
            <a:avLst/>
          </a:prstGeom>
        </p:spPr>
      </p:pic>
      <p:sp>
        <p:nvSpPr>
          <p:cNvPr id="17" name="TextBox 16"/>
          <p:cNvSpPr txBox="1"/>
          <p:nvPr/>
        </p:nvSpPr>
        <p:spPr>
          <a:xfrm>
            <a:off x="1627632"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Canary: 25% → pause → 50% → analysis → 100%</a:t>
            </a:r>
          </a:p>
        </p:txBody>
      </p:sp>
      <p:sp>
        <p:nvSpPr>
          <p:cNvPr id="18" name="Rounded Rectangle 17"/>
          <p:cNvSpPr/>
          <p:nvPr/>
        </p:nvSpPr>
        <p:spPr>
          <a:xfrm>
            <a:off x="6254496"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white.png"/>
          <p:cNvPicPr>
            <a:picLocks noChangeAspect="1"/>
          </p:cNvPicPr>
          <p:nvPr/>
        </p:nvPicPr>
        <p:blipFill>
          <a:blip r:embed="rId3"/>
          <a:stretch>
            <a:fillRect/>
          </a:stretch>
        </p:blipFill>
        <p:spPr>
          <a:xfrm>
            <a:off x="6523695" y="3588471"/>
            <a:ext cx="266273" cy="266273"/>
          </a:xfrm>
          <a:prstGeom prst="rect">
            <a:avLst/>
          </a:prstGeom>
        </p:spPr>
      </p:pic>
      <p:sp>
        <p:nvSpPr>
          <p:cNvPr id="21" name="TextBox 20"/>
          <p:cNvSpPr txBox="1"/>
          <p:nvPr/>
        </p:nvSpPr>
        <p:spPr>
          <a:xfrm>
            <a:off x="7040880"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Analysis probes real health, gates promotion</a:t>
            </a:r>
          </a:p>
        </p:txBody>
      </p:sp>
      <p:sp>
        <p:nvSpPr>
          <p:cNvPr id="22" name="Rounded Rectangle 21"/>
          <p:cNvSpPr/>
          <p:nvPr/>
        </p:nvSpPr>
        <p:spPr>
          <a:xfrm>
            <a:off x="841248"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7552"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_white.png"/>
          <p:cNvPicPr>
            <a:picLocks noChangeAspect="1"/>
          </p:cNvPicPr>
          <p:nvPr/>
        </p:nvPicPr>
        <p:blipFill>
          <a:blip r:embed="rId3"/>
          <a:stretch>
            <a:fillRect/>
          </a:stretch>
        </p:blipFill>
        <p:spPr>
          <a:xfrm>
            <a:off x="1110447" y="4521159"/>
            <a:ext cx="266273" cy="266273"/>
          </a:xfrm>
          <a:prstGeom prst="rect">
            <a:avLst/>
          </a:prstGeom>
        </p:spPr>
      </p:pic>
      <p:sp>
        <p:nvSpPr>
          <p:cNvPr id="25" name="TextBox 24"/>
          <p:cNvSpPr txBox="1"/>
          <p:nvPr/>
        </p:nvSpPr>
        <p:spPr>
          <a:xfrm>
            <a:off x="1627632"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Pod-ratio here; request-% needs a traffic router</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M11 · GITOPS AT SCALE &amp; PROGRESSIVE DELIVERY</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The bad release that rolls itself back</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87552"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white.png"/>
          <p:cNvPicPr>
            <a:picLocks noChangeAspect="1"/>
          </p:cNvPicPr>
          <p:nvPr/>
        </p:nvPicPr>
        <p:blipFill>
          <a:blip r:embed="rId3"/>
          <a:stretch>
            <a:fillRect/>
          </a:stretch>
        </p:blipFill>
        <p:spPr>
          <a:xfrm>
            <a:off x="1110447" y="2655783"/>
            <a:ext cx="266273" cy="266273"/>
          </a:xfrm>
          <a:prstGeom prst="rect">
            <a:avLst/>
          </a:prstGeom>
        </p:spPr>
      </p:pic>
      <p:sp>
        <p:nvSpPr>
          <p:cNvPr id="9" name="TextBox 8"/>
          <p:cNvSpPr txBox="1"/>
          <p:nvPr/>
        </p:nvSpPr>
        <p:spPr>
          <a:xfrm>
            <a:off x="1627632"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Ship a build whose analysis will fail</a:t>
            </a:r>
          </a:p>
        </p:txBody>
      </p:sp>
      <p:sp>
        <p:nvSpPr>
          <p:cNvPr id="10" name="Rounded Rectangle 9"/>
          <p:cNvSpPr/>
          <p:nvPr/>
        </p:nvSpPr>
        <p:spPr>
          <a:xfrm>
            <a:off x="6254496"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0"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white.png"/>
          <p:cNvPicPr>
            <a:picLocks noChangeAspect="1"/>
          </p:cNvPicPr>
          <p:nvPr/>
        </p:nvPicPr>
        <p:blipFill>
          <a:blip r:embed="rId3"/>
          <a:stretch>
            <a:fillRect/>
          </a:stretch>
        </p:blipFill>
        <p:spPr>
          <a:xfrm>
            <a:off x="6523695" y="2655783"/>
            <a:ext cx="266273" cy="266273"/>
          </a:xfrm>
          <a:prstGeom prst="rect">
            <a:avLst/>
          </a:prstGeom>
        </p:spPr>
      </p:pic>
      <p:sp>
        <p:nvSpPr>
          <p:cNvPr id="13" name="TextBox 12"/>
          <p:cNvSpPr txBox="1"/>
          <p:nvPr/>
        </p:nvSpPr>
        <p:spPr>
          <a:xfrm>
            <a:off x="7040880"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Canary reaches 50%, analysis reports Failed</a:t>
            </a:r>
          </a:p>
        </p:txBody>
      </p:sp>
      <p:sp>
        <p:nvSpPr>
          <p:cNvPr id="14" name="Rounded Rectangle 13"/>
          <p:cNvSpPr/>
          <p:nvPr/>
        </p:nvSpPr>
        <p:spPr>
          <a:xfrm>
            <a:off x="841248"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7552"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white.png"/>
          <p:cNvPicPr>
            <a:picLocks noChangeAspect="1"/>
          </p:cNvPicPr>
          <p:nvPr/>
        </p:nvPicPr>
        <p:blipFill>
          <a:blip r:embed="rId3"/>
          <a:stretch>
            <a:fillRect/>
          </a:stretch>
        </p:blipFill>
        <p:spPr>
          <a:xfrm>
            <a:off x="1110447" y="3588471"/>
            <a:ext cx="266273" cy="266273"/>
          </a:xfrm>
          <a:prstGeom prst="rect">
            <a:avLst/>
          </a:prstGeom>
        </p:spPr>
      </p:pic>
      <p:sp>
        <p:nvSpPr>
          <p:cNvPr id="17" name="TextBox 16"/>
          <p:cNvSpPr txBox="1"/>
          <p:nvPr/>
        </p:nvSpPr>
        <p:spPr>
          <a:xfrm>
            <a:off x="1627632"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Rollout aborts — automatically</a:t>
            </a:r>
          </a:p>
        </p:txBody>
      </p:sp>
      <p:sp>
        <p:nvSpPr>
          <p:cNvPr id="18" name="Rounded Rectangle 17"/>
          <p:cNvSpPr/>
          <p:nvPr/>
        </p:nvSpPr>
        <p:spPr>
          <a:xfrm>
            <a:off x="6254496"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white.png"/>
          <p:cNvPicPr>
            <a:picLocks noChangeAspect="1"/>
          </p:cNvPicPr>
          <p:nvPr/>
        </p:nvPicPr>
        <p:blipFill>
          <a:blip r:embed="rId3"/>
          <a:stretch>
            <a:fillRect/>
          </a:stretch>
        </p:blipFill>
        <p:spPr>
          <a:xfrm>
            <a:off x="6523695" y="3588471"/>
            <a:ext cx="266273" cy="266273"/>
          </a:xfrm>
          <a:prstGeom prst="rect">
            <a:avLst/>
          </a:prstGeom>
        </p:spPr>
      </p:pic>
      <p:sp>
        <p:nvSpPr>
          <p:cNvPr id="21" name="TextBox 20"/>
          <p:cNvSpPr txBox="1"/>
          <p:nvPr/>
        </p:nvSpPr>
        <p:spPr>
          <a:xfrm>
            <a:off x="7040880"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Stable version never left production (200 throughout)</a:t>
            </a:r>
          </a:p>
        </p:txBody>
      </p:sp>
      <p:sp>
        <p:nvSpPr>
          <p:cNvPr id="22" name="Rounded Rectangle 21"/>
          <p:cNvSpPr/>
          <p:nvPr/>
        </p:nvSpPr>
        <p:spPr>
          <a:xfrm>
            <a:off x="841248"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7552"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_white.png"/>
          <p:cNvPicPr>
            <a:picLocks noChangeAspect="1"/>
          </p:cNvPicPr>
          <p:nvPr/>
        </p:nvPicPr>
        <p:blipFill>
          <a:blip r:embed="rId3"/>
          <a:stretch>
            <a:fillRect/>
          </a:stretch>
        </p:blipFill>
        <p:spPr>
          <a:xfrm>
            <a:off x="1110447" y="4521159"/>
            <a:ext cx="266273" cy="266273"/>
          </a:xfrm>
          <a:prstGeom prst="rect">
            <a:avLst/>
          </a:prstGeom>
        </p:spPr>
      </p:pic>
      <p:sp>
        <p:nvSpPr>
          <p:cNvPr id="25" name="TextBox 24"/>
          <p:cNvSpPr txBox="1"/>
          <p:nvPr/>
        </p:nvSpPr>
        <p:spPr>
          <a:xfrm>
            <a:off x="1627632"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Read the AnalysisRun like an incident</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M11 · GITOPS AT SCALE &amp; PROGRESSIVE DELIVERY</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Canary or blue-green — pick the shape</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87552"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white.png"/>
          <p:cNvPicPr>
            <a:picLocks noChangeAspect="1"/>
          </p:cNvPicPr>
          <p:nvPr/>
        </p:nvPicPr>
        <p:blipFill>
          <a:blip r:embed="rId3"/>
          <a:stretch>
            <a:fillRect/>
          </a:stretch>
        </p:blipFill>
        <p:spPr>
          <a:xfrm>
            <a:off x="1110447" y="2655783"/>
            <a:ext cx="266273" cy="266273"/>
          </a:xfrm>
          <a:prstGeom prst="rect">
            <a:avLst/>
          </a:prstGeom>
        </p:spPr>
      </p:pic>
      <p:sp>
        <p:nvSpPr>
          <p:cNvPr id="9" name="TextBox 8"/>
          <p:cNvSpPr txBox="1"/>
          <p:nvPr/>
        </p:nvSpPr>
        <p:spPr>
          <a:xfrm>
            <a:off x="1627632"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Canary: gradual slice, analysis-gated, small extra capacity</a:t>
            </a:r>
          </a:p>
        </p:txBody>
      </p:sp>
      <p:sp>
        <p:nvSpPr>
          <p:cNvPr id="10" name="Rounded Rectangle 9"/>
          <p:cNvSpPr/>
          <p:nvPr/>
        </p:nvSpPr>
        <p:spPr>
          <a:xfrm>
            <a:off x="6254496"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0"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white.png"/>
          <p:cNvPicPr>
            <a:picLocks noChangeAspect="1"/>
          </p:cNvPicPr>
          <p:nvPr/>
        </p:nvPicPr>
        <p:blipFill>
          <a:blip r:embed="rId3"/>
          <a:stretch>
            <a:fillRect/>
          </a:stretch>
        </p:blipFill>
        <p:spPr>
          <a:xfrm>
            <a:off x="6523695" y="2655783"/>
            <a:ext cx="266273" cy="266273"/>
          </a:xfrm>
          <a:prstGeom prst="rect">
            <a:avLst/>
          </a:prstGeom>
        </p:spPr>
      </p:pic>
      <p:sp>
        <p:nvSpPr>
          <p:cNvPr id="13" name="TextBox 12"/>
          <p:cNvSpPr txBox="1"/>
          <p:nvPr/>
        </p:nvSpPr>
        <p:spPr>
          <a:xfrm>
            <a:off x="7040880"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Blue-green: two full copies, instant cutover, manual gate</a:t>
            </a:r>
          </a:p>
        </p:txBody>
      </p:sp>
      <p:sp>
        <p:nvSpPr>
          <p:cNvPr id="14" name="Rounded Rectangle 13"/>
          <p:cNvSpPr/>
          <p:nvPr/>
        </p:nvSpPr>
        <p:spPr>
          <a:xfrm>
            <a:off x="841248"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7552"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white.png"/>
          <p:cNvPicPr>
            <a:picLocks noChangeAspect="1"/>
          </p:cNvPicPr>
          <p:nvPr/>
        </p:nvPicPr>
        <p:blipFill>
          <a:blip r:embed="rId3"/>
          <a:stretch>
            <a:fillRect/>
          </a:stretch>
        </p:blipFill>
        <p:spPr>
          <a:xfrm>
            <a:off x="1110447" y="3588471"/>
            <a:ext cx="266273" cy="266273"/>
          </a:xfrm>
          <a:prstGeom prst="rect">
            <a:avLst/>
          </a:prstGeom>
        </p:spPr>
      </p:pic>
      <p:sp>
        <p:nvSpPr>
          <p:cNvPr id="17" name="TextBox 16"/>
          <p:cNvSpPr txBox="1"/>
          <p:nvPr/>
        </p:nvSpPr>
        <p:spPr>
          <a:xfrm>
            <a:off x="1627632"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Canary limits blast radius, measures mid-rollout</a:t>
            </a:r>
          </a:p>
        </p:txBody>
      </p:sp>
      <p:sp>
        <p:nvSpPr>
          <p:cNvPr id="18" name="Rounded Rectangle 17"/>
          <p:cNvSpPr/>
          <p:nvPr/>
        </p:nvSpPr>
        <p:spPr>
          <a:xfrm>
            <a:off x="6254496"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white.png"/>
          <p:cNvPicPr>
            <a:picLocks noChangeAspect="1"/>
          </p:cNvPicPr>
          <p:nvPr/>
        </p:nvPicPr>
        <p:blipFill>
          <a:blip r:embed="rId3"/>
          <a:stretch>
            <a:fillRect/>
          </a:stretch>
        </p:blipFill>
        <p:spPr>
          <a:xfrm>
            <a:off x="6523695" y="3588471"/>
            <a:ext cx="266273" cy="266273"/>
          </a:xfrm>
          <a:prstGeom prst="rect">
            <a:avLst/>
          </a:prstGeom>
        </p:spPr>
      </p:pic>
      <p:sp>
        <p:nvSpPr>
          <p:cNvPr id="21" name="TextBox 20"/>
          <p:cNvSpPr txBox="1"/>
          <p:nvPr/>
        </p:nvSpPr>
        <p:spPr>
          <a:xfrm>
            <a:off x="7040880"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Blue-green: clean switch after a preview pre-flight</a:t>
            </a:r>
          </a:p>
        </p:txBody>
      </p:sp>
      <p:sp>
        <p:nvSpPr>
          <p:cNvPr id="22" name="Rounded Rectangle 21"/>
          <p:cNvSpPr/>
          <p:nvPr/>
        </p:nvSpPr>
        <p:spPr>
          <a:xfrm>
            <a:off x="841248"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7552"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_white.png"/>
          <p:cNvPicPr>
            <a:picLocks noChangeAspect="1"/>
          </p:cNvPicPr>
          <p:nvPr/>
        </p:nvPicPr>
        <p:blipFill>
          <a:blip r:embed="rId3"/>
          <a:stretch>
            <a:fillRect/>
          </a:stretch>
        </p:blipFill>
        <p:spPr>
          <a:xfrm>
            <a:off x="1110447" y="4521159"/>
            <a:ext cx="266273" cy="266273"/>
          </a:xfrm>
          <a:prstGeom prst="rect">
            <a:avLst/>
          </a:prstGeom>
        </p:spPr>
      </p:pic>
      <p:sp>
        <p:nvSpPr>
          <p:cNvPr id="25" name="TextBox 24"/>
          <p:cNvSpPr txBox="1"/>
          <p:nvPr/>
        </p:nvSpPr>
        <p:spPr>
          <a:xfrm>
            <a:off x="1627632"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Mesh / serverless shift traffic other ways (other modules)</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M11 · GITOPS AT SCALE &amp; PROGRESSIVE DELIVERY</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Map to your org — and when not</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87552"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white.png"/>
          <p:cNvPicPr>
            <a:picLocks noChangeAspect="1"/>
          </p:cNvPicPr>
          <p:nvPr/>
        </p:nvPicPr>
        <p:blipFill>
          <a:blip r:embed="rId3"/>
          <a:stretch>
            <a:fillRect/>
          </a:stretch>
        </p:blipFill>
        <p:spPr>
          <a:xfrm>
            <a:off x="1110447" y="2655783"/>
            <a:ext cx="266273" cy="266273"/>
          </a:xfrm>
          <a:prstGeom prst="rect">
            <a:avLst/>
          </a:prstGeom>
        </p:spPr>
      </p:pic>
      <p:sp>
        <p:nvSpPr>
          <p:cNvPr id="9" name="TextBox 8"/>
          <p:cNvSpPr txBox="1"/>
          <p:nvPr/>
        </p:nvSpPr>
        <p:spPr>
          <a:xfrm>
            <a:off x="1627632"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Onboarding a service = one line, not N files</a:t>
            </a:r>
          </a:p>
        </p:txBody>
      </p:sp>
      <p:sp>
        <p:nvSpPr>
          <p:cNvPr id="10" name="Rounded Rectangle 9"/>
          <p:cNvSpPr/>
          <p:nvPr/>
        </p:nvSpPr>
        <p:spPr>
          <a:xfrm>
            <a:off x="6254496"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0"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white.png"/>
          <p:cNvPicPr>
            <a:picLocks noChangeAspect="1"/>
          </p:cNvPicPr>
          <p:nvPr/>
        </p:nvPicPr>
        <p:blipFill>
          <a:blip r:embed="rId3"/>
          <a:stretch>
            <a:fillRect/>
          </a:stretch>
        </p:blipFill>
        <p:spPr>
          <a:xfrm>
            <a:off x="6523695" y="2655783"/>
            <a:ext cx="266273" cy="266273"/>
          </a:xfrm>
          <a:prstGeom prst="rect">
            <a:avLst/>
          </a:prstGeom>
        </p:spPr>
      </p:pic>
      <p:sp>
        <p:nvSpPr>
          <p:cNvPr id="13" name="TextBox 12"/>
          <p:cNvSpPr txBox="1"/>
          <p:nvPr/>
        </p:nvSpPr>
        <p:spPr>
          <a:xfrm>
            <a:off x="7040880"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Release risk: from "hope" to "measured"</a:t>
            </a:r>
          </a:p>
        </p:txBody>
      </p:sp>
      <p:sp>
        <p:nvSpPr>
          <p:cNvPr id="14" name="Rounded Rectangle 13"/>
          <p:cNvSpPr/>
          <p:nvPr/>
        </p:nvSpPr>
        <p:spPr>
          <a:xfrm>
            <a:off x="841248"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7552"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white.png"/>
          <p:cNvPicPr>
            <a:picLocks noChangeAspect="1"/>
          </p:cNvPicPr>
          <p:nvPr/>
        </p:nvPicPr>
        <p:blipFill>
          <a:blip r:embed="rId3"/>
          <a:stretch>
            <a:fillRect/>
          </a:stretch>
        </p:blipFill>
        <p:spPr>
          <a:xfrm>
            <a:off x="1110447" y="3588471"/>
            <a:ext cx="266273" cy="266273"/>
          </a:xfrm>
          <a:prstGeom prst="rect">
            <a:avLst/>
          </a:prstGeom>
        </p:spPr>
      </p:pic>
      <p:sp>
        <p:nvSpPr>
          <p:cNvPr id="17" name="TextBox 16"/>
          <p:cNvSpPr txBox="1"/>
          <p:nvPr/>
        </p:nvSpPr>
        <p:spPr>
          <a:xfrm>
            <a:off x="1627632"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Migration ordering: structural, not tribal</a:t>
            </a:r>
          </a:p>
        </p:txBody>
      </p:sp>
      <p:sp>
        <p:nvSpPr>
          <p:cNvPr id="18" name="Rounded Rectangle 17"/>
          <p:cNvSpPr/>
          <p:nvPr/>
        </p:nvSpPr>
        <p:spPr>
          <a:xfrm>
            <a:off x="6254496"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white.png"/>
          <p:cNvPicPr>
            <a:picLocks noChangeAspect="1"/>
          </p:cNvPicPr>
          <p:nvPr/>
        </p:nvPicPr>
        <p:blipFill>
          <a:blip r:embed="rId3"/>
          <a:stretch>
            <a:fillRect/>
          </a:stretch>
        </p:blipFill>
        <p:spPr>
          <a:xfrm>
            <a:off x="6523695" y="3588471"/>
            <a:ext cx="266273" cy="266273"/>
          </a:xfrm>
          <a:prstGeom prst="rect">
            <a:avLst/>
          </a:prstGeom>
        </p:spPr>
      </p:pic>
      <p:sp>
        <p:nvSpPr>
          <p:cNvPr id="21" name="TextBox 20"/>
          <p:cNvSpPr txBox="1"/>
          <p:nvPr/>
        </p:nvSpPr>
        <p:spPr>
          <a:xfrm>
            <a:off x="7040880"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Don't canary changes analysis can't judge</a:t>
            </a:r>
          </a:p>
        </p:txBody>
      </p:sp>
      <p:sp>
        <p:nvSpPr>
          <p:cNvPr id="22" name="Rounded Rectangle 21"/>
          <p:cNvSpPr/>
          <p:nvPr/>
        </p:nvSpPr>
        <p:spPr>
          <a:xfrm>
            <a:off x="841248"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7552"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_white.png"/>
          <p:cNvPicPr>
            <a:picLocks noChangeAspect="1"/>
          </p:cNvPicPr>
          <p:nvPr/>
        </p:nvPicPr>
        <p:blipFill>
          <a:blip r:embed="rId3"/>
          <a:stretch>
            <a:fillRect/>
          </a:stretch>
        </p:blipFill>
        <p:spPr>
          <a:xfrm>
            <a:off x="1110447" y="4521159"/>
            <a:ext cx="266273" cy="266273"/>
          </a:xfrm>
          <a:prstGeom prst="rect">
            <a:avLst/>
          </a:prstGeom>
        </p:spPr>
      </p:pic>
      <p:sp>
        <p:nvSpPr>
          <p:cNvPr id="25" name="TextBox 24"/>
          <p:cNvSpPr txBox="1"/>
          <p:nvPr/>
        </p:nvSpPr>
        <p:spPr>
          <a:xfrm>
            <a:off x="1627632"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Blue-green costs double capacity; pod-ratio ≠ exact %</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M11 · GITOPS AT SCALE &amp; PROGRESSIVE DELIVERY</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Appset</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31720"/>
            <a:ext cx="10509199" cy="3794760"/>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01-appset.png"/>
          <p:cNvPicPr>
            <a:picLocks noChangeAspect="1"/>
          </p:cNvPicPr>
          <p:nvPr/>
        </p:nvPicPr>
        <p:blipFill>
          <a:blip r:embed="rId3"/>
          <a:stretch>
            <a:fillRect/>
          </a:stretch>
        </p:blipFill>
        <p:spPr>
          <a:xfrm>
            <a:off x="1042416" y="2877307"/>
            <a:ext cx="10106863" cy="2703585"/>
          </a:xfrm>
          <a:prstGeom prst="rect">
            <a:avLst/>
          </a:prstGeom>
        </p:spPr>
      </p:pic>
      <p:cxnSp>
        <p:nvCxnSpPr>
          <p:cNvPr id="8" name="Connector 7"/>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10" name="TextBox 9"/>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M11 · GITOPS AT SCALE &amp; PROGRESSIVE DELIVERY</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Sync waves</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31720"/>
            <a:ext cx="10509199" cy="3794760"/>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02-sync-waves.png"/>
          <p:cNvPicPr>
            <a:picLocks noChangeAspect="1"/>
          </p:cNvPicPr>
          <p:nvPr/>
        </p:nvPicPr>
        <p:blipFill>
          <a:blip r:embed="rId3"/>
          <a:stretch>
            <a:fillRect/>
          </a:stretch>
        </p:blipFill>
        <p:spPr>
          <a:xfrm>
            <a:off x="1042416" y="3625846"/>
            <a:ext cx="10106863" cy="1206506"/>
          </a:xfrm>
          <a:prstGeom prst="rect">
            <a:avLst/>
          </a:prstGeom>
        </p:spPr>
      </p:pic>
      <p:cxnSp>
        <p:nvCxnSpPr>
          <p:cNvPr id="8" name="Connector 7"/>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10" name="TextBox 9"/>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M11 · GITOPS AT SCALE &amp; PROGRESSIVE DELIVERY</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Canary analysis</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31720"/>
            <a:ext cx="10509199" cy="3794760"/>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03-canary-analysis.png"/>
          <p:cNvPicPr>
            <a:picLocks noChangeAspect="1"/>
          </p:cNvPicPr>
          <p:nvPr/>
        </p:nvPicPr>
        <p:blipFill>
          <a:blip r:embed="rId3"/>
          <a:stretch>
            <a:fillRect/>
          </a:stretch>
        </p:blipFill>
        <p:spPr>
          <a:xfrm>
            <a:off x="1042416" y="3404758"/>
            <a:ext cx="10106863" cy="1648682"/>
          </a:xfrm>
          <a:prstGeom prst="rect">
            <a:avLst/>
          </a:prstGeom>
        </p:spPr>
      </p:pic>
      <p:cxnSp>
        <p:nvCxnSpPr>
          <p:cNvPr id="8" name="Connector 7"/>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10" name="TextBox 9"/>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M11 · GITOPS AT SCALE &amp; PROGRESSIVE DELIVERY</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What you built</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31720"/>
            <a:ext cx="10509199" cy="3794760"/>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05-what-you-built.png"/>
          <p:cNvPicPr>
            <a:picLocks noChangeAspect="1"/>
          </p:cNvPicPr>
          <p:nvPr/>
        </p:nvPicPr>
        <p:blipFill>
          <a:blip r:embed="rId3"/>
          <a:stretch>
            <a:fillRect/>
          </a:stretch>
        </p:blipFill>
        <p:spPr>
          <a:xfrm>
            <a:off x="1079324" y="2532888"/>
            <a:ext cx="10033046" cy="3392424"/>
          </a:xfrm>
          <a:prstGeom prst="rect">
            <a:avLst/>
          </a:prstGeom>
        </p:spPr>
      </p:pic>
      <p:cxnSp>
        <p:nvCxnSpPr>
          <p:cNvPr id="8" name="Connector 7"/>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10" name="TextBox 9"/>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