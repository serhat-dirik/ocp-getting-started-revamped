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cascading-failure story, the classic mesh entry point. Parasol's application is a chain — the web tier calls the claims API, and claims calls a fraud-scoring service before it approves a payout. When one link gets slow, the callers pile up waiting and a single sluggish service cascades into a site-wide outage. Every link needs the same five things: the traffic should be encrypted, you should be able to see it, a bad release should be shiftable without a redeploy, a slow dependency should fail fast, and only the right caller should get through. Without a mesh, every one of those is application code — each team wires TLS, adds a metrics library, writes retry loops, re-implements auth, differently and with different bugs. A service mesh moves all of it out of the app and into a proxy that sits beside each workload. The app keeps making plain HTTP calls; the proxy encrypts, measures, routes, retries, and authorizes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halves, and the split is the whole mental model. The data plane is the fleet of sidecar proxies — one Envoy proxy injected into every meshed pod, with all of the pod's inbound and outbound traffic transparently redirected through it. This is where encryption, routing, retries, and access checks actually happen. On OpenShift Service Mesh 3 the proxy is injected as a native sidecar — a Kubernetes init container with an always-on restart policy, so it starts before your app and shuts down after it, closing the startup and shutdown gaps older sidecars had. The control plane is istiod, in the istio-system namespace: it watches your Kubernetes resources and the mesh custom resources you create, compiles them into proxy configuration, and pushes that config plus a short-lived identity certificate to every sidecar. It is not in the request path — if istiod restarts, traffic keeps flowing on the last config the proxies received. You configure the mesh by creating custom resources — VirtualService, DestinationRule, AuthorizationPolicy, PeerAuthentication — and istiod turns them into proxy behavior. You never edit a proxy directly.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Enrolling a workload — adding one label and letting it restart — buys three things with no application change. First, mutual TLS between meshed workloads: each sidecar gets an identity certificate from istiod encoding a SPIFFE identity of the form spiffe://cluster.local/ns/namespace/sa/serviceaccount, and when two meshed pods talk, their proxies authenticate each other and encrypt the connection automatically. Second, a service graph and golden signals: because every request passes through a proxy, the mesh emits consistent telemetry — rate, errors, latency — for all traffic, without instrumenting the app, and Kiali renders it. Third, a control point: once traffic flows through the proxies, you change its behavior by applying a resource, not by shipping code. One important nuance for OpenShift: a namespace tenant can't label the namespace itself (that's a cluster-scoped edit), so you enroll per workload with the injection label on the pod template — finer-grained anyway. And by default mutual TLS is PERMISSIVE (meshed-to-meshed encrypted, but plaintext from outside still accepted); flipping a PeerAuthentication to STRICT makes the proxy refuse plaintext, which is exactly how you prove the encryption is real.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OpenShift Service Mesh 3 is upstream Istio, packaged and lifecycle-managed by the Sail operator — that's the single biggest change from the 2.x line, and it's the first thing a migrating customer asks about. In 2.x you configured the control plane through a dedicated Red Hat control-plane custom resource and declared mesh membership through a separate member-roll object; those two resources do not exist in 3.x. In 3.x the control plane is upstream Istio's own Istio resource, managed by Sail, and membership is by the discovery and injection labels you use in the lab — standard Istio, the same VirtualService, DestinationRule, Gateway, and AuthorizationPolicy the whole ecosystem uses. The practical migration message: the 2.x control-plane and member-roll CRs are gone, it's upstream Istio now on the Sail operator, so your Istio knowledge transfers directly. On this cluster the control plane reports itself as Istio v1.28.6, read straight off the Istio resource. (The two 2.x resource names are on the workshop's banned-terms list precisely because they're deprecated — never present them as a current path.)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Traffic shifting is two resources. A DestinationRule defines subsets — named pools by label, v1 and v2. A VirtualService is the route — here a 90/10 weighted split, plus a header rule that sends x-parasol-test:true straight to v2 so test users can opt into the new version while everyone else stays on v1. One thing that trips people up: a VirtualService weighted route is applied by the caller's sidecar, so you have to drive the traffic from a meshed workload for the split to apply (an un-meshed client bypasses it and gets even load-balancing). In the lab you send 200 requests from the meshed claims pod and read the actual distribution — about 185 to v1 and 15 to v2, the 90/10 you configured — from the mesh's own istio_requests_total telemetry, broken down by destination version. Why telemetry and not "count the responses"? Because in this lab v1 and v2 run the same image, so their bodies are identical; the routing is completely real, you just read it from the metric (which is also what colors Kiali's versioned graph). A genuinely distinct v2 would let you count responses too.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mesh lets you both simulate failure and configure the defenses. Fault injection adds a delay or an abort to a route so you can test how a caller copes with a slow or failing dependency — in the lab, a 5-second delay on the fraud route, and you watch the caller feel every second of it: that's the cascading-failure trigger. The defenses are a request timeout and retries on the VirtualService, and a circuit breaker on the DestinationRule — outlier detection that ejects a fraud pod after three consecutive 5xx errors for thirty seconds, plus a connection-pool cap so a slow dependency can't exhaust the caller. Now the honest part, and it's a genuinely useful thing to teach: Istio applies fault injection in a filter that runs ahead of the router, so an injected delay (or abort) is not subject to that same route's timeout or retries — you'll set timeout 3s and watch the 5-second fault return a 200 after 5 seconds, not a timeout at 3. Fault injection tests the caller's coping; to see the timeout itself fire you need a genuinely slow upstream. The policy is real and applied (you confirm it in the proxy config); observing it trip live waits on a slower upstream. Don't oversell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strongest beat. The mesh decides who may call whom by workload identity, not network location. Right now, under PERMISSIVE mutual TLS, any meshed workload can reach fraud — you prove it by having the web tier call fraud and get a 200. Then you apply an AuthorizationPolicy on the fraud workload that ALLOWs only the claims identity — sa/parasol-claims, the SPIFFE name you read off the certificate earlier. An ALLOW rule creates an implicit deny for everyone else. Now test three callers: claims (the allowed identity, over mutual TLS) gets a 200; the web tier — a perfectly healthy pod with a different identity — gets 403 RBAC: access denied; and the un-meshed demo-client, with no mesh identity at all, is refused too. That's the difference from a NetworkPolicy: a network policy answers by location ("namespace A may reach namespace B"), while an AuthorizationPolicy answers by cryptographic identity ("only the claims workload, and nothing else, even from the same namespace"). "Only claims may call fraud," enforceable rather than aspirational — and violations are a 403 you can see.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ingress boundary and the transfer. Getting traffic into the mesh is the job of an ingress gateway. The honest boundary worth carrying to a customer: Routes and the newer Gateway API handle HTTP(S) ingress well — for most web traffic you don't need the mesh's gateway. But raw TCP and TLS passthrough by SNI are different: a Route can't route an arbitrary TCP protocol, and on supported OpenShift channels the experimental L4 Gateway API resources (TCPRoute, TLSRoute) aren't available — they were absent on this cluster. So when Parasol's legacy partner bureaus send claim feeds over raw TCP, the Istio ingress Gateway with a TCP or TLS-passthrough listener is the supported path. The decision guide: Gateway API or Routes for HTTP(S); Istio Gateway/VirtualService for raw-TCP and passthrough today. In the optional encore you build exactly that raw-TCP path and add a native gateway rate limit with an EnvoyFilter — hammer it, read the 429s — framed honestly as a platform capability, not a replacement for a full API-management product. Take the questions back to your org: is your east-west traffic provably mutual-TLS encrypted and gated by identity, or just assumed safe because it's "inside the cluster"? Can you canary 10% without a redeploy? Do you have an answer when a partner needs raw TCP?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 diagram: What you built.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5.png"/><Relationship Id="rId4"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841248" y="731520"/>
            <a:ext cx="1554480" cy="367699"/>
          </a:xfrm>
          <a:prstGeom prst="rect">
            <a:avLst/>
          </a:prstGeom>
        </p:spPr>
      </p:pic>
      <p:sp>
        <p:nvSpPr>
          <p:cNvPr id="3" name="TextBox 2"/>
          <p:cNvSpPr txBox="1"/>
          <p:nvPr/>
        </p:nvSpPr>
        <p:spPr>
          <a:xfrm>
            <a:off x="841248" y="2514600"/>
            <a:ext cx="960120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180">
                <a:solidFill>
                  <a:srgbClr val="5B3E8E"/>
                </a:solidFill>
                <a:latin typeface="Red Hat Display"/>
              </a:rPr>
              <a:t>D · ADVANCED ELECTIVES</a:t>
            </a:r>
          </a:p>
        </p:txBody>
      </p:sp>
      <p:sp>
        <p:nvSpPr>
          <p:cNvPr id="4" name="TextBox 3"/>
          <p:cNvSpPr txBox="1"/>
          <p:nvPr/>
        </p:nvSpPr>
        <p:spPr>
          <a:xfrm>
            <a:off x="841248" y="2880360"/>
            <a:ext cx="2103120" cy="1188720"/>
          </a:xfrm>
          <a:prstGeom prst="rect">
            <a:avLst/>
          </a:prstGeom>
          <a:noFill/>
        </p:spPr>
        <p:txBody>
          <a:bodyPr wrap="none" anchor="t" lIns="0" rIns="0" tIns="0" bIns="0">
            <a:spAutoFit/>
          </a:bodyPr>
          <a:lstStyle/>
          <a:p>
            <a:pPr algn="l">
              <a:lnSpc>
                <a:spcPct val="90000"/>
              </a:lnSpc>
              <a:spcBef>
                <a:spcPts val="0"/>
              </a:spcBef>
              <a:spcAft>
                <a:spcPts val="0"/>
              </a:spcAft>
            </a:pPr>
            <a:r>
              <a:rPr sz="5200" b="1">
                <a:solidFill>
                  <a:srgbClr val="B80000"/>
                </a:solidFill>
                <a:latin typeface="Red Hat Display"/>
              </a:rPr>
              <a:t>M19</a:t>
            </a:r>
          </a:p>
        </p:txBody>
      </p:sp>
      <p:sp>
        <p:nvSpPr>
          <p:cNvPr id="5" name="TextBox 4"/>
          <p:cNvSpPr txBox="1"/>
          <p:nvPr/>
        </p:nvSpPr>
        <p:spPr>
          <a:xfrm>
            <a:off x="3127248" y="2971800"/>
            <a:ext cx="8412480" cy="1188720"/>
          </a:xfrm>
          <a:prstGeom prst="rect">
            <a:avLst/>
          </a:prstGeom>
          <a:noFill/>
        </p:spPr>
        <p:txBody>
          <a:bodyPr wrap="square" anchor="t" lIns="0" rIns="0" tIns="0" bIns="0">
            <a:spAutoFit/>
          </a:bodyPr>
          <a:lstStyle/>
          <a:p>
            <a:pPr algn="l">
              <a:lnSpc>
                <a:spcPct val="102000"/>
              </a:lnSpc>
              <a:spcBef>
                <a:spcPts val="0"/>
              </a:spcBef>
              <a:spcAft>
                <a:spcPts val="0"/>
              </a:spcAft>
            </a:pPr>
            <a:r>
              <a:rPr sz="3000" b="1">
                <a:solidFill>
                  <a:srgbClr val="1A1A1A"/>
                </a:solidFill>
                <a:latin typeface="Red Hat Display"/>
              </a:rPr>
              <a:t>Service Mesh 3 &amp; Advanced Gateways</a:t>
            </a:r>
          </a:p>
        </p:txBody>
      </p:sp>
      <p:cxnSp>
        <p:nvCxnSpPr>
          <p:cNvPr id="6" name="Connector 5"/>
          <p:cNvCxnSpPr/>
          <p:nvPr/>
        </p:nvCxnSpPr>
        <p:spPr>
          <a:xfrm>
            <a:off x="841248" y="4443984"/>
            <a:ext cx="1463040" cy="0"/>
          </a:xfrm>
          <a:prstGeom prst="bentConnector3">
            <a:avLst/>
          </a:prstGeom>
          <a:ln w="38100">
            <a:solidFill>
              <a:srgbClr val="EE0000"/>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M19 · SERVICE MESH 3 &amp; ADVANCED GATEWAYS</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One slow service shouldn't take down the</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41248" y="1664208"/>
            <a:ext cx="10515600" cy="365760"/>
          </a:xfrm>
          <a:prstGeom prst="rect">
            <a:avLst/>
          </a:prstGeom>
          <a:noFill/>
        </p:spPr>
        <p:txBody>
          <a:bodyPr wrap="square" anchor="t" lIns="0" rIns="0" tIns="0" bIns="0">
            <a:spAutoFit/>
          </a:bodyPr>
          <a:lstStyle/>
          <a:p>
            <a:pPr algn="l">
              <a:lnSpc>
                <a:spcPct val="106000"/>
              </a:lnSpc>
              <a:spcBef>
                <a:spcPts val="0"/>
              </a:spcBef>
              <a:spcAft>
                <a:spcPts val="0"/>
              </a:spcAft>
            </a:pPr>
            <a:r>
              <a:rPr sz="1350" b="0">
                <a:solidFill>
                  <a:srgbClr val="555960"/>
                </a:solidFill>
                <a:latin typeface="Red Hat Text"/>
              </a:rPr>
              <a:t>site</a:t>
            </a:r>
          </a:p>
        </p:txBody>
      </p:sp>
      <p:sp>
        <p:nvSpPr>
          <p:cNvPr id="7" name="Rounded Rectangle 6"/>
          <p:cNvSpPr/>
          <p:nvPr/>
        </p:nvSpPr>
        <p:spPr>
          <a:xfrm>
            <a:off x="841248" y="267004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87552" y="280720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eck_white.png"/>
          <p:cNvPicPr>
            <a:picLocks noChangeAspect="1"/>
          </p:cNvPicPr>
          <p:nvPr/>
        </p:nvPicPr>
        <p:blipFill>
          <a:blip r:embed="rId3"/>
          <a:stretch>
            <a:fillRect/>
          </a:stretch>
        </p:blipFill>
        <p:spPr>
          <a:xfrm>
            <a:off x="1110447" y="2930103"/>
            <a:ext cx="266273" cy="266273"/>
          </a:xfrm>
          <a:prstGeom prst="rect">
            <a:avLst/>
          </a:prstGeom>
        </p:spPr>
      </p:pic>
      <p:sp>
        <p:nvSpPr>
          <p:cNvPr id="10" name="TextBox 9"/>
          <p:cNvSpPr txBox="1"/>
          <p:nvPr/>
        </p:nvSpPr>
        <p:spPr>
          <a:xfrm>
            <a:off x="1627632" y="267004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Parasol's chain: web → claims → fraud-scoring</a:t>
            </a:r>
          </a:p>
        </p:txBody>
      </p:sp>
      <p:sp>
        <p:nvSpPr>
          <p:cNvPr id="11" name="Rounded Rectangle 10"/>
          <p:cNvSpPr/>
          <p:nvPr/>
        </p:nvSpPr>
        <p:spPr>
          <a:xfrm>
            <a:off x="6254496" y="267004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00800" y="280720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white.png"/>
          <p:cNvPicPr>
            <a:picLocks noChangeAspect="1"/>
          </p:cNvPicPr>
          <p:nvPr/>
        </p:nvPicPr>
        <p:blipFill>
          <a:blip r:embed="rId3"/>
          <a:stretch>
            <a:fillRect/>
          </a:stretch>
        </p:blipFill>
        <p:spPr>
          <a:xfrm>
            <a:off x="6523695" y="2930103"/>
            <a:ext cx="266273" cy="266273"/>
          </a:xfrm>
          <a:prstGeom prst="rect">
            <a:avLst/>
          </a:prstGeom>
        </p:spPr>
      </p:pic>
      <p:sp>
        <p:nvSpPr>
          <p:cNvPr id="14" name="TextBox 13"/>
          <p:cNvSpPr txBox="1"/>
          <p:nvPr/>
        </p:nvSpPr>
        <p:spPr>
          <a:xfrm>
            <a:off x="7040880" y="267004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Fraud hangs → claims threads pile up → web stalls → outage</a:t>
            </a:r>
          </a:p>
        </p:txBody>
      </p:sp>
      <p:sp>
        <p:nvSpPr>
          <p:cNvPr id="15" name="Rounded Rectangle 14"/>
          <p:cNvSpPr/>
          <p:nvPr/>
        </p:nvSpPr>
        <p:spPr>
          <a:xfrm>
            <a:off x="841248" y="360273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87552" y="373989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white.png"/>
          <p:cNvPicPr>
            <a:picLocks noChangeAspect="1"/>
          </p:cNvPicPr>
          <p:nvPr/>
        </p:nvPicPr>
        <p:blipFill>
          <a:blip r:embed="rId3"/>
          <a:stretch>
            <a:fillRect/>
          </a:stretch>
        </p:blipFill>
        <p:spPr>
          <a:xfrm>
            <a:off x="1110447" y="3862791"/>
            <a:ext cx="266273" cy="266273"/>
          </a:xfrm>
          <a:prstGeom prst="rect">
            <a:avLst/>
          </a:prstGeom>
        </p:spPr>
      </p:pic>
      <p:sp>
        <p:nvSpPr>
          <p:cNvPr id="18" name="TextBox 17"/>
          <p:cNvSpPr txBox="1"/>
          <p:nvPr/>
        </p:nvSpPr>
        <p:spPr>
          <a:xfrm>
            <a:off x="1627632" y="360273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Every link needs the same things: encrypt, see, route, retry, authorize</a:t>
            </a:r>
          </a:p>
        </p:txBody>
      </p:sp>
      <p:sp>
        <p:nvSpPr>
          <p:cNvPr id="19" name="Rounded Rectangle 18"/>
          <p:cNvSpPr/>
          <p:nvPr/>
        </p:nvSpPr>
        <p:spPr>
          <a:xfrm>
            <a:off x="6254496" y="360273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400800" y="373989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white.png"/>
          <p:cNvPicPr>
            <a:picLocks noChangeAspect="1"/>
          </p:cNvPicPr>
          <p:nvPr/>
        </p:nvPicPr>
        <p:blipFill>
          <a:blip r:embed="rId3"/>
          <a:stretch>
            <a:fillRect/>
          </a:stretch>
        </p:blipFill>
        <p:spPr>
          <a:xfrm>
            <a:off x="6523695" y="3862791"/>
            <a:ext cx="266273" cy="266273"/>
          </a:xfrm>
          <a:prstGeom prst="rect">
            <a:avLst/>
          </a:prstGeom>
        </p:spPr>
      </p:pic>
      <p:sp>
        <p:nvSpPr>
          <p:cNvPr id="22" name="TextBox 21"/>
          <p:cNvSpPr txBox="1"/>
          <p:nvPr/>
        </p:nvSpPr>
        <p:spPr>
          <a:xfrm>
            <a:off x="7040880" y="360273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Without a mesh, that's app code — per team, per language, per bug</a:t>
            </a:r>
          </a:p>
        </p:txBody>
      </p:sp>
      <p:sp>
        <p:nvSpPr>
          <p:cNvPr id="23" name="Rounded Rectangle 22"/>
          <p:cNvSpPr/>
          <p:nvPr/>
        </p:nvSpPr>
        <p:spPr>
          <a:xfrm>
            <a:off x="841248" y="453542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87552" y="467258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white.png"/>
          <p:cNvPicPr>
            <a:picLocks noChangeAspect="1"/>
          </p:cNvPicPr>
          <p:nvPr/>
        </p:nvPicPr>
        <p:blipFill>
          <a:blip r:embed="rId3"/>
          <a:stretch>
            <a:fillRect/>
          </a:stretch>
        </p:blipFill>
        <p:spPr>
          <a:xfrm>
            <a:off x="1110447" y="4795479"/>
            <a:ext cx="266273" cy="266273"/>
          </a:xfrm>
          <a:prstGeom prst="rect">
            <a:avLst/>
          </a:prstGeom>
        </p:spPr>
      </p:pic>
      <p:sp>
        <p:nvSpPr>
          <p:cNvPr id="26" name="TextBox 25"/>
          <p:cNvSpPr txBox="1"/>
          <p:nvPr/>
        </p:nvSpPr>
        <p:spPr>
          <a:xfrm>
            <a:off x="1627632" y="453542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 mesh moves it into a proxy beside every workload</a:t>
            </a:r>
          </a:p>
        </p:txBody>
      </p:sp>
      <p:cxnSp>
        <p:nvCxnSpPr>
          <p:cNvPr id="27" name="Connector 26"/>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9" name="TextBox 28"/>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M19 · SERVICE MESH 3 &amp; ADVANCED GATEWAYS</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Data plane + control plane</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steel.png"/>
          <p:cNvPicPr>
            <a:picLocks noChangeAspect="1"/>
          </p:cNvPicPr>
          <p:nvPr/>
        </p:nvPicPr>
        <p:blipFill>
          <a:blip r:embed="rId3"/>
          <a:stretch>
            <a:fillRect/>
          </a:stretch>
        </p:blipFill>
        <p:spPr>
          <a:xfrm>
            <a:off x="969264" y="2532888"/>
            <a:ext cx="201168" cy="201168"/>
          </a:xfrm>
          <a:prstGeom prst="rect">
            <a:avLst/>
          </a:prstGeom>
        </p:spPr>
      </p:pic>
      <p:sp>
        <p:nvSpPr>
          <p:cNvPr id="8" name="TextBox 7"/>
          <p:cNvSpPr txBox="1"/>
          <p:nvPr/>
        </p:nvSpPr>
        <p:spPr>
          <a:xfrm>
            <a:off x="1280160" y="239572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Data plane: a sidecar proxy (Envoy) injected into every meshed pod</a:t>
            </a:r>
          </a:p>
        </p:txBody>
      </p:sp>
      <p:sp>
        <p:nvSpPr>
          <p:cNvPr id="9" name="Rounded Rectangle 8"/>
          <p:cNvSpPr/>
          <p:nvPr/>
        </p:nvSpPr>
        <p:spPr>
          <a:xfrm>
            <a:off x="841248" y="294436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eck_steel.png"/>
          <p:cNvPicPr>
            <a:picLocks noChangeAspect="1"/>
          </p:cNvPicPr>
          <p:nvPr/>
        </p:nvPicPr>
        <p:blipFill>
          <a:blip r:embed="rId3"/>
          <a:stretch>
            <a:fillRect/>
          </a:stretch>
        </p:blipFill>
        <p:spPr>
          <a:xfrm>
            <a:off x="969264" y="3081528"/>
            <a:ext cx="201168" cy="201168"/>
          </a:xfrm>
          <a:prstGeom prst="rect">
            <a:avLst/>
          </a:prstGeom>
        </p:spPr>
      </p:pic>
      <p:sp>
        <p:nvSpPr>
          <p:cNvPr id="11" name="TextBox 10"/>
          <p:cNvSpPr txBox="1"/>
          <p:nvPr/>
        </p:nvSpPr>
        <p:spPr>
          <a:xfrm>
            <a:off x="1280160" y="294436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All pod traffic transparently redirected through its proxy</a:t>
            </a:r>
          </a:p>
        </p:txBody>
      </p:sp>
      <p:sp>
        <p:nvSpPr>
          <p:cNvPr id="12" name="Rounded Rectangle 11"/>
          <p:cNvSpPr/>
          <p:nvPr/>
        </p:nvSpPr>
        <p:spPr>
          <a:xfrm>
            <a:off x="841248" y="349300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steel.png"/>
          <p:cNvPicPr>
            <a:picLocks noChangeAspect="1"/>
          </p:cNvPicPr>
          <p:nvPr/>
        </p:nvPicPr>
        <p:blipFill>
          <a:blip r:embed="rId3"/>
          <a:stretch>
            <a:fillRect/>
          </a:stretch>
        </p:blipFill>
        <p:spPr>
          <a:xfrm>
            <a:off x="969264" y="3630168"/>
            <a:ext cx="201168" cy="201168"/>
          </a:xfrm>
          <a:prstGeom prst="rect">
            <a:avLst/>
          </a:prstGeom>
        </p:spPr>
      </p:pic>
      <p:sp>
        <p:nvSpPr>
          <p:cNvPr id="14" name="TextBox 13"/>
          <p:cNvSpPr txBox="1"/>
          <p:nvPr/>
        </p:nvSpPr>
        <p:spPr>
          <a:xfrm>
            <a:off x="1280160" y="349300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Control plane: istiod — compiles your CRs, pushes config + identity certs</a:t>
            </a:r>
          </a:p>
        </p:txBody>
      </p:sp>
      <p:sp>
        <p:nvSpPr>
          <p:cNvPr id="15" name="Rounded Rectangle 14"/>
          <p:cNvSpPr/>
          <p:nvPr/>
        </p:nvSpPr>
        <p:spPr>
          <a:xfrm>
            <a:off x="841248" y="404164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steel.png"/>
          <p:cNvPicPr>
            <a:picLocks noChangeAspect="1"/>
          </p:cNvPicPr>
          <p:nvPr/>
        </p:nvPicPr>
        <p:blipFill>
          <a:blip r:embed="rId3"/>
          <a:stretch>
            <a:fillRect/>
          </a:stretch>
        </p:blipFill>
        <p:spPr>
          <a:xfrm>
            <a:off x="969264" y="4178807"/>
            <a:ext cx="201168" cy="201168"/>
          </a:xfrm>
          <a:prstGeom prst="rect">
            <a:avLst/>
          </a:prstGeom>
        </p:spPr>
      </p:pic>
      <p:sp>
        <p:nvSpPr>
          <p:cNvPr id="17" name="TextBox 16"/>
          <p:cNvSpPr txBox="1"/>
          <p:nvPr/>
        </p:nvSpPr>
        <p:spPr>
          <a:xfrm>
            <a:off x="1280160" y="404164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istiod is NOT in the request path (traffic survives its restart)</a:t>
            </a:r>
          </a:p>
        </p:txBody>
      </p:sp>
      <p:sp>
        <p:nvSpPr>
          <p:cNvPr id="18" name="Rounded Rectangle 17"/>
          <p:cNvSpPr/>
          <p:nvPr/>
        </p:nvSpPr>
        <p:spPr>
          <a:xfrm>
            <a:off x="841248" y="459028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heck_steel.png"/>
          <p:cNvPicPr>
            <a:picLocks noChangeAspect="1"/>
          </p:cNvPicPr>
          <p:nvPr/>
        </p:nvPicPr>
        <p:blipFill>
          <a:blip r:embed="rId3"/>
          <a:stretch>
            <a:fillRect/>
          </a:stretch>
        </p:blipFill>
        <p:spPr>
          <a:xfrm>
            <a:off x="969264" y="4727447"/>
            <a:ext cx="201168" cy="201168"/>
          </a:xfrm>
          <a:prstGeom prst="rect">
            <a:avLst/>
          </a:prstGeom>
        </p:spPr>
      </p:pic>
      <p:sp>
        <p:nvSpPr>
          <p:cNvPr id="20" name="TextBox 19"/>
          <p:cNvSpPr txBox="1"/>
          <p:nvPr/>
        </p:nvSpPr>
        <p:spPr>
          <a:xfrm>
            <a:off x="1280160" y="459028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OSSM3 injects a NATIVE sidecar: an always-on init container</a:t>
            </a:r>
          </a:p>
        </p:txBody>
      </p:sp>
      <p:sp>
        <p:nvSpPr>
          <p:cNvPr id="21" name="Rounded Rectangle 20"/>
          <p:cNvSpPr/>
          <p:nvPr/>
        </p:nvSpPr>
        <p:spPr>
          <a:xfrm>
            <a:off x="5385816" y="2685140"/>
            <a:ext cx="5964631" cy="2164375"/>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01-mesh-architecture.png"/>
          <p:cNvPicPr>
            <a:picLocks noChangeAspect="1"/>
          </p:cNvPicPr>
          <p:nvPr/>
        </p:nvPicPr>
        <p:blipFill>
          <a:blip r:embed="rId4"/>
          <a:stretch>
            <a:fillRect/>
          </a:stretch>
        </p:blipFill>
        <p:spPr>
          <a:xfrm>
            <a:off x="5532120" y="2831444"/>
            <a:ext cx="5672023" cy="1871767"/>
          </a:xfrm>
          <a:prstGeom prst="rect">
            <a:avLst/>
          </a:prstGeom>
        </p:spPr>
      </p:pic>
      <p:cxnSp>
        <p:nvCxnSpPr>
          <p:cNvPr id="23" name="Connector 22"/>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5" name="TextBox 24"/>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M19 · SERVICE MESH 3 &amp; ADVANCED GATEWAYS</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Enroll once, get three things free</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Add one label (`sidecar.istio.io/inject: "true"`) → proxy appears</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Namespace tenant enrolls PER WORKLOAD (namespace label = cluster-admin)</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Mutual TLS between meshed workloads — automatic, identity-bound (SPIFFE)</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 live service graph + golden signals — no app instrumentation</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 control point: route/secure/slow/retry by applying a resource</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M19 · SERVICE MESH 3 &amp; ADVANCED GATEWAYS</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OSSM 3 is upstream Istio — the 2.x question</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Service Mesh 3 = upstream Istio, managed by the Sail operator</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The 2.x control-plane and member-roll CRs are GONE</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3.x: the standard `Istio` CR + discovery/injection labels</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Migration message: "your Istio knowledge transfers directly"</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On this cluster: Istio v1.28.6, reported by the `Istio` resource</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M19 · SERVICE MESH 3 &amp; ADVANCED GATEWAYS</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Shift traffic between versions</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DestinationRule = named subsets (v1, v2 pools)</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VirtualService = the route: 90/10 weighted split + header rule</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`x-parasol-test: true` → straight to v2 (pin test users)</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Routing follows the CALLER's sidecar (drive from a meshed pod)</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Read the split from mesh telemetry (identical bodies here)</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M19 · SERVICE MESH 3 &amp; ADVANCED GATEWAYS</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Resilience — and the honest limits</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Fault injection: simulate a slow/failing dependency</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Timeout + retries (VirtualService), circuit breaker (DestinationRule)</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Circuit breaker = eject a pod after N 5xx + cap connections</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Honest: Istio injects faults AHEAD of the router</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So an injected delay isn't clipped by that route's timeout</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M19 · SERVICE MESH 3 &amp; ADVANCED GATEWAYS</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Lock the call path to identity</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Under PERMISSIVE, any meshed workload can call fraud</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AuthorizationPolicy: ALLOW only `sa/parasol-claims`</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ALLOW list → implicit deny for everyone else</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Result: claims 200 · web tier 403 · un-meshed client 403</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Not by IP, not by namespace — by cryptographic identity</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M19 · SERVICE MESH 3 &amp; ADVANCED GATEWAYS</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The honest L4 boundary — and what you'll do</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Routes / Gateway API: great for HTTP(S) ingress</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Raw TCP + TLS passthrough: Istio Gateway/VirtualService (today)</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Experimental L4 Gateway API (TCPRoute/TLSRoute): not available here</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Encore: serve a raw-TCP partner feed + EnvoyFilter rate limit (429)</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Map to org: is your east-west traffic provably encrypted and identity-gated?</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M19 · SERVICE MESH 3 &amp; ADVANCED GATEWAYS</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What you built</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31720"/>
            <a:ext cx="10509199" cy="3794760"/>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3-what-you-built.png"/>
          <p:cNvPicPr>
            <a:picLocks noChangeAspect="1"/>
          </p:cNvPicPr>
          <p:nvPr/>
        </p:nvPicPr>
        <p:blipFill>
          <a:blip r:embed="rId3"/>
          <a:stretch>
            <a:fillRect/>
          </a:stretch>
        </p:blipFill>
        <p:spPr>
          <a:xfrm>
            <a:off x="3230019" y="2532888"/>
            <a:ext cx="5731656" cy="3392424"/>
          </a:xfrm>
          <a:prstGeom prst="rect">
            <a:avLst/>
          </a:prstGeom>
        </p:spPr>
      </p:pic>
      <p:cxnSp>
        <p:nvCxnSpPr>
          <p:cNvPr id="8" name="Connector 7"/>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10" name="TextBox 9"/>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