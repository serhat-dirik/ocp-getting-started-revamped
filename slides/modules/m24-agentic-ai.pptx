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temptation and why it fails. The easy move is to send the question straight to a model — "what is the status of claim CLM-1004?" It fails for structural reasons. The model has never seen claim CLM-1004; it lives in Parasol's claims system, not the training set, so the model guesses — a fluent, plausible, wrong answer. That is hallucination, and for a claim or a payout it is worse than useless. Even if the claim were in the training data, it was Submitted last week and Approved today — a model is a snapshot, your systems are live. And "just paste it into the prompt" does not scale past a demo — real Parasol has millions of claims. An agent solves all three the same way: it calls tools. The model does the language; your systems provide the 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not a model and not magic — it is four parts working together. The model is the reasoning engine; on this workshop it is served over an OpenAI-compatible Models-as-a-Service endpoint, and the agent is model-agnostic — the same code runs against any served model, only an environment value changes. The instructions are the system prompt that sets the agent's job and rules: use your tools instead of guessing, never invent claim details, cite the policy id you relied on — this is where you encode behaviour, and it is ordinary text you can read and change. The tools are the functions the model may call — the two MCP servers, claims-db and policy-docs — and they are the whole point, because they are how the agent touches your world. Memory is where the multi-step tool conversation is held; Parasol's agent uses a fresh per-request memory, which with temperature 0 keeps answers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idea in the module: the tools an agent calls are just your services, behind a small standard adapter. MCP — the Model Context Protocol — is that standard. An MCP server advertises a set of tools: a name, the arguments, and what it returns; an MCP client, here the agent, discovers them and lets the model call them. Parasol wraps its claims data and policy search as two MCP servers. Three things follow. A tool is a contract, not a model concern — get_claim returns one grounded sentence, and the model neither knows nor cares whether that came from H2, PostgreSQL, or a mainframe. Tools are ordinary services on the platform — claims-db and policy-docs are plain Deployments with health probes and metrics, exactly like any microservice, so giving the agent a new capability means deploying a service and registering a tool, not retraining a model. And the same tool serves any MCP-capable client — the claims-db server here is reused unchanged in AI-Assisted Development by a coding assistant. Write the tool once; every agent uses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policy-docs is a RAG tool — Retrieval-Augmented Generation means retrieve the few relevant documents and let the model generate its answer from those passages, not from memory. When a staffer asks about the auto deductible, the agent calls search_policies, gets the POL-AUTO-01 passage, and answers from it — 500 USD, cited to POL-AUTO-01. The citation is the tell: a grounded answer can point at its source. Be honest about RAG: it helps when the answer is written down and the query can find it; it fails when retrieval fails, because grounding is only as good as the retrieval; and it is not a database query — RAG finds relevant text, structured tools compute facts, and a good agent uses both. Then the part most demos hide: the model decides whether to call a tool, and how you ask changes that decision. The same claim, asked tersely, made this model print the tool call as text and ground nothing; asked imperatively, it executed the tool and grounded. The lesson is not that the model is broken — it is that grounding is something you engineer, through the system prompt and clear phrasing. When you see a grounded answer, someone made it ground.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that reads live claims can also leak them or be steered into answering something it should not. You do not want that protection scattered through every agent's code — you want it as a platform layer the request passes through, like a mesh handling TLS. On Red Hat OpenShift AI that layer is the TrustyAI FMS Guardrails Orchestrator, generally available; its GPU-free option is a regex-detector sidecar that scans inputs and outputs for patterns like Social Security and credit-card numbers and blocks or masks them before they reach or leave the model. Guardrails are not deployed on this cluster — they are the ADD-ON layer, and the point is where the responsibility lives. Step back and see the stack: the graded path you build — Models-as-a-Service, Quarkus LangChain4j, deterministic RAG — is deliberately the simplest thing that teaches the ideas. Above it sit additive ADD-ON layers: in-cluster model serving, a Llama Stack agent runtime, a vector database for RAG at scale, and guardrails. Each slots in behind an interface the agent already uses, so you adopt them when the need is real, not on day one. That restraint is the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lab you drive the live agent and watch it call get_claim and search_policies to ground its answers, citing the policy it used. You see the honest edges that earn trust — an unknown claim answered "not found" instead of invented, and the terse question that prints the tool call as text without running it. You observe the agent — each answer reports its tokens and which tools it called, and Prometheus exposes GenAI token metrics per model. And you confirm the punchline: strip away the word AI and the agent is a Quarkus Deployment with a Service, an edge Route, and health probes — the readiness probe even pings both MCP servers, so a Ready agent has proven its tool wiring — shipped through the same golden path as every other app. Close on honesty about when not to use this: when a plain API call will do, don't add a model; don't RAG what fits in the prompt; and never put an agent on regulated data without the guardrail layer. The model is new; the disciplines are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diagram: Agent recap.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M24</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Agentic AI on OpenShift</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model alone is confidently wrong about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YOUR data</a:t>
            </a:r>
          </a:p>
        </p:txBody>
      </p:sp>
      <p:sp>
        <p:nvSpPr>
          <p:cNvPr id="7" name="Rounded Rectangle 6"/>
          <p:cNvSpPr/>
          <p:nvPr/>
        </p:nvSpPr>
        <p:spPr>
          <a:xfrm>
            <a:off x="841248"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87552"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hite.png"/>
          <p:cNvPicPr>
            <a:picLocks noChangeAspect="1"/>
          </p:cNvPicPr>
          <p:nvPr/>
        </p:nvPicPr>
        <p:blipFill>
          <a:blip r:embed="rId3"/>
          <a:stretch>
            <a:fillRect/>
          </a:stretch>
        </p:blipFill>
        <p:spPr>
          <a:xfrm>
            <a:off x="1110447" y="2930103"/>
            <a:ext cx="266273" cy="266273"/>
          </a:xfrm>
          <a:prstGeom prst="rect">
            <a:avLst/>
          </a:prstGeom>
        </p:spPr>
      </p:pic>
      <p:sp>
        <p:nvSpPr>
          <p:cNvPr id="10" name="TextBox 9"/>
          <p:cNvSpPr txBox="1"/>
          <p:nvPr/>
        </p:nvSpPr>
        <p:spPr>
          <a:xfrm>
            <a:off x="1627632"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Staff ask all day: "status of this claim?" · "what does our policy say?"</a:t>
            </a:r>
          </a:p>
        </p:txBody>
      </p:sp>
      <p:sp>
        <p:nvSpPr>
          <p:cNvPr id="11" name="Rounded Rectangle 10"/>
          <p:cNvSpPr/>
          <p:nvPr/>
        </p:nvSpPr>
        <p:spPr>
          <a:xfrm>
            <a:off x="6254496" y="267004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280720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hite.png"/>
          <p:cNvPicPr>
            <a:picLocks noChangeAspect="1"/>
          </p:cNvPicPr>
          <p:nvPr/>
        </p:nvPicPr>
        <p:blipFill>
          <a:blip r:embed="rId3"/>
          <a:stretch>
            <a:fillRect/>
          </a:stretch>
        </p:blipFill>
        <p:spPr>
          <a:xfrm>
            <a:off x="6523695" y="2930103"/>
            <a:ext cx="266273" cy="266273"/>
          </a:xfrm>
          <a:prstGeom prst="rect">
            <a:avLst/>
          </a:prstGeom>
        </p:spPr>
      </p:pic>
      <p:sp>
        <p:nvSpPr>
          <p:cNvPr id="14" name="TextBox 13"/>
          <p:cNvSpPr txBox="1"/>
          <p:nvPr/>
        </p:nvSpPr>
        <p:spPr>
          <a:xfrm>
            <a:off x="7040880" y="267004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 model has never seen claim CLM-1004 — asked directly, it INVENTS a status</a:t>
            </a:r>
          </a:p>
        </p:txBody>
      </p:sp>
      <p:sp>
        <p:nvSpPr>
          <p:cNvPr id="15" name="Rounded Rectangle 14"/>
          <p:cNvSpPr/>
          <p:nvPr/>
        </p:nvSpPr>
        <p:spPr>
          <a:xfrm>
            <a:off x="841248"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hite.png"/>
          <p:cNvPicPr>
            <a:picLocks noChangeAspect="1"/>
          </p:cNvPicPr>
          <p:nvPr/>
        </p:nvPicPr>
        <p:blipFill>
          <a:blip r:embed="rId3"/>
          <a:stretch>
            <a:fillRect/>
          </a:stretch>
        </p:blipFill>
        <p:spPr>
          <a:xfrm>
            <a:off x="1110447" y="3862791"/>
            <a:ext cx="266273" cy="266273"/>
          </a:xfrm>
          <a:prstGeom prst="rect">
            <a:avLst/>
          </a:prstGeom>
        </p:spPr>
      </p:pic>
      <p:sp>
        <p:nvSpPr>
          <p:cNvPr id="18" name="TextBox 17"/>
          <p:cNvSpPr txBox="1"/>
          <p:nvPr/>
        </p:nvSpPr>
        <p:spPr>
          <a:xfrm>
            <a:off x="1627632"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Your data is live; a model is a frozen snapshot</a:t>
            </a:r>
          </a:p>
        </p:txBody>
      </p:sp>
      <p:sp>
        <p:nvSpPr>
          <p:cNvPr id="19" name="Rounded Rectangle 18"/>
          <p:cNvSpPr/>
          <p:nvPr/>
        </p:nvSpPr>
        <p:spPr>
          <a:xfrm>
            <a:off x="6254496" y="360273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373989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white.png"/>
          <p:cNvPicPr>
            <a:picLocks noChangeAspect="1"/>
          </p:cNvPicPr>
          <p:nvPr/>
        </p:nvPicPr>
        <p:blipFill>
          <a:blip r:embed="rId3"/>
          <a:stretch>
            <a:fillRect/>
          </a:stretch>
        </p:blipFill>
        <p:spPr>
          <a:xfrm>
            <a:off x="6523695" y="3862791"/>
            <a:ext cx="266273" cy="266273"/>
          </a:xfrm>
          <a:prstGeom prst="rect">
            <a:avLst/>
          </a:prstGeom>
        </p:spPr>
      </p:pic>
      <p:sp>
        <p:nvSpPr>
          <p:cNvPr id="22" name="TextBox 21"/>
          <p:cNvSpPr txBox="1"/>
          <p:nvPr/>
        </p:nvSpPr>
        <p:spPr>
          <a:xfrm>
            <a:off x="7040880" y="360273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You can't prompt-stuff a database of millions of claims</a:t>
            </a:r>
          </a:p>
        </p:txBody>
      </p:sp>
      <p:sp>
        <p:nvSpPr>
          <p:cNvPr id="23" name="Rounded Rectangle 22"/>
          <p:cNvSpPr/>
          <p:nvPr/>
        </p:nvSpPr>
        <p:spPr>
          <a:xfrm>
            <a:off x="841248" y="453542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7552" y="467258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white.png"/>
          <p:cNvPicPr>
            <a:picLocks noChangeAspect="1"/>
          </p:cNvPicPr>
          <p:nvPr/>
        </p:nvPicPr>
        <p:blipFill>
          <a:blip r:embed="rId3"/>
          <a:stretch>
            <a:fillRect/>
          </a:stretch>
        </p:blipFill>
        <p:spPr>
          <a:xfrm>
            <a:off x="1110447" y="4795479"/>
            <a:ext cx="266273" cy="266273"/>
          </a:xfrm>
          <a:prstGeom prst="rect">
            <a:avLst/>
          </a:prstGeom>
        </p:spPr>
      </p:pic>
      <p:sp>
        <p:nvSpPr>
          <p:cNvPr id="26" name="TextBox 25"/>
          <p:cNvSpPr txBox="1"/>
          <p:nvPr/>
        </p:nvSpPr>
        <p:spPr>
          <a:xfrm>
            <a:off x="1627632" y="453542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fix is an AGENT: the model does language, your systems provide the FACTS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anatomy of an agent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69264" y="2532888"/>
            <a:ext cx="201168" cy="201168"/>
          </a:xfrm>
          <a:prstGeom prst="rect">
            <a:avLst/>
          </a:prstGeom>
        </p:spPr>
      </p:pic>
      <p:sp>
        <p:nvSpPr>
          <p:cNvPr id="8" name="TextBox 7"/>
          <p:cNvSpPr txBox="1"/>
          <p:nvPr/>
        </p:nvSpPr>
        <p:spPr>
          <a:xfrm>
            <a:off x="1280160" y="239572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Not magic, not a model — FOUR parts working together</a:t>
            </a:r>
          </a:p>
        </p:txBody>
      </p:sp>
      <p:sp>
        <p:nvSpPr>
          <p:cNvPr id="9" name="Rounded Rectangle 8"/>
          <p:cNvSpPr/>
          <p:nvPr/>
        </p:nvSpPr>
        <p:spPr>
          <a:xfrm>
            <a:off x="841248" y="294436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69264" y="3081528"/>
            <a:ext cx="201168" cy="201168"/>
          </a:xfrm>
          <a:prstGeom prst="rect">
            <a:avLst/>
          </a:prstGeom>
        </p:spPr>
      </p:pic>
      <p:sp>
        <p:nvSpPr>
          <p:cNvPr id="11" name="TextBox 10"/>
          <p:cNvSpPr txBox="1"/>
          <p:nvPr/>
        </p:nvSpPr>
        <p:spPr>
          <a:xfrm>
            <a:off x="1280160" y="294436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Model — reasons and DECIDES which tool to call (model-agnostic; MaaS-served)</a:t>
            </a:r>
          </a:p>
        </p:txBody>
      </p:sp>
      <p:sp>
        <p:nvSpPr>
          <p:cNvPr id="12" name="Rounded Rectangle 11"/>
          <p:cNvSpPr/>
          <p:nvPr/>
        </p:nvSpPr>
        <p:spPr>
          <a:xfrm>
            <a:off x="841248" y="349300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69264" y="3630168"/>
            <a:ext cx="201168" cy="201168"/>
          </a:xfrm>
          <a:prstGeom prst="rect">
            <a:avLst/>
          </a:prstGeom>
        </p:spPr>
      </p:pic>
      <p:sp>
        <p:nvSpPr>
          <p:cNvPr id="14" name="TextBox 13"/>
          <p:cNvSpPr txBox="1"/>
          <p:nvPr/>
        </p:nvSpPr>
        <p:spPr>
          <a:xfrm>
            <a:off x="1280160" y="349300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Instructions — the system prompt: "use your tools, never guess, cite the policy id"</a:t>
            </a:r>
          </a:p>
        </p:txBody>
      </p:sp>
      <p:sp>
        <p:nvSpPr>
          <p:cNvPr id="15" name="Rounded Rectangle 14"/>
          <p:cNvSpPr/>
          <p:nvPr/>
        </p:nvSpPr>
        <p:spPr>
          <a:xfrm>
            <a:off x="841248" y="404164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69264" y="4178807"/>
            <a:ext cx="201168" cy="201168"/>
          </a:xfrm>
          <a:prstGeom prst="rect">
            <a:avLst/>
          </a:prstGeom>
        </p:spPr>
      </p:pic>
      <p:sp>
        <p:nvSpPr>
          <p:cNvPr id="17" name="TextBox 16"/>
          <p:cNvSpPr txBox="1"/>
          <p:nvPr/>
        </p:nvSpPr>
        <p:spPr>
          <a:xfrm>
            <a:off x="1280160" y="404164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Tools — the MCP servers: claims-db · policy-docs (this is the point)</a:t>
            </a:r>
          </a:p>
        </p:txBody>
      </p:sp>
      <p:sp>
        <p:nvSpPr>
          <p:cNvPr id="18" name="Rounded Rectangle 17"/>
          <p:cNvSpPr/>
          <p:nvPr/>
        </p:nvSpPr>
        <p:spPr>
          <a:xfrm>
            <a:off x="841248" y="459028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69264" y="4727447"/>
            <a:ext cx="201168" cy="201168"/>
          </a:xfrm>
          <a:prstGeom prst="rect">
            <a:avLst/>
          </a:prstGeom>
        </p:spPr>
      </p:pic>
      <p:sp>
        <p:nvSpPr>
          <p:cNvPr id="20" name="TextBox 19"/>
          <p:cNvSpPr txBox="1"/>
          <p:nvPr/>
        </p:nvSpPr>
        <p:spPr>
          <a:xfrm>
            <a:off x="1280160" y="459028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Memory — per-request only; with temperature 0, answers are reproducible</a:t>
            </a:r>
          </a:p>
        </p:txBody>
      </p:sp>
      <p:sp>
        <p:nvSpPr>
          <p:cNvPr id="21" name="Rounded Rectangle 20"/>
          <p:cNvSpPr/>
          <p:nvPr/>
        </p:nvSpPr>
        <p:spPr>
          <a:xfrm>
            <a:off x="5385816" y="2395728"/>
            <a:ext cx="5964631" cy="2806023"/>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1-agent-anatomy.png"/>
          <p:cNvPicPr>
            <a:picLocks noChangeAspect="1"/>
          </p:cNvPicPr>
          <p:nvPr/>
        </p:nvPicPr>
        <p:blipFill>
          <a:blip r:embed="rId4"/>
          <a:stretch>
            <a:fillRect/>
          </a:stretch>
        </p:blipFill>
        <p:spPr>
          <a:xfrm>
            <a:off x="5532120" y="2542032"/>
            <a:ext cx="5672023" cy="2513415"/>
          </a:xfrm>
          <a:prstGeom prst="rect">
            <a:avLst/>
          </a:prstGeom>
        </p:spPr>
      </p:pic>
      <p:cxnSp>
        <p:nvCxnSpPr>
          <p:cNvPr id="23" name="Connector 22"/>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5" name="TextBox 24"/>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MCP tools are your APIs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69264" y="2532888"/>
            <a:ext cx="201168" cy="201168"/>
          </a:xfrm>
          <a:prstGeom prst="rect">
            <a:avLst/>
          </a:prstGeom>
        </p:spPr>
      </p:pic>
      <p:sp>
        <p:nvSpPr>
          <p:cNvPr id="8" name="TextBox 7"/>
          <p:cNvSpPr txBox="1"/>
          <p:nvPr/>
        </p:nvSpPr>
        <p:spPr>
          <a:xfrm>
            <a:off x="1280160" y="239572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MCP (Model Context Protocol) = the standard adapter over your services</a:t>
            </a:r>
          </a:p>
        </p:txBody>
      </p:sp>
      <p:sp>
        <p:nvSpPr>
          <p:cNvPr id="9" name="Rounded Rectangle 8"/>
          <p:cNvSpPr/>
          <p:nvPr/>
        </p:nvSpPr>
        <p:spPr>
          <a:xfrm>
            <a:off x="841248" y="294436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69264" y="3081528"/>
            <a:ext cx="201168" cy="201168"/>
          </a:xfrm>
          <a:prstGeom prst="rect">
            <a:avLst/>
          </a:prstGeom>
        </p:spPr>
      </p:pic>
      <p:sp>
        <p:nvSpPr>
          <p:cNvPr id="11" name="TextBox 10"/>
          <p:cNvSpPr txBox="1"/>
          <p:nvPr/>
        </p:nvSpPr>
        <p:spPr>
          <a:xfrm>
            <a:off x="1280160" y="294436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An MCP SERVER advertises tools (name, args, result); the agent is the CLIENT</a:t>
            </a:r>
          </a:p>
        </p:txBody>
      </p:sp>
      <p:sp>
        <p:nvSpPr>
          <p:cNvPr id="12" name="Rounded Rectangle 11"/>
          <p:cNvSpPr/>
          <p:nvPr/>
        </p:nvSpPr>
        <p:spPr>
          <a:xfrm>
            <a:off x="841248" y="349300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69264" y="3630168"/>
            <a:ext cx="201168" cy="201168"/>
          </a:xfrm>
          <a:prstGeom prst="rect">
            <a:avLst/>
          </a:prstGeom>
        </p:spPr>
      </p:pic>
      <p:sp>
        <p:nvSpPr>
          <p:cNvPr id="14" name="TextBox 13"/>
          <p:cNvSpPr txBox="1"/>
          <p:nvPr/>
        </p:nvSpPr>
        <p:spPr>
          <a:xfrm>
            <a:off x="1280160" y="349300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claims-db + policy-docs are plain Deployments — probes, metrics, Services</a:t>
            </a:r>
          </a:p>
        </p:txBody>
      </p:sp>
      <p:sp>
        <p:nvSpPr>
          <p:cNvPr id="15" name="Rounded Rectangle 14"/>
          <p:cNvSpPr/>
          <p:nvPr/>
        </p:nvSpPr>
        <p:spPr>
          <a:xfrm>
            <a:off x="841248" y="404164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69264" y="4178807"/>
            <a:ext cx="201168" cy="201168"/>
          </a:xfrm>
          <a:prstGeom prst="rect">
            <a:avLst/>
          </a:prstGeom>
        </p:spPr>
      </p:pic>
      <p:sp>
        <p:nvSpPr>
          <p:cNvPr id="17" name="TextBox 16"/>
          <p:cNvSpPr txBox="1"/>
          <p:nvPr/>
        </p:nvSpPr>
        <p:spPr>
          <a:xfrm>
            <a:off x="1280160" y="404164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New capability = deploy a service + register a tool, NOT retrain a model</a:t>
            </a:r>
          </a:p>
        </p:txBody>
      </p:sp>
      <p:sp>
        <p:nvSpPr>
          <p:cNvPr id="18" name="Rounded Rectangle 17"/>
          <p:cNvSpPr/>
          <p:nvPr/>
        </p:nvSpPr>
        <p:spPr>
          <a:xfrm>
            <a:off x="841248" y="4590288"/>
            <a:ext cx="4160520" cy="475488"/>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69264" y="4727447"/>
            <a:ext cx="201168" cy="201168"/>
          </a:xfrm>
          <a:prstGeom prst="rect">
            <a:avLst/>
          </a:prstGeom>
        </p:spPr>
      </p:pic>
      <p:sp>
        <p:nvSpPr>
          <p:cNvPr id="20" name="TextBox 19"/>
          <p:cNvSpPr txBox="1"/>
          <p:nvPr/>
        </p:nvSpPr>
        <p:spPr>
          <a:xfrm>
            <a:off x="1280160" y="4590288"/>
            <a:ext cx="3593591" cy="475488"/>
          </a:xfrm>
          <a:prstGeom prst="rect">
            <a:avLst/>
          </a:prstGeom>
          <a:noFill/>
        </p:spPr>
        <p:txBody>
          <a:bodyPr wrap="square" anchor="ctr" lIns="0" rIns="0" tIns="0" bIns="0">
            <a:spAutoFit/>
          </a:bodyPr>
          <a:lstStyle/>
          <a:p>
            <a:pPr algn="l">
              <a:lnSpc>
                <a:spcPct val="106000"/>
              </a:lnSpc>
              <a:spcBef>
                <a:spcPts val="0"/>
              </a:spcBef>
              <a:spcAft>
                <a:spcPts val="0"/>
              </a:spcAft>
            </a:pPr>
            <a:r>
              <a:rPr sz="1050" b="0">
                <a:solidFill>
                  <a:srgbClr val="1A1A1A"/>
                </a:solidFill>
                <a:latin typeface="Red Hat Text"/>
              </a:rPr>
              <a:t>Write the tool once — every MCP-capable agent (and AI-Assisted Development's coding assistant) reuses it</a:t>
            </a:r>
          </a:p>
        </p:txBody>
      </p:sp>
      <p:sp>
        <p:nvSpPr>
          <p:cNvPr id="21" name="Rounded Rectangle 20"/>
          <p:cNvSpPr/>
          <p:nvPr/>
        </p:nvSpPr>
        <p:spPr>
          <a:xfrm>
            <a:off x="5385816" y="2442306"/>
            <a:ext cx="5964631" cy="265004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2-mcp-tools.png"/>
          <p:cNvPicPr>
            <a:picLocks noChangeAspect="1"/>
          </p:cNvPicPr>
          <p:nvPr/>
        </p:nvPicPr>
        <p:blipFill>
          <a:blip r:embed="rId4"/>
          <a:stretch>
            <a:fillRect/>
          </a:stretch>
        </p:blipFill>
        <p:spPr>
          <a:xfrm>
            <a:off x="5532120" y="2588610"/>
            <a:ext cx="5672023" cy="2357434"/>
          </a:xfrm>
          <a:prstGeom prst="rect">
            <a:avLst/>
          </a:prstGeom>
        </p:spPr>
      </p:pic>
      <p:cxnSp>
        <p:nvCxnSpPr>
          <p:cNvPr id="23" name="Connector 22"/>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5" name="TextBox 24"/>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RAG honestly — and grounding is engineered</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RAG = retrieve the relevant passage, then answer FROM it (and CITE it)</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citation is the tell: a grounded answer points at its source (POL-AUTO-01)</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It fails when retrieval fails — garbage retrieval, confident garbage answer</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model DECIDES to call a tool — how you ASK changes whether it does</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Same claim, terse vs imperative: ungrounded text-echo → grounded tool call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Guardrails and the Red Hat AI stack [ADD-ON]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Guardrails belong to the PLATFORM, not each agent's code</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FMS Guardrails Orchestrator (GA): regex-detector sidecar blocks/masks PII</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The graded path is the SIMPLEST thing that teaches — the rest is additive</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[ADD-ON] layers: in-cluster serving · Llama Stack runtime · vector DB · guardrails</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Each slots in behind an interface the agent ALREADY uses — adopt when the need is real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AI apps are apps — 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87552"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white.png"/>
          <p:cNvPicPr>
            <a:picLocks noChangeAspect="1"/>
          </p:cNvPicPr>
          <p:nvPr/>
        </p:nvPicPr>
        <p:blipFill>
          <a:blip r:embed="rId3"/>
          <a:stretch>
            <a:fillRect/>
          </a:stretch>
        </p:blipFill>
        <p:spPr>
          <a:xfrm>
            <a:off x="1110447" y="2655783"/>
            <a:ext cx="266273" cy="266273"/>
          </a:xfrm>
          <a:prstGeom prst="rect">
            <a:avLst/>
          </a:prstGeom>
        </p:spPr>
      </p:pic>
      <p:sp>
        <p:nvSpPr>
          <p:cNvPr id="9" name="TextBox 8"/>
          <p:cNvSpPr txBox="1"/>
          <p:nvPr/>
        </p:nvSpPr>
        <p:spPr>
          <a:xfrm>
            <a:off x="1627632"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Drive the agent: watch it call get_claim / search_policies and GROUND its answers</a:t>
            </a:r>
          </a:p>
        </p:txBody>
      </p:sp>
      <p:sp>
        <p:nvSpPr>
          <p:cNvPr id="10" name="Rounded Rectangle 9"/>
          <p:cNvSpPr/>
          <p:nvPr/>
        </p:nvSpPr>
        <p:spPr>
          <a:xfrm>
            <a:off x="6254496" y="2395728"/>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2532888"/>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white.png"/>
          <p:cNvPicPr>
            <a:picLocks noChangeAspect="1"/>
          </p:cNvPicPr>
          <p:nvPr/>
        </p:nvPicPr>
        <p:blipFill>
          <a:blip r:embed="rId3"/>
          <a:stretch>
            <a:fillRect/>
          </a:stretch>
        </p:blipFill>
        <p:spPr>
          <a:xfrm>
            <a:off x="6523695" y="2655783"/>
            <a:ext cx="266273" cy="266273"/>
          </a:xfrm>
          <a:prstGeom prst="rect">
            <a:avLst/>
          </a:prstGeom>
        </p:spPr>
      </p:pic>
      <p:sp>
        <p:nvSpPr>
          <p:cNvPr id="13" name="TextBox 12"/>
          <p:cNvSpPr txBox="1"/>
          <p:nvPr/>
        </p:nvSpPr>
        <p:spPr>
          <a:xfrm>
            <a:off x="7040880" y="2395728"/>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See the honest edges: an unknown claim answered "not found," an ungrounded text-echo</a:t>
            </a:r>
          </a:p>
        </p:txBody>
      </p:sp>
      <p:sp>
        <p:nvSpPr>
          <p:cNvPr id="14" name="Rounded Rectangle 13"/>
          <p:cNvSpPr/>
          <p:nvPr/>
        </p:nvSpPr>
        <p:spPr>
          <a:xfrm>
            <a:off x="841248"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white.png"/>
          <p:cNvPicPr>
            <a:picLocks noChangeAspect="1"/>
          </p:cNvPicPr>
          <p:nvPr/>
        </p:nvPicPr>
        <p:blipFill>
          <a:blip r:embed="rId3"/>
          <a:stretch>
            <a:fillRect/>
          </a:stretch>
        </p:blipFill>
        <p:spPr>
          <a:xfrm>
            <a:off x="1110447" y="3588471"/>
            <a:ext cx="266273" cy="266273"/>
          </a:xfrm>
          <a:prstGeom prst="rect">
            <a:avLst/>
          </a:prstGeom>
        </p:spPr>
      </p:pic>
      <p:sp>
        <p:nvSpPr>
          <p:cNvPr id="17" name="TextBox 16"/>
          <p:cNvSpPr txBox="1"/>
          <p:nvPr/>
        </p:nvSpPr>
        <p:spPr>
          <a:xfrm>
            <a:off x="1627632"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Observe it: per-answer tokens + tool calls, GenAI Prometheus metrics</a:t>
            </a:r>
          </a:p>
        </p:txBody>
      </p:sp>
      <p:sp>
        <p:nvSpPr>
          <p:cNvPr id="18" name="Rounded Rectangle 17"/>
          <p:cNvSpPr/>
          <p:nvPr/>
        </p:nvSpPr>
        <p:spPr>
          <a:xfrm>
            <a:off x="6254496" y="3328416"/>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465576"/>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white.png"/>
          <p:cNvPicPr>
            <a:picLocks noChangeAspect="1"/>
          </p:cNvPicPr>
          <p:nvPr/>
        </p:nvPicPr>
        <p:blipFill>
          <a:blip r:embed="rId3"/>
          <a:stretch>
            <a:fillRect/>
          </a:stretch>
        </p:blipFill>
        <p:spPr>
          <a:xfrm>
            <a:off x="6523695" y="3588471"/>
            <a:ext cx="266273" cy="266273"/>
          </a:xfrm>
          <a:prstGeom prst="rect">
            <a:avLst/>
          </a:prstGeom>
        </p:spPr>
      </p:pic>
      <p:sp>
        <p:nvSpPr>
          <p:cNvPr id="21" name="TextBox 20"/>
          <p:cNvSpPr txBox="1"/>
          <p:nvPr/>
        </p:nvSpPr>
        <p:spPr>
          <a:xfrm>
            <a:off x="7040880" y="3328416"/>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Confirm the punchline: a Deployment + Service + edge Route + probes, like any app</a:t>
            </a:r>
          </a:p>
        </p:txBody>
      </p:sp>
      <p:sp>
        <p:nvSpPr>
          <p:cNvPr id="22" name="Rounded Rectangle 21"/>
          <p:cNvSpPr/>
          <p:nvPr/>
        </p:nvSpPr>
        <p:spPr>
          <a:xfrm>
            <a:off x="841248" y="4261104"/>
            <a:ext cx="5138928" cy="786384"/>
          </a:xfrm>
          <a:prstGeom prst="roundRect">
            <a:avLst>
              <a:gd name="adj" fmla="val 7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398264"/>
            <a:ext cx="512064" cy="512064"/>
          </a:xfrm>
          <a:prstGeom prst="roundRect">
            <a:avLst>
              <a:gd name="adj" fmla="val 2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hite.png"/>
          <p:cNvPicPr>
            <a:picLocks noChangeAspect="1"/>
          </p:cNvPicPr>
          <p:nvPr/>
        </p:nvPicPr>
        <p:blipFill>
          <a:blip r:embed="rId3"/>
          <a:stretch>
            <a:fillRect/>
          </a:stretch>
        </p:blipFill>
        <p:spPr>
          <a:xfrm>
            <a:off x="1110447" y="4521159"/>
            <a:ext cx="266273" cy="266273"/>
          </a:xfrm>
          <a:prstGeom prst="rect">
            <a:avLst/>
          </a:prstGeom>
        </p:spPr>
      </p:pic>
      <p:sp>
        <p:nvSpPr>
          <p:cNvPr id="25" name="TextBox 24"/>
          <p:cNvSpPr txBox="1"/>
          <p:nvPr/>
        </p:nvSpPr>
        <p:spPr>
          <a:xfrm>
            <a:off x="1627632" y="4261104"/>
            <a:ext cx="4206240" cy="786384"/>
          </a:xfrm>
          <a:prstGeom prst="rect">
            <a:avLst/>
          </a:prstGeom>
          <a:noFill/>
        </p:spPr>
        <p:txBody>
          <a:bodyPr wrap="square" anchor="ctr" lIns="0" rIns="0" tIns="0" bIns="0">
            <a:spAutoFit/>
          </a:bodyPr>
          <a:lstStyle/>
          <a:p>
            <a:pPr algn="l">
              <a:lnSpc>
                <a:spcPct val="106000"/>
              </a:lnSpc>
              <a:spcBef>
                <a:spcPts val="0"/>
              </a:spcBef>
              <a:spcAft>
                <a:spcPts val="0"/>
              </a:spcAft>
            </a:pPr>
            <a:r>
              <a:rPr sz="1150" b="0">
                <a:solidFill>
                  <a:srgbClr val="1A1A1A"/>
                </a:solidFill>
                <a:latin typeface="Red Hat Text"/>
              </a:rPr>
              <a:t>When NOT to: plain API beats an agent · don't RAG what fits the prompt · no PII without guardrails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Agent recap</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31720"/>
            <a:ext cx="10509199" cy="3794760"/>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agent-recap.png"/>
          <p:cNvPicPr>
            <a:picLocks noChangeAspect="1"/>
          </p:cNvPicPr>
          <p:nvPr/>
        </p:nvPicPr>
        <p:blipFill>
          <a:blip r:embed="rId3"/>
          <a:stretch>
            <a:fillRect/>
          </a:stretch>
        </p:blipFill>
        <p:spPr>
          <a:xfrm>
            <a:off x="1042416" y="3117345"/>
            <a:ext cx="10106863" cy="2223509"/>
          </a:xfrm>
          <a:prstGeom prst="rect">
            <a:avLst/>
          </a:prstGeom>
        </p:spPr>
      </p:pic>
      <p:cxnSp>
        <p:nvCxnSpPr>
          <p:cNvPr id="8" name="Connector 7"/>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10" name="TextBox 9"/>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